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345" r:id="rId4"/>
    <p:sldId id="286" r:id="rId5"/>
    <p:sldId id="261" r:id="rId6"/>
    <p:sldId id="287" r:id="rId7"/>
    <p:sldId id="357" r:id="rId8"/>
    <p:sldId id="289" r:id="rId9"/>
    <p:sldId id="290" r:id="rId10"/>
    <p:sldId id="308" r:id="rId11"/>
    <p:sldId id="358" r:id="rId12"/>
    <p:sldId id="359" r:id="rId13"/>
    <p:sldId id="314" r:id="rId14"/>
    <p:sldId id="315" r:id="rId15"/>
    <p:sldId id="316" r:id="rId16"/>
    <p:sldId id="339" r:id="rId17"/>
    <p:sldId id="340" r:id="rId18"/>
    <p:sldId id="341" r:id="rId19"/>
    <p:sldId id="360" r:id="rId20"/>
    <p:sldId id="346" r:id="rId21"/>
    <p:sldId id="347" r:id="rId22"/>
    <p:sldId id="354" r:id="rId23"/>
    <p:sldId id="355" r:id="rId24"/>
    <p:sldId id="306" r:id="rId25"/>
    <p:sldId id="307" r:id="rId26"/>
  </p:sldIdLst>
  <p:sldSz cx="12192000" cy="6858000"/>
  <p:notesSz cx="6858000" cy="9144000"/>
  <p:embeddedFontLst>
    <p:embeddedFont>
      <p:font typeface="Arial Black" panose="020B0A04020102020204" pitchFamily="34" charset="0"/>
      <p:bold r:id="rId28"/>
    </p:embeddedFont>
    <p:embeddedFont>
      <p:font typeface="Calibri" panose="020F0502020204030204" pitchFamily="34" charset="0"/>
      <p:regular r:id="rId29"/>
      <p:bold r:id="rId30"/>
      <p:italic r:id="rId31"/>
      <p:boldItalic r:id="rId32"/>
    </p:embeddedFont>
    <p:embeddedFont>
      <p:font typeface="Cambria" panose="02040503050406030204" pitchFamily="18"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EA6"/>
    <a:srgbClr val="BFBFBF"/>
    <a:srgbClr val="C9DF6F"/>
    <a:srgbClr val="417DBF"/>
    <a:srgbClr val="3F2A67"/>
    <a:srgbClr val="E24E5F"/>
    <a:srgbClr val="26B7D4"/>
    <a:srgbClr val="54B5D1"/>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367" autoAdjust="0"/>
    <p:restoredTop sz="94591" autoAdjust="0"/>
  </p:normalViewPr>
  <p:slideViewPr>
    <p:cSldViewPr snapToGrid="0">
      <p:cViewPr varScale="1">
        <p:scale>
          <a:sx n="85" d="100"/>
          <a:sy n="85" d="100"/>
        </p:scale>
        <p:origin x="10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5323933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948214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533751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044366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450341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843412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430118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8340625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814399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11687" y="2212773"/>
            <a:ext cx="4863548"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4, Lesson 7</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Applying Exponent Laws to Algebraic Expressions – 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152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289"/>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98222" y="136525"/>
            <a:ext cx="8802928"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58687" y="34670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83733" y="1307592"/>
            <a:ext cx="912706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MA.8.AR.1.1</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Apply the Laws of Exponents to generate equivalent algebraic expressions, limited to integer exponents and monomial bases.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1198"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457899" y="362422"/>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309511" y="129667"/>
            <a:ext cx="930731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083733" y="1586429"/>
            <a:ext cx="8833187" cy="46141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026"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0598"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20800" y="169000"/>
            <a:ext cx="921817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32389" y="390466"/>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72372"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152</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83733" y="1600200"/>
            <a:ext cx="912706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write an equivalent algebraic expression by applying the product of powers, power of a power, or power of a product laws of exponents. </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55568" y="4878"/>
            <a:ext cx="92835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4.7.1 Warm-Up: Patterns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508268" y="28062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1095022" y="1361442"/>
            <a:ext cx="8957954"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first three steps in a pattern are shown in the table. The pattern is created using yellow hexagons and blue squares.</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descr="A picture containing table&#10;&#10;Description automatically generated">
            <a:extLst>
              <a:ext uri="{FF2B5EF4-FFF2-40B4-BE49-F238E27FC236}">
                <a16:creationId xmlns:a16="http://schemas.microsoft.com/office/drawing/2014/main" id="{53D97B9A-71C6-A14E-B6C5-87F56C320F9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14365" y="2753127"/>
            <a:ext cx="6817788" cy="2418543"/>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1072444" y="381001"/>
                <a:ext cx="8980532" cy="4154984"/>
              </a:xfrm>
              <a:prstGeom prst="rect">
                <a:avLst/>
              </a:prstGeom>
              <a:noFill/>
            </p:spPr>
            <p:txBody>
              <a:bodyPr wrap="square" rtlCol="0">
                <a:spAutoFit/>
              </a:bodyPr>
              <a:lstStyle/>
              <a:p>
                <a:pPr marL="914400" indent="-4508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what you think Step 4 in the pattern will look like.</a:t>
                </a:r>
              </a:p>
              <a:p>
                <a:pPr marL="914400"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Ibrahim said the pattern could be represented by the expression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1</m:t>
                        </m:r>
                      </m:e>
                      <m:sup>
                        <m:r>
                          <a:rPr lang="es-ES" sz="2400" i="1" dirty="0">
                            <a:latin typeface="Cambria Math" panose="02040503050406030204" pitchFamily="18" charset="0"/>
                            <a:ea typeface="Verdana" panose="020B0604030504040204" pitchFamily="34" charset="0"/>
                            <a:cs typeface="Verdana" panose="020B0604030504040204" pitchFamily="34" charset="0"/>
                          </a:rPr>
                          <m:t>𝑛</m:t>
                        </m:r>
                      </m:sup>
                    </m:sSup>
                    <m:r>
                      <a:rPr lang="en-US" sz="24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2</m:t>
                        </m:r>
                      </m:e>
                      <m:sup>
                        <m:r>
                          <a:rPr lang="es-ES" sz="2400" i="1" dirty="0">
                            <a:latin typeface="Cambria Math" panose="02040503050406030204" pitchFamily="18" charset="0"/>
                            <a:ea typeface="Verdana" panose="020B0604030504040204" pitchFamily="34" charset="0"/>
                            <a:cs typeface="Verdana" panose="020B0604030504040204" pitchFamily="34" charset="0"/>
                          </a:rPr>
                          <m:t>𝑛</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where 𝑛 is the number of the step in the pattern. Explain whether or not you agree with Ibrahim.</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072444" y="381001"/>
                <a:ext cx="8980532" cy="4154984"/>
              </a:xfrm>
              <a:prstGeom prst="rect">
                <a:avLst/>
              </a:prstGeom>
              <a:blipFill>
                <a:blip r:embed="rId4"/>
                <a:stretch>
                  <a:fillRect t="-1175" r="-2172" b="-2349"/>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307903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p:pic>
        <p:nvPicPr>
          <p:cNvPr id="7" name="image13.png">
            <a:extLst>
              <a:ext uri="{FF2B5EF4-FFF2-40B4-BE49-F238E27FC236}">
                <a16:creationId xmlns:a16="http://schemas.microsoft.com/office/drawing/2014/main" id="{2FE92ED2-92E5-2A41-A087-BABC3E41BE5E}"/>
              </a:ext>
            </a:extLst>
          </p:cNvPr>
          <p:cNvPicPr/>
          <p:nvPr/>
        </p:nvPicPr>
        <p:blipFill>
          <a:blip r:embed="rId4">
            <a:extLst>
              <a:ext uri="{28A0092B-C50C-407E-A947-70E740481C1C}">
                <a14:useLocalDpi xmlns:a14="http://schemas.microsoft.com/office/drawing/2010/main"/>
              </a:ext>
            </a:extLst>
          </a:blip>
          <a:stretch>
            <a:fillRect/>
          </a:stretch>
        </p:blipFill>
        <p:spPr>
          <a:xfrm>
            <a:off x="4516715" y="2854919"/>
            <a:ext cx="1148153" cy="1148153"/>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547" y="306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09511" y="79109"/>
            <a:ext cx="953219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4.7.2 Guided Instruction: Equivalent Algebraic Expressions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83734" y="1248308"/>
                <a:ext cx="8960814" cy="239751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Laws of exponents can be applied to generate equivalent algebraic expressions that are similar to numerical expressions.</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 square is shown, where each side has a length represented by the expression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𝑎</m:t>
                        </m:r>
                      </m:e>
                      <m:sup>
                        <m:r>
                          <a:rPr lang="es-ES" altLang="en-US" sz="2400" i="1" dirty="0">
                            <a:solidFill>
                              <a:schemeClr val="tx1"/>
                            </a:solidFill>
                            <a:latin typeface="Cambria Math" panose="02040503050406030204" pitchFamily="18" charset="0"/>
                            <a:cs typeface="Times New Roman" panose="02020603050405020304" pitchFamily="18" charset="0"/>
                          </a:rPr>
                          <m:t>5</m:t>
                        </m:r>
                      </m:sup>
                    </m:sSup>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1083734" y="1248308"/>
                <a:ext cx="8960814" cy="2397516"/>
              </a:xfrm>
              <a:prstGeom prst="rect">
                <a:avLst/>
              </a:prstGeom>
              <a:blipFill>
                <a:blip r:embed="rId4"/>
                <a:stretch>
                  <a:fillRect l="-1088" r="-2041" b="-356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image13.png">
            <a:extLst>
              <a:ext uri="{FF2B5EF4-FFF2-40B4-BE49-F238E27FC236}">
                <a16:creationId xmlns:a16="http://schemas.microsoft.com/office/drawing/2014/main" id="{76AE5EEF-A058-5442-A023-F57242696305}"/>
              </a:ext>
            </a:extLst>
          </p:cNvPr>
          <p:cNvPicPr/>
          <p:nvPr/>
        </p:nvPicPr>
        <p:blipFill>
          <a:blip r:embed="rId5">
            <a:extLst>
              <a:ext uri="{28A0092B-C50C-407E-A947-70E740481C1C}">
                <a14:useLocalDpi xmlns:a14="http://schemas.microsoft.com/office/drawing/2010/main"/>
              </a:ext>
            </a:extLst>
          </a:blip>
          <a:stretch>
            <a:fillRect/>
          </a:stretch>
        </p:blipFill>
        <p:spPr>
          <a:xfrm>
            <a:off x="441106" y="286868"/>
            <a:ext cx="752138" cy="752138"/>
          </a:xfrm>
          <a:prstGeom prst="rect">
            <a:avLst/>
          </a:prstGeom>
          <a:ln/>
        </p:spPr>
      </p:pic>
      <p:sp>
        <p:nvSpPr>
          <p:cNvPr id="10" name="Rectangle 9">
            <a:extLst>
              <a:ext uri="{FF2B5EF4-FFF2-40B4-BE49-F238E27FC236}">
                <a16:creationId xmlns:a16="http://schemas.microsoft.com/office/drawing/2014/main" id="{35F0C881-29D5-6B45-9C9D-12D1402BCEA0}"/>
              </a:ext>
            </a:extLst>
          </p:cNvPr>
          <p:cNvSpPr/>
          <p:nvPr/>
        </p:nvSpPr>
        <p:spPr>
          <a:xfrm>
            <a:off x="4920283" y="3839492"/>
            <a:ext cx="1429385" cy="1429385"/>
          </a:xfrm>
          <a:prstGeom prst="rect">
            <a:avLst/>
          </a:prstGeom>
          <a:solidFill>
            <a:schemeClr val="accent1">
              <a:tint val="100000"/>
              <a:shade val="100000"/>
              <a:satMod val="13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1" name="Text Box 10">
                <a:extLst>
                  <a:ext uri="{FF2B5EF4-FFF2-40B4-BE49-F238E27FC236}">
                    <a16:creationId xmlns:a16="http://schemas.microsoft.com/office/drawing/2014/main" id="{A60EE64E-5CEC-BC44-ADFB-C8261983DD89}"/>
                  </a:ext>
                </a:extLst>
              </p:cNvPr>
              <p:cNvSpPr txBox="1"/>
              <p:nvPr/>
            </p:nvSpPr>
            <p:spPr>
              <a:xfrm>
                <a:off x="6256744" y="4152173"/>
                <a:ext cx="885190" cy="4279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000" i="1">
                          <a:solidFill>
                            <a:srgbClr val="0070C0"/>
                          </a:solidFill>
                          <a:latin typeface="Cambria Math" panose="02040503050406030204" pitchFamily="18" charset="0"/>
                          <a:ea typeface="Times New Roman" panose="02020603050405020304" pitchFamily="18" charset="0"/>
                          <a:cs typeface="Arial" panose="020B0604020202020204" pitchFamily="34" charset="0"/>
                        </a:rPr>
                        <m:t>3</m:t>
                      </m:r>
                      <m:sSup>
                        <m:sSupPr>
                          <m:ctrlPr>
                            <a:rPr lang="x-none" sz="2000" i="1">
                              <a:solidFill>
                                <a:srgbClr val="0070C0"/>
                              </a:solidFill>
                              <a:latin typeface="Cambria Math" panose="02040503050406030204" pitchFamily="18" charset="0"/>
                              <a:ea typeface="Times New Roman" panose="02020603050405020304" pitchFamily="18" charset="0"/>
                              <a:cs typeface="Arial" panose="020B0604020202020204" pitchFamily="34" charset="0"/>
                            </a:rPr>
                          </m:ctrlPr>
                        </m:sSupPr>
                        <m:e>
                          <m:r>
                            <a:rPr lang="en-US" sz="2000" i="1">
                              <a:solidFill>
                                <a:srgbClr val="0070C0"/>
                              </a:solidFill>
                              <a:latin typeface="Cambria Math" panose="02040503050406030204" pitchFamily="18" charset="0"/>
                              <a:ea typeface="Times New Roman" panose="02020603050405020304" pitchFamily="18" charset="0"/>
                              <a:cs typeface="Arial" panose="020B0604020202020204" pitchFamily="34" charset="0"/>
                            </a:rPr>
                            <m:t>𝑎</m:t>
                          </m:r>
                        </m:e>
                        <m:sup>
                          <m:r>
                            <a:rPr lang="en-US" sz="2000" i="1">
                              <a:solidFill>
                                <a:srgbClr val="0070C0"/>
                              </a:solidFill>
                              <a:latin typeface="Cambria Math" panose="02040503050406030204" pitchFamily="18" charset="0"/>
                              <a:ea typeface="Times New Roman" panose="02020603050405020304" pitchFamily="18" charset="0"/>
                              <a:cs typeface="Arial" panose="020B0604020202020204" pitchFamily="34" charset="0"/>
                            </a:rPr>
                            <m:t>5</m:t>
                          </m:r>
                        </m:sup>
                      </m:sSup>
                    </m:oMath>
                  </m:oMathPara>
                </a14:m>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1" name="Text Box 10">
                <a:extLst>
                  <a:ext uri="{FF2B5EF4-FFF2-40B4-BE49-F238E27FC236}">
                    <a16:creationId xmlns:a16="http://schemas.microsoft.com/office/drawing/2014/main" id="{A60EE64E-5CEC-BC44-ADFB-C8261983DD89}"/>
                  </a:ext>
                </a:extLst>
              </p:cNvPr>
              <p:cNvSpPr txBox="1">
                <a:spLocks noRot="1" noChangeAspect="1" noMove="1" noResize="1" noEditPoints="1" noAdjustHandles="1" noChangeArrowheads="1" noChangeShapeType="1" noTextEdit="1"/>
              </p:cNvSpPr>
              <p:nvPr/>
            </p:nvSpPr>
            <p:spPr>
              <a:xfrm>
                <a:off x="6256744" y="4152173"/>
                <a:ext cx="885190" cy="427990"/>
              </a:xfrm>
              <a:prstGeom prst="rect">
                <a:avLst/>
              </a:prstGeom>
              <a:blipFill>
                <a:blip r:embed="rId6"/>
                <a:stretch>
                  <a:fillRect/>
                </a:stretch>
              </a:blipFill>
              <a:ln w="6350">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Rectangle 12">
                <a:extLst>
                  <a:ext uri="{FF2B5EF4-FFF2-40B4-BE49-F238E27FC236}">
                    <a16:creationId xmlns:a16="http://schemas.microsoft.com/office/drawing/2014/main" id="{54223435-DB56-0743-92BE-5AB72E8BAF87}"/>
                  </a:ext>
                </a:extLst>
              </p:cNvPr>
              <p:cNvSpPr>
                <a:spLocks noChangeArrowheads="1"/>
              </p:cNvSpPr>
              <p:nvPr/>
            </p:nvSpPr>
            <p:spPr bwMode="auto">
              <a:xfrm>
                <a:off x="1083734" y="5647209"/>
                <a:ext cx="8960813" cy="83099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4025"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formula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𝐴</m:t>
                    </m:r>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𝑠</m:t>
                        </m:r>
                      </m:e>
                      <m:sup>
                        <m:r>
                          <a:rPr lang="es-ES" altLang="en-US" sz="2400" i="1" dirty="0">
                            <a:solidFill>
                              <a:schemeClr val="tx1"/>
                            </a:solidFill>
                            <a:latin typeface="Cambria Math" panose="02040503050406030204" pitchFamily="18" charset="0"/>
                            <a:cs typeface="Times New Roman" panose="02020603050405020304" pitchFamily="18" charset="0"/>
                          </a:rPr>
                          <m:t>2</m:t>
                        </m:r>
                      </m:sup>
                    </m:sSup>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can be used to find the area of the square, where 𝑠 is the side length of the square.</a:t>
                </a:r>
              </a:p>
            </p:txBody>
          </p:sp>
        </mc:Choice>
        <mc:Fallback>
          <p:sp>
            <p:nvSpPr>
              <p:cNvPr id="13" name="Rectangle 12">
                <a:extLst>
                  <a:ext uri="{FF2B5EF4-FFF2-40B4-BE49-F238E27FC236}">
                    <a16:creationId xmlns:a16="http://schemas.microsoft.com/office/drawing/2014/main" id="{54223435-DB56-0743-92BE-5AB72E8BAF87}"/>
                  </a:ext>
                </a:extLst>
              </p:cNvPr>
              <p:cNvSpPr>
                <a:spLocks noRot="1" noChangeAspect="1" noMove="1" noResize="1" noEditPoints="1" noAdjustHandles="1" noChangeArrowheads="1" noChangeShapeType="1" noTextEdit="1"/>
              </p:cNvSpPr>
              <p:nvPr/>
            </p:nvSpPr>
            <p:spPr bwMode="auto">
              <a:xfrm>
                <a:off x="1083734" y="5647209"/>
                <a:ext cx="8960813" cy="830997"/>
              </a:xfrm>
              <a:prstGeom prst="rect">
                <a:avLst/>
              </a:prstGeom>
              <a:blipFill>
                <a:blip r:embed="rId7"/>
                <a:stretch>
                  <a:fillRect t="-5839" r="-1837" b="-160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84" y="306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6077" y="621660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7851" y="64736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1083734" y="312759"/>
                <a:ext cx="8969244" cy="5361083"/>
              </a:xfrm>
              <a:prstGeom prst="rect">
                <a:avLst/>
              </a:prstGeom>
            </p:spPr>
            <p:txBody>
              <a:bodyPr wrap="square">
                <a:spAutoFit/>
              </a:bodyPr>
              <a:lstStyle/>
              <a:p>
                <a:pPr marL="914400" indent="-450850">
                  <a:buFont typeface="+mj-lt"/>
                  <a:buAutoNum type="alphaL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Using this formula, the area of the square shown can be expressed as </a:t>
                </a:r>
                <a14:m>
                  <m:oMath xmlns:m="http://schemas.openxmlformats.org/officeDocument/2006/math">
                    <m:sSup>
                      <m:sSupPr>
                        <m:ctrlPr>
                          <a:rPr lang="en-US" sz="2200" i="1">
                            <a:latin typeface="Cambria Math" panose="02040503050406030204" pitchFamily="18" charset="0"/>
                            <a:cs typeface="Times New Roman" panose="02020603050405020304" pitchFamily="18" charset="0"/>
                          </a:rPr>
                        </m:ctrlPr>
                      </m:sSupPr>
                      <m:e>
                        <m:d>
                          <m:dPr>
                            <m:ctrlPr>
                              <a:rPr lang="en-US" sz="2200" i="1">
                                <a:latin typeface="Cambria Math" panose="02040503050406030204" pitchFamily="18" charset="0"/>
                                <a:cs typeface="Times New Roman" panose="02020603050405020304" pitchFamily="18" charset="0"/>
                              </a:rPr>
                            </m:ctrlPr>
                          </m:dPr>
                          <m:e>
                            <m:sSup>
                              <m:sSupPr>
                                <m:ctrlPr>
                                  <a:rPr lang="en-US" sz="2200" i="1">
                                    <a:solidFill>
                                      <a:schemeClr val="accent1"/>
                                    </a:solidFill>
                                    <a:latin typeface="Cambria Math" panose="02040503050406030204" pitchFamily="18" charset="0"/>
                                    <a:cs typeface="Times New Roman" panose="02020603050405020304" pitchFamily="18" charset="0"/>
                                  </a:rPr>
                                </m:ctrlPr>
                              </m:sSupPr>
                              <m:e>
                                <m:r>
                                  <a:rPr lang="es-ES" sz="2200" i="1">
                                    <a:solidFill>
                                      <a:schemeClr val="accent1"/>
                                    </a:solidFill>
                                    <a:latin typeface="Cambria Math" panose="02040503050406030204" pitchFamily="18" charset="0"/>
                                    <a:cs typeface="Times New Roman" panose="02020603050405020304" pitchFamily="18" charset="0"/>
                                  </a:rPr>
                                  <m:t>3</m:t>
                                </m:r>
                                <m:r>
                                  <a:rPr lang="es-ES" sz="2200" i="1">
                                    <a:solidFill>
                                      <a:schemeClr val="accent1"/>
                                    </a:solidFill>
                                    <a:latin typeface="Cambria Math" panose="02040503050406030204" pitchFamily="18" charset="0"/>
                                    <a:cs typeface="Times New Roman" panose="02020603050405020304" pitchFamily="18" charset="0"/>
                                  </a:rPr>
                                  <m:t>𝑎</m:t>
                                </m:r>
                              </m:e>
                              <m:sup>
                                <m:r>
                                  <a:rPr lang="es-ES" sz="2200" i="1">
                                    <a:solidFill>
                                      <a:schemeClr val="accent1"/>
                                    </a:solidFill>
                                    <a:latin typeface="Cambria Math" panose="02040503050406030204" pitchFamily="18" charset="0"/>
                                    <a:cs typeface="Times New Roman" panose="02020603050405020304" pitchFamily="18" charset="0"/>
                                  </a:rPr>
                                  <m:t>5</m:t>
                                </m:r>
                              </m:sup>
                            </m:sSup>
                          </m:e>
                        </m:d>
                      </m:e>
                      <m:sup>
                        <m:r>
                          <a:rPr lang="es-ES" sz="2200" i="1">
                            <a:latin typeface="Cambria Math" panose="02040503050406030204" pitchFamily="18" charset="0"/>
                            <a:cs typeface="Times New Roman" panose="02020603050405020304" pitchFamily="18" charset="0"/>
                          </a:rPr>
                          <m:t>2</m:t>
                        </m:r>
                      </m:sup>
                    </m:sSup>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Discuss with your partner how this expression represents the area of the square. </a:t>
                </a:r>
              </a:p>
              <a:p>
                <a:pPr marL="914400" indent="-450850">
                  <a:buFont typeface="+mj-lt"/>
                  <a:buAutoNum type="alphaLcPeriod"/>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Complete the steps to find an equivalent expression that represents the area of the square.</a:t>
                </a:r>
              </a:p>
              <a:p>
                <a:pPr marL="457200" indent="-457200">
                  <a:buFont typeface="+mj-lt"/>
                  <a:buAutoNum type="alphaLcPeriod"/>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1255713" indent="550863">
                  <a:lnSpc>
                    <a:spcPct val="150000"/>
                  </a:lnSpc>
                </a:pPr>
                <a14:m>
                  <m:oMathPara xmlns:m="http://schemas.openxmlformats.org/officeDocument/2006/math">
                    <m:oMathParaPr>
                      <m:jc m:val="left"/>
                    </m:oMathParaPr>
                    <m:oMath xmlns:m="http://schemas.openxmlformats.org/officeDocument/2006/math">
                      <m:sSup>
                        <m:sSupPr>
                          <m:ctrlPr>
                            <a:rPr lang="x-none" sz="2200" i="1">
                              <a:latin typeface="Cambria Math" panose="02040503050406030204" pitchFamily="18" charset="0"/>
                            </a:rPr>
                          </m:ctrlPr>
                        </m:sSupPr>
                        <m:e>
                          <m:r>
                            <a:rPr lang="en-US" sz="2200" i="1">
                              <a:latin typeface="Cambria Math"/>
                            </a:rPr>
                            <m:t>(</m:t>
                          </m:r>
                          <m:r>
                            <a:rPr lang="en-US" sz="2200" i="1">
                              <a:solidFill>
                                <a:schemeClr val="accent1"/>
                              </a:solidFill>
                              <a:latin typeface="Cambria Math"/>
                            </a:rPr>
                            <m:t>3</m:t>
                          </m:r>
                          <m:sSup>
                            <m:sSupPr>
                              <m:ctrlPr>
                                <a:rPr lang="x-none" sz="2200" i="1">
                                  <a:solidFill>
                                    <a:schemeClr val="accent1"/>
                                  </a:solidFill>
                                  <a:latin typeface="Cambria Math" panose="02040503050406030204" pitchFamily="18" charset="0"/>
                                </a:rPr>
                              </m:ctrlPr>
                            </m:sSupPr>
                            <m:e>
                              <m:r>
                                <a:rPr lang="en-US" sz="2200" i="1">
                                  <a:solidFill>
                                    <a:schemeClr val="accent1"/>
                                  </a:solidFill>
                                  <a:latin typeface="Cambria Math"/>
                                </a:rPr>
                                <m:t>𝑎</m:t>
                              </m:r>
                            </m:e>
                            <m:sup>
                              <m:r>
                                <a:rPr lang="en-US" sz="2200" i="1">
                                  <a:solidFill>
                                    <a:schemeClr val="accent1"/>
                                  </a:solidFill>
                                  <a:latin typeface="Cambria Math"/>
                                </a:rPr>
                                <m:t>5</m:t>
                              </m:r>
                            </m:sup>
                          </m:sSup>
                          <m:r>
                            <a:rPr lang="en-US" sz="2200" i="1">
                              <a:latin typeface="Cambria Math"/>
                            </a:rPr>
                            <m:t>)</m:t>
                          </m:r>
                        </m:e>
                        <m:sup>
                          <m:r>
                            <a:rPr lang="en-US" sz="2200" i="1">
                              <a:latin typeface="Cambria Math"/>
                            </a:rPr>
                            <m:t>2</m:t>
                          </m:r>
                        </m:sup>
                      </m:sSup>
                    </m:oMath>
                  </m:oMathPara>
                </a14:m>
                <a:endParaRPr lang="x-none" sz="2200" dirty="0"/>
              </a:p>
              <a:p>
                <a:pPr marL="887413" indent="550863">
                  <a:lnSpc>
                    <a:spcPct val="150000"/>
                  </a:lnSpc>
                </a:pPr>
                <a14:m>
                  <m:oMathPara xmlns:m="http://schemas.openxmlformats.org/officeDocument/2006/math">
                    <m:oMathParaPr>
                      <m:jc m:val="left"/>
                    </m:oMathParaPr>
                    <m:oMath xmlns:m="http://schemas.openxmlformats.org/officeDocument/2006/math">
                      <m:r>
                        <a:rPr lang="en-US" sz="2200" i="1">
                          <a:latin typeface="Cambria Math"/>
                        </a:rPr>
                        <m:t>=</m:t>
                      </m:r>
                      <m:r>
                        <a:rPr lang="en-US" sz="2200" i="1">
                          <a:solidFill>
                            <a:schemeClr val="accent2"/>
                          </a:solidFill>
                          <a:latin typeface="Cambria Math"/>
                        </a:rPr>
                        <m:t>3</m:t>
                      </m:r>
                      <m:sSup>
                        <m:sSupPr>
                          <m:ctrlPr>
                            <a:rPr lang="x-none" sz="2200" i="1">
                              <a:solidFill>
                                <a:schemeClr val="accent2"/>
                              </a:solidFill>
                              <a:latin typeface="Cambria Math" panose="02040503050406030204" pitchFamily="18" charset="0"/>
                            </a:rPr>
                          </m:ctrlPr>
                        </m:sSupPr>
                        <m:e>
                          <m:r>
                            <a:rPr lang="en-US" sz="2200" i="1">
                              <a:solidFill>
                                <a:schemeClr val="accent2"/>
                              </a:solidFill>
                              <a:latin typeface="Cambria Math"/>
                            </a:rPr>
                            <m:t>𝑎</m:t>
                          </m:r>
                        </m:e>
                        <m:sup>
                          <m:r>
                            <a:rPr lang="en-US" sz="2200" i="1">
                              <a:solidFill>
                                <a:schemeClr val="accent2"/>
                              </a:solidFill>
                              <a:latin typeface="Cambria Math"/>
                            </a:rPr>
                            <m:t>5</m:t>
                          </m:r>
                        </m:sup>
                      </m:sSup>
                      <m:r>
                        <a:rPr lang="en-US" sz="2200" i="1">
                          <a:solidFill>
                            <a:schemeClr val="tx1"/>
                          </a:solidFill>
                          <a:latin typeface="Cambria Math"/>
                        </a:rPr>
                        <m:t>∙</m:t>
                      </m:r>
                      <m:r>
                        <a:rPr lang="en-US" sz="2200" i="1">
                          <a:solidFill>
                            <a:srgbClr val="7030A0"/>
                          </a:solidFill>
                          <a:latin typeface="Cambria Math"/>
                        </a:rPr>
                        <m:t>3</m:t>
                      </m:r>
                      <m:sSup>
                        <m:sSupPr>
                          <m:ctrlPr>
                            <a:rPr lang="x-none" sz="2200" i="1">
                              <a:solidFill>
                                <a:srgbClr val="7030A0"/>
                              </a:solidFill>
                              <a:latin typeface="Cambria Math" panose="02040503050406030204" pitchFamily="18" charset="0"/>
                            </a:rPr>
                          </m:ctrlPr>
                        </m:sSupPr>
                        <m:e>
                          <m:r>
                            <a:rPr lang="en-US" sz="2200" i="1">
                              <a:solidFill>
                                <a:srgbClr val="7030A0"/>
                              </a:solidFill>
                              <a:latin typeface="Cambria Math"/>
                            </a:rPr>
                            <m:t>𝑎</m:t>
                          </m:r>
                        </m:e>
                        <m:sup>
                          <m:r>
                            <a:rPr lang="en-US" sz="2200" i="1">
                              <a:solidFill>
                                <a:srgbClr val="7030A0"/>
                              </a:solidFill>
                              <a:latin typeface="Cambria Math"/>
                            </a:rPr>
                            <m:t>5</m:t>
                          </m:r>
                        </m:sup>
                      </m:sSup>
                    </m:oMath>
                  </m:oMathPara>
                </a14:m>
                <a:endParaRPr lang="x-none" sz="2200" dirty="0"/>
              </a:p>
              <a:p>
                <a:pPr marL="887413" indent="550863">
                  <a:lnSpc>
                    <a:spcPct val="150000"/>
                  </a:lnSpc>
                </a:pPr>
                <a14:m>
                  <m:oMathPara xmlns:m="http://schemas.openxmlformats.org/officeDocument/2006/math">
                    <m:oMathParaPr>
                      <m:jc m:val="left"/>
                    </m:oMathParaPr>
                    <m:oMath xmlns:m="http://schemas.openxmlformats.org/officeDocument/2006/math">
                      <m:r>
                        <a:rPr lang="en-US" sz="2200" i="1">
                          <a:latin typeface="Cambria Math"/>
                        </a:rPr>
                        <m:t>=</m:t>
                      </m:r>
                      <m:r>
                        <a:rPr lang="en-US" sz="2200" i="1">
                          <a:solidFill>
                            <a:schemeClr val="accent2"/>
                          </a:solidFill>
                          <a:latin typeface="Cambria Math"/>
                        </a:rPr>
                        <m:t>3∙</m:t>
                      </m:r>
                      <m:r>
                        <a:rPr lang="en-US" sz="2200" i="1">
                          <a:solidFill>
                            <a:srgbClr val="7030A0"/>
                          </a:solidFill>
                          <a:latin typeface="Cambria Math"/>
                        </a:rPr>
                        <m:t>3∙</m:t>
                      </m:r>
                      <m:sSup>
                        <m:sSupPr>
                          <m:ctrlPr>
                            <a:rPr lang="x-none" sz="2200" i="1">
                              <a:solidFill>
                                <a:schemeClr val="accent2"/>
                              </a:solidFill>
                              <a:latin typeface="Cambria Math" panose="02040503050406030204" pitchFamily="18" charset="0"/>
                            </a:rPr>
                          </m:ctrlPr>
                        </m:sSupPr>
                        <m:e>
                          <m:r>
                            <a:rPr lang="en-US" sz="2200" i="1">
                              <a:solidFill>
                                <a:schemeClr val="accent2"/>
                              </a:solidFill>
                              <a:latin typeface="Cambria Math"/>
                            </a:rPr>
                            <m:t>𝑎</m:t>
                          </m:r>
                        </m:e>
                        <m:sup>
                          <m:r>
                            <a:rPr lang="en-US" sz="2200" i="1">
                              <a:solidFill>
                                <a:schemeClr val="accent2"/>
                              </a:solidFill>
                              <a:latin typeface="Cambria Math"/>
                            </a:rPr>
                            <m:t>5</m:t>
                          </m:r>
                        </m:sup>
                      </m:sSup>
                      <m:r>
                        <a:rPr lang="en-US" sz="2200" i="1">
                          <a:solidFill>
                            <a:schemeClr val="accent2"/>
                          </a:solidFill>
                          <a:latin typeface="Cambria Math"/>
                        </a:rPr>
                        <m:t>∙</m:t>
                      </m:r>
                      <m:sSup>
                        <m:sSupPr>
                          <m:ctrlPr>
                            <a:rPr lang="x-none" sz="2200" i="1">
                              <a:solidFill>
                                <a:srgbClr val="7030A0"/>
                              </a:solidFill>
                              <a:latin typeface="Cambria Math" panose="02040503050406030204" pitchFamily="18" charset="0"/>
                            </a:rPr>
                          </m:ctrlPr>
                        </m:sSupPr>
                        <m:e>
                          <m:r>
                            <a:rPr lang="en-US" sz="2200" i="1">
                              <a:solidFill>
                                <a:srgbClr val="7030A0"/>
                              </a:solidFill>
                              <a:latin typeface="Cambria Math"/>
                            </a:rPr>
                            <m:t>𝑎</m:t>
                          </m:r>
                        </m:e>
                        <m:sup>
                          <m:r>
                            <a:rPr lang="en-US" sz="2200" i="1">
                              <a:solidFill>
                                <a:srgbClr val="7030A0"/>
                              </a:solidFill>
                              <a:latin typeface="Cambria Math"/>
                            </a:rPr>
                            <m:t>5</m:t>
                          </m:r>
                        </m:sup>
                      </m:sSup>
                    </m:oMath>
                  </m:oMathPara>
                </a14:m>
                <a:endParaRPr lang="x-none" sz="2200" dirty="0"/>
              </a:p>
              <a:p>
                <a:pPr marL="887413" indent="550863">
                  <a:lnSpc>
                    <a:spcPct val="150000"/>
                  </a:lnSpc>
                </a:pPr>
                <a14:m>
                  <m:oMathPara xmlns:m="http://schemas.openxmlformats.org/officeDocument/2006/math">
                    <m:oMathParaPr>
                      <m:jc m:val="left"/>
                    </m:oMathParaPr>
                    <m:oMath xmlns:m="http://schemas.openxmlformats.org/officeDocument/2006/math">
                      <m:r>
                        <a:rPr lang="en-US" sz="2200" i="1">
                          <a:latin typeface="Cambria Math"/>
                        </a:rPr>
                        <m:t>=</m:t>
                      </m:r>
                      <m:r>
                        <a:rPr lang="en-US" sz="2200" i="1">
                          <a:solidFill>
                            <a:schemeClr val="accent2"/>
                          </a:solidFill>
                          <a:latin typeface="Cambria Math"/>
                        </a:rPr>
                        <m:t>3∙</m:t>
                      </m:r>
                      <m:r>
                        <a:rPr lang="en-US" sz="2200" i="1">
                          <a:solidFill>
                            <a:srgbClr val="7030A0"/>
                          </a:solidFill>
                          <a:latin typeface="Cambria Math"/>
                        </a:rPr>
                        <m:t>3 ∙</m:t>
                      </m:r>
                      <m:r>
                        <a:rPr lang="en-US" sz="2200" i="1">
                          <a:solidFill>
                            <a:schemeClr val="accent2"/>
                          </a:solidFill>
                          <a:latin typeface="Cambria Math"/>
                        </a:rPr>
                        <m:t>𝑎</m:t>
                      </m:r>
                      <m:r>
                        <a:rPr lang="en-US" sz="2200" i="1">
                          <a:solidFill>
                            <a:schemeClr val="accent2"/>
                          </a:solidFill>
                          <a:latin typeface="Cambria Math"/>
                        </a:rPr>
                        <m:t>∙</m:t>
                      </m:r>
                      <m:r>
                        <a:rPr lang="en-US" sz="2200" i="1">
                          <a:solidFill>
                            <a:schemeClr val="accent2"/>
                          </a:solidFill>
                          <a:latin typeface="Cambria Math"/>
                        </a:rPr>
                        <m:t>𝑎</m:t>
                      </m:r>
                      <m:r>
                        <a:rPr lang="en-US" sz="2200" i="1">
                          <a:solidFill>
                            <a:schemeClr val="accent2"/>
                          </a:solidFill>
                          <a:latin typeface="Cambria Math"/>
                        </a:rPr>
                        <m:t>∙</m:t>
                      </m:r>
                      <m:r>
                        <a:rPr lang="en-US" sz="2200" i="1">
                          <a:solidFill>
                            <a:schemeClr val="accent2"/>
                          </a:solidFill>
                          <a:latin typeface="Cambria Math"/>
                        </a:rPr>
                        <m:t>𝑎</m:t>
                      </m:r>
                      <m:r>
                        <a:rPr lang="en-US" sz="2200" i="1">
                          <a:solidFill>
                            <a:schemeClr val="accent2"/>
                          </a:solidFill>
                          <a:latin typeface="Cambria Math"/>
                        </a:rPr>
                        <m:t>∙</m:t>
                      </m:r>
                      <m:r>
                        <a:rPr lang="en-US" sz="2200" i="1">
                          <a:solidFill>
                            <a:schemeClr val="accent2"/>
                          </a:solidFill>
                          <a:latin typeface="Cambria Math"/>
                        </a:rPr>
                        <m:t>𝑎</m:t>
                      </m:r>
                      <m:r>
                        <a:rPr lang="en-US" sz="2200" i="1">
                          <a:solidFill>
                            <a:schemeClr val="accent2"/>
                          </a:solidFill>
                          <a:latin typeface="Cambria Math"/>
                        </a:rPr>
                        <m:t>∙</m:t>
                      </m:r>
                      <m:r>
                        <a:rPr lang="en-US" sz="2200" i="1">
                          <a:solidFill>
                            <a:schemeClr val="accent2"/>
                          </a:solidFill>
                          <a:latin typeface="Cambria Math"/>
                        </a:rPr>
                        <m:t>𝑎</m:t>
                      </m:r>
                      <m:r>
                        <a:rPr lang="en-US" sz="2200" i="1">
                          <a:solidFill>
                            <a:schemeClr val="accent2"/>
                          </a:solidFill>
                          <a:latin typeface="Cambria Math"/>
                        </a:rPr>
                        <m:t> ∙</m:t>
                      </m:r>
                    </m:oMath>
                  </m:oMathPara>
                </a14:m>
                <a:endParaRPr lang="x-none" sz="2200" dirty="0">
                  <a:solidFill>
                    <a:schemeClr val="accent2"/>
                  </a:solidFill>
                </a:endParaRPr>
              </a:p>
              <a:p>
                <a:pPr marL="887413" indent="550863">
                  <a:lnSpc>
                    <a:spcPct val="150000"/>
                  </a:lnSpc>
                </a:pPr>
                <a14:m>
                  <m:oMathPara xmlns:m="http://schemas.openxmlformats.org/officeDocument/2006/math">
                    <m:oMathParaPr>
                      <m:jc m:val="left"/>
                    </m:oMathParaPr>
                    <m:oMath xmlns:m="http://schemas.openxmlformats.org/officeDocument/2006/math">
                      <m:r>
                        <a:rPr lang="en-US" sz="2200" i="1">
                          <a:latin typeface="Cambria Math"/>
                        </a:rPr>
                        <m:t>=9</m:t>
                      </m:r>
                      <m:r>
                        <a:rPr lang="en-US" sz="2200" i="1">
                          <a:latin typeface="Cambria Math"/>
                        </a:rPr>
                        <m:t>𝑎</m:t>
                      </m:r>
                    </m:oMath>
                  </m:oMathPara>
                </a14:m>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83734" y="312759"/>
                <a:ext cx="8969244" cy="5361083"/>
              </a:xfrm>
              <a:prstGeom prst="rect">
                <a:avLst/>
              </a:prstGeom>
              <a:blipFill>
                <a:blip r:embed="rId4"/>
                <a:stretch>
                  <a:fillRect t="-795"/>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83E77345-6C26-D34B-9F8F-27ED69314AA8}"/>
              </a:ext>
            </a:extLst>
          </p:cNvPr>
          <p:cNvSpPr/>
          <p:nvPr/>
        </p:nvSpPr>
        <p:spPr>
          <a:xfrm>
            <a:off x="5039380" y="4713651"/>
            <a:ext cx="2377440" cy="365760"/>
          </a:xfrm>
          <a:prstGeom prst="rect">
            <a:avLst/>
          </a:prstGeom>
          <a:noFill/>
          <a:ln>
            <a:solidFill>
              <a:srgbClr val="7030A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F0CD0978-D4F8-E440-AE7F-8B8E4B26A6C6}"/>
              </a:ext>
            </a:extLst>
          </p:cNvPr>
          <p:cNvSpPr>
            <a:spLocks noChangeAspect="1"/>
          </p:cNvSpPr>
          <p:nvPr/>
        </p:nvSpPr>
        <p:spPr>
          <a:xfrm>
            <a:off x="2702471" y="5090956"/>
            <a:ext cx="274320" cy="27432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06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660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7367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1083734" y="312758"/>
                <a:ext cx="8969244" cy="3785652"/>
              </a:xfrm>
              <a:prstGeom prst="rect">
                <a:avLst/>
              </a:prstGeom>
            </p:spPr>
            <p:txBody>
              <a:bodyPr wrap="square">
                <a:spAutoFit/>
              </a:bodyPr>
              <a:lstStyle/>
              <a:p>
                <a:pPr marL="914400" indent="-45085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Suppose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𝑎</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units. Find the length of one side of the square using a calculator.</a:t>
                </a:r>
              </a:p>
              <a:p>
                <a:pPr marL="914400" indent="-45085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Use your answer to Part C to find the area of the square. Round to the nearest thousandth.</a:t>
                </a: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83734" y="312758"/>
                <a:ext cx="8969244" cy="3785652"/>
              </a:xfrm>
              <a:prstGeom prst="rect">
                <a:avLst/>
              </a:prstGeom>
              <a:blipFill>
                <a:blip r:embed="rId4"/>
                <a:stretch>
                  <a:fillRect t="-1449" b="-2738"/>
                </a:stretch>
              </a:blipFill>
            </p:spPr>
            <p:txBody>
              <a:bodyPr/>
              <a:lstStyle/>
              <a:p>
                <a:r>
                  <a:rPr lang="en-US">
                    <a:noFill/>
                  </a:rPr>
                  <a:t> </a:t>
                </a:r>
              </a:p>
            </p:txBody>
          </p:sp>
        </mc:Fallback>
      </mc:AlternateContent>
    </p:spTree>
    <p:extLst>
      <p:ext uri="{BB962C8B-B14F-4D97-AF65-F5344CB8AC3E}">
        <p14:creationId xmlns:p14="http://schemas.microsoft.com/office/powerpoint/2010/main" val="1719818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889B13CF-7799-4D4C-A21A-ADC21E179E83}"/>
              </a:ext>
            </a:extLst>
          </p:cNvPr>
          <p:cNvSpPr/>
          <p:nvPr/>
        </p:nvSpPr>
        <p:spPr>
          <a:xfrm>
            <a:off x="1083733" y="466994"/>
            <a:ext cx="8980261" cy="3785652"/>
          </a:xfrm>
          <a:prstGeom prst="rect">
            <a:avLst/>
          </a:prstGeom>
        </p:spPr>
        <p:txBody>
          <a:bodyPr wrap="square">
            <a:spAutoFit/>
          </a:bodyPr>
          <a:lstStyle/>
          <a:p>
            <a:pPr marL="914400" indent="-450850">
              <a:buFont typeface="+mj-lt"/>
              <a:buAutoNum type="alphaL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expression generated in Part B to find the area of the square. Round to the nearest thousandth.</a:t>
            </a:r>
          </a:p>
          <a:p>
            <a:pPr marL="914400" indent="-450850">
              <a:buFont typeface="+mj-lt"/>
              <a:buAutoNum type="alphaLcPeriod" startAt="5"/>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5"/>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5"/>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5"/>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5"/>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5"/>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notice?</a:t>
            </a:r>
          </a:p>
        </p:txBody>
      </p:sp>
    </p:spTree>
    <p:extLst>
      <p:ext uri="{BB962C8B-B14F-4D97-AF65-F5344CB8AC3E}">
        <p14:creationId xmlns:p14="http://schemas.microsoft.com/office/powerpoint/2010/main" val="2737059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p:pic>
        <p:nvPicPr>
          <p:cNvPr id="8" name="image9.png" descr="Icon&#10;&#10;Description automatically generated">
            <a:extLst>
              <a:ext uri="{FF2B5EF4-FFF2-40B4-BE49-F238E27FC236}">
                <a16:creationId xmlns:a16="http://schemas.microsoft.com/office/drawing/2014/main" id="{B54C8E51-67A7-E148-9267-0297043F8D2B}"/>
              </a:ext>
            </a:extLst>
          </p:cNvPr>
          <p:cNvPicPr/>
          <p:nvPr/>
        </p:nvPicPr>
        <p:blipFill>
          <a:blip r:embed="rId4"/>
          <a:srcRect/>
          <a:stretch>
            <a:fillRect/>
          </a:stretch>
        </p:blipFill>
        <p:spPr>
          <a:xfrm>
            <a:off x="4513114" y="2852923"/>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06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23892" y="205927"/>
            <a:ext cx="92929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4.7.3 Exploration: Laws of Exponents with Algebraic Expressions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1148450" y="1808452"/>
            <a:ext cx="8904526"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Several algebraic expressions are given in the table.</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08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For each expression, work with your partner to rewrite the expression in expanded form. Then, write an equivalent algebraic expression with one variable base and one coefficient. The first row has been partially completed. </a:t>
            </a:r>
          </a:p>
        </p:txBody>
      </p:sp>
      <p:pic>
        <p:nvPicPr>
          <p:cNvPr id="16" name="image9.png" descr="Icon&#10;&#10;Description automatically generated">
            <a:extLst>
              <a:ext uri="{FF2B5EF4-FFF2-40B4-BE49-F238E27FC236}">
                <a16:creationId xmlns:a16="http://schemas.microsoft.com/office/drawing/2014/main" id="{5C4EDF0B-7D72-8846-898C-F8B2E49A77C1}"/>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98642" y="307528"/>
            <a:ext cx="749808" cy="749808"/>
          </a:xfrm>
          <a:prstGeom prst="rect">
            <a:avLst/>
          </a:prstGeom>
          <a:ln/>
        </p:spPr>
      </p:pic>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547" y="306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231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40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A5533A9-4F21-9D45-95A4-27BFC04346D5}"/>
                  </a:ext>
                </a:extLst>
              </p:cNvPr>
              <p:cNvGraphicFramePr>
                <a:graphicFrameLocks noGrp="1"/>
              </p:cNvGraphicFramePr>
              <p:nvPr>
                <p:extLst>
                  <p:ext uri="{D42A27DB-BD31-4B8C-83A1-F6EECF244321}">
                    <p14:modId xmlns:p14="http://schemas.microsoft.com/office/powerpoint/2010/main" val="1233481405"/>
                  </p:ext>
                </p:extLst>
              </p:nvPr>
            </p:nvGraphicFramePr>
            <p:xfrm>
              <a:off x="2792724" y="580825"/>
              <a:ext cx="6606552" cy="5688000"/>
            </p:xfrm>
            <a:graphic>
              <a:graphicData uri="http://schemas.openxmlformats.org/drawingml/2006/table">
                <a:tbl>
                  <a:tblPr firstRow="1" firstCol="1" bandRow="1"/>
                  <a:tblGrid>
                    <a:gridCol w="1800000">
                      <a:extLst>
                        <a:ext uri="{9D8B030D-6E8A-4147-A177-3AD203B41FA5}">
                          <a16:colId xmlns:a16="http://schemas.microsoft.com/office/drawing/2014/main" val="3560193561"/>
                        </a:ext>
                      </a:extLst>
                    </a:gridCol>
                    <a:gridCol w="3006552">
                      <a:extLst>
                        <a:ext uri="{9D8B030D-6E8A-4147-A177-3AD203B41FA5}">
                          <a16:colId xmlns:a16="http://schemas.microsoft.com/office/drawing/2014/main" val="2042913303"/>
                        </a:ext>
                      </a:extLst>
                    </a:gridCol>
                    <a:gridCol w="1800000">
                      <a:extLst>
                        <a:ext uri="{9D8B030D-6E8A-4147-A177-3AD203B41FA5}">
                          <a16:colId xmlns:a16="http://schemas.microsoft.com/office/drawing/2014/main" val="853196138"/>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Given 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Expanded Form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Equivalent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236719636"/>
                      </a:ext>
                    </a:extLst>
                  </a:tr>
                  <a:tr h="82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solidFill>
                                          <a:srgbClr val="4BACC6"/>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4BACC6"/>
                                        </a:solidFill>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000" i="1">
                                        <a:solidFill>
                                          <a:srgbClr val="4BACC6"/>
                                        </a:solidFill>
                                        <a:effectLst/>
                                        <a:latin typeface="Cambria Math" panose="02040503050406030204" pitchFamily="18" charset="0"/>
                                        <a:ea typeface="Times New Roman" panose="02020603050405020304" pitchFamily="18" charset="0"/>
                                        <a:cs typeface="Times New Roman" panose="02020603050405020304" pitchFamily="18" charset="0"/>
                                      </a:rPr>
                                      <m:t>𝑐</m:t>
                                    </m:r>
                                  </m:e>
                                  <m:sup>
                                    <m:r>
                                      <a:rPr lang="en-US" sz="2000" i="1">
                                        <a:solidFill>
                                          <a:srgbClr val="4BACC6"/>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𝑐</m:t>
                                    </m:r>
                                  </m:e>
                                  <m:sup>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6</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4BACC6"/>
                                    </a:solidFill>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000" i="1">
                                    <a:solidFill>
                                      <a:srgbClr val="4BACC6"/>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4BACC6"/>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4BACC6"/>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943634"/>
                                    </a:solidFill>
                                    <a:effectLst/>
                                    <a:latin typeface="Cambria Math" panose="02040503050406030204" pitchFamily="18" charset="0"/>
                                    <a:ea typeface="Times New Roman" panose="02020603050405020304" pitchFamily="18" charset="0"/>
                                    <a:cs typeface="Times New Roman" panose="02020603050405020304" pitchFamily="18" charset="0"/>
                                  </a:rPr>
                                  <m:t>𝑐</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𝑐</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4602447"/>
                      </a:ext>
                    </a:extLst>
                  </a:tr>
                  <a:tr h="82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𝑧</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𝑧</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756175"/>
                      </a:ext>
                    </a:extLst>
                  </a:tr>
                  <a:tr h="82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5010779"/>
                      </a:ext>
                    </a:extLst>
                  </a:tr>
                  <a:tr h="82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445249"/>
                      </a:ext>
                    </a:extLst>
                  </a:tr>
                  <a:tr h="82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1536415"/>
                      </a:ext>
                    </a:extLst>
                  </a:tr>
                  <a:tr h="82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𝑐</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𝑑</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320522"/>
                      </a:ext>
                    </a:extLst>
                  </a:tr>
                </a:tbl>
              </a:graphicData>
            </a:graphic>
          </p:graphicFrame>
        </mc:Choice>
        <mc:Fallback xmlns="">
          <p:graphicFrame>
            <p:nvGraphicFramePr>
              <p:cNvPr id="4" name="Table 3">
                <a:extLst>
                  <a:ext uri="{FF2B5EF4-FFF2-40B4-BE49-F238E27FC236}">
                    <a16:creationId xmlns:a16="http://schemas.microsoft.com/office/drawing/2014/main" id="{6A5533A9-4F21-9D45-95A4-27BFC04346D5}"/>
                  </a:ext>
                </a:extLst>
              </p:cNvPr>
              <p:cNvGraphicFramePr>
                <a:graphicFrameLocks noGrp="1"/>
              </p:cNvGraphicFramePr>
              <p:nvPr>
                <p:extLst>
                  <p:ext uri="{D42A27DB-BD31-4B8C-83A1-F6EECF244321}">
                    <p14:modId xmlns:p14="http://schemas.microsoft.com/office/powerpoint/2010/main" val="1233481405"/>
                  </p:ext>
                </p:extLst>
              </p:nvPr>
            </p:nvGraphicFramePr>
            <p:xfrm>
              <a:off x="2792724" y="580825"/>
              <a:ext cx="6606552" cy="5688000"/>
            </p:xfrm>
            <a:graphic>
              <a:graphicData uri="http://schemas.openxmlformats.org/drawingml/2006/table">
                <a:tbl>
                  <a:tblPr firstRow="1" firstCol="1" bandRow="1"/>
                  <a:tblGrid>
                    <a:gridCol w="1800000">
                      <a:extLst>
                        <a:ext uri="{9D8B030D-6E8A-4147-A177-3AD203B41FA5}">
                          <a16:colId xmlns:a16="http://schemas.microsoft.com/office/drawing/2014/main" val="3560193561"/>
                        </a:ext>
                      </a:extLst>
                    </a:gridCol>
                    <a:gridCol w="3006552">
                      <a:extLst>
                        <a:ext uri="{9D8B030D-6E8A-4147-A177-3AD203B41FA5}">
                          <a16:colId xmlns:a16="http://schemas.microsoft.com/office/drawing/2014/main" val="2042913303"/>
                        </a:ext>
                      </a:extLst>
                    </a:gridCol>
                    <a:gridCol w="1800000">
                      <a:extLst>
                        <a:ext uri="{9D8B030D-6E8A-4147-A177-3AD203B41FA5}">
                          <a16:colId xmlns:a16="http://schemas.microsoft.com/office/drawing/2014/main" val="853196138"/>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Given Expression</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Expanded Form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Equivalent Expression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236719636"/>
                      </a:ext>
                    </a:extLst>
                  </a:tr>
                  <a:tr h="82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90769" r="-269014" b="-50615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0084" t="-90769" r="-60504" b="-50615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68310" t="-90769" r="-1408" b="-506154"/>
                          </a:stretch>
                        </a:blipFill>
                      </a:tcPr>
                    </a:tc>
                    <a:extLst>
                      <a:ext uri="{0D108BD9-81ED-4DB2-BD59-A6C34878D82A}">
                        <a16:rowId xmlns:a16="http://schemas.microsoft.com/office/drawing/2014/main" val="3654602447"/>
                      </a:ext>
                    </a:extLst>
                  </a:tr>
                  <a:tr h="82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187879" r="-269014" b="-39848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756175"/>
                      </a:ext>
                    </a:extLst>
                  </a:tr>
                  <a:tr h="82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292308" r="-269014" b="-30461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5010779"/>
                      </a:ext>
                    </a:extLst>
                  </a:tr>
                  <a:tr h="82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392308" r="-269014" b="-20461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445249"/>
                      </a:ext>
                    </a:extLst>
                  </a:tr>
                  <a:tr h="82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484848" r="-269014" b="-10151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1536415"/>
                      </a:ext>
                    </a:extLst>
                  </a:tr>
                  <a:tr h="82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4" t="-593846" r="-269014" b="-307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320522"/>
                      </a:ext>
                    </a:extLst>
                  </a:tr>
                </a:tbl>
              </a:graphicData>
            </a:graphic>
          </p:graphicFrame>
        </mc:Fallback>
      </mc:AlternateContent>
      <p:sp>
        <p:nvSpPr>
          <p:cNvPr id="8" name="Rectangle 7">
            <a:extLst>
              <a:ext uri="{FF2B5EF4-FFF2-40B4-BE49-F238E27FC236}">
                <a16:creationId xmlns:a16="http://schemas.microsoft.com/office/drawing/2014/main" id="{232CFC34-33A6-F949-81B2-4A4DF5837453}"/>
              </a:ext>
            </a:extLst>
          </p:cNvPr>
          <p:cNvSpPr>
            <a:spLocks noChangeAspect="1"/>
          </p:cNvSpPr>
          <p:nvPr/>
        </p:nvSpPr>
        <p:spPr>
          <a:xfrm>
            <a:off x="8599768" y="1441103"/>
            <a:ext cx="274320" cy="27432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251846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06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154</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83733" y="404935"/>
            <a:ext cx="8969243" cy="1569660"/>
          </a:xfrm>
          <a:prstGeom prst="rect">
            <a:avLst/>
          </a:prstGeom>
        </p:spPr>
        <p:txBody>
          <a:bodyPr wrap="square">
            <a:spAutoFit/>
          </a:bodyPr>
          <a:lstStyle/>
          <a:p>
            <a:pPr marL="914400" indent="-45085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what you notice about how the coefficients and variable powers of the equivalent expressions compare to the given expressions.</a:t>
            </a:r>
          </a:p>
        </p:txBody>
      </p:sp>
    </p:spTree>
    <p:extLst>
      <p:ext uri="{BB962C8B-B14F-4D97-AF65-F5344CB8AC3E}">
        <p14:creationId xmlns:p14="http://schemas.microsoft.com/office/powerpoint/2010/main" val="2381553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867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575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155</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83733" y="330684"/>
            <a:ext cx="8865017" cy="1323439"/>
          </a:xfrm>
          <a:prstGeom prst="rect">
            <a:avLst/>
          </a:prstGeom>
        </p:spPr>
        <p:txBody>
          <a:bodyPr wrap="square">
            <a:spAutoFit/>
          </a:bodyPr>
          <a:lstStyle/>
          <a:p>
            <a:pPr marL="914400" indent="-45085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Gavin said properties of exponents could be applied to the original expressions to generate the same equivalent expression. Match each pair of expressions with the exponent law that applies. Then, complete the explanations.</a:t>
            </a:r>
          </a:p>
        </p:txBody>
      </p:sp>
      <p:pic>
        <p:nvPicPr>
          <p:cNvPr id="5" name="Picture 4" descr="Table&#10;&#10;Description automatically generated">
            <a:extLst>
              <a:ext uri="{FF2B5EF4-FFF2-40B4-BE49-F238E27FC236}">
                <a16:creationId xmlns:a16="http://schemas.microsoft.com/office/drawing/2014/main" id="{BBB9E7CA-869B-5B43-B3AE-D437CB363D2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27502" y="2001868"/>
            <a:ext cx="7164673" cy="4106140"/>
          </a:xfrm>
          <a:prstGeom prst="rect">
            <a:avLst/>
          </a:prstGeom>
        </p:spPr>
      </p:pic>
    </p:spTree>
    <p:extLst>
      <p:ext uri="{BB962C8B-B14F-4D97-AF65-F5344CB8AC3E}">
        <p14:creationId xmlns:p14="http://schemas.microsoft.com/office/powerpoint/2010/main" val="2042787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547" y="3064"/>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231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40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155</a:t>
            </a:r>
            <a:endParaRPr i="1" dirty="0">
              <a:latin typeface="Calibri"/>
              <a:ea typeface="Calibri"/>
              <a:cs typeface="Calibri"/>
              <a:sym typeface="Calibri"/>
            </a:endParaRPr>
          </a:p>
        </p:txBody>
      </p:sp>
      <p:grpSp>
        <p:nvGrpSpPr>
          <p:cNvPr id="3" name="Group 2"/>
          <p:cNvGrpSpPr/>
          <p:nvPr/>
        </p:nvGrpSpPr>
        <p:grpSpPr>
          <a:xfrm>
            <a:off x="2438397" y="497880"/>
            <a:ext cx="6974555" cy="5853889"/>
            <a:chOff x="1450196" y="873312"/>
            <a:chExt cx="6144932" cy="5157569"/>
          </a:xfrm>
        </p:grpSpPr>
        <p:pic>
          <p:nvPicPr>
            <p:cNvPr id="9" name="Picture 8" descr="Table&#10;&#10;Description automatically generated with medium confidence">
              <a:extLst>
                <a:ext uri="{FF2B5EF4-FFF2-40B4-BE49-F238E27FC236}">
                  <a16:creationId xmlns:a16="http://schemas.microsoft.com/office/drawing/2014/main" id="{E9271F41-69D9-D541-855E-03A9919C820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62896" y="873312"/>
              <a:ext cx="6113949" cy="2767801"/>
            </a:xfrm>
            <a:prstGeom prst="rect">
              <a:avLst/>
            </a:prstGeom>
          </p:spPr>
        </p:pic>
        <p:pic>
          <p:nvPicPr>
            <p:cNvPr id="10" name="Picture 9" descr="Diagram&#10;&#10;Description automatically generated">
              <a:extLst>
                <a:ext uri="{FF2B5EF4-FFF2-40B4-BE49-F238E27FC236}">
                  <a16:creationId xmlns:a16="http://schemas.microsoft.com/office/drawing/2014/main" id="{B3929007-0358-5B49-9788-58B81ED0DA6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450196" y="3614219"/>
              <a:ext cx="6144932" cy="2416662"/>
            </a:xfrm>
            <a:prstGeom prst="rect">
              <a:avLst/>
            </a:prstGeom>
          </p:spPr>
        </p:pic>
      </p:grpSp>
    </p:spTree>
    <p:extLst>
      <p:ext uri="{BB962C8B-B14F-4D97-AF65-F5344CB8AC3E}">
        <p14:creationId xmlns:p14="http://schemas.microsoft.com/office/powerpoint/2010/main" val="3252903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1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7811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155</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83733" y="493071"/>
            <a:ext cx="8748906" cy="1015663"/>
          </a:xfrm>
          <a:prstGeom prst="rect">
            <a:avLst/>
          </a:prstGeom>
        </p:spPr>
        <p:txBody>
          <a:bodyPr wrap="square">
            <a:spAutoFit/>
          </a:bodyPr>
          <a:lstStyle/>
          <a:p>
            <a:pPr marL="892175" indent="-457200">
              <a:buFont typeface="+mj-lt"/>
              <a:buAutoNum type="alphaL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Use words from the bank to complete the explanations of how the laws of exponents applied to the coefficients when generating the equivalent expressions.</a:t>
            </a:r>
          </a:p>
        </p:txBody>
      </p:sp>
      <p:graphicFrame>
        <p:nvGraphicFramePr>
          <p:cNvPr id="4" name="Table 3">
            <a:extLst>
              <a:ext uri="{FF2B5EF4-FFF2-40B4-BE49-F238E27FC236}">
                <a16:creationId xmlns:a16="http://schemas.microsoft.com/office/drawing/2014/main" id="{B16C373C-C114-3343-A2A0-0E01A486F615}"/>
              </a:ext>
            </a:extLst>
          </p:cNvPr>
          <p:cNvGraphicFramePr>
            <a:graphicFrameLocks noGrp="1"/>
          </p:cNvGraphicFramePr>
          <p:nvPr>
            <p:extLst>
              <p:ext uri="{D42A27DB-BD31-4B8C-83A1-F6EECF244321}">
                <p14:modId xmlns:p14="http://schemas.microsoft.com/office/powerpoint/2010/main" val="2193673615"/>
              </p:ext>
            </p:extLst>
          </p:nvPr>
        </p:nvGraphicFramePr>
        <p:xfrm>
          <a:off x="2702596" y="1852583"/>
          <a:ext cx="5960110" cy="396240"/>
        </p:xfrm>
        <a:graphic>
          <a:graphicData uri="http://schemas.openxmlformats.org/drawingml/2006/table">
            <a:tbl>
              <a:tblPr firstRow="1" firstCol="1" bandRow="1"/>
              <a:tblGrid>
                <a:gridCol w="1595120">
                  <a:extLst>
                    <a:ext uri="{9D8B030D-6E8A-4147-A177-3AD203B41FA5}">
                      <a16:colId xmlns:a16="http://schemas.microsoft.com/office/drawing/2014/main" val="2811690194"/>
                    </a:ext>
                  </a:extLst>
                </a:gridCol>
                <a:gridCol w="1468120">
                  <a:extLst>
                    <a:ext uri="{9D8B030D-6E8A-4147-A177-3AD203B41FA5}">
                      <a16:colId xmlns:a16="http://schemas.microsoft.com/office/drawing/2014/main" val="193096693"/>
                    </a:ext>
                  </a:extLst>
                </a:gridCol>
                <a:gridCol w="1520190">
                  <a:extLst>
                    <a:ext uri="{9D8B030D-6E8A-4147-A177-3AD203B41FA5}">
                      <a16:colId xmlns:a16="http://schemas.microsoft.com/office/drawing/2014/main" val="41372755"/>
                    </a:ext>
                  </a:extLst>
                </a:gridCol>
                <a:gridCol w="1376680">
                  <a:extLst>
                    <a:ext uri="{9D8B030D-6E8A-4147-A177-3AD203B41FA5}">
                      <a16:colId xmlns:a16="http://schemas.microsoft.com/office/drawing/2014/main" val="3632995724"/>
                    </a:ext>
                  </a:extLst>
                </a:gridCol>
              </a:tblGrid>
              <a:tr h="365760">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multiplied</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power</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product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same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8178849"/>
                  </a:ext>
                </a:extLst>
              </a:tr>
            </a:tbl>
          </a:graphicData>
        </a:graphic>
      </p:graphicFrame>
      <p:sp>
        <p:nvSpPr>
          <p:cNvPr id="8" name="Rectangle 7">
            <a:extLst>
              <a:ext uri="{FF2B5EF4-FFF2-40B4-BE49-F238E27FC236}">
                <a16:creationId xmlns:a16="http://schemas.microsoft.com/office/drawing/2014/main" id="{55349BB1-331E-1C48-BF21-6855EA2DACBB}"/>
              </a:ext>
            </a:extLst>
          </p:cNvPr>
          <p:cNvSpPr/>
          <p:nvPr/>
        </p:nvSpPr>
        <p:spPr>
          <a:xfrm>
            <a:off x="1083733" y="2760158"/>
            <a:ext cx="8748906" cy="3785652"/>
          </a:xfrm>
          <a:prstGeom prst="rect">
            <a:avLst/>
          </a:prstGeom>
        </p:spPr>
        <p:txBody>
          <a:bodyPr wrap="square">
            <a:spAutoFit/>
          </a:bodyPr>
          <a:lstStyle/>
          <a:p>
            <a:pPr marL="889000"/>
            <a:r>
              <a:rPr lang="en-US" sz="2000" dirty="0">
                <a:latin typeface="Verdana" panose="020B0604030504040204" pitchFamily="34" charset="0"/>
                <a:ea typeface="Times New Roman" panose="02020603050405020304" pitchFamily="18" charset="0"/>
                <a:cs typeface="Times New Roman" panose="02020603050405020304" pitchFamily="18" charset="0"/>
              </a:rPr>
              <a:t>In the expressions where product of powers law applied to the variable factors, the coefficients were </a:t>
            </a:r>
          </a:p>
          <a:p>
            <a:pPr marL="889000"/>
            <a:r>
              <a:rPr lang="en-US" sz="2000" dirty="0">
                <a:latin typeface="Verdana" panose="020B0604030504040204" pitchFamily="34" charset="0"/>
                <a:ea typeface="Times New Roman" panose="02020603050405020304" pitchFamily="18" charset="0"/>
                <a:cs typeface="Times New Roman" panose="02020603050405020304" pitchFamily="18" charset="0"/>
              </a:rPr>
              <a:t>________________ to find the coefficient of the ________________.</a:t>
            </a:r>
          </a:p>
          <a:p>
            <a:pPr marL="88900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889000"/>
            <a:r>
              <a:rPr lang="en-US" sz="2000" dirty="0">
                <a:latin typeface="Verdana" panose="020B0604030504040204" pitchFamily="34" charset="0"/>
                <a:ea typeface="Times New Roman" panose="02020603050405020304" pitchFamily="18" charset="0"/>
                <a:cs typeface="Times New Roman" panose="02020603050405020304" pitchFamily="18" charset="0"/>
              </a:rPr>
              <a:t>In the expressions where the power of a power law </a:t>
            </a:r>
          </a:p>
          <a:p>
            <a:pPr marL="889000"/>
            <a:r>
              <a:rPr lang="en-US" sz="2000" dirty="0">
                <a:latin typeface="Verdana" panose="020B0604030504040204" pitchFamily="34" charset="0"/>
                <a:ea typeface="Times New Roman" panose="02020603050405020304" pitchFamily="18" charset="0"/>
                <a:cs typeface="Times New Roman" panose="02020603050405020304" pitchFamily="18" charset="0"/>
              </a:rPr>
              <a:t>applied, the coefficient was also raised to the power of the ________________. </a:t>
            </a:r>
          </a:p>
          <a:p>
            <a:pPr marL="889000"/>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889000"/>
            <a:r>
              <a:rPr lang="en-US" sz="2000" dirty="0">
                <a:latin typeface="Verdana" panose="020B0604030504040204" pitchFamily="34" charset="0"/>
                <a:ea typeface="Times New Roman" panose="02020603050405020304" pitchFamily="18" charset="0"/>
                <a:cs typeface="Times New Roman" panose="02020603050405020304" pitchFamily="18" charset="0"/>
              </a:rPr>
              <a:t>In the expressions where the power of a product law applied, the coefficients of the factors were also raised to the ________________ power.</a:t>
            </a:r>
          </a:p>
        </p:txBody>
      </p:sp>
    </p:spTree>
    <p:extLst>
      <p:ext uri="{BB962C8B-B14F-4D97-AF65-F5344CB8AC3E}">
        <p14:creationId xmlns:p14="http://schemas.microsoft.com/office/powerpoint/2010/main" val="4009027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p:pic>
        <p:nvPicPr>
          <p:cNvPr id="9" name="image7.png" descr="Icon&#10;&#10;Description automatically generated">
            <a:extLst>
              <a:ext uri="{FF2B5EF4-FFF2-40B4-BE49-F238E27FC236}">
                <a16:creationId xmlns:a16="http://schemas.microsoft.com/office/drawing/2014/main" id="{FE393A10-0D4B-1B42-84CA-5E10E1A13A4D}"/>
              </a:ext>
            </a:extLst>
          </p:cNvPr>
          <p:cNvPicPr/>
          <p:nvPr/>
        </p:nvPicPr>
        <p:blipFill>
          <a:blip r:embed="rId4"/>
          <a:srcRect/>
          <a:stretch>
            <a:fillRect/>
          </a:stretch>
        </p:blipFill>
        <p:spPr>
          <a:xfrm>
            <a:off x="4937850"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25332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819"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3331"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09511" y="32036"/>
            <a:ext cx="944536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4.7.4 Bring It Together: Applying Laws of Exponents to Variables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510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72444" y="2998324"/>
            <a:ext cx="898053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Apply the law of exponents to generate equivalent expressions.</a:t>
            </a:r>
          </a:p>
        </p:txBody>
      </p:sp>
      <p:pic>
        <p:nvPicPr>
          <p:cNvPr id="15" name="image7.png" descr="Icon&#10;&#10;Description automatically generated">
            <a:extLst>
              <a:ext uri="{FF2B5EF4-FFF2-40B4-BE49-F238E27FC236}">
                <a16:creationId xmlns:a16="http://schemas.microsoft.com/office/drawing/2014/main" id="{4611AC7E-FC8B-E043-A087-1FB0EBD12F60}"/>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43079" y="217398"/>
            <a:ext cx="751775" cy="751775"/>
          </a:xfrm>
          <a:prstGeom prst="rect">
            <a:avLst/>
          </a:prstGeom>
          <a:ln/>
        </p:spPr>
      </p:pic>
      <p:grpSp>
        <p:nvGrpSpPr>
          <p:cNvPr id="36" name="Group 35">
            <a:extLst>
              <a:ext uri="{FF2B5EF4-FFF2-40B4-BE49-F238E27FC236}">
                <a16:creationId xmlns:a16="http://schemas.microsoft.com/office/drawing/2014/main" id="{CE9233F3-3075-5142-9C02-4C858835B6D6}"/>
              </a:ext>
            </a:extLst>
          </p:cNvPr>
          <p:cNvGrpSpPr/>
          <p:nvPr/>
        </p:nvGrpSpPr>
        <p:grpSpPr>
          <a:xfrm>
            <a:off x="2054901" y="1308040"/>
            <a:ext cx="8280000" cy="1464231"/>
            <a:chOff x="-71567" y="-1477369"/>
            <a:chExt cx="8280786" cy="1465242"/>
          </a:xfrm>
        </p:grpSpPr>
        <p:sp>
          <p:nvSpPr>
            <p:cNvPr id="37" name="Rectangle: Rounded Corners 114">
              <a:extLst>
                <a:ext uri="{FF2B5EF4-FFF2-40B4-BE49-F238E27FC236}">
                  <a16:creationId xmlns:a16="http://schemas.microsoft.com/office/drawing/2014/main" id="{EEEF2CAB-4CC2-F549-B086-D783C2C4D09A}"/>
                </a:ext>
              </a:extLst>
            </p:cNvPr>
            <p:cNvSpPr/>
            <p:nvPr/>
          </p:nvSpPr>
          <p:spPr>
            <a:xfrm>
              <a:off x="-71567" y="-1477369"/>
              <a:ext cx="8280786" cy="1465242"/>
            </a:xfrm>
            <a:prstGeom prst="roundRect">
              <a:avLst/>
            </a:prstGeom>
            <a:solidFill>
              <a:srgbClr val="B8E6F5"/>
            </a:solidFill>
            <a:ln>
              <a:solidFill>
                <a:srgbClr val="B8E6F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spAutoFit/>
            </a:bodyPr>
            <a:lstStyle/>
            <a:p>
              <a:pPr marL="803275">
                <a:spcAft>
                  <a:spcPts val="1000"/>
                </a:spcAft>
              </a:pPr>
              <a:r>
                <a:rPr lang="en-US" sz="2000" dirty="0">
                  <a:solidFill>
                    <a:srgbClr val="0C619E"/>
                  </a:solidFill>
                  <a:latin typeface="Verdana" panose="020B0604030504040204" pitchFamily="34" charset="0"/>
                  <a:ea typeface="Times New Roman" panose="02020603050405020304" pitchFamily="18" charset="0"/>
                  <a:cs typeface="Times New Roman" panose="02020603050405020304" pitchFamily="18" charset="0"/>
                </a:rPr>
                <a:t>The</a:t>
              </a:r>
              <a:r>
                <a:rPr lang="en-US" sz="2000" b="1" dirty="0">
                  <a:solidFill>
                    <a:srgbClr val="0C619E"/>
                  </a:solidFill>
                  <a:latin typeface="Verdana" panose="020B0604030504040204" pitchFamily="34" charset="0"/>
                  <a:ea typeface="Times New Roman" panose="02020603050405020304" pitchFamily="18" charset="0"/>
                  <a:cs typeface="Times New Roman" panose="02020603050405020304" pitchFamily="18" charset="0"/>
                </a:rPr>
                <a:t> product of powers, power of a power, </a:t>
              </a:r>
              <a:r>
                <a:rPr lang="en-US" sz="2000" dirty="0">
                  <a:solidFill>
                    <a:srgbClr val="0C619E"/>
                  </a:solidFill>
                  <a:latin typeface="Verdana" panose="020B0604030504040204" pitchFamily="34" charset="0"/>
                  <a:ea typeface="Times New Roman" panose="02020603050405020304" pitchFamily="18" charset="0"/>
                  <a:cs typeface="Times New Roman" panose="02020603050405020304" pitchFamily="18" charset="0"/>
                </a:rPr>
                <a:t>and</a:t>
              </a:r>
              <a:r>
                <a:rPr lang="en-US" sz="2000" b="1" dirty="0">
                  <a:solidFill>
                    <a:srgbClr val="0C619E"/>
                  </a:solidFill>
                  <a:latin typeface="Verdana" panose="020B0604030504040204" pitchFamily="34" charset="0"/>
                  <a:ea typeface="Times New Roman" panose="02020603050405020304" pitchFamily="18" charset="0"/>
                  <a:cs typeface="Times New Roman" panose="02020603050405020304" pitchFamily="18" charset="0"/>
                </a:rPr>
                <a:t> power of a product</a:t>
              </a:r>
              <a:r>
                <a:rPr lang="en-US" sz="2000" dirty="0">
                  <a:solidFill>
                    <a:srgbClr val="0C619E"/>
                  </a:solidFill>
                  <a:latin typeface="Verdana" panose="020B0604030504040204" pitchFamily="34" charset="0"/>
                  <a:ea typeface="Times New Roman" panose="02020603050405020304" pitchFamily="18" charset="0"/>
                  <a:cs typeface="Times New Roman" panose="02020603050405020304" pitchFamily="18" charset="0"/>
                </a:rPr>
                <a:t> laws of exponents apply to both variable and numerical bases when generating equivalent algebraic expressions. </a:t>
              </a:r>
              <a:endParaRPr lang="x-none">
                <a:ea typeface="Times New Roman" panose="02020603050405020304" pitchFamily="18" charset="0"/>
                <a:cs typeface="Times New Roman" panose="02020603050405020304" pitchFamily="18" charset="0"/>
              </a:endParaRPr>
            </a:p>
          </p:txBody>
        </p:sp>
        <p:pic>
          <p:nvPicPr>
            <p:cNvPr id="38" name="Picture 37">
              <a:extLst>
                <a:ext uri="{FF2B5EF4-FFF2-40B4-BE49-F238E27FC236}">
                  <a16:creationId xmlns:a16="http://schemas.microsoft.com/office/drawing/2014/main" id="{DA432B9C-3880-AC45-B301-EC66BEB7E0DD}"/>
                </a:ext>
              </a:extLst>
            </p:cNvPr>
            <p:cNvPicPr>
              <a:picLocks noChangeAspect="1"/>
            </p:cNvPicPr>
            <p:nvPr/>
          </p:nvPicPr>
          <p:blipFill>
            <a:blip r:embed="rId5">
              <a:extLst>
                <a:ext uri="{28A0092B-C50C-407E-A947-70E740481C1C}">
                  <a14:useLocalDpi xmlns:a14="http://schemas.microsoft.com/office/drawing/2010/main"/>
                </a:ext>
              </a:extLst>
            </a:blip>
            <a:srcRect/>
            <a:stretch/>
          </p:blipFill>
          <p:spPr bwMode="auto">
            <a:xfrm>
              <a:off x="100506" y="-1272194"/>
              <a:ext cx="621296" cy="621665"/>
            </a:xfrm>
            <a:prstGeom prst="rect">
              <a:avLst/>
            </a:prstGeom>
            <a:noFill/>
            <a:ln>
              <a:noFill/>
            </a:ln>
            <a:effectLst>
              <a:outerShdw blurRad="50800" dist="38100" dir="2700000" algn="tl" rotWithShape="0">
                <a:prstClr val="black">
                  <a:alpha val="40000"/>
                </a:prstClr>
              </a:outerShdw>
            </a:effectLst>
          </p:spPr>
        </p:pic>
      </p:gr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267EB361-6180-1A49-BE0C-D14B775CF4AA}"/>
                  </a:ext>
                </a:extLst>
              </p:cNvPr>
              <p:cNvGraphicFramePr>
                <a:graphicFrameLocks noGrp="1"/>
              </p:cNvGraphicFramePr>
              <p:nvPr>
                <p:extLst>
                  <p:ext uri="{D42A27DB-BD31-4B8C-83A1-F6EECF244321}">
                    <p14:modId xmlns:p14="http://schemas.microsoft.com/office/powerpoint/2010/main" val="622531684"/>
                  </p:ext>
                </p:extLst>
              </p:nvPr>
            </p:nvGraphicFramePr>
            <p:xfrm>
              <a:off x="2054901" y="4006139"/>
              <a:ext cx="7137305" cy="2651760"/>
            </p:xfrm>
            <a:graphic>
              <a:graphicData uri="http://schemas.openxmlformats.org/drawingml/2006/table">
                <a:tbl>
                  <a:tblPr firstRow="1" firstCol="1" bandRow="1"/>
                  <a:tblGrid>
                    <a:gridCol w="2520000">
                      <a:extLst>
                        <a:ext uri="{9D8B030D-6E8A-4147-A177-3AD203B41FA5}">
                          <a16:colId xmlns:a16="http://schemas.microsoft.com/office/drawing/2014/main" val="55377928"/>
                        </a:ext>
                      </a:extLst>
                    </a:gridCol>
                    <a:gridCol w="2313305">
                      <a:extLst>
                        <a:ext uri="{9D8B030D-6E8A-4147-A177-3AD203B41FA5}">
                          <a16:colId xmlns:a16="http://schemas.microsoft.com/office/drawing/2014/main" val="3692071207"/>
                        </a:ext>
                      </a:extLst>
                    </a:gridCol>
                    <a:gridCol w="2304000">
                      <a:extLst>
                        <a:ext uri="{9D8B030D-6E8A-4147-A177-3AD203B41FA5}">
                          <a16:colId xmlns:a16="http://schemas.microsoft.com/office/drawing/2014/main" val="3640542747"/>
                        </a:ext>
                      </a:extLst>
                    </a:gridCol>
                  </a:tblGrid>
                  <a:tr h="0">
                    <a:tc>
                      <a:txBody>
                        <a:bodyPr/>
                        <a:lstStyle/>
                        <a:p>
                          <a:pPr marL="0" marR="0" algn="ctr">
                            <a:spcBef>
                              <a:spcPts val="0"/>
                            </a:spcBef>
                            <a:spcAft>
                              <a:spcPts val="120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𝒂</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𝒎</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𝒂</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𝒂</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𝒎</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120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Power of a Power</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𝒂</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𝒎</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sup>
                                </m:s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𝒂</m:t>
                                    </m:r>
                                  </m:e>
                                  <m:sup>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𝒎𝒏</m:t>
                                    </m:r>
                                  </m:sup>
                                </m:sSup>
                              </m:oMath>
                            </m:oMathPara>
                          </a14:m>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120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Power of a Product</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dPr>
                                      <m:e>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𝒂𝒃</m:t>
                                        </m:r>
                                      </m:e>
                                    </m:d>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𝒎</m:t>
                                    </m:r>
                                  </m:sup>
                                </m:s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𝒂</m:t>
                                    </m:r>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𝒎</m:t>
                                    </m:r>
                                  </m:sup>
                                </m:s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𝒃</m:t>
                                    </m:r>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𝒎</m:t>
                                    </m:r>
                                  </m:sup>
                                </m:sSup>
                              </m:oMath>
                            </m:oMathPara>
                          </a14:m>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547151274"/>
                      </a:ext>
                    </a:extLst>
                  </a:tr>
                  <a:tr h="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14:m>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9</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=_________</m:t>
                              </m:r>
                            </m:oMath>
                          </a14:m>
                          <a:endParaRPr lang="x-none" sz="2000" dirty="0">
                            <a:effectLst/>
                            <a:latin typeface="Verdana" pitchFamily="34" charset="0"/>
                            <a:ea typeface="Verdana" pitchFamily="34"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p>
                        <a:p>
                          <a:pPr marL="0" marR="0">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𝑧</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𝑧</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=_________</m:t>
                                </m:r>
                              </m:oMath>
                            </m:oMathPara>
                          </a14:m>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14:m>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𝑔</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=_________</m:t>
                              </m:r>
                            </m:oMath>
                          </a14:m>
                          <a:endParaRPr lang="x-none" sz="2000" dirty="0">
                            <a:effectLst/>
                            <a:latin typeface="Verdana" pitchFamily="34" charset="0"/>
                            <a:ea typeface="Verdana" pitchFamily="34"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p>
                        <a:p>
                          <a:pPr marL="0" marR="0">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h</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=_________</m:t>
                                </m:r>
                              </m:oMath>
                            </m:oMathPara>
                          </a14:m>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14:m>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=_________</m:t>
                              </m:r>
                            </m:oMath>
                          </a14:m>
                          <a:endParaRPr lang="x-none" sz="2000" dirty="0">
                            <a:effectLst/>
                            <a:latin typeface="Verdana" pitchFamily="34" charset="0"/>
                            <a:ea typeface="Verdana" pitchFamily="34"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p>
                        <a:p>
                          <a:pPr marL="0" marR="0">
                            <a:spcBef>
                              <a:spcPts val="0"/>
                            </a:spcBef>
                            <a:spcAft>
                              <a:spcPts val="0"/>
                            </a:spcAft>
                          </a:pPr>
                          <a:endParaRPr lang="x-none" sz="2000" dirty="0">
                            <a:effectLst/>
                            <a:latin typeface="Verdana" pitchFamily="34" charset="0"/>
                            <a:ea typeface="Verdana" pitchFamily="34" charset="0"/>
                            <a:cs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𝑝</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=_________</m:t>
                                </m:r>
                              </m:oMath>
                            </m:oMathPara>
                          </a14:m>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351893"/>
                      </a:ext>
                    </a:extLst>
                  </a:tr>
                </a:tbl>
              </a:graphicData>
            </a:graphic>
          </p:graphicFrame>
        </mc:Choice>
        <mc:Fallback>
          <p:graphicFrame>
            <p:nvGraphicFramePr>
              <p:cNvPr id="5" name="Table 4">
                <a:extLst>
                  <a:ext uri="{FF2B5EF4-FFF2-40B4-BE49-F238E27FC236}">
                    <a16:creationId xmlns:a16="http://schemas.microsoft.com/office/drawing/2014/main" id="{267EB361-6180-1A49-BE0C-D14B775CF4AA}"/>
                  </a:ext>
                </a:extLst>
              </p:cNvPr>
              <p:cNvGraphicFramePr>
                <a:graphicFrameLocks noGrp="1"/>
              </p:cNvGraphicFramePr>
              <p:nvPr>
                <p:extLst>
                  <p:ext uri="{D42A27DB-BD31-4B8C-83A1-F6EECF244321}">
                    <p14:modId xmlns:p14="http://schemas.microsoft.com/office/powerpoint/2010/main" val="622531684"/>
                  </p:ext>
                </p:extLst>
              </p:nvPr>
            </p:nvGraphicFramePr>
            <p:xfrm>
              <a:off x="2054901" y="4006139"/>
              <a:ext cx="7137305" cy="2651760"/>
            </p:xfrm>
            <a:graphic>
              <a:graphicData uri="http://schemas.openxmlformats.org/drawingml/2006/table">
                <a:tbl>
                  <a:tblPr firstRow="1" firstCol="1" bandRow="1"/>
                  <a:tblGrid>
                    <a:gridCol w="2520000">
                      <a:extLst>
                        <a:ext uri="{9D8B030D-6E8A-4147-A177-3AD203B41FA5}">
                          <a16:colId xmlns:a16="http://schemas.microsoft.com/office/drawing/2014/main" val="55377928"/>
                        </a:ext>
                      </a:extLst>
                    </a:gridCol>
                    <a:gridCol w="2313305">
                      <a:extLst>
                        <a:ext uri="{9D8B030D-6E8A-4147-A177-3AD203B41FA5}">
                          <a16:colId xmlns:a16="http://schemas.microsoft.com/office/drawing/2014/main" val="3692071207"/>
                        </a:ext>
                      </a:extLst>
                    </a:gridCol>
                    <a:gridCol w="2304000">
                      <a:extLst>
                        <a:ext uri="{9D8B030D-6E8A-4147-A177-3AD203B41FA5}">
                          <a16:colId xmlns:a16="http://schemas.microsoft.com/office/drawing/2014/main" val="3640542747"/>
                        </a:ext>
                      </a:extLst>
                    </a:gridCol>
                  </a:tblGrid>
                  <a:tr h="11582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484" t="-2632" r="-184504" b="-131053"/>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09211" t="-2632" r="-100526" b="-131053"/>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210317" t="-2632" r="-1058" b="-131053"/>
                          </a:stretch>
                        </a:blipFill>
                      </a:tcPr>
                    </a:tc>
                    <a:extLst>
                      <a:ext uri="{0D108BD9-81ED-4DB2-BD59-A6C34878D82A}">
                        <a16:rowId xmlns:a16="http://schemas.microsoft.com/office/drawing/2014/main" val="2547151274"/>
                      </a:ext>
                    </a:extLst>
                  </a:tr>
                  <a:tr h="149352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484" t="-79268" r="-184504" b="-1220"/>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09211" t="-79268" r="-100526" b="-1220"/>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210317" t="-79268" r="-1058" b="-1220"/>
                          </a:stretch>
                        </a:blipFill>
                      </a:tcPr>
                    </a:tc>
                    <a:extLst>
                      <a:ext uri="{0D108BD9-81ED-4DB2-BD59-A6C34878D82A}">
                        <a16:rowId xmlns:a16="http://schemas.microsoft.com/office/drawing/2014/main" val="2698351893"/>
                      </a:ext>
                    </a:extLst>
                  </a:tr>
                </a:tbl>
              </a:graphicData>
            </a:graphic>
          </p:graphicFrame>
        </mc:Fallback>
      </mc:AlternateContent>
    </p:spTree>
    <p:extLst>
      <p:ext uri="{BB962C8B-B14F-4D97-AF65-F5344CB8AC3E}">
        <p14:creationId xmlns:p14="http://schemas.microsoft.com/office/powerpoint/2010/main" val="2020413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p:pic>
        <p:nvPicPr>
          <p:cNvPr id="7" name="image11.png" descr="Icon&#10;&#10;Description automatically generated">
            <a:extLst>
              <a:ext uri="{FF2B5EF4-FFF2-40B4-BE49-F238E27FC236}">
                <a16:creationId xmlns:a16="http://schemas.microsoft.com/office/drawing/2014/main" id="{7A94FB78-234C-9D44-A734-D1538BF43CE3}"/>
              </a:ext>
            </a:extLst>
          </p:cNvPr>
          <p:cNvPicPr/>
          <p:nvPr/>
        </p:nvPicPr>
        <p:blipFill>
          <a:blip r:embed="rId4"/>
          <a:srcRect/>
          <a:stretch>
            <a:fillRect/>
          </a:stretch>
        </p:blipFill>
        <p:spPr>
          <a:xfrm>
            <a:off x="4937850"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3600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10" descr="Chart, scatter chart&#10;&#10;Description automatically generated">
            <a:extLst>
              <a:ext uri="{FF2B5EF4-FFF2-40B4-BE49-F238E27FC236}">
                <a16:creationId xmlns:a16="http://schemas.microsoft.com/office/drawing/2014/main" id="{917F00EB-F17A-434B-B21F-6C99BDCF77C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48435" y="3152220"/>
            <a:ext cx="6536779" cy="3313679"/>
          </a:xfrm>
          <a:prstGeom prst="rect">
            <a:avLst/>
          </a:prstGeom>
        </p:spPr>
      </p:pic>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09511" y="214226"/>
            <a:ext cx="9557326"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4.7.5 Activity: Missing Numbers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95022" y="1276318"/>
                <a:ext cx="8957955" cy="101566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Work with your partner to use the digits </a:t>
                </a:r>
                <a14:m>
                  <m:oMath xmlns:m="http://schemas.openxmlformats.org/officeDocument/2006/math">
                    <m:r>
                      <a:rPr lang="en-US" altLang="en-US" sz="2000" i="1" dirty="0">
                        <a:solidFill>
                          <a:schemeClr val="tx1"/>
                        </a:solidFill>
                        <a:latin typeface="Cambria Math" panose="02040503050406030204" pitchFamily="18" charset="0"/>
                        <a:ea typeface="Verdana" panose="020B0604030504040204" pitchFamily="34" charset="0"/>
                        <a:cs typeface="Verdana" panose="020B0604030504040204" pitchFamily="34" charset="0"/>
                      </a:rPr>
                      <m:t>0−9</m:t>
                    </m:r>
                  </m:oMath>
                </a14:m>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to complete the equations. Each digit is used exactly once. </a:t>
                </a:r>
                <a:r>
                  <a:rPr lang="en-US" altLang="en-US" sz="2000" dirty="0">
                    <a:solidFill>
                      <a:schemeClr val="accent1"/>
                    </a:solidFill>
                    <a:latin typeface="Verdana" panose="020B0604030504040204" pitchFamily="34" charset="0"/>
                    <a:ea typeface="Verdana" panose="020B0604030504040204" pitchFamily="34" charset="0"/>
                    <a:cs typeface="Verdana" panose="020B0604030504040204" pitchFamily="34" charset="0"/>
                  </a:rPr>
                  <a:t>Blue boxes are coefficients</a:t>
                </a: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and </a:t>
                </a:r>
                <a:r>
                  <a:rPr lang="en-US" alt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t>orange boxes are exponents</a:t>
                </a: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1095022" y="1276318"/>
                <a:ext cx="8957955" cy="1015663"/>
              </a:xfrm>
              <a:prstGeom prst="rect">
                <a:avLst/>
              </a:prstGeom>
              <a:blipFill>
                <a:blip r:embed="rId5"/>
                <a:stretch>
                  <a:fillRect l="-749" t="-3593" b="-1018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8" name="image11.png" descr="Icon&#10;&#10;Description automatically generated">
            <a:extLst>
              <a:ext uri="{FF2B5EF4-FFF2-40B4-BE49-F238E27FC236}">
                <a16:creationId xmlns:a16="http://schemas.microsoft.com/office/drawing/2014/main" id="{662DCF11-7F0E-3543-9422-4EDC4DAFBAB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46872" y="134147"/>
            <a:ext cx="751048" cy="751048"/>
          </a:xfrm>
          <a:prstGeom prst="rect">
            <a:avLst/>
          </a:prstGeom>
          <a:ln/>
        </p:spPr>
      </p:pic>
      <p:pic>
        <p:nvPicPr>
          <p:cNvPr id="5" name="Picture 4">
            <a:extLst>
              <a:ext uri="{FF2B5EF4-FFF2-40B4-BE49-F238E27FC236}">
                <a16:creationId xmlns:a16="http://schemas.microsoft.com/office/drawing/2014/main" id="{CC2B7955-EE6C-104E-AB52-0B21FE51900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526304" y="2329316"/>
            <a:ext cx="5446059" cy="562759"/>
          </a:xfrm>
          <a:prstGeom prst="rect">
            <a:avLst/>
          </a:prstGeom>
        </p:spPr>
      </p:pic>
    </p:spTree>
    <p:extLst>
      <p:ext uri="{BB962C8B-B14F-4D97-AF65-F5344CB8AC3E}">
        <p14:creationId xmlns:p14="http://schemas.microsoft.com/office/powerpoint/2010/main" val="86611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157</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157</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1464" y="69132"/>
            <a:ext cx="93853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4.7.6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84164" y="256732"/>
            <a:ext cx="747300" cy="747300"/>
          </a:xfrm>
          <a:prstGeom prst="rect">
            <a:avLst/>
          </a:prstGeom>
          <a:noFill/>
          <a:ln>
            <a:noFill/>
          </a:ln>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AE281112-0763-C941-9DB7-9B28C4EA4745}"/>
                  </a:ext>
                </a:extLst>
              </p:cNvPr>
              <p:cNvSpPr/>
              <p:nvPr/>
            </p:nvSpPr>
            <p:spPr>
              <a:xfrm>
                <a:off x="1083733" y="1364926"/>
                <a:ext cx="8969243" cy="5174493"/>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Verdana" pitchFamily="34" charset="0"/>
                    <a:cs typeface="Times New Roman" panose="02020603050405020304" pitchFamily="18" charset="0"/>
                  </a:rPr>
                  <a:t>Apply the laws of exponents to generate an equivalent algebraic expression for each of the following.</a:t>
                </a:r>
              </a:p>
              <a:p>
                <a:pPr marL="457200" indent="-457200">
                  <a:buFont typeface="+mj-lt"/>
                  <a:buAutoNum type="arabicPeriod"/>
                </a:pPr>
                <a:endParaRPr lang="en-US" sz="2200" dirty="0">
                  <a:latin typeface="Verdana" panose="020B0604030504040204" pitchFamily="34" charset="0"/>
                  <a:ea typeface="Verdana" pitchFamily="34" charset="0"/>
                  <a:cs typeface="Times New Roman" panose="02020603050405020304" pitchFamily="18" charset="0"/>
                </a:endParaRPr>
              </a:p>
              <a:p>
                <a:pPr marL="914400" indent="-450850">
                  <a:buFont typeface="+mj-lt"/>
                  <a:buAutoNum type="alphaLcPeriod"/>
                </a:pPr>
                <a:r>
                  <a:rPr lang="en-US" sz="2200" dirty="0">
                    <a:latin typeface="Verdana" panose="020B0604030504040204" pitchFamily="34" charset="0"/>
                    <a:ea typeface="Verdana" pitchFamily="34" charset="0"/>
                    <a:cs typeface="Times New Roman" panose="02020603050405020304" pitchFamily="18" charset="0"/>
                  </a:rPr>
                  <a:t> </a:t>
                </a:r>
                <a14:m>
                  <m:oMath xmlns:m="http://schemas.openxmlformats.org/officeDocument/2006/math">
                    <m:sSup>
                      <m:sSupPr>
                        <m:ctrlPr>
                          <a:rPr lang="en-US" sz="2200" i="1" dirty="0">
                            <a:latin typeface="Cambria Math" panose="02040503050406030204" pitchFamily="18" charset="0"/>
                            <a:cs typeface="Times New Roman" panose="02020603050405020304" pitchFamily="18" charset="0"/>
                          </a:rPr>
                        </m:ctrlPr>
                      </m:sSupPr>
                      <m:e>
                        <m:d>
                          <m:dPr>
                            <m:ctrlPr>
                              <a:rPr lang="en-US" sz="2200" i="1" dirty="0">
                                <a:latin typeface="Cambria Math" panose="02040503050406030204" pitchFamily="18" charset="0"/>
                                <a:cs typeface="Times New Roman" panose="02020603050405020304" pitchFamily="18" charset="0"/>
                              </a:rPr>
                            </m:ctrlPr>
                          </m:dPr>
                          <m:e>
                            <m:r>
                              <a:rPr lang="es-ES" sz="2200" i="1" dirty="0">
                                <a:latin typeface="Cambria Math" panose="02040503050406030204" pitchFamily="18" charset="0"/>
                                <a:cs typeface="Times New Roman" panose="02020603050405020304" pitchFamily="18" charset="0"/>
                              </a:rPr>
                              <m:t>5</m:t>
                            </m:r>
                            <m:r>
                              <a:rPr lang="es-ES" sz="2200" i="1" dirty="0">
                                <a:latin typeface="Cambria Math" panose="02040503050406030204" pitchFamily="18" charset="0"/>
                                <a:cs typeface="Times New Roman" panose="02020603050405020304" pitchFamily="18" charset="0"/>
                              </a:rPr>
                              <m:t>𝑦</m:t>
                            </m:r>
                          </m:e>
                        </m:d>
                      </m:e>
                      <m:sup>
                        <m:r>
                          <a:rPr lang="es-ES" sz="2200" i="1" dirty="0">
                            <a:latin typeface="Cambria Math" panose="02040503050406030204" pitchFamily="18" charset="0"/>
                            <a:cs typeface="Times New Roman" panose="02020603050405020304" pitchFamily="18" charset="0"/>
                          </a:rPr>
                          <m:t>2</m:t>
                        </m:r>
                      </m:sup>
                    </m:sSup>
                    <m:r>
                      <a:rPr lang="en-US" sz="2200" i="1" dirty="0">
                        <a:latin typeface="Cambria Math" panose="02040503050406030204" pitchFamily="18" charset="0"/>
                        <a:ea typeface="Times New Roman" panose="02020603050405020304" pitchFamily="18" charset="0"/>
                        <a:cs typeface="Times New Roman" panose="02020603050405020304" pitchFamily="18" charset="0"/>
                      </a:rPr>
                      <m:t>=_____________</m:t>
                    </m:r>
                  </m:oMath>
                </a14:m>
                <a:endParaRPr lang="en-US" sz="2200" dirty="0">
                  <a:latin typeface="Verdana" panose="020B0604030504040204" pitchFamily="34" charset="0"/>
                  <a:ea typeface="Verdana" pitchFamily="34" charset="0"/>
                  <a:cs typeface="Times New Roman" panose="02020603050405020304" pitchFamily="18" charset="0"/>
                </a:endParaRPr>
              </a:p>
              <a:p>
                <a:pPr marL="914400" indent="-450850">
                  <a:buFont typeface="+mj-lt"/>
                  <a:buAutoNum type="alphaLcPeriod"/>
                </a:pPr>
                <a:endParaRPr lang="en-US" sz="2200" dirty="0">
                  <a:latin typeface="Verdana" panose="020B0604030504040204" pitchFamily="34" charset="0"/>
                  <a:ea typeface="Verdana" pitchFamily="34" charset="0"/>
                  <a:cs typeface="Times New Roman" panose="02020603050405020304" pitchFamily="18" charset="0"/>
                </a:endParaRPr>
              </a:p>
              <a:p>
                <a:pPr marL="914400" indent="-450850">
                  <a:buFont typeface="+mj-lt"/>
                  <a:buAutoNum type="alphaLcPeriod"/>
                </a:pPr>
                <a:endParaRPr lang="en-US" sz="2200" dirty="0">
                  <a:latin typeface="Verdana" panose="020B0604030504040204" pitchFamily="34" charset="0"/>
                  <a:ea typeface="Verdana" pitchFamily="34" charset="0"/>
                  <a:cs typeface="Times New Roman" panose="02020603050405020304" pitchFamily="18" charset="0"/>
                </a:endParaRPr>
              </a:p>
              <a:p>
                <a:pPr marL="914400" indent="-450850">
                  <a:buFont typeface="+mj-lt"/>
                  <a:buAutoNum type="alphaLcPeriod"/>
                </a:pPr>
                <a:endParaRPr lang="en-US" sz="2200" dirty="0">
                  <a:latin typeface="Verdana" panose="020B0604030504040204" pitchFamily="34" charset="0"/>
                  <a:ea typeface="Verdana" pitchFamily="34" charset="0"/>
                  <a:cs typeface="Times New Roman" panose="02020603050405020304" pitchFamily="18" charset="0"/>
                </a:endParaRPr>
              </a:p>
              <a:p>
                <a:pPr marL="914400" indent="-450850">
                  <a:buFont typeface="+mj-lt"/>
                  <a:buAutoNum type="alphaLcPeriod"/>
                </a:pPr>
                <a:endParaRPr lang="en-US" sz="2200" dirty="0">
                  <a:latin typeface="Verdana" panose="020B0604030504040204" pitchFamily="34" charset="0"/>
                  <a:ea typeface="Verdana" pitchFamily="34" charset="0"/>
                  <a:cs typeface="Times New Roman" panose="02020603050405020304" pitchFamily="18" charset="0"/>
                </a:endParaRPr>
              </a:p>
              <a:p>
                <a:pPr marL="914400" indent="-450850">
                  <a:buFont typeface="+mj-lt"/>
                  <a:buAutoNum type="alphaLcPeriod" startAt="2"/>
                </a:pPr>
                <a:r>
                  <a:rPr lang="en-US" sz="22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2200" i="1" dirty="0">
                            <a:latin typeface="Cambria Math" panose="02040503050406030204" pitchFamily="18" charset="0"/>
                            <a:cs typeface="Times New Roman" panose="02020603050405020304" pitchFamily="18" charset="0"/>
                          </a:rPr>
                        </m:ctrlPr>
                      </m:sSupPr>
                      <m:e>
                        <m:r>
                          <a:rPr lang="es-ES" sz="2200" i="1" dirty="0">
                            <a:latin typeface="Cambria Math" panose="02040503050406030204" pitchFamily="18" charset="0"/>
                            <a:cs typeface="Times New Roman" panose="02020603050405020304" pitchFamily="18" charset="0"/>
                          </a:rPr>
                          <m:t>𝑥</m:t>
                        </m:r>
                      </m:e>
                      <m:sup>
                        <m:r>
                          <a:rPr lang="es-ES" sz="2200" i="1" dirty="0">
                            <a:latin typeface="Cambria Math" panose="02040503050406030204" pitchFamily="18" charset="0"/>
                            <a:cs typeface="Times New Roman" panose="02020603050405020304" pitchFamily="18" charset="0"/>
                          </a:rPr>
                          <m:t>6</m:t>
                        </m:r>
                      </m:sup>
                    </m:sSup>
                    <m:r>
                      <a:rPr lang="es-ES" sz="2200" i="1" dirty="0">
                        <a:latin typeface="Cambria Math" panose="02040503050406030204" pitchFamily="18" charset="0"/>
                        <a:cs typeface="Times New Roman" panose="02020603050405020304" pitchFamily="18" charset="0"/>
                      </a:rPr>
                      <m:t>·</m:t>
                    </m:r>
                    <m:sSup>
                      <m:sSupPr>
                        <m:ctrlPr>
                          <a:rPr lang="en-US" sz="2200" i="1" dirty="0">
                            <a:latin typeface="Cambria Math" panose="02040503050406030204" pitchFamily="18" charset="0"/>
                            <a:cs typeface="Times New Roman" panose="02020603050405020304" pitchFamily="18" charset="0"/>
                          </a:rPr>
                        </m:ctrlPr>
                      </m:sSupPr>
                      <m:e>
                        <m:r>
                          <a:rPr lang="es-ES" sz="2200" i="1" dirty="0">
                            <a:latin typeface="Cambria Math" panose="02040503050406030204" pitchFamily="18" charset="0"/>
                            <a:cs typeface="Times New Roman" panose="02020603050405020304" pitchFamily="18" charset="0"/>
                          </a:rPr>
                          <m:t>𝑥</m:t>
                        </m:r>
                      </m:e>
                      <m:sup>
                        <m:r>
                          <a:rPr lang="es-ES" sz="2200" i="1" dirty="0">
                            <a:latin typeface="Cambria Math" panose="02040503050406030204" pitchFamily="18" charset="0"/>
                            <a:cs typeface="Times New Roman" panose="02020603050405020304" pitchFamily="18" charset="0"/>
                          </a:rPr>
                          <m:t>3</m:t>
                        </m:r>
                      </m:sup>
                    </m:sSup>
                    <m:r>
                      <a:rPr lang="en-US" sz="2200" i="1" dirty="0">
                        <a:latin typeface="Cambria Math" panose="02040503050406030204" pitchFamily="18" charset="0"/>
                        <a:ea typeface="Times New Roman" panose="02020603050405020304" pitchFamily="18" charset="0"/>
                        <a:cs typeface="Times New Roman" panose="02020603050405020304" pitchFamily="18" charset="0"/>
                      </a:rPr>
                      <m:t>=_____________</m:t>
                    </m:r>
                  </m:oMath>
                </a14:m>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2"/>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2"/>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2"/>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2"/>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0850">
                  <a:buFont typeface="+mj-lt"/>
                  <a:buAutoNum type="alphaLcPeriod" startAt="2"/>
                </a:pPr>
                <a:r>
                  <a:rPr lang="en-US" sz="22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2200" i="1" dirty="0">
                            <a:latin typeface="Cambria Math" panose="02040503050406030204" pitchFamily="18" charset="0"/>
                            <a:cs typeface="Times New Roman" panose="02020603050405020304" pitchFamily="18" charset="0"/>
                          </a:rPr>
                        </m:ctrlPr>
                      </m:sSupPr>
                      <m:e>
                        <m:d>
                          <m:dPr>
                            <m:ctrlPr>
                              <a:rPr lang="en-US" sz="2200" i="1" dirty="0">
                                <a:latin typeface="Cambria Math" panose="02040503050406030204" pitchFamily="18" charset="0"/>
                                <a:cs typeface="Times New Roman" panose="02020603050405020304" pitchFamily="18" charset="0"/>
                              </a:rPr>
                            </m:ctrlPr>
                          </m:dPr>
                          <m:e>
                            <m:sSup>
                              <m:sSupPr>
                                <m:ctrlPr>
                                  <a:rPr lang="en-US" sz="2200" i="1" dirty="0">
                                    <a:latin typeface="Cambria Math" panose="02040503050406030204" pitchFamily="18" charset="0"/>
                                    <a:cs typeface="Times New Roman" panose="02020603050405020304" pitchFamily="18" charset="0"/>
                                  </a:rPr>
                                </m:ctrlPr>
                              </m:sSupPr>
                              <m:e>
                                <m:r>
                                  <a:rPr lang="es-ES" sz="2200" i="1" dirty="0">
                                    <a:latin typeface="Cambria Math" panose="02040503050406030204" pitchFamily="18" charset="0"/>
                                    <a:cs typeface="Times New Roman" panose="02020603050405020304" pitchFamily="18" charset="0"/>
                                  </a:rPr>
                                  <m:t>𝑡</m:t>
                                </m:r>
                              </m:e>
                              <m:sup>
                                <m:r>
                                  <a:rPr lang="es-ES" sz="2200" i="1" dirty="0">
                                    <a:latin typeface="Cambria Math" panose="02040503050406030204" pitchFamily="18" charset="0"/>
                                    <a:cs typeface="Times New Roman" panose="02020603050405020304" pitchFamily="18" charset="0"/>
                                  </a:rPr>
                                  <m:t>5</m:t>
                                </m:r>
                              </m:sup>
                            </m:sSup>
                          </m:e>
                        </m:d>
                      </m:e>
                      <m:sup>
                        <m:r>
                          <a:rPr lang="es-ES" sz="2200" i="1" dirty="0">
                            <a:latin typeface="Cambria Math" panose="02040503050406030204" pitchFamily="18" charset="0"/>
                            <a:cs typeface="Times New Roman" panose="02020603050405020304" pitchFamily="18" charset="0"/>
                          </a:rPr>
                          <m:t>2</m:t>
                        </m:r>
                      </m:sup>
                    </m:sSup>
                    <m:r>
                      <a:rPr lang="en-US" sz="2200" i="1" dirty="0">
                        <a:latin typeface="Cambria Math" panose="02040503050406030204" pitchFamily="18" charset="0"/>
                        <a:ea typeface="Times New Roman" panose="02020603050405020304" pitchFamily="18" charset="0"/>
                        <a:cs typeface="Times New Roman" panose="02020603050405020304" pitchFamily="18" charset="0"/>
                      </a:rPr>
                      <m:t>=_____________</m:t>
                    </m:r>
                  </m:oMath>
                </a14:m>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803275" indent="-357188">
                  <a:buFont typeface="+mj-lt"/>
                  <a:buAutoNum type="alphaLcPeriod"/>
                </a:pPr>
                <a:endParaRPr lang="en-US" sz="2200" dirty="0">
                  <a:latin typeface="Verdana" panose="020B0604030504040204" pitchFamily="34" charset="0"/>
                  <a:ea typeface="Verdana" pitchFamily="34" charset="0"/>
                  <a:cs typeface="Times New Roman" panose="02020603050405020304" pitchFamily="18" charset="0"/>
                </a:endParaRPr>
              </a:p>
            </p:txBody>
          </p:sp>
        </mc:Choice>
        <mc:Fallback>
          <p:sp>
            <p:nvSpPr>
              <p:cNvPr id="2" name="Rectangle 1">
                <a:extLst>
                  <a:ext uri="{FF2B5EF4-FFF2-40B4-BE49-F238E27FC236}">
                    <a16:creationId xmlns:a16="http://schemas.microsoft.com/office/drawing/2014/main" id="{AE281112-0763-C941-9DB7-9B28C4EA4745}"/>
                  </a:ext>
                </a:extLst>
              </p:cNvPr>
              <p:cNvSpPr>
                <a:spLocks noRot="1" noChangeAspect="1" noMove="1" noResize="1" noEditPoints="1" noAdjustHandles="1" noChangeArrowheads="1" noChangeShapeType="1" noTextEdit="1"/>
              </p:cNvSpPr>
              <p:nvPr/>
            </p:nvSpPr>
            <p:spPr>
              <a:xfrm>
                <a:off x="1083733" y="1364926"/>
                <a:ext cx="8969243" cy="5174493"/>
              </a:xfrm>
              <a:prstGeom prst="rect">
                <a:avLst/>
              </a:prstGeom>
              <a:blipFill>
                <a:blip r:embed="rId5"/>
                <a:stretch>
                  <a:fillRect l="-952" t="-824"/>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3109</TotalTime>
  <Words>1058</Words>
  <Application>Microsoft Office PowerPoint</Application>
  <PresentationFormat>Widescreen</PresentationFormat>
  <Paragraphs>183</Paragraphs>
  <Slides>25</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Verdana</vt:lpstr>
      <vt:lpstr>Wingdings</vt:lpstr>
      <vt:lpstr>Century Gothic</vt:lpstr>
      <vt:lpstr>Calibri</vt:lpstr>
      <vt:lpstr>Arial Black</vt:lpstr>
      <vt:lpstr>Cambria Math</vt:lpstr>
      <vt:lpstr>Arial</vt:lpstr>
      <vt:lpstr>Cambria</vt:lpstr>
      <vt:lpstr>1_Office Theme</vt:lpstr>
      <vt:lpstr>8th Grade Math: Pre-Algebra  Unit 4, Lesson 7  Applying Exponent Laws to Algebraic Expressions – Part 1  Volume 1, pg. 152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Activity</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28</cp:revision>
  <dcterms:created xsi:type="dcterms:W3CDTF">2015-03-17T18:51:18Z</dcterms:created>
  <dcterms:modified xsi:type="dcterms:W3CDTF">2022-06-15T21:50:40Z</dcterms:modified>
</cp:coreProperties>
</file>