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345" r:id="rId4"/>
    <p:sldId id="286" r:id="rId5"/>
    <p:sldId id="261" r:id="rId6"/>
    <p:sldId id="287" r:id="rId7"/>
    <p:sldId id="314" r:id="rId8"/>
    <p:sldId id="315" r:id="rId9"/>
    <p:sldId id="316" r:id="rId10"/>
    <p:sldId id="354" r:id="rId11"/>
    <p:sldId id="355" r:id="rId12"/>
    <p:sldId id="356" r:id="rId13"/>
    <p:sldId id="374" r:id="rId14"/>
    <p:sldId id="375" r:id="rId15"/>
    <p:sldId id="376" r:id="rId16"/>
    <p:sldId id="377" r:id="rId17"/>
    <p:sldId id="371" r:id="rId18"/>
    <p:sldId id="372" r:id="rId19"/>
    <p:sldId id="373" r:id="rId20"/>
    <p:sldId id="378" r:id="rId21"/>
    <p:sldId id="362" r:id="rId22"/>
    <p:sldId id="363" r:id="rId23"/>
    <p:sldId id="364" r:id="rId24"/>
    <p:sldId id="365" r:id="rId25"/>
    <p:sldId id="306" r:id="rId26"/>
    <p:sldId id="307" r:id="rId27"/>
    <p:sldId id="380" r:id="rId28"/>
  </p:sldIdLst>
  <p:sldSz cx="12192000" cy="6858000"/>
  <p:notesSz cx="6858000" cy="9144000"/>
  <p:embeddedFontLst>
    <p:embeddedFont>
      <p:font typeface="Arial Black" panose="020B0A04020102020204" pitchFamily="34" charset="0"/>
      <p:bold r:id="rId30"/>
    </p:embeddedFont>
    <p:embeddedFont>
      <p:font typeface="Calibri" panose="020F0502020204030204" pitchFamily="34" charset="0"/>
      <p:regular r:id="rId31"/>
      <p:bold r:id="rId32"/>
      <p:italic r:id="rId33"/>
      <p:boldItalic r:id="rId34"/>
    </p:embeddedFont>
    <p:embeddedFont>
      <p:font typeface="Cambria" panose="02040503050406030204" pitchFamily="18" charset="0"/>
      <p:regular r:id="rId35"/>
      <p:bold r:id="rId36"/>
      <p:italic r:id="rId37"/>
      <p:boldItalic r:id="rId38"/>
    </p:embeddedFont>
    <p:embeddedFont>
      <p:font typeface="Cambria Math" panose="02040503050406030204" pitchFamily="18" charset="0"/>
      <p:regular r:id="rId39"/>
    </p:embeddedFont>
    <p:embeddedFont>
      <p:font typeface="Century Gothic" panose="020B0502020202020204" pitchFamily="34"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29" autoAdjust="0"/>
    <p:restoredTop sz="94591" autoAdjust="0"/>
  </p:normalViewPr>
  <p:slideViewPr>
    <p:cSldViewPr snapToGrid="0">
      <p:cViewPr varScale="1">
        <p:scale>
          <a:sx n="57" d="100"/>
          <a:sy n="57" d="100"/>
        </p:scale>
        <p:origin x="90" y="2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585677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834062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814399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161201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34912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387143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658071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271298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434208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9077816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893440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227356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2218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565265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0134792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03189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20.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8.jpe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hyperlink" Target="https://pixabay.com/en/man-person-climb-mountaineer-rock-373380/" TargetMode="External"/><Relationship Id="rId4" Type="http://schemas.openxmlformats.org/officeDocument/2006/relationships/image" Target="../media/image3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24939" y="2212773"/>
            <a:ext cx="4850296"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6</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Equivalent Expressions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147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303020" y="136525"/>
            <a:ext cx="879813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49650" y="33428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85850" y="1462225"/>
            <a:ext cx="91249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MA.8.NSO.1.3</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458836" y="327427"/>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314450" y="129667"/>
            <a:ext cx="93023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062990" y="1455367"/>
            <a:ext cx="885393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82390" y="77150"/>
            <a:ext cx="93344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49310" y="28249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0517" y="1600200"/>
            <a:ext cx="914028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determine equivalency using the laws of exponents.</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23450" y="381000"/>
            <a:ext cx="9192149"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4.6.1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55432" y="219632"/>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070517" y="1361442"/>
                <a:ext cx="8982459" cy="3785203"/>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Evaluate each expression. Show your work.</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−4</m:t>
                                </m:r>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−4</m:t>
                                </m:r>
                              </m:e>
                            </m:d>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num>
                      <m:den>
                        <m:r>
                          <a:rPr lang="es-ES" sz="2400" i="1">
                            <a:latin typeface="Cambria Math" panose="02040503050406030204" pitchFamily="18" charset="0"/>
                            <a:ea typeface="Verdana" panose="020B0604030504040204" pitchFamily="34" charset="0"/>
                            <a:cs typeface="Verdana" panose="020B0604030504040204" pitchFamily="34" charset="0"/>
                          </a:rPr>
                          <m:t>−4</m:t>
                        </m:r>
                      </m:den>
                    </m:f>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2</m:t>
                                        </m:r>
                                      </m:num>
                                      <m:den>
                                        <m:r>
                                          <a:rPr lang="es-ES" sz="2400" i="1">
                                            <a:latin typeface="Cambria Math" panose="02040503050406030204" pitchFamily="18" charset="0"/>
                                            <a:ea typeface="Verdana" panose="020B0604030504040204" pitchFamily="34" charset="0"/>
                                            <a:cs typeface="Verdana" panose="020B0604030504040204" pitchFamily="34" charset="0"/>
                                          </a:rPr>
                                          <m:t>5</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s-ES" sz="2400" i="1">
                                <a:latin typeface="Cambria Math" panose="02040503050406030204" pitchFamily="18" charset="0"/>
                                <a:ea typeface="Verdana" panose="020B0604030504040204" pitchFamily="34" charset="0"/>
                                <a:cs typeface="Verdana" panose="020B0604030504040204" pitchFamily="34" charset="0"/>
                              </a:rPr>
                            </m:ctrlPr>
                          </m:dPr>
                          <m:e>
                            <m:f>
                              <m:fPr>
                                <m:ctrlPr>
                                  <a:rPr lang="es-E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5</m:t>
                                </m:r>
                              </m:num>
                              <m:den>
                                <m:r>
                                  <a:rPr lang="es-ES" sz="2400" i="1">
                                    <a:latin typeface="Cambria Math" panose="02040503050406030204" pitchFamily="18" charset="0"/>
                                    <a:ea typeface="Verdana" panose="020B0604030504040204" pitchFamily="34" charset="0"/>
                                    <a:cs typeface="Verdana" panose="020B0604030504040204" pitchFamily="34" charset="0"/>
                                  </a:rPr>
                                  <m:t>2</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−4</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070517" y="1361442"/>
                <a:ext cx="8982459" cy="3785203"/>
              </a:xfrm>
              <a:prstGeom prst="rect">
                <a:avLst/>
              </a:prstGeom>
              <a:blipFill>
                <a:blip r:embed="rId5"/>
                <a:stretch>
                  <a:fillRect l="-1086" t="-1288"/>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pic>
        <p:nvPicPr>
          <p:cNvPr id="8" name="image9.png" descr="Icon&#10;&#10;Description automatically generated">
            <a:extLst>
              <a:ext uri="{FF2B5EF4-FFF2-40B4-BE49-F238E27FC236}">
                <a16:creationId xmlns:a16="http://schemas.microsoft.com/office/drawing/2014/main" id="{B54C8E51-67A7-E148-9267-0297043F8D2B}"/>
              </a:ext>
            </a:extLst>
          </p:cNvPr>
          <p:cNvPicPr/>
          <p:nvPr/>
        </p:nvPicPr>
        <p:blipFill>
          <a:blip r:embed="rId4"/>
          <a:srcRect/>
          <a:stretch>
            <a:fillRect/>
          </a:stretch>
        </p:blipFill>
        <p:spPr>
          <a:xfrm>
            <a:off x="4513114" y="2852923"/>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23892" y="208749"/>
            <a:ext cx="921375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4.6.2 Exploration: Exponential Expressions with Different Bases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1070517" y="1433402"/>
            <a:ext cx="8982459" cy="1477328"/>
          </a:xfrm>
          <a:prstGeom prst="rect">
            <a:avLst/>
          </a:prstGeom>
          <a:noFill/>
        </p:spPr>
        <p:txBody>
          <a:bodyPr wrap="square" rtlCol="0">
            <a:spAutoFit/>
          </a:bodyPr>
          <a:lstStyle/>
          <a:p>
            <a:pPr marL="457200" indent="-457200">
              <a:spcAft>
                <a:spcPts val="1200"/>
              </a:spcAft>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Three expressions are given in the table.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For each given expression, generate an equivalent expression by applying exponent laws. Then, find the value of the expression using a calculator.</a:t>
            </a:r>
          </a:p>
        </p:txBody>
      </p:sp>
      <p:pic>
        <p:nvPicPr>
          <p:cNvPr id="16" name="image9.png" descr="Icon&#10;&#10;Description automatically generated">
            <a:extLst>
              <a:ext uri="{FF2B5EF4-FFF2-40B4-BE49-F238E27FC236}">
                <a16:creationId xmlns:a16="http://schemas.microsoft.com/office/drawing/2014/main" id="{5C4EDF0B-7D72-8846-898C-F8B2E49A77C1}"/>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540888" y="208749"/>
            <a:ext cx="749808" cy="749808"/>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9B06951-2F8A-A047-AE76-8ADDF6BF6216}"/>
                  </a:ext>
                </a:extLst>
              </p:cNvPr>
              <p:cNvGraphicFramePr>
                <a:graphicFrameLocks noGrp="1"/>
              </p:cNvGraphicFramePr>
              <p:nvPr>
                <p:extLst>
                  <p:ext uri="{D42A27DB-BD31-4B8C-83A1-F6EECF244321}">
                    <p14:modId xmlns:p14="http://schemas.microsoft.com/office/powerpoint/2010/main" val="785396847"/>
                  </p:ext>
                </p:extLst>
              </p:nvPr>
            </p:nvGraphicFramePr>
            <p:xfrm>
              <a:off x="3108000" y="2995286"/>
              <a:ext cx="6840000" cy="3420000"/>
            </p:xfrm>
            <a:graphic>
              <a:graphicData uri="http://schemas.openxmlformats.org/drawingml/2006/table">
                <a:tbl>
                  <a:tblPr firstRow="1" firstCol="1" bandRow="1"/>
                  <a:tblGrid>
                    <a:gridCol w="2520000">
                      <a:extLst>
                        <a:ext uri="{9D8B030D-6E8A-4147-A177-3AD203B41FA5}">
                          <a16:colId xmlns:a16="http://schemas.microsoft.com/office/drawing/2014/main" val="2972729158"/>
                        </a:ext>
                      </a:extLst>
                    </a:gridCol>
                    <a:gridCol w="2520000">
                      <a:extLst>
                        <a:ext uri="{9D8B030D-6E8A-4147-A177-3AD203B41FA5}">
                          <a16:colId xmlns:a16="http://schemas.microsoft.com/office/drawing/2014/main" val="1844344568"/>
                        </a:ext>
                      </a:extLst>
                    </a:gridCol>
                    <a:gridCol w="1800000">
                      <a:extLst>
                        <a:ext uri="{9D8B030D-6E8A-4147-A177-3AD203B41FA5}">
                          <a16:colId xmlns:a16="http://schemas.microsoft.com/office/drawing/2014/main" val="1849631822"/>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Given </a:t>
                          </a: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Equivalent 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496322653"/>
                      </a:ext>
                    </a:extLst>
                  </a:tr>
                  <a:tr h="90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14</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1581782"/>
                      </a:ext>
                    </a:extLst>
                  </a:tr>
                  <a:tr h="90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0784233"/>
                      </a:ext>
                    </a:extLst>
                  </a:tr>
                  <a:tr h="90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16∙4∙</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0454160"/>
                      </a:ext>
                    </a:extLst>
                  </a:tr>
                </a:tbl>
              </a:graphicData>
            </a:graphic>
          </p:graphicFrame>
        </mc:Choice>
        <mc:Fallback xmlns="">
          <p:graphicFrame>
            <p:nvGraphicFramePr>
              <p:cNvPr id="3" name="Table 2">
                <a:extLst>
                  <a:ext uri="{FF2B5EF4-FFF2-40B4-BE49-F238E27FC236}">
                    <a16:creationId xmlns:a16="http://schemas.microsoft.com/office/drawing/2014/main" id="{C9B06951-2F8A-A047-AE76-8ADDF6BF6216}"/>
                  </a:ext>
                </a:extLst>
              </p:cNvPr>
              <p:cNvGraphicFramePr>
                <a:graphicFrameLocks noGrp="1"/>
              </p:cNvGraphicFramePr>
              <p:nvPr>
                <p:extLst>
                  <p:ext uri="{D42A27DB-BD31-4B8C-83A1-F6EECF244321}">
                    <p14:modId xmlns:p14="http://schemas.microsoft.com/office/powerpoint/2010/main" val="785396847"/>
                  </p:ext>
                </p:extLst>
              </p:nvPr>
            </p:nvGraphicFramePr>
            <p:xfrm>
              <a:off x="3108000" y="2995286"/>
              <a:ext cx="6840000" cy="3420000"/>
            </p:xfrm>
            <a:graphic>
              <a:graphicData uri="http://schemas.openxmlformats.org/drawingml/2006/table">
                <a:tbl>
                  <a:tblPr firstRow="1" firstCol="1" bandRow="1"/>
                  <a:tblGrid>
                    <a:gridCol w="2520000">
                      <a:extLst>
                        <a:ext uri="{9D8B030D-6E8A-4147-A177-3AD203B41FA5}">
                          <a16:colId xmlns:a16="http://schemas.microsoft.com/office/drawing/2014/main" val="2972729158"/>
                        </a:ext>
                      </a:extLst>
                    </a:gridCol>
                    <a:gridCol w="2520000">
                      <a:extLst>
                        <a:ext uri="{9D8B030D-6E8A-4147-A177-3AD203B41FA5}">
                          <a16:colId xmlns:a16="http://schemas.microsoft.com/office/drawing/2014/main" val="1844344568"/>
                        </a:ext>
                      </a:extLst>
                    </a:gridCol>
                    <a:gridCol w="1800000">
                      <a:extLst>
                        <a:ext uri="{9D8B030D-6E8A-4147-A177-3AD203B41FA5}">
                          <a16:colId xmlns:a16="http://schemas.microsoft.com/office/drawing/2014/main" val="1849631822"/>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Given </a:t>
                          </a: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Equivalent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496322653"/>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03" t="-83099" r="-172362" b="-20281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1581782"/>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03" t="-180556" r="-172362" b="-10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0784233"/>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03" t="-284507" r="-172362" b="-1408"/>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0454160"/>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70517" y="417102"/>
            <a:ext cx="8982459" cy="830997"/>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your results with your partner.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notice about the three expressions?</a:t>
            </a:r>
          </a:p>
        </p:txBody>
      </p:sp>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pic>
        <p:nvPicPr>
          <p:cNvPr id="7" name="image13.png">
            <a:extLst>
              <a:ext uri="{FF2B5EF4-FFF2-40B4-BE49-F238E27FC236}">
                <a16:creationId xmlns:a16="http://schemas.microsoft.com/office/drawing/2014/main" id="{A0F47261-743C-004D-A47F-C8E439E76189}"/>
              </a:ext>
            </a:extLst>
          </p:cNvPr>
          <p:cNvPicPr/>
          <p:nvPr/>
        </p:nvPicPr>
        <p:blipFill>
          <a:blip r:embed="rId4">
            <a:extLst>
              <a:ext uri="{28A0092B-C50C-407E-A947-70E740481C1C}">
                <a14:useLocalDpi xmlns:a14="http://schemas.microsoft.com/office/drawing/2010/main"/>
              </a:ext>
            </a:extLst>
          </a:blip>
          <a:stretch>
            <a:fillRect/>
          </a:stretch>
        </p:blipFill>
        <p:spPr>
          <a:xfrm>
            <a:off x="4506717"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3600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41672" y="171083"/>
            <a:ext cx="942511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4.6.3 Guided Instruction: Rewriting Expressions with Different Bases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59366" y="1814515"/>
            <a:ext cx="899361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Exponent laws can be applied to exponents with the </a:t>
            </a:r>
            <a:r>
              <a:rPr lang="en-US" altLang="en-US" sz="2400" b="1" dirty="0">
                <a:solidFill>
                  <a:schemeClr val="tx1"/>
                </a:solidFill>
                <a:latin typeface="Verdana" panose="020B0604030504040204" pitchFamily="34" charset="0"/>
                <a:ea typeface="Verdana" panose="020B0604030504040204" pitchFamily="34" charset="0"/>
                <a:cs typeface="Verdana" panose="020B0604030504040204" pitchFamily="34" charset="0"/>
              </a:rPr>
              <a:t>same base</a:t>
            </a: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However, sometimes a base can be rewritten to create a common base when perfect squares, cubes, fourths, etc. are present.</a:t>
            </a:r>
          </a:p>
        </p:txBody>
      </p:sp>
      <p:pic>
        <p:nvPicPr>
          <p:cNvPr id="8" name="image13.png">
            <a:extLst>
              <a:ext uri="{FF2B5EF4-FFF2-40B4-BE49-F238E27FC236}">
                <a16:creationId xmlns:a16="http://schemas.microsoft.com/office/drawing/2014/main" id="{247E5A98-AE8E-7341-9568-8B24C385DE2E}"/>
              </a:ext>
            </a:extLst>
          </p:cNvPr>
          <p:cNvPicPr/>
          <p:nvPr/>
        </p:nvPicPr>
        <p:blipFill>
          <a:blip r:embed="rId4">
            <a:extLst>
              <a:ext uri="{28A0092B-C50C-407E-A947-70E740481C1C}">
                <a14:useLocalDpi xmlns:a14="http://schemas.microsoft.com/office/drawing/2010/main"/>
              </a:ext>
            </a:extLst>
          </a:blip>
          <a:stretch>
            <a:fillRect/>
          </a:stretch>
        </p:blipFill>
        <p:spPr>
          <a:xfrm>
            <a:off x="594242" y="329421"/>
            <a:ext cx="747430" cy="747430"/>
          </a:xfrm>
          <a:prstGeom prst="rect">
            <a:avLst/>
          </a:prstGeom>
          <a:ln/>
        </p:spPr>
      </p:pic>
    </p:spTree>
    <p:extLst>
      <p:ext uri="{BB962C8B-B14F-4D97-AF65-F5344CB8AC3E}">
        <p14:creationId xmlns:p14="http://schemas.microsoft.com/office/powerpoint/2010/main" val="86611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84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431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60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889B13CF-7799-4D4C-A21A-ADC21E179E83}"/>
              </a:ext>
            </a:extLst>
          </p:cNvPr>
          <p:cNvSpPr/>
          <p:nvPr/>
        </p:nvSpPr>
        <p:spPr>
          <a:xfrm>
            <a:off x="1070517" y="458532"/>
            <a:ext cx="8982459"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The first row is started for you.</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1D10B0BE-EFC3-0244-B3CF-B03D6DC500E2}"/>
                  </a:ext>
                </a:extLst>
              </p:cNvPr>
              <p:cNvGraphicFramePr>
                <a:graphicFrameLocks noGrp="1"/>
              </p:cNvGraphicFramePr>
              <p:nvPr>
                <p:extLst>
                  <p:ext uri="{D42A27DB-BD31-4B8C-83A1-F6EECF244321}">
                    <p14:modId xmlns:p14="http://schemas.microsoft.com/office/powerpoint/2010/main" val="536139540"/>
                  </p:ext>
                </p:extLst>
              </p:nvPr>
            </p:nvGraphicFramePr>
            <p:xfrm>
              <a:off x="1680814" y="1591664"/>
              <a:ext cx="7560000" cy="3348000"/>
            </p:xfrm>
            <a:graphic>
              <a:graphicData uri="http://schemas.openxmlformats.org/drawingml/2006/table">
                <a:tbl>
                  <a:tblPr firstRow="1" firstCol="1" bandRow="1"/>
                  <a:tblGrid>
                    <a:gridCol w="1080000">
                      <a:extLst>
                        <a:ext uri="{9D8B030D-6E8A-4147-A177-3AD203B41FA5}">
                          <a16:colId xmlns:a16="http://schemas.microsoft.com/office/drawing/2014/main" val="3177177979"/>
                        </a:ext>
                      </a:extLst>
                    </a:gridCol>
                    <a:gridCol w="2160000">
                      <a:extLst>
                        <a:ext uri="{9D8B030D-6E8A-4147-A177-3AD203B41FA5}">
                          <a16:colId xmlns:a16="http://schemas.microsoft.com/office/drawing/2014/main" val="3792820421"/>
                        </a:ext>
                      </a:extLst>
                    </a:gridCol>
                    <a:gridCol w="2160000">
                      <a:extLst>
                        <a:ext uri="{9D8B030D-6E8A-4147-A177-3AD203B41FA5}">
                          <a16:colId xmlns:a16="http://schemas.microsoft.com/office/drawing/2014/main" val="1980726312"/>
                        </a:ext>
                      </a:extLst>
                    </a:gridCol>
                    <a:gridCol w="2160000">
                      <a:extLst>
                        <a:ext uri="{9D8B030D-6E8A-4147-A177-3AD203B41FA5}">
                          <a16:colId xmlns:a16="http://schemas.microsoft.com/office/drawing/2014/main" val="135103508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Base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9B6B6"/>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Square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9B6B6"/>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Cube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9B6B6"/>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Fourth</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9B6B6"/>
                        </a:solidFill>
                      </a:tcPr>
                    </a:tc>
                    <a:extLst>
                      <a:ext uri="{0D108BD9-81ED-4DB2-BD59-A6C34878D82A}">
                        <a16:rowId xmlns:a16="http://schemas.microsoft.com/office/drawing/2014/main" val="4015107034"/>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a:effectLst/>
                              <a:latin typeface="Verdana" panose="020B0604030504040204" pitchFamily="34" charset="0"/>
                              <a:ea typeface="Verdana" pitchFamily="34" charset="0"/>
                              <a:cs typeface="Times New Roman" panose="02020603050405020304" pitchFamily="18" charset="0"/>
                            </a:rPr>
                            <a:t> ____</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7794891"/>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330782"/>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6137491"/>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8915126"/>
                      </a:ext>
                    </a:extLst>
                  </a:tr>
                </a:tbl>
              </a:graphicData>
            </a:graphic>
          </p:graphicFrame>
        </mc:Choice>
        <mc:Fallback xmlns="">
          <p:graphicFrame>
            <p:nvGraphicFramePr>
              <p:cNvPr id="3" name="Table 2">
                <a:extLst>
                  <a:ext uri="{FF2B5EF4-FFF2-40B4-BE49-F238E27FC236}">
                    <a16:creationId xmlns:a16="http://schemas.microsoft.com/office/drawing/2014/main" id="{1D10B0BE-EFC3-0244-B3CF-B03D6DC500E2}"/>
                  </a:ext>
                </a:extLst>
              </p:cNvPr>
              <p:cNvGraphicFramePr>
                <a:graphicFrameLocks noGrp="1"/>
              </p:cNvGraphicFramePr>
              <p:nvPr>
                <p:extLst>
                  <p:ext uri="{D42A27DB-BD31-4B8C-83A1-F6EECF244321}">
                    <p14:modId xmlns:p14="http://schemas.microsoft.com/office/powerpoint/2010/main" val="536139540"/>
                  </p:ext>
                </p:extLst>
              </p:nvPr>
            </p:nvGraphicFramePr>
            <p:xfrm>
              <a:off x="1680814" y="1591664"/>
              <a:ext cx="7560000" cy="3348000"/>
            </p:xfrm>
            <a:graphic>
              <a:graphicData uri="http://schemas.openxmlformats.org/drawingml/2006/table">
                <a:tbl>
                  <a:tblPr firstRow="1" firstCol="1" bandRow="1"/>
                  <a:tblGrid>
                    <a:gridCol w="1080000">
                      <a:extLst>
                        <a:ext uri="{9D8B030D-6E8A-4147-A177-3AD203B41FA5}">
                          <a16:colId xmlns:a16="http://schemas.microsoft.com/office/drawing/2014/main" val="3177177979"/>
                        </a:ext>
                      </a:extLst>
                    </a:gridCol>
                    <a:gridCol w="2160000">
                      <a:extLst>
                        <a:ext uri="{9D8B030D-6E8A-4147-A177-3AD203B41FA5}">
                          <a16:colId xmlns:a16="http://schemas.microsoft.com/office/drawing/2014/main" val="3792820421"/>
                        </a:ext>
                      </a:extLst>
                    </a:gridCol>
                    <a:gridCol w="2160000">
                      <a:extLst>
                        <a:ext uri="{9D8B030D-6E8A-4147-A177-3AD203B41FA5}">
                          <a16:colId xmlns:a16="http://schemas.microsoft.com/office/drawing/2014/main" val="1980726312"/>
                        </a:ext>
                      </a:extLst>
                    </a:gridCol>
                    <a:gridCol w="2160000">
                      <a:extLst>
                        <a:ext uri="{9D8B030D-6E8A-4147-A177-3AD203B41FA5}">
                          <a16:colId xmlns:a16="http://schemas.microsoft.com/office/drawing/2014/main" val="135103508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Base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9B6B6"/>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Square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9B6B6"/>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Cube</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9B6B6"/>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Fourth</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9B6B6"/>
                        </a:solidFill>
                      </a:tcPr>
                    </a:tc>
                    <a:extLst>
                      <a:ext uri="{0D108BD9-81ED-4DB2-BD59-A6C34878D82A}">
                        <a16:rowId xmlns:a16="http://schemas.microsoft.com/office/drawing/2014/main" val="4015107034"/>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65" t="-66949" r="-603390" b="-30339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0141" t="-66949" r="-200845" b="-30339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50565" t="-66949" r="-101412" b="-30339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49859" t="-66949" r="-1127" b="-303390"/>
                          </a:stretch>
                        </a:blipFill>
                      </a:tcPr>
                    </a:tc>
                    <a:extLst>
                      <a:ext uri="{0D108BD9-81ED-4DB2-BD59-A6C34878D82A}">
                        <a16:rowId xmlns:a16="http://schemas.microsoft.com/office/drawing/2014/main" val="2857794891"/>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65" t="-166949" r="-603390" b="-20339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330782"/>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65" t="-264706" r="-603390" b="-101681"/>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6137491"/>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65" t="-367797" r="-603390" b="-2542"/>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8915126"/>
                      </a:ext>
                    </a:extLst>
                  </a:tr>
                </a:tbl>
              </a:graphicData>
            </a:graphic>
          </p:graphicFrame>
        </mc:Fallback>
      </mc:AlternateContent>
    </p:spTree>
    <p:extLst>
      <p:ext uri="{BB962C8B-B14F-4D97-AF65-F5344CB8AC3E}">
        <p14:creationId xmlns:p14="http://schemas.microsoft.com/office/powerpoint/2010/main" val="168184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1070517" y="549971"/>
                <a:ext cx="8982459" cy="862608"/>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 exponential expression equivalent to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8</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that has a base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70517" y="549971"/>
                <a:ext cx="8982459" cy="862608"/>
              </a:xfrm>
              <a:prstGeom prst="rect">
                <a:avLst/>
              </a:prstGeom>
              <a:blipFill>
                <a:blip r:embed="rId4"/>
                <a:stretch>
                  <a:fillRect l="-1086" t="-5634" r="-679" b="-112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B00D6C4-5E87-4B45-B81D-7DBB6D6057F4}"/>
                  </a:ext>
                </a:extLst>
              </p:cNvPr>
              <p:cNvGraphicFramePr>
                <a:graphicFrameLocks noGrp="1"/>
              </p:cNvGraphicFramePr>
              <p:nvPr>
                <p:extLst>
                  <p:ext uri="{D42A27DB-BD31-4B8C-83A1-F6EECF244321}">
                    <p14:modId xmlns:p14="http://schemas.microsoft.com/office/powerpoint/2010/main" val="4118526221"/>
                  </p:ext>
                </p:extLst>
              </p:nvPr>
            </p:nvGraphicFramePr>
            <p:xfrm>
              <a:off x="2718156" y="1506092"/>
              <a:ext cx="6840000" cy="2628000"/>
            </p:xfrm>
            <a:graphic>
              <a:graphicData uri="http://schemas.openxmlformats.org/drawingml/2006/table">
                <a:tbl>
                  <a:tblPr firstRow="1" firstCol="1" bandRow="1"/>
                  <a:tblGrid>
                    <a:gridCol w="1800000">
                      <a:extLst>
                        <a:ext uri="{9D8B030D-6E8A-4147-A177-3AD203B41FA5}">
                          <a16:colId xmlns:a16="http://schemas.microsoft.com/office/drawing/2014/main" val="165650587"/>
                        </a:ext>
                      </a:extLst>
                    </a:gridCol>
                    <a:gridCol w="5040000">
                      <a:extLst>
                        <a:ext uri="{9D8B030D-6E8A-4147-A177-3AD203B41FA5}">
                          <a16:colId xmlns:a16="http://schemas.microsoft.com/office/drawing/2014/main" val="395344514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Step</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Description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218286560"/>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Determine an expression with base </a:t>
                          </a:r>
                          <a:br>
                            <a:rPr lang="en-US" sz="2000" dirty="0">
                              <a:effectLst/>
                              <a:latin typeface="Verdana" panose="020B0604030504040204" pitchFamily="34" charset="0"/>
                              <a:ea typeface="Verdana" pitchFamily="34" charset="0"/>
                              <a:cs typeface="Times New Roman" panose="02020603050405020304" pitchFamily="18" charset="0"/>
                            </a:rPr>
                          </a:b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Verdana" pitchFamily="34" charset="0"/>
                              <a:cs typeface="Times New Roman" panose="02020603050405020304" pitchFamily="18" charset="0"/>
                            </a:rPr>
                            <a:t> that is equivalent to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effectLst/>
                              <a:latin typeface="Verdana" panose="020B0604030504040204" pitchFamily="34" charset="0"/>
                              <a:ea typeface="Verdana" pitchFamily="34" charset="0"/>
                              <a:cs typeface="Times New Roman" panose="02020603050405020304" pitchFamily="18" charset="0"/>
                            </a:rPr>
                            <a:t>.</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2607721"/>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Substitute the power of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Verdana" pitchFamily="34" charset="0"/>
                              <a:cs typeface="Times New Roman" panose="02020603050405020304" pitchFamily="18" charset="0"/>
                            </a:rPr>
                            <a:t> for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effectLst/>
                              <a:latin typeface="Verdana" panose="020B0604030504040204" pitchFamily="34" charset="0"/>
                              <a:ea typeface="Verdana" pitchFamily="34" charset="0"/>
                              <a:cs typeface="Times New Roman" panose="02020603050405020304" pitchFamily="18" charset="0"/>
                            </a:rPr>
                            <a:t> in the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89055"/>
                      </a:ext>
                    </a:extLst>
                  </a:tr>
                  <a:tr h="720000">
                    <a:tc>
                      <a:txBody>
                        <a:bodyPr/>
                        <a:lstStyle/>
                        <a:p>
                          <a:pPr marL="0" marR="0" algn="ctr">
                            <a:lnSpc>
                              <a:spcPct val="115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   </m:t>
                                </m:r>
                              </m:oMath>
                            </m:oMathPara>
                          </a14:m>
                          <a:endParaRPr lang="x-none" sz="2000">
                            <a:effectLst/>
                            <a:latin typeface="Verdana" pitchFamily="34" charset="0"/>
                            <a:ea typeface="Verdana" pitchFamily="34" charset="0"/>
                            <a:cs typeface="Times New Roman" panose="02020603050405020304" pitchFamily="18" charset="0"/>
                          </a:endParaRP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Apply power of a power law of exponents.</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4205762"/>
                      </a:ext>
                    </a:extLst>
                  </a:tr>
                </a:tbl>
              </a:graphicData>
            </a:graphic>
          </p:graphicFrame>
        </mc:Choice>
        <mc:Fallback xmlns="">
          <p:graphicFrame>
            <p:nvGraphicFramePr>
              <p:cNvPr id="6" name="Table 5">
                <a:extLst>
                  <a:ext uri="{FF2B5EF4-FFF2-40B4-BE49-F238E27FC236}">
                    <a16:creationId xmlns:a16="http://schemas.microsoft.com/office/drawing/2014/main" id="{7B00D6C4-5E87-4B45-B81D-7DBB6D6057F4}"/>
                  </a:ext>
                </a:extLst>
              </p:cNvPr>
              <p:cNvGraphicFramePr>
                <a:graphicFrameLocks noGrp="1"/>
              </p:cNvGraphicFramePr>
              <p:nvPr>
                <p:extLst>
                  <p:ext uri="{D42A27DB-BD31-4B8C-83A1-F6EECF244321}">
                    <p14:modId xmlns:p14="http://schemas.microsoft.com/office/powerpoint/2010/main" val="4118526221"/>
                  </p:ext>
                </p:extLst>
              </p:nvPr>
            </p:nvGraphicFramePr>
            <p:xfrm>
              <a:off x="2718156" y="1506092"/>
              <a:ext cx="6840000" cy="2628000"/>
            </p:xfrm>
            <a:graphic>
              <a:graphicData uri="http://schemas.openxmlformats.org/drawingml/2006/table">
                <a:tbl>
                  <a:tblPr firstRow="1" firstCol="1" bandRow="1"/>
                  <a:tblGrid>
                    <a:gridCol w="1800000">
                      <a:extLst>
                        <a:ext uri="{9D8B030D-6E8A-4147-A177-3AD203B41FA5}">
                          <a16:colId xmlns:a16="http://schemas.microsoft.com/office/drawing/2014/main" val="165650587"/>
                        </a:ext>
                      </a:extLst>
                    </a:gridCol>
                    <a:gridCol w="5040000">
                      <a:extLst>
                        <a:ext uri="{9D8B030D-6E8A-4147-A177-3AD203B41FA5}">
                          <a16:colId xmlns:a16="http://schemas.microsoft.com/office/drawing/2014/main" val="395344514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Step</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Description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218286560"/>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04" t="-66667" r="-280986" b="-21403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6020" t="-66667" r="-504" b="-214035"/>
                          </a:stretch>
                        </a:blipFill>
                      </a:tcPr>
                    </a:tc>
                    <a:extLst>
                      <a:ext uri="{0D108BD9-81ED-4DB2-BD59-A6C34878D82A}">
                        <a16:rowId xmlns:a16="http://schemas.microsoft.com/office/drawing/2014/main" val="3522607721"/>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04" t="-166667" r="-280986" b="-11403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6020" t="-166667" r="-504" b="-114035"/>
                          </a:stretch>
                        </a:blipFill>
                      </a:tcPr>
                    </a:tc>
                    <a:extLst>
                      <a:ext uri="{0D108BD9-81ED-4DB2-BD59-A6C34878D82A}">
                        <a16:rowId xmlns:a16="http://schemas.microsoft.com/office/drawing/2014/main" val="172889055"/>
                      </a:ext>
                    </a:extLst>
                  </a:tr>
                  <a:tr h="720000">
                    <a:tc>
                      <a:txBody>
                        <a:bodyPr/>
                        <a:lstStyle/>
                        <a:p>
                          <a:endParaRPr lang="en-US"/>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04" t="-266667" r="-280986" b="-14035"/>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Apply power of a power law of exponents.</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4205762"/>
                      </a:ext>
                    </a:extLst>
                  </a:tr>
                </a:tbl>
              </a:graphicData>
            </a:graphic>
          </p:graphicFrame>
        </mc:Fallback>
      </mc:AlternateContent>
    </p:spTree>
    <p:extLst>
      <p:ext uri="{BB962C8B-B14F-4D97-AF65-F5344CB8AC3E}">
        <p14:creationId xmlns:p14="http://schemas.microsoft.com/office/powerpoint/2010/main" val="2374254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1070517" y="458531"/>
                <a:ext cx="8982459" cy="862608"/>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Write an exponential expression equivalent to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9</m:t>
                        </m:r>
                      </m:e>
                      <m:sup>
                        <m:r>
                          <a:rPr lang="es-ES" sz="2400" i="1" dirty="0">
                            <a:latin typeface="Cambria Math" panose="02040503050406030204" pitchFamily="18" charset="0"/>
                            <a:ea typeface="Verdana" panose="020B0604030504040204" pitchFamily="34" charset="0"/>
                            <a:cs typeface="Verdana" panose="020B0604030504040204" pitchFamily="34"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that has a base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70517" y="458531"/>
                <a:ext cx="8982459" cy="862608"/>
              </a:xfrm>
              <a:prstGeom prst="rect">
                <a:avLst/>
              </a:prstGeom>
              <a:blipFill>
                <a:blip r:embed="rId4"/>
                <a:stretch>
                  <a:fillRect l="-1086" t="-6338" r="-679" b="-10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87C4E5F-F5A2-584E-AA2E-FF16FD46A9E3}"/>
                  </a:ext>
                </a:extLst>
              </p:cNvPr>
              <p:cNvGraphicFramePr>
                <a:graphicFrameLocks noGrp="1"/>
              </p:cNvGraphicFramePr>
              <p:nvPr>
                <p:extLst>
                  <p:ext uri="{D42A27DB-BD31-4B8C-83A1-F6EECF244321}">
                    <p14:modId xmlns:p14="http://schemas.microsoft.com/office/powerpoint/2010/main" val="2556555944"/>
                  </p:ext>
                </p:extLst>
              </p:nvPr>
            </p:nvGraphicFramePr>
            <p:xfrm>
              <a:off x="4831496" y="1604967"/>
              <a:ext cx="1970748" cy="2560320"/>
            </p:xfrm>
            <a:graphic>
              <a:graphicData uri="http://schemas.openxmlformats.org/drawingml/2006/table">
                <a:tbl>
                  <a:tblPr firstRow="1" firstCol="1" bandRow="1"/>
                  <a:tblGrid>
                    <a:gridCol w="1970748">
                      <a:extLst>
                        <a:ext uri="{9D8B030D-6E8A-4147-A177-3AD203B41FA5}">
                          <a16:colId xmlns:a16="http://schemas.microsoft.com/office/drawing/2014/main" val="3598838449"/>
                        </a:ext>
                      </a:extLst>
                    </a:gridCol>
                  </a:tblGrid>
                  <a:tr h="19259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9</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(_______)</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   </m:t>
                                </m:r>
                              </m:oMath>
                            </m:oMathPara>
                          </a14:m>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937114285"/>
                      </a:ext>
                    </a:extLst>
                  </a:tr>
                </a:tbl>
              </a:graphicData>
            </a:graphic>
          </p:graphicFrame>
        </mc:Choice>
        <mc:Fallback xmlns="">
          <p:graphicFrame>
            <p:nvGraphicFramePr>
              <p:cNvPr id="3" name="Table 2">
                <a:extLst>
                  <a:ext uri="{FF2B5EF4-FFF2-40B4-BE49-F238E27FC236}">
                    <a16:creationId xmlns:a16="http://schemas.microsoft.com/office/drawing/2014/main" id="{787C4E5F-F5A2-584E-AA2E-FF16FD46A9E3}"/>
                  </a:ext>
                </a:extLst>
              </p:cNvPr>
              <p:cNvGraphicFramePr>
                <a:graphicFrameLocks noGrp="1"/>
              </p:cNvGraphicFramePr>
              <p:nvPr>
                <p:extLst>
                  <p:ext uri="{D42A27DB-BD31-4B8C-83A1-F6EECF244321}">
                    <p14:modId xmlns:p14="http://schemas.microsoft.com/office/powerpoint/2010/main" val="2556555944"/>
                  </p:ext>
                </p:extLst>
              </p:nvPr>
            </p:nvGraphicFramePr>
            <p:xfrm>
              <a:off x="4831496" y="1604967"/>
              <a:ext cx="1970748" cy="2560320"/>
            </p:xfrm>
            <a:graphic>
              <a:graphicData uri="http://schemas.openxmlformats.org/drawingml/2006/table">
                <a:tbl>
                  <a:tblPr firstRow="1" firstCol="1" bandRow="1"/>
                  <a:tblGrid>
                    <a:gridCol w="1970748">
                      <a:extLst>
                        <a:ext uri="{9D8B030D-6E8A-4147-A177-3AD203B41FA5}">
                          <a16:colId xmlns:a16="http://schemas.microsoft.com/office/drawing/2014/main" val="3598838449"/>
                        </a:ext>
                      </a:extLst>
                    </a:gridCol>
                  </a:tblGrid>
                  <a:tr h="2560320">
                    <a:tc>
                      <a:txBody>
                        <a:bodyPr/>
                        <a:lstStyle/>
                        <a:p>
                          <a:endParaRPr lang="en-US"/>
                        </a:p>
                      </a:txBody>
                      <a:tcPr marL="68580" marR="68580" marT="0" marB="0">
                        <a:lnL>
                          <a:noFill/>
                        </a:lnL>
                        <a:lnR>
                          <a:noFill/>
                        </a:lnR>
                        <a:lnT>
                          <a:noFill/>
                        </a:lnT>
                        <a:lnB>
                          <a:noFill/>
                        </a:lnB>
                        <a:blipFill>
                          <a:blip r:embed="rId5"/>
                          <a:stretch>
                            <a:fillRect/>
                          </a:stretch>
                        </a:blipFill>
                      </a:tcPr>
                    </a:tc>
                    <a:extLst>
                      <a:ext uri="{0D108BD9-81ED-4DB2-BD59-A6C34878D82A}">
                        <a16:rowId xmlns:a16="http://schemas.microsoft.com/office/drawing/2014/main" val="2937114285"/>
                      </a:ext>
                    </a:extLst>
                  </a:tr>
                </a:tbl>
              </a:graphicData>
            </a:graphic>
          </p:graphicFrame>
        </mc:Fallback>
      </mc:AlternateContent>
    </p:spTree>
    <p:extLst>
      <p:ext uri="{BB962C8B-B14F-4D97-AF65-F5344CB8AC3E}">
        <p14:creationId xmlns:p14="http://schemas.microsoft.com/office/powerpoint/2010/main" val="2704368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1081668" y="458532"/>
                <a:ext cx="8971308" cy="4524315"/>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Complete the steps to write an exponential expression equivalent to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2</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s-ES" sz="24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4</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that has a base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766763"/>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2</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s-ES" sz="24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4</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s-ES" sz="2400" i="1" dirty="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766763"/>
                <a:r>
                  <a:rPr lang="en-US" sz="2400" dirty="0">
                    <a:latin typeface="Verdana" panose="020B0604030504040204" pitchFamily="34" charset="0"/>
                    <a:ea typeface="Verdana" panose="020B0604030504040204" pitchFamily="34" charset="0"/>
                    <a:cs typeface="Verdana" panose="020B0604030504040204" pitchFamily="34" charset="0"/>
                  </a:rPr>
                  <a:t> </a:t>
                </a:r>
              </a:p>
              <a:p>
                <a:pPr marL="766763"/>
                <a14:m>
                  <m:oMathPara xmlns:m="http://schemas.openxmlformats.org/officeDocument/2006/math">
                    <m:oMathParaPr>
                      <m:jc m:val="left"/>
                    </m:oMathParaPr>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2</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n-US" sz="24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r>
                                <a:rPr lang="es-ES" sz="2400" i="1" dirty="0">
                                  <a:latin typeface="Cambria Math" panose="02040503050406030204" pitchFamily="18" charset="0"/>
                                  <a:ea typeface="Verdana" panose="020B0604030504040204" pitchFamily="34" charset="0"/>
                                  <a:cs typeface="Verdana" panose="020B0604030504040204" pitchFamily="34" charset="0"/>
                                </a:rPr>
                                <m:t>         </m:t>
                              </m:r>
                            </m:e>
                          </m:d>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766763"/>
                <a:r>
                  <a:rPr lang="en-US" sz="2400" dirty="0">
                    <a:latin typeface="Verdana" panose="020B0604030504040204" pitchFamily="34" charset="0"/>
                    <a:ea typeface="Verdana" panose="020B0604030504040204" pitchFamily="34" charset="0"/>
                    <a:cs typeface="Verdana" panose="020B0604030504040204" pitchFamily="34" charset="0"/>
                  </a:rPr>
                  <a:t> </a:t>
                </a:r>
              </a:p>
              <a:p>
                <a:pPr marL="766763"/>
                <a:r>
                  <a:rPr lang="en-US" sz="2400" dirty="0">
                    <a:latin typeface="Verdana" panose="020B0604030504040204" pitchFamily="34" charset="0"/>
                    <a:ea typeface="Verdana" panose="020B0604030504040204" pitchFamily="34" charset="0"/>
                    <a:cs typeface="Verdana" panose="020B0604030504040204" pitchFamily="34" charset="0"/>
                  </a:rPr>
                  <a:t> </a:t>
                </a:r>
              </a:p>
              <a:p>
                <a:pPr marL="766763"/>
                <a14:m>
                  <m:oMathPara xmlns:m="http://schemas.openxmlformats.org/officeDocument/2006/math">
                    <m:oMathParaPr>
                      <m:jc m:val="left"/>
                    </m:oMathParaPr>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2</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r>
                        <a:rPr lang="en-US" sz="2400" i="1" dirty="0">
                          <a:latin typeface="Cambria Math" panose="02040503050406030204" pitchFamily="18" charset="0"/>
                          <a:ea typeface="Verdana" panose="020B0604030504040204" pitchFamily="34" charset="0"/>
                          <a:cs typeface="Verdana" panose="020B0604030504040204" pitchFamily="34" charset="0"/>
                        </a:rPr>
                        <m:t>∙2</m:t>
                      </m:r>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766763"/>
                <a:r>
                  <a:rPr lang="en-US" sz="2400" dirty="0">
                    <a:latin typeface="Verdana" panose="020B0604030504040204" pitchFamily="34" charset="0"/>
                    <a:ea typeface="Verdana" panose="020B0604030504040204" pitchFamily="34" charset="0"/>
                    <a:cs typeface="Verdana" panose="020B0604030504040204" pitchFamily="34" charset="0"/>
                  </a:rPr>
                  <a:t> </a:t>
                </a:r>
              </a:p>
              <a:p>
                <a:pPr marL="766763"/>
                <a14:m>
                  <m:oMathPara xmlns:m="http://schemas.openxmlformats.org/officeDocument/2006/math">
                    <m:oMathParaPr>
                      <m:jc m:val="left"/>
                    </m:oMathParaPr>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81668" y="458532"/>
                <a:ext cx="8971308" cy="4524315"/>
              </a:xfrm>
              <a:prstGeom prst="rect">
                <a:avLst/>
              </a:prstGeom>
              <a:blipFill>
                <a:blip r:embed="rId4"/>
                <a:stretch>
                  <a:fillRect l="-1019" t="-1078"/>
                </a:stretch>
              </a:blipFill>
            </p:spPr>
            <p:txBody>
              <a:bodyPr/>
              <a:lstStyle/>
              <a:p>
                <a:r>
                  <a:rPr lang="en-US">
                    <a:noFill/>
                  </a:rPr>
                  <a:t> </a:t>
                </a:r>
              </a:p>
            </p:txBody>
          </p:sp>
        </mc:Fallback>
      </mc:AlternateContent>
    </p:spTree>
    <p:extLst>
      <p:ext uri="{BB962C8B-B14F-4D97-AF65-F5344CB8AC3E}">
        <p14:creationId xmlns:p14="http://schemas.microsoft.com/office/powerpoint/2010/main" val="3128530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1059366" y="458532"/>
                <a:ext cx="8993610" cy="830997"/>
              </a:xfrm>
              <a:prstGeom prst="rect">
                <a:avLst/>
              </a:prstGeom>
            </p:spPr>
            <p:txBody>
              <a:bodyPr wrap="square">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rewrite each expression from the Exploration using a common base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59366" y="458532"/>
                <a:ext cx="8993610" cy="830997"/>
              </a:xfrm>
              <a:prstGeom prst="rect">
                <a:avLst/>
              </a:prstGeom>
              <a:blipFill>
                <a:blip r:embed="rId4"/>
                <a:stretch>
                  <a:fillRect l="-1085" t="-5839" b="-145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BE5499A-1903-DF4B-825D-25876620049A}"/>
                  </a:ext>
                </a:extLst>
              </p:cNvPr>
              <p:cNvGraphicFramePr>
                <a:graphicFrameLocks noGrp="1"/>
              </p:cNvGraphicFramePr>
              <p:nvPr>
                <p:extLst>
                  <p:ext uri="{D42A27DB-BD31-4B8C-83A1-F6EECF244321}">
                    <p14:modId xmlns:p14="http://schemas.microsoft.com/office/powerpoint/2010/main" val="2780232373"/>
                  </p:ext>
                </p:extLst>
              </p:nvPr>
            </p:nvGraphicFramePr>
            <p:xfrm>
              <a:off x="1929808" y="1750825"/>
              <a:ext cx="7560000" cy="3348000"/>
            </p:xfrm>
            <a:graphic>
              <a:graphicData uri="http://schemas.openxmlformats.org/drawingml/2006/table">
                <a:tbl>
                  <a:tblPr firstRow="1" firstCol="1" bandRow="1"/>
                  <a:tblGrid>
                    <a:gridCol w="2520000">
                      <a:extLst>
                        <a:ext uri="{9D8B030D-6E8A-4147-A177-3AD203B41FA5}">
                          <a16:colId xmlns:a16="http://schemas.microsoft.com/office/drawing/2014/main" val="2614431487"/>
                        </a:ext>
                      </a:extLst>
                    </a:gridCol>
                    <a:gridCol w="2520000">
                      <a:extLst>
                        <a:ext uri="{9D8B030D-6E8A-4147-A177-3AD203B41FA5}">
                          <a16:colId xmlns:a16="http://schemas.microsoft.com/office/drawing/2014/main" val="555711999"/>
                        </a:ext>
                      </a:extLst>
                    </a:gridCol>
                    <a:gridCol w="2520000">
                      <a:extLst>
                        <a:ext uri="{9D8B030D-6E8A-4147-A177-3AD203B41FA5}">
                          <a16:colId xmlns:a16="http://schemas.microsoft.com/office/drawing/2014/main" val="63959399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Expression</a:t>
                          </a: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 A</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 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 C</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260579928"/>
                      </a:ext>
                    </a:extLst>
                  </a:tr>
                  <a:tr h="2880000">
                    <a:tc>
                      <a:txBody>
                        <a:bodyPr/>
                        <a:lstStyle/>
                        <a:p>
                          <a:pPr marL="0" marR="0" algn="ctr">
                            <a:spcBef>
                              <a:spcPts val="60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14</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m:oMathPara>
                          </a14:m>
                          <a:endParaRPr lang="x-none" sz="2000" dirty="0">
                            <a:effectLst/>
                            <a:latin typeface="Verdana" pitchFamily="34" charset="0"/>
                            <a:ea typeface="Verdana" pitchFamily="34" charset="0"/>
                            <a:cs typeface="Times New Roman" panose="02020603050405020304" pitchFamily="18" charset="0"/>
                          </a:endParaRPr>
                        </a:p>
                        <a:p>
                          <a:pPr marL="0" marR="0">
                            <a:spcBef>
                              <a:spcPts val="60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60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p>
                          <a:pPr marL="0" marR="0">
                            <a:spcBef>
                              <a:spcPts val="60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60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16∙4∙</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dirty="0">
                            <a:effectLst/>
                            <a:latin typeface="Verdana" pitchFamily="34" charset="0"/>
                            <a:ea typeface="Verdana" pitchFamily="34" charset="0"/>
                            <a:cs typeface="Times New Roman" panose="02020603050405020304" pitchFamily="18" charset="0"/>
                          </a:endParaRPr>
                        </a:p>
                        <a:p>
                          <a:pPr marL="0" marR="0">
                            <a:spcBef>
                              <a:spcPts val="60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6493438"/>
                      </a:ext>
                    </a:extLst>
                  </a:tr>
                </a:tbl>
              </a:graphicData>
            </a:graphic>
          </p:graphicFrame>
        </mc:Choice>
        <mc:Fallback xmlns="">
          <p:graphicFrame>
            <p:nvGraphicFramePr>
              <p:cNvPr id="3" name="Table 2">
                <a:extLst>
                  <a:ext uri="{FF2B5EF4-FFF2-40B4-BE49-F238E27FC236}">
                    <a16:creationId xmlns:a16="http://schemas.microsoft.com/office/drawing/2014/main" id="{6BE5499A-1903-DF4B-825D-25876620049A}"/>
                  </a:ext>
                </a:extLst>
              </p:cNvPr>
              <p:cNvGraphicFramePr>
                <a:graphicFrameLocks noGrp="1"/>
              </p:cNvGraphicFramePr>
              <p:nvPr>
                <p:extLst>
                  <p:ext uri="{D42A27DB-BD31-4B8C-83A1-F6EECF244321}">
                    <p14:modId xmlns:p14="http://schemas.microsoft.com/office/powerpoint/2010/main" val="2780232373"/>
                  </p:ext>
                </p:extLst>
              </p:nvPr>
            </p:nvGraphicFramePr>
            <p:xfrm>
              <a:off x="1929808" y="1750825"/>
              <a:ext cx="7560000" cy="3348000"/>
            </p:xfrm>
            <a:graphic>
              <a:graphicData uri="http://schemas.openxmlformats.org/drawingml/2006/table">
                <a:tbl>
                  <a:tblPr firstRow="1" firstCol="1" bandRow="1"/>
                  <a:tblGrid>
                    <a:gridCol w="2520000">
                      <a:extLst>
                        <a:ext uri="{9D8B030D-6E8A-4147-A177-3AD203B41FA5}">
                          <a16:colId xmlns:a16="http://schemas.microsoft.com/office/drawing/2014/main" val="2614431487"/>
                        </a:ext>
                      </a:extLst>
                    </a:gridCol>
                    <a:gridCol w="2520000">
                      <a:extLst>
                        <a:ext uri="{9D8B030D-6E8A-4147-A177-3AD203B41FA5}">
                          <a16:colId xmlns:a16="http://schemas.microsoft.com/office/drawing/2014/main" val="555711999"/>
                        </a:ext>
                      </a:extLst>
                    </a:gridCol>
                    <a:gridCol w="2520000">
                      <a:extLst>
                        <a:ext uri="{9D8B030D-6E8A-4147-A177-3AD203B41FA5}">
                          <a16:colId xmlns:a16="http://schemas.microsoft.com/office/drawing/2014/main" val="63959399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Expression</a:t>
                          </a: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 A</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 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 C</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260579928"/>
                      </a:ext>
                    </a:extLst>
                  </a:tr>
                  <a:tr h="288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42" t="-16702" r="-200483" b="-634"/>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484" t="-16702" r="-100969" b="-634"/>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000" t="-16702" r="-725" b="-634"/>
                          </a:stretch>
                        </a:blipFill>
                      </a:tcPr>
                    </a:tc>
                    <a:extLst>
                      <a:ext uri="{0D108BD9-81ED-4DB2-BD59-A6C34878D82A}">
                        <a16:rowId xmlns:a16="http://schemas.microsoft.com/office/drawing/2014/main" val="3496493438"/>
                      </a:ext>
                    </a:extLst>
                  </a:tr>
                </a:tbl>
              </a:graphicData>
            </a:graphic>
          </p:graphicFrame>
        </mc:Fallback>
      </mc:AlternateContent>
    </p:spTree>
    <p:extLst>
      <p:ext uri="{BB962C8B-B14F-4D97-AF65-F5344CB8AC3E}">
        <p14:creationId xmlns:p14="http://schemas.microsoft.com/office/powerpoint/2010/main" val="1525717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pic>
        <p:nvPicPr>
          <p:cNvPr id="9" name="image9.png" descr="Icon&#10;&#10;Description automatically generated">
            <a:extLst>
              <a:ext uri="{FF2B5EF4-FFF2-40B4-BE49-F238E27FC236}">
                <a16:creationId xmlns:a16="http://schemas.microsoft.com/office/drawing/2014/main" id="{A0AA6A5A-24D8-EB4E-9410-D27842550BC8}"/>
              </a:ext>
            </a:extLst>
          </p:cNvPr>
          <p:cNvPicPr/>
          <p:nvPr/>
        </p:nvPicPr>
        <p:blipFill>
          <a:blip r:embed="rId4"/>
          <a:srcRect/>
          <a:stretch>
            <a:fillRect/>
          </a:stretch>
        </p:blipFill>
        <p:spPr>
          <a:xfrm>
            <a:off x="4937850"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86868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58136" y="85255"/>
            <a:ext cx="95086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4.6.4 Guided Practice: Different Bases, Same Value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59367" y="1410955"/>
                <a:ext cx="8993610" cy="211307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ts val="1200"/>
                  </a:spcAft>
                  <a:buClrTx/>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The laws of exponents can be applied to determine if expressions are equivalent.</a:t>
                </a:r>
              </a:p>
              <a:p>
                <a:pPr marL="457200" indent="-457200" eaLnBrk="0" fontAlgn="base" hangingPunct="0">
                  <a:spcBef>
                    <a:spcPct val="0"/>
                  </a:spcBef>
                  <a:spcAft>
                    <a:spcPts val="1200"/>
                  </a:spcAft>
                  <a:buClrTx/>
                  <a:buFont typeface="+mj-lt"/>
                  <a:buAutoNum type="arabicPeriod"/>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Consider the expressions </a:t>
                </a:r>
                <a14:m>
                  <m:oMath xmlns:m="http://schemas.openxmlformats.org/officeDocument/2006/math">
                    <m:sSup>
                      <m:sSupPr>
                        <m:ctrlPr>
                          <a:rPr lang="en-US" altLang="en-US" sz="20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r>
                          <a:rPr lang="es-ES" altLang="en-US" sz="2000" i="1" dirty="0">
                            <a:solidFill>
                              <a:schemeClr val="tx1"/>
                            </a:solidFill>
                            <a:latin typeface="Cambria Math" panose="02040503050406030204" pitchFamily="18" charset="0"/>
                            <a:ea typeface="Verdana" panose="020B0604030504040204" pitchFamily="34" charset="0"/>
                            <a:cs typeface="Verdana" panose="020B0604030504040204" pitchFamily="34" charset="0"/>
                          </a:rPr>
                          <m:t>3</m:t>
                        </m:r>
                      </m:e>
                      <m:sup>
                        <m:r>
                          <a:rPr lang="es-ES" altLang="en-US" sz="2000" i="1" dirty="0">
                            <a:solidFill>
                              <a:schemeClr val="tx1"/>
                            </a:solidFill>
                            <a:latin typeface="Cambria Math" panose="02040503050406030204" pitchFamily="18" charset="0"/>
                            <a:ea typeface="Verdana" panose="020B0604030504040204" pitchFamily="34" charset="0"/>
                            <a:cs typeface="Verdana" panose="020B0604030504040204" pitchFamily="34" charset="0"/>
                          </a:rPr>
                          <m:t>2</m:t>
                        </m:r>
                      </m:sup>
                    </m:sSup>
                    <m:r>
                      <a:rPr lang="es-ES" altLang="en-US" sz="2000" i="1" dirty="0">
                        <a:solidFill>
                          <a:schemeClr val="tx1"/>
                        </a:solidFill>
                        <a:latin typeface="Cambria Math" panose="02040503050406030204" pitchFamily="18" charset="0"/>
                        <a:ea typeface="Verdana" panose="020B0604030504040204" pitchFamily="34" charset="0"/>
                        <a:cs typeface="Verdana" panose="020B0604030504040204" pitchFamily="34" charset="0"/>
                      </a:rPr>
                      <m:t>·</m:t>
                    </m:r>
                    <m:sSup>
                      <m:sSupPr>
                        <m:ctrlPr>
                          <a:rPr lang="en-US" altLang="en-US" sz="20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r>
                          <a:rPr lang="es-ES" altLang="en-US" sz="2000" i="1" dirty="0">
                            <a:solidFill>
                              <a:schemeClr val="tx1"/>
                            </a:solidFill>
                            <a:latin typeface="Cambria Math" panose="02040503050406030204" pitchFamily="18" charset="0"/>
                            <a:ea typeface="Verdana" panose="020B0604030504040204" pitchFamily="34" charset="0"/>
                            <a:cs typeface="Verdana" panose="020B0604030504040204" pitchFamily="34" charset="0"/>
                          </a:rPr>
                          <m:t>6</m:t>
                        </m:r>
                      </m:e>
                      <m:sup>
                        <m:r>
                          <a:rPr lang="es-ES" altLang="en-US" sz="2000" i="1" dirty="0">
                            <a:solidFill>
                              <a:schemeClr val="tx1"/>
                            </a:solidFill>
                            <a:latin typeface="Cambria Math" panose="02040503050406030204" pitchFamily="18" charset="0"/>
                            <a:ea typeface="Verdana" panose="020B0604030504040204" pitchFamily="34" charset="0"/>
                            <a:cs typeface="Verdana" panose="020B0604030504040204" pitchFamily="34" charset="0"/>
                          </a:rPr>
                          <m:t>3</m:t>
                        </m:r>
                      </m:sup>
                    </m:sSup>
                  </m:oMath>
                </a14:m>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f>
                      <m:f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sSup>
                          <m:sSup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3·2</m:t>
                                </m:r>
                              </m:e>
                            </m:d>
                          </m:e>
                          <m: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5</m:t>
                            </m:r>
                          </m:sup>
                        </m:sSup>
                      </m:num>
                      <m:den>
                        <m:sSup>
                          <m:sSup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2</m:t>
                            </m:r>
                          </m:e>
                          <m: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4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Complete the steps to rewrite each expression using laws of exponents. </a:t>
                </a: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1059367" y="1410955"/>
                <a:ext cx="8993610" cy="2113079"/>
              </a:xfrm>
              <a:prstGeom prst="rect">
                <a:avLst/>
              </a:prstGeom>
              <a:blipFill>
                <a:blip r:embed="rId4"/>
                <a:stretch>
                  <a:fillRect l="-746" t="-1441" b="-432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5" name="image9.png" descr="Icon&#10;&#10;Description automatically generated">
            <a:extLst>
              <a:ext uri="{FF2B5EF4-FFF2-40B4-BE49-F238E27FC236}">
                <a16:creationId xmlns:a16="http://schemas.microsoft.com/office/drawing/2014/main" id="{6DB42D22-D0CA-A94B-B8FC-CBBCE2DD3A9B}"/>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510706" y="374390"/>
            <a:ext cx="747430" cy="747430"/>
          </a:xfrm>
          <a:prstGeom prst="rect">
            <a:avLst/>
          </a:prstGeom>
          <a:ln/>
        </p:spPr>
      </p:pic>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420222624"/>
                  </p:ext>
                </p:extLst>
              </p:nvPr>
            </p:nvGraphicFramePr>
            <p:xfrm>
              <a:off x="3099731" y="3649675"/>
              <a:ext cx="6480000" cy="2808000"/>
            </p:xfrm>
            <a:graphic>
              <a:graphicData uri="http://schemas.openxmlformats.org/drawingml/2006/table">
                <a:tbl>
                  <a:tblPr firstRow="1" firstCol="1" bandRow="1"/>
                  <a:tblGrid>
                    <a:gridCol w="324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tblGrid>
                  <a:tr h="468000">
                    <a:tc>
                      <a:txBody>
                        <a:bodyPr/>
                        <a:lstStyle/>
                        <a:p>
                          <a:pPr marL="457200" algn="ctr">
                            <a:lnSpc>
                              <a:spcPct val="100000"/>
                            </a:lnSpc>
                            <a:spcAft>
                              <a:spcPts val="0"/>
                            </a:spcAft>
                          </a:pPr>
                          <a:r>
                            <a:rPr lang="en-US" sz="2000" b="1" dirty="0">
                              <a:effectLst/>
                              <a:latin typeface="Verdana" pitchFamily="34" charset="0"/>
                              <a:ea typeface="Verdana" pitchFamily="34" charset="0"/>
                              <a:cs typeface="Times New Roman"/>
                            </a:rPr>
                            <a:t>Expression A</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457200" algn="ctr">
                            <a:lnSpc>
                              <a:spcPct val="100000"/>
                            </a:lnSpc>
                            <a:spcAft>
                              <a:spcPts val="0"/>
                            </a:spcAft>
                          </a:pPr>
                          <a:r>
                            <a:rPr lang="en-US" sz="2000" b="1">
                              <a:effectLst/>
                              <a:latin typeface="Verdana" pitchFamily="34" charset="0"/>
                              <a:ea typeface="Verdana" pitchFamily="34" charset="0"/>
                              <a:cs typeface="Times New Roman"/>
                            </a:rPr>
                            <a:t>Expression B</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340000">
                    <a:tc>
                      <a:txBody>
                        <a:bodyPr/>
                        <a:lstStyle/>
                        <a:p>
                          <a:pPr marL="0" indent="0" algn="ctr">
                            <a:lnSpc>
                              <a:spcPct val="150000"/>
                            </a:lnSpc>
                            <a:spcBef>
                              <a:spcPts val="600"/>
                            </a:spcBef>
                            <a:spcAft>
                              <a:spcPts val="0"/>
                            </a:spcAft>
                          </a:pPr>
                          <a14:m>
                            <m:oMath xmlns:m="http://schemas.openxmlformats.org/officeDocument/2006/math">
                              <m:sSup>
                                <m:sSupPr>
                                  <m:ctrlPr>
                                    <a:rPr lang="en-PH" sz="2000" i="1">
                                      <a:effectLst/>
                                      <a:latin typeface="Cambria Math" panose="02040503050406030204" pitchFamily="18" charset="0"/>
                                      <a:ea typeface="Times New Roman"/>
                                      <a:cs typeface="Times New Roman"/>
                                    </a:rPr>
                                  </m:ctrlPr>
                                </m:sSupPr>
                                <m:e>
                                  <m:r>
                                    <a:rPr lang="en-US" sz="2000" i="1">
                                      <a:effectLst/>
                                      <a:latin typeface="Cambria Math"/>
                                      <a:ea typeface="Times New Roman"/>
                                      <a:cs typeface="Times New Roman"/>
                                    </a:rPr>
                                    <m:t>3</m:t>
                                  </m:r>
                                </m:e>
                                <m:sup>
                                  <m:r>
                                    <a:rPr lang="en-US" sz="2000" i="1">
                                      <a:effectLst/>
                                      <a:latin typeface="Cambria Math"/>
                                      <a:ea typeface="Times New Roman"/>
                                      <a:cs typeface="Times New Roman"/>
                                    </a:rPr>
                                    <m:t>2</m:t>
                                  </m:r>
                                </m:sup>
                              </m:sSup>
                              <m:r>
                                <a:rPr lang="en-US" sz="2000" i="1">
                                  <a:effectLst/>
                                  <a:latin typeface="Cambria Math"/>
                                  <a:ea typeface="Times New Roman"/>
                                  <a:cs typeface="Times New Roman"/>
                                </a:rPr>
                                <m:t>∙</m:t>
                              </m:r>
                              <m:sSup>
                                <m:sSupPr>
                                  <m:ctrlPr>
                                    <a:rPr lang="en-PH" sz="2000" i="1">
                                      <a:effectLst/>
                                      <a:latin typeface="Cambria Math" panose="02040503050406030204" pitchFamily="18" charset="0"/>
                                      <a:ea typeface="Times New Roman"/>
                                      <a:cs typeface="Times New Roman"/>
                                    </a:rPr>
                                  </m:ctrlPr>
                                </m:sSupPr>
                                <m:e>
                                  <m:r>
                                    <a:rPr lang="en-US" sz="2000" i="1">
                                      <a:effectLst/>
                                      <a:latin typeface="Cambria Math"/>
                                      <a:ea typeface="Times New Roman"/>
                                      <a:cs typeface="Times New Roman"/>
                                    </a:rPr>
                                    <m:t>6</m:t>
                                  </m:r>
                                </m:e>
                                <m:sup>
                                  <m:r>
                                    <a:rPr lang="en-US" sz="2000" i="1">
                                      <a:effectLst/>
                                      <a:latin typeface="Cambria Math"/>
                                      <a:ea typeface="Times New Roman"/>
                                      <a:cs typeface="Times New Roman"/>
                                    </a:rPr>
                                    <m:t>3</m:t>
                                  </m:r>
                                </m:sup>
                              </m:sSup>
                            </m:oMath>
                          </a14:m>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p>
                          <a:pPr marL="0" indent="0" algn="ctr">
                            <a:lnSpc>
                              <a:spcPct val="150000"/>
                            </a:lnSpc>
                            <a:spcAft>
                              <a:spcPts val="0"/>
                            </a:spcAft>
                          </a:pPr>
                          <a14:m>
                            <m:oMath xmlns:m="http://schemas.openxmlformats.org/officeDocument/2006/math">
                              <m:sSup>
                                <m:sSupPr>
                                  <m:ctrlPr>
                                    <a:rPr lang="en-PH" sz="2000" i="1">
                                      <a:effectLst/>
                                      <a:latin typeface="Cambria Math" panose="02040503050406030204" pitchFamily="18" charset="0"/>
                                      <a:ea typeface="Times New Roman"/>
                                      <a:cs typeface="Times New Roman"/>
                                    </a:rPr>
                                  </m:ctrlPr>
                                </m:sSupPr>
                                <m:e>
                                  <m:r>
                                    <a:rPr lang="en-US" sz="2000" i="1">
                                      <a:effectLst/>
                                      <a:latin typeface="Cambria Math"/>
                                      <a:ea typeface="Times New Roman"/>
                                      <a:cs typeface="Times New Roman"/>
                                    </a:rPr>
                                    <m:t>=3</m:t>
                                  </m:r>
                                </m:e>
                                <m:sup>
                                  <m:r>
                                    <a:rPr lang="en-US" sz="2000" i="1">
                                      <a:effectLst/>
                                      <a:latin typeface="Cambria Math"/>
                                      <a:ea typeface="Times New Roman"/>
                                      <a:cs typeface="Times New Roman"/>
                                    </a:rPr>
                                    <m:t>2</m:t>
                                  </m:r>
                                </m:sup>
                              </m:sSup>
                              <m:r>
                                <a:rPr lang="en-US" sz="2000" i="1">
                                  <a:effectLst/>
                                  <a:latin typeface="Cambria Math"/>
                                  <a:ea typeface="Times New Roman"/>
                                  <a:cs typeface="Times New Roman"/>
                                </a:rPr>
                                <m:t>∙</m:t>
                              </m:r>
                              <m:sSup>
                                <m:sSupPr>
                                  <m:ctrlPr>
                                    <a:rPr lang="en-PH" sz="2000" i="1">
                                      <a:effectLst/>
                                      <a:latin typeface="Cambria Math" panose="02040503050406030204" pitchFamily="18" charset="0"/>
                                      <a:ea typeface="Times New Roman"/>
                                      <a:cs typeface="Times New Roman"/>
                                    </a:rPr>
                                  </m:ctrlPr>
                                </m:sSupPr>
                                <m:e>
                                  <m:r>
                                    <a:rPr lang="en-US" sz="2000" i="1">
                                      <a:effectLst/>
                                      <a:latin typeface="Cambria Math"/>
                                      <a:ea typeface="Times New Roman"/>
                                      <a:cs typeface="Times New Roman"/>
                                    </a:rPr>
                                    <m:t>(         ∙2)</m:t>
                                  </m:r>
                                </m:e>
                                <m:sup>
                                  <m:r>
                                    <a:rPr lang="en-US" sz="2000" i="1">
                                      <a:effectLst/>
                                      <a:latin typeface="Cambria Math"/>
                                      <a:ea typeface="Times New Roman"/>
                                      <a:cs typeface="Times New Roman"/>
                                    </a:rPr>
                                    <m:t>3</m:t>
                                  </m:r>
                                </m:sup>
                              </m:sSup>
                            </m:oMath>
                          </a14:m>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p>
                          <a:pPr marL="0" indent="0" algn="ctr">
                            <a:lnSpc>
                              <a:spcPct val="150000"/>
                            </a:lnSpc>
                            <a:spcAft>
                              <a:spcPts val="0"/>
                            </a:spcAft>
                          </a:pPr>
                          <a:r>
                            <a:rPr lang="en-PH" sz="2000" dirty="0">
                              <a:effectLst/>
                              <a:ea typeface="Times New Roman"/>
                              <a:cs typeface="Times New Roman"/>
                            </a:rPr>
                            <a:t>    </a:t>
                          </a:r>
                          <a14:m>
                            <m:oMath xmlns:m="http://schemas.openxmlformats.org/officeDocument/2006/math">
                              <m:sSup>
                                <m:sSupPr>
                                  <m:ctrlPr>
                                    <a:rPr lang="en-PH" sz="2000" i="1">
                                      <a:effectLst/>
                                      <a:latin typeface="Cambria Math" panose="02040503050406030204" pitchFamily="18" charset="0"/>
                                      <a:ea typeface="Times New Roman"/>
                                      <a:cs typeface="Times New Roman"/>
                                    </a:rPr>
                                  </m:ctrlPr>
                                </m:sSupPr>
                                <m:e>
                                  <m:r>
                                    <a:rPr lang="en-US" sz="2000" i="1">
                                      <a:effectLst/>
                                      <a:latin typeface="Cambria Math"/>
                                      <a:ea typeface="Times New Roman"/>
                                      <a:cs typeface="Times New Roman"/>
                                    </a:rPr>
                                    <m:t>=3</m:t>
                                  </m:r>
                                </m:e>
                                <m:sup>
                                  <m:r>
                                    <a:rPr lang="en-US" sz="2000" i="1">
                                      <a:effectLst/>
                                      <a:latin typeface="Cambria Math"/>
                                      <a:ea typeface="Times New Roman"/>
                                      <a:cs typeface="Times New Roman"/>
                                    </a:rPr>
                                    <m:t>2</m:t>
                                  </m:r>
                                </m:sup>
                              </m:sSup>
                              <m:r>
                                <a:rPr lang="en-US" sz="2000" i="1">
                                  <a:effectLst/>
                                  <a:latin typeface="Cambria Math"/>
                                  <a:ea typeface="Times New Roman"/>
                                  <a:cs typeface="Times New Roman"/>
                                </a:rPr>
                                <m:t>∙                ∙         </m:t>
                              </m:r>
                            </m:oMath>
                          </a14:m>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p>
                          <a:pPr marL="0" indent="0" algn="ctr">
                            <a:lnSpc>
                              <a:spcPct val="150000"/>
                            </a:lnSpc>
                            <a:spcAft>
                              <a:spcPts val="0"/>
                            </a:spcAft>
                          </a:pPr>
                          <a14:m>
                            <m:oMath xmlns:m="http://schemas.openxmlformats.org/officeDocument/2006/math">
                              <m:r>
                                <a:rPr lang="en-US" sz="2000" i="1">
                                  <a:effectLst/>
                                  <a:latin typeface="Cambria Math"/>
                                  <a:ea typeface="Times New Roman"/>
                                  <a:cs typeface="Times New Roman"/>
                                </a:rPr>
                                <m:t>=3     ∙ 2     </m:t>
                              </m:r>
                            </m:oMath>
                          </a14:m>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indent="0" algn="ctr">
                            <a:lnSpc>
                              <a:spcPct val="150000"/>
                            </a:lnSpc>
                            <a:spcAft>
                              <a:spcPts val="0"/>
                            </a:spcAft>
                            <a:tabLst>
                              <a:tab pos="0" algn="l"/>
                            </a:tabLs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Times New Roman"/>
                                        <a:cs typeface="Times New Roman"/>
                                      </a:rPr>
                                    </m:ctrlPr>
                                  </m:fPr>
                                  <m:num>
                                    <m:sSup>
                                      <m:sSupPr>
                                        <m:ctrlPr>
                                          <a:rPr lang="en-PH" sz="2000" i="1">
                                            <a:effectLst/>
                                            <a:latin typeface="Cambria Math" panose="02040503050406030204" pitchFamily="18" charset="0"/>
                                            <a:ea typeface="Times New Roman"/>
                                            <a:cs typeface="Times New Roman"/>
                                          </a:rPr>
                                        </m:ctrlPr>
                                      </m:sSupPr>
                                      <m:e>
                                        <m:r>
                                          <a:rPr lang="en-US" sz="2000" i="1">
                                            <a:effectLst/>
                                            <a:latin typeface="Cambria Math"/>
                                            <a:ea typeface="Times New Roman"/>
                                            <a:cs typeface="Times New Roman"/>
                                          </a:rPr>
                                          <m:t>(3 ∙ 2)</m:t>
                                        </m:r>
                                      </m:e>
                                      <m:sup>
                                        <m:r>
                                          <a:rPr lang="en-US" sz="2000" i="1">
                                            <a:effectLst/>
                                            <a:latin typeface="Cambria Math"/>
                                            <a:ea typeface="Times New Roman"/>
                                            <a:cs typeface="Times New Roman"/>
                                          </a:rPr>
                                          <m:t>5</m:t>
                                        </m:r>
                                      </m:sup>
                                    </m:sSup>
                                  </m:num>
                                  <m:den>
                                    <m:sSup>
                                      <m:sSupPr>
                                        <m:ctrlPr>
                                          <a:rPr lang="en-PH" sz="2000" i="1">
                                            <a:effectLst/>
                                            <a:latin typeface="Cambria Math" panose="02040503050406030204" pitchFamily="18" charset="0"/>
                                            <a:ea typeface="Times New Roman"/>
                                            <a:cs typeface="Times New Roman"/>
                                          </a:rPr>
                                        </m:ctrlPr>
                                      </m:sSupPr>
                                      <m:e>
                                        <m:r>
                                          <a:rPr lang="en-US" sz="2000" i="1">
                                            <a:effectLst/>
                                            <a:latin typeface="Cambria Math"/>
                                            <a:ea typeface="Times New Roman"/>
                                            <a:cs typeface="Times New Roman"/>
                                          </a:rPr>
                                          <m:t>2</m:t>
                                        </m:r>
                                      </m:e>
                                      <m:sup>
                                        <m:r>
                                          <a:rPr lang="en-US" sz="2000" i="1">
                                            <a:effectLst/>
                                            <a:latin typeface="Cambria Math"/>
                                            <a:ea typeface="Times New Roman"/>
                                            <a:cs typeface="Times New Roman"/>
                                          </a:rPr>
                                          <m:t>2</m:t>
                                        </m:r>
                                      </m:sup>
                                    </m:sSup>
                                  </m:den>
                                </m:f>
                              </m:oMath>
                            </m:oMathPara>
                          </a14:m>
                          <a:endParaRPr lang="en-PH" sz="2000" dirty="0">
                            <a:effectLst/>
                            <a:latin typeface="Verdana" pitchFamily="34" charset="0"/>
                            <a:ea typeface="Verdana" pitchFamily="34" charset="0"/>
                            <a:cs typeface="Times New Roman"/>
                          </a:endParaRPr>
                        </a:p>
                        <a:p>
                          <a:pPr marL="0" indent="0" algn="ctr">
                            <a:lnSpc>
                              <a:spcPct val="150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 </m:t>
                                </m:r>
                                <m:f>
                                  <m:fPr>
                                    <m:ctrlPr>
                                      <a:rPr lang="en-PH" sz="2000" i="1">
                                        <a:effectLst/>
                                        <a:latin typeface="Cambria Math" panose="02040503050406030204" pitchFamily="18" charset="0"/>
                                        <a:ea typeface="Times New Roman"/>
                                        <a:cs typeface="Times New Roman"/>
                                      </a:rPr>
                                    </m:ctrlPr>
                                  </m:fPr>
                                  <m:num>
                                    <m:r>
                                      <a:rPr lang="en-US" sz="2000" i="1">
                                        <a:effectLst/>
                                        <a:latin typeface="Cambria Math"/>
                                        <a:ea typeface="Times New Roman"/>
                                        <a:cs typeface="Times New Roman"/>
                                      </a:rPr>
                                      <m:t>3        ∙ 2      </m:t>
                                    </m:r>
                                  </m:num>
                                  <m:den>
                                    <m:sSup>
                                      <m:sSupPr>
                                        <m:ctrlPr>
                                          <a:rPr lang="en-PH" sz="2000" i="1">
                                            <a:effectLst/>
                                            <a:latin typeface="Cambria Math" panose="02040503050406030204" pitchFamily="18" charset="0"/>
                                            <a:ea typeface="Times New Roman"/>
                                            <a:cs typeface="Times New Roman"/>
                                          </a:rPr>
                                        </m:ctrlPr>
                                      </m:sSupPr>
                                      <m:e>
                                        <m:r>
                                          <a:rPr lang="en-US" sz="2000" i="1">
                                            <a:effectLst/>
                                            <a:latin typeface="Cambria Math"/>
                                            <a:ea typeface="Times New Roman"/>
                                            <a:cs typeface="Times New Roman"/>
                                          </a:rPr>
                                          <m:t>2</m:t>
                                        </m:r>
                                      </m:e>
                                      <m:sup>
                                        <m:r>
                                          <a:rPr lang="en-US" sz="2000" i="1">
                                            <a:effectLst/>
                                            <a:latin typeface="Cambria Math"/>
                                            <a:ea typeface="Times New Roman"/>
                                            <a:cs typeface="Times New Roman"/>
                                          </a:rPr>
                                          <m:t>2</m:t>
                                        </m:r>
                                      </m:sup>
                                    </m:sSup>
                                  </m:den>
                                </m:f>
                              </m:oMath>
                            </m:oMathPara>
                          </a14:m>
                          <a:endParaRPr lang="en-PH" sz="2000" dirty="0">
                            <a:effectLst/>
                            <a:latin typeface="Verdana" pitchFamily="34" charset="0"/>
                            <a:ea typeface="Verdana" pitchFamily="34" charset="0"/>
                            <a:cs typeface="Times New Roman"/>
                          </a:endParaRPr>
                        </a:p>
                        <a:p>
                          <a:pPr marL="0" indent="0" algn="ctr">
                            <a:lnSpc>
                              <a:spcPct val="150000"/>
                            </a:lnSpc>
                            <a:spcAft>
                              <a:spcPts val="0"/>
                            </a:spcAft>
                            <a:tabLst/>
                          </a:pPr>
                          <a14:m>
                            <m:oMath xmlns:m="http://schemas.openxmlformats.org/officeDocument/2006/math">
                              <m:r>
                                <a:rPr lang="en-US" sz="2000" i="1">
                                  <a:effectLst/>
                                  <a:latin typeface="Cambria Math"/>
                                  <a:ea typeface="Times New Roman"/>
                                  <a:cs typeface="Times New Roman"/>
                                </a:rPr>
                                <m:t>=3     ∙ 2     </m:t>
                              </m:r>
                            </m:oMath>
                          </a14:m>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420222624"/>
                  </p:ext>
                </p:extLst>
              </p:nvPr>
            </p:nvGraphicFramePr>
            <p:xfrm>
              <a:off x="3099731" y="3649675"/>
              <a:ext cx="6480000" cy="2808000"/>
            </p:xfrm>
            <a:graphic>
              <a:graphicData uri="http://schemas.openxmlformats.org/drawingml/2006/table">
                <a:tbl>
                  <a:tblPr firstRow="1" firstCol="1" bandRow="1"/>
                  <a:tblGrid>
                    <a:gridCol w="324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tblGrid>
                  <a:tr h="468000">
                    <a:tc>
                      <a:txBody>
                        <a:bodyPr/>
                        <a:lstStyle/>
                        <a:p>
                          <a:pPr marL="457200" algn="ctr">
                            <a:lnSpc>
                              <a:spcPct val="100000"/>
                            </a:lnSpc>
                            <a:spcAft>
                              <a:spcPts val="0"/>
                            </a:spcAft>
                          </a:pPr>
                          <a:r>
                            <a:rPr lang="en-US" sz="2000" b="1" dirty="0">
                              <a:effectLst/>
                              <a:latin typeface="Verdana" pitchFamily="34" charset="0"/>
                              <a:ea typeface="Verdana" pitchFamily="34" charset="0"/>
                              <a:cs typeface="Times New Roman"/>
                            </a:rPr>
                            <a:t>Expression A</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457200" algn="ctr">
                            <a:lnSpc>
                              <a:spcPct val="100000"/>
                            </a:lnSpc>
                            <a:spcAft>
                              <a:spcPts val="0"/>
                            </a:spcAft>
                          </a:pPr>
                          <a:r>
                            <a:rPr lang="en-US" sz="2000" b="1">
                              <a:effectLst/>
                              <a:latin typeface="Verdana" pitchFamily="34" charset="0"/>
                              <a:ea typeface="Verdana" pitchFamily="34" charset="0"/>
                              <a:cs typeface="Times New Roman"/>
                            </a:rPr>
                            <a:t>Expression B</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3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76" t="-20260" r="-100564" b="-779"/>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00376" t="-20260" r="-564" b="-779"/>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1100451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1070517" y="458532"/>
                <a:ext cx="8982459" cy="2663230"/>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45720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The expressions </a:t>
                </a:r>
                <a14:m>
                  <m:oMath xmlns:m="http://schemas.openxmlformats.org/officeDocument/2006/math">
                    <m:sSup>
                      <m:sSup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3</m:t>
                        </m:r>
                      </m:e>
                      <m:sup>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2</m:t>
                        </m:r>
                      </m:sup>
                    </m:sSup>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m:t>
                    </m:r>
                    <m:sSup>
                      <m:sSup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6</m:t>
                        </m:r>
                      </m:e>
                      <m:sup>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3</m:t>
                        </m:r>
                      </m:sup>
                    </m:sSup>
                  </m:oMath>
                </a14:m>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f>
                      <m:f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sSup>
                          <m:sSup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3·2</m:t>
                                </m:r>
                              </m:e>
                            </m:d>
                          </m:e>
                          <m:sup>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5</m:t>
                            </m:r>
                          </m:sup>
                        </m:sSup>
                      </m:num>
                      <m:den>
                        <m:sSup>
                          <m:sSup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2</m:t>
                            </m:r>
                          </m:e>
                          <m:sup>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400" dirty="0">
                    <a:latin typeface="Verdana" panose="020B0604030504040204" pitchFamily="34" charset="0"/>
                    <a:ea typeface="Verdana" panose="020B0604030504040204" pitchFamily="34" charset="0"/>
                    <a:cs typeface="Verdana" panose="020B0604030504040204" pitchFamily="34" charset="0"/>
                  </a:rPr>
                  <a:t>  are 		   because they simplify to </a:t>
                </a: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70517" y="458532"/>
                <a:ext cx="8982459" cy="2663230"/>
              </a:xfrm>
              <a:prstGeom prst="rect">
                <a:avLst/>
              </a:prstGeom>
              <a:blipFill>
                <a:blip r:embed="rId4"/>
                <a:stretch>
                  <a:fillRect l="-1086" t="-1831" b="-4119"/>
                </a:stretch>
              </a:blipFill>
            </p:spPr>
            <p:txBody>
              <a:bodyPr/>
              <a:lstStyle/>
              <a:p>
                <a:r>
                  <a:rPr lang="en-US">
                    <a:noFill/>
                  </a:rPr>
                  <a:t> </a:t>
                </a:r>
              </a:p>
            </p:txBody>
          </p:sp>
        </mc:Fallback>
      </mc:AlternateContent>
      <p:pic>
        <p:nvPicPr>
          <p:cNvPr id="3" name="Picture 2" descr="A picture containing shape&#10;&#10;Description automatically generated">
            <a:extLst>
              <a:ext uri="{FF2B5EF4-FFF2-40B4-BE49-F238E27FC236}">
                <a16:creationId xmlns:a16="http://schemas.microsoft.com/office/drawing/2014/main" id="{83C31F54-7FB9-6647-B5EE-3117671E6EB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297621" y="1327435"/>
            <a:ext cx="2755355" cy="925423"/>
          </a:xfrm>
          <a:prstGeom prst="rect">
            <a:avLst/>
          </a:prstGeom>
        </p:spPr>
      </p:pic>
      <p:pic>
        <p:nvPicPr>
          <p:cNvPr id="6" name="Picture 5" descr="A picture containing text&#10;&#10;Description automatically generated">
            <a:extLst>
              <a:ext uri="{FF2B5EF4-FFF2-40B4-BE49-F238E27FC236}">
                <a16:creationId xmlns:a16="http://schemas.microsoft.com/office/drawing/2014/main" id="{5F4EDF02-F214-6A42-8258-E4C5044B256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443688" y="2499402"/>
            <a:ext cx="3446236" cy="925423"/>
          </a:xfrm>
          <a:prstGeom prst="rect">
            <a:avLst/>
          </a:prstGeom>
        </p:spPr>
      </p:pic>
    </p:spTree>
    <p:extLst>
      <p:ext uri="{BB962C8B-B14F-4D97-AF65-F5344CB8AC3E}">
        <p14:creationId xmlns:p14="http://schemas.microsoft.com/office/powerpoint/2010/main" val="560522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84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431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60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1059366" y="344232"/>
                <a:ext cx="8993610" cy="1844864"/>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Xavier says the expressions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000" i="1">
                                <a:latin typeface="Cambria Math" panose="02040503050406030204" pitchFamily="18" charset="0"/>
                                <a:ea typeface="Verdana" panose="020B0604030504040204" pitchFamily="34" charset="0"/>
                                <a:cs typeface="Verdana" panose="020B0604030504040204" pitchFamily="34" charset="0"/>
                              </a:rPr>
                            </m:ctrlPr>
                          </m:dPr>
                          <m:e>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s-ES" sz="2000" i="1">
                                    <a:latin typeface="Cambria Math" panose="02040503050406030204" pitchFamily="18" charset="0"/>
                                    <a:ea typeface="Verdana" panose="020B0604030504040204" pitchFamily="34" charset="0"/>
                                    <a:cs typeface="Verdana" panose="020B0604030504040204" pitchFamily="34" charset="0"/>
                                  </a:rPr>
                                  <m:t>1</m:t>
                                </m:r>
                              </m:num>
                              <m:den>
                                <m:r>
                                  <a:rPr lang="es-ES" sz="2000" i="1">
                                    <a:latin typeface="Cambria Math" panose="02040503050406030204" pitchFamily="18" charset="0"/>
                                    <a:ea typeface="Verdana" panose="020B0604030504040204" pitchFamily="34" charset="0"/>
                                    <a:cs typeface="Verdana" panose="020B0604030504040204" pitchFamily="34" charset="0"/>
                                  </a:rPr>
                                  <m:t>4</m:t>
                                </m:r>
                              </m:den>
                            </m:f>
                          </m:e>
                        </m:d>
                      </m:e>
                      <m:sup>
                        <m:r>
                          <a:rPr lang="es-ES" sz="2000" i="1">
                            <a:latin typeface="Cambria Math" panose="02040503050406030204" pitchFamily="18" charset="0"/>
                            <a:ea typeface="Verdana" panose="020B0604030504040204" pitchFamily="34" charset="0"/>
                            <a:cs typeface="Verdana" panose="020B0604030504040204" pitchFamily="34" charset="0"/>
                          </a:rPr>
                          <m:t>2</m:t>
                        </m:r>
                      </m:sup>
                    </m:sSup>
                    <m:r>
                      <a:rPr lang="es-ES" sz="2000" i="1">
                        <a:latin typeface="Cambria Math" panose="02040503050406030204" pitchFamily="18" charset="0"/>
                        <a:ea typeface="Verdana" panose="020B0604030504040204" pitchFamily="34" charset="0"/>
                        <a:cs typeface="Verdana" panose="020B0604030504040204" pitchFamily="34" charset="0"/>
                      </a:rPr>
                      <m:t>·</m:t>
                    </m:r>
                    <m:sSup>
                      <m:sSupPr>
                        <m:ctrlPr>
                          <a:rPr lang="es-ES" sz="2000" i="1">
                            <a:latin typeface="Cambria Math" panose="02040503050406030204" pitchFamily="18" charset="0"/>
                            <a:ea typeface="Verdana" panose="020B0604030504040204" pitchFamily="34" charset="0"/>
                            <a:cs typeface="Verdana" panose="020B0604030504040204" pitchFamily="34" charset="0"/>
                          </a:rPr>
                        </m:ctrlPr>
                      </m:sSupPr>
                      <m:e>
                        <m:r>
                          <a:rPr lang="es-ES" sz="2000" i="1">
                            <a:latin typeface="Cambria Math" panose="02040503050406030204" pitchFamily="18" charset="0"/>
                            <a:ea typeface="Verdana" panose="020B0604030504040204" pitchFamily="34" charset="0"/>
                            <a:cs typeface="Verdana" panose="020B0604030504040204" pitchFamily="34" charset="0"/>
                          </a:rPr>
                          <m:t>2</m:t>
                        </m:r>
                      </m:e>
                      <m:sup>
                        <m:r>
                          <a:rPr lang="es-ES" sz="2000" i="1">
                            <a:latin typeface="Cambria Math" panose="02040503050406030204" pitchFamily="18" charset="0"/>
                            <a:ea typeface="Verdana" panose="020B0604030504040204" pitchFamily="34" charset="0"/>
                            <a:cs typeface="Verdana" panose="020B0604030504040204" pitchFamily="34"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000" i="1">
                                <a:latin typeface="Cambria Math" panose="02040503050406030204" pitchFamily="18" charset="0"/>
                                <a:ea typeface="Verdana" panose="020B0604030504040204" pitchFamily="34" charset="0"/>
                                <a:cs typeface="Verdana" panose="020B0604030504040204" pitchFamily="34" charset="0"/>
                              </a:rPr>
                            </m:ctrlPr>
                          </m:dPr>
                          <m:e>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s-ES" sz="2000" i="1">
                                    <a:latin typeface="Cambria Math" panose="02040503050406030204" pitchFamily="18" charset="0"/>
                                    <a:ea typeface="Verdana" panose="020B0604030504040204" pitchFamily="34" charset="0"/>
                                    <a:cs typeface="Verdana" panose="020B0604030504040204" pitchFamily="34" charset="0"/>
                                  </a:rPr>
                                  <m:t>1</m:t>
                                </m:r>
                              </m:num>
                              <m:den>
                                <m:r>
                                  <a:rPr lang="es-ES" sz="2000" i="1">
                                    <a:latin typeface="Cambria Math" panose="02040503050406030204" pitchFamily="18" charset="0"/>
                                    <a:ea typeface="Verdana" panose="020B0604030504040204" pitchFamily="34" charset="0"/>
                                    <a:cs typeface="Verdana" panose="020B0604030504040204" pitchFamily="34" charset="0"/>
                                  </a:rPr>
                                  <m:t>2</m:t>
                                </m:r>
                              </m:den>
                            </m:f>
                          </m:e>
                        </m:d>
                      </m:e>
                      <m:sup>
                        <m:r>
                          <a:rPr lang="es-ES" sz="2000" i="1">
                            <a:latin typeface="Cambria Math" panose="02040503050406030204" pitchFamily="18" charset="0"/>
                            <a:ea typeface="Verdana" panose="020B0604030504040204" pitchFamily="34" charset="0"/>
                            <a:cs typeface="Verdana" panose="020B0604030504040204" pitchFamily="34" charset="0"/>
                          </a:rPr>
                          <m:t>4</m:t>
                        </m:r>
                      </m:sup>
                    </m:sSup>
                    <m:r>
                      <a:rPr lang="es-ES" sz="2000" i="1">
                        <a:latin typeface="Cambria Math" panose="02040503050406030204" pitchFamily="18" charset="0"/>
                        <a:ea typeface="Verdana" panose="020B0604030504040204" pitchFamily="34" charset="0"/>
                        <a:cs typeface="Verdana" panose="020B0604030504040204" pitchFamily="34" charset="0"/>
                      </a:rPr>
                      <m:t>·</m:t>
                    </m:r>
                    <m:sSup>
                      <m:sSupPr>
                        <m:ctrlPr>
                          <a:rPr lang="es-ES" sz="2000" i="1">
                            <a:latin typeface="Cambria Math" panose="02040503050406030204" pitchFamily="18" charset="0"/>
                            <a:ea typeface="Verdana" panose="020B0604030504040204" pitchFamily="34" charset="0"/>
                            <a:cs typeface="Verdana" panose="020B0604030504040204" pitchFamily="34" charset="0"/>
                          </a:rPr>
                        </m:ctrlPr>
                      </m:sSupPr>
                      <m:e>
                        <m:r>
                          <a:rPr lang="es-ES" sz="2000" i="1">
                            <a:latin typeface="Cambria Math" panose="02040503050406030204" pitchFamily="18" charset="0"/>
                            <a:ea typeface="Verdana" panose="020B0604030504040204" pitchFamily="34" charset="0"/>
                            <a:cs typeface="Verdana" panose="020B0604030504040204" pitchFamily="34" charset="0"/>
                          </a:rPr>
                          <m:t>4</m:t>
                        </m:r>
                      </m:e>
                      <m:sup>
                        <m:r>
                          <a:rPr lang="es-ES" sz="2000" i="1">
                            <a:latin typeface="Cambria Math" panose="02040503050406030204" pitchFamily="18" charset="0"/>
                            <a:ea typeface="Verdana" panose="020B0604030504040204" pitchFamily="34" charset="0"/>
                            <a:cs typeface="Verdana" panose="020B0604030504040204" pitchFamily="34" charset="0"/>
                          </a:rPr>
                          <m:t>−1</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are equivalent because both expressions can be rewritten as </a:t>
                </a:r>
                <a14:m>
                  <m:oMath xmlns:m="http://schemas.openxmlformats.org/officeDocument/2006/math">
                    <m:sSup>
                      <m:sSupPr>
                        <m:ctrlPr>
                          <a:rPr lang="es-ES" sz="2000" i="1">
                            <a:latin typeface="Cambria Math" panose="02040503050406030204" pitchFamily="18" charset="0"/>
                            <a:ea typeface="Verdana" panose="020B0604030504040204" pitchFamily="34" charset="0"/>
                            <a:cs typeface="Verdana" panose="020B0604030504040204" pitchFamily="34" charset="0"/>
                          </a:rPr>
                        </m:ctrlPr>
                      </m:sSupPr>
                      <m:e>
                        <m:r>
                          <a:rPr lang="es-ES" sz="2000" i="1">
                            <a:latin typeface="Cambria Math" panose="02040503050406030204" pitchFamily="18" charset="0"/>
                            <a:ea typeface="Verdana" panose="020B0604030504040204" pitchFamily="34" charset="0"/>
                            <a:cs typeface="Verdana" panose="020B0604030504040204" pitchFamily="34" charset="0"/>
                          </a:rPr>
                          <m:t>2</m:t>
                        </m:r>
                      </m:e>
                      <m:sup>
                        <m:r>
                          <a:rPr lang="es-ES" sz="2000" i="1">
                            <a:latin typeface="Cambria Math" panose="02040503050406030204" pitchFamily="18" charset="0"/>
                            <a:ea typeface="Verdana" panose="020B0604030504040204" pitchFamily="34" charset="0"/>
                            <a:cs typeface="Verdana" panose="020B0604030504040204" pitchFamily="34" charset="0"/>
                          </a:rPr>
                          <m:t>−7</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tabLst>
                    <a:tab pos="882650" algn="l"/>
                  </a:tabLst>
                </a:pPr>
                <a:r>
                  <a:rPr lang="en-US" sz="2000" dirty="0">
                    <a:latin typeface="Verdana" panose="020B0604030504040204" pitchFamily="34" charset="0"/>
                    <a:ea typeface="Verdana" panose="020B0604030504040204" pitchFamily="34" charset="0"/>
                    <a:cs typeface="Verdana" panose="020B0604030504040204" pitchFamily="34" charset="0"/>
                  </a:rPr>
                  <a:t>Generate an equivalent expression for each expression using a base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Show your work. </a:t>
                </a: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59366" y="344232"/>
                <a:ext cx="8993610" cy="1844864"/>
              </a:xfrm>
              <a:prstGeom prst="rect">
                <a:avLst/>
              </a:prstGeom>
              <a:blipFill>
                <a:blip r:embed="rId4"/>
                <a:stretch>
                  <a:fillRect l="-746" r="-1220" b="-49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09DC1C74-D290-B04E-B134-86968802E995}"/>
                  </a:ext>
                </a:extLst>
              </p:cNvPr>
              <p:cNvGraphicFramePr>
                <a:graphicFrameLocks noGrp="1"/>
              </p:cNvGraphicFramePr>
              <p:nvPr>
                <p:extLst>
                  <p:ext uri="{D42A27DB-BD31-4B8C-83A1-F6EECF244321}">
                    <p14:modId xmlns:p14="http://schemas.microsoft.com/office/powerpoint/2010/main" val="2176680903"/>
                  </p:ext>
                </p:extLst>
              </p:nvPr>
            </p:nvGraphicFramePr>
            <p:xfrm>
              <a:off x="3226303" y="2653524"/>
              <a:ext cx="6480000" cy="2880000"/>
            </p:xfrm>
            <a:graphic>
              <a:graphicData uri="http://schemas.openxmlformats.org/drawingml/2006/table">
                <a:tbl>
                  <a:tblPr firstRow="1" firstCol="1" bandRow="1"/>
                  <a:tblGrid>
                    <a:gridCol w="3240000">
                      <a:extLst>
                        <a:ext uri="{9D8B030D-6E8A-4147-A177-3AD203B41FA5}">
                          <a16:colId xmlns:a16="http://schemas.microsoft.com/office/drawing/2014/main" val="276777993"/>
                        </a:ext>
                      </a:extLst>
                    </a:gridCol>
                    <a:gridCol w="3240000">
                      <a:extLst>
                        <a:ext uri="{9D8B030D-6E8A-4147-A177-3AD203B41FA5}">
                          <a16:colId xmlns:a16="http://schemas.microsoft.com/office/drawing/2014/main" val="643746325"/>
                        </a:ext>
                      </a:extLst>
                    </a:gridCol>
                  </a:tblGrid>
                  <a:tr h="288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9411470"/>
                      </a:ext>
                    </a:extLst>
                  </a:tr>
                </a:tbl>
              </a:graphicData>
            </a:graphic>
          </p:graphicFrame>
        </mc:Choice>
        <mc:Fallback xmlns="">
          <p:graphicFrame>
            <p:nvGraphicFramePr>
              <p:cNvPr id="5" name="Table 4">
                <a:extLst>
                  <a:ext uri="{FF2B5EF4-FFF2-40B4-BE49-F238E27FC236}">
                    <a16:creationId xmlns:a16="http://schemas.microsoft.com/office/drawing/2014/main" id="{09DC1C74-D290-B04E-B134-86968802E995}"/>
                  </a:ext>
                </a:extLst>
              </p:cNvPr>
              <p:cNvGraphicFramePr>
                <a:graphicFrameLocks noGrp="1"/>
              </p:cNvGraphicFramePr>
              <p:nvPr>
                <p:extLst>
                  <p:ext uri="{D42A27DB-BD31-4B8C-83A1-F6EECF244321}">
                    <p14:modId xmlns:p14="http://schemas.microsoft.com/office/powerpoint/2010/main" val="2176680903"/>
                  </p:ext>
                </p:extLst>
              </p:nvPr>
            </p:nvGraphicFramePr>
            <p:xfrm>
              <a:off x="3226303" y="2653524"/>
              <a:ext cx="6480000" cy="2880000"/>
            </p:xfrm>
            <a:graphic>
              <a:graphicData uri="http://schemas.openxmlformats.org/drawingml/2006/table">
                <a:tbl>
                  <a:tblPr firstRow="1" firstCol="1" bandRow="1"/>
                  <a:tblGrid>
                    <a:gridCol w="3240000">
                      <a:extLst>
                        <a:ext uri="{9D8B030D-6E8A-4147-A177-3AD203B41FA5}">
                          <a16:colId xmlns:a16="http://schemas.microsoft.com/office/drawing/2014/main" val="276777993"/>
                        </a:ext>
                      </a:extLst>
                    </a:gridCol>
                    <a:gridCol w="3240000">
                      <a:extLst>
                        <a:ext uri="{9D8B030D-6E8A-4147-A177-3AD203B41FA5}">
                          <a16:colId xmlns:a16="http://schemas.microsoft.com/office/drawing/2014/main" val="643746325"/>
                        </a:ext>
                      </a:extLst>
                    </a:gridCol>
                  </a:tblGrid>
                  <a:tr h="288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81" t="-439" r="-100391" b="-877"/>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1176" t="-439" r="-784" b="-877"/>
                          </a:stretch>
                        </a:blipFill>
                      </a:tcPr>
                    </a:tc>
                    <a:extLst>
                      <a:ext uri="{0D108BD9-81ED-4DB2-BD59-A6C34878D82A}">
                        <a16:rowId xmlns:a16="http://schemas.microsoft.com/office/drawing/2014/main" val="1229411470"/>
                      </a:ext>
                    </a:extLst>
                  </a:tr>
                </a:tbl>
              </a:graphicData>
            </a:graphic>
          </p:graphicFrame>
        </mc:Fallback>
      </mc:AlternateContent>
      <p:sp>
        <p:nvSpPr>
          <p:cNvPr id="7" name="Rectangle 6">
            <a:extLst>
              <a:ext uri="{FF2B5EF4-FFF2-40B4-BE49-F238E27FC236}">
                <a16:creationId xmlns:a16="http://schemas.microsoft.com/office/drawing/2014/main" id="{889B13CF-7799-4D4C-A21A-ADC21E179E83}"/>
              </a:ext>
            </a:extLst>
          </p:cNvPr>
          <p:cNvSpPr/>
          <p:nvPr/>
        </p:nvSpPr>
        <p:spPr>
          <a:xfrm>
            <a:off x="1059366" y="5740814"/>
            <a:ext cx="8993610" cy="400110"/>
          </a:xfrm>
          <a:prstGeom prst="rect">
            <a:avLst/>
          </a:prstGeom>
        </p:spPr>
        <p:txBody>
          <a:bodyPr wrap="square">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whether or not you agree with Xavier.</a:t>
            </a:r>
          </a:p>
        </p:txBody>
      </p:sp>
    </p:spTree>
    <p:extLst>
      <p:ext uri="{BB962C8B-B14F-4D97-AF65-F5344CB8AC3E}">
        <p14:creationId xmlns:p14="http://schemas.microsoft.com/office/powerpoint/2010/main" val="366505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89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32703" y="192952"/>
            <a:ext cx="92841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4.6.5 Collaboration: Equivalent Expressions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60593" y="39012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070517" y="1518652"/>
            <a:ext cx="8979498" cy="163121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 your partner, determine who is Partner A and who is Partner B. </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Generate an equivalent exponential expression for each expression in your column using as few bases as possible.</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468B2952-CA63-B346-A159-A9F7FC84C49A}"/>
                  </a:ext>
                </a:extLst>
              </p:cNvPr>
              <p:cNvGraphicFramePr>
                <a:graphicFrameLocks noGrp="1"/>
              </p:cNvGraphicFramePr>
              <p:nvPr>
                <p:extLst>
                  <p:ext uri="{D42A27DB-BD31-4B8C-83A1-F6EECF244321}">
                    <p14:modId xmlns:p14="http://schemas.microsoft.com/office/powerpoint/2010/main" val="830192259"/>
                  </p:ext>
                </p:extLst>
              </p:nvPr>
            </p:nvGraphicFramePr>
            <p:xfrm>
              <a:off x="2320266" y="3528584"/>
              <a:ext cx="6480000" cy="2844000"/>
            </p:xfrm>
            <a:graphic>
              <a:graphicData uri="http://schemas.openxmlformats.org/drawingml/2006/table">
                <a:tbl>
                  <a:tblPr firstRow="1" firstCol="1" bandRow="1"/>
                  <a:tblGrid>
                    <a:gridCol w="2340000">
                      <a:extLst>
                        <a:ext uri="{9D8B030D-6E8A-4147-A177-3AD203B41FA5}">
                          <a16:colId xmlns:a16="http://schemas.microsoft.com/office/drawing/2014/main" val="3460244801"/>
                        </a:ext>
                      </a:extLst>
                    </a:gridCol>
                    <a:gridCol w="1800000">
                      <a:extLst>
                        <a:ext uri="{9D8B030D-6E8A-4147-A177-3AD203B41FA5}">
                          <a16:colId xmlns:a16="http://schemas.microsoft.com/office/drawing/2014/main" val="308549241"/>
                        </a:ext>
                      </a:extLst>
                    </a:gridCol>
                    <a:gridCol w="2340000">
                      <a:extLst>
                        <a:ext uri="{9D8B030D-6E8A-4147-A177-3AD203B41FA5}">
                          <a16:colId xmlns:a16="http://schemas.microsoft.com/office/drawing/2014/main" val="2286710636"/>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Partner 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902397051"/>
                      </a:ext>
                    </a:extLst>
                  </a:tr>
                  <a:tr h="118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9</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m:oMathPara>
                          </a14:m>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1690267"/>
                      </a:ext>
                    </a:extLst>
                  </a:tr>
                  <a:tr h="118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den>
                                </m:f>
                                <m:r>
                                  <a:rPr lang="en-US" sz="2000" i="1">
                                    <a:effectLst/>
                                    <a:latin typeface="Cambria Math" panose="02040503050406030204" pitchFamily="18" charset="0"/>
                                    <a:ea typeface="Verdana" panose="020B0604030504040204" pitchFamily="34" charset="0"/>
                                    <a:cs typeface="Verdana" panose="020B0604030504040204" pitchFamily="34" charset="0"/>
                                  </a:rPr>
                                  <m:t>∙7</m:t>
                                </m:r>
                              </m:oMath>
                            </m:oMathPara>
                          </a14:m>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(7∙2)</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num>
                                  <m:den>
                                    <m:r>
                                      <a:rPr lang="en-US" sz="2000" i="1">
                                        <a:effectLst/>
                                        <a:latin typeface="Cambria Math" panose="02040503050406030204" pitchFamily="18" charset="0"/>
                                        <a:ea typeface="Verdana" panose="020B0604030504040204" pitchFamily="34" charset="0"/>
                                        <a:cs typeface="Verdana" panose="020B0604030504040204" pitchFamily="34" charset="0"/>
                                      </a:rPr>
                                      <m:t>7</m:t>
                                    </m:r>
                                  </m:den>
                                </m:f>
                              </m:oMath>
                            </m:oMathPara>
                          </a14:m>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a:extLst>
                  <a:ext uri="{FF2B5EF4-FFF2-40B4-BE49-F238E27FC236}">
                    <a16:creationId xmlns:a16="http://schemas.microsoft.com/office/drawing/2014/main" id="{468B2952-CA63-B346-A159-A9F7FC84C49A}"/>
                  </a:ext>
                </a:extLst>
              </p:cNvPr>
              <p:cNvGraphicFramePr>
                <a:graphicFrameLocks noGrp="1"/>
              </p:cNvGraphicFramePr>
              <p:nvPr>
                <p:extLst>
                  <p:ext uri="{D42A27DB-BD31-4B8C-83A1-F6EECF244321}">
                    <p14:modId xmlns:p14="http://schemas.microsoft.com/office/powerpoint/2010/main" val="830192259"/>
                  </p:ext>
                </p:extLst>
              </p:nvPr>
            </p:nvGraphicFramePr>
            <p:xfrm>
              <a:off x="2320266" y="3528584"/>
              <a:ext cx="6480000" cy="2844000"/>
            </p:xfrm>
            <a:graphic>
              <a:graphicData uri="http://schemas.openxmlformats.org/drawingml/2006/table">
                <a:tbl>
                  <a:tblPr firstRow="1" firstCol="1" bandRow="1"/>
                  <a:tblGrid>
                    <a:gridCol w="2340000">
                      <a:extLst>
                        <a:ext uri="{9D8B030D-6E8A-4147-A177-3AD203B41FA5}">
                          <a16:colId xmlns:a16="http://schemas.microsoft.com/office/drawing/2014/main" val="3460244801"/>
                        </a:ext>
                      </a:extLst>
                    </a:gridCol>
                    <a:gridCol w="1800000">
                      <a:extLst>
                        <a:ext uri="{9D8B030D-6E8A-4147-A177-3AD203B41FA5}">
                          <a16:colId xmlns:a16="http://schemas.microsoft.com/office/drawing/2014/main" val="308549241"/>
                        </a:ext>
                      </a:extLst>
                    </a:gridCol>
                    <a:gridCol w="2340000">
                      <a:extLst>
                        <a:ext uri="{9D8B030D-6E8A-4147-A177-3AD203B41FA5}">
                          <a16:colId xmlns:a16="http://schemas.microsoft.com/office/drawing/2014/main" val="2286710636"/>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Partner 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902397051"/>
                      </a:ext>
                    </a:extLst>
                  </a:tr>
                  <a:tr h="1188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60" t="-39796" r="-177865" b="-101020"/>
                          </a:stretch>
                        </a:blipFill>
                      </a:tcPr>
                    </a:tc>
                    <a:tc>
                      <a:txBody>
                        <a:bodyPr/>
                        <a:lstStyle/>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77344" t="-39796" r="-781" b="-101020"/>
                          </a:stretch>
                        </a:blipFill>
                      </a:tcPr>
                    </a:tc>
                    <a:extLst>
                      <a:ext uri="{0D108BD9-81ED-4DB2-BD59-A6C34878D82A}">
                        <a16:rowId xmlns:a16="http://schemas.microsoft.com/office/drawing/2014/main" val="4021690267"/>
                      </a:ext>
                    </a:extLst>
                  </a:tr>
                  <a:tr h="1188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60" t="-140513" r="-177865" b="-1538"/>
                          </a:stretch>
                        </a:blipFill>
                      </a:tcPr>
                    </a:tc>
                    <a:tc>
                      <a:txBody>
                        <a:bodyPr/>
                        <a:lstStyle/>
                        <a:p>
                          <a:pPr marL="0" marR="0" algn="ctr">
                            <a:spcBef>
                              <a:spcPts val="0"/>
                            </a:spcBef>
                            <a:spcAft>
                              <a:spcPts val="0"/>
                            </a:spcAft>
                          </a:pPr>
                          <a:r>
                            <a:rPr lang="en-US" sz="2000" i="1">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77344" t="-140513" r="-781" b="-1538"/>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2190428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479ADA9-8D91-C44A-A518-C8EFDD296EDA}"/>
                  </a:ext>
                </a:extLst>
              </p:cNvPr>
              <p:cNvGraphicFramePr>
                <a:graphicFrameLocks noGrp="1"/>
              </p:cNvGraphicFramePr>
              <p:nvPr>
                <p:extLst>
                  <p:ext uri="{D42A27DB-BD31-4B8C-83A1-F6EECF244321}">
                    <p14:modId xmlns:p14="http://schemas.microsoft.com/office/powerpoint/2010/main" val="3068822400"/>
                  </p:ext>
                </p:extLst>
              </p:nvPr>
            </p:nvGraphicFramePr>
            <p:xfrm>
              <a:off x="2409924" y="1300825"/>
              <a:ext cx="6480000" cy="4248000"/>
            </p:xfrm>
            <a:graphic>
              <a:graphicData uri="http://schemas.openxmlformats.org/drawingml/2006/table">
                <a:tbl>
                  <a:tblPr firstRow="1" firstCol="1" bandRow="1"/>
                  <a:tblGrid>
                    <a:gridCol w="2340000">
                      <a:extLst>
                        <a:ext uri="{9D8B030D-6E8A-4147-A177-3AD203B41FA5}">
                          <a16:colId xmlns:a16="http://schemas.microsoft.com/office/drawing/2014/main" val="377917047"/>
                        </a:ext>
                      </a:extLst>
                    </a:gridCol>
                    <a:gridCol w="1800000">
                      <a:extLst>
                        <a:ext uri="{9D8B030D-6E8A-4147-A177-3AD203B41FA5}">
                          <a16:colId xmlns:a16="http://schemas.microsoft.com/office/drawing/2014/main" val="570987408"/>
                        </a:ext>
                      </a:extLst>
                    </a:gridCol>
                    <a:gridCol w="2340000">
                      <a:extLst>
                        <a:ext uri="{9D8B030D-6E8A-4147-A177-3AD203B41FA5}">
                          <a16:colId xmlns:a16="http://schemas.microsoft.com/office/drawing/2014/main" val="3326345107"/>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Partner 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2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4</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4</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4</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4096988"/>
                      </a:ext>
                    </a:extLst>
                  </a:tr>
                  <a:tr h="12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oMath>
                            </m:oMathPara>
                          </a14:m>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3∙</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2</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753605"/>
                      </a:ext>
                    </a:extLst>
                  </a:tr>
                  <a:tr h="12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oMath>
                            </m:oMathPara>
                          </a14:m>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oMath>
                            </m:oMathPara>
                          </a14:m>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719885"/>
                      </a:ext>
                    </a:extLst>
                  </a:tr>
                </a:tbl>
              </a:graphicData>
            </a:graphic>
          </p:graphicFrame>
        </mc:Choice>
        <mc:Fallback xmlns="">
          <p:graphicFrame>
            <p:nvGraphicFramePr>
              <p:cNvPr id="3" name="Table 2">
                <a:extLst>
                  <a:ext uri="{FF2B5EF4-FFF2-40B4-BE49-F238E27FC236}">
                    <a16:creationId xmlns:a16="http://schemas.microsoft.com/office/drawing/2014/main" id="{7479ADA9-8D91-C44A-A518-C8EFDD296EDA}"/>
                  </a:ext>
                </a:extLst>
              </p:cNvPr>
              <p:cNvGraphicFramePr>
                <a:graphicFrameLocks noGrp="1"/>
              </p:cNvGraphicFramePr>
              <p:nvPr>
                <p:extLst>
                  <p:ext uri="{D42A27DB-BD31-4B8C-83A1-F6EECF244321}">
                    <p14:modId xmlns:p14="http://schemas.microsoft.com/office/powerpoint/2010/main" val="3068822400"/>
                  </p:ext>
                </p:extLst>
              </p:nvPr>
            </p:nvGraphicFramePr>
            <p:xfrm>
              <a:off x="2409924" y="1300825"/>
              <a:ext cx="6480000" cy="4248000"/>
            </p:xfrm>
            <a:graphic>
              <a:graphicData uri="http://schemas.openxmlformats.org/drawingml/2006/table">
                <a:tbl>
                  <a:tblPr firstRow="1" firstCol="1" bandRow="1"/>
                  <a:tblGrid>
                    <a:gridCol w="2340000">
                      <a:extLst>
                        <a:ext uri="{9D8B030D-6E8A-4147-A177-3AD203B41FA5}">
                          <a16:colId xmlns:a16="http://schemas.microsoft.com/office/drawing/2014/main" val="377917047"/>
                        </a:ext>
                      </a:extLst>
                    </a:gridCol>
                    <a:gridCol w="1800000">
                      <a:extLst>
                        <a:ext uri="{9D8B030D-6E8A-4147-A177-3AD203B41FA5}">
                          <a16:colId xmlns:a16="http://schemas.microsoft.com/office/drawing/2014/main" val="570987408"/>
                        </a:ext>
                      </a:extLst>
                    </a:gridCol>
                    <a:gridCol w="2340000">
                      <a:extLst>
                        <a:ext uri="{9D8B030D-6E8A-4147-A177-3AD203B41FA5}">
                          <a16:colId xmlns:a16="http://schemas.microsoft.com/office/drawing/2014/main" val="3326345107"/>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Partner B</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26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38164" r="-177865" b="-201449"/>
                          </a:stretch>
                        </a:blipFill>
                      </a:tcPr>
                    </a:tc>
                    <a:tc>
                      <a:txBody>
                        <a:bodyPr/>
                        <a:lstStyle/>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77604" t="-38164" r="-781" b="-201449"/>
                          </a:stretch>
                        </a:blipFill>
                      </a:tcPr>
                    </a:tc>
                    <a:extLst>
                      <a:ext uri="{0D108BD9-81ED-4DB2-BD59-A6C34878D82A}">
                        <a16:rowId xmlns:a16="http://schemas.microsoft.com/office/drawing/2014/main" val="3084096988"/>
                      </a:ext>
                    </a:extLst>
                  </a:tr>
                  <a:tr h="126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138164" r="-177865" b="-101449"/>
                          </a:stretch>
                        </a:blipFill>
                      </a:tcPr>
                    </a:tc>
                    <a:tc>
                      <a:txBody>
                        <a:bodyPr/>
                        <a:lstStyle/>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77604" t="-138164" r="-781" b="-101449"/>
                          </a:stretch>
                        </a:blipFill>
                      </a:tcPr>
                    </a:tc>
                    <a:extLst>
                      <a:ext uri="{0D108BD9-81ED-4DB2-BD59-A6C34878D82A}">
                        <a16:rowId xmlns:a16="http://schemas.microsoft.com/office/drawing/2014/main" val="2730753605"/>
                      </a:ext>
                    </a:extLst>
                  </a:tr>
                  <a:tr h="126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21" t="-238164" r="-177865" b="-1449"/>
                          </a:stretch>
                        </a:blipFill>
                      </a:tcPr>
                    </a:tc>
                    <a:tc>
                      <a:txBody>
                        <a:bodyPr/>
                        <a:lstStyle/>
                        <a:p>
                          <a:pPr marL="0" marR="0" algn="ctr">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77604" t="-238164" r="-781" b="-1449"/>
                          </a:stretch>
                        </a:blipFill>
                      </a:tcPr>
                    </a:tc>
                    <a:extLst>
                      <a:ext uri="{0D108BD9-81ED-4DB2-BD59-A6C34878D82A}">
                        <a16:rowId xmlns:a16="http://schemas.microsoft.com/office/drawing/2014/main" val="2664719885"/>
                      </a:ext>
                    </a:extLst>
                  </a:tr>
                </a:tbl>
              </a:graphicData>
            </a:graphic>
          </p:graphicFrame>
        </mc:Fallback>
      </mc:AlternateContent>
    </p:spTree>
    <p:extLst>
      <p:ext uri="{BB962C8B-B14F-4D97-AF65-F5344CB8AC3E}">
        <p14:creationId xmlns:p14="http://schemas.microsoft.com/office/powerpoint/2010/main" val="2849016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81668" y="457943"/>
            <a:ext cx="8971308" cy="1938992"/>
          </a:xfrm>
          <a:prstGeom prst="rect">
            <a:avLst/>
          </a:prstGeom>
        </p:spPr>
        <p:txBody>
          <a:bodyPr wrap="square">
            <a:spAutoFit/>
          </a:bodyPr>
          <a:lstStyle/>
          <a:p>
            <a:pPr marL="892175"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expressions in each row are equivalent. If your expression and your partner’s expressions are not equivalent, work together to find and correct any error(s). Then, write the equivalent expression in the middle column.</a:t>
            </a:r>
          </a:p>
        </p:txBody>
      </p:sp>
    </p:spTree>
    <p:extLst>
      <p:ext uri="{BB962C8B-B14F-4D97-AF65-F5344CB8AC3E}">
        <p14:creationId xmlns:p14="http://schemas.microsoft.com/office/powerpoint/2010/main" val="1159944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402"/>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1387" y="363723"/>
            <a:ext cx="9385439"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4.6.5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84087" y="285518"/>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1107519" y="1347193"/>
            <a:ext cx="9385439"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as you reflect on today’s lesson.</a:t>
            </a:r>
          </a:p>
        </p:txBody>
      </p:sp>
      <p:graphicFrame>
        <p:nvGraphicFramePr>
          <p:cNvPr id="4" name="Table 3">
            <a:extLst>
              <a:ext uri="{FF2B5EF4-FFF2-40B4-BE49-F238E27FC236}">
                <a16:creationId xmlns:a16="http://schemas.microsoft.com/office/drawing/2014/main" id="{53C663AE-09FA-1441-B679-6FB979841EBE}"/>
              </a:ext>
            </a:extLst>
          </p:cNvPr>
          <p:cNvGraphicFramePr>
            <a:graphicFrameLocks noGrp="1"/>
          </p:cNvGraphicFramePr>
          <p:nvPr>
            <p:extLst>
              <p:ext uri="{D42A27DB-BD31-4B8C-83A1-F6EECF244321}">
                <p14:modId xmlns:p14="http://schemas.microsoft.com/office/powerpoint/2010/main" val="3846727675"/>
              </p:ext>
            </p:extLst>
          </p:nvPr>
        </p:nvGraphicFramePr>
        <p:xfrm>
          <a:off x="2325675" y="1969129"/>
          <a:ext cx="7200000" cy="3078444"/>
        </p:xfrm>
        <a:graphic>
          <a:graphicData uri="http://schemas.openxmlformats.org/drawingml/2006/table">
            <a:tbl>
              <a:tblPr bandRow="1"/>
              <a:tblGrid>
                <a:gridCol w="3600000">
                  <a:extLst>
                    <a:ext uri="{9D8B030D-6E8A-4147-A177-3AD203B41FA5}">
                      <a16:colId xmlns:a16="http://schemas.microsoft.com/office/drawing/2014/main" val="131102083"/>
                    </a:ext>
                  </a:extLst>
                </a:gridCol>
                <a:gridCol w="3600000">
                  <a:extLst>
                    <a:ext uri="{9D8B030D-6E8A-4147-A177-3AD203B41FA5}">
                      <a16:colId xmlns:a16="http://schemas.microsoft.com/office/drawing/2014/main" val="164957927"/>
                    </a:ext>
                  </a:extLst>
                </a:gridCol>
              </a:tblGrid>
              <a:tr h="3078444">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Today I deserve</a:t>
                      </a: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for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347881"/>
                  </a:ext>
                </a:extLst>
              </a:tr>
            </a:tbl>
          </a:graphicData>
        </a:graphic>
      </p:graphicFrame>
      <p:pic>
        <p:nvPicPr>
          <p:cNvPr id="10" name="Picture 9" descr="A picture containing person, person&#10;&#10;Description automatically generated">
            <a:extLst>
              <a:ext uri="{FF2B5EF4-FFF2-40B4-BE49-F238E27FC236}">
                <a16:creationId xmlns:a16="http://schemas.microsoft.com/office/drawing/2014/main" id="{144E4D38-A13F-E94C-BB9F-16990FF88A7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97526" y="2360598"/>
            <a:ext cx="3318851" cy="2295506"/>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4" name="Table 3">
            <a:extLst>
              <a:ext uri="{FF2B5EF4-FFF2-40B4-BE49-F238E27FC236}">
                <a16:creationId xmlns:a16="http://schemas.microsoft.com/office/drawing/2014/main" id="{53C663AE-09FA-1441-B679-6FB979841EBE}"/>
              </a:ext>
            </a:extLst>
          </p:cNvPr>
          <p:cNvGraphicFramePr>
            <a:graphicFrameLocks noGrp="1"/>
          </p:cNvGraphicFramePr>
          <p:nvPr>
            <p:extLst>
              <p:ext uri="{D42A27DB-BD31-4B8C-83A1-F6EECF244321}">
                <p14:modId xmlns:p14="http://schemas.microsoft.com/office/powerpoint/2010/main" val="1520654809"/>
              </p:ext>
            </p:extLst>
          </p:nvPr>
        </p:nvGraphicFramePr>
        <p:xfrm>
          <a:off x="2597526" y="478097"/>
          <a:ext cx="7200000" cy="5940000"/>
        </p:xfrm>
        <a:graphic>
          <a:graphicData uri="http://schemas.openxmlformats.org/drawingml/2006/table">
            <a:tbl>
              <a:tblPr bandRow="1"/>
              <a:tblGrid>
                <a:gridCol w="3600000">
                  <a:extLst>
                    <a:ext uri="{9D8B030D-6E8A-4147-A177-3AD203B41FA5}">
                      <a16:colId xmlns:a16="http://schemas.microsoft.com/office/drawing/2014/main" val="131102083"/>
                    </a:ext>
                  </a:extLst>
                </a:gridCol>
                <a:gridCol w="3600000">
                  <a:extLst>
                    <a:ext uri="{9D8B030D-6E8A-4147-A177-3AD203B41FA5}">
                      <a16:colId xmlns:a16="http://schemas.microsoft.com/office/drawing/2014/main" val="164957927"/>
                    </a:ext>
                  </a:extLst>
                </a:gridCol>
              </a:tblGrid>
              <a:tr h="3060000">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Today I </a:t>
                      </a: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PH"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000"/>
                        </a:spcAft>
                      </a:pP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by doing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347881"/>
                  </a:ext>
                </a:extLst>
              </a:tr>
              <a:tr h="2880000">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Today I was</a:t>
                      </a: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000"/>
                        </a:spcAft>
                      </a:pPr>
                      <a:endParaRPr lang="en-US" sz="1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by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0538586"/>
                  </a:ext>
                </a:extLst>
              </a:tr>
            </a:tbl>
          </a:graphicData>
        </a:graphic>
      </p:graphicFrame>
      <p:pic>
        <p:nvPicPr>
          <p:cNvPr id="11" name="Picture 10" descr="Man Person Climb · Free photo on Pixabay">
            <a:extLst>
              <a:ext uri="{FF2B5EF4-FFF2-40B4-BE49-F238E27FC236}">
                <a16:creationId xmlns:a16="http://schemas.microsoft.com/office/drawing/2014/main" id="{C1417461-AC98-1747-BD06-DE0DD6C6E8DC}"/>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3588149" y="888442"/>
            <a:ext cx="1625110" cy="2166992"/>
          </a:xfrm>
          <a:prstGeom prst="rect">
            <a:avLst/>
          </a:prstGeom>
        </p:spPr>
      </p:pic>
      <p:pic>
        <p:nvPicPr>
          <p:cNvPr id="12" name="image25.png" descr="A picture containing text, sign, sky, outdoor&#10;&#10;Description automatically generated">
            <a:extLst>
              <a:ext uri="{FF2B5EF4-FFF2-40B4-BE49-F238E27FC236}">
                <a16:creationId xmlns:a16="http://schemas.microsoft.com/office/drawing/2014/main" id="{122C7832-9091-E946-A2C5-537BB682E24A}"/>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906137" y="3949307"/>
            <a:ext cx="2989135" cy="1983142"/>
          </a:xfrm>
          <a:prstGeom prst="rect">
            <a:avLst/>
          </a:prstGeom>
          <a:ln/>
        </p:spPr>
      </p:pic>
    </p:spTree>
    <p:extLst>
      <p:ext uri="{BB962C8B-B14F-4D97-AF65-F5344CB8AC3E}">
        <p14:creationId xmlns:p14="http://schemas.microsoft.com/office/powerpoint/2010/main" val="957274316"/>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3109</TotalTime>
  <Words>993</Words>
  <Application>Microsoft Office PowerPoint</Application>
  <PresentationFormat>Widescreen</PresentationFormat>
  <Paragraphs>234</Paragraphs>
  <Slides>27</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Verdana</vt:lpstr>
      <vt:lpstr>Century Gothic</vt:lpstr>
      <vt:lpstr>Arial</vt:lpstr>
      <vt:lpstr>Cambria Math</vt:lpstr>
      <vt:lpstr>Wingdings</vt:lpstr>
      <vt:lpstr>Calibri</vt:lpstr>
      <vt:lpstr>Cambria</vt:lpstr>
      <vt:lpstr>Arial Black</vt:lpstr>
      <vt:lpstr>Times New Roman</vt:lpstr>
      <vt:lpstr>1_Office Theme</vt:lpstr>
      <vt:lpstr>8th Grade Math: Pre-Algebra  Unit 4, Lesson 6  Equivalent Expressions  Volume 1, pg. 147  </vt:lpstr>
      <vt:lpstr>Benchmark</vt:lpstr>
      <vt:lpstr>PowerPoint Presentation</vt:lpstr>
      <vt:lpstr>PowerPoint Presentation</vt:lpstr>
      <vt:lpstr>Warm-Up</vt:lpstr>
      <vt:lpstr>PowerPoint Presentation</vt:lpstr>
      <vt:lpstr>Exploration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Collaboration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30</cp:revision>
  <dcterms:created xsi:type="dcterms:W3CDTF">2015-03-17T18:51:18Z</dcterms:created>
  <dcterms:modified xsi:type="dcterms:W3CDTF">2022-07-15T02:56:48Z</dcterms:modified>
</cp:coreProperties>
</file>