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345" r:id="rId4"/>
    <p:sldId id="286" r:id="rId5"/>
    <p:sldId id="261" r:id="rId6"/>
    <p:sldId id="287" r:id="rId7"/>
    <p:sldId id="354" r:id="rId8"/>
    <p:sldId id="355" r:id="rId9"/>
    <p:sldId id="356" r:id="rId10"/>
    <p:sldId id="375" r:id="rId11"/>
    <p:sldId id="376" r:id="rId12"/>
    <p:sldId id="314" r:id="rId13"/>
    <p:sldId id="315" r:id="rId14"/>
    <p:sldId id="316" r:id="rId15"/>
    <p:sldId id="371" r:id="rId16"/>
    <p:sldId id="372" r:id="rId17"/>
    <p:sldId id="373" r:id="rId18"/>
    <p:sldId id="377" r:id="rId19"/>
    <p:sldId id="378" r:id="rId20"/>
    <p:sldId id="379" r:id="rId21"/>
    <p:sldId id="306" r:id="rId22"/>
    <p:sldId id="307" r:id="rId23"/>
    <p:sldId id="380" r:id="rId24"/>
  </p:sldIdLst>
  <p:sldSz cx="12192000" cy="6858000"/>
  <p:notesSz cx="6858000" cy="9144000"/>
  <p:embeddedFontLst>
    <p:embeddedFont>
      <p:font typeface="Arial Black" panose="020B0A04020102020204" pitchFamily="34" charset="0"/>
      <p:bold r:id="rId26"/>
    </p:embeddedFont>
    <p:embeddedFont>
      <p:font typeface="Calibri" panose="020F0502020204030204" pitchFamily="34" charset="0"/>
      <p:regular r:id="rId27"/>
      <p:bold r:id="rId28"/>
      <p:italic r:id="rId29"/>
      <p:boldItalic r:id="rId30"/>
    </p:embeddedFont>
    <p:embeddedFont>
      <p:font typeface="Cambria" panose="02040503050406030204" pitchFamily="18" charset="0"/>
      <p:regular r:id="rId31"/>
      <p:bold r:id="rId32"/>
      <p:italic r:id="rId33"/>
      <p:boldItalic r:id="rId34"/>
    </p:embeddedFont>
    <p:embeddedFont>
      <p:font typeface="Cambria Math" panose="02040503050406030204" pitchFamily="18" charset="0"/>
      <p:regular r:id="rId35"/>
    </p:embeddedFont>
    <p:embeddedFont>
      <p:font typeface="Century Gothic" panose="020B0502020202020204" pitchFamily="34" charset="0"/>
      <p:regular r:id="rId36"/>
      <p:bold r:id="rId37"/>
      <p:italic r:id="rId38"/>
      <p:boldItalic r:id="rId39"/>
    </p:embeddedFont>
    <p:embeddedFont>
      <p:font typeface="Verdana" panose="020B060403050404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70"/>
    <p:restoredTop sz="94694"/>
  </p:normalViewPr>
  <p:slideViewPr>
    <p:cSldViewPr snapToGrid="0">
      <p:cViewPr varScale="1">
        <p:scale>
          <a:sx n="81" d="100"/>
          <a:sy n="81" d="100"/>
        </p:scale>
        <p:origin x="85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1179661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834062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814399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161201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536772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591887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06234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441839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581587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115509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5303613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092204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6729411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4.jpe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5.jpe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51444" y="2140969"/>
            <a:ext cx="481054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4</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000" b="1" dirty="0">
                <a:solidFill>
                  <a:srgbClr val="417DBF"/>
                </a:solidFill>
                <a:latin typeface="Verdana"/>
                <a:ea typeface="Verdana"/>
                <a:cs typeface="Verdana"/>
                <a:sym typeface="Verdana"/>
              </a:rPr>
              <a:t>Evaluating Numerical Expressions with Integer Exponents – Part 1</a:t>
            </a:r>
            <a:br>
              <a:rPr lang="en-US" sz="2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139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307592"/>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MA.8.NSO.1.3</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139</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914400" y="1455367"/>
            <a:ext cx="1051560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11480"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139</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evaluate a numerical expression using the laws of exponents. </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139</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39710"/>
            <a:ext cx="8019300" cy="6628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4.4.1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11480"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139</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914400" y="1242689"/>
            <a:ext cx="1051560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For each expression, apply one or more exponent laws to write an equivalent expression with a rational base and positive exponent.</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26A929A8-ADAE-9946-9042-6B4DF5534DFD}"/>
                  </a:ext>
                </a:extLst>
              </p:cNvPr>
              <p:cNvGraphicFramePr>
                <a:graphicFrameLocks noGrp="1"/>
              </p:cNvGraphicFramePr>
              <p:nvPr>
                <p:extLst>
                  <p:ext uri="{D42A27DB-BD31-4B8C-83A1-F6EECF244321}">
                    <p14:modId xmlns:p14="http://schemas.microsoft.com/office/powerpoint/2010/main" val="870304205"/>
                  </p:ext>
                </p:extLst>
              </p:nvPr>
            </p:nvGraphicFramePr>
            <p:xfrm>
              <a:off x="2627381" y="2524196"/>
              <a:ext cx="7339770" cy="3779520"/>
            </p:xfrm>
            <a:graphic>
              <a:graphicData uri="http://schemas.openxmlformats.org/drawingml/2006/table">
                <a:tbl>
                  <a:tblPr firstRow="1" firstCol="1" bandRow="1"/>
                  <a:tblGrid>
                    <a:gridCol w="2834640">
                      <a:extLst>
                        <a:ext uri="{9D8B030D-6E8A-4147-A177-3AD203B41FA5}">
                          <a16:colId xmlns:a16="http://schemas.microsoft.com/office/drawing/2014/main" val="325733963"/>
                        </a:ext>
                      </a:extLst>
                    </a:gridCol>
                    <a:gridCol w="4505130">
                      <a:extLst>
                        <a:ext uri="{9D8B030D-6E8A-4147-A177-3AD203B41FA5}">
                          <a16:colId xmlns:a16="http://schemas.microsoft.com/office/drawing/2014/main" val="3049725931"/>
                        </a:ext>
                      </a:extLst>
                    </a:gridCol>
                  </a:tblGrid>
                  <a:tr h="457200">
                    <a:tc>
                      <a:txBody>
                        <a:bodyPr/>
                        <a:lstStyle/>
                        <a:p>
                          <a:pPr marL="0" marR="0" algn="ctr">
                            <a:spcBef>
                              <a:spcPts val="0"/>
                            </a:spcBef>
                            <a:spcAft>
                              <a:spcPts val="0"/>
                            </a:spcAft>
                          </a:pPr>
                          <a:r>
                            <a:rPr lang="en-US" sz="2000" b="1" i="0" dirty="0">
                              <a:effectLst/>
                              <a:latin typeface="Verdana" panose="020B0604030504040204" pitchFamily="34" charset="0"/>
                              <a:ea typeface="Verdana" pitchFamily="34" charset="0"/>
                              <a:cs typeface="Cambria Math" panose="02040503050406030204" pitchFamily="18" charset="0"/>
                            </a:rPr>
                            <a:t>Given Expression</a:t>
                          </a:r>
                          <a:endParaRPr lang="x-none" sz="2000" i="1"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i="0" dirty="0">
                              <a:solidFill>
                                <a:srgbClr val="000000"/>
                              </a:solidFill>
                              <a:effectLst/>
                              <a:latin typeface="Verdana" panose="020B0604030504040204" pitchFamily="34" charset="0"/>
                              <a:ea typeface="Verdana" pitchFamily="34" charset="0"/>
                              <a:cs typeface="Cambria Math" panose="02040503050406030204" pitchFamily="18" charset="0"/>
                            </a:rPr>
                            <a:t>Equivalent Expression</a:t>
                          </a:r>
                          <a:endParaRPr lang="x-none" sz="2000" i="1">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85888963"/>
                      </a:ext>
                    </a:extLst>
                  </a:tr>
                  <a:tr h="822960">
                    <a:tc>
                      <a:txBody>
                        <a:bodyPr/>
                        <a:lstStyle/>
                        <a:p>
                          <a:pPr marL="0" marR="0" algn="ctr">
                            <a:spcBef>
                              <a:spcPts val="0"/>
                            </a:spcBef>
                            <a:spcAft>
                              <a:spcPts val="0"/>
                            </a:spcAft>
                          </a:pPr>
                          <a14:m>
                            <m:oMath xmlns:m="http://schemas.openxmlformats.org/officeDocument/2006/math">
                              <m:d>
                                <m: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dPr>
                                <m:e>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4</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5</m:t>
                                          </m:r>
                                        </m:den>
                                      </m:f>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−5</m:t>
                                      </m:r>
                                    </m:sup>
                                  </m:sSup>
                                </m:e>
                              </m:d>
                              <m:d>
                                <m: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dPr>
                                <m:e>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4</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5</m:t>
                                          </m:r>
                                        </m:den>
                                      </m:f>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sup>
                                  </m:sSup>
                                </m:e>
                              </m:d>
                            </m:oMath>
                          </a14:m>
                          <a:r>
                            <a:rPr lang="en-US" sz="2000" i="1" dirty="0">
                              <a:effectLst/>
                              <a:latin typeface="Verdana" pitchFamily="34" charset="0"/>
                              <a:ea typeface="Verdana" pitchFamily="34" charset="0"/>
                              <a:cs typeface="Cambria Math" panose="02040503050406030204" pitchFamily="18" charset="0"/>
                            </a:rPr>
                            <a:t> </a:t>
                          </a:r>
                          <a:endParaRPr lang="x-none" sz="2000" i="1"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i="0" dirty="0">
                              <a:effectLst/>
                              <a:latin typeface="Verdana" panose="020B0604030504040204" pitchFamily="34" charset="0"/>
                              <a:ea typeface="Verdana" pitchFamily="34" charset="0"/>
                              <a:cs typeface="Cambria Math" panose="02040503050406030204" pitchFamily="18" charset="0"/>
                            </a:rPr>
                            <a:t> </a:t>
                          </a:r>
                          <a:endParaRPr lang="x-none" sz="2000" i="1">
                            <a:effectLst/>
                            <a:latin typeface="Verdana" pitchFamily="34" charset="0"/>
                            <a:ea typeface="Verdana" pitchFamily="34" charset="0"/>
                            <a:cs typeface="Cambria Math" panose="02040503050406030204" pitchFamily="18"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199219"/>
                      </a:ext>
                    </a:extLst>
                  </a:tr>
                  <a:tr h="8229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d>
                                      <m: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dPr>
                                      <m:e>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4</m:t>
                                            </m:r>
                                          </m:sup>
                                        </m:sSup>
                                      </m:e>
                                    </m:d>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−6</m:t>
                                    </m:r>
                                  </m:sup>
                                </m:sSup>
                              </m:oMath>
                            </m:oMathPara>
                          </a14:m>
                          <a:endParaRPr lang="x-none" sz="2000" i="1"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i="1">
                            <a:effectLst/>
                            <a:latin typeface="Verdana" pitchFamily="34" charset="0"/>
                            <a:ea typeface="Verdana" pitchFamily="34" charset="0"/>
                            <a:cs typeface="Cambria Math" panose="02040503050406030204" pitchFamily="18"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1021206"/>
                      </a:ext>
                    </a:extLst>
                  </a:tr>
                  <a:tr h="822960">
                    <a:tc>
                      <a:txBody>
                        <a:bodyPr/>
                        <a:lstStyle/>
                        <a:p>
                          <a:pPr marL="0" marR="0" algn="ctr">
                            <a:spcBef>
                              <a:spcPts val="0"/>
                            </a:spcBef>
                            <a:spcAft>
                              <a:spcPts val="0"/>
                            </a:spcAft>
                          </a:pPr>
                          <a14:m>
                            <m:oMath xmlns:m="http://schemas.openxmlformats.org/officeDocument/2006/math">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7</m:t>
                                      </m:r>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0</m:t>
                                      </m:r>
                                    </m:sup>
                                  </m:sSup>
                                </m:num>
                                <m:den>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7</m:t>
                                      </m:r>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sup>
                                  </m:sSup>
                                </m:den>
                              </m:f>
                            </m:oMath>
                          </a14:m>
                          <a:r>
                            <a:rPr lang="en-US" sz="2000" i="0">
                              <a:effectLst/>
                              <a:latin typeface="Verdana" pitchFamily="34" charset="0"/>
                              <a:ea typeface="Verdana" pitchFamily="34" charset="0"/>
                              <a:cs typeface="Times New Roman" panose="02020603050405020304" pitchFamily="18" charset="0"/>
                            </a:rPr>
                            <a:t> </a:t>
                          </a:r>
                          <a:endParaRPr lang="x-none" sz="2000" i="1">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i="1">
                            <a:effectLst/>
                            <a:latin typeface="Verdana" pitchFamily="34" charset="0"/>
                            <a:ea typeface="Verdana" pitchFamily="34" charset="0"/>
                            <a:cs typeface="Cambria Math" panose="02040503050406030204" pitchFamily="18"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3120733"/>
                      </a:ext>
                    </a:extLst>
                  </a:tr>
                  <a:tr h="822960">
                    <a:tc>
                      <a:txBody>
                        <a:bodyPr/>
                        <a:lstStyle/>
                        <a:p>
                          <a:pPr marL="0" marR="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d>
                                    <m: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dPr>
                                    <m:e>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12</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5</m:t>
                                          </m:r>
                                        </m:den>
                                      </m:f>
                                    </m:e>
                                  </m:d>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−4</m:t>
                                  </m:r>
                                </m:sup>
                              </m:sSup>
                            </m:oMath>
                          </a14:m>
                          <a:r>
                            <a:rPr lang="en-US" sz="2000" i="0" dirty="0">
                              <a:effectLst/>
                              <a:latin typeface="Verdana" panose="020B0604030504040204" pitchFamily="34" charset="0"/>
                              <a:ea typeface="Verdana" pitchFamily="34" charset="0"/>
                              <a:cs typeface="Cambria Math" panose="02040503050406030204" pitchFamily="18" charset="0"/>
                            </a:rPr>
                            <a:t> </a:t>
                          </a:r>
                          <a:endParaRPr lang="x-none" sz="2000" i="1">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i="1" dirty="0">
                            <a:effectLst/>
                            <a:latin typeface="Verdana" pitchFamily="34" charset="0"/>
                            <a:ea typeface="Verdana" pitchFamily="34" charset="0"/>
                            <a:cs typeface="Cambria Math" panose="02040503050406030204" pitchFamily="18"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0055466"/>
                      </a:ext>
                    </a:extLst>
                  </a:tr>
                </a:tbl>
              </a:graphicData>
            </a:graphic>
          </p:graphicFrame>
        </mc:Choice>
        <mc:Fallback xmlns="">
          <p:graphicFrame>
            <p:nvGraphicFramePr>
              <p:cNvPr id="12" name="Table 11">
                <a:extLst>
                  <a:ext uri="{FF2B5EF4-FFF2-40B4-BE49-F238E27FC236}">
                    <a16:creationId xmlns:a16="http://schemas.microsoft.com/office/drawing/2014/main" id="{26A929A8-ADAE-9946-9042-6B4DF5534DFD}"/>
                  </a:ext>
                </a:extLst>
              </p:cNvPr>
              <p:cNvGraphicFramePr>
                <a:graphicFrameLocks noGrp="1"/>
              </p:cNvGraphicFramePr>
              <p:nvPr>
                <p:extLst>
                  <p:ext uri="{D42A27DB-BD31-4B8C-83A1-F6EECF244321}">
                    <p14:modId xmlns:p14="http://schemas.microsoft.com/office/powerpoint/2010/main" val="870304205"/>
                  </p:ext>
                </p:extLst>
              </p:nvPr>
            </p:nvGraphicFramePr>
            <p:xfrm>
              <a:off x="2627381" y="2524196"/>
              <a:ext cx="7339770" cy="3779520"/>
            </p:xfrm>
            <a:graphic>
              <a:graphicData uri="http://schemas.openxmlformats.org/drawingml/2006/table">
                <a:tbl>
                  <a:tblPr firstRow="1" firstCol="1" bandRow="1"/>
                  <a:tblGrid>
                    <a:gridCol w="2834640">
                      <a:extLst>
                        <a:ext uri="{9D8B030D-6E8A-4147-A177-3AD203B41FA5}">
                          <a16:colId xmlns:a16="http://schemas.microsoft.com/office/drawing/2014/main" val="325733963"/>
                        </a:ext>
                      </a:extLst>
                    </a:gridCol>
                    <a:gridCol w="4505130">
                      <a:extLst>
                        <a:ext uri="{9D8B030D-6E8A-4147-A177-3AD203B41FA5}">
                          <a16:colId xmlns:a16="http://schemas.microsoft.com/office/drawing/2014/main" val="3049725931"/>
                        </a:ext>
                      </a:extLst>
                    </a:gridCol>
                  </a:tblGrid>
                  <a:tr h="487680">
                    <a:tc>
                      <a:txBody>
                        <a:bodyPr/>
                        <a:lstStyle/>
                        <a:p>
                          <a:pPr marL="0" marR="0" algn="ctr">
                            <a:spcBef>
                              <a:spcPts val="0"/>
                            </a:spcBef>
                            <a:spcAft>
                              <a:spcPts val="0"/>
                            </a:spcAft>
                          </a:pPr>
                          <a:r>
                            <a:rPr lang="en-US" sz="2000" b="1" i="0" dirty="0">
                              <a:effectLst/>
                              <a:latin typeface="Verdana" panose="020B0604030504040204" pitchFamily="34" charset="0"/>
                              <a:ea typeface="Verdana" pitchFamily="34" charset="0"/>
                              <a:cs typeface="Cambria Math" panose="02040503050406030204" pitchFamily="18" charset="0"/>
                            </a:rPr>
                            <a:t>Given Expression</a:t>
                          </a:r>
                          <a:endParaRPr lang="x-none" sz="2000" i="1">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i="0" dirty="0">
                              <a:solidFill>
                                <a:srgbClr val="000000"/>
                              </a:solidFill>
                              <a:effectLst/>
                              <a:latin typeface="Verdana" panose="020B0604030504040204" pitchFamily="34" charset="0"/>
                              <a:ea typeface="Verdana" pitchFamily="34" charset="0"/>
                              <a:cs typeface="Cambria Math" panose="02040503050406030204" pitchFamily="18" charset="0"/>
                            </a:rPr>
                            <a:t>Equivalent Expression</a:t>
                          </a:r>
                          <a:endParaRPr lang="x-none" sz="2000" i="1">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85888963"/>
                      </a:ext>
                    </a:extLst>
                  </a:tr>
                  <a:tr h="82296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46" t="-60000" r="-159375" b="-301538"/>
                          </a:stretch>
                        </a:blipFill>
                      </a:tcPr>
                    </a:tc>
                    <a:tc>
                      <a:txBody>
                        <a:bodyPr/>
                        <a:lstStyle/>
                        <a:p>
                          <a:pPr marL="0" marR="0">
                            <a:spcBef>
                              <a:spcPts val="0"/>
                            </a:spcBef>
                            <a:spcAft>
                              <a:spcPts val="0"/>
                            </a:spcAft>
                          </a:pPr>
                          <a:r>
                            <a:rPr lang="en-US" sz="2000" i="0" dirty="0">
                              <a:effectLst/>
                              <a:latin typeface="Verdana" panose="020B0604030504040204" pitchFamily="34" charset="0"/>
                              <a:ea typeface="Verdana" pitchFamily="34" charset="0"/>
                              <a:cs typeface="Cambria Math" panose="02040503050406030204" pitchFamily="18" charset="0"/>
                            </a:rPr>
                            <a:t> </a:t>
                          </a:r>
                          <a:endParaRPr lang="x-none" sz="2000" i="1">
                            <a:effectLst/>
                            <a:latin typeface="Verdana" pitchFamily="34" charset="0"/>
                            <a:ea typeface="Verdana" pitchFamily="34" charset="0"/>
                            <a:cs typeface="Cambria Math" panose="02040503050406030204" pitchFamily="18"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199219"/>
                      </a:ext>
                    </a:extLst>
                  </a:tr>
                  <a:tr h="82296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46" t="-160000" r="-159375" b="-201538"/>
                          </a:stretch>
                        </a:blipFill>
                      </a:tcPr>
                    </a:tc>
                    <a:tc>
                      <a:txBody>
                        <a:bodyPr/>
                        <a:lstStyle/>
                        <a:p>
                          <a:pPr marL="0" marR="0">
                            <a:spcBef>
                              <a:spcPts val="0"/>
                            </a:spcBef>
                            <a:spcAft>
                              <a:spcPts val="0"/>
                            </a:spcAft>
                          </a:pPr>
                          <a:endParaRPr lang="x-none" sz="2000" i="1">
                            <a:effectLst/>
                            <a:latin typeface="Verdana" pitchFamily="34" charset="0"/>
                            <a:ea typeface="Verdana" pitchFamily="34" charset="0"/>
                            <a:cs typeface="Cambria Math" panose="02040503050406030204" pitchFamily="18"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1021206"/>
                      </a:ext>
                    </a:extLst>
                  </a:tr>
                  <a:tr h="82296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46" t="-260000" r="-159375" b="-101538"/>
                          </a:stretch>
                        </a:blipFill>
                      </a:tcPr>
                    </a:tc>
                    <a:tc>
                      <a:txBody>
                        <a:bodyPr/>
                        <a:lstStyle/>
                        <a:p>
                          <a:pPr marL="0" marR="0">
                            <a:spcBef>
                              <a:spcPts val="0"/>
                            </a:spcBef>
                            <a:spcAft>
                              <a:spcPts val="0"/>
                            </a:spcAft>
                          </a:pPr>
                          <a:endParaRPr lang="x-none" sz="2000" i="1">
                            <a:effectLst/>
                            <a:latin typeface="Verdana" pitchFamily="34" charset="0"/>
                            <a:ea typeface="Verdana" pitchFamily="34" charset="0"/>
                            <a:cs typeface="Cambria Math" panose="02040503050406030204" pitchFamily="18"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3120733"/>
                      </a:ext>
                    </a:extLst>
                  </a:tr>
                  <a:tr h="82296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46" t="-360000" r="-159375" b="-1538"/>
                          </a:stretch>
                        </a:blipFill>
                      </a:tcPr>
                    </a:tc>
                    <a:tc>
                      <a:txBody>
                        <a:bodyPr/>
                        <a:lstStyle/>
                        <a:p>
                          <a:pPr marL="0" marR="0">
                            <a:spcBef>
                              <a:spcPts val="0"/>
                            </a:spcBef>
                            <a:spcAft>
                              <a:spcPts val="0"/>
                            </a:spcAft>
                          </a:pPr>
                          <a:endParaRPr lang="x-none" sz="2000" i="1" dirty="0">
                            <a:effectLst/>
                            <a:latin typeface="Verdana" pitchFamily="34" charset="0"/>
                            <a:ea typeface="Verdana" pitchFamily="34" charset="0"/>
                            <a:cs typeface="Cambria Math" panose="02040503050406030204" pitchFamily="18"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0055466"/>
                      </a:ext>
                    </a:extLst>
                  </a:tr>
                </a:tbl>
              </a:graphicData>
            </a:graphic>
          </p:graphicFrame>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140</a:t>
            </a:r>
            <a:endParaRPr i="1" dirty="0">
              <a:latin typeface="Calibri"/>
              <a:ea typeface="Calibri"/>
              <a:cs typeface="Calibri"/>
              <a:sym typeface="Calibri"/>
            </a:endParaRPr>
          </a:p>
        </p:txBody>
      </p:sp>
      <p:pic>
        <p:nvPicPr>
          <p:cNvPr id="7" name="image3.png" descr="Icon&#10;&#10;Description automatically generated">
            <a:extLst>
              <a:ext uri="{FF2B5EF4-FFF2-40B4-BE49-F238E27FC236}">
                <a16:creationId xmlns:a16="http://schemas.microsoft.com/office/drawing/2014/main" id="{F07B8F2F-BC49-8E41-ACD8-B0D81504D696}"/>
              </a:ext>
            </a:extLst>
          </p:cNvPr>
          <p:cNvPicPr/>
          <p:nvPr/>
        </p:nvPicPr>
        <p:blipFill>
          <a:blip r:embed="rId4"/>
          <a:srcRect/>
          <a:stretch>
            <a:fillRect/>
          </a:stretch>
        </p:blipFill>
        <p:spPr>
          <a:xfrm>
            <a:off x="3054096"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13600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947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4.4.2 Guided Instruction: Using the Laws of Exponents to Evaluate Expressions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914400" y="1321073"/>
                <a:ext cx="10515600" cy="104208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Melanie and Adonis each evaluated the expression </a:t>
                </a:r>
                <a14:m>
                  <m:oMath xmlns:m="http://schemas.openxmlformats.org/officeDocument/2006/math">
                    <m:f>
                      <m:fPr>
                        <m:ctrlPr>
                          <a:rPr lang="en-U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sSup>
                          <m:sSupPr>
                            <m:ctrlPr>
                              <a:rPr lang="en-U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r>
                                  <a:rPr lang="es-E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t>5</m:t>
                                </m:r>
                              </m:e>
                            </m:d>
                          </m:e>
                          <m:sup>
                            <m:r>
                              <a:rPr lang="es-E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t>−2</m:t>
                            </m:r>
                          </m:sup>
                        </m:sSup>
                        <m:sSup>
                          <m:sSupPr>
                            <m:ctrlPr>
                              <a:rPr lang="en-U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r>
                                  <a:rPr lang="es-E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t>5</m:t>
                                </m:r>
                              </m:e>
                            </m:d>
                          </m:e>
                          <m:sup>
                            <m:r>
                              <a:rPr lang="es-E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t>5</m:t>
                            </m:r>
                          </m:sup>
                        </m:sSup>
                      </m:num>
                      <m:den>
                        <m:r>
                          <a:rPr lang="es-ES" altLang="en-US" sz="2400" i="1">
                            <a:solidFill>
                              <a:schemeClr val="tx1"/>
                            </a:solidFill>
                            <a:latin typeface="Cambria Math" panose="02040503050406030204" pitchFamily="18" charset="0"/>
                            <a:ea typeface="Verdana" panose="020B0604030504040204" pitchFamily="34" charset="0"/>
                            <a:cs typeface="Verdana" panose="020B0604030504040204" pitchFamily="34" charset="0"/>
                          </a:rPr>
                          <m:t>5</m:t>
                        </m:r>
                      </m:den>
                    </m:f>
                  </m:oMath>
                </a14:m>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 Each student’s steps are shown.</a:t>
                </a: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914400" y="1321073"/>
                <a:ext cx="10515600" cy="1042080"/>
              </a:xfrm>
              <a:prstGeom prst="rect">
                <a:avLst/>
              </a:prstGeom>
              <a:blipFill>
                <a:blip r:embed="rId4"/>
                <a:stretch>
                  <a:fillRect l="-870" r="-1217" b="-1228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9" name="image3.png" descr="Icon&#10;&#10;Description automatically generated">
            <a:extLst>
              <a:ext uri="{FF2B5EF4-FFF2-40B4-BE49-F238E27FC236}">
                <a16:creationId xmlns:a16="http://schemas.microsoft.com/office/drawing/2014/main" id="{FF503A13-CA25-1049-920F-BA51FE457FB5}"/>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11480" y="137765"/>
            <a:ext cx="747430" cy="747430"/>
          </a:xfrm>
          <a:prstGeom prst="rect">
            <a:avLst/>
          </a:prstGeom>
          <a:ln/>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2F4B0F49-A2CF-B648-BCDD-DC639637D64C}"/>
                  </a:ext>
                </a:extLst>
              </p:cNvPr>
              <p:cNvGraphicFramePr>
                <a:graphicFrameLocks noGrp="1"/>
              </p:cNvGraphicFramePr>
              <p:nvPr>
                <p:extLst>
                  <p:ext uri="{D42A27DB-BD31-4B8C-83A1-F6EECF244321}">
                    <p14:modId xmlns:p14="http://schemas.microsoft.com/office/powerpoint/2010/main" val="1278759260"/>
                  </p:ext>
                </p:extLst>
              </p:nvPr>
            </p:nvGraphicFramePr>
            <p:xfrm>
              <a:off x="2652636" y="2458401"/>
              <a:ext cx="6236335" cy="4047236"/>
            </p:xfrm>
            <a:graphic>
              <a:graphicData uri="http://schemas.openxmlformats.org/drawingml/2006/table">
                <a:tbl>
                  <a:tblPr firstRow="1" firstCol="1" bandRow="1"/>
                  <a:tblGrid>
                    <a:gridCol w="3090545">
                      <a:extLst>
                        <a:ext uri="{9D8B030D-6E8A-4147-A177-3AD203B41FA5}">
                          <a16:colId xmlns:a16="http://schemas.microsoft.com/office/drawing/2014/main" val="3786214898"/>
                        </a:ext>
                      </a:extLst>
                    </a:gridCol>
                    <a:gridCol w="3145790">
                      <a:extLst>
                        <a:ext uri="{9D8B030D-6E8A-4147-A177-3AD203B41FA5}">
                          <a16:colId xmlns:a16="http://schemas.microsoft.com/office/drawing/2014/main" val="3689059233"/>
                        </a:ext>
                      </a:extLst>
                    </a:gridCol>
                  </a:tblGrid>
                  <a:tr h="285115">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Melanie</a:t>
                          </a:r>
                          <a:endParaRPr lang="x-none" sz="22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solidFill>
                                <a:srgbClr val="000000"/>
                              </a:solidFill>
                              <a:effectLst/>
                              <a:latin typeface="Verdana" panose="020B0604030504040204" pitchFamily="34" charset="0"/>
                              <a:ea typeface="Verdana" panose="020B0604030504040204" pitchFamily="34" charset="0"/>
                              <a:cs typeface="Verdana" panose="020B0604030504040204" pitchFamily="34" charset="0"/>
                            </a:rPr>
                            <a:t>Adonis</a:t>
                          </a:r>
                          <a:endParaRPr lang="x-none" sz="22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731715859"/>
                      </a:ext>
                    </a:extLst>
                  </a:tr>
                  <a:tr h="457200">
                    <a:tc>
                      <a:txBody>
                        <a:bodyPr/>
                        <a:lstStyle/>
                        <a:p>
                          <a:pPr marL="0" marR="0" algn="ctr">
                            <a:spcBef>
                              <a:spcPts val="1200"/>
                            </a:spcBef>
                            <a:spcAft>
                              <a:spcPts val="1200"/>
                            </a:spcAft>
                          </a:pPr>
                          <a14:m>
                            <m:oMath xmlns:m="http://schemas.openxmlformats.org/officeDocument/2006/math">
                              <m:f>
                                <m:fPr>
                                  <m:ctrlPr>
                                    <a:rPr lang="x-none" sz="22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2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200" i="1">
                                              <a:effectLst/>
                                              <a:latin typeface="Cambria Math" panose="02040503050406030204" pitchFamily="18" charset="0"/>
                                              <a:ea typeface="Verdana" panose="020B0604030504040204" pitchFamily="34" charset="0"/>
                                              <a:cs typeface="Verdana" panose="020B0604030504040204" pitchFamily="34" charset="0"/>
                                            </a:rPr>
                                          </m:ctrlPr>
                                        </m:dPr>
                                        <m:e>
                                          <m:r>
                                            <a:rPr lang="en-US" sz="2200" i="1">
                                              <a:effectLst/>
                                              <a:latin typeface="Cambria Math" panose="02040503050406030204" pitchFamily="18" charset="0"/>
                                              <a:ea typeface="Verdana" panose="020B0604030504040204" pitchFamily="34" charset="0"/>
                                              <a:cs typeface="Verdana" panose="020B0604030504040204" pitchFamily="34" charset="0"/>
                                            </a:rPr>
                                            <m:t>5</m:t>
                                          </m:r>
                                        </m:e>
                                      </m:d>
                                    </m:e>
                                    <m:sup>
                                      <m:r>
                                        <a:rPr lang="en-US" sz="2200" i="1">
                                          <a:effectLst/>
                                          <a:latin typeface="Cambria Math" panose="02040503050406030204" pitchFamily="18" charset="0"/>
                                          <a:ea typeface="Verdana" panose="020B0604030504040204" pitchFamily="34" charset="0"/>
                                          <a:cs typeface="Verdana" panose="020B0604030504040204" pitchFamily="34" charset="0"/>
                                        </a:rPr>
                                        <m:t>−2</m:t>
                                      </m:r>
                                    </m:sup>
                                  </m:sSup>
                                  <m:sSup>
                                    <m:sSupPr>
                                      <m:ctrlPr>
                                        <a:rPr lang="x-none" sz="22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200" i="1">
                                              <a:effectLst/>
                                              <a:latin typeface="Cambria Math" panose="02040503050406030204" pitchFamily="18" charset="0"/>
                                              <a:ea typeface="Verdana" panose="020B0604030504040204" pitchFamily="34" charset="0"/>
                                              <a:cs typeface="Verdana" panose="020B0604030504040204" pitchFamily="34" charset="0"/>
                                            </a:rPr>
                                          </m:ctrlPr>
                                        </m:dPr>
                                        <m:e>
                                          <m:r>
                                            <a:rPr lang="en-US" sz="2200" i="1">
                                              <a:effectLst/>
                                              <a:latin typeface="Cambria Math" panose="02040503050406030204" pitchFamily="18" charset="0"/>
                                              <a:ea typeface="Verdana" panose="020B0604030504040204" pitchFamily="34" charset="0"/>
                                              <a:cs typeface="Verdana" panose="020B0604030504040204" pitchFamily="34" charset="0"/>
                                            </a:rPr>
                                            <m:t>5</m:t>
                                          </m:r>
                                        </m:e>
                                      </m:d>
                                    </m:e>
                                    <m:sup>
                                      <m:r>
                                        <a:rPr lang="en-US" sz="2200" i="1">
                                          <a:effectLst/>
                                          <a:latin typeface="Cambria Math" panose="02040503050406030204" pitchFamily="18" charset="0"/>
                                          <a:ea typeface="Verdana" panose="020B0604030504040204" pitchFamily="34" charset="0"/>
                                          <a:cs typeface="Verdana" panose="020B0604030504040204" pitchFamily="34" charset="0"/>
                                        </a:rPr>
                                        <m:t>5</m:t>
                                      </m:r>
                                    </m:sup>
                                  </m:sSup>
                                </m:num>
                                <m:den>
                                  <m:r>
                                    <a:rPr lang="en-US" sz="2200" i="1">
                                      <a:effectLst/>
                                      <a:latin typeface="Cambria Math" panose="02040503050406030204" pitchFamily="18" charset="0"/>
                                      <a:ea typeface="Verdana" panose="020B0604030504040204" pitchFamily="34" charset="0"/>
                                      <a:cs typeface="Verdana" panose="020B0604030504040204" pitchFamily="34" charset="0"/>
                                    </a:rPr>
                                    <m:t>5</m:t>
                                  </m:r>
                                </m:den>
                              </m:f>
                            </m:oMath>
                          </a14:m>
                          <a:r>
                            <a:rPr lang="en-US" sz="2200" dirty="0">
                              <a:effectLst/>
                              <a:latin typeface="Verdana" pitchFamily="34" charset="0"/>
                              <a:ea typeface="Verdana" pitchFamily="34" charset="0"/>
                              <a:cs typeface="Times New Roman" panose="02020603050405020304" pitchFamily="18" charset="0"/>
                            </a:rPr>
                            <a:t> </a:t>
                          </a:r>
                          <a:endParaRPr lang="x-none" sz="2200">
                            <a:effectLst/>
                            <a:latin typeface="Verdana" pitchFamily="34" charset="0"/>
                            <a:ea typeface="Verdana" pitchFamily="34" charset="0"/>
                            <a:cs typeface="Times New Roman" panose="02020603050405020304" pitchFamily="18" charset="0"/>
                          </a:endParaRPr>
                        </a:p>
                        <a:p>
                          <a:pPr marL="0" marR="0" algn="ctr">
                            <a:spcBef>
                              <a:spcPts val="0"/>
                            </a:spcBef>
                            <a:spcAft>
                              <a:spcPts val="3000"/>
                            </a:spcAft>
                          </a:pP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2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2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5</m:t>
                                      </m:r>
                                    </m:e>
                                    <m:sup>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3</m:t>
                                      </m:r>
                                    </m:sup>
                                  </m:sSup>
                                </m:num>
                                <m:den>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5</m:t>
                                  </m:r>
                                </m:den>
                              </m:f>
                            </m:oMath>
                          </a14:m>
                          <a:r>
                            <a:rPr lang="en-US" sz="2200" dirty="0">
                              <a:effectLst/>
                              <a:latin typeface="Verdana" pitchFamily="34" charset="0"/>
                              <a:ea typeface="Verdana" pitchFamily="34" charset="0"/>
                              <a:cs typeface="Times New Roman" panose="02020603050405020304" pitchFamily="18" charset="0"/>
                            </a:rPr>
                            <a:t> </a:t>
                          </a:r>
                          <a:endParaRPr lang="x-none" sz="2200">
                            <a:effectLst/>
                            <a:latin typeface="Verdana" pitchFamily="34" charset="0"/>
                            <a:ea typeface="Verdana" pitchFamily="34" charset="0"/>
                            <a:cs typeface="Times New Roman" panose="02020603050405020304" pitchFamily="18" charset="0"/>
                          </a:endParaRPr>
                        </a:p>
                        <a:p>
                          <a:pPr marL="0" marR="0" algn="ctr">
                            <a:spcBef>
                              <a:spcPts val="0"/>
                            </a:spcBef>
                            <a:spcAft>
                              <a:spcPts val="2400"/>
                            </a:spcAft>
                          </a:pPr>
                          <a14:m>
                            <m:oMathPara xmlns:m="http://schemas.openxmlformats.org/officeDocument/2006/math">
                              <m:oMathParaPr>
                                <m:jc m:val="centerGroup"/>
                              </m:oMathParaPr>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2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5</m:t>
                                    </m:r>
                                  </m:e>
                                  <m:sup>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20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14:m>
                            <m:oMathPara xmlns:m="http://schemas.openxmlformats.org/officeDocument/2006/math">
                              <m:oMathParaPr>
                                <m:jc m:val="centerGroup"/>
                              </m:oMathParaPr>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=25</m:t>
                                </m:r>
                              </m:oMath>
                            </m:oMathPara>
                          </a14:m>
                          <a:endParaRPr lang="x-none" sz="22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200"/>
                            </a:spcBef>
                            <a:spcAft>
                              <a:spcPts val="1200"/>
                            </a:spcAft>
                          </a:pPr>
                          <a14:m>
                            <m:oMath xmlns:m="http://schemas.openxmlformats.org/officeDocument/2006/math">
                              <m:f>
                                <m:fPr>
                                  <m:ctrlPr>
                                    <a:rPr lang="x-none" sz="2200" i="1">
                                      <a:effectLst/>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200" i="1">
                                          <a:effectLst/>
                                          <a:latin typeface="Cambria Math" panose="02040503050406030204" pitchFamily="18" charset="0"/>
                                          <a:ea typeface="Verdana" panose="020B0604030504040204" pitchFamily="34" charset="0"/>
                                          <a:cs typeface="Verdana" panose="020B0604030504040204" pitchFamily="34" charset="0"/>
                                        </a:rPr>
                                      </m:ctrlPr>
                                    </m:sSupPr>
                                    <m:e>
                                      <m:r>
                                        <a:rPr lang="en-US" sz="2200" i="1">
                                          <a:effectLst/>
                                          <a:latin typeface="Cambria Math" panose="02040503050406030204" pitchFamily="18" charset="0"/>
                                          <a:ea typeface="Verdana" panose="020B0604030504040204" pitchFamily="34" charset="0"/>
                                          <a:cs typeface="Verdana" panose="020B0604030504040204" pitchFamily="34" charset="0"/>
                                        </a:rPr>
                                        <m:t>(5)</m:t>
                                      </m:r>
                                    </m:e>
                                    <m:sup>
                                      <m:r>
                                        <a:rPr lang="en-US" sz="2200" i="1">
                                          <a:effectLst/>
                                          <a:latin typeface="Cambria Math" panose="02040503050406030204" pitchFamily="18" charset="0"/>
                                          <a:ea typeface="Verdana" panose="020B0604030504040204" pitchFamily="34" charset="0"/>
                                          <a:cs typeface="Verdana" panose="020B0604030504040204" pitchFamily="34" charset="0"/>
                                        </a:rPr>
                                        <m:t>−2</m:t>
                                      </m:r>
                                    </m:sup>
                                  </m:sSup>
                                  <m:sSup>
                                    <m:sSupPr>
                                      <m:ctrlPr>
                                        <a:rPr lang="x-none" sz="2200" i="1">
                                          <a:effectLst/>
                                          <a:latin typeface="Cambria Math" panose="02040503050406030204" pitchFamily="18" charset="0"/>
                                          <a:ea typeface="Verdana" panose="020B0604030504040204" pitchFamily="34" charset="0"/>
                                          <a:cs typeface="Verdana" panose="020B0604030504040204" pitchFamily="34" charset="0"/>
                                        </a:rPr>
                                      </m:ctrlPr>
                                    </m:sSupPr>
                                    <m:e>
                                      <m:r>
                                        <a:rPr lang="en-US" sz="2200" i="1">
                                          <a:effectLst/>
                                          <a:latin typeface="Cambria Math" panose="02040503050406030204" pitchFamily="18" charset="0"/>
                                          <a:ea typeface="Verdana" panose="020B0604030504040204" pitchFamily="34" charset="0"/>
                                          <a:cs typeface="Verdana" panose="020B0604030504040204" pitchFamily="34" charset="0"/>
                                        </a:rPr>
                                        <m:t>(5)</m:t>
                                      </m:r>
                                    </m:e>
                                    <m:sup>
                                      <m:r>
                                        <a:rPr lang="en-US" sz="2200" i="1">
                                          <a:effectLst/>
                                          <a:latin typeface="Cambria Math" panose="02040503050406030204" pitchFamily="18" charset="0"/>
                                          <a:ea typeface="Verdana" panose="020B0604030504040204" pitchFamily="34" charset="0"/>
                                          <a:cs typeface="Verdana" panose="020B0604030504040204" pitchFamily="34" charset="0"/>
                                        </a:rPr>
                                        <m:t>5</m:t>
                                      </m:r>
                                    </m:sup>
                                  </m:sSup>
                                </m:num>
                                <m:den>
                                  <m:r>
                                    <a:rPr lang="en-US" sz="2200" i="1">
                                      <a:effectLst/>
                                      <a:latin typeface="Cambria Math" panose="02040503050406030204" pitchFamily="18" charset="0"/>
                                      <a:ea typeface="Verdana" panose="020B0604030504040204" pitchFamily="34" charset="0"/>
                                      <a:cs typeface="Verdana" panose="020B0604030504040204" pitchFamily="34" charset="0"/>
                                    </a:rPr>
                                    <m:t>5</m:t>
                                  </m:r>
                                </m:den>
                              </m:f>
                            </m:oMath>
                          </a14:m>
                          <a:r>
                            <a:rPr lang="en-US" sz="2200" dirty="0">
                              <a:effectLst/>
                              <a:latin typeface="Verdana" panose="020B0604030504040204" pitchFamily="34" charset="0"/>
                              <a:ea typeface="Verdana" panose="020B0604030504040204" pitchFamily="34" charset="0"/>
                              <a:cs typeface="Verdana" panose="020B0604030504040204" pitchFamily="34" charset="0"/>
                            </a:rPr>
                            <a:t> </a:t>
                          </a:r>
                          <a:endParaRPr lang="x-none" sz="22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200" i="1">
                                      <a:effectLst/>
                                      <a:latin typeface="Cambria Math" panose="02040503050406030204" pitchFamily="18" charset="0"/>
                                      <a:ea typeface="Times New Roman" panose="02020603050405020304" pitchFamily="18" charset="0"/>
                                      <a:cs typeface="Times New Roman" panose="02020603050405020304" pitchFamily="18" charset="0"/>
                                    </a:rPr>
                                  </m:ctrlPr>
                                </m:fPr>
                                <m:num>
                                  <m:f>
                                    <m:fPr>
                                      <m:ctrlPr>
                                        <a:rPr lang="x-none" sz="2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200" i="1">
                                              <a:effectLst/>
                                              <a:latin typeface="Cambria Math" panose="02040503050406030204" pitchFamily="18" charset="0"/>
                                              <a:ea typeface="Verdana" panose="020B0604030504040204" pitchFamily="34" charset="0"/>
                                              <a:cs typeface="Verdana" panose="020B0604030504040204" pitchFamily="34" charset="0"/>
                                            </a:rPr>
                                          </m:ctrlPr>
                                        </m:sSupPr>
                                        <m:e>
                                          <m:r>
                                            <a:rPr lang="en-US" sz="2200" i="1">
                                              <a:effectLst/>
                                              <a:latin typeface="Cambria Math" panose="02040503050406030204" pitchFamily="18" charset="0"/>
                                              <a:ea typeface="Verdana" panose="020B0604030504040204" pitchFamily="34" charset="0"/>
                                              <a:cs typeface="Verdana" panose="020B0604030504040204" pitchFamily="34" charset="0"/>
                                            </a:rPr>
                                            <m:t>5</m:t>
                                          </m:r>
                                        </m:e>
                                        <m:sup>
                                          <m:r>
                                            <a:rPr lang="en-US" sz="2200" i="1">
                                              <a:effectLst/>
                                              <a:latin typeface="Cambria Math" panose="02040503050406030204" pitchFamily="18" charset="0"/>
                                              <a:ea typeface="Verdana" panose="020B0604030504040204" pitchFamily="34" charset="0"/>
                                              <a:cs typeface="Verdana" panose="020B0604030504040204" pitchFamily="34" charset="0"/>
                                            </a:rPr>
                                            <m:t>2</m:t>
                                          </m:r>
                                        </m:sup>
                                      </m:sSup>
                                    </m:den>
                                  </m:f>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 ∙ </m:t>
                                  </m:r>
                                  <m:sSup>
                                    <m:sSupPr>
                                      <m:ctrlPr>
                                        <a:rPr lang="x-none" sz="2200" i="1">
                                          <a:effectLst/>
                                          <a:latin typeface="Cambria Math" panose="02040503050406030204" pitchFamily="18" charset="0"/>
                                          <a:ea typeface="Verdana" panose="020B0604030504040204" pitchFamily="34" charset="0"/>
                                          <a:cs typeface="Verdana" panose="020B0604030504040204" pitchFamily="34" charset="0"/>
                                        </a:rPr>
                                      </m:ctrlPr>
                                    </m:sSupPr>
                                    <m:e>
                                      <m:r>
                                        <a:rPr lang="en-US" sz="2200" i="1">
                                          <a:effectLst/>
                                          <a:latin typeface="Cambria Math" panose="02040503050406030204" pitchFamily="18" charset="0"/>
                                          <a:ea typeface="Verdana" panose="020B0604030504040204" pitchFamily="34" charset="0"/>
                                          <a:cs typeface="Verdana" panose="020B0604030504040204" pitchFamily="34" charset="0"/>
                                        </a:rPr>
                                        <m:t>(5)</m:t>
                                      </m:r>
                                    </m:e>
                                    <m:sup>
                                      <m:r>
                                        <a:rPr lang="en-US" sz="2200" i="1">
                                          <a:effectLst/>
                                          <a:latin typeface="Cambria Math" panose="02040503050406030204" pitchFamily="18" charset="0"/>
                                          <a:ea typeface="Verdana" panose="020B0604030504040204" pitchFamily="34" charset="0"/>
                                          <a:cs typeface="Verdana" panose="020B0604030504040204" pitchFamily="34" charset="0"/>
                                        </a:rPr>
                                        <m:t>5</m:t>
                                      </m:r>
                                    </m:sup>
                                  </m:sSup>
                                </m:num>
                                <m:den>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5</m:t>
                                  </m:r>
                                </m:den>
                              </m:f>
                            </m:oMath>
                          </a14:m>
                          <a:r>
                            <a:rPr lang="en-US" sz="2200" dirty="0">
                              <a:effectLst/>
                              <a:latin typeface="Verdana" pitchFamily="34" charset="0"/>
                              <a:ea typeface="Verdana" pitchFamily="34" charset="0"/>
                              <a:cs typeface="Times New Roman" panose="02020603050405020304" pitchFamily="18" charset="0"/>
                            </a:rPr>
                            <a:t>  </a:t>
                          </a:r>
                          <a:endParaRPr lang="x-none" sz="22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200" i="1">
                                      <a:effectLst/>
                                      <a:latin typeface="Cambria Math" panose="02040503050406030204" pitchFamily="18" charset="0"/>
                                      <a:ea typeface="Times New Roman" panose="02020603050405020304" pitchFamily="18" charset="0"/>
                                      <a:cs typeface="Times New Roman" panose="02020603050405020304" pitchFamily="18" charset="0"/>
                                    </a:rPr>
                                  </m:ctrlPr>
                                </m:fPr>
                                <m:num>
                                  <m:f>
                                    <m:fPr>
                                      <m:ctrlPr>
                                        <a:rPr lang="x-none" sz="2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200" i="1">
                                          <a:effectLst/>
                                          <a:latin typeface="Cambria Math" panose="02040503050406030204" pitchFamily="18" charset="0"/>
                                          <a:ea typeface="Verdana" panose="020B0604030504040204" pitchFamily="34" charset="0"/>
                                          <a:cs typeface="Verdana" panose="020B0604030504040204" pitchFamily="34" charset="0"/>
                                        </a:rPr>
                                        <m:t>25</m:t>
                                      </m:r>
                                    </m:den>
                                  </m:f>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 ∙ 3125</m:t>
                                  </m:r>
                                </m:num>
                                <m:den>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5</m:t>
                                  </m:r>
                                </m:den>
                              </m:f>
                            </m:oMath>
                          </a14:m>
                          <a:r>
                            <a:rPr lang="en-US" sz="2200" dirty="0">
                              <a:effectLst/>
                              <a:latin typeface="Verdana" pitchFamily="34" charset="0"/>
                              <a:ea typeface="Verdana" pitchFamily="34" charset="0"/>
                              <a:cs typeface="Times New Roman" panose="02020603050405020304" pitchFamily="18" charset="0"/>
                            </a:rPr>
                            <a:t> </a:t>
                          </a:r>
                          <a:endParaRPr lang="x-none" sz="22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14:m>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125</m:t>
                                  </m:r>
                                </m:num>
                                <m:den>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5</m:t>
                                  </m:r>
                                </m:den>
                              </m:f>
                            </m:oMath>
                          </a14:m>
                          <a:r>
                            <a:rPr lang="en-US" sz="2200" dirty="0">
                              <a:effectLst/>
                              <a:latin typeface="Verdana" pitchFamily="34" charset="0"/>
                              <a:ea typeface="Verdana" pitchFamily="34" charset="0"/>
                              <a:cs typeface="Times New Roman" panose="02020603050405020304" pitchFamily="18" charset="0"/>
                            </a:rPr>
                            <a:t>  </a:t>
                          </a:r>
                          <a:endParaRPr lang="x-none" sz="2200" dirty="0">
                            <a:effectLst/>
                            <a:latin typeface="Verdana" pitchFamily="34" charset="0"/>
                            <a:ea typeface="Verdana" pitchFamily="34" charset="0"/>
                            <a:cs typeface="Times New Roman" panose="02020603050405020304" pitchFamily="18" charset="0"/>
                          </a:endParaRPr>
                        </a:p>
                        <a:p>
                          <a:pPr marL="0" marR="0" algn="ctr">
                            <a:spcBef>
                              <a:spcPts val="0"/>
                            </a:spcBef>
                            <a:spcAft>
                              <a:spcPts val="1200"/>
                            </a:spcAft>
                          </a:pPr>
                          <a14:m>
                            <m:oMathPara xmlns:m="http://schemas.openxmlformats.org/officeDocument/2006/math">
                              <m:oMathParaPr>
                                <m:jc m:val="centerGroup"/>
                              </m:oMathParaPr>
                              <m:oMath xmlns:m="http://schemas.openxmlformats.org/officeDocument/2006/math">
                                <m:r>
                                  <a:rPr lang="en-US" sz="2200" i="1">
                                    <a:effectLst/>
                                    <a:latin typeface="Cambria Math" panose="02040503050406030204" pitchFamily="18" charset="0"/>
                                    <a:ea typeface="Times New Roman" panose="02020603050405020304" pitchFamily="18" charset="0"/>
                                    <a:cs typeface="Times New Roman" panose="02020603050405020304" pitchFamily="18" charset="0"/>
                                  </a:rPr>
                                  <m:t>=25</m:t>
                                </m:r>
                              </m:oMath>
                            </m:oMathPara>
                          </a14:m>
                          <a:endParaRPr lang="x-none" sz="22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1521608"/>
                      </a:ext>
                    </a:extLst>
                  </a:tr>
                </a:tbl>
              </a:graphicData>
            </a:graphic>
          </p:graphicFrame>
        </mc:Choice>
        <mc:Fallback>
          <p:graphicFrame>
            <p:nvGraphicFramePr>
              <p:cNvPr id="3" name="Table 2">
                <a:extLst>
                  <a:ext uri="{FF2B5EF4-FFF2-40B4-BE49-F238E27FC236}">
                    <a16:creationId xmlns:a16="http://schemas.microsoft.com/office/drawing/2014/main" id="{2F4B0F49-A2CF-B648-BCDD-DC639637D64C}"/>
                  </a:ext>
                </a:extLst>
              </p:cNvPr>
              <p:cNvGraphicFramePr>
                <a:graphicFrameLocks noGrp="1"/>
              </p:cNvGraphicFramePr>
              <p:nvPr>
                <p:extLst>
                  <p:ext uri="{D42A27DB-BD31-4B8C-83A1-F6EECF244321}">
                    <p14:modId xmlns:p14="http://schemas.microsoft.com/office/powerpoint/2010/main" val="1278759260"/>
                  </p:ext>
                </p:extLst>
              </p:nvPr>
            </p:nvGraphicFramePr>
            <p:xfrm>
              <a:off x="2652636" y="2458401"/>
              <a:ext cx="6236335" cy="4047236"/>
            </p:xfrm>
            <a:graphic>
              <a:graphicData uri="http://schemas.openxmlformats.org/drawingml/2006/table">
                <a:tbl>
                  <a:tblPr firstRow="1" firstCol="1" bandRow="1"/>
                  <a:tblGrid>
                    <a:gridCol w="3090545">
                      <a:extLst>
                        <a:ext uri="{9D8B030D-6E8A-4147-A177-3AD203B41FA5}">
                          <a16:colId xmlns:a16="http://schemas.microsoft.com/office/drawing/2014/main" val="3786214898"/>
                        </a:ext>
                      </a:extLst>
                    </a:gridCol>
                    <a:gridCol w="3145790">
                      <a:extLst>
                        <a:ext uri="{9D8B030D-6E8A-4147-A177-3AD203B41FA5}">
                          <a16:colId xmlns:a16="http://schemas.microsoft.com/office/drawing/2014/main" val="3689059233"/>
                        </a:ext>
                      </a:extLst>
                    </a:gridCol>
                  </a:tblGrid>
                  <a:tr h="518160">
                    <a:tc>
                      <a:txBody>
                        <a:bodyPr/>
                        <a:lstStyle/>
                        <a:p>
                          <a:pPr marL="0" marR="0" algn="ctr">
                            <a:spcBef>
                              <a:spcPts val="0"/>
                            </a:spcBef>
                            <a:spcAft>
                              <a:spcPts val="0"/>
                            </a:spcAft>
                          </a:pPr>
                          <a:r>
                            <a:rPr lang="en-US" sz="2200" b="1" dirty="0">
                              <a:effectLst/>
                              <a:latin typeface="Verdana" panose="020B0604030504040204" pitchFamily="34" charset="0"/>
                              <a:ea typeface="Verdana" panose="020B0604030504040204" pitchFamily="34" charset="0"/>
                              <a:cs typeface="Verdana" panose="020B0604030504040204" pitchFamily="34" charset="0"/>
                            </a:rPr>
                            <a:t>Melanie</a:t>
                          </a:r>
                          <a:endParaRPr lang="x-none" sz="22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solidFill>
                                <a:srgbClr val="000000"/>
                              </a:solidFill>
                              <a:effectLst/>
                              <a:latin typeface="Verdana" panose="020B0604030504040204" pitchFamily="34" charset="0"/>
                              <a:ea typeface="Verdana" panose="020B0604030504040204" pitchFamily="34" charset="0"/>
                              <a:cs typeface="Verdana" panose="020B0604030504040204" pitchFamily="34" charset="0"/>
                            </a:rPr>
                            <a:t>Adonis</a:t>
                          </a:r>
                          <a:endParaRPr lang="x-none" sz="22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731715859"/>
                      </a:ext>
                    </a:extLst>
                  </a:tr>
                  <a:tr h="3529076">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97" t="-14828" r="-102367" b="-345"/>
                          </a:stretch>
                        </a:blipFill>
                      </a:tcPr>
                    </a:tc>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98259" t="-14828" r="-387" b="-345"/>
                          </a:stretch>
                        </a:blipFill>
                      </a:tcPr>
                    </a:tc>
                    <a:extLst>
                      <a:ext uri="{0D108BD9-81ED-4DB2-BD59-A6C34878D82A}">
                        <a16:rowId xmlns:a16="http://schemas.microsoft.com/office/drawing/2014/main" val="2141521608"/>
                      </a:ext>
                    </a:extLst>
                  </a:tr>
                </a:tbl>
              </a:graphicData>
            </a:graphic>
          </p:graphicFrame>
        </mc:Fallback>
      </mc:AlternateContent>
    </p:spTree>
    <p:extLst>
      <p:ext uri="{BB962C8B-B14F-4D97-AF65-F5344CB8AC3E}">
        <p14:creationId xmlns:p14="http://schemas.microsoft.com/office/powerpoint/2010/main" val="86611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140</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889B13CF-7799-4D4C-A21A-ADC21E179E83}"/>
              </a:ext>
            </a:extLst>
          </p:cNvPr>
          <p:cNvSpPr/>
          <p:nvPr/>
        </p:nvSpPr>
        <p:spPr>
          <a:xfrm>
            <a:off x="914400" y="458532"/>
            <a:ext cx="10515600" cy="1200329"/>
          </a:xfrm>
          <a:prstGeom prst="rect">
            <a:avLst/>
          </a:prstGeom>
        </p:spPr>
        <p:txBody>
          <a:bodyPr wrap="square">
            <a:spAutoFit/>
          </a:bodyPr>
          <a:lstStyle/>
          <a:p>
            <a:pPr marL="457200"/>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Melanie’s steps and Adonis’ steps are similar and different from each other. Then, summarize your discussion in the table.</a:t>
            </a:r>
          </a:p>
        </p:txBody>
      </p:sp>
      <p:graphicFrame>
        <p:nvGraphicFramePr>
          <p:cNvPr id="3" name="Table 2">
            <a:extLst>
              <a:ext uri="{FF2B5EF4-FFF2-40B4-BE49-F238E27FC236}">
                <a16:creationId xmlns:a16="http://schemas.microsoft.com/office/drawing/2014/main" id="{2CAC6EA3-AA6D-314A-996F-E6E9B9D6C0FD}"/>
              </a:ext>
            </a:extLst>
          </p:cNvPr>
          <p:cNvGraphicFramePr>
            <a:graphicFrameLocks noGrp="1"/>
          </p:cNvGraphicFramePr>
          <p:nvPr>
            <p:extLst>
              <p:ext uri="{D42A27DB-BD31-4B8C-83A1-F6EECF244321}">
                <p14:modId xmlns:p14="http://schemas.microsoft.com/office/powerpoint/2010/main" val="915893642"/>
              </p:ext>
            </p:extLst>
          </p:nvPr>
        </p:nvGraphicFramePr>
        <p:xfrm>
          <a:off x="2730817" y="1808186"/>
          <a:ext cx="7000400" cy="4693920"/>
        </p:xfrm>
        <a:graphic>
          <a:graphicData uri="http://schemas.openxmlformats.org/drawingml/2006/table">
            <a:tbl>
              <a:tblPr firstRow="1" firstCol="1" bandRow="1"/>
              <a:tblGrid>
                <a:gridCol w="3500200">
                  <a:extLst>
                    <a:ext uri="{9D8B030D-6E8A-4147-A177-3AD203B41FA5}">
                      <a16:colId xmlns:a16="http://schemas.microsoft.com/office/drawing/2014/main" val="3458471963"/>
                    </a:ext>
                  </a:extLst>
                </a:gridCol>
                <a:gridCol w="3500200">
                  <a:extLst>
                    <a:ext uri="{9D8B030D-6E8A-4147-A177-3AD203B41FA5}">
                      <a16:colId xmlns:a16="http://schemas.microsoft.com/office/drawing/2014/main" val="263506543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Similarities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12700" marR="0" indent="-12700" algn="ctr">
                        <a:spcBef>
                          <a:spcPts val="0"/>
                        </a:spcBef>
                        <a:spcAft>
                          <a:spcPts val="0"/>
                        </a:spcAft>
                        <a:tabLs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Differences</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94077741"/>
                  </a:ext>
                </a:extLst>
              </a:tr>
              <a:tr h="420624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8563328"/>
                  </a:ext>
                </a:extLst>
              </a:tr>
            </a:tbl>
          </a:graphicData>
        </a:graphic>
      </p:graphicFrame>
    </p:spTree>
    <p:extLst>
      <p:ext uri="{BB962C8B-B14F-4D97-AF65-F5344CB8AC3E}">
        <p14:creationId xmlns:p14="http://schemas.microsoft.com/office/powerpoint/2010/main" val="168184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9" name="Rectangle 28">
                <a:extLst>
                  <a:ext uri="{FF2B5EF4-FFF2-40B4-BE49-F238E27FC236}">
                    <a16:creationId xmlns:a16="http://schemas.microsoft.com/office/drawing/2014/main" id="{889B13CF-7799-4D4C-A21A-ADC21E179E83}"/>
                  </a:ext>
                </a:extLst>
              </p:cNvPr>
              <p:cNvSpPr/>
              <p:nvPr/>
            </p:nvSpPr>
            <p:spPr>
              <a:xfrm>
                <a:off x="914400" y="458531"/>
                <a:ext cx="10515600" cy="5714578"/>
              </a:xfrm>
              <a:prstGeom prst="rect">
                <a:avLst/>
              </a:prstGeom>
            </p:spPr>
            <p:txBody>
              <a:bodyPr wrap="square">
                <a:spAutoFit/>
              </a:bodyPr>
              <a:lstStyle/>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steps to evaluate the expression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000" i="1">
                                    <a:latin typeface="Cambria Math" panose="02040503050406030204" pitchFamily="18" charset="0"/>
                                    <a:ea typeface="Verdana" panose="020B0604030504040204" pitchFamily="34" charset="0"/>
                                    <a:cs typeface="Verdana" panose="020B0604030504040204" pitchFamily="34" charset="0"/>
                                  </a:rPr>
                                </m:ctrlPr>
                              </m:dPr>
                              <m:e>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s-ES" sz="2000" i="1">
                                        <a:latin typeface="Cambria Math" panose="02040503050406030204" pitchFamily="18" charset="0"/>
                                        <a:ea typeface="Verdana" panose="020B0604030504040204" pitchFamily="34" charset="0"/>
                                        <a:cs typeface="Verdana" panose="020B0604030504040204" pitchFamily="34" charset="0"/>
                                      </a:rPr>
                                      <m:t>6</m:t>
                                    </m:r>
                                  </m:e>
                                  <m:sup>
                                    <m:r>
                                      <a:rPr lang="es-ES" sz="2000" i="1">
                                        <a:latin typeface="Cambria Math" panose="02040503050406030204" pitchFamily="18" charset="0"/>
                                        <a:ea typeface="Verdana" panose="020B0604030504040204" pitchFamily="34" charset="0"/>
                                        <a:cs typeface="Verdana" panose="020B0604030504040204" pitchFamily="34" charset="0"/>
                                      </a:rPr>
                                      <m:t>2</m:t>
                                    </m:r>
                                  </m:sup>
                                </m:sSup>
                              </m:e>
                            </m:d>
                          </m:e>
                          <m:sup>
                            <m:r>
                              <a:rPr lang="es-ES" sz="2000" i="1">
                                <a:latin typeface="Cambria Math" panose="02040503050406030204" pitchFamily="18" charset="0"/>
                                <a:ea typeface="Verdana" panose="020B0604030504040204" pitchFamily="34" charset="0"/>
                                <a:cs typeface="Verdana" panose="020B0604030504040204" pitchFamily="34" charset="0"/>
                              </a:rPr>
                              <m:t>−3</m:t>
                            </m:r>
                          </m:sup>
                        </m:sSup>
                      </m:num>
                      <m:den>
                        <m:sSup>
                          <m:sSupPr>
                            <m:ctrlPr>
                              <a:rPr lang="en-US" sz="2000" i="1">
                                <a:latin typeface="Cambria Math" panose="02040503050406030204" pitchFamily="18" charset="0"/>
                                <a:ea typeface="Verdana" panose="020B0604030504040204" pitchFamily="34" charset="0"/>
                                <a:cs typeface="Verdana" panose="020B0604030504040204" pitchFamily="34" charset="0"/>
                              </a:rPr>
                            </m:ctrlPr>
                          </m:sSupPr>
                          <m:e>
                            <m:r>
                              <a:rPr lang="es-ES" sz="2000" i="1">
                                <a:latin typeface="Cambria Math" panose="02040503050406030204" pitchFamily="18" charset="0"/>
                                <a:ea typeface="Verdana" panose="020B0604030504040204" pitchFamily="34" charset="0"/>
                                <a:cs typeface="Verdana" panose="020B0604030504040204" pitchFamily="34" charset="0"/>
                              </a:rPr>
                              <m:t>6</m:t>
                            </m:r>
                          </m:e>
                          <m:sup>
                            <m:r>
                              <a:rPr lang="es-ES" sz="2000" i="1">
                                <a:latin typeface="Cambria Math" panose="02040503050406030204" pitchFamily="18" charset="0"/>
                                <a:ea typeface="Verdana" panose="020B0604030504040204" pitchFamily="34" charset="0"/>
                                <a:cs typeface="Verdana" panose="020B0604030504040204" pitchFamily="34" charset="0"/>
                              </a:rPr>
                              <m:t>−5</m:t>
                            </m:r>
                          </m:sup>
                        </m:sSup>
                      </m:den>
                    </m:f>
                  </m:oMath>
                </a14:m>
                <a:r>
                  <a:rPr lang="en-US" sz="2000" dirty="0">
                    <a:latin typeface="Verdana" panose="020B0604030504040204" pitchFamily="34" charset="0"/>
                    <a:ea typeface="Verdana" panose="020B0604030504040204" pitchFamily="34" charset="0"/>
                    <a:cs typeface="Verdana" panose="020B0604030504040204" pitchFamily="34" charset="0"/>
                  </a:rPr>
                  <a:t> by completing the description of each step and writing the resulting equivalent expression on the line that follows.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898525"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Apply				     ____________</a:t>
                </a:r>
              </a:p>
              <a:p>
                <a:pPr marL="898525"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8525"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8525"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Apply				     ____________</a:t>
                </a:r>
              </a:p>
              <a:p>
                <a:pPr marL="898525"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8525"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98525"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Evaluate. 			     ____________</a:t>
                </a:r>
              </a:p>
            </p:txBody>
          </p:sp>
        </mc:Choice>
        <mc:Fallback>
          <p:sp>
            <p:nvSpPr>
              <p:cNvPr id="29" name="Rectangle 28">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914400" y="458531"/>
                <a:ext cx="10515600" cy="5714578"/>
              </a:xfrm>
              <a:prstGeom prst="rect">
                <a:avLst/>
              </a:prstGeom>
              <a:blipFill>
                <a:blip r:embed="rId3"/>
                <a:stretch>
                  <a:fillRect l="-638"/>
                </a:stretch>
              </a:blipFill>
            </p:spPr>
            <p:txBody>
              <a:bodyPr/>
              <a:lstStyle/>
              <a:p>
                <a:r>
                  <a:rPr lang="en-US">
                    <a:noFill/>
                  </a:rPr>
                  <a:t> </a:t>
                </a:r>
              </a:p>
            </p:txBody>
          </p:sp>
        </mc:Fallback>
      </mc:AlternateContent>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140</a:t>
            </a:r>
            <a:endParaRPr i="1" dirty="0">
              <a:latin typeface="Calibri"/>
              <a:ea typeface="Calibri"/>
              <a:cs typeface="Calibri"/>
              <a:sym typeface="Calibri"/>
            </a:endParaRPr>
          </a:p>
        </p:txBody>
      </p:sp>
      <p:grpSp>
        <p:nvGrpSpPr>
          <p:cNvPr id="7" name="Group 6">
            <a:extLst>
              <a:ext uri="{FF2B5EF4-FFF2-40B4-BE49-F238E27FC236}">
                <a16:creationId xmlns:a16="http://schemas.microsoft.com/office/drawing/2014/main" id="{689F8597-AA15-2D46-A7D6-90809B63906A}"/>
              </a:ext>
            </a:extLst>
          </p:cNvPr>
          <p:cNvGrpSpPr/>
          <p:nvPr/>
        </p:nvGrpSpPr>
        <p:grpSpPr>
          <a:xfrm>
            <a:off x="2042963" y="470007"/>
            <a:ext cx="7417585" cy="1345027"/>
            <a:chOff x="1781165" y="3136600"/>
            <a:chExt cx="7417585" cy="1345219"/>
          </a:xfrm>
        </p:grpSpPr>
        <p:grpSp>
          <p:nvGrpSpPr>
            <p:cNvPr id="8" name="Group 7">
              <a:extLst>
                <a:ext uri="{FF2B5EF4-FFF2-40B4-BE49-F238E27FC236}">
                  <a16:creationId xmlns:a16="http://schemas.microsoft.com/office/drawing/2014/main" id="{08E64CBE-492E-0E40-818D-4F7483AE71C4}"/>
                </a:ext>
              </a:extLst>
            </p:cNvPr>
            <p:cNvGrpSpPr/>
            <p:nvPr/>
          </p:nvGrpSpPr>
          <p:grpSpPr>
            <a:xfrm>
              <a:off x="1781165" y="3136600"/>
              <a:ext cx="7417585" cy="1345219"/>
              <a:chOff x="1781165" y="3136600"/>
              <a:chExt cx="7417585" cy="1345219"/>
            </a:xfrm>
          </p:grpSpPr>
          <p:sp>
            <p:nvSpPr>
              <p:cNvPr id="9" name="Rectangle 8">
                <a:extLst>
                  <a:ext uri="{FF2B5EF4-FFF2-40B4-BE49-F238E27FC236}">
                    <a16:creationId xmlns:a16="http://schemas.microsoft.com/office/drawing/2014/main" id="{F9908AD0-645C-1346-A79E-A1E445E856CF}"/>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20D23152-048B-124E-AFBA-26A8D4730DE5}"/>
                  </a:ext>
                </a:extLst>
              </p:cNvPr>
              <p:cNvGrpSpPr/>
              <p:nvPr/>
            </p:nvGrpSpPr>
            <p:grpSpPr>
              <a:xfrm>
                <a:off x="1781165" y="3136600"/>
                <a:ext cx="7417585" cy="1345219"/>
                <a:chOff x="1781165" y="3136600"/>
                <a:chExt cx="7417585" cy="1345219"/>
              </a:xfrm>
            </p:grpSpPr>
            <p:sp>
              <p:nvSpPr>
                <p:cNvPr id="11" name="Rectangle 10">
                  <a:extLst>
                    <a:ext uri="{FF2B5EF4-FFF2-40B4-BE49-F238E27FC236}">
                      <a16:creationId xmlns:a16="http://schemas.microsoft.com/office/drawing/2014/main" id="{298CA7A6-9ECF-7D45-B5DE-C0DC32F35D05}"/>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BB1BCC85-1CAE-2841-84A4-B8E9C2A70160}"/>
                    </a:ext>
                  </a:extLst>
                </p:cNvPr>
                <p:cNvGrpSpPr/>
                <p:nvPr/>
              </p:nvGrpSpPr>
              <p:grpSpPr>
                <a:xfrm>
                  <a:off x="1781165" y="3136600"/>
                  <a:ext cx="7417585" cy="1345219"/>
                  <a:chOff x="1781165" y="3136600"/>
                  <a:chExt cx="7417585" cy="1345219"/>
                </a:xfrm>
              </p:grpSpPr>
              <p:sp>
                <p:nvSpPr>
                  <p:cNvPr id="14" name="Rectangle 13">
                    <a:extLst>
                      <a:ext uri="{FF2B5EF4-FFF2-40B4-BE49-F238E27FC236}">
                        <a16:creationId xmlns:a16="http://schemas.microsoft.com/office/drawing/2014/main" id="{495BB77C-4731-1146-AD9A-B4F36B116F58}"/>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73664511-24BE-1644-82FD-8979EF68EBFD}"/>
                      </a:ext>
                    </a:extLst>
                  </p:cNvPr>
                  <p:cNvGrpSpPr/>
                  <p:nvPr/>
                </p:nvGrpSpPr>
                <p:grpSpPr>
                  <a:xfrm>
                    <a:off x="1781165" y="3136600"/>
                    <a:ext cx="7417585" cy="1345219"/>
                    <a:chOff x="1781165" y="3136600"/>
                    <a:chExt cx="7417585" cy="1345219"/>
                  </a:xfrm>
                </p:grpSpPr>
                <p:sp>
                  <p:nvSpPr>
                    <p:cNvPr id="16" name="Rectangle 15">
                      <a:extLst>
                        <a:ext uri="{FF2B5EF4-FFF2-40B4-BE49-F238E27FC236}">
                          <a16:creationId xmlns:a16="http://schemas.microsoft.com/office/drawing/2014/main" id="{38AB066D-4973-B743-BDCD-F75B80D516E9}"/>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3C195DFF-A094-1441-AF56-D14F20F3CED4}"/>
                        </a:ext>
                      </a:extLst>
                    </p:cNvPr>
                    <p:cNvGrpSpPr/>
                    <p:nvPr/>
                  </p:nvGrpSpPr>
                  <p:grpSpPr>
                    <a:xfrm>
                      <a:off x="1781165" y="3136600"/>
                      <a:ext cx="7417585" cy="1345219"/>
                      <a:chOff x="1781165" y="3136600"/>
                      <a:chExt cx="7417585" cy="1345219"/>
                    </a:xfrm>
                  </p:grpSpPr>
                  <p:sp>
                    <p:nvSpPr>
                      <p:cNvPr id="18" name="Rectangle 17">
                        <a:extLst>
                          <a:ext uri="{FF2B5EF4-FFF2-40B4-BE49-F238E27FC236}">
                            <a16:creationId xmlns:a16="http://schemas.microsoft.com/office/drawing/2014/main" id="{F56D0B7B-6EB2-D346-9696-799445F616A1}"/>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388D1F6E-3843-9A40-A9F3-EB7F535361DA}"/>
                          </a:ext>
                        </a:extLst>
                      </p:cNvPr>
                      <p:cNvGrpSpPr/>
                      <p:nvPr/>
                    </p:nvGrpSpPr>
                    <p:grpSpPr>
                      <a:xfrm>
                        <a:off x="1781165" y="3136600"/>
                        <a:ext cx="7417585" cy="1345219"/>
                        <a:chOff x="1781165" y="3136600"/>
                        <a:chExt cx="7417585" cy="1345219"/>
                      </a:xfrm>
                    </p:grpSpPr>
                    <p:sp>
                      <p:nvSpPr>
                        <p:cNvPr id="20" name="Rectangle 19">
                          <a:extLst>
                            <a:ext uri="{FF2B5EF4-FFF2-40B4-BE49-F238E27FC236}">
                              <a16:creationId xmlns:a16="http://schemas.microsoft.com/office/drawing/2014/main" id="{B5FD193B-3AC9-554B-938B-6D3C34C9CE2E}"/>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21" name="Group 20">
                          <a:extLst>
                            <a:ext uri="{FF2B5EF4-FFF2-40B4-BE49-F238E27FC236}">
                              <a16:creationId xmlns:a16="http://schemas.microsoft.com/office/drawing/2014/main" id="{0ED3EF17-7315-DF4A-8DA1-CE4F7C117FD8}"/>
                            </a:ext>
                          </a:extLst>
                        </p:cNvPr>
                        <p:cNvGrpSpPr/>
                        <p:nvPr/>
                      </p:nvGrpSpPr>
                      <p:grpSpPr>
                        <a:xfrm>
                          <a:off x="1781165" y="3136600"/>
                          <a:ext cx="7417585" cy="1345219"/>
                          <a:chOff x="-250135" y="-139135"/>
                          <a:chExt cx="7417585" cy="1345219"/>
                        </a:xfrm>
                      </p:grpSpPr>
                      <p:sp>
                        <p:nvSpPr>
                          <p:cNvPr id="22" name="Rectangle 21">
                            <a:extLst>
                              <a:ext uri="{FF2B5EF4-FFF2-40B4-BE49-F238E27FC236}">
                                <a16:creationId xmlns:a16="http://schemas.microsoft.com/office/drawing/2014/main" id="{7B790765-91D9-4540-A7D2-CB86DB0EEAE0}"/>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23" name="Group 22">
                            <a:extLst>
                              <a:ext uri="{FF2B5EF4-FFF2-40B4-BE49-F238E27FC236}">
                                <a16:creationId xmlns:a16="http://schemas.microsoft.com/office/drawing/2014/main" id="{69DB5888-7714-B543-B672-47401A06B7AB}"/>
                              </a:ext>
                            </a:extLst>
                          </p:cNvPr>
                          <p:cNvGrpSpPr/>
                          <p:nvPr/>
                        </p:nvGrpSpPr>
                        <p:grpSpPr>
                          <a:xfrm>
                            <a:off x="-250135" y="-139135"/>
                            <a:ext cx="7417585" cy="1345219"/>
                            <a:chOff x="-250135" y="-139135"/>
                            <a:chExt cx="7417585" cy="1345219"/>
                          </a:xfrm>
                        </p:grpSpPr>
                        <p:sp>
                          <p:nvSpPr>
                            <p:cNvPr id="25" name="Rectangle 24">
                              <a:extLst>
                                <a:ext uri="{FF2B5EF4-FFF2-40B4-BE49-F238E27FC236}">
                                  <a16:creationId xmlns:a16="http://schemas.microsoft.com/office/drawing/2014/main" id="{439EB7BB-794B-1243-90D3-80565C6B97A2}"/>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6" name="Rectangle 25">
                              <a:extLst>
                                <a:ext uri="{FF2B5EF4-FFF2-40B4-BE49-F238E27FC236}">
                                  <a16:creationId xmlns:a16="http://schemas.microsoft.com/office/drawing/2014/main" id="{017474E8-1F60-BB44-A32B-C70F7466CD60}"/>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7" name="Rounded Rectangle 26">
                              <a:extLst>
                                <a:ext uri="{FF2B5EF4-FFF2-40B4-BE49-F238E27FC236}">
                                  <a16:creationId xmlns:a16="http://schemas.microsoft.com/office/drawing/2014/main" id="{C8B321B1-11C7-174E-81E7-A76EE3AB1DEF}"/>
                                </a:ext>
                              </a:extLst>
                            </p:cNvPr>
                            <p:cNvSpPr/>
                            <p:nvPr/>
                          </p:nvSpPr>
                          <p:spPr>
                            <a:xfrm>
                              <a:off x="-250135" y="-139135"/>
                              <a:ext cx="7417585" cy="1345219"/>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91440" rIns="91425" bIns="0" anchor="ctr" anchorCtr="0">
                              <a:spAutoFit/>
                            </a:bodyPr>
                            <a:lstStyle/>
                            <a:p>
                              <a:pPr marL="739775">
                                <a:spcAft>
                                  <a:spcPts val="1200"/>
                                </a:spcAft>
                              </a:pPr>
                              <a:r>
                                <a:rPr lang="en-US" sz="2000" dirty="0">
                                  <a:solidFill>
                                    <a:srgbClr val="256099"/>
                                  </a:solidFill>
                                  <a:latin typeface="Verdana" panose="020B0604030504040204" pitchFamily="34" charset="0"/>
                                  <a:ea typeface="Times New Roman" panose="02020603050405020304" pitchFamily="18" charset="0"/>
                                  <a:cs typeface="Times New Roman" panose="02020603050405020304" pitchFamily="18" charset="0"/>
                                </a:rPr>
                                <a:t>When evaluating exponential expressions, it is helpful to apply the laws of exponents before evaluating.</a:t>
                              </a:r>
                              <a:endParaRPr lang="x-none" sz="2000" dirty="0">
                                <a:latin typeface="Cambria" panose="02040503050406030204" pitchFamily="18" charset="0"/>
                                <a:ea typeface="Times New Roman" panose="02020603050405020304" pitchFamily="18" charset="0"/>
                                <a:cs typeface="Times New Roman" panose="02020603050405020304" pitchFamily="18" charset="0"/>
                              </a:endParaRPr>
                            </a:p>
                          </p:txBody>
                        </p:sp>
                      </p:grpSp>
                      <p:pic>
                        <p:nvPicPr>
                          <p:cNvPr id="24" name="Shape 40" descr="Icon&#10;&#10;Description automatically generated">
                            <a:extLst>
                              <a:ext uri="{FF2B5EF4-FFF2-40B4-BE49-F238E27FC236}">
                                <a16:creationId xmlns:a16="http://schemas.microsoft.com/office/drawing/2014/main" id="{F8B904FA-2802-EB48-934E-C7A05FA40CD7}"/>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73545" y="78156"/>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grpSp>
      <p:pic>
        <p:nvPicPr>
          <p:cNvPr id="5" name="Picture 4" descr="Shape&#10;&#10;Description automatically generated">
            <a:extLst>
              <a:ext uri="{FF2B5EF4-FFF2-40B4-BE49-F238E27FC236}">
                <a16:creationId xmlns:a16="http://schemas.microsoft.com/office/drawing/2014/main" id="{D4CCCE42-08C7-9D4F-B793-CBFCD9C869A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721998" y="3595625"/>
            <a:ext cx="3101009" cy="711014"/>
          </a:xfrm>
          <a:prstGeom prst="rect">
            <a:avLst/>
          </a:prstGeom>
        </p:spPr>
      </p:pic>
      <p:pic>
        <p:nvPicPr>
          <p:cNvPr id="28" name="Picture 27" descr="Shape&#10;&#10;Description automatically generated">
            <a:extLst>
              <a:ext uri="{FF2B5EF4-FFF2-40B4-BE49-F238E27FC236}">
                <a16:creationId xmlns:a16="http://schemas.microsoft.com/office/drawing/2014/main" id="{29293EDD-7BE3-7440-A349-B452AEE96D6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732335" y="4556286"/>
            <a:ext cx="3101009" cy="711305"/>
          </a:xfrm>
          <a:prstGeom prst="rect">
            <a:avLst/>
          </a:prstGeom>
        </p:spPr>
      </p:pic>
    </p:spTree>
    <p:extLst>
      <p:ext uri="{BB962C8B-B14F-4D97-AF65-F5344CB8AC3E}">
        <p14:creationId xmlns:p14="http://schemas.microsoft.com/office/powerpoint/2010/main" val="472378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027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89B13CF-7799-4D4C-A21A-ADC21E179E83}"/>
                  </a:ext>
                </a:extLst>
              </p:cNvPr>
              <p:cNvSpPr/>
              <p:nvPr/>
            </p:nvSpPr>
            <p:spPr>
              <a:xfrm>
                <a:off x="914400" y="430231"/>
                <a:ext cx="10515600" cy="3190361"/>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Consider the expression </a:t>
                </a:r>
                <a14:m>
                  <m:oMath xmlns:m="http://schemas.openxmlformats.org/officeDocument/2006/math">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4</m:t>
                                </m:r>
                              </m:num>
                              <m:den>
                                <m:r>
                                  <a:rPr lang="es-ES" sz="2400" i="1">
                                    <a:latin typeface="Cambria Math" panose="02040503050406030204" pitchFamily="18" charset="0"/>
                                    <a:ea typeface="Verdana" panose="020B0604030504040204" pitchFamily="34" charset="0"/>
                                    <a:cs typeface="Verdana" panose="020B0604030504040204" pitchFamily="34" charset="0"/>
                                  </a:rPr>
                                  <m:t>5</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s-E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4</m:t>
                            </m:r>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1225" indent="-4365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which laws of exponents could be used to evaluate to the expression.</a:t>
                </a:r>
              </a:p>
              <a:p>
                <a:pPr marL="911225" indent="-4365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1225" indent="-4365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Evaluate </a:t>
                </a:r>
                <a14:m>
                  <m:oMath xmlns:m="http://schemas.openxmlformats.org/officeDocument/2006/math">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4</m:t>
                                </m:r>
                              </m:num>
                              <m:den>
                                <m:r>
                                  <a:rPr lang="es-ES" sz="2400" i="1">
                                    <a:latin typeface="Cambria Math" panose="02040503050406030204" pitchFamily="18" charset="0"/>
                                    <a:ea typeface="Verdana" panose="020B0604030504040204" pitchFamily="34" charset="0"/>
                                    <a:cs typeface="Verdana" panose="020B0604030504040204" pitchFamily="34" charset="0"/>
                                  </a:rPr>
                                  <m:t>5</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s-E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4</m:t>
                            </m:r>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914400" y="430231"/>
                <a:ext cx="10515600" cy="3190361"/>
              </a:xfrm>
              <a:prstGeom prst="rect">
                <a:avLst/>
              </a:prstGeom>
              <a:blipFill>
                <a:blip r:embed="rId4"/>
                <a:stretch>
                  <a:fillRect l="-965"/>
                </a:stretch>
              </a:blipFill>
            </p:spPr>
            <p:txBody>
              <a:bodyPr/>
              <a:lstStyle/>
              <a:p>
                <a:r>
                  <a:rPr lang="en-US">
                    <a:noFill/>
                  </a:rPr>
                  <a:t> </a:t>
                </a:r>
              </a:p>
            </p:txBody>
          </p:sp>
        </mc:Fallback>
      </mc:AlternateContent>
    </p:spTree>
    <p:extLst>
      <p:ext uri="{BB962C8B-B14F-4D97-AF65-F5344CB8AC3E}">
        <p14:creationId xmlns:p14="http://schemas.microsoft.com/office/powerpoint/2010/main" val="3063027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331994"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141</a:t>
            </a:r>
            <a:endParaRPr i="1" dirty="0">
              <a:latin typeface="Calibri"/>
              <a:ea typeface="Calibri"/>
              <a:cs typeface="Calibri"/>
              <a:sym typeface="Calibri"/>
            </a:endParaRPr>
          </a:p>
        </p:txBody>
      </p:sp>
      <p:pic>
        <p:nvPicPr>
          <p:cNvPr id="9" name="image4.png" descr="Icon&#10;&#10;Description automatically generated">
            <a:extLst>
              <a:ext uri="{FF2B5EF4-FFF2-40B4-BE49-F238E27FC236}">
                <a16:creationId xmlns:a16="http://schemas.microsoft.com/office/drawing/2014/main" id="{96B47BBA-A3A6-0547-A664-39841553419F}"/>
              </a:ext>
            </a:extLst>
          </p:cNvPr>
          <p:cNvPicPr/>
          <p:nvPr/>
        </p:nvPicPr>
        <p:blipFill>
          <a:blip r:embed="rId4"/>
          <a:srcRect/>
          <a:stretch>
            <a:fillRect/>
          </a:stretch>
        </p:blipFill>
        <p:spPr>
          <a:xfrm>
            <a:off x="3054096" y="2852923"/>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84132"/>
            <a:ext cx="10515600" cy="106569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4.4.3 Try It: Evaluating Expressions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141</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914400" y="1422632"/>
                <a:ext cx="10515600" cy="219534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Evaluate each expression. Show your work in the space provided. Then, check off the exponent laws applied to each expression from the list provided.</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	</a:t>
                </a:r>
                <a14:m>
                  <m:oMath xmlns:m="http://schemas.openxmlformats.org/officeDocument/2006/math">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3</m:t>
                                </m:r>
                              </m:num>
                              <m:den>
                                <m:r>
                                  <a:rPr lang="es-ES" sz="2400" i="1">
                                    <a:latin typeface="Cambria Math" panose="02040503050406030204" pitchFamily="18" charset="0"/>
                                    <a:ea typeface="Verdana" panose="020B0604030504040204" pitchFamily="34" charset="0"/>
                                    <a:cs typeface="Verdana" panose="020B0604030504040204" pitchFamily="34" charset="0"/>
                                  </a:rPr>
                                  <m:t>4</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r>
                      <a:rPr lang="es-ES" sz="2400" i="1">
                        <a:latin typeface="Cambria Math" panose="02040503050406030204" pitchFamily="18" charset="0"/>
                        <a:ea typeface="Verdana" panose="020B0604030504040204" pitchFamily="34" charset="0"/>
                        <a:cs typeface="Verdana" panose="020B0604030504040204" pitchFamily="34" charset="0"/>
                      </a:rPr>
                      <m:t>·3</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422632"/>
                <a:ext cx="10515600" cy="2195345"/>
              </a:xfrm>
              <a:prstGeom prst="rect">
                <a:avLst/>
              </a:prstGeom>
              <a:blipFill>
                <a:blip r:embed="rId4"/>
                <a:stretch>
                  <a:fillRect l="-870" t="-2216" b="-554"/>
                </a:stretch>
              </a:blipFill>
            </p:spPr>
            <p:txBody>
              <a:bodyPr/>
              <a:lstStyle/>
              <a:p>
                <a:r>
                  <a:rPr lang="en-US">
                    <a:noFill/>
                  </a:rPr>
                  <a:t> </a:t>
                </a:r>
              </a:p>
            </p:txBody>
          </p:sp>
        </mc:Fallback>
      </mc:AlternateContent>
      <p:pic>
        <p:nvPicPr>
          <p:cNvPr id="9" name="image4.png" descr="Icon&#10;&#10;Description automatically generated">
            <a:extLst>
              <a:ext uri="{FF2B5EF4-FFF2-40B4-BE49-F238E27FC236}">
                <a16:creationId xmlns:a16="http://schemas.microsoft.com/office/drawing/2014/main" id="{BF51AA12-6F18-6546-9DA3-A7063D4FAA5D}"/>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11480" y="241898"/>
            <a:ext cx="750164" cy="750164"/>
          </a:xfrm>
          <a:prstGeom prst="rect">
            <a:avLst/>
          </a:prstGeom>
          <a:ln/>
        </p:spPr>
      </p:pic>
      <p:graphicFrame>
        <p:nvGraphicFramePr>
          <p:cNvPr id="3" name="Table 2">
            <a:extLst>
              <a:ext uri="{FF2B5EF4-FFF2-40B4-BE49-F238E27FC236}">
                <a16:creationId xmlns:a16="http://schemas.microsoft.com/office/drawing/2014/main" id="{DF591787-E1E5-1141-8571-ABEDC32B50FA}"/>
              </a:ext>
            </a:extLst>
          </p:cNvPr>
          <p:cNvGraphicFramePr>
            <a:graphicFrameLocks noGrp="1"/>
          </p:cNvGraphicFramePr>
          <p:nvPr>
            <p:extLst>
              <p:ext uri="{D42A27DB-BD31-4B8C-83A1-F6EECF244321}">
                <p14:modId xmlns:p14="http://schemas.microsoft.com/office/powerpoint/2010/main" val="965595578"/>
              </p:ext>
            </p:extLst>
          </p:nvPr>
        </p:nvGraphicFramePr>
        <p:xfrm>
          <a:off x="6382590" y="2724150"/>
          <a:ext cx="3566160" cy="3117086"/>
        </p:xfrm>
        <a:graphic>
          <a:graphicData uri="http://schemas.openxmlformats.org/drawingml/2006/table">
            <a:tbl>
              <a:tblPr firstRow="1" firstCol="1" bandRow="1"/>
              <a:tblGrid>
                <a:gridCol w="3566160">
                  <a:extLst>
                    <a:ext uri="{9D8B030D-6E8A-4147-A177-3AD203B41FA5}">
                      <a16:colId xmlns:a16="http://schemas.microsoft.com/office/drawing/2014/main" val="1991517889"/>
                    </a:ext>
                  </a:extLst>
                </a:gridCol>
              </a:tblGrid>
              <a:tr h="495806">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04433966"/>
                  </a:ext>
                </a:extLst>
              </a:tr>
              <a:tr h="0">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identity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zero exponent</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2356086"/>
                  </a:ext>
                </a:extLst>
              </a:tr>
            </a:tbl>
          </a:graphicData>
        </a:graphic>
      </p:graphicFrame>
    </p:spTree>
    <p:extLst>
      <p:ext uri="{BB962C8B-B14F-4D97-AF65-F5344CB8AC3E}">
        <p14:creationId xmlns:p14="http://schemas.microsoft.com/office/powerpoint/2010/main" val="1674437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914400" y="417101"/>
                <a:ext cx="7457622" cy="710387"/>
              </a:xfrm>
              <a:prstGeom prst="rect">
                <a:avLst/>
              </a:prstGeom>
            </p:spPr>
            <p:txBody>
              <a:bodyPr wrap="square">
                <a:spAutoFit/>
              </a:bodyPr>
              <a:lstStyle/>
              <a:p>
                <a:pPr marL="914400" indent="-444500"/>
                <a:r>
                  <a:rPr lang="en-US" sz="2400" dirty="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−7</m:t>
                                </m:r>
                              </m:e>
                            </m:d>
                          </m:e>
                          <m:sup>
                            <m:r>
                              <a:rPr lang="es-ES" sz="2400" i="1">
                                <a:latin typeface="Cambria Math" panose="02040503050406030204" pitchFamily="18" charset="0"/>
                                <a:ea typeface="Verdana" panose="020B0604030504040204" pitchFamily="34" charset="0"/>
                                <a:cs typeface="Verdana" panose="020B0604030504040204" pitchFamily="34" charset="0"/>
                              </a:rPr>
                              <m:t>5</m:t>
                            </m:r>
                          </m:sup>
                        </m:sSup>
                      </m:num>
                      <m:den>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−7</m:t>
                                </m:r>
                              </m:e>
                            </m:d>
                          </m:e>
                          <m:sup>
                            <m:r>
                              <a:rPr lang="es-ES" sz="2400" i="1">
                                <a:latin typeface="Cambria Math" panose="02040503050406030204" pitchFamily="18" charset="0"/>
                                <a:ea typeface="Verdana" panose="020B0604030504040204" pitchFamily="34" charset="0"/>
                                <a:cs typeface="Verdana" panose="020B0604030504040204" pitchFamily="34" charset="0"/>
                              </a:rPr>
                              <m:t>0</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−7</m:t>
                                </m:r>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den>
                    </m:f>
                  </m:oMath>
                </a14:m>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914400" y="417101"/>
                <a:ext cx="7457622" cy="710387"/>
              </a:xfrm>
              <a:prstGeom prst="rect">
                <a:avLst/>
              </a:prstGeom>
              <a:blipFill>
                <a:blip r:embed="rId4"/>
                <a:stretch>
                  <a:fillRect b="-1754"/>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DF591787-E1E5-1141-8571-ABEDC32B50FA}"/>
              </a:ext>
            </a:extLst>
          </p:cNvPr>
          <p:cNvGraphicFramePr>
            <a:graphicFrameLocks noGrp="1"/>
          </p:cNvGraphicFramePr>
          <p:nvPr>
            <p:extLst>
              <p:ext uri="{D42A27DB-BD31-4B8C-83A1-F6EECF244321}">
                <p14:modId xmlns:p14="http://schemas.microsoft.com/office/powerpoint/2010/main" val="1766383434"/>
              </p:ext>
            </p:extLst>
          </p:nvPr>
        </p:nvGraphicFramePr>
        <p:xfrm>
          <a:off x="6486816" y="488220"/>
          <a:ext cx="3566160" cy="3117086"/>
        </p:xfrm>
        <a:graphic>
          <a:graphicData uri="http://schemas.openxmlformats.org/drawingml/2006/table">
            <a:tbl>
              <a:tblPr firstRow="1" firstCol="1" bandRow="1"/>
              <a:tblGrid>
                <a:gridCol w="3566160">
                  <a:extLst>
                    <a:ext uri="{9D8B030D-6E8A-4147-A177-3AD203B41FA5}">
                      <a16:colId xmlns:a16="http://schemas.microsoft.com/office/drawing/2014/main" val="1991517889"/>
                    </a:ext>
                  </a:extLst>
                </a:gridCol>
              </a:tblGrid>
              <a:tr h="495806">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04433966"/>
                  </a:ext>
                </a:extLst>
              </a:tr>
              <a:tr h="0">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identity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quotient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zero exponent</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2356086"/>
                  </a:ext>
                </a:extLst>
              </a:tr>
            </a:tbl>
          </a:graphicData>
        </a:graphic>
      </p:graphicFrame>
    </p:spTree>
    <p:extLst>
      <p:ext uri="{BB962C8B-B14F-4D97-AF65-F5344CB8AC3E}">
        <p14:creationId xmlns:p14="http://schemas.microsoft.com/office/powerpoint/2010/main" val="1251846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30168" y="2766150"/>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141</a:t>
            </a:r>
            <a:endParaRPr i="1" dirty="0">
              <a:latin typeface="Calibri"/>
              <a:ea typeface="Calibri"/>
              <a:cs typeface="Calibri"/>
              <a:sym typeface="Calibri"/>
            </a:endParaRPr>
          </a:p>
        </p:txBody>
      </p:sp>
      <p:pic>
        <p:nvPicPr>
          <p:cNvPr id="9" name="image6.png" descr="Icon&#10;&#10;Description automatically generated">
            <a:extLst>
              <a:ext uri="{FF2B5EF4-FFF2-40B4-BE49-F238E27FC236}">
                <a16:creationId xmlns:a16="http://schemas.microsoft.com/office/drawing/2014/main" id="{D01D2500-3707-FE4E-86FA-2863DA5CDD48}"/>
              </a:ext>
            </a:extLst>
          </p:cNvPr>
          <p:cNvPicPr/>
          <p:nvPr/>
        </p:nvPicPr>
        <p:blipFill>
          <a:blip r:embed="rId4"/>
          <a:srcRect/>
          <a:stretch>
            <a:fillRect/>
          </a:stretch>
        </p:blipFill>
        <p:spPr>
          <a:xfrm>
            <a:off x="3054096" y="2852928"/>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8595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125978"/>
            <a:ext cx="8019300" cy="79899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33BEA6"/>
                </a:solidFill>
                <a:latin typeface="Verdana"/>
                <a:ea typeface="Verdana"/>
                <a:cs typeface="Verdana"/>
                <a:sym typeface="Verdana"/>
              </a:rPr>
              <a:t>4.4.4 Activity: Card Sort</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141</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914400" y="1197035"/>
            <a:ext cx="10515600" cy="230832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match each expression card with the exponent law and value cards. The exponent law cards indicate which laws of exponents can be applied to the expression before evaluating and the value cards indicate the value of the expression. Write the letter or number associated with the matching cards in the table.</a:t>
            </a:r>
          </a:p>
        </p:txBody>
      </p:sp>
      <p:pic>
        <p:nvPicPr>
          <p:cNvPr id="9" name="image6.png" descr="Icon&#10;&#10;Description automatically generated">
            <a:extLst>
              <a:ext uri="{FF2B5EF4-FFF2-40B4-BE49-F238E27FC236}">
                <a16:creationId xmlns:a16="http://schemas.microsoft.com/office/drawing/2014/main" id="{BA1BB85D-941E-B549-A30E-4BB6F91D4E66}"/>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11480" y="173332"/>
            <a:ext cx="751642" cy="751642"/>
          </a:xfrm>
          <a:prstGeom prst="rect">
            <a:avLst/>
          </a:prstGeom>
          <a:ln/>
        </p:spPr>
      </p:pic>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1683973856"/>
                  </p:ext>
                </p:extLst>
              </p:nvPr>
            </p:nvGraphicFramePr>
            <p:xfrm>
              <a:off x="2657475" y="3674208"/>
              <a:ext cx="7217964" cy="2909195"/>
            </p:xfrm>
            <a:graphic>
              <a:graphicData uri="http://schemas.openxmlformats.org/drawingml/2006/table">
                <a:tbl>
                  <a:tblPr firstRow="1" firstCol="1" bandRow="1"/>
                  <a:tblGrid>
                    <a:gridCol w="914400">
                      <a:extLst>
                        <a:ext uri="{9D8B030D-6E8A-4147-A177-3AD203B41FA5}">
                          <a16:colId xmlns:a16="http://schemas.microsoft.com/office/drawing/2014/main" val="20000"/>
                        </a:ext>
                      </a:extLst>
                    </a:gridCol>
                    <a:gridCol w="1823004">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531755">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Card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Expression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Law(s)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8872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a.</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a14:m>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88720">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b.</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0</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sup>
                                  </m:sSup>
                                </m:den>
                              </m:f>
                            </m:oMath>
                          </a14:m>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1683973856"/>
                  </p:ext>
                </p:extLst>
              </p:nvPr>
            </p:nvGraphicFramePr>
            <p:xfrm>
              <a:off x="2657475" y="3674208"/>
              <a:ext cx="7217964" cy="2909195"/>
            </p:xfrm>
            <a:graphic>
              <a:graphicData uri="http://schemas.openxmlformats.org/drawingml/2006/table">
                <a:tbl>
                  <a:tblPr firstRow="1" firstCol="1" bandRow="1"/>
                  <a:tblGrid>
                    <a:gridCol w="914400">
                      <a:extLst>
                        <a:ext uri="{9D8B030D-6E8A-4147-A177-3AD203B41FA5}">
                          <a16:colId xmlns:a16="http://schemas.microsoft.com/office/drawing/2014/main" val="20000"/>
                        </a:ext>
                      </a:extLst>
                    </a:gridCol>
                    <a:gridCol w="1823004">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531755">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Card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Expression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Law(s)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8872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a.</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0502" t="-44898" r="-247157" b="-101020"/>
                          </a:stretch>
                        </a:blipFill>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88720">
                    <a:tc>
                      <a:txBody>
                        <a:bodyPr/>
                        <a:lstStyle/>
                        <a:p>
                          <a:pPr marL="0" marR="0" algn="ctr">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b.</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0502" t="-145641" r="-247157" b="-1538"/>
                          </a:stretch>
                        </a:blipFill>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3942780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561228939"/>
                  </p:ext>
                </p:extLst>
              </p:nvPr>
            </p:nvGraphicFramePr>
            <p:xfrm>
              <a:off x="2730786" y="458532"/>
              <a:ext cx="7217964" cy="4097915"/>
            </p:xfrm>
            <a:graphic>
              <a:graphicData uri="http://schemas.openxmlformats.org/drawingml/2006/table">
                <a:tbl>
                  <a:tblPr firstRow="1" firstCol="1" bandRow="1"/>
                  <a:tblGrid>
                    <a:gridCol w="914400">
                      <a:extLst>
                        <a:ext uri="{9D8B030D-6E8A-4147-A177-3AD203B41FA5}">
                          <a16:colId xmlns:a16="http://schemas.microsoft.com/office/drawing/2014/main" val="20000"/>
                        </a:ext>
                      </a:extLst>
                    </a:gridCol>
                    <a:gridCol w="1823004">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531755">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Card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Expression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Law(s)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8872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c.</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x-none" sz="2000" i="1"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den>
                              </m:f>
                            </m:oMath>
                          </a14:m>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8872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f>
                                <m:fPr>
                                  <m:ctrlPr>
                                    <a:rPr lang="x-none" sz="2000" i="1" smtClean="0">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a14:m>
                          <a:r>
                            <a:rPr lang="en-US" sz="16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88720">
                    <a:tc>
                      <a:txBody>
                        <a:bodyPr/>
                        <a:lstStyle/>
                        <a:p>
                          <a:pPr marL="0" marR="0" algn="ctr">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x-none" sz="2000" i="1" smtClean="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p>
                              </m:sSup>
                            </m:oMath>
                          </a14:m>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561228939"/>
                  </p:ext>
                </p:extLst>
              </p:nvPr>
            </p:nvGraphicFramePr>
            <p:xfrm>
              <a:off x="2730786" y="458532"/>
              <a:ext cx="7217964" cy="4097915"/>
            </p:xfrm>
            <a:graphic>
              <a:graphicData uri="http://schemas.openxmlformats.org/drawingml/2006/table">
                <a:tbl>
                  <a:tblPr firstRow="1" firstCol="1" bandRow="1"/>
                  <a:tblGrid>
                    <a:gridCol w="914400">
                      <a:extLst>
                        <a:ext uri="{9D8B030D-6E8A-4147-A177-3AD203B41FA5}">
                          <a16:colId xmlns:a16="http://schemas.microsoft.com/office/drawing/2014/main" val="20000"/>
                        </a:ext>
                      </a:extLst>
                    </a:gridCol>
                    <a:gridCol w="1823004">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531755">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Card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Expression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Exponent Law(s)</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8872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c.</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0694" t="-45745" r="-245833" b="-200000"/>
                          </a:stretch>
                        </a:blipFill>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88720">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d.</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0694" t="-147312" r="-245833" b="-102151"/>
                          </a:stretch>
                        </a:blipFill>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88720">
                    <a:tc>
                      <a:txBody>
                        <a:bodyPr/>
                        <a:lstStyle/>
                        <a:p>
                          <a:pPr marL="0" marR="0" algn="ctr">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0694" t="-244681" r="-245833" b="-1064"/>
                          </a:stretch>
                        </a:blipFill>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2678010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142</a:t>
            </a:r>
            <a:endParaRPr i="1" dirty="0">
              <a:latin typeface="Calibri"/>
              <a:ea typeface="Calibri"/>
              <a:cs typeface="Calibri"/>
              <a:sym typeface="Calibri"/>
            </a:endParaRPr>
          </a:p>
        </p:txBody>
      </p:sp>
      <p:pic>
        <p:nvPicPr>
          <p:cNvPr id="8" name="image7.png" descr="Icon&#10;&#10;Description automatically generated">
            <a:extLst>
              <a:ext uri="{FF2B5EF4-FFF2-40B4-BE49-F238E27FC236}">
                <a16:creationId xmlns:a16="http://schemas.microsoft.com/office/drawing/2014/main" id="{C5A35670-3932-A745-84B6-B9CD470259DD}"/>
              </a:ext>
            </a:extLst>
          </p:cNvPr>
          <p:cNvPicPr/>
          <p:nvPr/>
        </p:nvPicPr>
        <p:blipFill>
          <a:blip r:embed="rId4"/>
          <a:srcRect/>
          <a:stretch>
            <a:fillRect/>
          </a:stretch>
        </p:blipFill>
        <p:spPr>
          <a:xfrm>
            <a:off x="3054096" y="2852923"/>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67390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44949"/>
            <a:ext cx="8019300" cy="84662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E24E5F"/>
                </a:solidFill>
                <a:latin typeface="Verdana"/>
                <a:ea typeface="Verdana"/>
                <a:cs typeface="Verdana"/>
                <a:sym typeface="Verdana"/>
              </a:rPr>
              <a:t>4.4.5 Your Turn!</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142</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914400" y="1308828"/>
                <a:ext cx="10515600" cy="280782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Apply the laws of exponents to evaluate each expression. Show your steps in the process.</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0.6</m:t>
                                </m:r>
                              </m:e>
                            </m:d>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0.6</m:t>
                                </m:r>
                              </m:e>
                            </m:d>
                          </m:e>
                          <m:sup>
                            <m:r>
                              <a:rPr lang="es-ES" sz="2400" i="1">
                                <a:latin typeface="Cambria Math" panose="02040503050406030204" pitchFamily="18" charset="0"/>
                                <a:ea typeface="Verdana" panose="020B0604030504040204" pitchFamily="34" charset="0"/>
                                <a:cs typeface="Verdana" panose="020B0604030504040204" pitchFamily="34" charset="0"/>
                              </a:rPr>
                              <m:t>7</m:t>
                            </m:r>
                          </m:sup>
                        </m:sSup>
                      </m:num>
                      <m:den>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0.6</m:t>
                                </m:r>
                              </m:e>
                            </m:d>
                          </m:e>
                          <m:sup>
                            <m:r>
                              <a:rPr lang="es-ES" sz="2400" i="1">
                                <a:latin typeface="Cambria Math" panose="02040503050406030204" pitchFamily="18" charset="0"/>
                                <a:ea typeface="Verdana" panose="020B0604030504040204" pitchFamily="34" charset="0"/>
                                <a:cs typeface="Verdana" panose="020B0604030504040204" pitchFamily="34" charset="0"/>
                              </a:rPr>
                              <m:t>3</m:t>
                            </m:r>
                          </m:sup>
                        </m:sSup>
                      </m:den>
                    </m:f>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r>
                              <a:rPr lang="es-ES" sz="2400" i="1">
                                <a:latin typeface="Cambria Math" panose="02040503050406030204" pitchFamily="18" charset="0"/>
                                <a:ea typeface="Verdana" panose="020B0604030504040204" pitchFamily="34" charset="0"/>
                                <a:cs typeface="Verdana" panose="020B0604030504040204" pitchFamily="34" charset="0"/>
                              </a:rPr>
                              <m:t>−4</m:t>
                            </m:r>
                          </m:e>
                        </m:d>
                      </m:e>
                      <m:sup>
                        <m:r>
                          <a:rPr lang="es-ES" sz="2400" i="1">
                            <a:latin typeface="Cambria Math" panose="02040503050406030204" pitchFamily="18" charset="0"/>
                            <a:ea typeface="Verdana" panose="020B0604030504040204" pitchFamily="34" charset="0"/>
                            <a:cs typeface="Verdana" panose="020B0604030504040204" pitchFamily="34" charset="0"/>
                          </a:rPr>
                          <m:t>3</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s-ES" sz="2400" i="1">
                                <a:latin typeface="Cambria Math" panose="02040503050406030204" pitchFamily="18" charset="0"/>
                                <a:ea typeface="Verdana" panose="020B0604030504040204" pitchFamily="34" charset="0"/>
                                <a:cs typeface="Verdana" panose="020B0604030504040204" pitchFamily="34" charset="0"/>
                              </a:rPr>
                            </m:ctrlPr>
                          </m:dPr>
                          <m:e>
                            <m:f>
                              <m:fPr>
                                <m:ctrlPr>
                                  <a:rPr lang="es-E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−5</m:t>
                                </m:r>
                              </m:num>
                              <m:den>
                                <m:r>
                                  <a:rPr lang="es-ES" sz="2400" i="1">
                                    <a:latin typeface="Cambria Math" panose="02040503050406030204" pitchFamily="18" charset="0"/>
                                    <a:ea typeface="Verdana" panose="020B0604030504040204" pitchFamily="34" charset="0"/>
                                    <a:cs typeface="Verdana" panose="020B0604030504040204" pitchFamily="34" charset="0"/>
                                  </a:rPr>
                                  <m:t>4</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−4</m:t>
                        </m:r>
                      </m:sup>
                    </m:sSup>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308828"/>
                <a:ext cx="10515600" cy="2807820"/>
              </a:xfrm>
              <a:prstGeom prst="rect">
                <a:avLst/>
              </a:prstGeom>
              <a:blipFill>
                <a:blip r:embed="rId4"/>
                <a:stretch>
                  <a:fillRect l="-870" t="-1739" r="-1159" b="-435"/>
                </a:stretch>
              </a:blipFill>
            </p:spPr>
            <p:txBody>
              <a:bodyPr/>
              <a:lstStyle/>
              <a:p>
                <a:r>
                  <a:rPr lang="en-US">
                    <a:noFill/>
                  </a:rPr>
                  <a:t> </a:t>
                </a:r>
              </a:p>
            </p:txBody>
          </p:sp>
        </mc:Fallback>
      </mc:AlternateContent>
      <p:pic>
        <p:nvPicPr>
          <p:cNvPr id="11" name="image7.png" descr="Icon&#10;&#10;Description automatically generated">
            <a:extLst>
              <a:ext uri="{FF2B5EF4-FFF2-40B4-BE49-F238E27FC236}">
                <a16:creationId xmlns:a16="http://schemas.microsoft.com/office/drawing/2014/main" id="{1A387636-D584-4440-AADD-AFFFE6E9E5F9}"/>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11480" y="291446"/>
            <a:ext cx="753626" cy="753626"/>
          </a:xfrm>
          <a:prstGeom prst="rect">
            <a:avLst/>
          </a:prstGeom>
          <a:ln/>
        </p:spPr>
      </p:pic>
    </p:spTree>
    <p:extLst>
      <p:ext uri="{BB962C8B-B14F-4D97-AF65-F5344CB8AC3E}">
        <p14:creationId xmlns:p14="http://schemas.microsoft.com/office/powerpoint/2010/main" val="4186919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914400" y="314915"/>
                <a:ext cx="10515600" cy="3939540"/>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Cristian was evaluating the expression </a:t>
                </a:r>
                <a14:m>
                  <m:oMath xmlns:m="http://schemas.openxmlformats.org/officeDocument/2006/math">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5</m:t>
                                </m:r>
                              </m:num>
                              <m:den>
                                <m:r>
                                  <a:rPr lang="es-ES" sz="2400" i="1">
                                    <a:latin typeface="Cambria Math" panose="02040503050406030204" pitchFamily="18" charset="0"/>
                                    <a:ea typeface="Verdana" panose="020B0604030504040204" pitchFamily="34" charset="0"/>
                                    <a:cs typeface="Verdana" panose="020B0604030504040204" pitchFamily="34" charset="0"/>
                                  </a:rPr>
                                  <m:t>6</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−5</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6</m:t>
                        </m:r>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909638" indent="-4889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Circle the expressions that are equivalent to </a:t>
                </a:r>
                <a14:m>
                  <m:oMath xmlns:m="http://schemas.openxmlformats.org/officeDocument/2006/math">
                    <m:sSup>
                      <m:sSupPr>
                        <m:ctrlPr>
                          <a:rPr lang="en-US" sz="2400" i="1">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a:latin typeface="Cambria Math" panose="02040503050406030204" pitchFamily="18" charset="0"/>
                                    <a:ea typeface="Verdana" panose="020B0604030504040204" pitchFamily="34" charset="0"/>
                                    <a:cs typeface="Verdana" panose="020B0604030504040204" pitchFamily="34" charset="0"/>
                                  </a:rPr>
                                </m:ctrlPr>
                              </m:fPr>
                              <m:num>
                                <m:r>
                                  <a:rPr lang="es-ES" sz="2400" i="1">
                                    <a:latin typeface="Cambria Math" panose="02040503050406030204" pitchFamily="18" charset="0"/>
                                    <a:ea typeface="Verdana" panose="020B0604030504040204" pitchFamily="34" charset="0"/>
                                    <a:cs typeface="Verdana" panose="020B0604030504040204" pitchFamily="34" charset="0"/>
                                  </a:rPr>
                                  <m:t>5</m:t>
                                </m:r>
                              </m:num>
                              <m:den>
                                <m:r>
                                  <a:rPr lang="es-ES" sz="2400" i="1">
                                    <a:latin typeface="Cambria Math" panose="02040503050406030204" pitchFamily="18" charset="0"/>
                                    <a:ea typeface="Verdana" panose="020B0604030504040204" pitchFamily="34" charset="0"/>
                                    <a:cs typeface="Verdana" panose="020B0604030504040204" pitchFamily="34" charset="0"/>
                                  </a:rPr>
                                  <m:t>6</m:t>
                                </m:r>
                              </m:den>
                            </m:f>
                          </m:e>
                        </m:d>
                      </m:e>
                      <m:sup>
                        <m:r>
                          <a:rPr lang="es-ES" sz="2400" i="1">
                            <a:latin typeface="Cambria Math" panose="02040503050406030204" pitchFamily="18" charset="0"/>
                            <a:ea typeface="Verdana" panose="020B0604030504040204" pitchFamily="34" charset="0"/>
                            <a:cs typeface="Verdana" panose="020B0604030504040204" pitchFamily="34" charset="0"/>
                          </a:rPr>
                          <m:t>−5</m:t>
                        </m:r>
                      </m:sup>
                    </m:sSup>
                    <m:r>
                      <a:rPr lang="es-ES" sz="2400" i="1">
                        <a:latin typeface="Cambria Math" panose="02040503050406030204" pitchFamily="18" charset="0"/>
                        <a:ea typeface="Verdana" panose="020B0604030504040204" pitchFamily="34" charset="0"/>
                        <a:cs typeface="Verdana" panose="020B0604030504040204" pitchFamily="34" charset="0"/>
                      </a:rPr>
                      <m:t>·</m:t>
                    </m:r>
                    <m:sSup>
                      <m:sSupPr>
                        <m:ctrlPr>
                          <a:rPr lang="es-ES" sz="2400" i="1">
                            <a:latin typeface="Cambria Math" panose="02040503050406030204" pitchFamily="18" charset="0"/>
                            <a:ea typeface="Verdana" panose="020B0604030504040204" pitchFamily="34" charset="0"/>
                            <a:cs typeface="Verdana" panose="020B0604030504040204" pitchFamily="34" charset="0"/>
                          </a:rPr>
                        </m:ctrlPr>
                      </m:sSupPr>
                      <m:e>
                        <m:r>
                          <a:rPr lang="es-ES" sz="2400" i="1">
                            <a:latin typeface="Cambria Math" panose="02040503050406030204" pitchFamily="18" charset="0"/>
                            <a:ea typeface="Verdana" panose="020B0604030504040204" pitchFamily="34" charset="0"/>
                            <a:cs typeface="Verdana" panose="020B0604030504040204" pitchFamily="34" charset="0"/>
                          </a:rPr>
                          <m:t>6</m:t>
                        </m:r>
                      </m:e>
                      <m:sup>
                        <m:r>
                          <a:rPr lang="es-ES" sz="2400" i="1">
                            <a:latin typeface="Cambria Math" panose="02040503050406030204" pitchFamily="18" charset="0"/>
                            <a:ea typeface="Verdana" panose="020B0604030504040204" pitchFamily="34" charset="0"/>
                            <a:cs typeface="Verdana" panose="020B0604030504040204" pitchFamily="34"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09638" indent="-4889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09638" indent="-4889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09638" indent="-4889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09638" indent="-48895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09638" indent="-4889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Write another equivalent expression. </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314915"/>
                <a:ext cx="10515600" cy="3939540"/>
              </a:xfrm>
              <a:prstGeom prst="rect">
                <a:avLst/>
              </a:prstGeom>
              <a:blipFill>
                <a:blip r:embed="rId4"/>
                <a:stretch>
                  <a:fillRect l="-96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84369217-FCA3-F545-9280-2386E805E03C}"/>
                  </a:ext>
                </a:extLst>
              </p:cNvPr>
              <p:cNvGraphicFramePr>
                <a:graphicFrameLocks noGrp="1"/>
              </p:cNvGraphicFramePr>
              <p:nvPr>
                <p:extLst>
                  <p:ext uri="{D42A27DB-BD31-4B8C-83A1-F6EECF244321}">
                    <p14:modId xmlns:p14="http://schemas.microsoft.com/office/powerpoint/2010/main" val="3548382757"/>
                  </p:ext>
                </p:extLst>
              </p:nvPr>
            </p:nvGraphicFramePr>
            <p:xfrm>
              <a:off x="2106638" y="2393597"/>
              <a:ext cx="6940550" cy="624840"/>
            </p:xfrm>
            <a:graphic>
              <a:graphicData uri="http://schemas.openxmlformats.org/drawingml/2006/table">
                <a:tbl>
                  <a:tblPr firstRow="1" firstCol="1" bandRow="1"/>
                  <a:tblGrid>
                    <a:gridCol w="1734820">
                      <a:extLst>
                        <a:ext uri="{9D8B030D-6E8A-4147-A177-3AD203B41FA5}">
                          <a16:colId xmlns:a16="http://schemas.microsoft.com/office/drawing/2014/main" val="1646212356"/>
                        </a:ext>
                      </a:extLst>
                    </a:gridCol>
                    <a:gridCol w="1734820">
                      <a:extLst>
                        <a:ext uri="{9D8B030D-6E8A-4147-A177-3AD203B41FA5}">
                          <a16:colId xmlns:a16="http://schemas.microsoft.com/office/drawing/2014/main" val="406764937"/>
                        </a:ext>
                      </a:extLst>
                    </a:gridCol>
                    <a:gridCol w="1735455">
                      <a:extLst>
                        <a:ext uri="{9D8B030D-6E8A-4147-A177-3AD203B41FA5}">
                          <a16:colId xmlns:a16="http://schemas.microsoft.com/office/drawing/2014/main" val="4233371188"/>
                        </a:ext>
                      </a:extLst>
                    </a:gridCol>
                    <a:gridCol w="1735455">
                      <a:extLst>
                        <a:ext uri="{9D8B030D-6E8A-4147-A177-3AD203B41FA5}">
                          <a16:colId xmlns:a16="http://schemas.microsoft.com/office/drawing/2014/main" val="3662685574"/>
                        </a:ext>
                      </a:extLst>
                    </a:gridCol>
                  </a:tblGrid>
                  <a:tr h="508635">
                    <a:tc>
                      <a:txBody>
                        <a:bodyPr/>
                        <a:lstStyle/>
                        <a:p>
                          <a:pPr marL="0" marR="0" algn="ctr">
                            <a:spcBef>
                              <a:spcPts val="0"/>
                            </a:spcBef>
                            <a:spcAft>
                              <a:spcPts val="0"/>
                            </a:spcAft>
                          </a:pPr>
                          <a14:m>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p>
                                  </m:sSup>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p>
                                  </m:sSup>
                                </m:den>
                              </m:f>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lgn="ctr">
                            <a:spcBef>
                              <a:spcPts val="0"/>
                            </a:spcBef>
                            <a:spcAft>
                              <a:spcPts val="0"/>
                            </a:spcAft>
                          </a:pPr>
                          <a14:m>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den>
                              </m:f>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lgn="ctr">
                            <a:spcBef>
                              <a:spcPts val="0"/>
                            </a:spcBef>
                            <a:spcAft>
                              <a:spcPts val="0"/>
                            </a:spcAft>
                          </a:pPr>
                          <a14:m>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p>
                                  </m:sSup>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p>
                                  </m:sSup>
                                </m:den>
                              </m:f>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lgn="ctr">
                            <a:spcBef>
                              <a:spcPts val="0"/>
                            </a:spcBef>
                            <a:spcAft>
                              <a:spcPts val="0"/>
                            </a:spcAft>
                          </a:pPr>
                          <a14:m>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den>
                                      </m:f>
                                    </m:e>
                                  </m:d>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1283262805"/>
                      </a:ext>
                    </a:extLst>
                  </a:tr>
                </a:tbl>
              </a:graphicData>
            </a:graphic>
          </p:graphicFrame>
        </mc:Choice>
        <mc:Fallback>
          <p:graphicFrame>
            <p:nvGraphicFramePr>
              <p:cNvPr id="3" name="Table 2">
                <a:extLst>
                  <a:ext uri="{FF2B5EF4-FFF2-40B4-BE49-F238E27FC236}">
                    <a16:creationId xmlns:a16="http://schemas.microsoft.com/office/drawing/2014/main" id="{84369217-FCA3-F545-9280-2386E805E03C}"/>
                  </a:ext>
                </a:extLst>
              </p:cNvPr>
              <p:cNvGraphicFramePr>
                <a:graphicFrameLocks noGrp="1"/>
              </p:cNvGraphicFramePr>
              <p:nvPr>
                <p:extLst>
                  <p:ext uri="{D42A27DB-BD31-4B8C-83A1-F6EECF244321}">
                    <p14:modId xmlns:p14="http://schemas.microsoft.com/office/powerpoint/2010/main" val="3548382757"/>
                  </p:ext>
                </p:extLst>
              </p:nvPr>
            </p:nvGraphicFramePr>
            <p:xfrm>
              <a:off x="2106638" y="2393597"/>
              <a:ext cx="6940550" cy="624840"/>
            </p:xfrm>
            <a:graphic>
              <a:graphicData uri="http://schemas.openxmlformats.org/drawingml/2006/table">
                <a:tbl>
                  <a:tblPr firstRow="1" firstCol="1" bandRow="1"/>
                  <a:tblGrid>
                    <a:gridCol w="1734820">
                      <a:extLst>
                        <a:ext uri="{9D8B030D-6E8A-4147-A177-3AD203B41FA5}">
                          <a16:colId xmlns:a16="http://schemas.microsoft.com/office/drawing/2014/main" val="1646212356"/>
                        </a:ext>
                      </a:extLst>
                    </a:gridCol>
                    <a:gridCol w="1734820">
                      <a:extLst>
                        <a:ext uri="{9D8B030D-6E8A-4147-A177-3AD203B41FA5}">
                          <a16:colId xmlns:a16="http://schemas.microsoft.com/office/drawing/2014/main" val="406764937"/>
                        </a:ext>
                      </a:extLst>
                    </a:gridCol>
                    <a:gridCol w="1735455">
                      <a:extLst>
                        <a:ext uri="{9D8B030D-6E8A-4147-A177-3AD203B41FA5}">
                          <a16:colId xmlns:a16="http://schemas.microsoft.com/office/drawing/2014/main" val="4233371188"/>
                        </a:ext>
                      </a:extLst>
                    </a:gridCol>
                    <a:gridCol w="1735455">
                      <a:extLst>
                        <a:ext uri="{9D8B030D-6E8A-4147-A177-3AD203B41FA5}">
                          <a16:colId xmlns:a16="http://schemas.microsoft.com/office/drawing/2014/main" val="3662685574"/>
                        </a:ext>
                      </a:extLst>
                    </a:gridCol>
                  </a:tblGrid>
                  <a:tr h="624840">
                    <a:tc>
                      <a:txBody>
                        <a:bodyPr/>
                        <a:lstStyle/>
                        <a:p>
                          <a:endParaRPr lang="en-US"/>
                        </a:p>
                      </a:txBody>
                      <a:tcPr marL="68580" marR="68580" marT="0" marB="0">
                        <a:lnL>
                          <a:noFill/>
                        </a:lnL>
                        <a:lnR>
                          <a:noFill/>
                        </a:lnR>
                        <a:lnT>
                          <a:noFill/>
                        </a:lnT>
                        <a:lnB>
                          <a:noFill/>
                        </a:lnB>
                        <a:blipFill>
                          <a:blip r:embed="rId5"/>
                          <a:stretch>
                            <a:fillRect r="-300000"/>
                          </a:stretch>
                        </a:blipFill>
                      </a:tcPr>
                    </a:tc>
                    <a:tc>
                      <a:txBody>
                        <a:bodyPr/>
                        <a:lstStyle/>
                        <a:p>
                          <a:endParaRPr lang="en-US"/>
                        </a:p>
                      </a:txBody>
                      <a:tcPr marL="68580" marR="68580" marT="0" marB="0">
                        <a:lnL>
                          <a:noFill/>
                        </a:lnL>
                        <a:lnR>
                          <a:noFill/>
                        </a:lnR>
                        <a:lnT>
                          <a:noFill/>
                        </a:lnT>
                        <a:lnB>
                          <a:noFill/>
                        </a:lnB>
                        <a:blipFill>
                          <a:blip r:embed="rId5"/>
                          <a:stretch>
                            <a:fillRect l="-100000" r="-200000"/>
                          </a:stretch>
                        </a:blipFill>
                      </a:tcPr>
                    </a:tc>
                    <a:tc>
                      <a:txBody>
                        <a:bodyPr/>
                        <a:lstStyle/>
                        <a:p>
                          <a:endParaRPr lang="en-US"/>
                        </a:p>
                      </a:txBody>
                      <a:tcPr marL="68580" marR="68580" marT="0" marB="0">
                        <a:lnL>
                          <a:noFill/>
                        </a:lnL>
                        <a:lnR>
                          <a:noFill/>
                        </a:lnR>
                        <a:lnT>
                          <a:noFill/>
                        </a:lnT>
                        <a:lnB>
                          <a:noFill/>
                        </a:lnB>
                        <a:blipFill>
                          <a:blip r:embed="rId5"/>
                          <a:stretch>
                            <a:fillRect l="-200000" r="-100000"/>
                          </a:stretch>
                        </a:blipFill>
                      </a:tcPr>
                    </a:tc>
                    <a:tc>
                      <a:txBody>
                        <a:bodyPr/>
                        <a:lstStyle/>
                        <a:p>
                          <a:endParaRPr lang="en-US"/>
                        </a:p>
                      </a:txBody>
                      <a:tcPr marL="68580" marR="68580" marT="0" marB="0">
                        <a:lnL>
                          <a:noFill/>
                        </a:lnL>
                        <a:lnR>
                          <a:noFill/>
                        </a:lnR>
                        <a:lnT>
                          <a:noFill/>
                        </a:lnT>
                        <a:lnB>
                          <a:noFill/>
                        </a:lnB>
                        <a:blipFill>
                          <a:blip r:embed="rId5"/>
                          <a:stretch>
                            <a:fillRect l="-300000"/>
                          </a:stretch>
                        </a:blipFill>
                      </a:tcPr>
                    </a:tc>
                    <a:extLst>
                      <a:ext uri="{0D108BD9-81ED-4DB2-BD59-A6C34878D82A}">
                        <a16:rowId xmlns:a16="http://schemas.microsoft.com/office/drawing/2014/main" val="1283262805"/>
                      </a:ext>
                    </a:extLst>
                  </a:tr>
                </a:tbl>
              </a:graphicData>
            </a:graphic>
          </p:graphicFrame>
        </mc:Fallback>
      </mc:AlternateContent>
    </p:spTree>
    <p:extLst>
      <p:ext uri="{BB962C8B-B14F-4D97-AF65-F5344CB8AC3E}">
        <p14:creationId xmlns:p14="http://schemas.microsoft.com/office/powerpoint/2010/main" val="3918141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142</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60325"/>
            <a:ext cx="8019300" cy="76245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4.4.6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11480" y="60325"/>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914400" y="1062713"/>
            <a:ext cx="10515600" cy="156966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Two students each evaluated an expression. Their work is shown in the table. Each student made a mistake. Circle the step where each student made an error and describe the mistake they made.</a:t>
            </a: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9F2F12CB-F294-3F42-90E6-927F78B8774F}"/>
                  </a:ext>
                </a:extLst>
              </p:cNvPr>
              <p:cNvGraphicFramePr>
                <a:graphicFrameLocks noGrp="1"/>
              </p:cNvGraphicFramePr>
              <p:nvPr>
                <p:extLst>
                  <p:ext uri="{D42A27DB-BD31-4B8C-83A1-F6EECF244321}">
                    <p14:modId xmlns:p14="http://schemas.microsoft.com/office/powerpoint/2010/main" val="966384456"/>
                  </p:ext>
                </p:extLst>
              </p:nvPr>
            </p:nvGraphicFramePr>
            <p:xfrm>
              <a:off x="2483887" y="2838144"/>
              <a:ext cx="7376625" cy="3413760"/>
            </p:xfrm>
            <a:graphic>
              <a:graphicData uri="http://schemas.openxmlformats.org/drawingml/2006/table">
                <a:tbl>
                  <a:tblPr firstRow="1" firstCol="1" bandRow="1"/>
                  <a:tblGrid>
                    <a:gridCol w="2299748">
                      <a:extLst>
                        <a:ext uri="{9D8B030D-6E8A-4147-A177-3AD203B41FA5}">
                          <a16:colId xmlns:a16="http://schemas.microsoft.com/office/drawing/2014/main" val="1443280387"/>
                        </a:ext>
                      </a:extLst>
                    </a:gridCol>
                    <a:gridCol w="5076877">
                      <a:extLst>
                        <a:ext uri="{9D8B030D-6E8A-4147-A177-3AD203B41FA5}">
                          <a16:colId xmlns:a16="http://schemas.microsoft.com/office/drawing/2014/main" val="1048126053"/>
                        </a:ext>
                      </a:extLst>
                    </a:gridCol>
                  </a:tblGrid>
                  <a:tr h="48111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Problem</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Describe the Mistake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955984308"/>
                      </a:ext>
                    </a:extLst>
                  </a:tr>
                  <a:tr h="2926080">
                    <a:tc>
                      <a:txBody>
                        <a:bodyPr/>
                        <a:lstStyle/>
                        <a:p>
                          <a:pPr marL="0" marR="0" indent="0" algn="ctr">
                            <a:spcBef>
                              <a:spcPts val="0"/>
                            </a:spcBef>
                            <a:spcAft>
                              <a:spcPts val="0"/>
                            </a:spcAft>
                          </a:pPr>
                          <a14:m>
                            <m:oMath xmlns:m="http://schemas.openxmlformats.org/officeDocument/2006/math">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5</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5</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−2</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5</m:t>
                                  </m:r>
                                </m:e>
                                <m:sup>
                                  <m:r>
                                    <a:rPr lang="en-US" sz="2000" i="1">
                                      <a:effectLst/>
                                      <a:latin typeface="Cambria Math" panose="02040503050406030204" pitchFamily="18" charset="0"/>
                                      <a:ea typeface="Verdana" panose="020B0604030504040204" pitchFamily="34" charset="0"/>
                                      <a:cs typeface="Verdana" panose="020B0604030504040204" pitchFamily="34" charset="0"/>
                                    </a:rPr>
                                    <m:t>−1</m:t>
                                  </m:r>
                                </m:sup>
                              </m:sSup>
                            </m:oMath>
                          </a14:m>
                          <a:r>
                            <a:rPr lang="en-US" sz="2000" dirty="0">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650484"/>
                      </a:ext>
                    </a:extLst>
                  </a:tr>
                </a:tbl>
              </a:graphicData>
            </a:graphic>
          </p:graphicFrame>
        </mc:Choice>
        <mc:Fallback>
          <p:graphicFrame>
            <p:nvGraphicFramePr>
              <p:cNvPr id="4" name="Table 3">
                <a:extLst>
                  <a:ext uri="{FF2B5EF4-FFF2-40B4-BE49-F238E27FC236}">
                    <a16:creationId xmlns:a16="http://schemas.microsoft.com/office/drawing/2014/main" id="{9F2F12CB-F294-3F42-90E6-927F78B8774F}"/>
                  </a:ext>
                </a:extLst>
              </p:cNvPr>
              <p:cNvGraphicFramePr>
                <a:graphicFrameLocks noGrp="1"/>
              </p:cNvGraphicFramePr>
              <p:nvPr>
                <p:extLst>
                  <p:ext uri="{D42A27DB-BD31-4B8C-83A1-F6EECF244321}">
                    <p14:modId xmlns:p14="http://schemas.microsoft.com/office/powerpoint/2010/main" val="966384456"/>
                  </p:ext>
                </p:extLst>
              </p:nvPr>
            </p:nvGraphicFramePr>
            <p:xfrm>
              <a:off x="2483887" y="2838144"/>
              <a:ext cx="7376625" cy="3413760"/>
            </p:xfrm>
            <a:graphic>
              <a:graphicData uri="http://schemas.openxmlformats.org/drawingml/2006/table">
                <a:tbl>
                  <a:tblPr firstRow="1" firstCol="1" bandRow="1"/>
                  <a:tblGrid>
                    <a:gridCol w="2299748">
                      <a:extLst>
                        <a:ext uri="{9D8B030D-6E8A-4147-A177-3AD203B41FA5}">
                          <a16:colId xmlns:a16="http://schemas.microsoft.com/office/drawing/2014/main" val="1443280387"/>
                        </a:ext>
                      </a:extLst>
                    </a:gridCol>
                    <a:gridCol w="5076877">
                      <a:extLst>
                        <a:ext uri="{9D8B030D-6E8A-4147-A177-3AD203B41FA5}">
                          <a16:colId xmlns:a16="http://schemas.microsoft.com/office/drawing/2014/main" val="1048126053"/>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Problem</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Describe the Mistake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955984308"/>
                      </a:ext>
                    </a:extLst>
                  </a:tr>
                  <a:tr h="292608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65" t="-16840" r="-220899" b="-416"/>
                          </a:stretch>
                        </a:blipFill>
                      </a:tcPr>
                    </a:tc>
                    <a:tc>
                      <a:txBody>
                        <a:bodyPr/>
                        <a:lstStyle/>
                        <a:p>
                          <a:pPr marL="0" marR="0">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650484"/>
                      </a:ext>
                    </a:extLst>
                  </a:tr>
                </a:tbl>
              </a:graphicData>
            </a:graphic>
          </p:graphicFrame>
        </mc:Fallback>
      </mc:AlternateContent>
      <p:pic>
        <p:nvPicPr>
          <p:cNvPr id="10" name="Picture 9" descr="A picture containing calendar&#10;&#10;Description automatically generated">
            <a:extLst>
              <a:ext uri="{FF2B5EF4-FFF2-40B4-BE49-F238E27FC236}">
                <a16:creationId xmlns:a16="http://schemas.microsoft.com/office/drawing/2014/main" id="{A2BC12C6-D80F-6C4A-B9C3-E106827B403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799764" y="4068796"/>
            <a:ext cx="1760392" cy="1962209"/>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F2F12CB-F294-3F42-90E6-927F78B8774F}"/>
                  </a:ext>
                </a:extLst>
              </p:cNvPr>
              <p:cNvGraphicFramePr>
                <a:graphicFrameLocks noGrp="1"/>
              </p:cNvGraphicFramePr>
              <p:nvPr>
                <p:extLst>
                  <p:ext uri="{D42A27DB-BD31-4B8C-83A1-F6EECF244321}">
                    <p14:modId xmlns:p14="http://schemas.microsoft.com/office/powerpoint/2010/main" val="2346541555"/>
                  </p:ext>
                </p:extLst>
              </p:nvPr>
            </p:nvGraphicFramePr>
            <p:xfrm>
              <a:off x="2723977" y="446145"/>
              <a:ext cx="7376625" cy="4785360"/>
            </p:xfrm>
            <a:graphic>
              <a:graphicData uri="http://schemas.openxmlformats.org/drawingml/2006/table">
                <a:tbl>
                  <a:tblPr firstRow="1" firstCol="1" bandRow="1"/>
                  <a:tblGrid>
                    <a:gridCol w="2299748">
                      <a:extLst>
                        <a:ext uri="{9D8B030D-6E8A-4147-A177-3AD203B41FA5}">
                          <a16:colId xmlns:a16="http://schemas.microsoft.com/office/drawing/2014/main" val="1443280387"/>
                        </a:ext>
                      </a:extLst>
                    </a:gridCol>
                    <a:gridCol w="5076877">
                      <a:extLst>
                        <a:ext uri="{9D8B030D-6E8A-4147-A177-3AD203B41FA5}">
                          <a16:colId xmlns:a16="http://schemas.microsoft.com/office/drawing/2014/main" val="1048126053"/>
                        </a:ext>
                      </a:extLst>
                    </a:gridCol>
                  </a:tblGrid>
                  <a:tr h="48111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Problem</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Describe the Mistake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955984308"/>
                      </a:ext>
                    </a:extLst>
                  </a:tr>
                  <a:tr h="4297680">
                    <a:tc>
                      <a:txBody>
                        <a:bodyPr/>
                        <a:lstStyle/>
                        <a:p>
                          <a:pPr marL="0" marR="0" indent="0" algn="ctr">
                            <a:spcBef>
                              <a:spcPts val="0"/>
                            </a:spcBef>
                            <a:spcAft>
                              <a:spcPts val="0"/>
                            </a:spcAft>
                          </a:pPr>
                          <a14:m>
                            <m:oMath xmlns:m="http://schemas.openxmlformats.org/officeDocument/2006/math">
                              <m:sSup>
                                <m:sSupPr>
                                  <m:ctrlPr>
                                    <a:rPr lang="en-US" sz="2000" i="1" smtClean="0">
                                      <a:effectLst/>
                                      <a:latin typeface="Cambria Math" panose="02040503050406030204" pitchFamily="18" charset="0"/>
                                    </a:rPr>
                                  </m:ctrlPr>
                                </m:sSupPr>
                                <m:e>
                                  <m:d>
                                    <m:dPr>
                                      <m:ctrlPr>
                                        <a:rPr lang="en-US" sz="2000" i="1">
                                          <a:effectLst/>
                                          <a:latin typeface="Cambria Math" panose="02040503050406030204" pitchFamily="18" charset="0"/>
                                        </a:rPr>
                                      </m:ctrlPr>
                                    </m:dPr>
                                    <m:e>
                                      <m:f>
                                        <m:fPr>
                                          <m:ctrlPr>
                                            <a:rPr lang="en-US" sz="2000" i="1">
                                              <a:effectLst/>
                                              <a:latin typeface="Cambria Math" panose="02040503050406030204" pitchFamily="18" charset="0"/>
                                            </a:rPr>
                                          </m:ctrlPr>
                                        </m:fPr>
                                        <m:num>
                                          <m:r>
                                            <a:rPr lang="en-US" sz="2000" i="1">
                                              <a:effectLst/>
                                              <a:latin typeface="Cambria Math"/>
                                              <a:ea typeface="Times New Roman"/>
                                              <a:cs typeface="Times New Roman"/>
                                            </a:rPr>
                                            <m:t>3</m:t>
                                          </m:r>
                                        </m:num>
                                        <m:den>
                                          <m:r>
                                            <a:rPr lang="en-US" sz="2000" i="1">
                                              <a:effectLst/>
                                              <a:latin typeface="Cambria Math"/>
                                              <a:ea typeface="Times New Roman"/>
                                              <a:cs typeface="Times New Roman"/>
                                            </a:rPr>
                                            <m:t>2</m:t>
                                          </m:r>
                                        </m:den>
                                      </m:f>
                                    </m:e>
                                  </m:d>
                                </m:e>
                                <m:sup>
                                  <m:r>
                                    <a:rPr lang="en-US" sz="2000" i="1">
                                      <a:effectLst/>
                                      <a:latin typeface="Cambria Math"/>
                                      <a:ea typeface="Times New Roman"/>
                                      <a:cs typeface="Times New Roman"/>
                                    </a:rPr>
                                    <m:t>−3</m:t>
                                  </m:r>
                                </m:sup>
                              </m:sSup>
                              <m:r>
                                <a:rPr lang="en-US" sz="2000" i="1">
                                  <a:effectLst/>
                                  <a:latin typeface="Cambria Math"/>
                                  <a:ea typeface="Times New Roman"/>
                                  <a:cs typeface="Times New Roman"/>
                                </a:rPr>
                                <m:t>∙</m:t>
                              </m:r>
                              <m:sSup>
                                <m:sSupPr>
                                  <m:ctrlPr>
                                    <a:rPr lang="en-US" sz="2000" i="1">
                                      <a:effectLst/>
                                      <a:latin typeface="Cambria Math" panose="02040503050406030204" pitchFamily="18" charset="0"/>
                                    </a:rPr>
                                  </m:ctrlPr>
                                </m:sSupPr>
                                <m:e>
                                  <m:r>
                                    <a:rPr lang="en-US" sz="2000" i="1">
                                      <a:effectLst/>
                                      <a:latin typeface="Cambria Math"/>
                                      <a:ea typeface="Times New Roman"/>
                                      <a:cs typeface="Times New Roman"/>
                                    </a:rPr>
                                    <m:t>(2)</m:t>
                                  </m:r>
                                </m:e>
                                <m:sup>
                                  <m:r>
                                    <a:rPr lang="en-US" sz="2000" i="1">
                                      <a:effectLst/>
                                      <a:latin typeface="Cambria Math"/>
                                      <a:ea typeface="Times New Roman"/>
                                      <a:cs typeface="Times New Roman"/>
                                    </a:rPr>
                                    <m:t>3</m:t>
                                  </m:r>
                                </m:sup>
                              </m:sSup>
                            </m:oMath>
                          </a14:m>
                          <a:r>
                            <a:rPr lang="en-US"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650484"/>
                      </a:ext>
                    </a:extLst>
                  </a:tr>
                </a:tbl>
              </a:graphicData>
            </a:graphic>
          </p:graphicFrame>
        </mc:Choice>
        <mc:Fallback xmlns="">
          <p:graphicFrame>
            <p:nvGraphicFramePr>
              <p:cNvPr id="7" name="Table 6">
                <a:extLst>
                  <a:ext uri="{FF2B5EF4-FFF2-40B4-BE49-F238E27FC236}">
                    <a16:creationId xmlns:a16="http://schemas.microsoft.com/office/drawing/2014/main" id="{9F2F12CB-F294-3F42-90E6-927F78B8774F}"/>
                  </a:ext>
                </a:extLst>
              </p:cNvPr>
              <p:cNvGraphicFramePr>
                <a:graphicFrameLocks noGrp="1"/>
              </p:cNvGraphicFramePr>
              <p:nvPr>
                <p:extLst>
                  <p:ext uri="{D42A27DB-BD31-4B8C-83A1-F6EECF244321}">
                    <p14:modId xmlns:p14="http://schemas.microsoft.com/office/powerpoint/2010/main" val="2346541555"/>
                  </p:ext>
                </p:extLst>
              </p:nvPr>
            </p:nvGraphicFramePr>
            <p:xfrm>
              <a:off x="2723977" y="446145"/>
              <a:ext cx="7376625" cy="4785360"/>
            </p:xfrm>
            <a:graphic>
              <a:graphicData uri="http://schemas.openxmlformats.org/drawingml/2006/table">
                <a:tbl>
                  <a:tblPr firstRow="1" firstCol="1" bandRow="1"/>
                  <a:tblGrid>
                    <a:gridCol w="2299748">
                      <a:extLst>
                        <a:ext uri="{9D8B030D-6E8A-4147-A177-3AD203B41FA5}">
                          <a16:colId xmlns:a16="http://schemas.microsoft.com/office/drawing/2014/main" val="1443280387"/>
                        </a:ext>
                      </a:extLst>
                    </a:gridCol>
                    <a:gridCol w="5076877">
                      <a:extLst>
                        <a:ext uri="{9D8B030D-6E8A-4147-A177-3AD203B41FA5}">
                          <a16:colId xmlns:a16="http://schemas.microsoft.com/office/drawing/2014/main" val="1048126053"/>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Problem</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Describe the Mistake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955984308"/>
                      </a:ext>
                    </a:extLst>
                  </a:tr>
                  <a:tr h="429768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52" t="-11504" r="-222099" b="-590"/>
                          </a:stretch>
                        </a:blipFill>
                      </a:tcPr>
                    </a:tc>
                    <a:tc>
                      <a:txBody>
                        <a:bodyPr/>
                        <a:lstStyle/>
                        <a:p>
                          <a:pPr marL="0" marR="0">
                            <a:spcBef>
                              <a:spcPts val="0"/>
                            </a:spcBef>
                            <a:spcAft>
                              <a:spcPts val="0"/>
                            </a:spcAft>
                          </a:pPr>
                          <a:r>
                            <a:rPr lang="en-US" sz="2000" i="1"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650484"/>
                      </a:ext>
                    </a:extLst>
                  </a:tr>
                </a:tbl>
              </a:graphicData>
            </a:graphic>
          </p:graphicFrame>
        </mc:Fallback>
      </mc:AlternateContent>
      <p:pic>
        <p:nvPicPr>
          <p:cNvPr id="10" name="Picture 9" descr="Diagram, schematic&#10;&#10;Description automatically generated"/>
          <p:cNvPicPr/>
          <p:nvPr/>
        </p:nvPicPr>
        <p:blipFill rotWithShape="1">
          <a:blip r:embed="rId5" cstate="screen">
            <a:extLst>
              <a:ext uri="{28A0092B-C50C-407E-A947-70E740481C1C}">
                <a14:useLocalDpi xmlns:a14="http://schemas.microsoft.com/office/drawing/2010/main"/>
              </a:ext>
            </a:extLst>
          </a:blip>
          <a:srcRect b="2628"/>
          <a:stretch/>
        </p:blipFill>
        <p:spPr>
          <a:xfrm>
            <a:off x="3079750" y="1622044"/>
            <a:ext cx="1308100" cy="3510788"/>
          </a:xfrm>
          <a:prstGeom prst="rect">
            <a:avLst/>
          </a:prstGeom>
        </p:spPr>
      </p:pic>
    </p:spTree>
    <p:extLst>
      <p:ext uri="{BB962C8B-B14F-4D97-AF65-F5344CB8AC3E}">
        <p14:creationId xmlns:p14="http://schemas.microsoft.com/office/powerpoint/2010/main" val="1165790470"/>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3138</TotalTime>
  <Words>840</Words>
  <Application>Microsoft Office PowerPoint</Application>
  <PresentationFormat>Widescreen</PresentationFormat>
  <Paragraphs>192</Paragraphs>
  <Slides>23</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Verdana</vt:lpstr>
      <vt:lpstr>Wingdings</vt:lpstr>
      <vt:lpstr>Century Gothic</vt:lpstr>
      <vt:lpstr>Calibri</vt:lpstr>
      <vt:lpstr>Arial Black</vt:lpstr>
      <vt:lpstr>Cambria Math</vt:lpstr>
      <vt:lpstr>Arial</vt:lpstr>
      <vt:lpstr>Cambria</vt:lpstr>
      <vt:lpstr>1_Office Theme</vt:lpstr>
      <vt:lpstr>8th Grade Math: Pre-Algebra  Unit 4, Lesson 4  Evaluating Numerical Expressions with Integer Exponents – Part 1  Volume 1, pg. 139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Try It</vt:lpstr>
      <vt:lpstr>PowerPoint Presentation</vt:lpstr>
      <vt:lpstr>PowerPoint Presentation</vt:lpstr>
      <vt:lpstr>Activity</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39</cp:revision>
  <dcterms:created xsi:type="dcterms:W3CDTF">2015-03-17T18:51:18Z</dcterms:created>
  <dcterms:modified xsi:type="dcterms:W3CDTF">2022-06-15T16:14:00Z</dcterms:modified>
</cp:coreProperties>
</file>