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345" r:id="rId4"/>
    <p:sldId id="286" r:id="rId5"/>
    <p:sldId id="261" r:id="rId6"/>
    <p:sldId id="287" r:id="rId7"/>
    <p:sldId id="289" r:id="rId8"/>
    <p:sldId id="290" r:id="rId9"/>
    <p:sldId id="308" r:id="rId10"/>
    <p:sldId id="314" r:id="rId11"/>
    <p:sldId id="315" r:id="rId12"/>
    <p:sldId id="316" r:id="rId13"/>
    <p:sldId id="340" r:id="rId14"/>
    <p:sldId id="341" r:id="rId15"/>
    <p:sldId id="346" r:id="rId16"/>
    <p:sldId id="347" r:id="rId17"/>
    <p:sldId id="348" r:id="rId18"/>
    <p:sldId id="354" r:id="rId19"/>
    <p:sldId id="355" r:id="rId20"/>
    <p:sldId id="356" r:id="rId21"/>
    <p:sldId id="362" r:id="rId22"/>
    <p:sldId id="363" r:id="rId23"/>
    <p:sldId id="364" r:id="rId24"/>
    <p:sldId id="365" r:id="rId25"/>
    <p:sldId id="367" r:id="rId26"/>
    <p:sldId id="368" r:id="rId27"/>
    <p:sldId id="369" r:id="rId28"/>
    <p:sldId id="306" r:id="rId29"/>
    <p:sldId id="307" r:id="rId30"/>
  </p:sldIdLst>
  <p:sldSz cx="12192000" cy="6858000"/>
  <p:notesSz cx="6858000" cy="9144000"/>
  <p:embeddedFontLst>
    <p:embeddedFont>
      <p:font typeface="Arial Black" panose="020B0A04020102020204" pitchFamily="34" charset="0"/>
      <p:bold r:id="rId32"/>
    </p:embeddedFont>
    <p:embeddedFont>
      <p:font typeface="Calibri" panose="020F0502020204030204" pitchFamily="34"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87" autoAdjust="0"/>
    <p:restoredTop sz="94609" autoAdjust="0"/>
  </p:normalViewPr>
  <p:slideViewPr>
    <p:cSldViewPr snapToGrid="0">
      <p:cViewPr varScale="1">
        <p:scale>
          <a:sx n="81" d="100"/>
          <a:sy n="81" d="100"/>
        </p:scale>
        <p:origin x="684"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56"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30503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843412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430118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472235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8340625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814399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161201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2218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565265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0134792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03189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036980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580747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236862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70.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4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6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172949" y="2212771"/>
            <a:ext cx="5327904"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Negative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Exponent Law</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123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903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5" y="1237668"/>
            <a:ext cx="1049817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MA.8.NSO.1.3</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237332" y="-88032"/>
            <a:ext cx="105980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730265" y="1346517"/>
            <a:ext cx="10822637"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6" y="1511710"/>
            <a:ext cx="1085213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apply the laws of exponents to evaluate numerical expressions with integer exponents.</a:t>
            </a:r>
          </a:p>
          <a:p>
            <a:pPr marL="531813" indent="-531813">
              <a:buFont typeface="Wingdings" pitchFamily="2" charset="2"/>
              <a:buChar char="q"/>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generate equivalent numerical expressions using the laws of exponents for expressions with integer exponents.</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182699"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8437" y="149299"/>
            <a:ext cx="10198323"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4.1.1 Warm-Up: Day at Work with a Fish Biologist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730266" y="1266259"/>
            <a:ext cx="11068444"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Moises, an ichthyologist, or fish biologist, says, “Try to be in touch with a system that you really want to study, with a system that really drives you crazy, because that’s how you nurture passion and passion is one of the most important things in becoming a researcher.”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is something that you are passionate about?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Why do you think he says that passion is one of the most important things in becoming a researcher?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51000" y="276415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9" name="image12.png" descr="Icon&#10;&#10;Description automatically generated">
            <a:extLst>
              <a:ext uri="{FF2B5EF4-FFF2-40B4-BE49-F238E27FC236}">
                <a16:creationId xmlns:a16="http://schemas.microsoft.com/office/drawing/2014/main" id="{65A7B9EC-8CF4-4748-9CF5-7715C69B85DE}"/>
              </a:ext>
            </a:extLst>
          </p:cNvPr>
          <p:cNvPicPr/>
          <p:nvPr/>
        </p:nvPicPr>
        <p:blipFill>
          <a:blip r:embed="rId4"/>
          <a:srcRect/>
          <a:stretch>
            <a:fillRect/>
          </a:stretch>
        </p:blipFill>
        <p:spPr>
          <a:xfrm>
            <a:off x="3054096" y="2852928"/>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1" y="-88033"/>
            <a:ext cx="97235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4.1.2 Refresher: Laws of Exponents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265" y="1133440"/>
            <a:ext cx="106161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rule for each exponent law shown.</a:t>
            </a:r>
          </a:p>
        </p:txBody>
      </p:sp>
      <p:pic>
        <p:nvPicPr>
          <p:cNvPr id="15" name="image12.png" descr="Icon&#10;&#10;Description automatically generated">
            <a:extLst>
              <a:ext uri="{FF2B5EF4-FFF2-40B4-BE49-F238E27FC236}">
                <a16:creationId xmlns:a16="http://schemas.microsoft.com/office/drawing/2014/main" id="{D1C62F14-C89D-2049-BB06-71ED29F83B04}"/>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7299" cy="747299"/>
          </a:xfrm>
          <a:prstGeom prst="rect">
            <a:avLst/>
          </a:prstGeom>
          <a:ln/>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751E8F47-42BA-CF4F-A466-6C027201026F}"/>
                  </a:ext>
                </a:extLst>
              </p:cNvPr>
              <p:cNvGraphicFramePr>
                <a:graphicFrameLocks noGrp="1"/>
              </p:cNvGraphicFramePr>
              <p:nvPr>
                <p:extLst>
                  <p:ext uri="{D42A27DB-BD31-4B8C-83A1-F6EECF244321}">
                    <p14:modId xmlns:p14="http://schemas.microsoft.com/office/powerpoint/2010/main" val="2976674306"/>
                  </p:ext>
                </p:extLst>
              </p:nvPr>
            </p:nvGraphicFramePr>
            <p:xfrm>
              <a:off x="1956000" y="1780078"/>
              <a:ext cx="8280000" cy="4488922"/>
            </p:xfrm>
            <a:graphic>
              <a:graphicData uri="http://schemas.openxmlformats.org/drawingml/2006/table">
                <a:tbl>
                  <a:tblPr firstRow="1" firstCol="1" bandRow="1"/>
                  <a:tblGrid>
                    <a:gridCol w="2520000">
                      <a:extLst>
                        <a:ext uri="{9D8B030D-6E8A-4147-A177-3AD203B41FA5}">
                          <a16:colId xmlns:a16="http://schemas.microsoft.com/office/drawing/2014/main" val="4254036439"/>
                        </a:ext>
                      </a:extLst>
                    </a:gridCol>
                    <a:gridCol w="3240000">
                      <a:extLst>
                        <a:ext uri="{9D8B030D-6E8A-4147-A177-3AD203B41FA5}">
                          <a16:colId xmlns:a16="http://schemas.microsoft.com/office/drawing/2014/main" val="1029522887"/>
                        </a:ext>
                      </a:extLst>
                    </a:gridCol>
                    <a:gridCol w="2520000">
                      <a:extLst>
                        <a:ext uri="{9D8B030D-6E8A-4147-A177-3AD203B41FA5}">
                          <a16:colId xmlns:a16="http://schemas.microsoft.com/office/drawing/2014/main" val="152692162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 Law</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Numerical Example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Algebraic Rule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31642277"/>
                      </a:ext>
                    </a:extLst>
                  </a:tr>
                  <a:tr h="432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m:t>
                                    </m:r>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𝑎</m:t>
                                  </m:r>
                                </m:e>
                                <m:sup>
                                  <m:r>
                                    <a:rPr lang="en-US" sz="2000" i="1">
                                      <a:effectLst/>
                                      <a:latin typeface="Cambria Math" panose="02040503050406030204" pitchFamily="18" charset="0"/>
                                      <a:ea typeface="Verdana" panose="020B0604030504040204" pitchFamily="34" charset="0"/>
                                      <a:cs typeface="Verdana" panose="020B0604030504040204" pitchFamily="34" charset="0"/>
                                    </a:rPr>
                                    <m:t>𝑚</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𝑎</m:t>
                                  </m:r>
                                </m:e>
                                <m:sup>
                                  <m:r>
                                    <a:rPr lang="en-US" sz="2000" i="1">
                                      <a:effectLst/>
                                      <a:latin typeface="Cambria Math" panose="02040503050406030204" pitchFamily="18" charset="0"/>
                                      <a:ea typeface="Verdana" panose="020B0604030504040204" pitchFamily="34" charset="0"/>
                                      <a:cs typeface="Verdana" panose="020B0604030504040204" pitchFamily="34" charset="0"/>
                                    </a:rPr>
                                    <m:t>𝑛</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a:effectLst/>
                              <a:latin typeface="Verdana" panose="020B0604030504040204" pitchFamily="34" charset="0"/>
                              <a:ea typeface="Verdana" panose="020B0604030504040204" pitchFamily="34" charset="0"/>
                              <a:cs typeface="Verdana" panose="020B0604030504040204" pitchFamily="34" charset="0"/>
                            </a:rPr>
                            <a:t>_______</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3661450"/>
                      </a:ext>
                    </a:extLst>
                  </a:tr>
                  <a:tr h="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(−7∙3)</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(−7)</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m:t>
                                  </m:r>
                                  <m:r>
                                    <a:rPr lang="en-US" sz="2000" i="1">
                                      <a:effectLst/>
                                      <a:latin typeface="Cambria Math" panose="02040503050406030204" pitchFamily="18" charset="0"/>
                                      <a:ea typeface="Verdana" panose="020B0604030504040204" pitchFamily="34" charset="0"/>
                                      <a:cs typeface="Verdana" panose="020B0604030504040204" pitchFamily="34" charset="0"/>
                                    </a:rPr>
                                    <m:t>𝑎𝑏</m:t>
                                  </m:r>
                                  <m:r>
                                    <a:rPr lang="en-US" sz="2000" i="1">
                                      <a:effectLst/>
                                      <a:latin typeface="Cambria Math" panose="02040503050406030204" pitchFamily="18" charset="0"/>
                                      <a:ea typeface="Verdana" panose="020B0604030504040204" pitchFamily="34" charset="0"/>
                                      <a:cs typeface="Verdana" panose="020B0604030504040204" pitchFamily="34" charset="0"/>
                                    </a:rPr>
                                    <m:t>)</m:t>
                                  </m:r>
                                </m:e>
                                <m:sup>
                                  <m:r>
                                    <a:rPr lang="en-US" sz="2000" i="1">
                                      <a:effectLst/>
                                      <a:latin typeface="Cambria Math" panose="02040503050406030204" pitchFamily="18" charset="0"/>
                                      <a:ea typeface="Verdana" panose="020B0604030504040204" pitchFamily="34" charset="0"/>
                                      <a:cs typeface="Verdana" panose="020B0604030504040204" pitchFamily="34" charset="0"/>
                                    </a:rPr>
                                    <m:t>𝑚</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a:effectLst/>
                              <a:latin typeface="Verdana" panose="020B0604030504040204" pitchFamily="34" charset="0"/>
                              <a:ea typeface="Verdana" panose="020B0604030504040204" pitchFamily="34" charset="0"/>
                              <a:cs typeface="Verdana" panose="020B0604030504040204" pitchFamily="34" charset="0"/>
                            </a:rPr>
                            <a:t>________</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606185"/>
                      </a:ext>
                    </a:extLst>
                  </a:tr>
                  <a:tr h="432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12</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𝑎</m:t>
                                      </m:r>
                                    </m:e>
                                    <m:sup>
                                      <m:r>
                                        <a:rPr lang="en-US" sz="2000" i="1">
                                          <a:effectLst/>
                                          <a:latin typeface="Cambria Math" panose="02040503050406030204" pitchFamily="18" charset="0"/>
                                          <a:ea typeface="Verdana" panose="020B0604030504040204" pitchFamily="34" charset="0"/>
                                          <a:cs typeface="Verdana" panose="020B0604030504040204" pitchFamily="34" charset="0"/>
                                        </a:rPr>
                                        <m:t>𝑚</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e>
                                <m:sup>
                                  <m:r>
                                    <a:rPr lang="en-US" sz="2000" i="1">
                                      <a:effectLst/>
                                      <a:latin typeface="Cambria Math" panose="02040503050406030204" pitchFamily="18" charset="0"/>
                                      <a:ea typeface="Verdana" panose="020B0604030504040204" pitchFamily="34" charset="0"/>
                                      <a:cs typeface="Verdana" panose="020B0604030504040204" pitchFamily="34" charset="0"/>
                                    </a:rPr>
                                    <m:t>𝑛</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a:effectLst/>
                              <a:latin typeface="Verdana" panose="020B0604030504040204" pitchFamily="34" charset="0"/>
                              <a:ea typeface="Verdana" panose="020B0604030504040204" pitchFamily="34" charset="0"/>
                              <a:cs typeface="Verdana" panose="020B0604030504040204" pitchFamily="34" charset="0"/>
                            </a:rPr>
                            <a:t>________</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6061221"/>
                      </a:ext>
                    </a:extLst>
                  </a:tr>
                  <a:tr h="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7</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𝑎</m:t>
                                      </m:r>
                                    </m:e>
                                    <m:sup>
                                      <m:r>
                                        <a:rPr lang="en-US" sz="2000" i="1">
                                          <a:effectLst/>
                                          <a:latin typeface="Cambria Math" panose="02040503050406030204" pitchFamily="18" charset="0"/>
                                          <a:ea typeface="Verdana" panose="020B0604030504040204" pitchFamily="34" charset="0"/>
                                          <a:cs typeface="Verdana" panose="020B0604030504040204" pitchFamily="34" charset="0"/>
                                        </a:rPr>
                                        <m:t>𝑚</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𝑎</m:t>
                                      </m:r>
                                    </m:e>
                                    <m:sup>
                                      <m:r>
                                        <a:rPr lang="en-US" sz="2000" i="1">
                                          <a:effectLst/>
                                          <a:latin typeface="Cambria Math" panose="02040503050406030204" pitchFamily="18" charset="0"/>
                                          <a:ea typeface="Verdana" panose="020B0604030504040204" pitchFamily="34" charset="0"/>
                                          <a:cs typeface="Verdana" panose="020B0604030504040204" pitchFamily="34" charset="0"/>
                                        </a:rPr>
                                        <m:t>𝑛</m:t>
                                      </m:r>
                                    </m:sup>
                                  </m:sSup>
                                </m:den>
                              </m:f>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a:effectLst/>
                              <a:latin typeface="Verdana" panose="020B0604030504040204" pitchFamily="34" charset="0"/>
                              <a:ea typeface="Verdana" panose="020B0604030504040204" pitchFamily="34" charset="0"/>
                              <a:cs typeface="Verdana" panose="020B0604030504040204" pitchFamily="34" charset="0"/>
                            </a:rPr>
                            <a:t>________</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348025"/>
                      </a:ext>
                    </a:extLst>
                  </a:tr>
                  <a:tr h="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13</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5</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den>
                                </m:f>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𝑎</m:t>
                                          </m:r>
                                        </m:num>
                                        <m:den>
                                          <m:r>
                                            <a:rPr lang="en-US" sz="2000" i="1">
                                              <a:effectLst/>
                                              <a:latin typeface="Cambria Math" panose="02040503050406030204" pitchFamily="18" charset="0"/>
                                              <a:ea typeface="Verdana" panose="020B0604030504040204" pitchFamily="34" charset="0"/>
                                              <a:cs typeface="Verdana" panose="020B0604030504040204" pitchFamily="34" charset="0"/>
                                            </a:rPr>
                                            <m:t>𝑏</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𝑚</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________</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0105566"/>
                      </a:ext>
                    </a:extLst>
                  </a:tr>
                  <a:tr h="432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15</m:t>
                                    </m:r>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=15</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𝑎</m:t>
                                  </m:r>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____</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7883153"/>
                      </a:ext>
                    </a:extLst>
                  </a:tr>
                  <a:tr h="432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127</m:t>
                                    </m:r>
                                  </m:e>
                                  <m:sup>
                                    <m:r>
                                      <a:rPr lang="en-US" sz="2000" i="1">
                                        <a:effectLst/>
                                        <a:latin typeface="Cambria Math" panose="02040503050406030204" pitchFamily="18" charset="0"/>
                                        <a:ea typeface="Verdana" panose="020B0604030504040204" pitchFamily="34" charset="0"/>
                                        <a:cs typeface="Verdana" panose="020B0604030504040204" pitchFamily="34" charset="0"/>
                                      </a:rPr>
                                      <m:t>0</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=1</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𝑎</m:t>
                                  </m:r>
                                </m:e>
                                <m:sup>
                                  <m:r>
                                    <a:rPr lang="en-US" sz="2000" i="1">
                                      <a:effectLst/>
                                      <a:latin typeface="Cambria Math" panose="02040503050406030204" pitchFamily="18" charset="0"/>
                                      <a:ea typeface="Verdana" panose="020B0604030504040204" pitchFamily="34" charset="0"/>
                                      <a:cs typeface="Verdana" panose="020B0604030504040204" pitchFamily="34" charset="0"/>
                                    </a:rPr>
                                    <m:t>0</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____</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8579664"/>
                      </a:ext>
                    </a:extLst>
                  </a:tr>
                </a:tbl>
              </a:graphicData>
            </a:graphic>
          </p:graphicFrame>
        </mc:Choice>
        <mc:Fallback>
          <p:graphicFrame>
            <p:nvGraphicFramePr>
              <p:cNvPr id="3" name="Table 2">
                <a:extLst>
                  <a:ext uri="{FF2B5EF4-FFF2-40B4-BE49-F238E27FC236}">
                    <a16:creationId xmlns:a16="http://schemas.microsoft.com/office/drawing/2014/main" id="{751E8F47-42BA-CF4F-A466-6C027201026F}"/>
                  </a:ext>
                </a:extLst>
              </p:cNvPr>
              <p:cNvGraphicFramePr>
                <a:graphicFrameLocks noGrp="1"/>
              </p:cNvGraphicFramePr>
              <p:nvPr>
                <p:extLst>
                  <p:ext uri="{D42A27DB-BD31-4B8C-83A1-F6EECF244321}">
                    <p14:modId xmlns:p14="http://schemas.microsoft.com/office/powerpoint/2010/main" val="2976674306"/>
                  </p:ext>
                </p:extLst>
              </p:nvPr>
            </p:nvGraphicFramePr>
            <p:xfrm>
              <a:off x="1956000" y="1780078"/>
              <a:ext cx="8280000" cy="4488922"/>
            </p:xfrm>
            <a:graphic>
              <a:graphicData uri="http://schemas.openxmlformats.org/drawingml/2006/table">
                <a:tbl>
                  <a:tblPr firstRow="1" firstCol="1" bandRow="1"/>
                  <a:tblGrid>
                    <a:gridCol w="2520000">
                      <a:extLst>
                        <a:ext uri="{9D8B030D-6E8A-4147-A177-3AD203B41FA5}">
                          <a16:colId xmlns:a16="http://schemas.microsoft.com/office/drawing/2014/main" val="4254036439"/>
                        </a:ext>
                      </a:extLst>
                    </a:gridCol>
                    <a:gridCol w="3240000">
                      <a:extLst>
                        <a:ext uri="{9D8B030D-6E8A-4147-A177-3AD203B41FA5}">
                          <a16:colId xmlns:a16="http://schemas.microsoft.com/office/drawing/2014/main" val="1029522887"/>
                        </a:ext>
                      </a:extLst>
                    </a:gridCol>
                    <a:gridCol w="2520000">
                      <a:extLst>
                        <a:ext uri="{9D8B030D-6E8A-4147-A177-3AD203B41FA5}">
                          <a16:colId xmlns:a16="http://schemas.microsoft.com/office/drawing/2014/main" val="152692162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 Law</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Numerical Example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Algebraic Rule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31642277"/>
                      </a:ext>
                    </a:extLst>
                  </a:tr>
                  <a:tr h="432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8008" t="-111268" r="-78383" b="-84929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28744" t="-111268" r="-725" b="-849296"/>
                          </a:stretch>
                        </a:blipFill>
                      </a:tcPr>
                    </a:tc>
                    <a:extLst>
                      <a:ext uri="{0D108BD9-81ED-4DB2-BD59-A6C34878D82A}">
                        <a16:rowId xmlns:a16="http://schemas.microsoft.com/office/drawing/2014/main" val="603661450"/>
                      </a:ext>
                    </a:extLst>
                  </a:tr>
                  <a:tr h="70104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8008" t="-130435" r="-78383" b="-424348"/>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28744" t="-130435" r="-725" b="-424348"/>
                          </a:stretch>
                        </a:blipFill>
                      </a:tcPr>
                    </a:tc>
                    <a:extLst>
                      <a:ext uri="{0D108BD9-81ED-4DB2-BD59-A6C34878D82A}">
                        <a16:rowId xmlns:a16="http://schemas.microsoft.com/office/drawing/2014/main" val="2004606185"/>
                      </a:ext>
                    </a:extLst>
                  </a:tr>
                  <a:tr h="432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8008" t="-373239" r="-78383" b="-58732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28744" t="-373239" r="-725" b="-587324"/>
                          </a:stretch>
                        </a:blipFill>
                      </a:tcPr>
                    </a:tc>
                    <a:extLst>
                      <a:ext uri="{0D108BD9-81ED-4DB2-BD59-A6C34878D82A}">
                        <a16:rowId xmlns:a16="http://schemas.microsoft.com/office/drawing/2014/main" val="3556061221"/>
                      </a:ext>
                    </a:extLst>
                  </a:tr>
                  <a:tr h="755396">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8008" t="-270968" r="-78383" b="-23629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28744" t="-270968" r="-725" b="-236290"/>
                          </a:stretch>
                        </a:blipFill>
                      </a:tcPr>
                    </a:tc>
                    <a:extLst>
                      <a:ext uri="{0D108BD9-81ED-4DB2-BD59-A6C34878D82A}">
                        <a16:rowId xmlns:a16="http://schemas.microsoft.com/office/drawing/2014/main" val="2162348025"/>
                      </a:ext>
                    </a:extLst>
                  </a:tr>
                  <a:tr h="836486">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8008" t="-335766" r="-78383" b="-11386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28744" t="-335766" r="-725" b="-113869"/>
                          </a:stretch>
                        </a:blipFill>
                      </a:tcPr>
                    </a:tc>
                    <a:extLst>
                      <a:ext uri="{0D108BD9-81ED-4DB2-BD59-A6C34878D82A}">
                        <a16:rowId xmlns:a16="http://schemas.microsoft.com/office/drawing/2014/main" val="4240105566"/>
                      </a:ext>
                    </a:extLst>
                  </a:tr>
                  <a:tr h="432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8008" t="-840845" r="-78383" b="-119718"/>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28744" t="-840845" r="-725" b="-119718"/>
                          </a:stretch>
                        </a:blipFill>
                      </a:tcPr>
                    </a:tc>
                    <a:extLst>
                      <a:ext uri="{0D108BD9-81ED-4DB2-BD59-A6C34878D82A}">
                        <a16:rowId xmlns:a16="http://schemas.microsoft.com/office/drawing/2014/main" val="1107883153"/>
                      </a:ext>
                    </a:extLst>
                  </a:tr>
                  <a:tr h="432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8008" t="-940845" r="-78383" b="-19718"/>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28744" t="-940845" r="-725" b="-19718"/>
                          </a:stretch>
                        </a:blipFill>
                      </a:tcPr>
                    </a:tc>
                    <a:extLst>
                      <a:ext uri="{0D108BD9-81ED-4DB2-BD59-A6C34878D82A}">
                        <a16:rowId xmlns:a16="http://schemas.microsoft.com/office/drawing/2014/main" val="1848579664"/>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889B13CF-7799-4D4C-A21A-ADC21E179E83}"/>
              </a:ext>
            </a:extLst>
          </p:cNvPr>
          <p:cNvSpPr/>
          <p:nvPr/>
        </p:nvSpPr>
        <p:spPr>
          <a:xfrm>
            <a:off x="525803" y="440253"/>
            <a:ext cx="10997603"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equivalent exponential expression by applying the laws of exponents.</a:t>
            </a:r>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B70908F0-7A14-5046-9B53-AC8526FBA242}"/>
                  </a:ext>
                </a:extLst>
              </p:cNvPr>
              <p:cNvGraphicFramePr>
                <a:graphicFrameLocks noGrp="1"/>
              </p:cNvGraphicFramePr>
              <p:nvPr>
                <p:extLst>
                  <p:ext uri="{D42A27DB-BD31-4B8C-83A1-F6EECF244321}">
                    <p14:modId xmlns:p14="http://schemas.microsoft.com/office/powerpoint/2010/main" val="717551879"/>
                  </p:ext>
                </p:extLst>
              </p:nvPr>
            </p:nvGraphicFramePr>
            <p:xfrm>
              <a:off x="2380862" y="1458000"/>
              <a:ext cx="7430275" cy="4996620"/>
            </p:xfrm>
            <a:graphic>
              <a:graphicData uri="http://schemas.openxmlformats.org/drawingml/2006/table">
                <a:tbl>
                  <a:tblPr firstRow="1" firstCol="1" bandRow="1"/>
                  <a:tblGrid>
                    <a:gridCol w="3960000">
                      <a:extLst>
                        <a:ext uri="{9D8B030D-6E8A-4147-A177-3AD203B41FA5}">
                          <a16:colId xmlns:a16="http://schemas.microsoft.com/office/drawing/2014/main" val="4185549357"/>
                        </a:ext>
                      </a:extLst>
                    </a:gridCol>
                    <a:gridCol w="3470275">
                      <a:extLst>
                        <a:ext uri="{9D8B030D-6E8A-4147-A177-3AD203B41FA5}">
                          <a16:colId xmlns:a16="http://schemas.microsoft.com/office/drawing/2014/main" val="1912958535"/>
                        </a:ext>
                      </a:extLst>
                    </a:gridCol>
                  </a:tblGrid>
                  <a:tr h="1665540">
                    <a:tc>
                      <a:txBody>
                        <a:bodyPr/>
                        <a:lstStyle/>
                        <a:p>
                          <a:pPr marL="342900" marR="0" lvl="0" indent="-342900">
                            <a:spcBef>
                              <a:spcPts val="0"/>
                            </a:spcBef>
                            <a:spcAft>
                              <a:spcPts val="0"/>
                            </a:spcAft>
                            <a:buFont typeface="+mj-lt"/>
                            <a:buAutoNum type="alphaLcPeriod"/>
                          </a:pPr>
                          <a:r>
                            <a:rPr lang="x-none"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11</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14</m:t>
                                      </m:r>
                                    </m:sup>
                                  </m:sSup>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11</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8</m:t>
                                      </m:r>
                                    </m:sup>
                                  </m:sSup>
                                </m:den>
                              </m:f>
                              <m:r>
                                <a:rPr lang="en-US" sz="2400" i="1"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______</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tc>
                      <a:txBody>
                        <a:bodyPr/>
                        <a:lstStyle/>
                        <a:p>
                          <a:pPr marL="358775" marR="0" lvl="0" indent="-358775">
                            <a:spcBef>
                              <a:spcPts val="0"/>
                            </a:spcBef>
                            <a:spcAft>
                              <a:spcPts val="0"/>
                            </a:spcAft>
                            <a:buFont typeface="+mj-lt"/>
                            <a:buAutoNum type="alphaLcPeriod" startAt="2"/>
                          </a:pPr>
                          <a:r>
                            <a:rPr lang="x-none"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______</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extLst>
                      <a:ext uri="{0D108BD9-81ED-4DB2-BD59-A6C34878D82A}">
                        <a16:rowId xmlns:a16="http://schemas.microsoft.com/office/drawing/2014/main" val="3816919450"/>
                      </a:ext>
                    </a:extLst>
                  </a:tr>
                  <a:tr h="1665540">
                    <a:tc>
                      <a:txBody>
                        <a:bodyPr/>
                        <a:lstStyle/>
                        <a:p>
                          <a:pPr marL="358775" marR="0" lvl="0" indent="-358775">
                            <a:spcBef>
                              <a:spcPts val="0"/>
                            </a:spcBef>
                            <a:spcAft>
                              <a:spcPts val="0"/>
                            </a:spcAft>
                            <a:buFont typeface="+mj-lt"/>
                            <a:buAutoNum type="alphaLcPeriod" startAt="3"/>
                          </a:pPr>
                          <a:r>
                            <a:rPr lang="x-none"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10</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______</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tc>
                      <a:txBody>
                        <a:bodyPr/>
                        <a:lstStyle/>
                        <a:p>
                          <a:pPr marL="358775" marR="0" lvl="0" indent="-358775">
                            <a:spcBef>
                              <a:spcPts val="0"/>
                            </a:spcBef>
                            <a:spcAft>
                              <a:spcPts val="0"/>
                            </a:spcAft>
                            <a:buFont typeface="+mj-lt"/>
                            <a:buAutoNum type="alphaLcPeriod" startAt="4"/>
                          </a:pPr>
                          <a:r>
                            <a:rPr lang="x-none"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effectLst/>
                                      <a:latin typeface="Cambria Math" panose="02040503050406030204" pitchFamily="18" charset="0"/>
                                      <a:ea typeface="Verdana" panose="020B0604030504040204" pitchFamily="34" charset="0"/>
                                      <a:cs typeface="Verdana" panose="020B0604030504040204" pitchFamily="34" charset="0"/>
                                    </a:rPr>
                                  </m:ctrlPr>
                                </m:sSupPr>
                                <m:e>
                                  <m:r>
                                    <a:rPr lang="en-US" sz="2400" i="1">
                                      <a:effectLst/>
                                      <a:latin typeface="Cambria Math" panose="02040503050406030204" pitchFamily="18" charset="0"/>
                                      <a:ea typeface="Verdana" panose="020B0604030504040204" pitchFamily="34" charset="0"/>
                                      <a:cs typeface="Verdana" panose="020B0604030504040204" pitchFamily="34" charset="0"/>
                                    </a:rPr>
                                    <m:t>(4∙−5)</m:t>
                                  </m:r>
                                </m:e>
                                <m:sup>
                                  <m:r>
                                    <a:rPr lang="en-US" sz="2400" i="1">
                                      <a:effectLst/>
                                      <a:latin typeface="Cambria Math" panose="02040503050406030204" pitchFamily="18" charset="0"/>
                                      <a:ea typeface="Verdana" panose="020B0604030504040204" pitchFamily="34" charset="0"/>
                                      <a:cs typeface="Verdana" panose="020B0604030504040204" pitchFamily="34" charset="0"/>
                                    </a:rPr>
                                    <m:t>2</m:t>
                                  </m:r>
                                </m:sup>
                              </m:sSup>
                              <m:r>
                                <a:rPr lang="en-PH" sz="2400" b="0" i="1" smtClean="0">
                                  <a:effectLst/>
                                  <a:latin typeface="Cambria Math"/>
                                  <a:ea typeface="Verdana" panose="020B0604030504040204" pitchFamily="34" charset="0"/>
                                  <a:cs typeface="Verdana" panose="020B0604030504040204" pitchFamily="34"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______</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extLst>
                      <a:ext uri="{0D108BD9-81ED-4DB2-BD59-A6C34878D82A}">
                        <a16:rowId xmlns:a16="http://schemas.microsoft.com/office/drawing/2014/main" val="77178731"/>
                      </a:ext>
                    </a:extLst>
                  </a:tr>
                  <a:tr h="1665540">
                    <a:tc>
                      <a:txBody>
                        <a:bodyPr/>
                        <a:lstStyle/>
                        <a:p>
                          <a:pPr marL="358775" marR="0" lvl="0" indent="-358775">
                            <a:spcBef>
                              <a:spcPts val="1200"/>
                            </a:spcBef>
                            <a:spcAft>
                              <a:spcPts val="0"/>
                            </a:spcAft>
                            <a:buFont typeface="+mj-lt"/>
                            <a:buAutoNum type="alphaLcPeriod" startAt="5"/>
                          </a:pPr>
                          <a:r>
                            <a:rPr lang="x-none"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8</m:t>
                                  </m:r>
                                </m:sup>
                              </m:sSup>
                              <m:r>
                                <a:rPr lang="en-PH" sz="2400" b="0" i="1" smtClean="0">
                                  <a:effectLst/>
                                  <a:latin typeface="Cambria Math"/>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______</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tc>
                      <a:txBody>
                        <a:bodyPr/>
                        <a:lstStyle/>
                        <a:p>
                          <a:pPr marL="358775" marR="0" lvl="0" indent="-358775">
                            <a:spcBef>
                              <a:spcPts val="0"/>
                            </a:spcBef>
                            <a:spcAft>
                              <a:spcPts val="0"/>
                            </a:spcAft>
                            <a:buFont typeface="+mj-lt"/>
                            <a:buAutoNum type="alphaLcPeriod" startAt="6"/>
                          </a:pPr>
                          <a:r>
                            <a:rPr lang="x-none"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4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400" i="1">
                                              <a:effectLst/>
                                              <a:latin typeface="Cambria Math" panose="02040503050406030204" pitchFamily="18" charset="0"/>
                                              <a:ea typeface="Verdana" panose="020B0604030504040204" pitchFamily="34" charset="0"/>
                                              <a:cs typeface="Verdana" panose="020B0604030504040204" pitchFamily="34" charset="0"/>
                                            </a:rPr>
                                          </m:ctrlPr>
                                        </m:fPr>
                                        <m:num>
                                          <m:r>
                                            <a:rPr lang="en-US" sz="2400" i="1">
                                              <a:effectLst/>
                                              <a:latin typeface="Cambria Math" panose="02040503050406030204" pitchFamily="18" charset="0"/>
                                              <a:ea typeface="Verdana" panose="020B0604030504040204" pitchFamily="34" charset="0"/>
                                              <a:cs typeface="Verdana" panose="020B0604030504040204" pitchFamily="34" charset="0"/>
                                            </a:rPr>
                                            <m:t>21</m:t>
                                          </m:r>
                                        </m:num>
                                        <m:den>
                                          <m:r>
                                            <a:rPr lang="en-US" sz="24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400" i="1">
                                      <a:effectLst/>
                                      <a:latin typeface="Cambria Math" panose="02040503050406030204" pitchFamily="18" charset="0"/>
                                      <a:ea typeface="Verdana" panose="020B0604030504040204" pitchFamily="34" charset="0"/>
                                      <a:cs typeface="Verdana" panose="020B0604030504040204" pitchFamily="34" charset="0"/>
                                    </a:rPr>
                                    <m:t>5</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______</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extLst>
                      <a:ext uri="{0D108BD9-81ED-4DB2-BD59-A6C34878D82A}">
                        <a16:rowId xmlns:a16="http://schemas.microsoft.com/office/drawing/2014/main" val="3540656257"/>
                      </a:ext>
                    </a:extLst>
                  </a:tr>
                </a:tbl>
              </a:graphicData>
            </a:graphic>
          </p:graphicFrame>
        </mc:Choice>
        <mc:Fallback>
          <p:graphicFrame>
            <p:nvGraphicFramePr>
              <p:cNvPr id="5" name="Table 4">
                <a:extLst>
                  <a:ext uri="{FF2B5EF4-FFF2-40B4-BE49-F238E27FC236}">
                    <a16:creationId xmlns:a16="http://schemas.microsoft.com/office/drawing/2014/main" id="{B70908F0-7A14-5046-9B53-AC8526FBA242}"/>
                  </a:ext>
                </a:extLst>
              </p:cNvPr>
              <p:cNvGraphicFramePr>
                <a:graphicFrameLocks noGrp="1"/>
              </p:cNvGraphicFramePr>
              <p:nvPr>
                <p:extLst>
                  <p:ext uri="{D42A27DB-BD31-4B8C-83A1-F6EECF244321}">
                    <p14:modId xmlns:p14="http://schemas.microsoft.com/office/powerpoint/2010/main" val="717551879"/>
                  </p:ext>
                </p:extLst>
              </p:nvPr>
            </p:nvGraphicFramePr>
            <p:xfrm>
              <a:off x="2380862" y="1458000"/>
              <a:ext cx="7430275" cy="4996620"/>
            </p:xfrm>
            <a:graphic>
              <a:graphicData uri="http://schemas.openxmlformats.org/drawingml/2006/table">
                <a:tbl>
                  <a:tblPr firstRow="1" firstCol="1" bandRow="1"/>
                  <a:tblGrid>
                    <a:gridCol w="3960000">
                      <a:extLst>
                        <a:ext uri="{9D8B030D-6E8A-4147-A177-3AD203B41FA5}">
                          <a16:colId xmlns:a16="http://schemas.microsoft.com/office/drawing/2014/main" val="4185549357"/>
                        </a:ext>
                      </a:extLst>
                    </a:gridCol>
                    <a:gridCol w="3470275">
                      <a:extLst>
                        <a:ext uri="{9D8B030D-6E8A-4147-A177-3AD203B41FA5}">
                          <a16:colId xmlns:a16="http://schemas.microsoft.com/office/drawing/2014/main" val="1912958535"/>
                        </a:ext>
                      </a:extLst>
                    </a:gridCol>
                  </a:tblGrid>
                  <a:tr h="1665540">
                    <a:tc>
                      <a:txBody>
                        <a:bodyPr/>
                        <a:lstStyle/>
                        <a:p>
                          <a:endParaRPr lang="en-US"/>
                        </a:p>
                      </a:txBody>
                      <a:tcPr marL="68580" marR="68580" marT="0" marB="0">
                        <a:lnL>
                          <a:noFill/>
                        </a:lnL>
                        <a:lnR>
                          <a:noFill/>
                        </a:lnR>
                        <a:lnT>
                          <a:noFill/>
                        </a:lnT>
                        <a:lnB>
                          <a:noFill/>
                        </a:lnB>
                        <a:blipFill>
                          <a:blip r:embed="rId4"/>
                          <a:stretch>
                            <a:fillRect t="-5861" r="-87692" b="-200366"/>
                          </a:stretch>
                        </a:blipFill>
                      </a:tcPr>
                    </a:tc>
                    <a:tc>
                      <a:txBody>
                        <a:bodyPr/>
                        <a:lstStyle/>
                        <a:p>
                          <a:endParaRPr lang="en-US"/>
                        </a:p>
                      </a:txBody>
                      <a:tcPr marL="68580" marR="68580" marT="0" marB="0">
                        <a:lnL>
                          <a:noFill/>
                        </a:lnL>
                        <a:lnR>
                          <a:noFill/>
                        </a:lnR>
                        <a:lnT>
                          <a:noFill/>
                        </a:lnT>
                        <a:lnB>
                          <a:noFill/>
                        </a:lnB>
                        <a:blipFill>
                          <a:blip r:embed="rId4"/>
                          <a:stretch>
                            <a:fillRect l="-114035" t="-5861" b="-200366"/>
                          </a:stretch>
                        </a:blipFill>
                      </a:tcPr>
                    </a:tc>
                    <a:extLst>
                      <a:ext uri="{0D108BD9-81ED-4DB2-BD59-A6C34878D82A}">
                        <a16:rowId xmlns:a16="http://schemas.microsoft.com/office/drawing/2014/main" val="3816919450"/>
                      </a:ext>
                    </a:extLst>
                  </a:tr>
                  <a:tr h="1665540">
                    <a:tc>
                      <a:txBody>
                        <a:bodyPr/>
                        <a:lstStyle/>
                        <a:p>
                          <a:endParaRPr lang="en-US"/>
                        </a:p>
                      </a:txBody>
                      <a:tcPr marL="68580" marR="68580" marT="0" marB="0">
                        <a:lnL>
                          <a:noFill/>
                        </a:lnL>
                        <a:lnR>
                          <a:noFill/>
                        </a:lnR>
                        <a:lnT>
                          <a:noFill/>
                        </a:lnT>
                        <a:lnB>
                          <a:noFill/>
                        </a:lnB>
                        <a:blipFill>
                          <a:blip r:embed="rId4"/>
                          <a:stretch>
                            <a:fillRect t="-105474" r="-87692" b="-99635"/>
                          </a:stretch>
                        </a:blipFill>
                      </a:tcPr>
                    </a:tc>
                    <a:tc>
                      <a:txBody>
                        <a:bodyPr/>
                        <a:lstStyle/>
                        <a:p>
                          <a:endParaRPr lang="en-US"/>
                        </a:p>
                      </a:txBody>
                      <a:tcPr marL="68580" marR="68580" marT="0" marB="0">
                        <a:lnL>
                          <a:noFill/>
                        </a:lnL>
                        <a:lnR>
                          <a:noFill/>
                        </a:lnR>
                        <a:lnT>
                          <a:noFill/>
                        </a:lnT>
                        <a:lnB>
                          <a:noFill/>
                        </a:lnB>
                        <a:blipFill>
                          <a:blip r:embed="rId4"/>
                          <a:stretch>
                            <a:fillRect l="-114035" t="-105474" b="-99635"/>
                          </a:stretch>
                        </a:blipFill>
                      </a:tcPr>
                    </a:tc>
                    <a:extLst>
                      <a:ext uri="{0D108BD9-81ED-4DB2-BD59-A6C34878D82A}">
                        <a16:rowId xmlns:a16="http://schemas.microsoft.com/office/drawing/2014/main" val="77178731"/>
                      </a:ext>
                    </a:extLst>
                  </a:tr>
                  <a:tr h="1665540">
                    <a:tc>
                      <a:txBody>
                        <a:bodyPr/>
                        <a:lstStyle/>
                        <a:p>
                          <a:endParaRPr lang="en-US"/>
                        </a:p>
                      </a:txBody>
                      <a:tcPr marL="68580" marR="68580" marT="0" marB="0">
                        <a:lnL>
                          <a:noFill/>
                        </a:lnL>
                        <a:lnR>
                          <a:noFill/>
                        </a:lnR>
                        <a:lnT>
                          <a:noFill/>
                        </a:lnT>
                        <a:lnB>
                          <a:noFill/>
                        </a:lnB>
                        <a:blipFill>
                          <a:blip r:embed="rId4"/>
                          <a:stretch>
                            <a:fillRect t="-206227" r="-87692"/>
                          </a:stretch>
                        </a:blipFill>
                      </a:tcPr>
                    </a:tc>
                    <a:tc>
                      <a:txBody>
                        <a:bodyPr/>
                        <a:lstStyle/>
                        <a:p>
                          <a:endParaRPr lang="en-US"/>
                        </a:p>
                      </a:txBody>
                      <a:tcPr marL="68580" marR="68580" marT="0" marB="0">
                        <a:lnL>
                          <a:noFill/>
                        </a:lnL>
                        <a:lnR>
                          <a:noFill/>
                        </a:lnR>
                        <a:lnT>
                          <a:noFill/>
                        </a:lnT>
                        <a:lnB>
                          <a:noFill/>
                        </a:lnB>
                        <a:blipFill>
                          <a:blip r:embed="rId4"/>
                          <a:stretch>
                            <a:fillRect l="-114035" t="-206227"/>
                          </a:stretch>
                        </a:blipFill>
                      </a:tcPr>
                    </a:tc>
                    <a:extLst>
                      <a:ext uri="{0D108BD9-81ED-4DB2-BD59-A6C34878D82A}">
                        <a16:rowId xmlns:a16="http://schemas.microsoft.com/office/drawing/2014/main" val="3540656257"/>
                      </a:ext>
                    </a:extLst>
                  </a:tr>
                </a:tbl>
              </a:graphicData>
            </a:graphic>
          </p:graphicFrame>
        </mc:Fallback>
      </mc:AlternateContent>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18238" y="2766150"/>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8" name="image9.png" descr="Icon&#10;&#10;Description automatically generated">
            <a:extLst>
              <a:ext uri="{FF2B5EF4-FFF2-40B4-BE49-F238E27FC236}">
                <a16:creationId xmlns:a16="http://schemas.microsoft.com/office/drawing/2014/main" id="{B54C8E51-67A7-E148-9267-0297043F8D2B}"/>
              </a:ext>
            </a:extLst>
          </p:cNvPr>
          <p:cNvPicPr/>
          <p:nvPr/>
        </p:nvPicPr>
        <p:blipFill>
          <a:blip r:embed="rId4"/>
          <a:srcRect/>
          <a:stretch>
            <a:fillRect/>
          </a:stretch>
        </p:blipFill>
        <p:spPr>
          <a:xfrm>
            <a:off x="3054096" y="2852928"/>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9840" y="-86778"/>
            <a:ext cx="1083417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4.1.3 Exploration: Finding Patterns to Evaluate Numeric Expressions with Exponents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731520" y="1400272"/>
            <a:ext cx="11008196"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p:pic>
        <p:nvPicPr>
          <p:cNvPr id="16" name="image9.png" descr="Icon&#10;&#10;Description automatically generated">
            <a:extLst>
              <a:ext uri="{FF2B5EF4-FFF2-40B4-BE49-F238E27FC236}">
                <a16:creationId xmlns:a16="http://schemas.microsoft.com/office/drawing/2014/main" id="{5C4EDF0B-7D72-8846-898C-F8B2E49A77C1}"/>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9808" cy="749808"/>
          </a:xfrm>
          <a:prstGeom prst="rect">
            <a:avLst/>
          </a:prstGeom>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8FAAE66-B385-E746-A293-DFD41B4204B1}"/>
                  </a:ext>
                </a:extLst>
              </p:cNvPr>
              <p:cNvGraphicFramePr>
                <a:graphicFrameLocks noGrp="1"/>
              </p:cNvGraphicFramePr>
              <p:nvPr>
                <p:extLst>
                  <p:ext uri="{D42A27DB-BD31-4B8C-83A1-F6EECF244321}">
                    <p14:modId xmlns:p14="http://schemas.microsoft.com/office/powerpoint/2010/main" val="1386587520"/>
                  </p:ext>
                </p:extLst>
              </p:nvPr>
            </p:nvGraphicFramePr>
            <p:xfrm>
              <a:off x="3396000" y="2729138"/>
              <a:ext cx="5400000" cy="3600000"/>
            </p:xfrm>
            <a:graphic>
              <a:graphicData uri="http://schemas.openxmlformats.org/drawingml/2006/table">
                <a:tbl>
                  <a:tblPr firstRow="1" firstCol="1" bandRow="1"/>
                  <a:tblGrid>
                    <a:gridCol w="3600000">
                      <a:extLst>
                        <a:ext uri="{9D8B030D-6E8A-4147-A177-3AD203B41FA5}">
                          <a16:colId xmlns:a16="http://schemas.microsoft.com/office/drawing/2014/main" val="990967410"/>
                        </a:ext>
                      </a:extLst>
                    </a:gridCol>
                    <a:gridCol w="1800000">
                      <a:extLst>
                        <a:ext uri="{9D8B030D-6E8A-4147-A177-3AD203B41FA5}">
                          <a16:colId xmlns:a16="http://schemas.microsoft.com/office/drawing/2014/main" val="1173133958"/>
                        </a:ext>
                      </a:extLst>
                    </a:gridCol>
                  </a:tblGrid>
                  <a:tr h="54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252108592"/>
                      </a:ext>
                    </a:extLst>
                  </a:tr>
                  <a:tr h="61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16</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5870950"/>
                      </a:ext>
                    </a:extLst>
                  </a:tr>
                  <a:tr h="61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078078"/>
                      </a:ext>
                    </a:extLst>
                  </a:tr>
                  <a:tr h="61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4479547"/>
                      </a:ext>
                    </a:extLst>
                  </a:tr>
                  <a:tr h="61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1598799"/>
                      </a:ext>
                    </a:extLst>
                  </a:tr>
                  <a:tr h="61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697686"/>
                      </a:ext>
                    </a:extLst>
                  </a:tr>
                </a:tbl>
              </a:graphicData>
            </a:graphic>
          </p:graphicFrame>
        </mc:Choice>
        <mc:Fallback xmlns="">
          <p:graphicFrame>
            <p:nvGraphicFramePr>
              <p:cNvPr id="4" name="Table 3">
                <a:extLst>
                  <a:ext uri="{FF2B5EF4-FFF2-40B4-BE49-F238E27FC236}">
                    <a16:creationId xmlns:a16="http://schemas.microsoft.com/office/drawing/2014/main" id="{28FAAE66-B385-E746-A293-DFD41B4204B1}"/>
                  </a:ext>
                </a:extLst>
              </p:cNvPr>
              <p:cNvGraphicFramePr>
                <a:graphicFrameLocks noGrp="1"/>
              </p:cNvGraphicFramePr>
              <p:nvPr>
                <p:extLst>
                  <p:ext uri="{D42A27DB-BD31-4B8C-83A1-F6EECF244321}">
                    <p14:modId xmlns:p14="http://schemas.microsoft.com/office/powerpoint/2010/main" val="1386587520"/>
                  </p:ext>
                </p:extLst>
              </p:nvPr>
            </p:nvGraphicFramePr>
            <p:xfrm>
              <a:off x="3396000" y="2729138"/>
              <a:ext cx="5400000" cy="3600000"/>
            </p:xfrm>
            <a:graphic>
              <a:graphicData uri="http://schemas.openxmlformats.org/drawingml/2006/table">
                <a:tbl>
                  <a:tblPr firstRow="1" firstCol="1" bandRow="1"/>
                  <a:tblGrid>
                    <a:gridCol w="3600000">
                      <a:extLst>
                        <a:ext uri="{9D8B030D-6E8A-4147-A177-3AD203B41FA5}">
                          <a16:colId xmlns:a16="http://schemas.microsoft.com/office/drawing/2014/main" val="990967410"/>
                        </a:ext>
                      </a:extLst>
                    </a:gridCol>
                    <a:gridCol w="1800000">
                      <a:extLst>
                        <a:ext uri="{9D8B030D-6E8A-4147-A177-3AD203B41FA5}">
                          <a16:colId xmlns:a16="http://schemas.microsoft.com/office/drawing/2014/main" val="1173133958"/>
                        </a:ext>
                      </a:extLst>
                    </a:gridCol>
                  </a:tblGrid>
                  <a:tr h="54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252108592"/>
                      </a:ext>
                    </a:extLst>
                  </a:tr>
                  <a:tr h="61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52" t="-89583" r="-50704" b="-40833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704" t="-89583" r="-1408" b="-408333"/>
                          </a:stretch>
                        </a:blipFill>
                      </a:tcPr>
                    </a:tc>
                    <a:extLst>
                      <a:ext uri="{0D108BD9-81ED-4DB2-BD59-A6C34878D82A}">
                        <a16:rowId xmlns:a16="http://schemas.microsoft.com/office/drawing/2014/main" val="1205870950"/>
                      </a:ext>
                    </a:extLst>
                  </a:tr>
                  <a:tr h="61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52" t="-185714" r="-50704" b="-300000"/>
                          </a:stretch>
                        </a:blipFill>
                      </a:tcPr>
                    </a:tc>
                    <a:tc>
                      <a:txBody>
                        <a:bodyPr/>
                        <a:lstStyle/>
                        <a:p>
                          <a:pPr marL="0" marR="0" algn="ctr">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078078"/>
                      </a:ext>
                    </a:extLst>
                  </a:tr>
                  <a:tr h="61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52" t="-291667" r="-50704" b="-206250"/>
                          </a:stretch>
                        </a:blipFill>
                      </a:tcPr>
                    </a:tc>
                    <a:tc>
                      <a:txBody>
                        <a:bodyPr/>
                        <a:lstStyle/>
                        <a:p>
                          <a:pPr marL="0" marR="0" algn="ctr">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4479547"/>
                      </a:ext>
                    </a:extLst>
                  </a:tr>
                  <a:tr h="61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52" t="-383673" r="-50704" b="-102041"/>
                          </a:stretch>
                        </a:blipFill>
                      </a:tcPr>
                    </a:tc>
                    <a:tc>
                      <a:txBody>
                        <a:bodyPr/>
                        <a:lstStyle/>
                        <a:p>
                          <a:pPr marL="0" marR="0" algn="ctr">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1598799"/>
                      </a:ext>
                    </a:extLst>
                  </a:tr>
                  <a:tr h="61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52" t="-493750" r="-50704" b="-4167"/>
                          </a:stretch>
                        </a:blipFill>
                      </a:tcPr>
                    </a:tc>
                    <a:tc>
                      <a:txBody>
                        <a:bodyPr/>
                        <a:lstStyle/>
                        <a:p>
                          <a:pPr marL="0" marR="0" algn="ctr">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697686"/>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235"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559104" y="485304"/>
            <a:ext cx="11180612"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Describe any mathematical pattern(s) you notice regarding how the values of the expressions change as the exponent changes. </a:t>
            </a:r>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F54A4596-5923-6342-9500-70E8F702680A}"/>
                  </a:ext>
                </a:extLst>
              </p:cNvPr>
              <p:cNvSpPr/>
              <p:nvPr/>
            </p:nvSpPr>
            <p:spPr>
              <a:xfrm>
                <a:off x="559104" y="3410687"/>
                <a:ext cx="10954470" cy="2677656"/>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449263">
                  <a:lnSpc>
                    <a:spcPct val="2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As the exponent                     by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the value of the expression can be found by 		      the previous value by</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6" name="Rectangle 5">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559104" y="3410687"/>
                <a:ext cx="10954470" cy="2677656"/>
              </a:xfrm>
              <a:prstGeom prst="rect">
                <a:avLst/>
              </a:prstGeom>
              <a:blipFill>
                <a:blip r:embed="rId4"/>
                <a:stretch>
                  <a:fillRect l="-890" t="-1818"/>
                </a:stretch>
              </a:blipFill>
            </p:spPr>
            <p:txBody>
              <a:bodyPr/>
              <a:lstStyle/>
              <a:p>
                <a:r>
                  <a:rPr lang="en-US">
                    <a:noFill/>
                  </a:rPr>
                  <a:t> </a:t>
                </a:r>
              </a:p>
            </p:txBody>
          </p:sp>
        </mc:Fallback>
      </mc:AlternateContent>
      <p:pic>
        <p:nvPicPr>
          <p:cNvPr id="7" name="Picture 6" descr="Shape&#10;&#10;Description automatically generated with low confidence">
            <a:extLst>
              <a:ext uri="{FF2B5EF4-FFF2-40B4-BE49-F238E27FC236}">
                <a16:creationId xmlns:a16="http://schemas.microsoft.com/office/drawing/2014/main" id="{8742DCAA-BFAE-B147-B872-E095CB883E4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762971" y="3995483"/>
            <a:ext cx="2028135" cy="851534"/>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3C05F64A-49CB-7B40-9A73-C5EB336236C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762970" y="4965686"/>
            <a:ext cx="2028135" cy="840934"/>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770BD5F3-A2CF-544F-9A87-9F95F442266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278999" y="4799517"/>
            <a:ext cx="991499" cy="1241326"/>
          </a:xfrm>
          <a:prstGeom prst="rect">
            <a:avLst/>
          </a:prstGeom>
        </p:spPr>
      </p:pic>
    </p:spTree>
    <p:extLst>
      <p:ext uri="{BB962C8B-B14F-4D97-AF65-F5344CB8AC3E}">
        <p14:creationId xmlns:p14="http://schemas.microsoft.com/office/powerpoint/2010/main" val="1251846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647889" y="459974"/>
            <a:ext cx="10166589" cy="461665"/>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Continue the pattern to complete the table.</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7F3ED87-79AD-E949-96F8-DA3A76D91271}"/>
                  </a:ext>
                </a:extLst>
              </p:cNvPr>
              <p:cNvGraphicFramePr>
                <a:graphicFrameLocks noGrp="1"/>
              </p:cNvGraphicFramePr>
              <p:nvPr>
                <p:extLst>
                  <p:ext uri="{D42A27DB-BD31-4B8C-83A1-F6EECF244321}">
                    <p14:modId xmlns:p14="http://schemas.microsoft.com/office/powerpoint/2010/main" val="3471025924"/>
                  </p:ext>
                </p:extLst>
              </p:nvPr>
            </p:nvGraphicFramePr>
            <p:xfrm>
              <a:off x="3396000" y="1070097"/>
              <a:ext cx="5400000" cy="3168000"/>
            </p:xfrm>
            <a:graphic>
              <a:graphicData uri="http://schemas.openxmlformats.org/drawingml/2006/table">
                <a:tbl>
                  <a:tblPr firstRow="1" firstCol="1" bandRow="1"/>
                  <a:tblGrid>
                    <a:gridCol w="3600000">
                      <a:extLst>
                        <a:ext uri="{9D8B030D-6E8A-4147-A177-3AD203B41FA5}">
                          <a16:colId xmlns:a16="http://schemas.microsoft.com/office/drawing/2014/main" val="3705836473"/>
                        </a:ext>
                      </a:extLst>
                    </a:gridCol>
                    <a:gridCol w="1800000">
                      <a:extLst>
                        <a:ext uri="{9D8B030D-6E8A-4147-A177-3AD203B41FA5}">
                          <a16:colId xmlns:a16="http://schemas.microsoft.com/office/drawing/2014/main" val="2812796990"/>
                        </a:ext>
                      </a:extLst>
                    </a:gridCol>
                  </a:tblGrid>
                  <a:tr h="46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376281615"/>
                      </a:ext>
                    </a:extLst>
                  </a:tr>
                  <a:tr h="54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2</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6434013"/>
                      </a:ext>
                    </a:extLst>
                  </a:tr>
                  <a:tr h="54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4746932"/>
                      </a:ext>
                    </a:extLst>
                  </a:tr>
                  <a:tr h="54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solidFill>
                                <a:srgbClr val="000000"/>
                              </a:solidFill>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1911810"/>
                      </a:ext>
                    </a:extLst>
                  </a:tr>
                  <a:tr h="54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solidFill>
                                <a:srgbClr val="000000"/>
                              </a:solidFill>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119241"/>
                      </a:ext>
                    </a:extLst>
                  </a:tr>
                  <a:tr h="54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solidFill>
                                <a:srgbClr val="000000"/>
                              </a:solidFill>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8071695"/>
                      </a:ext>
                    </a:extLst>
                  </a:tr>
                </a:tbl>
              </a:graphicData>
            </a:graphic>
          </p:graphicFrame>
        </mc:Choice>
        <mc:Fallback xmlns="">
          <p:graphicFrame>
            <p:nvGraphicFramePr>
              <p:cNvPr id="4" name="Table 3">
                <a:extLst>
                  <a:ext uri="{FF2B5EF4-FFF2-40B4-BE49-F238E27FC236}">
                    <a16:creationId xmlns:a16="http://schemas.microsoft.com/office/drawing/2014/main" id="{E7F3ED87-79AD-E949-96F8-DA3A76D91271}"/>
                  </a:ext>
                </a:extLst>
              </p:cNvPr>
              <p:cNvGraphicFramePr>
                <a:graphicFrameLocks noGrp="1"/>
              </p:cNvGraphicFramePr>
              <p:nvPr>
                <p:extLst>
                  <p:ext uri="{D42A27DB-BD31-4B8C-83A1-F6EECF244321}">
                    <p14:modId xmlns:p14="http://schemas.microsoft.com/office/powerpoint/2010/main" val="3471025924"/>
                  </p:ext>
                </p:extLst>
              </p:nvPr>
            </p:nvGraphicFramePr>
            <p:xfrm>
              <a:off x="3396000" y="1070097"/>
              <a:ext cx="5400000" cy="3168000"/>
            </p:xfrm>
            <a:graphic>
              <a:graphicData uri="http://schemas.openxmlformats.org/drawingml/2006/table">
                <a:tbl>
                  <a:tblPr firstRow="1" firstCol="1" bandRow="1"/>
                  <a:tblGrid>
                    <a:gridCol w="3600000">
                      <a:extLst>
                        <a:ext uri="{9D8B030D-6E8A-4147-A177-3AD203B41FA5}">
                          <a16:colId xmlns:a16="http://schemas.microsoft.com/office/drawing/2014/main" val="3705836473"/>
                        </a:ext>
                      </a:extLst>
                    </a:gridCol>
                    <a:gridCol w="1800000">
                      <a:extLst>
                        <a:ext uri="{9D8B030D-6E8A-4147-A177-3AD203B41FA5}">
                          <a16:colId xmlns:a16="http://schemas.microsoft.com/office/drawing/2014/main" val="2812796990"/>
                        </a:ext>
                      </a:extLst>
                    </a:gridCol>
                  </a:tblGrid>
                  <a:tr h="46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376281615"/>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52" t="-88372" r="-50704" b="-4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00704" t="-88372" r="-1408" b="-400000"/>
                          </a:stretch>
                        </a:blipFill>
                      </a:tcPr>
                    </a:tc>
                    <a:extLst>
                      <a:ext uri="{0D108BD9-81ED-4DB2-BD59-A6C34878D82A}">
                        <a16:rowId xmlns:a16="http://schemas.microsoft.com/office/drawing/2014/main" val="1046434013"/>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52" t="-192857" r="-50704" b="-30952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00704" t="-192857" r="-1408" b="-309524"/>
                          </a:stretch>
                        </a:blipFill>
                      </a:tcPr>
                    </a:tc>
                    <a:extLst>
                      <a:ext uri="{0D108BD9-81ED-4DB2-BD59-A6C34878D82A}">
                        <a16:rowId xmlns:a16="http://schemas.microsoft.com/office/drawing/2014/main" val="3974746932"/>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52" t="-286047" r="-50704" b="-202326"/>
                          </a:stretch>
                        </a:blipFill>
                      </a:tcPr>
                    </a:tc>
                    <a:tc>
                      <a:txBody>
                        <a:bodyPr/>
                        <a:lstStyle/>
                        <a:p>
                          <a:pPr marL="0" marR="0" algn="ctr">
                            <a:spcBef>
                              <a:spcPts val="0"/>
                            </a:spcBef>
                            <a:spcAft>
                              <a:spcPts val="0"/>
                            </a:spcAft>
                          </a:pPr>
                          <a:r>
                            <a:rPr lang="en-US" sz="2000" i="1" dirty="0">
                              <a:solidFill>
                                <a:srgbClr val="000000"/>
                              </a:solidFill>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1911810"/>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52" t="-395238" r="-50704" b="-107143"/>
                          </a:stretch>
                        </a:blipFill>
                      </a:tcPr>
                    </a:tc>
                    <a:tc>
                      <a:txBody>
                        <a:bodyPr/>
                        <a:lstStyle/>
                        <a:p>
                          <a:pPr marL="0" marR="0" algn="ctr">
                            <a:spcBef>
                              <a:spcPts val="0"/>
                            </a:spcBef>
                            <a:spcAft>
                              <a:spcPts val="0"/>
                            </a:spcAft>
                          </a:pPr>
                          <a:r>
                            <a:rPr lang="en-US" sz="2000" i="1" dirty="0">
                              <a:solidFill>
                                <a:srgbClr val="000000"/>
                              </a:solidFill>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119241"/>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52" t="-483721" r="-50704" b="-4651"/>
                          </a:stretch>
                        </a:blipFill>
                      </a:tcPr>
                    </a:tc>
                    <a:tc>
                      <a:txBody>
                        <a:bodyPr/>
                        <a:lstStyle/>
                        <a:p>
                          <a:pPr marL="0" marR="0" algn="ctr">
                            <a:spcBef>
                              <a:spcPts val="0"/>
                            </a:spcBef>
                            <a:spcAft>
                              <a:spcPts val="0"/>
                            </a:spcAft>
                          </a:pPr>
                          <a:r>
                            <a:rPr lang="en-US" sz="2000" i="1" dirty="0">
                              <a:solidFill>
                                <a:srgbClr val="000000"/>
                              </a:solidFill>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8071695"/>
                      </a:ext>
                    </a:extLst>
                  </a:tr>
                </a:tbl>
              </a:graphicData>
            </a:graphic>
          </p:graphicFrame>
        </mc:Fallback>
      </mc:AlternateContent>
      <p:cxnSp>
        <p:nvCxnSpPr>
          <p:cNvPr id="8" name="Curved Connector 7">
            <a:extLst>
              <a:ext uri="{FF2B5EF4-FFF2-40B4-BE49-F238E27FC236}">
                <a16:creationId xmlns:a16="http://schemas.microsoft.com/office/drawing/2014/main" id="{A0E70C3B-AA9C-D049-A83D-A8BBF13EC780}"/>
              </a:ext>
            </a:extLst>
          </p:cNvPr>
          <p:cNvCxnSpPr/>
          <p:nvPr/>
        </p:nvCxnSpPr>
        <p:spPr>
          <a:xfrm flipH="1">
            <a:off x="5388712" y="1701842"/>
            <a:ext cx="45085" cy="520700"/>
          </a:xfrm>
          <a:prstGeom prst="curvedConnector3">
            <a:avLst>
              <a:gd name="adj1" fmla="val -284279"/>
            </a:avLst>
          </a:prstGeom>
          <a:ln w="19050">
            <a:tailEnd type="triangle"/>
          </a:ln>
        </p:spPr>
        <p:style>
          <a:lnRef idx="1">
            <a:schemeClr val="accent6"/>
          </a:lnRef>
          <a:fillRef idx="0">
            <a:schemeClr val="accent6"/>
          </a:fillRef>
          <a:effectRef idx="0">
            <a:schemeClr val="accent6"/>
          </a:effectRef>
          <a:fontRef idx="minor">
            <a:schemeClr val="tx1"/>
          </a:fontRef>
        </p:style>
      </p:cxnSp>
      <p:cxnSp>
        <p:nvCxnSpPr>
          <p:cNvPr id="9" name="Curved Connector 8">
            <a:extLst>
              <a:ext uri="{FF2B5EF4-FFF2-40B4-BE49-F238E27FC236}">
                <a16:creationId xmlns:a16="http://schemas.microsoft.com/office/drawing/2014/main" id="{60CE7B50-48D5-7D4F-B129-62A6B0B3C255}"/>
              </a:ext>
            </a:extLst>
          </p:cNvPr>
          <p:cNvCxnSpPr/>
          <p:nvPr/>
        </p:nvCxnSpPr>
        <p:spPr>
          <a:xfrm flipH="1">
            <a:off x="5409032" y="2247942"/>
            <a:ext cx="45085" cy="520700"/>
          </a:xfrm>
          <a:prstGeom prst="curvedConnector3">
            <a:avLst>
              <a:gd name="adj1" fmla="val -284279"/>
            </a:avLst>
          </a:prstGeom>
          <a:ln w="19050">
            <a:tailEnd type="triangle"/>
          </a:ln>
        </p:spPr>
        <p:style>
          <a:lnRef idx="1">
            <a:schemeClr val="accent6"/>
          </a:lnRef>
          <a:fillRef idx="0">
            <a:schemeClr val="accent6"/>
          </a:fillRef>
          <a:effectRef idx="0">
            <a:schemeClr val="accent6"/>
          </a:effectRef>
          <a:fontRef idx="minor">
            <a:schemeClr val="tx1"/>
          </a:fontRef>
        </p:style>
      </p:cxnSp>
      <p:cxnSp>
        <p:nvCxnSpPr>
          <p:cNvPr id="10" name="Curved Connector 9">
            <a:extLst>
              <a:ext uri="{FF2B5EF4-FFF2-40B4-BE49-F238E27FC236}">
                <a16:creationId xmlns:a16="http://schemas.microsoft.com/office/drawing/2014/main" id="{10269FE5-B429-B648-BC6B-6E5D28518053}"/>
              </a:ext>
            </a:extLst>
          </p:cNvPr>
          <p:cNvCxnSpPr/>
          <p:nvPr/>
        </p:nvCxnSpPr>
        <p:spPr>
          <a:xfrm flipH="1">
            <a:off x="5421732" y="2817537"/>
            <a:ext cx="45085" cy="520700"/>
          </a:xfrm>
          <a:prstGeom prst="curvedConnector3">
            <a:avLst>
              <a:gd name="adj1" fmla="val -284279"/>
            </a:avLst>
          </a:prstGeom>
          <a:ln w="19050">
            <a:tailEnd type="triangle"/>
          </a:ln>
        </p:spPr>
        <p:style>
          <a:lnRef idx="1">
            <a:schemeClr val="accent6"/>
          </a:lnRef>
          <a:fillRef idx="0">
            <a:schemeClr val="accent6"/>
          </a:fillRef>
          <a:effectRef idx="0">
            <a:schemeClr val="accent6"/>
          </a:effectRef>
          <a:fontRef idx="minor">
            <a:schemeClr val="tx1"/>
          </a:fontRef>
        </p:style>
      </p:cxnSp>
      <p:cxnSp>
        <p:nvCxnSpPr>
          <p:cNvPr id="11" name="Curved Connector 10">
            <a:extLst>
              <a:ext uri="{FF2B5EF4-FFF2-40B4-BE49-F238E27FC236}">
                <a16:creationId xmlns:a16="http://schemas.microsoft.com/office/drawing/2014/main" id="{65A8F3BD-FE79-004C-8A52-D31440318801}"/>
              </a:ext>
            </a:extLst>
          </p:cNvPr>
          <p:cNvCxnSpPr/>
          <p:nvPr/>
        </p:nvCxnSpPr>
        <p:spPr>
          <a:xfrm flipH="1">
            <a:off x="5442052" y="3376337"/>
            <a:ext cx="45085" cy="520700"/>
          </a:xfrm>
          <a:prstGeom prst="curvedConnector3">
            <a:avLst>
              <a:gd name="adj1" fmla="val -284279"/>
            </a:avLst>
          </a:prstGeom>
          <a:ln w="19050">
            <a:tailEnd type="triangle"/>
          </a:ln>
        </p:spPr>
        <p:style>
          <a:lnRef idx="1">
            <a:schemeClr val="accent6"/>
          </a:lnRef>
          <a:fillRef idx="0">
            <a:schemeClr val="accent6"/>
          </a:fillRef>
          <a:effectRef idx="0">
            <a:schemeClr val="accent6"/>
          </a:effectRef>
          <a:fontRef idx="minor">
            <a:schemeClr val="tx1"/>
          </a:fontRef>
        </p:style>
      </p:cxnSp>
      <p:cxnSp>
        <p:nvCxnSpPr>
          <p:cNvPr id="13" name="Curved Connector 12">
            <a:extLst>
              <a:ext uri="{FF2B5EF4-FFF2-40B4-BE49-F238E27FC236}">
                <a16:creationId xmlns:a16="http://schemas.microsoft.com/office/drawing/2014/main" id="{10B5D16F-EBC4-E64B-9B42-D289A641B48E}"/>
              </a:ext>
            </a:extLst>
          </p:cNvPr>
          <p:cNvCxnSpPr/>
          <p:nvPr/>
        </p:nvCxnSpPr>
        <p:spPr>
          <a:xfrm flipH="1">
            <a:off x="8854497" y="1646597"/>
            <a:ext cx="50165" cy="533400"/>
          </a:xfrm>
          <a:prstGeom prst="curvedConnector3">
            <a:avLst>
              <a:gd name="adj1" fmla="val -385546"/>
            </a:avLst>
          </a:prstGeom>
          <a:ln w="19050">
            <a:tailEnd type="triangle"/>
          </a:ln>
          <a:effectLst/>
        </p:spPr>
        <p:style>
          <a:lnRef idx="2">
            <a:schemeClr val="accent1"/>
          </a:lnRef>
          <a:fillRef idx="0">
            <a:schemeClr val="accent1"/>
          </a:fillRef>
          <a:effectRef idx="1">
            <a:schemeClr val="accent1"/>
          </a:effectRef>
          <a:fontRef idx="minor">
            <a:schemeClr val="tx1"/>
          </a:fontRef>
        </p:style>
      </p:cxnSp>
      <p:cxnSp>
        <p:nvCxnSpPr>
          <p:cNvPr id="14" name="Curved Connector 13">
            <a:extLst>
              <a:ext uri="{FF2B5EF4-FFF2-40B4-BE49-F238E27FC236}">
                <a16:creationId xmlns:a16="http://schemas.microsoft.com/office/drawing/2014/main" id="{B3ACCCF9-002B-524B-93E4-43659A352E53}"/>
              </a:ext>
            </a:extLst>
          </p:cNvPr>
          <p:cNvCxnSpPr/>
          <p:nvPr/>
        </p:nvCxnSpPr>
        <p:spPr>
          <a:xfrm flipH="1">
            <a:off x="8879897" y="2247942"/>
            <a:ext cx="50165" cy="533400"/>
          </a:xfrm>
          <a:prstGeom prst="curvedConnector3">
            <a:avLst>
              <a:gd name="adj1" fmla="val -385546"/>
            </a:avLst>
          </a:prstGeom>
          <a:ln w="19050">
            <a:tailEnd type="triangle"/>
          </a:ln>
          <a:effectLst/>
        </p:spPr>
        <p:style>
          <a:lnRef idx="2">
            <a:schemeClr val="accent1"/>
          </a:lnRef>
          <a:fillRef idx="0">
            <a:schemeClr val="accent1"/>
          </a:fillRef>
          <a:effectRef idx="1">
            <a:schemeClr val="accent1"/>
          </a:effectRef>
          <a:fontRef idx="minor">
            <a:schemeClr val="tx1"/>
          </a:fontRef>
        </p:style>
      </p:cxnSp>
      <p:cxnSp>
        <p:nvCxnSpPr>
          <p:cNvPr id="15" name="Curved Connector 14">
            <a:extLst>
              <a:ext uri="{FF2B5EF4-FFF2-40B4-BE49-F238E27FC236}">
                <a16:creationId xmlns:a16="http://schemas.microsoft.com/office/drawing/2014/main" id="{8324BC0D-2AB3-5C4C-86AE-DEB79C38421C}"/>
              </a:ext>
            </a:extLst>
          </p:cNvPr>
          <p:cNvCxnSpPr/>
          <p:nvPr/>
        </p:nvCxnSpPr>
        <p:spPr>
          <a:xfrm flipH="1">
            <a:off x="8879897" y="2872147"/>
            <a:ext cx="50165" cy="533400"/>
          </a:xfrm>
          <a:prstGeom prst="curvedConnector3">
            <a:avLst>
              <a:gd name="adj1" fmla="val -385546"/>
            </a:avLst>
          </a:prstGeom>
          <a:ln w="19050">
            <a:tailEnd type="triangle"/>
          </a:ln>
          <a:effectLst/>
        </p:spPr>
        <p:style>
          <a:lnRef idx="2">
            <a:schemeClr val="accent1"/>
          </a:lnRef>
          <a:fillRef idx="0">
            <a:schemeClr val="accent1"/>
          </a:fillRef>
          <a:effectRef idx="1">
            <a:schemeClr val="accent1"/>
          </a:effectRef>
          <a:fontRef idx="minor">
            <a:schemeClr val="tx1"/>
          </a:fontRef>
        </p:style>
      </p:cxnSp>
      <p:cxnSp>
        <p:nvCxnSpPr>
          <p:cNvPr id="16" name="Curved Connector 15">
            <a:extLst>
              <a:ext uri="{FF2B5EF4-FFF2-40B4-BE49-F238E27FC236}">
                <a16:creationId xmlns:a16="http://schemas.microsoft.com/office/drawing/2014/main" id="{D7D3FB90-373F-A144-B5FF-FE3B8A1EC9F9}"/>
              </a:ext>
            </a:extLst>
          </p:cNvPr>
          <p:cNvCxnSpPr/>
          <p:nvPr/>
        </p:nvCxnSpPr>
        <p:spPr>
          <a:xfrm flipH="1">
            <a:off x="8892597" y="3499527"/>
            <a:ext cx="50165" cy="533400"/>
          </a:xfrm>
          <a:prstGeom prst="curvedConnector3">
            <a:avLst>
              <a:gd name="adj1" fmla="val -385546"/>
            </a:avLst>
          </a:prstGeom>
          <a:ln w="19050">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66FD0A70-1C69-DC4C-B9FD-46D449815A90}"/>
                  </a:ext>
                </a:extLst>
              </p:cNvPr>
              <p:cNvSpPr/>
              <p:nvPr/>
            </p:nvSpPr>
            <p:spPr>
              <a:xfrm>
                <a:off x="647888" y="4724854"/>
                <a:ext cx="10166589" cy="461665"/>
              </a:xfrm>
              <a:prstGeom prst="rect">
                <a:avLst/>
              </a:prstGeom>
            </p:spPr>
            <p:txBody>
              <a:bodyPr wrap="square">
                <a:spAutoFit/>
              </a:bodyPr>
              <a:lstStyle/>
              <a:p>
                <a:pPr marL="457200" indent="-457200">
                  <a:buFont typeface="+mj-lt"/>
                  <a:buAutoNum type="arabi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Compare the values of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3</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−3</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What do you notice?</a:t>
                </a:r>
              </a:p>
            </p:txBody>
          </p:sp>
        </mc:Choice>
        <mc:Fallback xmlns="">
          <p:sp>
            <p:nvSpPr>
              <p:cNvPr id="17" name="Rectangle 16">
                <a:extLst>
                  <a:ext uri="{FF2B5EF4-FFF2-40B4-BE49-F238E27FC236}">
                    <a16:creationId xmlns:a16="http://schemas.microsoft.com/office/drawing/2014/main" id="{66FD0A70-1C69-DC4C-B9FD-46D449815A90}"/>
                  </a:ext>
                </a:extLst>
              </p:cNvPr>
              <p:cNvSpPr>
                <a:spLocks noRot="1" noChangeAspect="1" noMove="1" noResize="1" noEditPoints="1" noAdjustHandles="1" noChangeArrowheads="1" noChangeShapeType="1" noTextEdit="1"/>
              </p:cNvSpPr>
              <p:nvPr/>
            </p:nvSpPr>
            <p:spPr>
              <a:xfrm>
                <a:off x="647888" y="4724854"/>
                <a:ext cx="10166589" cy="461665"/>
              </a:xfrm>
              <a:prstGeom prst="rect">
                <a:avLst/>
              </a:prstGeom>
              <a:blipFill>
                <a:blip r:embed="rId5"/>
                <a:stretch>
                  <a:fillRect l="-873" t="-10811" b="-29730"/>
                </a:stretch>
              </a:blipFill>
            </p:spPr>
            <p:txBody>
              <a:bodyPr/>
              <a:lstStyle/>
              <a:p>
                <a:r>
                  <a:rPr lang="en-US">
                    <a:noFill/>
                  </a:rPr>
                  <a:t> </a:t>
                </a:r>
              </a:p>
            </p:txBody>
          </p:sp>
        </mc:Fallback>
      </mc:AlternateContent>
    </p:spTree>
    <p:extLst>
      <p:ext uri="{BB962C8B-B14F-4D97-AF65-F5344CB8AC3E}">
        <p14:creationId xmlns:p14="http://schemas.microsoft.com/office/powerpoint/2010/main" val="2042787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707564" y="499857"/>
                <a:ext cx="11189467" cy="3785652"/>
              </a:xfrm>
              <a:prstGeom prst="rect">
                <a:avLst/>
              </a:prstGeom>
            </p:spPr>
            <p:txBody>
              <a:bodyPr wrap="square">
                <a:spAutoFit/>
              </a:bodyPr>
              <a:lstStyle/>
              <a:p>
                <a:pPr marL="457200" indent="-457200">
                  <a:buFont typeface="+mj-lt"/>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Compare the values of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1</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−1</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What do you notice?</a:t>
                </a:r>
              </a:p>
              <a:p>
                <a:pPr marL="457200" indent="-457200">
                  <a:buFont typeface="+mj-lt"/>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With your partner, discuss how you can find the value of any number raised to a negative exponent. Summarize your discussion.</a:t>
                </a:r>
              </a:p>
              <a:p>
                <a:pPr marL="457200" indent="-457200">
                  <a:buFont typeface="+mj-lt"/>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Based on the discussion with your partner, what is the value of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−4</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707564" y="499857"/>
                <a:ext cx="11189467" cy="3785652"/>
              </a:xfrm>
              <a:prstGeom prst="rect">
                <a:avLst/>
              </a:prstGeom>
              <a:blipFill>
                <a:blip r:embed="rId4"/>
                <a:stretch>
                  <a:fillRect l="-794" t="-1338" r="-227" b="-2676"/>
                </a:stretch>
              </a:blipFill>
            </p:spPr>
            <p:txBody>
              <a:bodyPr/>
              <a:lstStyle/>
              <a:p>
                <a:r>
                  <a:rPr lang="en-US">
                    <a:noFill/>
                  </a:rPr>
                  <a:t> </a:t>
                </a:r>
              </a:p>
            </p:txBody>
          </p:sp>
        </mc:Fallback>
      </mc:AlternateContent>
    </p:spTree>
    <p:extLst>
      <p:ext uri="{BB962C8B-B14F-4D97-AF65-F5344CB8AC3E}">
        <p14:creationId xmlns:p14="http://schemas.microsoft.com/office/powerpoint/2010/main" val="3252903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6" y="2766150"/>
            <a:ext cx="6743443"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pic>
        <p:nvPicPr>
          <p:cNvPr id="9" name="image7.png" descr="Icon&#10;&#10;Description automatically generated">
            <a:extLst>
              <a:ext uri="{FF2B5EF4-FFF2-40B4-BE49-F238E27FC236}">
                <a16:creationId xmlns:a16="http://schemas.microsoft.com/office/drawing/2014/main" id="{FE393A10-0D4B-1B42-84CA-5E10E1A13A4D}"/>
              </a:ext>
            </a:extLst>
          </p:cNvPr>
          <p:cNvPicPr/>
          <p:nvPr/>
        </p:nvPicPr>
        <p:blipFill>
          <a:blip r:embed="rId4"/>
          <a:srcRect/>
          <a:stretch>
            <a:fillRect/>
          </a:stretch>
        </p:blipFill>
        <p:spPr>
          <a:xfrm>
            <a:off x="3054096" y="2852928"/>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25332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18932" y="-28569"/>
            <a:ext cx="1059357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4.1.4 Bring It Together: Negative Exponents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2503" y="2931036"/>
            <a:ext cx="10287798" cy="2141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449263" eaLnBrk="0" fontAlgn="base" hangingPunct="0">
              <a:lnSpc>
                <a:spcPct val="250000"/>
              </a:lnSpc>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 base with a negative exponent can be rewritten using the                    		      of the base with the 		   exponent.</a:t>
            </a:r>
          </a:p>
        </p:txBody>
      </p:sp>
      <p:pic>
        <p:nvPicPr>
          <p:cNvPr id="15" name="image7.png" descr="Icon&#10;&#10;Description automatically generated">
            <a:extLst>
              <a:ext uri="{FF2B5EF4-FFF2-40B4-BE49-F238E27FC236}">
                <a16:creationId xmlns:a16="http://schemas.microsoft.com/office/drawing/2014/main" id="{4611AC7E-FC8B-E043-A087-1FB0EBD12F60}"/>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1775" cy="751775"/>
          </a:xfrm>
          <a:prstGeom prst="rect">
            <a:avLst/>
          </a:prstGeom>
          <a:ln/>
        </p:spPr>
      </p:pic>
      <p:grpSp>
        <p:nvGrpSpPr>
          <p:cNvPr id="18" name="Group 17">
            <a:extLst>
              <a:ext uri="{FF2B5EF4-FFF2-40B4-BE49-F238E27FC236}">
                <a16:creationId xmlns:a16="http://schemas.microsoft.com/office/drawing/2014/main" id="{295EBFE9-DB91-C24F-AC8F-3F4B426BC9F2}"/>
              </a:ext>
            </a:extLst>
          </p:cNvPr>
          <p:cNvGrpSpPr/>
          <p:nvPr/>
        </p:nvGrpSpPr>
        <p:grpSpPr>
          <a:xfrm>
            <a:off x="2496000" y="1533910"/>
            <a:ext cx="7200000" cy="1269110"/>
            <a:chOff x="2031300" y="3023700"/>
            <a:chExt cx="7200000" cy="1260560"/>
          </a:xfrm>
        </p:grpSpPr>
        <p:grpSp>
          <p:nvGrpSpPr>
            <p:cNvPr id="19" name="Group 18">
              <a:extLst>
                <a:ext uri="{FF2B5EF4-FFF2-40B4-BE49-F238E27FC236}">
                  <a16:creationId xmlns:a16="http://schemas.microsoft.com/office/drawing/2014/main" id="{8FBA87DC-45D1-B246-A8CA-EDEF3BD798C6}"/>
                </a:ext>
              </a:extLst>
            </p:cNvPr>
            <p:cNvGrpSpPr/>
            <p:nvPr/>
          </p:nvGrpSpPr>
          <p:grpSpPr>
            <a:xfrm>
              <a:off x="2031300" y="3023700"/>
              <a:ext cx="7200000" cy="1260560"/>
              <a:chOff x="2031300" y="3023700"/>
              <a:chExt cx="7200000" cy="1260560"/>
            </a:xfrm>
          </p:grpSpPr>
          <p:sp>
            <p:nvSpPr>
              <p:cNvPr id="21" name="Rectangle 20">
                <a:extLst>
                  <a:ext uri="{FF2B5EF4-FFF2-40B4-BE49-F238E27FC236}">
                    <a16:creationId xmlns:a16="http://schemas.microsoft.com/office/drawing/2014/main" id="{3E4CC8CB-FE66-4C40-B340-E0ED088E432D}"/>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p:grpSp>
            <p:nvGrpSpPr>
              <p:cNvPr id="22" name="Group 21">
                <a:extLst>
                  <a:ext uri="{FF2B5EF4-FFF2-40B4-BE49-F238E27FC236}">
                    <a16:creationId xmlns:a16="http://schemas.microsoft.com/office/drawing/2014/main" id="{7D377EC4-0800-D94F-8983-E6458F6F80A8}"/>
                  </a:ext>
                </a:extLst>
              </p:cNvPr>
              <p:cNvGrpSpPr/>
              <p:nvPr/>
            </p:nvGrpSpPr>
            <p:grpSpPr>
              <a:xfrm>
                <a:off x="2031300" y="3023700"/>
                <a:ext cx="7200000" cy="1260560"/>
                <a:chOff x="2031300" y="3023700"/>
                <a:chExt cx="7200000" cy="1260560"/>
              </a:xfrm>
            </p:grpSpPr>
            <p:sp>
              <p:nvSpPr>
                <p:cNvPr id="23" name="Rectangle 22">
                  <a:extLst>
                    <a:ext uri="{FF2B5EF4-FFF2-40B4-BE49-F238E27FC236}">
                      <a16:creationId xmlns:a16="http://schemas.microsoft.com/office/drawing/2014/main" id="{0D2D4A43-3515-454B-86E6-CD7E08316648}"/>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p:grpSp>
              <p:nvGrpSpPr>
                <p:cNvPr id="24" name="Group 23">
                  <a:extLst>
                    <a:ext uri="{FF2B5EF4-FFF2-40B4-BE49-F238E27FC236}">
                      <a16:creationId xmlns:a16="http://schemas.microsoft.com/office/drawing/2014/main" id="{EFE7ABE6-6121-E64E-994B-0458ECB5AE58}"/>
                    </a:ext>
                  </a:extLst>
                </p:cNvPr>
                <p:cNvGrpSpPr/>
                <p:nvPr/>
              </p:nvGrpSpPr>
              <p:grpSpPr>
                <a:xfrm>
                  <a:off x="2031300" y="3023700"/>
                  <a:ext cx="7200000" cy="1260560"/>
                  <a:chOff x="2031300" y="3023700"/>
                  <a:chExt cx="7200000" cy="1260560"/>
                </a:xfrm>
              </p:grpSpPr>
              <p:sp>
                <p:nvSpPr>
                  <p:cNvPr id="25" name="Rectangle 24">
                    <a:extLst>
                      <a:ext uri="{FF2B5EF4-FFF2-40B4-BE49-F238E27FC236}">
                        <a16:creationId xmlns:a16="http://schemas.microsoft.com/office/drawing/2014/main" id="{E2E16D1E-BD68-EF43-A686-0BC143771A16}"/>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p:grpSp>
                <p:nvGrpSpPr>
                  <p:cNvPr id="26" name="Group 25">
                    <a:extLst>
                      <a:ext uri="{FF2B5EF4-FFF2-40B4-BE49-F238E27FC236}">
                        <a16:creationId xmlns:a16="http://schemas.microsoft.com/office/drawing/2014/main" id="{444EDD3B-CC8E-D84B-AD04-4E238ADF83FE}"/>
                      </a:ext>
                    </a:extLst>
                  </p:cNvPr>
                  <p:cNvGrpSpPr/>
                  <p:nvPr/>
                </p:nvGrpSpPr>
                <p:grpSpPr>
                  <a:xfrm>
                    <a:off x="2031300" y="3023700"/>
                    <a:ext cx="7200000" cy="1260560"/>
                    <a:chOff x="2031300" y="3023700"/>
                    <a:chExt cx="7200000" cy="1260560"/>
                  </a:xfrm>
                </p:grpSpPr>
                <p:sp>
                  <p:nvSpPr>
                    <p:cNvPr id="27" name="Rectangle 26">
                      <a:extLst>
                        <a:ext uri="{FF2B5EF4-FFF2-40B4-BE49-F238E27FC236}">
                          <a16:creationId xmlns:a16="http://schemas.microsoft.com/office/drawing/2014/main" id="{68E6A89C-E0AA-6349-A1C8-48FD8040EE84}"/>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p:grpSp>
                  <p:nvGrpSpPr>
                    <p:cNvPr id="28" name="Group 27">
                      <a:extLst>
                        <a:ext uri="{FF2B5EF4-FFF2-40B4-BE49-F238E27FC236}">
                          <a16:creationId xmlns:a16="http://schemas.microsoft.com/office/drawing/2014/main" id="{48A5A776-3F42-A344-BE95-BDAFE3690AB8}"/>
                        </a:ext>
                      </a:extLst>
                    </p:cNvPr>
                    <p:cNvGrpSpPr/>
                    <p:nvPr/>
                  </p:nvGrpSpPr>
                  <p:grpSpPr>
                    <a:xfrm>
                      <a:off x="2031300" y="3023700"/>
                      <a:ext cx="7200000" cy="1260560"/>
                      <a:chOff x="0" y="-252035"/>
                      <a:chExt cx="7200000" cy="1260560"/>
                    </a:xfrm>
                  </p:grpSpPr>
                  <p:sp>
                    <p:nvSpPr>
                      <p:cNvPr id="29" name="Rectangle 28">
                        <a:extLst>
                          <a:ext uri="{FF2B5EF4-FFF2-40B4-BE49-F238E27FC236}">
                            <a16:creationId xmlns:a16="http://schemas.microsoft.com/office/drawing/2014/main" id="{A0ADBEA4-01C7-DB48-9B1F-AC2AA57C855A}"/>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p:grpSp>
                    <p:nvGrpSpPr>
                      <p:cNvPr id="30" name="Group 29">
                        <a:extLst>
                          <a:ext uri="{FF2B5EF4-FFF2-40B4-BE49-F238E27FC236}">
                            <a16:creationId xmlns:a16="http://schemas.microsoft.com/office/drawing/2014/main" id="{3B300937-679C-294D-B984-7EF6F73F9DBB}"/>
                          </a:ext>
                        </a:extLst>
                      </p:cNvPr>
                      <p:cNvGrpSpPr/>
                      <p:nvPr/>
                    </p:nvGrpSpPr>
                    <p:grpSpPr>
                      <a:xfrm>
                        <a:off x="0" y="-252035"/>
                        <a:ext cx="7200000" cy="1038411"/>
                        <a:chOff x="0" y="-252035"/>
                        <a:chExt cx="7200000" cy="1038411"/>
                      </a:xfrm>
                    </p:grpSpPr>
                    <p:sp>
                      <p:nvSpPr>
                        <p:cNvPr id="32" name="Rectangle 31">
                          <a:extLst>
                            <a:ext uri="{FF2B5EF4-FFF2-40B4-BE49-F238E27FC236}">
                              <a16:creationId xmlns:a16="http://schemas.microsoft.com/office/drawing/2014/main" id="{D206082A-6ECF-684B-A058-426870A12B5B}"/>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p:sp>
                      <p:nvSpPr>
                        <p:cNvPr id="33" name="Rectangle 32">
                          <a:extLst>
                            <a:ext uri="{FF2B5EF4-FFF2-40B4-BE49-F238E27FC236}">
                              <a16:creationId xmlns:a16="http://schemas.microsoft.com/office/drawing/2014/main" id="{73B10E91-8EE0-AB4C-8904-937B7B90BE4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4" name="Rounded Rectangle 33">
                              <a:extLst>
                                <a:ext uri="{FF2B5EF4-FFF2-40B4-BE49-F238E27FC236}">
                                  <a16:creationId xmlns:a16="http://schemas.microsoft.com/office/drawing/2014/main" id="{4C530609-1FE2-4D46-9C32-2E31096BD470}"/>
                                </a:ext>
                              </a:extLst>
                            </p:cNvPr>
                            <p:cNvSpPr/>
                            <p:nvPr/>
                          </p:nvSpPr>
                          <p:spPr>
                            <a:xfrm>
                              <a:off x="0" y="-252035"/>
                              <a:ext cx="7200000" cy="103841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42950">
                                <a:spcAft>
                                  <a:spcPts val="1000"/>
                                </a:spcAft>
                              </a:pPr>
                              <a:r>
                                <a:rPr lang="en-US" sz="2000" dirty="0">
                                  <a:solidFill>
                                    <a:srgbClr val="00619E"/>
                                  </a:solidFill>
                                  <a:latin typeface="Verdana" panose="020B0604030504040204" pitchFamily="34" charset="0"/>
                                  <a:ea typeface="Verdana" pitchFamily="34" charset="0"/>
                                  <a:cs typeface="Times New Roman" panose="02020603050405020304" pitchFamily="18" charset="0"/>
                                </a:rPr>
                                <a:t>Expressions with </a:t>
                              </a:r>
                              <a:r>
                                <a:rPr lang="en-US" sz="2000" b="1" dirty="0">
                                  <a:solidFill>
                                    <a:srgbClr val="00619E"/>
                                  </a:solidFill>
                                  <a:latin typeface="Verdana" panose="020B0604030504040204" pitchFamily="34" charset="0"/>
                                  <a:ea typeface="Verdana" pitchFamily="34" charset="0"/>
                                  <a:cs typeface="Times New Roman" panose="02020603050405020304" pitchFamily="18" charset="0"/>
                                </a:rPr>
                                <a:t>negative exponents</a:t>
                              </a:r>
                              <a:r>
                                <a:rPr lang="en-US" sz="2000" dirty="0">
                                  <a:solidFill>
                                    <a:srgbClr val="00619E"/>
                                  </a:solidFill>
                                  <a:latin typeface="Verdana" panose="020B0604030504040204" pitchFamily="34" charset="0"/>
                                  <a:ea typeface="Verdana" pitchFamily="34" charset="0"/>
                                  <a:cs typeface="Times New Roman" panose="02020603050405020304" pitchFamily="18" charset="0"/>
                                </a:rPr>
                                <a:t> can be expressed with positive exponents:</a:t>
                              </a:r>
                              <a:r>
                                <a:rPr lang="en-US" sz="2000" b="1" dirty="0">
                                  <a:solidFill>
                                    <a:srgbClr val="00619E"/>
                                  </a:solidFill>
                                  <a:latin typeface="Verdana" panose="020B0604030504040204" pitchFamily="34" charset="0"/>
                                  <a:ea typeface="Verdana" pitchFamily="34" charset="0"/>
                                  <a:cs typeface="Times New Roman" panose="02020603050405020304" pitchFamily="18" charset="0"/>
                                </a:rPr>
                                <a:t> </a:t>
                              </a:r>
                              <a14:m>
                                <m:oMath xmlns:m="http://schemas.openxmlformats.org/officeDocument/2006/math">
                                  <m:sSup>
                                    <m:sSupPr>
                                      <m:ctrlPr>
                                        <a:rPr lang="x-none"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𝑎</m:t>
                                      </m:r>
                                    </m:sup>
                                  </m:sSup>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𝑎</m:t>
                                          </m:r>
                                        </m:sup>
                                      </m:sSup>
                                    </m:den>
                                  </m:f>
                                </m:oMath>
                              </a14:m>
                              <a:r>
                                <a:rPr lang="en-US" sz="2000" dirty="0">
                                  <a:solidFill>
                                    <a:srgbClr val="00619E"/>
                                  </a:solidFill>
                                  <a:latin typeface="Verdana" panose="020B0604030504040204" pitchFamily="34" charset="0"/>
                                  <a:ea typeface="Verdana" pitchFamily="34" charset="0"/>
                                  <a:cs typeface="Times New Roman" panose="02020603050405020304" pitchFamily="18" charset="0"/>
                                </a:rPr>
                                <a:t> .</a:t>
                              </a:r>
                              <a:endParaRPr lang="x-none" sz="2000" dirty="0">
                                <a:latin typeface="Verdana" pitchFamily="34" charset="0"/>
                                <a:ea typeface="Verdana" pitchFamily="34" charset="0"/>
                                <a:cs typeface="Times New Roman" panose="02020603050405020304" pitchFamily="18" charset="0"/>
                              </a:endParaRPr>
                            </a:p>
                          </p:txBody>
                        </p:sp>
                      </mc:Choice>
                      <mc:Fallback xmlns="">
                        <p:sp>
                          <p:nvSpPr>
                            <p:cNvPr id="34" name="Rounded Rectangle 33">
                              <a:extLst>
                                <a:ext uri="{FF2B5EF4-FFF2-40B4-BE49-F238E27FC236}">
                                  <a16:creationId xmlns:a16="http://schemas.microsoft.com/office/drawing/2014/main" xmlns:a14="http://schemas.microsoft.com/office/drawing/2010/main" xmlns="" id="{4C530609-1FE2-4D46-9C32-2E31096BD470}"/>
                                </a:ext>
                              </a:extLst>
                            </p:cNvPr>
                            <p:cNvSpPr>
                              <a:spLocks noRot="1" noChangeAspect="1" noMove="1" noResize="1" noEditPoints="1" noAdjustHandles="1" noChangeArrowheads="1" noChangeShapeType="1" noTextEdit="1"/>
                            </p:cNvSpPr>
                            <p:nvPr/>
                          </p:nvSpPr>
                          <p:spPr>
                            <a:xfrm>
                              <a:off x="0" y="-252035"/>
                              <a:ext cx="7200000" cy="1038411"/>
                            </a:xfrm>
                            <a:prstGeom prst="roundRect">
                              <a:avLst>
                                <a:gd name="adj" fmla="val 16667"/>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grpSp>
                  <p:pic>
                    <p:nvPicPr>
                      <p:cNvPr id="31" name="Shape 31" descr="Icon&#10;&#10;Description automatically generated">
                        <a:extLst>
                          <a:ext uri="{FF2B5EF4-FFF2-40B4-BE49-F238E27FC236}">
                            <a16:creationId xmlns:a16="http://schemas.microsoft.com/office/drawing/2014/main" id="{C48A2FF6-0F13-F749-9590-B3B2D093A3E9}"/>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83914" y="-33558"/>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pic>
        <p:nvPicPr>
          <p:cNvPr id="3" name="Picture 2" descr="Shape&#10;&#10;Description automatically generated">
            <a:extLst>
              <a:ext uri="{FF2B5EF4-FFF2-40B4-BE49-F238E27FC236}">
                <a16:creationId xmlns:a16="http://schemas.microsoft.com/office/drawing/2014/main" id="{9BEA1FB9-4E83-0946-8CFF-AD164792B28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218932" y="4421485"/>
            <a:ext cx="1969604" cy="872113"/>
          </a:xfrm>
          <a:prstGeom prst="rect">
            <a:avLst/>
          </a:prstGeom>
        </p:spPr>
      </p:pic>
      <p:pic>
        <p:nvPicPr>
          <p:cNvPr id="35" name="Picture 34" descr="Shape&#10;&#10;Description automatically generated">
            <a:extLst>
              <a:ext uri="{FF2B5EF4-FFF2-40B4-BE49-F238E27FC236}">
                <a16:creationId xmlns:a16="http://schemas.microsoft.com/office/drawing/2014/main" id="{C894835B-9829-A14F-9B40-CAE41475214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420407" y="4421484"/>
            <a:ext cx="1969604" cy="872113"/>
          </a:xfrm>
          <a:prstGeom prst="rect">
            <a:avLst/>
          </a:prstGeom>
        </p:spPr>
      </p:pic>
    </p:spTree>
    <p:extLst>
      <p:ext uri="{BB962C8B-B14F-4D97-AF65-F5344CB8AC3E}">
        <p14:creationId xmlns:p14="http://schemas.microsoft.com/office/powerpoint/2010/main" val="2020413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889B13CF-7799-4D4C-A21A-ADC21E179E83}"/>
              </a:ext>
            </a:extLst>
          </p:cNvPr>
          <p:cNvSpPr/>
          <p:nvPr/>
        </p:nvSpPr>
        <p:spPr>
          <a:xfrm>
            <a:off x="591990" y="361159"/>
            <a:ext cx="7892872" cy="461665"/>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75512D0-1A5E-EC4E-8D40-F30F6F827FD1}"/>
                  </a:ext>
                </a:extLst>
              </p:cNvPr>
              <p:cNvGraphicFramePr>
                <a:graphicFrameLocks noGrp="1"/>
              </p:cNvGraphicFramePr>
              <p:nvPr>
                <p:extLst>
                  <p:ext uri="{D42A27DB-BD31-4B8C-83A1-F6EECF244321}">
                    <p14:modId xmlns:p14="http://schemas.microsoft.com/office/powerpoint/2010/main" val="1703828712"/>
                  </p:ext>
                </p:extLst>
              </p:nvPr>
            </p:nvGraphicFramePr>
            <p:xfrm>
              <a:off x="2492553" y="1029116"/>
              <a:ext cx="8128280" cy="3600000"/>
            </p:xfrm>
            <a:graphic>
              <a:graphicData uri="http://schemas.openxmlformats.org/drawingml/2006/table">
                <a:tbl>
                  <a:tblPr firstRow="1" firstCol="1" bandRow="1"/>
                  <a:tblGrid>
                    <a:gridCol w="1800000">
                      <a:extLst>
                        <a:ext uri="{9D8B030D-6E8A-4147-A177-3AD203B41FA5}">
                          <a16:colId xmlns:a16="http://schemas.microsoft.com/office/drawing/2014/main" val="469616813"/>
                        </a:ext>
                      </a:extLst>
                    </a:gridCol>
                    <a:gridCol w="2160000">
                      <a:extLst>
                        <a:ext uri="{9D8B030D-6E8A-4147-A177-3AD203B41FA5}">
                          <a16:colId xmlns:a16="http://schemas.microsoft.com/office/drawing/2014/main" val="3960486931"/>
                        </a:ext>
                      </a:extLst>
                    </a:gridCol>
                    <a:gridCol w="20828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2160000">
                      <a:extLst>
                        <a:ext uri="{9D8B030D-6E8A-4147-A177-3AD203B41FA5}">
                          <a16:colId xmlns:a16="http://schemas.microsoft.com/office/drawing/2014/main" val="20004"/>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Exponent Expression</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Repeated Multiplication</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Exponent Expression</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Repeated Multiplication</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897962220"/>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173038" marR="0" indent="0" algn="l">
                            <a:spcBef>
                              <a:spcPts val="0"/>
                            </a:spcBef>
                            <a:spcAft>
                              <a:spcPts val="0"/>
                            </a:spcAft>
                          </a:pPr>
                          <a14:m>
                            <m:oMathPara xmlns:m="http://schemas.openxmlformats.org/officeDocument/2006/math">
                              <m:oMathParaPr>
                                <m:jc m:val="left"/>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9354198"/>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173038" marR="0" indent="0" algn="l" defTabSz="266700">
                            <a:spcBef>
                              <a:spcPts val="0"/>
                            </a:spcBef>
                            <a:spcAft>
                              <a:spcPts val="0"/>
                            </a:spcAft>
                          </a:pPr>
                          <a14:m>
                            <m:oMathPara xmlns:m="http://schemas.openxmlformats.org/officeDocument/2006/math">
                              <m:oMathParaPr>
                                <m:jc m:val="left"/>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8932772"/>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174625" marR="0" indent="0" algn="l">
                            <a:spcBef>
                              <a:spcPts val="0"/>
                            </a:spcBef>
                            <a:spcAft>
                              <a:spcPts val="0"/>
                            </a:spcAft>
                          </a:pPr>
                          <a14:m>
                            <m:oMathPara xmlns:m="http://schemas.openxmlformats.org/officeDocument/2006/math">
                              <m:oMathParaPr>
                                <m:jc m:val="left"/>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4343380"/>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endParaRPr lang="x-none"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val="1850362400"/>
                      </a:ext>
                    </a:extLst>
                  </a:tr>
                </a:tbl>
              </a:graphicData>
            </a:graphic>
          </p:graphicFrame>
        </mc:Choice>
        <mc:Fallback xmlns="">
          <p:graphicFrame>
            <p:nvGraphicFramePr>
              <p:cNvPr id="5" name="Table 4">
                <a:extLst>
                  <a:ext uri="{FF2B5EF4-FFF2-40B4-BE49-F238E27FC236}">
                    <a16:creationId xmlns:a16="http://schemas.microsoft.com/office/drawing/2014/main" id="{975512D0-1A5E-EC4E-8D40-F30F6F827FD1}"/>
                  </a:ext>
                </a:extLst>
              </p:cNvPr>
              <p:cNvGraphicFramePr>
                <a:graphicFrameLocks noGrp="1"/>
              </p:cNvGraphicFramePr>
              <p:nvPr>
                <p:extLst>
                  <p:ext uri="{D42A27DB-BD31-4B8C-83A1-F6EECF244321}">
                    <p14:modId xmlns:p14="http://schemas.microsoft.com/office/powerpoint/2010/main" val="1703828712"/>
                  </p:ext>
                </p:extLst>
              </p:nvPr>
            </p:nvGraphicFramePr>
            <p:xfrm>
              <a:off x="2492553" y="1029116"/>
              <a:ext cx="8128280" cy="3600000"/>
            </p:xfrm>
            <a:graphic>
              <a:graphicData uri="http://schemas.openxmlformats.org/drawingml/2006/table">
                <a:tbl>
                  <a:tblPr firstRow="1" firstCol="1" bandRow="1"/>
                  <a:tblGrid>
                    <a:gridCol w="1800000">
                      <a:extLst>
                        <a:ext uri="{9D8B030D-6E8A-4147-A177-3AD203B41FA5}">
                          <a16:colId xmlns:a16="http://schemas.microsoft.com/office/drawing/2014/main" val="469616813"/>
                        </a:ext>
                      </a:extLst>
                    </a:gridCol>
                    <a:gridCol w="2160000">
                      <a:extLst>
                        <a:ext uri="{9D8B030D-6E8A-4147-A177-3AD203B41FA5}">
                          <a16:colId xmlns:a16="http://schemas.microsoft.com/office/drawing/2014/main" val="3960486931"/>
                        </a:ext>
                      </a:extLst>
                    </a:gridCol>
                    <a:gridCol w="20828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2160000">
                      <a:extLst>
                        <a:ext uri="{9D8B030D-6E8A-4147-A177-3AD203B41FA5}">
                          <a16:colId xmlns:a16="http://schemas.microsoft.com/office/drawing/2014/main" val="20004"/>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Exponent Expression</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Repeated Multiplication</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Exponent Expression</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Repeated Multiplication</a:t>
                          </a: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897962220"/>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103509" r="-352817" b="-30175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84118" t="-103509" r="-194706" b="-301754"/>
                          </a:stretch>
                        </a:blipFill>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32394" t="-103509" r="-121127" b="-30175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77647" t="-103509" r="-1176" b="-301754"/>
                          </a:stretch>
                        </a:blipFill>
                      </a:tcPr>
                    </a:tc>
                    <a:extLst>
                      <a:ext uri="{0D108BD9-81ED-4DB2-BD59-A6C34878D82A}">
                        <a16:rowId xmlns:a16="http://schemas.microsoft.com/office/drawing/2014/main" val="3029354198"/>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207143" r="-352817" b="-20714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84118" t="-207143" r="-194706" b="-207143"/>
                          </a:stretch>
                        </a:blipFill>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32394" t="-207143" r="-121127" b="-20714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77647" t="-207143" r="-1176" b="-207143"/>
                          </a:stretch>
                        </a:blipFill>
                      </a:tcPr>
                    </a:tc>
                    <a:extLst>
                      <a:ext uri="{0D108BD9-81ED-4DB2-BD59-A6C34878D82A}">
                        <a16:rowId xmlns:a16="http://schemas.microsoft.com/office/drawing/2014/main" val="3338932772"/>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301754" r="-352817" b="-10350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84118" t="-301754" r="-194706" b="-103509"/>
                          </a:stretch>
                        </a:blipFill>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32394" t="-301754" r="-121127" b="-10350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77647" t="-301754" r="-1176" b="-103509"/>
                          </a:stretch>
                        </a:blipFill>
                      </a:tcPr>
                    </a:tc>
                    <a:extLst>
                      <a:ext uri="{0D108BD9-81ED-4DB2-BD59-A6C34878D82A}">
                        <a16:rowId xmlns:a16="http://schemas.microsoft.com/office/drawing/2014/main" val="1454343380"/>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401754" r="-352817" b="-350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84118" t="-401754" r="-194706" b="-3509"/>
                          </a:stretch>
                        </a:blipFill>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val="1850362400"/>
                      </a:ext>
                    </a:extLst>
                  </a:tr>
                </a:tbl>
              </a:graphicData>
            </a:graphic>
          </p:graphicFrame>
        </mc:Fallback>
      </mc:AlternateContent>
      <p:grpSp>
        <p:nvGrpSpPr>
          <p:cNvPr id="14" name="Group 13">
            <a:extLst>
              <a:ext uri="{FF2B5EF4-FFF2-40B4-BE49-F238E27FC236}">
                <a16:creationId xmlns:a16="http://schemas.microsoft.com/office/drawing/2014/main" id="{A9013FE0-8885-3B40-B95B-6FA76C9CD87F}"/>
              </a:ext>
            </a:extLst>
          </p:cNvPr>
          <p:cNvGrpSpPr/>
          <p:nvPr/>
        </p:nvGrpSpPr>
        <p:grpSpPr>
          <a:xfrm>
            <a:off x="3584448" y="4835409"/>
            <a:ext cx="6629400" cy="1621305"/>
            <a:chOff x="2031300" y="3373600"/>
            <a:chExt cx="6629400" cy="1621305"/>
          </a:xfrm>
        </p:grpSpPr>
        <p:sp>
          <p:nvSpPr>
            <p:cNvPr id="15" name="Rectangle 14">
              <a:extLst>
                <a:ext uri="{FF2B5EF4-FFF2-40B4-BE49-F238E27FC236}">
                  <a16:creationId xmlns:a16="http://schemas.microsoft.com/office/drawing/2014/main" id="{9DF80AAA-0FCB-DB45-8B79-1C2109605DF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id="{C922417F-2598-7F46-BB50-1932D431D8FD}"/>
                </a:ext>
              </a:extLst>
            </p:cNvPr>
            <p:cNvGrpSpPr/>
            <p:nvPr/>
          </p:nvGrpSpPr>
          <p:grpSpPr>
            <a:xfrm>
              <a:off x="2031300" y="3373600"/>
              <a:ext cx="6629400" cy="1621305"/>
              <a:chOff x="0" y="0"/>
              <a:chExt cx="6629400" cy="1621305"/>
            </a:xfrm>
          </p:grpSpPr>
          <p:sp>
            <p:nvSpPr>
              <p:cNvPr id="17" name="Rectangle 16">
                <a:extLst>
                  <a:ext uri="{FF2B5EF4-FFF2-40B4-BE49-F238E27FC236}">
                    <a16:creationId xmlns:a16="http://schemas.microsoft.com/office/drawing/2014/main" id="{30EA5D20-94B9-1242-8C63-71409BA500E2}"/>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Rounded Rectangle 17">
                    <a:extLst>
                      <a:ext uri="{FF2B5EF4-FFF2-40B4-BE49-F238E27FC236}">
                        <a16:creationId xmlns:a16="http://schemas.microsoft.com/office/drawing/2014/main" id="{C407F949-1AC6-084A-861B-E403CD7582DF}"/>
                      </a:ext>
                    </a:extLst>
                  </p:cNvPr>
                  <p:cNvSpPr/>
                  <p:nvPr/>
                </p:nvSpPr>
                <p:spPr>
                  <a:xfrm>
                    <a:off x="92245" y="42394"/>
                    <a:ext cx="5760000" cy="1578911"/>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628650">
                      <a:spcAft>
                        <a:spcPts val="1000"/>
                      </a:spcAft>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Negative Exponent Law</a:t>
                    </a:r>
                    <a:endParaRPr lang="x-none" sz="2000">
                      <a:latin typeface="Verdana" pitchFamily="34" charset="0"/>
                      <a:ea typeface="Verdana" pitchFamily="34" charset="0"/>
                      <a:cs typeface="Times New Roman" panose="02020603050405020304" pitchFamily="18" charset="0"/>
                    </a:endParaRPr>
                  </a:p>
                  <a:p>
                    <a:pPr marL="628650">
                      <a:spcAft>
                        <a:spcPts val="1000"/>
                      </a:spcAft>
                    </a:pPr>
                    <a14:m>
                      <m:oMath xmlns:m="http://schemas.openxmlformats.org/officeDocument/2006/math">
                        <m:sSup>
                          <m:sSupPr>
                            <m:ctrlPr>
                              <a:rPr lang="x-none" sz="2000" i="1">
                                <a:solidFill>
                                  <a:srgbClr val="6C993D"/>
                                </a:solidFill>
                                <a:latin typeface="Cambria Math" panose="02040503050406030204" pitchFamily="18" charset="0"/>
                                <a:ea typeface="Verdana" panose="020B0604030504040204" pitchFamily="34" charset="0"/>
                                <a:cs typeface="Verdana" panose="020B0604030504040204" pitchFamily="34" charset="0"/>
                              </a:rPr>
                            </m:ctrlPr>
                          </m:sSupPr>
                          <m:e>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e>
                          <m:sup>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−1</m:t>
                            </m:r>
                          </m:sup>
                        </m:sSup>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 </m:t>
                        </m:r>
                        <m:f>
                          <m:fPr>
                            <m:ctrlPr>
                              <a:rPr lang="x-none" sz="2000" i="1">
                                <a:solidFill>
                                  <a:srgbClr val="6C993D"/>
                                </a:solidFill>
                                <a:latin typeface="Cambria Math" panose="02040503050406030204" pitchFamily="18" charset="0"/>
                                <a:ea typeface="Verdana" panose="020B0604030504040204" pitchFamily="34" charset="0"/>
                                <a:cs typeface="Verdana" panose="020B0604030504040204" pitchFamily="34" charset="0"/>
                              </a:rPr>
                            </m:ctrlPr>
                          </m:fPr>
                          <m:num>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1</m:t>
                            </m:r>
                          </m:num>
                          <m:den>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den>
                        </m:f>
                      </m:oMath>
                    </a14:m>
                    <a:r>
                      <a:rPr lang="en-US" sz="2000" dirty="0">
                        <a:solidFill>
                          <a:srgbClr val="6C993D"/>
                        </a:solidFill>
                        <a:latin typeface="Verdana" panose="020B0604030504040204" pitchFamily="34" charset="0"/>
                        <a:ea typeface="Verdana" pitchFamily="34" charset="0"/>
                        <a:cs typeface="Times New Roman" panose="02020603050405020304" pitchFamily="18" charset="0"/>
                      </a:rPr>
                      <a:t>   and   </a:t>
                    </a:r>
                    <a14:m>
                      <m:oMath xmlns:m="http://schemas.openxmlformats.org/officeDocument/2006/math">
                        <m:f>
                          <m:fPr>
                            <m:ctrlPr>
                              <a:rPr lang="x-none"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den>
                        </m:f>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m:t>
                            </m:r>
                          </m:sup>
                        </m:sSup>
                      </m:oMath>
                    </a14:m>
                    <a:r>
                      <a:rPr lang="en-US" sz="2000" dirty="0">
                        <a:solidFill>
                          <a:srgbClr val="6C993D"/>
                        </a:solidFill>
                        <a:latin typeface="Verdana" panose="020B0604030504040204" pitchFamily="34" charset="0"/>
                        <a:ea typeface="Verdana" pitchFamily="34" charset="0"/>
                        <a:cs typeface="Times New Roman" panose="02020603050405020304" pitchFamily="18" charset="0"/>
                      </a:rPr>
                      <a:t>, </a:t>
                    </a:r>
                    <a:br>
                      <a:rPr lang="en-US" sz="2000" dirty="0">
                        <a:solidFill>
                          <a:srgbClr val="6C993D"/>
                        </a:solidFill>
                        <a:latin typeface="Verdana" panose="020B0604030504040204" pitchFamily="34" charset="0"/>
                        <a:ea typeface="Verdana" pitchFamily="34" charset="0"/>
                        <a:cs typeface="Times New Roman" panose="02020603050405020304" pitchFamily="18" charset="0"/>
                      </a:rPr>
                    </a:b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where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any nonzero real number</a:t>
                    </a:r>
                    <a:endParaRPr lang="x-none" sz="2000">
                      <a:latin typeface="Verdana" pitchFamily="34" charset="0"/>
                      <a:ea typeface="Verdana" pitchFamily="34" charset="0"/>
                      <a:cs typeface="Times New Roman" panose="02020603050405020304" pitchFamily="18" charset="0"/>
                    </a:endParaRPr>
                  </a:p>
                </p:txBody>
              </p:sp>
            </mc:Choice>
            <mc:Fallback xmlns="">
              <p:sp>
                <p:nvSpPr>
                  <p:cNvPr id="18" name="Rounded Rectangle 17">
                    <a:extLst>
                      <a:ext uri="{FF2B5EF4-FFF2-40B4-BE49-F238E27FC236}">
                        <a16:creationId xmlns:a16="http://schemas.microsoft.com/office/drawing/2014/main" xmlns:a14="http://schemas.microsoft.com/office/drawing/2010/main" xmlns="" id="{C407F949-1AC6-084A-861B-E403CD7582DF}"/>
                      </a:ext>
                    </a:extLst>
                  </p:cNvPr>
                  <p:cNvSpPr>
                    <a:spLocks noRot="1" noChangeAspect="1" noMove="1" noResize="1" noEditPoints="1" noAdjustHandles="1" noChangeArrowheads="1" noChangeShapeType="1" noTextEdit="1"/>
                  </p:cNvSpPr>
                  <p:nvPr/>
                </p:nvSpPr>
                <p:spPr>
                  <a:xfrm>
                    <a:off x="92245" y="42394"/>
                    <a:ext cx="5760000" cy="1578911"/>
                  </a:xfrm>
                  <a:prstGeom prst="roundRect">
                    <a:avLst>
                      <a:gd name="adj" fmla="val 16667"/>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19" name="Shape 7" descr="Icon&#10;&#10;Description automatically generated">
                <a:extLst>
                  <a:ext uri="{FF2B5EF4-FFF2-40B4-BE49-F238E27FC236}">
                    <a16:creationId xmlns:a16="http://schemas.microsoft.com/office/drawing/2014/main" id="{01F62742-6923-D040-BAD2-9E53B564DA62}"/>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30790" y="136525"/>
                <a:ext cx="539750" cy="539750"/>
              </a:xfrm>
              <a:prstGeom prst="rect">
                <a:avLst/>
              </a:prstGeom>
              <a:noFill/>
              <a:ln>
                <a:noFill/>
              </a:ln>
              <a:effectLst>
                <a:outerShdw blurRad="50800" dist="38100" dir="2700000" algn="tl" rotWithShape="0">
                  <a:prstClr val="black">
                    <a:alpha val="40000"/>
                  </a:prstClr>
                </a:outerShdw>
              </a:effectLst>
            </p:spPr>
          </p:pic>
        </p:grpSp>
      </p:grpSp>
    </p:spTree>
    <p:extLst>
      <p:ext uri="{BB962C8B-B14F-4D97-AF65-F5344CB8AC3E}">
        <p14:creationId xmlns:p14="http://schemas.microsoft.com/office/powerpoint/2010/main" val="4040516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33171" y="2852928"/>
            <a:ext cx="770711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pic>
        <p:nvPicPr>
          <p:cNvPr id="9" name="image9.png" descr="Icon&#10;&#10;Description automatically generated">
            <a:extLst>
              <a:ext uri="{FF2B5EF4-FFF2-40B4-BE49-F238E27FC236}">
                <a16:creationId xmlns:a16="http://schemas.microsoft.com/office/drawing/2014/main" id="{A0AA6A5A-24D8-EB4E-9410-D27842550BC8}"/>
              </a:ext>
            </a:extLst>
          </p:cNvPr>
          <p:cNvPicPr/>
          <p:nvPr/>
        </p:nvPicPr>
        <p:blipFill>
          <a:blip r:embed="rId4"/>
          <a:srcRect/>
          <a:stretch>
            <a:fillRect/>
          </a:stretch>
        </p:blipFill>
        <p:spPr>
          <a:xfrm>
            <a:off x="3054096" y="2852928"/>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3600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461" y="0"/>
            <a:ext cx="1075789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4.1.5 Guided Practice: Rewriting Negative Exponents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331" y="1325700"/>
                <a:ext cx="10861901" cy="467653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Rewrite each expression as an equivalent exponential expression using positive exponents.</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358775" indent="-358775"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8</m:t>
                        </m:r>
                      </m:e>
                      <m:sup>
                        <m:r>
                          <a:rPr lang="es-ES" altLang="en-US" sz="2400" i="1" dirty="0">
                            <a:solidFill>
                              <a:schemeClr val="tx1"/>
                            </a:solidFill>
                            <a:latin typeface="Cambria Math" panose="02040503050406030204" pitchFamily="18" charset="0"/>
                            <a:cs typeface="Times New Roman" panose="02020603050405020304" pitchFamily="18" charset="0"/>
                          </a:rPr>
                          <m:t>−3</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______</m:t>
                    </m:r>
                  </m:oMath>
                </a14:m>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358775" indent="-358775"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1</m:t>
                        </m:r>
                      </m:num>
                      <m:den>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−4</m:t>
                            </m:r>
                          </m:e>
                          <m:sup>
                            <m:r>
                              <a:rPr lang="es-ES" altLang="en-US" sz="2400" i="1" dirty="0">
                                <a:solidFill>
                                  <a:schemeClr val="tx1"/>
                                </a:solidFill>
                                <a:latin typeface="Cambria Math" panose="02040503050406030204" pitchFamily="18" charset="0"/>
                                <a:cs typeface="Times New Roman" panose="02020603050405020304" pitchFamily="18" charset="0"/>
                              </a:rPr>
                              <m:t>−5</m:t>
                            </m:r>
                          </m:sup>
                        </m:sSup>
                      </m:den>
                    </m:f>
                    <m: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 = ______</m:t>
                    </m:r>
                  </m:oMath>
                </a14:m>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358775" indent="-358775" eaLnBrk="0" fontAlgn="base" hangingPunct="0">
                  <a:spcBef>
                    <a:spcPct val="0"/>
                  </a:spcBef>
                  <a:spcAft>
                    <a:spcPct val="0"/>
                  </a:spcAft>
                  <a:buClrTx/>
                  <a:buFont typeface="+mj-lt"/>
                  <a:buAutoNum type="arabicPeriod" startAt="3"/>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−2</m:t>
                            </m:r>
                          </m:e>
                        </m:d>
                      </m:e>
                      <m:sup>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−8</m:t>
                        </m:r>
                      </m:sup>
                    </m:sSup>
                    <m: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 = ______</m:t>
                    </m:r>
                  </m:oMath>
                </a14:m>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31" y="1325700"/>
                <a:ext cx="10861901" cy="4676537"/>
              </a:xfrm>
              <a:prstGeom prst="rect">
                <a:avLst/>
              </a:prstGeom>
              <a:blipFill>
                <a:blip r:embed="rId4"/>
                <a:stretch>
                  <a:fillRect l="-935" t="-1084" b="-189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5" name="image9.png" descr="Icon&#10;&#10;Description automatically generated">
            <a:extLst>
              <a:ext uri="{FF2B5EF4-FFF2-40B4-BE49-F238E27FC236}">
                <a16:creationId xmlns:a16="http://schemas.microsoft.com/office/drawing/2014/main" id="{6DB42D22-D0CA-A94B-B8FC-CBBCE2DD3A9B}"/>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7430" cy="747430"/>
          </a:xfrm>
          <a:prstGeom prst="rect">
            <a:avLst/>
          </a:prstGeom>
          <a:ln/>
        </p:spPr>
      </p:pic>
    </p:spTree>
    <p:extLst>
      <p:ext uri="{BB962C8B-B14F-4D97-AF65-F5344CB8AC3E}">
        <p14:creationId xmlns:p14="http://schemas.microsoft.com/office/powerpoint/2010/main" val="86611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738878" y="397173"/>
                <a:ext cx="7892872" cy="5254836"/>
              </a:xfrm>
              <a:prstGeom prst="rect">
                <a:avLst/>
              </a:prstGeom>
            </p:spPr>
            <p:txBody>
              <a:bodyPr wrap="square">
                <a:spAutoFit/>
              </a:bodyPr>
              <a:lstStyle/>
              <a:p>
                <a:pPr marL="358775" indent="-358775">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10</m:t>
                            </m:r>
                          </m:e>
                          <m:sup>
                            <m:r>
                              <a:rPr lang="es-ES" sz="2400" i="1" dirty="0">
                                <a:latin typeface="Cambria Math" panose="02040503050406030204" pitchFamily="18" charset="0"/>
                                <a:cs typeface="Times New Roman" panose="02020603050405020304" pitchFamily="18" charset="0"/>
                              </a:rPr>
                              <m:t>−2</m:t>
                            </m:r>
                          </m:sup>
                        </m:sSup>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 =_________</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endParaRPr lang="en-US" sz="2400" dirty="0">
                  <a:latin typeface="Verdana" panose="020B0604030504040204" pitchFamily="34" charset="0"/>
                  <a:ea typeface="Verdana" panose="020B0604030504040204" pitchFamily="34" charset="0"/>
                  <a:cs typeface="Verdana" panose="020B0604030504040204" pitchFamily="34" charset="0"/>
                </a:endParaRP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6</m:t>
                        </m:r>
                      </m:e>
                      <m:sup>
                        <m:r>
                          <a:rPr lang="es-ES" sz="2400" i="1" dirty="0">
                            <a:latin typeface="Cambria Math" panose="02040503050406030204" pitchFamily="18" charset="0"/>
                            <a:cs typeface="Times New Roman" panose="02020603050405020304" pitchFamily="18" charset="0"/>
                          </a:rPr>
                          <m:t>−4</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 _______</m:t>
                    </m:r>
                    <m:r>
                      <a:rPr lang="es-ES" sz="2400" i="1" dirty="0">
                        <a:latin typeface="Cambria Math" panose="02040503050406030204" pitchFamily="18" charset="0"/>
                        <a:ea typeface="Times New Roman" panose="02020603050405020304" pitchFamily="18" charset="0"/>
                        <a:cs typeface="Times New Roman" panose="02020603050405020304" pitchFamily="18" charset="0"/>
                      </a:rPr>
                      <m:t>__</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endParaRPr lang="en-US" sz="2400" dirty="0">
                  <a:latin typeface="Verdana" panose="020B0604030504040204" pitchFamily="34" charset="0"/>
                  <a:ea typeface="Verdana" panose="020B0604030504040204" pitchFamily="34" charset="0"/>
                  <a:cs typeface="Verdana" panose="020B0604030504040204" pitchFamily="34" charset="0"/>
                </a:endParaRP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p>
              <a:p>
                <a:pPr marL="358775" indent="-358775">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2</m:t>
                            </m:r>
                          </m:e>
                          <m:sup>
                            <m:r>
                              <a:rPr lang="es-ES" sz="2400" i="1" dirty="0">
                                <a:latin typeface="Cambria Math" panose="02040503050406030204" pitchFamily="18" charset="0"/>
                                <a:cs typeface="Times New Roman" panose="02020603050405020304" pitchFamily="18" charset="0"/>
                              </a:rPr>
                              <m:t>−3</m:t>
                            </m:r>
                          </m:sup>
                        </m:sSup>
                      </m:num>
                      <m:den>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9</m:t>
                            </m:r>
                          </m:e>
                          <m:sup>
                            <m:r>
                              <a:rPr lang="es-ES" sz="2400" i="1" dirty="0">
                                <a:latin typeface="Cambria Math" panose="02040503050406030204" pitchFamily="18" charset="0"/>
                                <a:cs typeface="Times New Roman" panose="02020603050405020304" pitchFamily="18" charset="0"/>
                              </a:rPr>
                              <m:t>−2</m:t>
                            </m:r>
                          </m:sup>
                        </m:sSup>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 ______</m:t>
                    </m:r>
                    <m:r>
                      <a:rPr lang="es-ES" sz="2400" i="1" dirty="0">
                        <a:latin typeface="Cambria Math" panose="02040503050406030204" pitchFamily="18" charset="0"/>
                        <a:ea typeface="Times New Roman" panose="02020603050405020304" pitchFamily="18" charset="0"/>
                        <a:cs typeface="Times New Roman" panose="02020603050405020304" pitchFamily="18" charset="0"/>
                      </a:rPr>
                      <m:t>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738878" y="397173"/>
                <a:ext cx="7892872" cy="5254836"/>
              </a:xfrm>
              <a:prstGeom prst="rect">
                <a:avLst/>
              </a:prstGeom>
              <a:blipFill>
                <a:blip r:embed="rId4"/>
                <a:stretch>
                  <a:fillRect l="-1286"/>
                </a:stretch>
              </a:blipFill>
            </p:spPr>
            <p:txBody>
              <a:bodyPr/>
              <a:lstStyle/>
              <a:p>
                <a:r>
                  <a:rPr lang="en-US">
                    <a:noFill/>
                  </a:rPr>
                  <a:t> </a:t>
                </a:r>
              </a:p>
            </p:txBody>
          </p:sp>
        </mc:Fallback>
      </mc:AlternateContent>
    </p:spTree>
    <p:extLst>
      <p:ext uri="{BB962C8B-B14F-4D97-AF65-F5344CB8AC3E}">
        <p14:creationId xmlns:p14="http://schemas.microsoft.com/office/powerpoint/2010/main" val="168184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67400"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89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9840" y="-86778"/>
            <a:ext cx="1081689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4.1.6 Collaboration: Applying Other Exponent Laws with Negative Exponents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731519" y="1557370"/>
            <a:ext cx="10959035" cy="2677656"/>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exponential expressions in the table.</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94615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For each expression, work with your partner to rewrite the exponential expression in expanded form and evaluate. The first row has been partially completed.</a:t>
            </a:r>
          </a:p>
        </p:txBody>
      </p:sp>
    </p:spTree>
    <p:extLst>
      <p:ext uri="{BB962C8B-B14F-4D97-AF65-F5344CB8AC3E}">
        <p14:creationId xmlns:p14="http://schemas.microsoft.com/office/powerpoint/2010/main" val="2190428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F7EDFD37-3501-1A4F-99FF-8AD8BE4F7828}"/>
                  </a:ext>
                </a:extLst>
              </p:cNvPr>
              <p:cNvGraphicFramePr>
                <a:graphicFrameLocks noGrp="1"/>
              </p:cNvGraphicFramePr>
              <p:nvPr>
                <p:extLst>
                  <p:ext uri="{D42A27DB-BD31-4B8C-83A1-F6EECF244321}">
                    <p14:modId xmlns:p14="http://schemas.microsoft.com/office/powerpoint/2010/main" val="848517260"/>
                  </p:ext>
                </p:extLst>
              </p:nvPr>
            </p:nvGraphicFramePr>
            <p:xfrm>
              <a:off x="1992000" y="441715"/>
              <a:ext cx="8208000" cy="5974569"/>
            </p:xfrm>
            <a:graphic>
              <a:graphicData uri="http://schemas.openxmlformats.org/drawingml/2006/table">
                <a:tbl>
                  <a:tblPr firstRow="1" firstCol="1" bandRow="1"/>
                  <a:tblGrid>
                    <a:gridCol w="1872000">
                      <a:extLst>
                        <a:ext uri="{9D8B030D-6E8A-4147-A177-3AD203B41FA5}">
                          <a16:colId xmlns:a16="http://schemas.microsoft.com/office/drawing/2014/main" val="2953295176"/>
                        </a:ext>
                      </a:extLst>
                    </a:gridCol>
                    <a:gridCol w="2376000">
                      <a:extLst>
                        <a:ext uri="{9D8B030D-6E8A-4147-A177-3AD203B41FA5}">
                          <a16:colId xmlns:a16="http://schemas.microsoft.com/office/drawing/2014/main" val="1688699872"/>
                        </a:ext>
                      </a:extLst>
                    </a:gridCol>
                    <a:gridCol w="2520000">
                      <a:extLst>
                        <a:ext uri="{9D8B030D-6E8A-4147-A177-3AD203B41FA5}">
                          <a16:colId xmlns:a16="http://schemas.microsoft.com/office/drawing/2014/main" val="1704625516"/>
                        </a:ext>
                      </a:extLst>
                    </a:gridCol>
                    <a:gridCol w="1440000">
                      <a:extLst>
                        <a:ext uri="{9D8B030D-6E8A-4147-A177-3AD203B41FA5}">
                          <a16:colId xmlns:a16="http://schemas.microsoft.com/office/drawing/2014/main" val="3608269238"/>
                        </a:ext>
                      </a:extLst>
                    </a:gridCol>
                  </a:tblGrid>
                  <a:tr h="82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Negative Exponent Law</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Expanded Form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036879757"/>
                      </a:ext>
                    </a:extLst>
                  </a:tr>
                  <a:tr h="1872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14:m>
                            <m:oMathPara xmlns:m="http://schemas.openxmlformats.org/officeDocument/2006/math">
                              <m:oMathParaPr>
                                <m:jc m:val="left"/>
                              </m:oMathParaPr>
                              <m:oMath xmlns:m="http://schemas.openxmlformats.org/officeDocument/2006/math">
                                <m:f>
                                  <m:fPr>
                                    <m:ctrlPr>
                                      <a:rPr lang="x-none" sz="2000" i="1" smtClean="0">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6∙6</m:t>
                                    </m:r>
                                  </m:den>
                                </m:f>
                                <m:r>
                                  <a:rPr lang="en-US" sz="2000" i="1">
                                    <a:effectLst/>
                                    <a:latin typeface="Cambria Math" panose="02040503050406030204" pitchFamily="18" charset="0"/>
                                    <a:ea typeface="Verdana" panose="020B0604030504040204" pitchFamily="34" charset="0"/>
                                    <a:cs typeface="Verdana" panose="020B0604030504040204" pitchFamily="34" charset="0"/>
                                  </a:rPr>
                                  <m:t>∙6∙6∙6∙6∙6=</m:t>
                                </m:r>
                              </m:oMath>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6</m:t>
                                    </m:r>
                                  </m:den>
                                </m:f>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6</m:t>
                                    </m:r>
                                  </m:den>
                                </m:f>
                                <m:r>
                                  <a:rPr lang="en-US" sz="2000" i="1">
                                    <a:effectLst/>
                                    <a:latin typeface="Cambria Math" panose="02040503050406030204" pitchFamily="18" charset="0"/>
                                    <a:ea typeface="Verdana" panose="020B0604030504040204" pitchFamily="34" charset="0"/>
                                    <a:cs typeface="Verdana" panose="020B0604030504040204" pitchFamily="34" charset="0"/>
                                  </a:rPr>
                                  <m:t>∙6∙6∙6∙6∙6</m:t>
                                </m:r>
                              </m:oMath>
                            </m:oMathPara>
                          </a14:m>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0142814"/>
                      </a:ext>
                    </a:extLst>
                  </a:tr>
                  <a:tr h="144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(−4)</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(−4)</m:t>
                                    </m:r>
                                  </m:e>
                                  <m:sup>
                                    <m:r>
                                      <a:rPr lang="en-US" sz="2000" i="1">
                                        <a:effectLst/>
                                        <a:latin typeface="Cambria Math" panose="02040503050406030204" pitchFamily="18" charset="0"/>
                                        <a:ea typeface="Verdana" panose="020B0604030504040204" pitchFamily="34" charset="0"/>
                                        <a:cs typeface="Verdana" panose="020B0604030504040204" pitchFamily="34" charset="0"/>
                                      </a:rPr>
                                      <m:t>−7</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381847"/>
                      </a:ext>
                    </a:extLst>
                  </a:tr>
                  <a:tr h="144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685081"/>
                      </a:ext>
                    </a:extLst>
                  </a:tr>
                </a:tbl>
              </a:graphicData>
            </a:graphic>
          </p:graphicFrame>
        </mc:Choice>
        <mc:Fallback xmlns="">
          <p:graphicFrame>
            <p:nvGraphicFramePr>
              <p:cNvPr id="6" name="Table 5">
                <a:extLst>
                  <a:ext uri="{FF2B5EF4-FFF2-40B4-BE49-F238E27FC236}">
                    <a16:creationId xmlns:a16="http://schemas.microsoft.com/office/drawing/2014/main" id="{F7EDFD37-3501-1A4F-99FF-8AD8BE4F7828}"/>
                  </a:ext>
                </a:extLst>
              </p:cNvPr>
              <p:cNvGraphicFramePr>
                <a:graphicFrameLocks noGrp="1"/>
              </p:cNvGraphicFramePr>
              <p:nvPr>
                <p:extLst>
                  <p:ext uri="{D42A27DB-BD31-4B8C-83A1-F6EECF244321}">
                    <p14:modId xmlns:p14="http://schemas.microsoft.com/office/powerpoint/2010/main" val="848517260"/>
                  </p:ext>
                </p:extLst>
              </p:nvPr>
            </p:nvGraphicFramePr>
            <p:xfrm>
              <a:off x="1992000" y="441715"/>
              <a:ext cx="8208000" cy="5974569"/>
            </p:xfrm>
            <a:graphic>
              <a:graphicData uri="http://schemas.openxmlformats.org/drawingml/2006/table">
                <a:tbl>
                  <a:tblPr firstRow="1" firstCol="1" bandRow="1"/>
                  <a:tblGrid>
                    <a:gridCol w="1872000">
                      <a:extLst>
                        <a:ext uri="{9D8B030D-6E8A-4147-A177-3AD203B41FA5}">
                          <a16:colId xmlns:a16="http://schemas.microsoft.com/office/drawing/2014/main" val="2953295176"/>
                        </a:ext>
                      </a:extLst>
                    </a:gridCol>
                    <a:gridCol w="2376000">
                      <a:extLst>
                        <a:ext uri="{9D8B030D-6E8A-4147-A177-3AD203B41FA5}">
                          <a16:colId xmlns:a16="http://schemas.microsoft.com/office/drawing/2014/main" val="1688699872"/>
                        </a:ext>
                      </a:extLst>
                    </a:gridCol>
                    <a:gridCol w="2520000">
                      <a:extLst>
                        <a:ext uri="{9D8B030D-6E8A-4147-A177-3AD203B41FA5}">
                          <a16:colId xmlns:a16="http://schemas.microsoft.com/office/drawing/2014/main" val="1704625516"/>
                        </a:ext>
                      </a:extLst>
                    </a:gridCol>
                    <a:gridCol w="1440000">
                      <a:extLst>
                        <a:ext uri="{9D8B030D-6E8A-4147-A177-3AD203B41FA5}">
                          <a16:colId xmlns:a16="http://schemas.microsoft.com/office/drawing/2014/main" val="3608269238"/>
                        </a:ext>
                      </a:extLst>
                    </a:gridCol>
                  </a:tblGrid>
                  <a:tr h="82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Negative Exponent Law</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Expanded Form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036879757"/>
                      </a:ext>
                    </a:extLst>
                  </a:tr>
                  <a:tr h="2266569">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t="-36872" r="-338514" b="-12793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9144" t="-36872" r="-167914" b="-127933"/>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8342" t="-36872" r="-57789" b="-1279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0142814"/>
                      </a:ext>
                    </a:extLst>
                  </a:tr>
                  <a:tr h="14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t="-214912" r="-338514" b="-10087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381847"/>
                      </a:ext>
                    </a:extLst>
                  </a:tr>
                  <a:tr h="14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t="-314912" r="-338514" b="-87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685081"/>
                      </a:ext>
                    </a:extLst>
                  </a:tr>
                </a:tbl>
              </a:graphicData>
            </a:graphic>
          </p:graphicFrame>
        </mc:Fallback>
      </mc:AlternateContent>
    </p:spTree>
    <p:extLst>
      <p:ext uri="{BB962C8B-B14F-4D97-AF65-F5344CB8AC3E}">
        <p14:creationId xmlns:p14="http://schemas.microsoft.com/office/powerpoint/2010/main" val="2849016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0" y="384589"/>
            <a:ext cx="11585342" cy="830997"/>
          </a:xfrm>
          <a:prstGeom prst="rect">
            <a:avLst/>
          </a:prstGeom>
        </p:spPr>
        <p:txBody>
          <a:bodyPr wrap="square">
            <a:spAutoFit/>
          </a:bodyPr>
          <a:lstStyle/>
          <a:p>
            <a:pPr marL="1377950" indent="-45085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to evaluate each expression by applying the product of powers law.</a:t>
            </a:r>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46DE0FBB-BAEB-9B43-9617-47D95817D4C1}"/>
                  </a:ext>
                </a:extLst>
              </p:cNvPr>
              <p:cNvGraphicFramePr>
                <a:graphicFrameLocks noGrp="1"/>
              </p:cNvGraphicFramePr>
              <p:nvPr>
                <p:extLst>
                  <p:ext uri="{D42A27DB-BD31-4B8C-83A1-F6EECF244321}">
                    <p14:modId xmlns:p14="http://schemas.microsoft.com/office/powerpoint/2010/main" val="1316040303"/>
                  </p:ext>
                </p:extLst>
              </p:nvPr>
            </p:nvGraphicFramePr>
            <p:xfrm>
              <a:off x="2496000" y="1318391"/>
              <a:ext cx="7200000" cy="4068000"/>
            </p:xfrm>
            <a:graphic>
              <a:graphicData uri="http://schemas.openxmlformats.org/drawingml/2006/table">
                <a:tbl>
                  <a:tblPr firstRow="1" firstCol="1" bandRow="1"/>
                  <a:tblGrid>
                    <a:gridCol w="1980000">
                      <a:extLst>
                        <a:ext uri="{9D8B030D-6E8A-4147-A177-3AD203B41FA5}">
                          <a16:colId xmlns:a16="http://schemas.microsoft.com/office/drawing/2014/main" val="2850422510"/>
                        </a:ext>
                      </a:extLst>
                    </a:gridCol>
                    <a:gridCol w="3600000">
                      <a:extLst>
                        <a:ext uri="{9D8B030D-6E8A-4147-A177-3AD203B41FA5}">
                          <a16:colId xmlns:a16="http://schemas.microsoft.com/office/drawing/2014/main" val="1029795730"/>
                        </a:ext>
                      </a:extLst>
                    </a:gridCol>
                    <a:gridCol w="1620000">
                      <a:extLst>
                        <a:ext uri="{9D8B030D-6E8A-4147-A177-3AD203B41FA5}">
                          <a16:colId xmlns:a16="http://schemas.microsoft.com/office/drawing/2014/main" val="2010711535"/>
                        </a:ext>
                      </a:extLst>
                    </a:gridCol>
                  </a:tblGrid>
                  <a:tr h="82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Product of Powers Exponent Law</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858173068"/>
                      </a:ext>
                    </a:extLst>
                  </a:tr>
                  <a:tr h="108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80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−2+5</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      </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7535767"/>
                      </a:ext>
                    </a:extLst>
                  </a:tr>
                  <a:tr h="108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(−4)</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(−4)</m:t>
                                    </m:r>
                                  </m:e>
                                  <m:sup>
                                    <m:r>
                                      <a:rPr lang="en-US" sz="2000" i="1">
                                        <a:effectLst/>
                                        <a:latin typeface="Cambria Math" panose="02040503050406030204" pitchFamily="18" charset="0"/>
                                        <a:ea typeface="Verdana" panose="020B0604030504040204" pitchFamily="34" charset="0"/>
                                        <a:cs typeface="Verdana" panose="020B0604030504040204" pitchFamily="34" charset="0"/>
                                      </a:rPr>
                                      <m:t>−7</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353380"/>
                      </a:ext>
                    </a:extLst>
                  </a:tr>
                  <a:tr h="108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4758552"/>
                      </a:ext>
                    </a:extLst>
                  </a:tr>
                </a:tbl>
              </a:graphicData>
            </a:graphic>
          </p:graphicFrame>
        </mc:Choice>
        <mc:Fallback>
          <p:graphicFrame>
            <p:nvGraphicFramePr>
              <p:cNvPr id="5" name="Table 4">
                <a:extLst>
                  <a:ext uri="{FF2B5EF4-FFF2-40B4-BE49-F238E27FC236}">
                    <a16:creationId xmlns:a16="http://schemas.microsoft.com/office/drawing/2014/main" id="{46DE0FBB-BAEB-9B43-9617-47D95817D4C1}"/>
                  </a:ext>
                </a:extLst>
              </p:cNvPr>
              <p:cNvGraphicFramePr>
                <a:graphicFrameLocks noGrp="1"/>
              </p:cNvGraphicFramePr>
              <p:nvPr>
                <p:extLst>
                  <p:ext uri="{D42A27DB-BD31-4B8C-83A1-F6EECF244321}">
                    <p14:modId xmlns:p14="http://schemas.microsoft.com/office/powerpoint/2010/main" val="1316040303"/>
                  </p:ext>
                </p:extLst>
              </p:nvPr>
            </p:nvGraphicFramePr>
            <p:xfrm>
              <a:off x="2496000" y="1318391"/>
              <a:ext cx="7200000" cy="4068000"/>
            </p:xfrm>
            <a:graphic>
              <a:graphicData uri="http://schemas.openxmlformats.org/drawingml/2006/table">
                <a:tbl>
                  <a:tblPr firstRow="1" firstCol="1" bandRow="1"/>
                  <a:tblGrid>
                    <a:gridCol w="1980000">
                      <a:extLst>
                        <a:ext uri="{9D8B030D-6E8A-4147-A177-3AD203B41FA5}">
                          <a16:colId xmlns:a16="http://schemas.microsoft.com/office/drawing/2014/main" val="2850422510"/>
                        </a:ext>
                      </a:extLst>
                    </a:gridCol>
                    <a:gridCol w="3600000">
                      <a:extLst>
                        <a:ext uri="{9D8B030D-6E8A-4147-A177-3AD203B41FA5}">
                          <a16:colId xmlns:a16="http://schemas.microsoft.com/office/drawing/2014/main" val="1029795730"/>
                        </a:ext>
                      </a:extLst>
                    </a:gridCol>
                    <a:gridCol w="1620000">
                      <a:extLst>
                        <a:ext uri="{9D8B030D-6E8A-4147-A177-3AD203B41FA5}">
                          <a16:colId xmlns:a16="http://schemas.microsoft.com/office/drawing/2014/main" val="2010711535"/>
                        </a:ext>
                      </a:extLst>
                    </a:gridCol>
                  </a:tblGrid>
                  <a:tr h="82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Product of Powers Exponent Law</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858173068"/>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15" t="-77966" r="-264615" b="-20226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5330" t="-77966" r="-45516" b="-202260"/>
                          </a:stretch>
                        </a:blipFill>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7535767"/>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15" t="-176966" r="-264615" b="-10112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353380"/>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15" t="-278531" r="-264615" b="-169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4758552"/>
                      </a:ext>
                    </a:extLst>
                  </a:tr>
                </a:tbl>
              </a:graphicData>
            </a:graphic>
          </p:graphicFrame>
        </mc:Fallback>
      </mc:AlternateContent>
      <p:sp>
        <p:nvSpPr>
          <p:cNvPr id="8" name="Rectangle 7">
            <a:extLst>
              <a:ext uri="{FF2B5EF4-FFF2-40B4-BE49-F238E27FC236}">
                <a16:creationId xmlns:a16="http://schemas.microsoft.com/office/drawing/2014/main" id="{F54A4596-5923-6342-9500-70E8F702680A}"/>
              </a:ext>
            </a:extLst>
          </p:cNvPr>
          <p:cNvSpPr/>
          <p:nvPr/>
        </p:nvSpPr>
        <p:spPr>
          <a:xfrm>
            <a:off x="111600" y="5572321"/>
            <a:ext cx="11785432" cy="830997"/>
          </a:xfrm>
          <a:prstGeom prst="rect">
            <a:avLst/>
          </a:prstGeom>
        </p:spPr>
        <p:txBody>
          <a:bodyPr wrap="square">
            <a:spAutoFit/>
          </a:bodyPr>
          <a:lstStyle/>
          <a:p>
            <a:pPr marL="1377950" indent="-45085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With your partner, discuss your observations of the tables from Parts A and B.</a:t>
            </a:r>
          </a:p>
        </p:txBody>
      </p:sp>
    </p:spTree>
    <p:extLst>
      <p:ext uri="{BB962C8B-B14F-4D97-AF65-F5344CB8AC3E}">
        <p14:creationId xmlns:p14="http://schemas.microsoft.com/office/powerpoint/2010/main" val="1159944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471591" y="377020"/>
            <a:ext cx="11513932" cy="1938992"/>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Consider the exponential expressions in the table.</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8525" indent="-449263">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For each expression, work with your partner to rewrite the exponential expression in expanded form and evaluate. The first row has been partially completed.</a:t>
            </a: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A2F14BE2-2E1A-C34D-AAB4-24DE2EF43C3F}"/>
                  </a:ext>
                </a:extLst>
              </p:cNvPr>
              <p:cNvGraphicFramePr>
                <a:graphicFrameLocks noGrp="1"/>
              </p:cNvGraphicFramePr>
              <p:nvPr>
                <p:extLst>
                  <p:ext uri="{D42A27DB-BD31-4B8C-83A1-F6EECF244321}">
                    <p14:modId xmlns:p14="http://schemas.microsoft.com/office/powerpoint/2010/main" val="3896568667"/>
                  </p:ext>
                </p:extLst>
              </p:nvPr>
            </p:nvGraphicFramePr>
            <p:xfrm>
              <a:off x="1866000" y="2610000"/>
              <a:ext cx="8460000" cy="3918270"/>
            </p:xfrm>
            <a:graphic>
              <a:graphicData uri="http://schemas.openxmlformats.org/drawingml/2006/table">
                <a:tbl>
                  <a:tblPr firstRow="1" firstCol="1" bandRow="1"/>
                  <a:tblGrid>
                    <a:gridCol w="2052000">
                      <a:extLst>
                        <a:ext uri="{9D8B030D-6E8A-4147-A177-3AD203B41FA5}">
                          <a16:colId xmlns:a16="http://schemas.microsoft.com/office/drawing/2014/main" val="4155185415"/>
                        </a:ext>
                      </a:extLst>
                    </a:gridCol>
                    <a:gridCol w="1800000">
                      <a:extLst>
                        <a:ext uri="{9D8B030D-6E8A-4147-A177-3AD203B41FA5}">
                          <a16:colId xmlns:a16="http://schemas.microsoft.com/office/drawing/2014/main" val="1361193745"/>
                        </a:ext>
                      </a:extLst>
                    </a:gridCol>
                    <a:gridCol w="3420000">
                      <a:extLst>
                        <a:ext uri="{9D8B030D-6E8A-4147-A177-3AD203B41FA5}">
                          <a16:colId xmlns:a16="http://schemas.microsoft.com/office/drawing/2014/main" val="1358061436"/>
                        </a:ext>
                      </a:extLst>
                    </a:gridCol>
                    <a:gridCol w="1188000">
                      <a:extLst>
                        <a:ext uri="{9D8B030D-6E8A-4147-A177-3AD203B41FA5}">
                          <a16:colId xmlns:a16="http://schemas.microsoft.com/office/drawing/2014/main" val="1860816020"/>
                        </a:ext>
                      </a:extLst>
                    </a:gridCol>
                  </a:tblGrid>
                  <a:tr h="105277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Negative Exponent Law</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Expanded Form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817932659"/>
                      </a:ext>
                    </a:extLst>
                  </a:tr>
                  <a:tr h="869210">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−6</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den>
                                </m:f>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6</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(−8)(−8)(−8)(−8)(−8)(−8)</m:t>
                                    </m:r>
                                  </m:num>
                                  <m:den>
                                    <m:r>
                                      <a:rPr lang="en-US" sz="2000" i="1">
                                        <a:effectLst/>
                                        <a:latin typeface="Cambria Math" panose="02040503050406030204" pitchFamily="18" charset="0"/>
                                        <a:ea typeface="Verdana" panose="020B0604030504040204" pitchFamily="34" charset="0"/>
                                        <a:cs typeface="Verdana" panose="020B0604030504040204" pitchFamily="34" charset="0"/>
                                      </a:rPr>
                                      <m:t>(−8)(−8)(−8)(−8)</m:t>
                                    </m:r>
                                  </m:den>
                                </m:f>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8210190"/>
                      </a:ext>
                    </a:extLst>
                  </a:tr>
                  <a:tr h="869210">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7</m:t>
                                  </m:r>
                                </m:e>
                                <m:sup>
                                  <m:r>
                                    <a:rPr lang="en-US" sz="2000" i="1">
                                      <a:effectLst/>
                                      <a:latin typeface="Cambria Math" panose="02040503050406030204" pitchFamily="18" charset="0"/>
                                      <a:ea typeface="Verdana" panose="020B0604030504040204" pitchFamily="34" charset="0"/>
                                      <a:cs typeface="Verdana" panose="020B0604030504040204" pitchFamily="34" charset="0"/>
                                    </a:rPr>
                                    <m:t>0</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7</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oMath>
                          </a14:m>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9647125"/>
                      </a:ext>
                    </a:extLst>
                  </a:tr>
                  <a:tr h="8692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9</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9</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5332381"/>
                      </a:ext>
                    </a:extLst>
                  </a:tr>
                </a:tbl>
              </a:graphicData>
            </a:graphic>
          </p:graphicFrame>
        </mc:Choice>
        <mc:Fallback>
          <p:graphicFrame>
            <p:nvGraphicFramePr>
              <p:cNvPr id="4" name="Table 3">
                <a:extLst>
                  <a:ext uri="{FF2B5EF4-FFF2-40B4-BE49-F238E27FC236}">
                    <a16:creationId xmlns:a16="http://schemas.microsoft.com/office/drawing/2014/main" id="{A2F14BE2-2E1A-C34D-AAB4-24DE2EF43C3F}"/>
                  </a:ext>
                </a:extLst>
              </p:cNvPr>
              <p:cNvGraphicFramePr>
                <a:graphicFrameLocks noGrp="1"/>
              </p:cNvGraphicFramePr>
              <p:nvPr>
                <p:extLst>
                  <p:ext uri="{D42A27DB-BD31-4B8C-83A1-F6EECF244321}">
                    <p14:modId xmlns:p14="http://schemas.microsoft.com/office/powerpoint/2010/main" val="3896568667"/>
                  </p:ext>
                </p:extLst>
              </p:nvPr>
            </p:nvGraphicFramePr>
            <p:xfrm>
              <a:off x="1866000" y="2610000"/>
              <a:ext cx="8460000" cy="3918270"/>
            </p:xfrm>
            <a:graphic>
              <a:graphicData uri="http://schemas.openxmlformats.org/drawingml/2006/table">
                <a:tbl>
                  <a:tblPr firstRow="1" firstCol="1" bandRow="1"/>
                  <a:tblGrid>
                    <a:gridCol w="2052000">
                      <a:extLst>
                        <a:ext uri="{9D8B030D-6E8A-4147-A177-3AD203B41FA5}">
                          <a16:colId xmlns:a16="http://schemas.microsoft.com/office/drawing/2014/main" val="4155185415"/>
                        </a:ext>
                      </a:extLst>
                    </a:gridCol>
                    <a:gridCol w="1800000">
                      <a:extLst>
                        <a:ext uri="{9D8B030D-6E8A-4147-A177-3AD203B41FA5}">
                          <a16:colId xmlns:a16="http://schemas.microsoft.com/office/drawing/2014/main" val="1361193745"/>
                        </a:ext>
                      </a:extLst>
                    </a:gridCol>
                    <a:gridCol w="3420000">
                      <a:extLst>
                        <a:ext uri="{9D8B030D-6E8A-4147-A177-3AD203B41FA5}">
                          <a16:colId xmlns:a16="http://schemas.microsoft.com/office/drawing/2014/main" val="1358061436"/>
                        </a:ext>
                      </a:extLst>
                    </a:gridCol>
                    <a:gridCol w="1188000">
                      <a:extLst>
                        <a:ext uri="{9D8B030D-6E8A-4147-A177-3AD203B41FA5}">
                          <a16:colId xmlns:a16="http://schemas.microsoft.com/office/drawing/2014/main" val="1860816020"/>
                        </a:ext>
                      </a:extLst>
                    </a:gridCol>
                  </a:tblGrid>
                  <a:tr h="13106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Negative Exponent Law</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Expanded Form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817932659"/>
                      </a:ext>
                    </a:extLst>
                  </a:tr>
                  <a:tr h="86921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93" t="-153846" r="-313056" b="-202098"/>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4915" t="-153846" r="-257627" b="-202098"/>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3012" t="-153846" r="-35472" b="-202098"/>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8210190"/>
                      </a:ext>
                    </a:extLst>
                  </a:tr>
                  <a:tr h="86921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93" t="-255634" r="-313056" b="-103521"/>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9647125"/>
                      </a:ext>
                    </a:extLst>
                  </a:tr>
                  <a:tr h="86921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93" t="-353147" r="-313056" b="-2797"/>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5332381"/>
                      </a:ext>
                    </a:extLst>
                  </a:tr>
                </a:tbl>
              </a:graphicData>
            </a:graphic>
          </p:graphicFrame>
        </mc:Fallback>
      </mc:AlternateContent>
    </p:spTree>
    <p:extLst>
      <p:ext uri="{BB962C8B-B14F-4D97-AF65-F5344CB8AC3E}">
        <p14:creationId xmlns:p14="http://schemas.microsoft.com/office/powerpoint/2010/main" val="2801657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11599" y="419030"/>
            <a:ext cx="11598619" cy="830997"/>
          </a:xfrm>
          <a:prstGeom prst="rect">
            <a:avLst/>
          </a:prstGeom>
        </p:spPr>
        <p:txBody>
          <a:bodyPr wrap="square">
            <a:spAutoFit/>
          </a:bodyPr>
          <a:lstStyle/>
          <a:p>
            <a:pPr marL="1377950" indent="-45085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to evaluate each expression by applying quotient of powers law.</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B810F561-F187-6846-BB0D-8F6434648BCF}"/>
                  </a:ext>
                </a:extLst>
              </p:cNvPr>
              <p:cNvGraphicFramePr>
                <a:graphicFrameLocks noGrp="1"/>
              </p:cNvGraphicFramePr>
              <p:nvPr>
                <p:extLst>
                  <p:ext uri="{D42A27DB-BD31-4B8C-83A1-F6EECF244321}">
                    <p14:modId xmlns:p14="http://schemas.microsoft.com/office/powerpoint/2010/main" val="336452056"/>
                  </p:ext>
                </p:extLst>
              </p:nvPr>
            </p:nvGraphicFramePr>
            <p:xfrm>
              <a:off x="2676000" y="1454391"/>
              <a:ext cx="6840000" cy="3240000"/>
            </p:xfrm>
            <a:graphic>
              <a:graphicData uri="http://schemas.openxmlformats.org/drawingml/2006/table">
                <a:tbl>
                  <a:tblPr firstRow="1" firstCol="1" bandRow="1"/>
                  <a:tblGrid>
                    <a:gridCol w="2160000">
                      <a:extLst>
                        <a:ext uri="{9D8B030D-6E8A-4147-A177-3AD203B41FA5}">
                          <a16:colId xmlns:a16="http://schemas.microsoft.com/office/drawing/2014/main" val="3214368007"/>
                        </a:ext>
                      </a:extLst>
                    </a:gridCol>
                    <a:gridCol w="2880000">
                      <a:extLst>
                        <a:ext uri="{9D8B030D-6E8A-4147-A177-3AD203B41FA5}">
                          <a16:colId xmlns:a16="http://schemas.microsoft.com/office/drawing/2014/main" val="3403960921"/>
                        </a:ext>
                      </a:extLst>
                    </a:gridCol>
                    <a:gridCol w="1800000">
                      <a:extLst>
                        <a:ext uri="{9D8B030D-6E8A-4147-A177-3AD203B41FA5}">
                          <a16:colId xmlns:a16="http://schemas.microsoft.com/office/drawing/2014/main" val="1237592953"/>
                        </a:ext>
                      </a:extLst>
                    </a:gridCol>
                  </a:tblGrid>
                  <a:tr h="108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Quotient of Powers Exponent Law</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719571090"/>
                      </a:ext>
                    </a:extLst>
                  </a:tr>
                  <a:tr h="720000">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−6</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80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−4−(−6)</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      </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8229489"/>
                      </a:ext>
                    </a:extLst>
                  </a:tr>
                  <a:tr h="720000">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7</m:t>
                                  </m:r>
                                </m:e>
                                <m:sup>
                                  <m:r>
                                    <a:rPr lang="en-US" sz="2000" i="1">
                                      <a:effectLst/>
                                      <a:latin typeface="Cambria Math" panose="02040503050406030204" pitchFamily="18" charset="0"/>
                                      <a:ea typeface="Verdana" panose="020B0604030504040204" pitchFamily="34" charset="0"/>
                                      <a:cs typeface="Verdana" panose="020B0604030504040204" pitchFamily="34" charset="0"/>
                                    </a:rPr>
                                    <m:t>0</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7</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oMath>
                          </a14:m>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6325904"/>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9</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9</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1373392"/>
                      </a:ext>
                    </a:extLst>
                  </a:tr>
                </a:tbl>
              </a:graphicData>
            </a:graphic>
          </p:graphicFrame>
        </mc:Choice>
        <mc:Fallback xmlns="">
          <p:graphicFrame>
            <p:nvGraphicFramePr>
              <p:cNvPr id="5" name="Table 4">
                <a:extLst>
                  <a:ext uri="{FF2B5EF4-FFF2-40B4-BE49-F238E27FC236}">
                    <a16:creationId xmlns:a16="http://schemas.microsoft.com/office/drawing/2014/main" id="{B810F561-F187-6846-BB0D-8F6434648BCF}"/>
                  </a:ext>
                </a:extLst>
              </p:cNvPr>
              <p:cNvGraphicFramePr>
                <a:graphicFrameLocks noGrp="1"/>
              </p:cNvGraphicFramePr>
              <p:nvPr>
                <p:extLst>
                  <p:ext uri="{D42A27DB-BD31-4B8C-83A1-F6EECF244321}">
                    <p14:modId xmlns:p14="http://schemas.microsoft.com/office/powerpoint/2010/main" val="336452056"/>
                  </p:ext>
                </p:extLst>
              </p:nvPr>
            </p:nvGraphicFramePr>
            <p:xfrm>
              <a:off x="2676000" y="1454391"/>
              <a:ext cx="6840000" cy="3240000"/>
            </p:xfrm>
            <a:graphic>
              <a:graphicData uri="http://schemas.openxmlformats.org/drawingml/2006/table">
                <a:tbl>
                  <a:tblPr firstRow="1" firstCol="1" bandRow="1"/>
                  <a:tblGrid>
                    <a:gridCol w="2160000">
                      <a:extLst>
                        <a:ext uri="{9D8B030D-6E8A-4147-A177-3AD203B41FA5}">
                          <a16:colId xmlns:a16="http://schemas.microsoft.com/office/drawing/2014/main" val="3214368007"/>
                        </a:ext>
                      </a:extLst>
                    </a:gridCol>
                    <a:gridCol w="2880000">
                      <a:extLst>
                        <a:ext uri="{9D8B030D-6E8A-4147-A177-3AD203B41FA5}">
                          <a16:colId xmlns:a16="http://schemas.microsoft.com/office/drawing/2014/main" val="3403960921"/>
                        </a:ext>
                      </a:extLst>
                    </a:gridCol>
                    <a:gridCol w="1800000">
                      <a:extLst>
                        <a:ext uri="{9D8B030D-6E8A-4147-A177-3AD203B41FA5}">
                          <a16:colId xmlns:a16="http://schemas.microsoft.com/office/drawing/2014/main" val="1237592953"/>
                        </a:ext>
                      </a:extLst>
                    </a:gridCol>
                  </a:tblGrid>
                  <a:tr h="108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Quotient of Powers Exponent Law</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719571090"/>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85" t="-150877" r="-216959" b="-20350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5771" t="-150877" r="-63436" b="-20350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8229489"/>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85" t="-250877" r="-216959" b="-10350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6325904"/>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85" t="-350877" r="-216959" b="-350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1373392"/>
                      </a:ext>
                    </a:extLst>
                  </a:tr>
                </a:tbl>
              </a:graphicData>
            </a:graphic>
          </p:graphicFrame>
        </mc:Fallback>
      </mc:AlternateContent>
      <p:sp>
        <p:nvSpPr>
          <p:cNvPr id="11" name="Rectangle 10">
            <a:extLst>
              <a:ext uri="{FF2B5EF4-FFF2-40B4-BE49-F238E27FC236}">
                <a16:creationId xmlns:a16="http://schemas.microsoft.com/office/drawing/2014/main" id="{44C541B6-7D49-E14E-AB67-63274808BD8B}"/>
              </a:ext>
            </a:extLst>
          </p:cNvPr>
          <p:cNvSpPr/>
          <p:nvPr/>
        </p:nvSpPr>
        <p:spPr>
          <a:xfrm>
            <a:off x="111599" y="5031997"/>
            <a:ext cx="11746104" cy="830997"/>
          </a:xfrm>
          <a:prstGeom prst="rect">
            <a:avLst/>
          </a:prstGeom>
        </p:spPr>
        <p:txBody>
          <a:bodyPr wrap="square">
            <a:spAutoFit/>
          </a:bodyPr>
          <a:lstStyle/>
          <a:p>
            <a:pPr marL="1377950" indent="-45085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With your partner, discuss your observations of the tables after completing Parts A and B.</a:t>
            </a:r>
          </a:p>
        </p:txBody>
      </p:sp>
    </p:spTree>
    <p:extLst>
      <p:ext uri="{BB962C8B-B14F-4D97-AF65-F5344CB8AC3E}">
        <p14:creationId xmlns:p14="http://schemas.microsoft.com/office/powerpoint/2010/main" val="3874977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194"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54A4596-5923-6342-9500-70E8F702680A}"/>
                  </a:ext>
                </a:extLst>
              </p:cNvPr>
              <p:cNvSpPr/>
              <p:nvPr/>
            </p:nvSpPr>
            <p:spPr>
              <a:xfrm>
                <a:off x="662926" y="425109"/>
                <a:ext cx="11145615" cy="2841804"/>
              </a:xfrm>
              <a:prstGeom prst="rect">
                <a:avLst/>
              </a:prstGeom>
            </p:spPr>
            <p:txBody>
              <a:bodyPr wrap="square">
                <a:spAutoFit/>
              </a:bodyPr>
              <a:lstStyle/>
              <a:p>
                <a:pPr marL="457200" indent="-457200">
                  <a:buFont typeface="+mj-lt"/>
                  <a:buAutoNum type="arabicPeriod" startAt="3"/>
                </a:pPr>
                <a:r>
                  <a:rPr lang="en-US" sz="2400" dirty="0">
                    <a:latin typeface="Verdana" pitchFamily="34" charset="0"/>
                    <a:ea typeface="Verdana" pitchFamily="34" charset="0"/>
                    <a:cs typeface="Times New Roman" panose="02020603050405020304" pitchFamily="18" charset="0"/>
                  </a:rPr>
                  <a:t>Several equivalent expressions are shown using </a:t>
                </a:r>
                <a:br>
                  <a:rPr lang="en-US" sz="2400" dirty="0">
                    <a:latin typeface="Verdana" pitchFamily="34" charset="0"/>
                    <a:ea typeface="Verdana" pitchFamily="34" charset="0"/>
                    <a:cs typeface="Times New Roman" panose="02020603050405020304" pitchFamily="18" charset="0"/>
                  </a:rPr>
                </a:br>
                <a:r>
                  <a:rPr lang="en-US" sz="2400" dirty="0">
                    <a:latin typeface="Verdana" pitchFamily="34" charset="0"/>
                    <a:ea typeface="Verdana" pitchFamily="34" charset="0"/>
                    <a:cs typeface="Times New Roman" panose="02020603050405020304" pitchFamily="18" charset="0"/>
                  </a:rPr>
                  <a:t>the negative exponent law.</a:t>
                </a:r>
              </a:p>
              <a:p>
                <a:endParaRPr lang="en-US" sz="2400" dirty="0">
                  <a:latin typeface="Verdana" pitchFamily="34" charset="0"/>
                  <a:ea typeface="Verdana" pitchFamily="34" charset="0"/>
                  <a:cs typeface="Times New Roman" panose="02020603050405020304" pitchFamily="18" charset="0"/>
                </a:endParaRPr>
              </a:p>
              <a:p>
                <a:pPr/>
                <a14:m>
                  <m:oMathPara xmlns:m="http://schemas.openxmlformats.org/officeDocument/2006/math">
                    <m:oMathParaPr>
                      <m:jc m:val="center"/>
                    </m:oMathParaPr>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5</m:t>
                                  </m:r>
                                </m:e>
                                <m:sup>
                                  <m:r>
                                    <a:rPr lang="es-ES" sz="2400" i="1" dirty="0">
                                      <a:latin typeface="Cambria Math" panose="02040503050406030204" pitchFamily="18" charset="0"/>
                                      <a:cs typeface="Times New Roman" panose="02020603050405020304" pitchFamily="18" charset="0"/>
                                    </a:rPr>
                                    <m:t>−3</m:t>
                                  </m:r>
                                </m:sup>
                              </m:sSup>
                            </m:e>
                          </m:d>
                        </m:e>
                        <m:sup>
                          <m:r>
                            <a:rPr lang="es-ES" sz="2400" i="1" dirty="0">
                              <a:latin typeface="Cambria Math" panose="02040503050406030204" pitchFamily="18" charset="0"/>
                              <a:cs typeface="Times New Roman" panose="02020603050405020304" pitchFamily="18" charset="0"/>
                            </a:rPr>
                            <m:t>2</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5</m:t>
                                      </m:r>
                                    </m:e>
                                    <m:sup>
                                      <m:r>
                                        <a:rPr lang="es-ES" sz="2400" i="1" dirty="0">
                                          <a:latin typeface="Cambria Math" panose="02040503050406030204" pitchFamily="18" charset="0"/>
                                          <a:cs typeface="Times New Roman" panose="02020603050405020304" pitchFamily="18" charset="0"/>
                                        </a:rPr>
                                        <m:t>3</m:t>
                                      </m:r>
                                    </m:sup>
                                  </m:sSup>
                                </m:den>
                              </m:f>
                            </m:e>
                          </m:d>
                        </m:e>
                        <m:sup>
                          <m:r>
                            <a:rPr lang="es-ES" sz="2400" i="1" dirty="0">
                              <a:latin typeface="Cambria Math" panose="02040503050406030204" pitchFamily="18" charset="0"/>
                              <a:cs typeface="Times New Roman" panose="02020603050405020304" pitchFamily="18" charset="0"/>
                            </a:rPr>
                            <m:t>2</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 </m:t>
                      </m:r>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5·5·5</m:t>
                              </m:r>
                            </m:den>
                          </m:f>
                          <m:r>
                            <a:rPr lang="es-ES" sz="2400" i="1" dirty="0">
                              <a:latin typeface="Cambria Math" panose="02040503050406030204" pitchFamily="18" charset="0"/>
                              <a:cs typeface="Times New Roman" panose="02020603050405020304" pitchFamily="18" charset="0"/>
                            </a:rPr>
                            <m:t>·</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5·5·5</m:t>
                              </m:r>
                            </m:den>
                          </m:f>
                        </m:e>
                      </m:d>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5·5·5·5·5·5</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5</m:t>
                          </m:r>
                        </m:e>
                        <m:sup>
                          <m:r>
                            <a:rPr lang="es-ES" sz="2400" i="1" dirty="0">
                              <a:latin typeface="Cambria Math" panose="02040503050406030204" pitchFamily="18" charset="0"/>
                              <a:cs typeface="Times New Roman" panose="02020603050405020304" pitchFamily="18" charset="0"/>
                            </a:rPr>
                            <m:t>−6</m:t>
                          </m:r>
                        </m:sup>
                      </m:sSup>
                    </m:oMath>
                  </m:oMathPara>
                </a14:m>
                <a:endParaRPr lang="en-US" sz="2400" dirty="0">
                  <a:latin typeface="Verdana" pitchFamily="34" charset="0"/>
                  <a:ea typeface="Verdana" pitchFamily="34" charset="0"/>
                  <a:cs typeface="Times New Roman" panose="02020603050405020304" pitchFamily="18" charset="0"/>
                </a:endParaRPr>
              </a:p>
              <a:p>
                <a:endParaRPr lang="en-US" sz="2400" dirty="0">
                  <a:latin typeface="Verdana" pitchFamily="34" charset="0"/>
                  <a:ea typeface="Verdana" pitchFamily="34" charset="0"/>
                  <a:cs typeface="Times New Roman" panose="02020603050405020304" pitchFamily="18" charset="0"/>
                </a:endParaRPr>
              </a:p>
              <a:p>
                <a:pPr marL="449263"/>
                <a:r>
                  <a:rPr lang="en-US" sz="2400" dirty="0">
                    <a:latin typeface="Verdana" pitchFamily="34" charset="0"/>
                    <a:ea typeface="Verdana" pitchFamily="34" charset="0"/>
                    <a:cs typeface="Times New Roman" panose="02020603050405020304" pitchFamily="18" charset="0"/>
                  </a:rPr>
                  <a:t>Which exponent law(s) can also be used to show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5</m:t>
                                    </m:r>
                                  </m:e>
                                  <m:sup>
                                    <m:r>
                                      <a:rPr lang="es-ES" sz="2400" i="1" dirty="0">
                                        <a:latin typeface="Cambria Math" panose="02040503050406030204" pitchFamily="18" charset="0"/>
                                        <a:cs typeface="Times New Roman" panose="02020603050405020304" pitchFamily="18" charset="0"/>
                                      </a:rPr>
                                      <m:t>−3</m:t>
                                    </m:r>
                                  </m:sup>
                                </m:sSup>
                              </m:e>
                            </m:d>
                          </m:e>
                          <m:sup>
                            <m:r>
                              <a:rPr lang="es-ES" sz="2400" i="1" dirty="0">
                                <a:latin typeface="Cambria Math" panose="02040503050406030204" pitchFamily="18" charset="0"/>
                                <a:cs typeface="Times New Roman" panose="02020603050405020304" pitchFamily="18" charset="0"/>
                              </a:rPr>
                              <m:t>2</m:t>
                            </m:r>
                          </m:sup>
                        </m:sSup>
                        <m:r>
                          <a:rPr lang="es-ES" sz="2400" i="1" dirty="0">
                            <a:latin typeface="Cambria Math" panose="02040503050406030204" pitchFamily="18" charset="0"/>
                            <a:cs typeface="Times New Roman" panose="02020603050405020304" pitchFamily="18" charset="0"/>
                          </a:rPr>
                          <m:t>=5</m:t>
                        </m:r>
                      </m:e>
                      <m:sup>
                        <m:r>
                          <a:rPr lang="es-ES" sz="2400" i="1" dirty="0">
                            <a:latin typeface="Cambria Math" panose="02040503050406030204" pitchFamily="18" charset="0"/>
                            <a:cs typeface="Times New Roman" panose="02020603050405020304" pitchFamily="18" charset="0"/>
                          </a:rPr>
                          <m:t>−6</m:t>
                        </m:r>
                      </m:sup>
                    </m:sSup>
                  </m:oMath>
                </a14:m>
                <a:r>
                  <a:rPr lang="en-US" sz="2400" dirty="0">
                    <a:latin typeface="Verdana" pitchFamily="34" charset="0"/>
                    <a:ea typeface="Verdana" pitchFamily="34" charset="0"/>
                    <a:cs typeface="Times New Roman" panose="02020603050405020304" pitchFamily="18" charset="0"/>
                  </a:rPr>
                  <a:t>? </a:t>
                </a:r>
              </a:p>
            </p:txBody>
          </p:sp>
        </mc:Choice>
        <mc:Fallback>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662926" y="425109"/>
                <a:ext cx="11145615" cy="2841804"/>
              </a:xfrm>
              <a:prstGeom prst="rect">
                <a:avLst/>
              </a:prstGeom>
              <a:blipFill>
                <a:blip r:embed="rId4"/>
                <a:stretch>
                  <a:fillRect l="-875" t="-1717" b="-3863"/>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F54A4596-5923-6342-9500-70E8F702680A}"/>
              </a:ext>
            </a:extLst>
          </p:cNvPr>
          <p:cNvSpPr/>
          <p:nvPr/>
        </p:nvSpPr>
        <p:spPr>
          <a:xfrm>
            <a:off x="662926" y="3966238"/>
            <a:ext cx="10378700" cy="2141292"/>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449263">
              <a:lnSpc>
                <a:spcPct val="2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The laws of exponents              hold true for numeric expressions with rational bases and negative exponents. </a:t>
            </a:r>
          </a:p>
        </p:txBody>
      </p:sp>
      <p:pic>
        <p:nvPicPr>
          <p:cNvPr id="7" name="Picture 6" descr="Shape&#10;&#10;Description automatically generated with medium confidence">
            <a:extLst>
              <a:ext uri="{FF2B5EF4-FFF2-40B4-BE49-F238E27FC236}">
                <a16:creationId xmlns:a16="http://schemas.microsoft.com/office/drawing/2014/main" id="{AA9F988F-0FA0-6747-AFA3-A24304DBAFC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761724" y="4573781"/>
            <a:ext cx="1334276" cy="749809"/>
          </a:xfrm>
          <a:prstGeom prst="rect">
            <a:avLst/>
          </a:prstGeom>
        </p:spPr>
      </p:pic>
    </p:spTree>
    <p:extLst>
      <p:ext uri="{BB962C8B-B14F-4D97-AF65-F5344CB8AC3E}">
        <p14:creationId xmlns:p14="http://schemas.microsoft.com/office/powerpoint/2010/main" val="3620101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46003"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28438" y="307072"/>
            <a:ext cx="801930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4.1.7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730265" y="1220029"/>
            <a:ext cx="12022173" cy="341632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Complete each statement based on today’s lesson.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Today I am still unsure about …</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I will try to build my confidence by … </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3087</TotalTime>
  <Words>1345</Words>
  <Application>Microsoft Office PowerPoint</Application>
  <PresentationFormat>Widescreen</PresentationFormat>
  <Paragraphs>307</Paragraphs>
  <Slides>29</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Verdana</vt:lpstr>
      <vt:lpstr>Wingdings</vt:lpstr>
      <vt:lpstr>Century Gothic</vt:lpstr>
      <vt:lpstr>Calibri</vt:lpstr>
      <vt:lpstr>Arial Black</vt:lpstr>
      <vt:lpstr>Cambria Math</vt:lpstr>
      <vt:lpstr>Arial</vt:lpstr>
      <vt:lpstr>1_Office Theme</vt:lpstr>
      <vt:lpstr>8th Grade Math: Pre-Algebra  Unit 4, Lesson 1  Negative  Exponent Law  Volume 1, pg. 123  </vt:lpstr>
      <vt:lpstr>Benchmark</vt:lpstr>
      <vt:lpstr>PowerPoint Presentation</vt:lpstr>
      <vt:lpstr>PowerPoint Presentation</vt:lpstr>
      <vt:lpstr>Warm-Up</vt:lpstr>
      <vt:lpstr>PowerPoint Presentation</vt:lpstr>
      <vt:lpstr>Refresher</vt:lpstr>
      <vt:lpstr>PowerPoint Presentation</vt:lpstr>
      <vt:lpstr>PowerPoint Presentation</vt:lpstr>
      <vt:lpstr>Exploration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27</cp:revision>
  <dcterms:created xsi:type="dcterms:W3CDTF">2015-03-17T18:51:18Z</dcterms:created>
  <dcterms:modified xsi:type="dcterms:W3CDTF">2022-06-15T14:11:41Z</dcterms:modified>
</cp:coreProperties>
</file>