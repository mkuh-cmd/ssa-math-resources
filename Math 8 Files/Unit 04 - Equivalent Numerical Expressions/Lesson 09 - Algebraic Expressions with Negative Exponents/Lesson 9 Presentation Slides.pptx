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345" r:id="rId4"/>
    <p:sldId id="286" r:id="rId5"/>
    <p:sldId id="261" r:id="rId6"/>
    <p:sldId id="287" r:id="rId7"/>
    <p:sldId id="371" r:id="rId8"/>
    <p:sldId id="362" r:id="rId9"/>
    <p:sldId id="363" r:id="rId10"/>
    <p:sldId id="365" r:id="rId11"/>
    <p:sldId id="367" r:id="rId12"/>
    <p:sldId id="368" r:id="rId13"/>
    <p:sldId id="369" r:id="rId14"/>
    <p:sldId id="370" r:id="rId15"/>
    <p:sldId id="372" r:id="rId16"/>
    <p:sldId id="314" r:id="rId17"/>
    <p:sldId id="315" r:id="rId18"/>
    <p:sldId id="316" r:id="rId19"/>
    <p:sldId id="354" r:id="rId20"/>
    <p:sldId id="355" r:id="rId21"/>
    <p:sldId id="356" r:id="rId22"/>
    <p:sldId id="306" r:id="rId23"/>
    <p:sldId id="307" r:id="rId24"/>
  </p:sldIdLst>
  <p:sldSz cx="12192000" cy="6858000"/>
  <p:notesSz cx="6858000" cy="9144000"/>
  <p:embeddedFontLst>
    <p:embeddedFont>
      <p:font typeface="Arial Black" panose="020B0A04020102020204" pitchFamily="34" charset="0"/>
      <p:bold r:id="rId26"/>
    </p:embeddedFont>
    <p:embeddedFont>
      <p:font typeface="Calibri" panose="020F0502020204030204" pitchFamily="34" charset="0"/>
      <p:regular r:id="rId27"/>
      <p:bold r:id="rId28"/>
      <p:italic r:id="rId29"/>
      <p:boldItalic r:id="rId30"/>
    </p:embeddedFont>
    <p:embeddedFont>
      <p:font typeface="Cambria" panose="02040503050406030204" pitchFamily="18" charset="0"/>
      <p:regular r:id="rId31"/>
      <p:bold r:id="rId32"/>
      <p:italic r:id="rId33"/>
      <p:boldItalic r:id="rId34"/>
    </p:embeddedFont>
    <p:embeddedFont>
      <p:font typeface="Cambria Math" panose="02040503050406030204" pitchFamily="18" charset="0"/>
      <p:regular r:id="rId35"/>
    </p:embeddedFont>
    <p:embeddedFont>
      <p:font typeface="Century Gothic" panose="020B0502020202020204" pitchFamily="34" charset="0"/>
      <p:regular r:id="rId36"/>
      <p:bold r:id="rId37"/>
      <p:italic r:id="rId38"/>
      <p:boldItalic r:id="rId39"/>
    </p:embeddedFont>
    <p:embeddedFont>
      <p:font typeface="Verdana" panose="020B0604030504040204" pitchFamily="34"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BFBFBF"/>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934" autoAdjust="0"/>
    <p:restoredTop sz="94591" autoAdjust="0"/>
  </p:normalViewPr>
  <p:slideViewPr>
    <p:cSldViewPr snapToGrid="0">
      <p:cViewPr varScale="1">
        <p:scale>
          <a:sx n="84" d="100"/>
          <a:sy n="84" d="100"/>
        </p:scale>
        <p:origin x="54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font" Target="fonts/font16.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980976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7008080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402218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565265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031891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40369801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580747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236862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6171584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386074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8340625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8143991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1612015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 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4, Lesson 9</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Algebraic Expressions with Negative Exponents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161</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08753"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457"/>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8152" y="172551"/>
            <a:ext cx="8814824"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490852" y="461751"/>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4329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161</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186216"/>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070517" y="1307592"/>
            <a:ext cx="914028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500" dirty="0">
                <a:latin typeface="Verdana" panose="020B0604030504040204" pitchFamily="34" charset="0"/>
                <a:ea typeface="Verdana" panose="020B0604030504040204" pitchFamily="34" charset="0"/>
                <a:cs typeface="Verdana" panose="020B0604030504040204" pitchFamily="34" charset="0"/>
              </a:rPr>
              <a:t>MA.8.AR.1.1</a:t>
            </a:r>
          </a:p>
          <a:p>
            <a:pPr marL="552450" lvl="1" indent="0">
              <a:buNone/>
            </a:pPr>
            <a:r>
              <a:rPr lang="en-US" sz="3500" dirty="0">
                <a:latin typeface="Verdana" panose="020B0604030504040204" pitchFamily="34" charset="0"/>
                <a:ea typeface="Verdana" panose="020B0604030504040204" pitchFamily="34" charset="0"/>
                <a:cs typeface="Verdana" panose="020B0604030504040204" pitchFamily="34" charset="0"/>
              </a:rPr>
              <a:t>Apply the Laws of Exponents to generate equivalent algebraic expressions, limited to integer exponents and monomial bases.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494043" y="452320"/>
            <a:ext cx="747300" cy="747300"/>
          </a:xfrm>
          <a:prstGeom prst="rect">
            <a:avLst/>
          </a:prstGeom>
          <a:noFill/>
          <a:ln>
            <a:noFill/>
          </a:ln>
          <a:effectLst>
            <a:outerShdw blurRad="57150" dist="19050" dir="5400000" algn="bl" rotWithShape="0">
              <a:srgbClr val="000000">
                <a:alpha val="50000"/>
              </a:srgbClr>
            </a:outerShdw>
          </a:effectLst>
        </p:spPr>
      </p:pic>
      <p:pic>
        <p:nvPicPr>
          <p:cNvPr id="4" name="Google Shape;283;g104476d1465_1_17">
            <a:extLst>
              <a:ext uri="{FF2B5EF4-FFF2-40B4-BE49-F238E27FC236}">
                <a16:creationId xmlns:a16="http://schemas.microsoft.com/office/drawing/2014/main" id="{983DCB5F-2CE8-A74F-A579-F39E2E9337F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296756" y="129667"/>
            <a:ext cx="932007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6" name="Google Shape;282;g104476d1465_1_17">
            <a:extLst>
              <a:ext uri="{FF2B5EF4-FFF2-40B4-BE49-F238E27FC236}">
                <a16:creationId xmlns:a16="http://schemas.microsoft.com/office/drawing/2014/main" id="{FD66E1D7-C8ED-8A4A-9EE6-BDBA39B99125}"/>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161</a:t>
            </a:r>
            <a:endParaRPr i="1" dirty="0">
              <a:latin typeface="Calibri"/>
              <a:ea typeface="Calibri"/>
              <a:cs typeface="Calibri"/>
              <a:sym typeface="Calibri"/>
            </a:endParaRP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070517" y="1455367"/>
            <a:ext cx="8846403"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41700" y="274500"/>
            <a:ext cx="93427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494400" y="45218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161</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070517" y="1600200"/>
            <a:ext cx="9140283"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write an equivalent algebraic expression by applying the laws of exponents.</a:t>
            </a:r>
          </a:p>
        </p:txBody>
      </p:sp>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32017" y="509515"/>
            <a:ext cx="9283582"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4.9.1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84717" y="42734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162</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1070517" y="1361441"/>
                <a:ext cx="8982459" cy="424443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For each expression, apply the laws of exponents to generate an equivalent expression with the fewest factors possible.</a:t>
                </a:r>
                <a:endParaRPr lang="x-none" sz="2000" i="1"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𝑘</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11</m:t>
                            </m:r>
                          </m:sup>
                        </m:sSup>
                      </m:num>
                      <m:den>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𝑘</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6</m:t>
                            </m:r>
                          </m:sup>
                        </m:sSup>
                      </m:den>
                    </m:f>
                    <m:r>
                      <a:rPr lang="en-US" sz="2400" i="1">
                        <a:latin typeface="Cambria Math" panose="02040503050406030204" pitchFamily="18" charset="0"/>
                        <a:ea typeface="Times New Roman" panose="02020603050405020304" pitchFamily="18" charset="0"/>
                        <a:cs typeface="Times New Roman" panose="02020603050405020304" pitchFamily="18" charset="0"/>
                      </a:rPr>
                      <m:t>=_____________</m:t>
                    </m:r>
                  </m:oMath>
                </a14:m>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spcAft>
                    <a:spcPts val="1000"/>
                  </a:spcAft>
                  <a:buFont typeface="+mj-lt"/>
                  <a:buAutoNum type="alphaLcPeriod" startAt="2"/>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−2</m:t>
                            </m:r>
                            <m:r>
                              <a:rPr lang="en-US" sz="2400" i="1">
                                <a:latin typeface="Cambria Math" panose="02040503050406030204" pitchFamily="18" charset="0"/>
                                <a:ea typeface="Times New Roman" panose="02020603050405020304" pitchFamily="18" charset="0"/>
                                <a:cs typeface="Times New Roman" panose="02020603050405020304" pitchFamily="18" charset="0"/>
                              </a:rPr>
                              <m:t>𝑔</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5</m:t>
                            </m:r>
                          </m:sup>
                        </m:sSup>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h</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8</m:t>
                            </m:r>
                          </m:sup>
                        </m:sSup>
                      </m:num>
                      <m:den>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10</m:t>
                            </m:r>
                            <m:r>
                              <a:rPr lang="en-US" sz="2400" i="1">
                                <a:latin typeface="Cambria Math" panose="02040503050406030204" pitchFamily="18" charset="0"/>
                                <a:ea typeface="Times New Roman" panose="02020603050405020304" pitchFamily="18" charset="0"/>
                                <a:cs typeface="Times New Roman" panose="02020603050405020304" pitchFamily="18" charset="0"/>
                              </a:rPr>
                              <m:t>𝑔h</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3</m:t>
                            </m:r>
                          </m:sup>
                        </m:sSup>
                      </m:den>
                    </m:f>
                    <m:r>
                      <a:rPr lang="en-US" sz="2400" i="1">
                        <a:latin typeface="Cambria Math" panose="02040503050406030204" pitchFamily="18" charset="0"/>
                        <a:ea typeface="Times New Roman" panose="02020603050405020304" pitchFamily="18" charset="0"/>
                        <a:cs typeface="Times New Roman" panose="02020603050405020304" pitchFamily="18" charset="0"/>
                      </a:rPr>
                      <m:t>=_____________</m:t>
                    </m:r>
                  </m:oMath>
                </a14:m>
                <a:endParaRPr lang="x-none" sz="16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1070517" y="1361441"/>
                <a:ext cx="8982459" cy="4244432"/>
              </a:xfrm>
              <a:prstGeom prst="rect">
                <a:avLst/>
              </a:prstGeom>
              <a:blipFill>
                <a:blip r:embed="rId5"/>
                <a:stretch>
                  <a:fillRect l="-1086" t="-1148"/>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162</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1070517" y="381001"/>
                <a:ext cx="8982459" cy="3548023"/>
              </a:xfrm>
              <a:prstGeom prst="rect">
                <a:avLst/>
              </a:prstGeom>
              <a:noFill/>
            </p:spPr>
            <p:txBody>
              <a:bodyPr wrap="square" rtlCol="0">
                <a:spAutoFit/>
              </a:bodyPr>
              <a:lstStyle/>
              <a:p>
                <a:pPr marL="914400" indent="-457200">
                  <a:buFont typeface="+mj-lt"/>
                  <a:buAutoNum type="alphaLcPeriod" startAt="3"/>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𝑧</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3</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𝑧</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8</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 _____________</m:t>
                    </m:r>
                  </m:oMath>
                </a14:m>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400" i="1">
                                    <a:latin typeface="Cambria Math" panose="02040503050406030204" pitchFamily="18" charset="0"/>
                                    <a:ea typeface="Times New Roman" panose="02020603050405020304" pitchFamily="18" charset="0"/>
                                    <a:cs typeface="Times New Roman" panose="02020603050405020304" pitchFamily="18" charset="0"/>
                                  </a:rPr>
                                  <m:t>3</m:t>
                                </m:r>
                              </m:den>
                            </m:f>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r>
                              <a:rPr lang="en-US" sz="2400" i="1">
                                <a:latin typeface="Cambria Math" panose="02040503050406030204" pitchFamily="18" charset="0"/>
                                <a:ea typeface="Times New Roman" panose="02020603050405020304" pitchFamily="18" charset="0"/>
                                <a:cs typeface="Times New Roman" panose="02020603050405020304" pitchFamily="18" charset="0"/>
                              </a:rPr>
                              <m:t>𝑦</m:t>
                            </m:r>
                          </m:e>
                        </m:d>
                      </m:e>
                      <m:sup>
                        <m:r>
                          <a:rPr lang="en-US" sz="2400" i="1">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 _____________</m:t>
                    </m:r>
                  </m:oMath>
                </a14:m>
                <a:endParaRPr lang="x-none" sz="16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1070517" y="381001"/>
                <a:ext cx="8982459" cy="3548023"/>
              </a:xfrm>
              <a:prstGeom prst="rect">
                <a:avLst/>
              </a:prstGeom>
              <a:blipFill>
                <a:blip r:embed="rId4"/>
                <a:stretch>
                  <a:fillRect t="-1546"/>
                </a:stretch>
              </a:blipFill>
            </p:spPr>
            <p:txBody>
              <a:bodyPr/>
              <a:lstStyle/>
              <a:p>
                <a:r>
                  <a:rPr lang="en-US">
                    <a:noFill/>
                  </a:rPr>
                  <a:t> </a:t>
                </a:r>
              </a:p>
            </p:txBody>
          </p:sp>
        </mc:Fallback>
      </mc:AlternateContent>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819591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162</a:t>
            </a:r>
            <a:endParaRPr i="1" dirty="0">
              <a:latin typeface="Calibri"/>
              <a:ea typeface="Calibri"/>
              <a:cs typeface="Calibri"/>
              <a:sym typeface="Calibri"/>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889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9337"/>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56445" y="216984"/>
            <a:ext cx="949701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4.9.2 Collaboration: Negative Exponents in Algebraic Expressions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7641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162</a:t>
            </a:r>
            <a:endParaRPr i="1" dirty="0">
              <a:latin typeface="Calibri"/>
              <a:ea typeface="Calibri"/>
              <a:cs typeface="Calibri"/>
              <a:sym typeface="Calibri"/>
            </a:endParaRP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06637" y="37310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1119809" y="1871491"/>
                <a:ext cx="9497017" cy="415498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Rewrite each expression using positive exponents.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Make a conjecture on how to rewrite an algebraic expression with a negative exponent.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p>
                        <m:sSupPr>
                          <m:ctrlPr>
                            <a:rPr lang="en-US" sz="2400" i="1" dirty="0">
                              <a:latin typeface="Cambria Math" panose="02040503050406030204" pitchFamily="18" charset="0"/>
                              <a:cs typeface="Times New Roman" panose="02020603050405020304" pitchFamily="18" charset="0"/>
                            </a:rPr>
                          </m:ctrlPr>
                        </m:sSupPr>
                        <m:e>
                          <m:r>
                            <a:rPr lang="es-ES" sz="2400" i="1" dirty="0">
                              <a:latin typeface="Cambria Math" panose="02040503050406030204" pitchFamily="18" charset="0"/>
                              <a:cs typeface="Times New Roman" panose="02020603050405020304" pitchFamily="18" charset="0"/>
                            </a:rPr>
                            <m:t>𝑥</m:t>
                          </m:r>
                        </m:e>
                        <m:sup>
                          <m:r>
                            <a:rPr lang="es-ES" sz="2400" i="1" dirty="0">
                              <a:latin typeface="Cambria Math" panose="02040503050406030204" pitchFamily="18" charset="0"/>
                              <a:cs typeface="Times New Roman" panose="02020603050405020304" pitchFamily="18" charset="0"/>
                            </a:rPr>
                            <m:t>−3</m:t>
                          </m:r>
                        </m:sup>
                      </m:sSup>
                      <m:r>
                        <a:rPr lang="en-US" sz="2400" i="1" dirty="0">
                          <a:latin typeface="Cambria Math" panose="02040503050406030204" pitchFamily="18" charset="0"/>
                          <a:ea typeface="Times New Roman" panose="02020603050405020304" pitchFamily="18" charset="0"/>
                          <a:cs typeface="Times New Roman" panose="02020603050405020304" pitchFamily="18" charset="0"/>
                        </a:rPr>
                        <m:t>= _____</m:t>
                      </m:r>
                    </m:oMath>
                  </m:oMathPara>
                </a14:m>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1119809" y="1871491"/>
                <a:ext cx="9497017" cy="4154984"/>
              </a:xfrm>
              <a:prstGeom prst="rect">
                <a:avLst/>
              </a:prstGeom>
              <a:blipFill>
                <a:blip r:embed="rId5"/>
                <a:stretch>
                  <a:fillRect l="-1027" t="-117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5A39D7CC-3344-2240-B1DC-A17FACC2CA35}"/>
                  </a:ext>
                </a:extLst>
              </p:cNvPr>
              <p:cNvGraphicFramePr>
                <a:graphicFrameLocks noGrp="1"/>
              </p:cNvGraphicFramePr>
              <p:nvPr>
                <p:extLst>
                  <p:ext uri="{D42A27DB-BD31-4B8C-83A1-F6EECF244321}">
                    <p14:modId xmlns:p14="http://schemas.microsoft.com/office/powerpoint/2010/main" val="3008247942"/>
                  </p:ext>
                </p:extLst>
              </p:nvPr>
            </p:nvGraphicFramePr>
            <p:xfrm>
              <a:off x="2227699" y="2394611"/>
              <a:ext cx="6286500" cy="1800000"/>
            </p:xfrm>
            <a:graphic>
              <a:graphicData uri="http://schemas.openxmlformats.org/drawingml/2006/table">
                <a:tbl>
                  <a:tblPr firstRow="1" firstCol="1" bandRow="1"/>
                  <a:tblGrid>
                    <a:gridCol w="3143250">
                      <a:extLst>
                        <a:ext uri="{9D8B030D-6E8A-4147-A177-3AD203B41FA5}">
                          <a16:colId xmlns:a16="http://schemas.microsoft.com/office/drawing/2014/main" val="1823118045"/>
                        </a:ext>
                      </a:extLst>
                    </a:gridCol>
                    <a:gridCol w="3143250">
                      <a:extLst>
                        <a:ext uri="{9D8B030D-6E8A-4147-A177-3AD203B41FA5}">
                          <a16:colId xmlns:a16="http://schemas.microsoft.com/office/drawing/2014/main" val="735400628"/>
                        </a:ext>
                      </a:extLst>
                    </a:gridCol>
                  </a:tblGrid>
                  <a:tr h="900000">
                    <a:tc>
                      <a:txBody>
                        <a:bodyPr/>
                        <a:lstStyle/>
                        <a:p>
                          <a:pPr marL="22860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=__________</m:t>
                                </m:r>
                              </m:oMath>
                            </m:oMathPara>
                          </a14:m>
                          <a:endParaRPr lang="x-none"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tc>
                      <a:txBody>
                        <a:bodyPr/>
                        <a:lstStyle/>
                        <a:p>
                          <a:pPr marL="22860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(−3)</m:t>
                                    </m:r>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=__________</m:t>
                                </m:r>
                              </m:oMath>
                            </m:oMathPara>
                          </a14:m>
                          <a:endParaRPr lang="x-none"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839346828"/>
                      </a:ext>
                    </a:extLst>
                  </a:tr>
                  <a:tr h="900000">
                    <a:tc>
                      <a:txBody>
                        <a:bodyPr/>
                        <a:lstStyle/>
                        <a:p>
                          <a:pPr marL="0" marR="0" algn="ctr">
                            <a:spcBef>
                              <a:spcPts val="0"/>
                            </a:spcBef>
                            <a:spcAft>
                              <a:spcPts val="0"/>
                            </a:spcAft>
                          </a:pPr>
                          <a14:m>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4</m:t>
                                          </m:r>
                                        </m:num>
                                        <m:den>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5</m:t>
                                          </m:r>
                                        </m:den>
                                      </m:f>
                                    </m:e>
                                  </m:d>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−6</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=__________</m:t>
                              </m:r>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6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228600" marR="0" algn="ctr">
                            <a:spcBef>
                              <a:spcPts val="0"/>
                            </a:spcBef>
                            <a:spcAft>
                              <a:spcPts val="0"/>
                            </a:spcAft>
                          </a:pPr>
                          <a14:m>
                            <m:oMath xmlns:m="http://schemas.openxmlformats.org/officeDocument/2006/math">
                              <m:sSup>
                                <m:sSup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−7</m:t>
                                          </m:r>
                                        </m:num>
                                        <m:den>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8</m:t>
                                          </m:r>
                                        </m:den>
                                      </m:f>
                                    </m:e>
                                  </m:d>
                                </m:e>
                                <m: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−1</m:t>
                                  </m:r>
                                </m:sup>
                              </m:sSup>
                              <m:r>
                                <a:rPr lang="en-US" sz="2400" i="1">
                                  <a:effectLst/>
                                  <a:latin typeface="Cambria Math" panose="02040503050406030204" pitchFamily="18" charset="0"/>
                                  <a:ea typeface="Times New Roman" panose="02020603050405020304" pitchFamily="18" charset="0"/>
                                  <a:cs typeface="Times New Roman" panose="02020603050405020304" pitchFamily="18" charset="0"/>
                                </a:rPr>
                                <m:t>=__________</m:t>
                              </m:r>
                            </m:oMath>
                          </a14:m>
                          <a:r>
                            <a:rPr lang="en-US" sz="2400" dirty="0">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3038752714"/>
                      </a:ext>
                    </a:extLst>
                  </a:tr>
                </a:tbl>
              </a:graphicData>
            </a:graphic>
          </p:graphicFrame>
        </mc:Choice>
        <mc:Fallback>
          <p:graphicFrame>
            <p:nvGraphicFramePr>
              <p:cNvPr id="3" name="Table 2">
                <a:extLst>
                  <a:ext uri="{FF2B5EF4-FFF2-40B4-BE49-F238E27FC236}">
                    <a16:creationId xmlns:a16="http://schemas.microsoft.com/office/drawing/2014/main" id="{5A39D7CC-3344-2240-B1DC-A17FACC2CA35}"/>
                  </a:ext>
                </a:extLst>
              </p:cNvPr>
              <p:cNvGraphicFramePr>
                <a:graphicFrameLocks noGrp="1"/>
              </p:cNvGraphicFramePr>
              <p:nvPr>
                <p:extLst>
                  <p:ext uri="{D42A27DB-BD31-4B8C-83A1-F6EECF244321}">
                    <p14:modId xmlns:p14="http://schemas.microsoft.com/office/powerpoint/2010/main" val="3008247942"/>
                  </p:ext>
                </p:extLst>
              </p:nvPr>
            </p:nvGraphicFramePr>
            <p:xfrm>
              <a:off x="2227699" y="2394611"/>
              <a:ext cx="6286500" cy="1800000"/>
            </p:xfrm>
            <a:graphic>
              <a:graphicData uri="http://schemas.openxmlformats.org/drawingml/2006/table">
                <a:tbl>
                  <a:tblPr firstRow="1" firstCol="1" bandRow="1"/>
                  <a:tblGrid>
                    <a:gridCol w="3143250">
                      <a:extLst>
                        <a:ext uri="{9D8B030D-6E8A-4147-A177-3AD203B41FA5}">
                          <a16:colId xmlns:a16="http://schemas.microsoft.com/office/drawing/2014/main" val="1823118045"/>
                        </a:ext>
                      </a:extLst>
                    </a:gridCol>
                    <a:gridCol w="3143250">
                      <a:extLst>
                        <a:ext uri="{9D8B030D-6E8A-4147-A177-3AD203B41FA5}">
                          <a16:colId xmlns:a16="http://schemas.microsoft.com/office/drawing/2014/main" val="735400628"/>
                        </a:ext>
                      </a:extLst>
                    </a:gridCol>
                  </a:tblGrid>
                  <a:tr h="900000">
                    <a:tc>
                      <a:txBody>
                        <a:bodyPr/>
                        <a:lstStyle/>
                        <a:p>
                          <a:endParaRPr lang="en-US"/>
                        </a:p>
                      </a:txBody>
                      <a:tcPr marL="68580" marR="68580" marT="0" marB="0">
                        <a:lnL>
                          <a:noFill/>
                        </a:lnL>
                        <a:lnR>
                          <a:noFill/>
                        </a:lnR>
                        <a:lnT>
                          <a:noFill/>
                        </a:lnT>
                        <a:lnB>
                          <a:noFill/>
                        </a:lnB>
                        <a:blipFill>
                          <a:blip r:embed="rId6"/>
                          <a:stretch>
                            <a:fillRect r="-100000" b="-99329"/>
                          </a:stretch>
                        </a:blipFill>
                      </a:tcPr>
                    </a:tc>
                    <a:tc>
                      <a:txBody>
                        <a:bodyPr/>
                        <a:lstStyle/>
                        <a:p>
                          <a:endParaRPr lang="en-US"/>
                        </a:p>
                      </a:txBody>
                      <a:tcPr marL="68580" marR="68580" marT="0" marB="0">
                        <a:lnL>
                          <a:noFill/>
                        </a:lnL>
                        <a:lnR>
                          <a:noFill/>
                        </a:lnR>
                        <a:lnT>
                          <a:noFill/>
                        </a:lnT>
                        <a:lnB>
                          <a:noFill/>
                        </a:lnB>
                        <a:blipFill>
                          <a:blip r:embed="rId6"/>
                          <a:stretch>
                            <a:fillRect l="-100000" b="-99329"/>
                          </a:stretch>
                        </a:blipFill>
                      </a:tcPr>
                    </a:tc>
                    <a:extLst>
                      <a:ext uri="{0D108BD9-81ED-4DB2-BD59-A6C34878D82A}">
                        <a16:rowId xmlns:a16="http://schemas.microsoft.com/office/drawing/2014/main" val="2839346828"/>
                      </a:ext>
                    </a:extLst>
                  </a:tr>
                  <a:tr h="900000">
                    <a:tc>
                      <a:txBody>
                        <a:bodyPr/>
                        <a:lstStyle/>
                        <a:p>
                          <a:endParaRPr lang="en-US"/>
                        </a:p>
                      </a:txBody>
                      <a:tcPr marL="68580" marR="68580" marT="0" marB="0" anchor="ctr">
                        <a:lnL>
                          <a:noFill/>
                        </a:lnL>
                        <a:lnR>
                          <a:noFill/>
                        </a:lnR>
                        <a:lnT>
                          <a:noFill/>
                        </a:lnT>
                        <a:lnB>
                          <a:noFill/>
                        </a:lnB>
                        <a:blipFill>
                          <a:blip r:embed="rId6"/>
                          <a:stretch>
                            <a:fillRect t="-100676" r="-100000"/>
                          </a:stretch>
                        </a:blipFill>
                      </a:tcPr>
                    </a:tc>
                    <a:tc>
                      <a:txBody>
                        <a:bodyPr/>
                        <a:lstStyle/>
                        <a:p>
                          <a:endParaRPr lang="en-US"/>
                        </a:p>
                      </a:txBody>
                      <a:tcPr marL="68580" marR="68580" marT="0" marB="0" anchor="ctr">
                        <a:lnL>
                          <a:noFill/>
                        </a:lnL>
                        <a:lnR>
                          <a:noFill/>
                        </a:lnR>
                        <a:lnT>
                          <a:noFill/>
                        </a:lnT>
                        <a:lnB>
                          <a:noFill/>
                        </a:lnB>
                        <a:blipFill>
                          <a:blip r:embed="rId6"/>
                          <a:stretch>
                            <a:fillRect l="-100000" t="-100676"/>
                          </a:stretch>
                        </a:blipFill>
                      </a:tcPr>
                    </a:tc>
                    <a:extLst>
                      <a:ext uri="{0D108BD9-81ED-4DB2-BD59-A6C34878D82A}">
                        <a16:rowId xmlns:a16="http://schemas.microsoft.com/office/drawing/2014/main" val="3038752714"/>
                      </a:ext>
                    </a:extLst>
                  </a:tr>
                </a:tbl>
              </a:graphicData>
            </a:graphic>
          </p:graphicFrame>
        </mc:Fallback>
      </mc:AlternateContent>
    </p:spTree>
    <p:extLst>
      <p:ext uri="{BB962C8B-B14F-4D97-AF65-F5344CB8AC3E}">
        <p14:creationId xmlns:p14="http://schemas.microsoft.com/office/powerpoint/2010/main" val="2190428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602"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162</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070517" y="457943"/>
            <a:ext cx="8982459" cy="5786199"/>
          </a:xfrm>
          <a:prstGeom prst="rect">
            <a:avLst/>
          </a:prstGeom>
        </p:spPr>
        <p:txBody>
          <a:bodyPr wrap="square">
            <a:spAutoFit/>
          </a:bodyPr>
          <a:lstStyle/>
          <a:p>
            <a:pPr marL="457200" indent="-457200">
              <a:spcAft>
                <a:spcPts val="1200"/>
              </a:spcAft>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Work with your partner to complete the following to explore negative exponents in algebraic expressions.</a:t>
            </a: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Rewrite each expression in expanded form.</a:t>
            </a: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what factor could be multiplied by each expression to generate the expression in the next row. Then, fill in the blanks to the right of the table.</a:t>
            </a:r>
          </a:p>
        </p:txBody>
      </p:sp>
      <p:pic>
        <p:nvPicPr>
          <p:cNvPr id="4" name="Picture 3" descr="Table&#10;&#10;Description automatically generated">
            <a:extLst>
              <a:ext uri="{FF2B5EF4-FFF2-40B4-BE49-F238E27FC236}">
                <a16:creationId xmlns:a16="http://schemas.microsoft.com/office/drawing/2014/main" id="{FA882805-0E70-B749-A78B-D398E7AAB0D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167041" y="1643216"/>
            <a:ext cx="5350871" cy="3497497"/>
          </a:xfrm>
          <a:prstGeom prst="rect">
            <a:avLst/>
          </a:prstGeom>
        </p:spPr>
      </p:pic>
    </p:spTree>
    <p:extLst>
      <p:ext uri="{BB962C8B-B14F-4D97-AF65-F5344CB8AC3E}">
        <p14:creationId xmlns:p14="http://schemas.microsoft.com/office/powerpoint/2010/main" val="1159944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F54A4596-5923-6342-9500-70E8F702680A}"/>
                  </a:ext>
                </a:extLst>
              </p:cNvPr>
              <p:cNvSpPr/>
              <p:nvPr/>
            </p:nvSpPr>
            <p:spPr>
              <a:xfrm>
                <a:off x="1070517" y="377912"/>
                <a:ext cx="9790771" cy="3992953"/>
              </a:xfrm>
              <a:prstGeom prst="rect">
                <a:avLst/>
              </a:prstGeom>
            </p:spPr>
            <p:txBody>
              <a:bodyPr wrap="square">
                <a:spAutoFit/>
              </a:bodyPr>
              <a:lstStyle/>
              <a:p>
                <a:pPr marL="892175"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marL="914400">
                  <a:lnSpc>
                    <a:spcPct val="2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As the value of the exponent of 𝑥                       by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the column on the left, the equivalent expression in the column on the right can be found by multiplying the previous value by the  			of 𝑥.  </a:t>
                </a:r>
              </a:p>
            </p:txBody>
          </p:sp>
        </mc:Choice>
        <mc:Fallback>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070517" y="377912"/>
                <a:ext cx="9790771" cy="3992953"/>
              </a:xfrm>
              <a:prstGeom prst="rect">
                <a:avLst/>
              </a:prstGeom>
              <a:blipFill>
                <a:blip r:embed="rId4"/>
                <a:stretch>
                  <a:fillRect t="-1221" r="-1370" b="-2595"/>
                </a:stretch>
              </a:blipFill>
            </p:spPr>
            <p:txBody>
              <a:bodyPr/>
              <a:lstStyle/>
              <a:p>
                <a:r>
                  <a:rPr lang="en-US">
                    <a:noFill/>
                  </a:rPr>
                  <a:t> </a:t>
                </a:r>
              </a:p>
            </p:txBody>
          </p:sp>
        </mc:Fallback>
      </mc:AlternateContent>
      <p:pic>
        <p:nvPicPr>
          <p:cNvPr id="5" name="Picture 4" descr="A picture containing shape&#10;&#10;Description automatically generated">
            <a:extLst>
              <a:ext uri="{FF2B5EF4-FFF2-40B4-BE49-F238E27FC236}">
                <a16:creationId xmlns:a16="http://schemas.microsoft.com/office/drawing/2014/main" id="{645FCF7C-A305-1F47-B763-D62A1D2CD2C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312713" y="947853"/>
            <a:ext cx="2236076" cy="947855"/>
          </a:xfrm>
          <a:prstGeom prst="rect">
            <a:avLst/>
          </a:prstGeom>
        </p:spPr>
      </p:pic>
      <p:pic>
        <p:nvPicPr>
          <p:cNvPr id="7" name="Picture 6" descr="Shape&#10;&#10;Description automatically generated with medium confidence">
            <a:extLst>
              <a:ext uri="{FF2B5EF4-FFF2-40B4-BE49-F238E27FC236}">
                <a16:creationId xmlns:a16="http://schemas.microsoft.com/office/drawing/2014/main" id="{BA330444-CA97-214C-B20C-A8BF9019A54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464301" y="3597156"/>
            <a:ext cx="2047173" cy="992836"/>
          </a:xfrm>
          <a:prstGeom prst="rect">
            <a:avLst/>
          </a:prstGeom>
        </p:spPr>
      </p:pic>
    </p:spTree>
    <p:extLst>
      <p:ext uri="{BB962C8B-B14F-4D97-AF65-F5344CB8AC3E}">
        <p14:creationId xmlns:p14="http://schemas.microsoft.com/office/powerpoint/2010/main" val="2801657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997"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970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5147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163</a:t>
            </a:r>
            <a:endParaRPr i="1" dirty="0">
              <a:latin typeface="Calibri"/>
              <a:ea typeface="Calibri"/>
              <a:cs typeface="Calibri"/>
              <a:sym typeface="Calibri"/>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070517" y="384861"/>
            <a:ext cx="9014129" cy="461665"/>
          </a:xfrm>
          <a:prstGeom prst="rect">
            <a:avLst/>
          </a:prstGeom>
        </p:spPr>
        <p:txBody>
          <a:bodyPr wrap="square">
            <a:spAutoFit/>
          </a:bodyPr>
          <a:lstStyle/>
          <a:p>
            <a:pPr marL="914400"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Continue the pattern.</a:t>
            </a:r>
          </a:p>
        </p:txBody>
      </p:sp>
      <p:pic>
        <p:nvPicPr>
          <p:cNvPr id="4" name="Picture 3" descr="Table&#10;&#10;Description automatically generated">
            <a:extLst>
              <a:ext uri="{FF2B5EF4-FFF2-40B4-BE49-F238E27FC236}">
                <a16:creationId xmlns:a16="http://schemas.microsoft.com/office/drawing/2014/main" id="{EC5AEF44-39EF-2E44-B66E-55309102907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125696" y="943678"/>
            <a:ext cx="6903769" cy="3446694"/>
          </a:xfrm>
          <a:prstGeom prst="rect">
            <a:avLst/>
          </a:prstGeom>
        </p:spPr>
      </p:pic>
      <p:sp>
        <p:nvSpPr>
          <p:cNvPr id="13" name="Rectangle 12">
            <a:extLst>
              <a:ext uri="{FF2B5EF4-FFF2-40B4-BE49-F238E27FC236}">
                <a16:creationId xmlns:a16="http://schemas.microsoft.com/office/drawing/2014/main" id="{26484F75-92CB-A04B-BBC7-DADCF7387EBB}"/>
              </a:ext>
            </a:extLst>
          </p:cNvPr>
          <p:cNvSpPr/>
          <p:nvPr/>
        </p:nvSpPr>
        <p:spPr>
          <a:xfrm>
            <a:off x="1070517" y="4802515"/>
            <a:ext cx="8980675" cy="830997"/>
          </a:xfrm>
          <a:prstGeom prst="rect">
            <a:avLst/>
          </a:prstGeom>
        </p:spPr>
        <p:txBody>
          <a:bodyPr wrap="square">
            <a:spAutoFit/>
          </a:bodyPr>
          <a:lstStyle/>
          <a:p>
            <a:pPr marL="914400" indent="-457200">
              <a:buFont typeface="+mj-lt"/>
              <a:buAutoNum type="alphaL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Compare your conjecture in question 2 with the expression you found in Part D.</a:t>
            </a:r>
          </a:p>
        </p:txBody>
      </p:sp>
    </p:spTree>
    <p:extLst>
      <p:ext uri="{BB962C8B-B14F-4D97-AF65-F5344CB8AC3E}">
        <p14:creationId xmlns:p14="http://schemas.microsoft.com/office/powerpoint/2010/main" val="3874977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7" name="Picture 6">
            <a:extLst>
              <a:ext uri="{FF2B5EF4-FFF2-40B4-BE49-F238E27FC236}">
                <a16:creationId xmlns:a16="http://schemas.microsoft.com/office/drawing/2014/main" id="{60B241B6-9493-7E40-A14F-32B3C36199D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318418" y="3069173"/>
            <a:ext cx="2028531" cy="886125"/>
          </a:xfrm>
          <a:prstGeom prst="rect">
            <a:avLst/>
          </a:prstGeom>
        </p:spPr>
      </p:pic>
      <p:sp>
        <p:nvSpPr>
          <p:cNvPr id="278" name="Google Shape;278;g104476d1465_1_17"/>
          <p:cNvSpPr/>
          <p:nvPr/>
        </p:nvSpPr>
        <p:spPr>
          <a:xfrm>
            <a:off x="4475"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3675" y="6144501"/>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5449" y="64015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F54A4596-5923-6342-9500-70E8F702680A}"/>
                  </a:ext>
                </a:extLst>
              </p:cNvPr>
              <p:cNvSpPr/>
              <p:nvPr/>
            </p:nvSpPr>
            <p:spPr>
              <a:xfrm>
                <a:off x="1127290" y="736537"/>
                <a:ext cx="9075159" cy="3064622"/>
              </a:xfrm>
              <a:prstGeom prst="rect">
                <a:avLst/>
              </a:prstGeom>
            </p:spPr>
            <p:txBody>
              <a:bodyPr wrap="square">
                <a:spAutoFit/>
              </a:bodyPr>
              <a:lstStyle/>
              <a:p>
                <a:pPr marL="914400" indent="-457200">
                  <a:buFont typeface="+mj-lt"/>
                  <a:buAutoNum type="alphaLcPeriod" startAt="6"/>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marL="914400">
                  <a:lnSpc>
                    <a:spcPct val="250000"/>
                  </a:lnSpc>
                </a:pPr>
                <a:r>
                  <a:rPr lang="en-US" sz="2400" dirty="0">
                    <a:latin typeface="Verdana" panose="020B0604030504040204" pitchFamily="34" charset="0"/>
                    <a:ea typeface="Times New Roman" panose="02020603050405020304" pitchFamily="18" charset="0"/>
                    <a:cs typeface="Times New Roman" panose="02020603050405020304" pitchFamily="18" charset="0"/>
                  </a:rPr>
                  <a:t>A variable base with a negative exponent, </a:t>
                </a:r>
                <a14:m>
                  <m:oMath xmlns:m="http://schemas.openxmlformats.org/officeDocument/2006/math">
                    <m:sSup>
                      <m:sSupPr>
                        <m:ctrlPr>
                          <a:rPr lang="en-US" sz="2400" i="1">
                            <a:latin typeface="Cambria Math" panose="02040503050406030204" pitchFamily="18" charset="0"/>
                            <a:cs typeface="Times New Roman" panose="02020603050405020304" pitchFamily="18" charset="0"/>
                          </a:rPr>
                        </m:ctrlPr>
                      </m:sSupPr>
                      <m:e>
                        <m:d>
                          <m:dPr>
                            <m:ctrlPr>
                              <a:rPr lang="en-US" sz="2400" i="1">
                                <a:latin typeface="Cambria Math" panose="02040503050406030204" pitchFamily="18" charset="0"/>
                                <a:cs typeface="Times New Roman" panose="02020603050405020304" pitchFamily="18" charset="0"/>
                              </a:rPr>
                            </m:ctrlPr>
                          </m:dPr>
                          <m:e>
                            <m:r>
                              <a:rPr lang="es-ES" sz="2400" i="1">
                                <a:latin typeface="Cambria Math" panose="02040503050406030204" pitchFamily="18" charset="0"/>
                                <a:cs typeface="Times New Roman" panose="02020603050405020304" pitchFamily="18" charset="0"/>
                              </a:rPr>
                              <m:t>𝑥</m:t>
                            </m:r>
                          </m:e>
                        </m:d>
                      </m:e>
                      <m:sup>
                        <m:r>
                          <a:rPr lang="es-ES" sz="2400" i="1">
                            <a:latin typeface="Cambria Math" panose="02040503050406030204" pitchFamily="18" charset="0"/>
                            <a:cs typeface="Times New Roman" panose="02020603050405020304" pitchFamily="18" charset="0"/>
                          </a:rPr>
                          <m:t>−</m:t>
                        </m:r>
                        <m:r>
                          <a:rPr lang="es-ES" sz="2400" i="1">
                            <a:latin typeface="Cambria Math" panose="02040503050406030204" pitchFamily="18" charset="0"/>
                            <a:cs typeface="Times New Roman" panose="02020603050405020304" pitchFamily="18" charset="0"/>
                          </a:rPr>
                          <m:t>𝑎</m:t>
                        </m:r>
                      </m:sup>
                    </m:sSup>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can be rewritten using the                     of the base with the                     exponent.</a:t>
                </a:r>
              </a:p>
            </p:txBody>
          </p:sp>
        </mc:Choice>
        <mc:Fallback>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127290" y="736537"/>
                <a:ext cx="9075159" cy="3064622"/>
              </a:xfrm>
              <a:prstGeom prst="rect">
                <a:avLst/>
              </a:prstGeom>
              <a:blipFill>
                <a:blip r:embed="rId5"/>
                <a:stretch>
                  <a:fillRect t="-1590" b="-3579"/>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EFD407E6-0EC8-FC42-A960-D85C69FE0C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346949" y="2183048"/>
            <a:ext cx="2028531" cy="886125"/>
          </a:xfrm>
          <a:prstGeom prst="rect">
            <a:avLst/>
          </a:prstGeom>
        </p:spPr>
      </p:pic>
    </p:spTree>
    <p:extLst>
      <p:ext uri="{BB962C8B-B14F-4D97-AF65-F5344CB8AC3E}">
        <p14:creationId xmlns:p14="http://schemas.microsoft.com/office/powerpoint/2010/main" val="3620101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F54A4596-5923-6342-9500-70E8F702680A}"/>
                  </a:ext>
                </a:extLst>
              </p:cNvPr>
              <p:cNvSpPr/>
              <p:nvPr/>
            </p:nvSpPr>
            <p:spPr>
              <a:xfrm>
                <a:off x="1070517" y="742049"/>
                <a:ext cx="9064008" cy="3785652"/>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For each expression, write an equivalent expression with positive exponents.</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=______________</m:t>
                    </m:r>
                  </m:oMath>
                </a14:m>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2"/>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𝑐</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−9</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=______________</m:t>
                    </m:r>
                  </m:oMath>
                </a14:m>
                <a:endParaRPr lang="x-none"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070517" y="742049"/>
                <a:ext cx="9064008" cy="3785652"/>
              </a:xfrm>
              <a:prstGeom prst="rect">
                <a:avLst/>
              </a:prstGeom>
              <a:blipFill>
                <a:blip r:embed="rId4"/>
                <a:stretch>
                  <a:fillRect l="-1077" t="-1288" b="-2576"/>
                </a:stretch>
              </a:blipFill>
            </p:spPr>
            <p:txBody>
              <a:bodyPr/>
              <a:lstStyle/>
              <a:p>
                <a:r>
                  <a:rPr lang="en-US">
                    <a:noFill/>
                  </a:rPr>
                  <a:t> </a:t>
                </a:r>
              </a:p>
            </p:txBody>
          </p:sp>
        </mc:Fallback>
      </mc:AlternateContent>
    </p:spTree>
    <p:extLst>
      <p:ext uri="{BB962C8B-B14F-4D97-AF65-F5344CB8AC3E}">
        <p14:creationId xmlns:p14="http://schemas.microsoft.com/office/powerpoint/2010/main" val="3291207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44501"/>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0157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F54A4596-5923-6342-9500-70E8F702680A}"/>
                  </a:ext>
                </a:extLst>
              </p:cNvPr>
              <p:cNvSpPr/>
              <p:nvPr/>
            </p:nvSpPr>
            <p:spPr>
              <a:xfrm>
                <a:off x="1059366" y="599173"/>
                <a:ext cx="9075159" cy="3597460"/>
              </a:xfrm>
              <a:prstGeom prst="rect">
                <a:avLst/>
              </a:prstGeom>
            </p:spPr>
            <p:txBody>
              <a:bodyPr wrap="square">
                <a:spAutoFit/>
              </a:bodyPr>
              <a:lstStyle/>
              <a:p>
                <a:pPr marL="914400" lvl="1" indent="-457200">
                  <a:buFont typeface="+mj-lt"/>
                  <a:buAutoNum type="alphaLcPeriod" startAt="3"/>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cs typeface="Times New Roman" panose="02020603050405020304" pitchFamily="18" charset="0"/>
                                  </a:rPr>
                                  <m:t>1</m:t>
                                </m:r>
                              </m:num>
                              <m:den>
                                <m:r>
                                  <a:rPr lang="en-US" sz="2400" i="1">
                                    <a:latin typeface="Cambria Math" panose="02040503050406030204" pitchFamily="18" charset="0"/>
                                    <a:ea typeface="Times New Roman" panose="02020603050405020304" pitchFamily="18" charset="0"/>
                                    <a:cs typeface="Times New Roman" panose="02020603050405020304" pitchFamily="18" charset="0"/>
                                  </a:rPr>
                                  <m:t>𝑓</m:t>
                                </m:r>
                              </m:den>
                            </m:f>
                          </m:e>
                        </m:d>
                      </m:e>
                      <m:sup>
                        <m:r>
                          <a:rPr lang="en-US" sz="2400" i="1">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=______________</m:t>
                    </m:r>
                  </m:oMath>
                </a14:m>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startAt="4"/>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r>
                                  <a:rPr lang="en-US" sz="2400" i="1">
                                    <a:latin typeface="Cambria Math" panose="02040503050406030204" pitchFamily="18" charset="0"/>
                                    <a:ea typeface="Times New Roman" panose="02020603050405020304" pitchFamily="18" charset="0"/>
                                    <a:cs typeface="Times New Roman" panose="02020603050405020304" pitchFamily="18" charset="0"/>
                                  </a:rPr>
                                  <m:t>3</m:t>
                                </m:r>
                              </m:num>
                              <m:den>
                                <m:r>
                                  <a:rPr lang="en-US" sz="2400" i="1">
                                    <a:latin typeface="Cambria Math" panose="02040503050406030204" pitchFamily="18" charset="0"/>
                                    <a:ea typeface="Times New Roman" panose="02020603050405020304" pitchFamily="18" charset="0"/>
                                    <a:cs typeface="Times New Roman" panose="02020603050405020304" pitchFamily="18" charset="0"/>
                                  </a:rPr>
                                  <m:t>𝑎</m:t>
                                </m:r>
                              </m:den>
                            </m:f>
                          </m:e>
                        </m:d>
                      </m:e>
                      <m:sup>
                        <m:r>
                          <a:rPr lang="en-US" sz="2400" i="1">
                            <a:latin typeface="Cambria Math" panose="02040503050406030204" pitchFamily="18" charset="0"/>
                            <a:ea typeface="Times New Roman" panose="02020603050405020304" pitchFamily="18" charset="0"/>
                            <a:cs typeface="Times New Roman" panose="02020603050405020304" pitchFamily="18" charset="0"/>
                          </a:rPr>
                          <m:t>−5</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=______________</m:t>
                    </m:r>
                  </m:oMath>
                </a14:m>
                <a:endParaRPr lang="x-none"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059366" y="599173"/>
                <a:ext cx="9075159" cy="359746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66296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164</a:t>
            </a:r>
            <a:endParaRPr i="1" dirty="0">
              <a:latin typeface="Calibri"/>
              <a:ea typeface="Calibri"/>
              <a:cs typeface="Calibri"/>
              <a:sym typeface="Calibri"/>
            </a:endParaRPr>
          </a:p>
        </p:txBody>
      </p:sp>
      <p:pic>
        <p:nvPicPr>
          <p:cNvPr id="9" name="image11.png" descr="Icon&#10;&#10;Description automatically generated">
            <a:extLst>
              <a:ext uri="{FF2B5EF4-FFF2-40B4-BE49-F238E27FC236}">
                <a16:creationId xmlns:a16="http://schemas.microsoft.com/office/drawing/2014/main" id="{0E7BC257-BE1A-B142-BDED-3B1C3440CB87}"/>
              </a:ext>
            </a:extLst>
          </p:cNvPr>
          <p:cNvPicPr/>
          <p:nvPr/>
        </p:nvPicPr>
        <p:blipFill>
          <a:blip r:embed="rId4"/>
          <a:srcRect/>
          <a:stretch>
            <a:fillRect/>
          </a:stretch>
        </p:blipFill>
        <p:spPr>
          <a:xfrm>
            <a:off x="5208901" y="2852921"/>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60788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25482" y="189019"/>
            <a:ext cx="929134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4.9.3 Activity: Equivalent Expressions Card Sort</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164</a:t>
            </a:r>
            <a:endParaRPr i="1" dirty="0">
              <a:latin typeface="Calibri"/>
              <a:ea typeface="Calibri"/>
              <a:cs typeface="Calibri"/>
              <a:sym typeface="Calibri"/>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1070517" y="1668607"/>
            <a:ext cx="8967721" cy="1446550"/>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Work with your partner or group to match the equivalent expressions in the set of cards. Each numbered card in the set shown below has three equivalent matches. Record the letters of the matching cards in the table. </a:t>
            </a:r>
          </a:p>
        </p:txBody>
      </p:sp>
      <p:pic>
        <p:nvPicPr>
          <p:cNvPr id="9" name="image11.png" descr="Icon&#10;&#10;Description automatically generated">
            <a:extLst>
              <a:ext uri="{FF2B5EF4-FFF2-40B4-BE49-F238E27FC236}">
                <a16:creationId xmlns:a16="http://schemas.microsoft.com/office/drawing/2014/main" id="{2F40736C-0721-F341-83BD-174AB100B66E}"/>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99437" y="342907"/>
            <a:ext cx="749808" cy="749808"/>
          </a:xfrm>
          <a:prstGeom prst="rect">
            <a:avLst/>
          </a:prstGeom>
          <a:ln/>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DF54E6AE-9378-2246-97DB-45091DAF6C0E}"/>
                  </a:ext>
                </a:extLst>
              </p:cNvPr>
              <p:cNvGraphicFramePr>
                <a:graphicFrameLocks noGrp="1"/>
              </p:cNvGraphicFramePr>
              <p:nvPr>
                <p:extLst>
                  <p:ext uri="{D42A27DB-BD31-4B8C-83A1-F6EECF244321}">
                    <p14:modId xmlns:p14="http://schemas.microsoft.com/office/powerpoint/2010/main" val="1738118482"/>
                  </p:ext>
                </p:extLst>
              </p:nvPr>
            </p:nvGraphicFramePr>
            <p:xfrm>
              <a:off x="2193669" y="3427518"/>
              <a:ext cx="6057900" cy="2520000"/>
            </p:xfrm>
            <a:graphic>
              <a:graphicData uri="http://schemas.openxmlformats.org/drawingml/2006/table">
                <a:tbl>
                  <a:tblPr firstRow="1" firstCol="1" bandRow="1"/>
                  <a:tblGrid>
                    <a:gridCol w="2514600">
                      <a:extLst>
                        <a:ext uri="{9D8B030D-6E8A-4147-A177-3AD203B41FA5}">
                          <a16:colId xmlns:a16="http://schemas.microsoft.com/office/drawing/2014/main" val="175024792"/>
                        </a:ext>
                      </a:extLst>
                    </a:gridCol>
                    <a:gridCol w="3543300">
                      <a:extLst>
                        <a:ext uri="{9D8B030D-6E8A-4147-A177-3AD203B41FA5}">
                          <a16:colId xmlns:a16="http://schemas.microsoft.com/office/drawing/2014/main" val="940270100"/>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Numbered Cards</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Equivalent Expression Cards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204759241"/>
                      </a:ext>
                    </a:extLst>
                  </a:tr>
                  <a:tr h="900000">
                    <a:tc>
                      <a:txBody>
                        <a:bodyPr/>
                        <a:lstStyle/>
                        <a:p>
                          <a:pPr marL="0" marR="0">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1</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7</m:t>
                                    </m:r>
                                  </m:sup>
                                </m:sSup>
                              </m:oMath>
                            </m:oMathPara>
                          </a14:m>
                          <a:endParaRPr lang="en-PH"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6041702"/>
                      </a:ext>
                    </a:extLst>
                  </a:tr>
                  <a:tr h="900000">
                    <a:tc>
                      <a:txBody>
                        <a:bodyPr/>
                        <a:lstStyle/>
                        <a:p>
                          <a:pPr marL="0" marR="0">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2</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12</m:t>
                                    </m:r>
                                  </m:sup>
                                </m:sSup>
                              </m:oMath>
                            </m:oMathPara>
                          </a14:m>
                          <a:endParaRPr lang="en-PH"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4376071"/>
                      </a:ext>
                    </a:extLst>
                  </a:tr>
                </a:tbl>
              </a:graphicData>
            </a:graphic>
          </p:graphicFrame>
        </mc:Choice>
        <mc:Fallback>
          <p:graphicFrame>
            <p:nvGraphicFramePr>
              <p:cNvPr id="3" name="Table 2">
                <a:extLst>
                  <a:ext uri="{FF2B5EF4-FFF2-40B4-BE49-F238E27FC236}">
                    <a16:creationId xmlns:a16="http://schemas.microsoft.com/office/drawing/2014/main" id="{DF54E6AE-9378-2246-97DB-45091DAF6C0E}"/>
                  </a:ext>
                </a:extLst>
              </p:cNvPr>
              <p:cNvGraphicFramePr>
                <a:graphicFrameLocks noGrp="1"/>
              </p:cNvGraphicFramePr>
              <p:nvPr>
                <p:extLst>
                  <p:ext uri="{D42A27DB-BD31-4B8C-83A1-F6EECF244321}">
                    <p14:modId xmlns:p14="http://schemas.microsoft.com/office/powerpoint/2010/main" val="1738118482"/>
                  </p:ext>
                </p:extLst>
              </p:nvPr>
            </p:nvGraphicFramePr>
            <p:xfrm>
              <a:off x="2193669" y="3427518"/>
              <a:ext cx="6057900" cy="2520000"/>
            </p:xfrm>
            <a:graphic>
              <a:graphicData uri="http://schemas.openxmlformats.org/drawingml/2006/table">
                <a:tbl>
                  <a:tblPr firstRow="1" firstCol="1" bandRow="1"/>
                  <a:tblGrid>
                    <a:gridCol w="2514600">
                      <a:extLst>
                        <a:ext uri="{9D8B030D-6E8A-4147-A177-3AD203B41FA5}">
                          <a16:colId xmlns:a16="http://schemas.microsoft.com/office/drawing/2014/main" val="175024792"/>
                        </a:ext>
                      </a:extLst>
                    </a:gridCol>
                    <a:gridCol w="3543300">
                      <a:extLst>
                        <a:ext uri="{9D8B030D-6E8A-4147-A177-3AD203B41FA5}">
                          <a16:colId xmlns:a16="http://schemas.microsoft.com/office/drawing/2014/main" val="940270100"/>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Numbered Cards</a:t>
                          </a:r>
                          <a:endParaRPr lang="x-none" sz="2000" dirty="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Verdana" pitchFamily="34" charset="0"/>
                              <a:cs typeface="Times New Roman" panose="02020603050405020304" pitchFamily="18" charset="0"/>
                            </a:rPr>
                            <a:t>Equivalent Expression Cards</a:t>
                          </a:r>
                          <a:endParaRPr lang="x-none" sz="2000">
                            <a:effectLst/>
                            <a:latin typeface="Verdana" pitchFamily="34" charset="0"/>
                            <a:ea typeface="Verdana" pitchFamily="34" charset="0"/>
                            <a:cs typeface="Times New Roman" panose="02020603050405020304" pitchFamily="18"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3204759241"/>
                      </a:ext>
                    </a:extLst>
                  </a:tr>
                  <a:tr h="90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42" t="-82432" r="-141646" b="-102027"/>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06041702"/>
                      </a:ext>
                    </a:extLst>
                  </a:tr>
                  <a:tr h="900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242" t="-182432" r="-141646" b="-2027"/>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4376071"/>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164</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D2F23295-745D-6F45-B721-DF51CC57A789}"/>
                  </a:ext>
                </a:extLst>
              </p:cNvPr>
              <p:cNvGraphicFramePr>
                <a:graphicFrameLocks noGrp="1"/>
              </p:cNvGraphicFramePr>
              <p:nvPr>
                <p:extLst>
                  <p:ext uri="{D42A27DB-BD31-4B8C-83A1-F6EECF244321}">
                    <p14:modId xmlns:p14="http://schemas.microsoft.com/office/powerpoint/2010/main" val="2527999199"/>
                  </p:ext>
                </p:extLst>
              </p:nvPr>
            </p:nvGraphicFramePr>
            <p:xfrm>
              <a:off x="2179930" y="454825"/>
              <a:ext cx="5936435" cy="5940000"/>
            </p:xfrm>
            <a:graphic>
              <a:graphicData uri="http://schemas.openxmlformats.org/drawingml/2006/table">
                <a:tbl>
                  <a:tblPr firstRow="1" firstCol="1" bandRow="1"/>
                  <a:tblGrid>
                    <a:gridCol w="2464181">
                      <a:extLst>
                        <a:ext uri="{9D8B030D-6E8A-4147-A177-3AD203B41FA5}">
                          <a16:colId xmlns:a16="http://schemas.microsoft.com/office/drawing/2014/main" val="74067441"/>
                        </a:ext>
                      </a:extLst>
                    </a:gridCol>
                    <a:gridCol w="3472254">
                      <a:extLst>
                        <a:ext uri="{9D8B030D-6E8A-4147-A177-3AD203B41FA5}">
                          <a16:colId xmlns:a16="http://schemas.microsoft.com/office/drawing/2014/main" val="954583896"/>
                        </a:ext>
                      </a:extLst>
                    </a:gridCol>
                  </a:tblGrid>
                  <a:tr h="828000">
                    <a:tc>
                      <a:txBody>
                        <a:bodyPr/>
                        <a:lstStyle/>
                        <a:p>
                          <a:pPr marL="0" marR="0">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3</a:t>
                          </a:r>
                          <a:endParaRPr lang="x-none" sz="2000" dirty="0">
                            <a:effectLst/>
                            <a:latin typeface="Verdana" pitchFamily="34" charset="0"/>
                            <a:ea typeface="Verdana" pitchFamily="34" charset="0"/>
                            <a:cs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m:t>
                                    </m:r>
                                  </m:sup>
                                </m:sSup>
                              </m:oMath>
                            </m:oMathPara>
                          </a14:m>
                          <a:endParaRPr lang="x-none" sz="2000" dirty="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8938734"/>
                      </a:ext>
                    </a:extLst>
                  </a:tr>
                  <a:tr h="828000">
                    <a:tc>
                      <a:txBody>
                        <a:bodyPr/>
                        <a:lstStyle/>
                        <a:p>
                          <a:pPr marL="0" marR="0">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4</a:t>
                          </a:r>
                          <a:endParaRPr lang="x-none" sz="2000">
                            <a:effectLst/>
                            <a:latin typeface="Verdana" pitchFamily="34" charset="0"/>
                            <a:ea typeface="Verdana" pitchFamily="34" charset="0"/>
                            <a:cs typeface="Times New Roman" panose="02020603050405020304" pitchFamily="18"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−9</m:t>
                                    </m:r>
                                  </m:sup>
                                </m:sSup>
                              </m:oMath>
                            </m:oMathPara>
                          </a14:m>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8368656"/>
                      </a:ext>
                    </a:extLst>
                  </a:tr>
                  <a:tr h="900000">
                    <a:tc>
                      <a:txBody>
                        <a:bodyPr/>
                        <a:lstStyle/>
                        <a:p>
                          <a:pPr marL="0" marR="0">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5</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m:t>
                                      </m:r>
                                    </m:sup>
                                  </m:sSup>
                                </m:den>
                              </m:f>
                            </m:oMath>
                          </a14:m>
                          <a:r>
                            <a:rPr lang="en-PH"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0250808"/>
                      </a:ext>
                    </a:extLst>
                  </a:tr>
                  <a:tr h="900000">
                    <a:tc>
                      <a:txBody>
                        <a:bodyPr/>
                        <a:lstStyle/>
                        <a:p>
                          <a:pPr marL="0" marR="0">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6</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 xmlns:m="http://schemas.openxmlformats.org/officeDocument/2006/math">
                              <m:f>
                                <m:f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m:t>
                                  </m:r>
                                </m:num>
                                <m:den>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11</m:t>
                                      </m:r>
                                    </m:sup>
                                  </m:sSup>
                                </m:den>
                              </m:f>
                            </m:oMath>
                          </a14:m>
                          <a:r>
                            <a:rPr lang="en-PH" sz="2000" dirty="0">
                              <a:effectLst/>
                              <a:latin typeface="Verdana"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9319793"/>
                      </a:ext>
                    </a:extLst>
                  </a:tr>
                  <a:tr h="828000">
                    <a:tc>
                      <a:txBody>
                        <a:bodyPr/>
                        <a:lstStyle/>
                        <a:p>
                          <a:pPr marL="0" marR="0">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7</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m:t>
                                    </m:r>
                                  </m:sup>
                                </m:sSup>
                              </m:oMath>
                            </m:oMathPara>
                          </a14:m>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0330580"/>
                      </a:ext>
                    </a:extLst>
                  </a:tr>
                  <a:tr h="828000">
                    <a:tc>
                      <a:txBody>
                        <a:bodyPr/>
                        <a:lstStyle/>
                        <a:p>
                          <a:pPr marL="0" marR="0">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8</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m:t>
                                    </m:r>
                                  </m:sup>
                                </m:sSup>
                              </m:oMath>
                            </m:oMathPara>
                          </a14:m>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092174"/>
                      </a:ext>
                    </a:extLst>
                  </a:tr>
                  <a:tr h="828000">
                    <a:tc>
                      <a:txBody>
                        <a:bodyPr/>
                        <a:lstStyle/>
                        <a:p>
                          <a:pPr marL="0" marR="0">
                            <a:spcBef>
                              <a:spcPts val="0"/>
                            </a:spcBef>
                            <a:spcAft>
                              <a:spcPts val="0"/>
                            </a:spcAft>
                          </a:pPr>
                          <a:r>
                            <a:rPr lang="en-US" sz="2000" b="1" dirty="0">
                              <a:effectLst/>
                              <a:latin typeface="Verdana" panose="020B0604030504040204" pitchFamily="34" charset="0"/>
                              <a:ea typeface="Verdana" pitchFamily="34" charset="0"/>
                              <a:cs typeface="Times New Roman" panose="02020603050405020304" pitchFamily="18" charset="0"/>
                            </a:rPr>
                            <a:t>9</a:t>
                          </a:r>
                          <a:endParaRPr lang="x-none" sz="2000">
                            <a:effectLst/>
                            <a:latin typeface="Verdana" pitchFamily="34" charset="0"/>
                            <a:ea typeface="Verdana" pitchFamily="34" charset="0"/>
                            <a:cs typeface="Times New Roman" panose="020206030504050203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sup>
                                </m:sSup>
                              </m:oMath>
                            </m:oMathPara>
                          </a14:m>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3371865"/>
                      </a:ext>
                    </a:extLst>
                  </a:tr>
                </a:tbl>
              </a:graphicData>
            </a:graphic>
          </p:graphicFrame>
        </mc:Choice>
        <mc:Fallback>
          <p:graphicFrame>
            <p:nvGraphicFramePr>
              <p:cNvPr id="4" name="Table 3">
                <a:extLst>
                  <a:ext uri="{FF2B5EF4-FFF2-40B4-BE49-F238E27FC236}">
                    <a16:creationId xmlns:a16="http://schemas.microsoft.com/office/drawing/2014/main" id="{D2F23295-745D-6F45-B721-DF51CC57A789}"/>
                  </a:ext>
                </a:extLst>
              </p:cNvPr>
              <p:cNvGraphicFramePr>
                <a:graphicFrameLocks noGrp="1"/>
              </p:cNvGraphicFramePr>
              <p:nvPr>
                <p:extLst>
                  <p:ext uri="{D42A27DB-BD31-4B8C-83A1-F6EECF244321}">
                    <p14:modId xmlns:p14="http://schemas.microsoft.com/office/powerpoint/2010/main" val="2527999199"/>
                  </p:ext>
                </p:extLst>
              </p:nvPr>
            </p:nvGraphicFramePr>
            <p:xfrm>
              <a:off x="2179930" y="454825"/>
              <a:ext cx="5936435" cy="5940000"/>
            </p:xfrm>
            <a:graphic>
              <a:graphicData uri="http://schemas.openxmlformats.org/drawingml/2006/table">
                <a:tbl>
                  <a:tblPr firstRow="1" firstCol="1" bandRow="1"/>
                  <a:tblGrid>
                    <a:gridCol w="2464181">
                      <a:extLst>
                        <a:ext uri="{9D8B030D-6E8A-4147-A177-3AD203B41FA5}">
                          <a16:colId xmlns:a16="http://schemas.microsoft.com/office/drawing/2014/main" val="74067441"/>
                        </a:ext>
                      </a:extLst>
                    </a:gridCol>
                    <a:gridCol w="3472254">
                      <a:extLst>
                        <a:ext uri="{9D8B030D-6E8A-4147-A177-3AD203B41FA5}">
                          <a16:colId xmlns:a16="http://schemas.microsoft.com/office/drawing/2014/main" val="954583896"/>
                        </a:ext>
                      </a:extLst>
                    </a:gridCol>
                  </a:tblGrid>
                  <a:tr h="828000">
                    <a:tc>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7" t="-3676" r="-141235" b="-619118"/>
                          </a:stretch>
                        </a:blipFill>
                      </a:tcPr>
                    </a:tc>
                    <a:tc>
                      <a:txBody>
                        <a:bodyPr/>
                        <a:lstStyle/>
                        <a:p>
                          <a:pPr marL="0" marR="0">
                            <a:spcBef>
                              <a:spcPts val="0"/>
                            </a:spcBef>
                            <a:spcAft>
                              <a:spcPts val="0"/>
                            </a:spcAft>
                          </a:pPr>
                          <a:r>
                            <a:rPr lang="en-US" sz="200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8938734"/>
                      </a:ext>
                    </a:extLst>
                  </a:tr>
                  <a:tr h="828000">
                    <a:tc>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7" t="-103676" r="-141235" b="-519118"/>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8368656"/>
                      </a:ext>
                    </a:extLst>
                  </a:tr>
                  <a:tr h="900000">
                    <a:tc>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7" t="-187162" r="-141235" b="-377027"/>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10250808"/>
                      </a:ext>
                    </a:extLst>
                  </a:tr>
                  <a:tr h="900000">
                    <a:tc>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7" t="-287162" r="-141235" b="-277027"/>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9319793"/>
                      </a:ext>
                    </a:extLst>
                  </a:tr>
                  <a:tr h="828000">
                    <a:tc>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7" t="-421324" r="-141235" b="-201471"/>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0330580"/>
                      </a:ext>
                    </a:extLst>
                  </a:tr>
                  <a:tr h="828000">
                    <a:tc>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7" t="-521324" r="-141235" b="-101471"/>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092174"/>
                      </a:ext>
                    </a:extLst>
                  </a:tr>
                  <a:tr h="828000">
                    <a:tc>
                      <a:txBody>
                        <a:bodyPr/>
                        <a:lstStyle/>
                        <a:p>
                          <a:endParaRPr lang="en-US"/>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7" t="-621324" r="-141235" b="-1471"/>
                          </a:stretch>
                        </a:blipFill>
                      </a:tcPr>
                    </a:tc>
                    <a:tc>
                      <a:txBody>
                        <a:bodyPr/>
                        <a:lstStyle/>
                        <a:p>
                          <a:pPr marL="0" marR="0">
                            <a:spcBef>
                              <a:spcPts val="0"/>
                            </a:spcBef>
                            <a:spcAft>
                              <a:spcPts val="0"/>
                            </a:spcAft>
                          </a:pPr>
                          <a:r>
                            <a:rPr lang="en-US" sz="2000" dirty="0">
                              <a:effectLst/>
                              <a:latin typeface="Verdana" panose="020B0604030504040204" pitchFamily="34" charset="0"/>
                              <a:ea typeface="Verdana" pitchFamily="34" charset="0"/>
                              <a:cs typeface="Times New Roman" panose="02020603050405020304" pitchFamily="18" charset="0"/>
                            </a:rPr>
                            <a:t> </a:t>
                          </a:r>
                          <a:endParaRPr lang="x-none" sz="2000" dirty="0">
                            <a:effectLst/>
                            <a:latin typeface="Verdana" pitchFamily="34" charset="0"/>
                            <a:ea typeface="Verdana" pitchFamily="34" charset="0"/>
                            <a:cs typeface="Times New Roman" panose="02020603050405020304" pitchFamily="18" charset="0"/>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43371865"/>
                      </a:ext>
                    </a:extLst>
                  </a:tr>
                </a:tbl>
              </a:graphicData>
            </a:graphic>
          </p:graphicFrame>
        </mc:Fallback>
      </mc:AlternateContent>
    </p:spTree>
    <p:extLst>
      <p:ext uri="{BB962C8B-B14F-4D97-AF65-F5344CB8AC3E}">
        <p14:creationId xmlns:p14="http://schemas.microsoft.com/office/powerpoint/2010/main" val="1251846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3662" y="-11627"/>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2186"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63960"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164</a:t>
            </a:r>
            <a:endParaRPr i="1" dirty="0">
              <a:latin typeface="Calibri"/>
              <a:ea typeface="Calibri"/>
              <a:cs typeface="Calibri"/>
              <a:sym typeface="Calibri"/>
            </a:endParaRPr>
          </a:p>
        </p:txBody>
      </p:sp>
      <p:pic>
        <p:nvPicPr>
          <p:cNvPr id="7" name="image7.png">
            <a:extLst>
              <a:ext uri="{FF2B5EF4-FFF2-40B4-BE49-F238E27FC236}">
                <a16:creationId xmlns:a16="http://schemas.microsoft.com/office/drawing/2014/main" id="{45D1513E-EAB2-6E45-BB07-877537AF4F1F}"/>
              </a:ext>
            </a:extLst>
          </p:cNvPr>
          <p:cNvPicPr/>
          <p:nvPr/>
        </p:nvPicPr>
        <p:blipFill>
          <a:blip r:embed="rId4">
            <a:extLst>
              <a:ext uri="{28A0092B-C50C-407E-A947-70E740481C1C}">
                <a14:useLocalDpi xmlns:a14="http://schemas.microsoft.com/office/drawing/2010/main"/>
              </a:ext>
            </a:extLst>
          </a:blip>
          <a:stretch>
            <a:fillRect/>
          </a:stretch>
        </p:blipFill>
        <p:spPr>
          <a:xfrm>
            <a:off x="4506713" y="2842346"/>
            <a:ext cx="1158155" cy="1158155"/>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13600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04693" y="44505"/>
            <a:ext cx="975040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E24E5F"/>
                </a:solidFill>
                <a:latin typeface="Verdana"/>
                <a:ea typeface="Verdana"/>
                <a:cs typeface="Verdana"/>
                <a:sym typeface="Verdana"/>
              </a:rPr>
              <a:t>4.9.4 Your Turn!</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164</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136905" y="1552325"/>
                <a:ext cx="8811846" cy="39923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For each expression, generate an equivalent expression with positive exponents by applying one or more law of exponents.</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66725">
                  <a:buFont typeface="+mj-lt"/>
                  <a:buAutoNum type="alphaLcPeriod"/>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9</m:t>
                            </m:r>
                            <m:r>
                              <a:rPr lang="en-US" sz="2400" i="1">
                                <a:latin typeface="Cambria Math" panose="02040503050406030204" pitchFamily="18" charset="0"/>
                                <a:ea typeface="Times New Roman" panose="02020603050405020304" pitchFamily="18" charset="0"/>
                                <a:cs typeface="Times New Roman" panose="02020603050405020304" pitchFamily="18" charset="0"/>
                              </a:rPr>
                              <m:t>𝑐</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3</m:t>
                            </m:r>
                          </m:sup>
                        </m:sSup>
                      </m:num>
                      <m:den>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𝑐</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−4</m:t>
                            </m:r>
                          </m:sup>
                        </m:sSup>
                      </m:den>
                    </m:f>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________</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66725"/>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66725"/>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66725"/>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66725"/>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1600" dirty="0">
                  <a:latin typeface="Verdana" panose="020B0604030504040204" pitchFamily="34" charset="0"/>
                  <a:ea typeface="Verdana" panose="020B0604030504040204" pitchFamily="34" charset="0"/>
                  <a:cs typeface="Verdana" panose="020B0604030504040204" pitchFamily="34" charset="0"/>
                </a:endParaRPr>
              </a:p>
              <a:p>
                <a:pPr marL="914400" indent="-466725">
                  <a:buFont typeface="+mj-lt"/>
                  <a:buAutoNum type="alphaLcPeriod" startAt="2"/>
                </a:pPr>
                <a:r>
                  <a:rPr lang="x-none"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3</m:t>
                        </m:r>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−4</m:t>
                        </m:r>
                      </m:sup>
                    </m:sSup>
                    <m:r>
                      <a:rPr lang="en-US" sz="24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2</m:t>
                        </m:r>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−6</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_________ </a:t>
                </a:r>
                <a:endParaRPr lang="x-none" sz="16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1136905" y="1552325"/>
                <a:ext cx="8811846" cy="3992375"/>
              </a:xfrm>
              <a:prstGeom prst="rect">
                <a:avLst/>
              </a:prstGeom>
              <a:blipFill>
                <a:blip r:embed="rId4"/>
                <a:stretch>
                  <a:fillRect l="-1107" t="-763" b="-290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8" name="image7.png">
            <a:extLst>
              <a:ext uri="{FF2B5EF4-FFF2-40B4-BE49-F238E27FC236}">
                <a16:creationId xmlns:a16="http://schemas.microsoft.com/office/drawing/2014/main" id="{7F3106E7-8768-F94A-8FDB-704EF81640ED}"/>
              </a:ext>
            </a:extLst>
          </p:cNvPr>
          <p:cNvPicPr/>
          <p:nvPr/>
        </p:nvPicPr>
        <p:blipFill>
          <a:blip r:embed="rId5">
            <a:extLst>
              <a:ext uri="{28A0092B-C50C-407E-A947-70E740481C1C}">
                <a14:useLocalDpi xmlns:a14="http://schemas.microsoft.com/office/drawing/2010/main"/>
              </a:ext>
            </a:extLst>
          </a:blip>
          <a:stretch>
            <a:fillRect/>
          </a:stretch>
        </p:blipFill>
        <p:spPr>
          <a:xfrm>
            <a:off x="437026" y="333640"/>
            <a:ext cx="747429" cy="747429"/>
          </a:xfrm>
          <a:prstGeom prst="rect">
            <a:avLst/>
          </a:prstGeom>
          <a:ln/>
        </p:spPr>
      </p:pic>
    </p:spTree>
    <p:extLst>
      <p:ext uri="{BB962C8B-B14F-4D97-AF65-F5344CB8AC3E}">
        <p14:creationId xmlns:p14="http://schemas.microsoft.com/office/powerpoint/2010/main" val="866112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164</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889B13CF-7799-4D4C-A21A-ADC21E179E83}"/>
                  </a:ext>
                </a:extLst>
              </p:cNvPr>
              <p:cNvSpPr/>
              <p:nvPr/>
            </p:nvSpPr>
            <p:spPr>
              <a:xfrm>
                <a:off x="1070517" y="458532"/>
                <a:ext cx="8982459" cy="1201291"/>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Find the value of </a:t>
                </a:r>
                <a14:m>
                  <m:oMath xmlns:m="http://schemas.openxmlformats.org/officeDocument/2006/math">
                    <m:r>
                      <a:rPr lang="en-US" sz="2400" i="1">
                        <a:latin typeface="Cambria Math" panose="02040503050406030204" pitchFamily="18" charset="0"/>
                        <a:ea typeface="Times New Roman" panose="02020603050405020304" pitchFamily="18" charset="0"/>
                        <a:cs typeface="Times New Roman" panose="02020603050405020304" pitchFamily="18" charset="0"/>
                      </a:rPr>
                      <m:t>𝑚</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that makes the equation true. </a:t>
                </a:r>
                <a:endParaRPr lang="x-none" sz="1600" dirty="0">
                  <a:latin typeface="Cambria" panose="02040503050406030204" pitchFamily="18"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f>
                        <m:f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fPr>
                        <m:num>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4</m:t>
                              </m:r>
                            </m:sup>
                          </m:sSup>
                        </m:num>
                        <m:den>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𝑚</m:t>
                              </m:r>
                            </m:sup>
                          </m:sSup>
                        </m:den>
                      </m:f>
                      <m:r>
                        <a:rPr lang="en-US" sz="24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x-none" sz="2400" i="1">
                              <a:latin typeface="Cambria Math" panose="02040503050406030204" pitchFamily="18" charset="0"/>
                              <a:ea typeface="Times New Roman" panose="02020603050405020304" pitchFamily="18" charset="0"/>
                              <a:cs typeface="Times New Roman" panose="02020603050405020304" pitchFamily="18" charset="0"/>
                            </a:rPr>
                          </m:ctrlPr>
                        </m:sSupPr>
                        <m:e>
                          <m:r>
                            <a:rPr lang="en-US" sz="2400" i="1">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400" i="1">
                              <a:latin typeface="Cambria Math" panose="02040503050406030204" pitchFamily="18" charset="0"/>
                              <a:ea typeface="Times New Roman" panose="02020603050405020304" pitchFamily="18" charset="0"/>
                              <a:cs typeface="Times New Roman" panose="02020603050405020304" pitchFamily="18" charset="0"/>
                            </a:rPr>
                            <m:t>10</m:t>
                          </m:r>
                        </m:sup>
                      </m:sSup>
                    </m:oMath>
                  </m:oMathPara>
                </a14:m>
                <a:endParaRPr lang="x-none" sz="16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4" name="Rectangle 3">
                <a:extLst>
                  <a:ext uri="{FF2B5EF4-FFF2-40B4-BE49-F238E27FC236}">
                    <a16:creationId xmlns:a16="http://schemas.microsoft.com/office/drawing/2014/main" id="{889B13CF-7799-4D4C-A21A-ADC21E179E83}"/>
                  </a:ext>
                </a:extLst>
              </p:cNvPr>
              <p:cNvSpPr>
                <a:spLocks noRot="1" noChangeAspect="1" noMove="1" noResize="1" noEditPoints="1" noAdjustHandles="1" noChangeArrowheads="1" noChangeShapeType="1" noTextEdit="1"/>
              </p:cNvSpPr>
              <p:nvPr/>
            </p:nvSpPr>
            <p:spPr>
              <a:xfrm>
                <a:off x="1070517" y="458532"/>
                <a:ext cx="8982459" cy="1201291"/>
              </a:xfrm>
              <a:prstGeom prst="rect">
                <a:avLst/>
              </a:prstGeom>
              <a:blipFill>
                <a:blip r:embed="rId4"/>
                <a:stretch>
                  <a:fillRect l="-1086" t="-4569"/>
                </a:stretch>
              </a:blipFill>
            </p:spPr>
            <p:txBody>
              <a:bodyPr/>
              <a:lstStyle/>
              <a:p>
                <a:r>
                  <a:rPr lang="en-US">
                    <a:noFill/>
                  </a:rPr>
                  <a:t> </a:t>
                </a:r>
              </a:p>
            </p:txBody>
          </p:sp>
        </mc:Fallback>
      </mc:AlternateContent>
    </p:spTree>
    <p:extLst>
      <p:ext uri="{BB962C8B-B14F-4D97-AF65-F5344CB8AC3E}">
        <p14:creationId xmlns:p14="http://schemas.microsoft.com/office/powerpoint/2010/main" val="168184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165</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C9DF6F"/>
          </a:solidFill>
          <a:ln w="9525" cap="flat" cmpd="sng">
            <a:solidFill>
              <a:srgbClr val="C9DF6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165</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04693" y="366287"/>
            <a:ext cx="9312133" cy="6462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4.9.5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45555" y="283033"/>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1070517" y="1391324"/>
            <a:ext cx="8982459" cy="193899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Draw an </a:t>
            </a:r>
            <a:r>
              <a:rPr lang="en-US" sz="2400" b="1" dirty="0">
                <a:latin typeface="Verdana" panose="020B0604030504040204" pitchFamily="34" charset="0"/>
                <a:ea typeface="Times New Roman" panose="02020603050405020304" pitchFamily="18" charset="0"/>
                <a:cs typeface="Times New Roman" panose="02020603050405020304" pitchFamily="18" charset="0"/>
              </a:rPr>
              <a:t>X</a:t>
            </a:r>
            <a:r>
              <a:rPr lang="en-US" sz="2400" dirty="0">
                <a:latin typeface="Verdana" panose="020B0604030504040204" pitchFamily="34" charset="0"/>
                <a:ea typeface="Times New Roman" panose="02020603050405020304" pitchFamily="18" charset="0"/>
                <a:cs typeface="Times New Roman" panose="02020603050405020304" pitchFamily="18" charset="0"/>
              </a:rPr>
              <a:t> on the line to indicate how you feel about the learning target.</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Wingdings" pitchFamily="2" charset="2"/>
              <a:buChar char="q"/>
            </a:pPr>
            <a:r>
              <a:rPr lang="en-US" sz="2400" dirty="0">
                <a:latin typeface="Verdana" panose="020B0604030504040204" pitchFamily="34" charset="0"/>
                <a:ea typeface="Times New Roman" panose="02020603050405020304" pitchFamily="18" charset="0"/>
                <a:cs typeface="Times New Roman" panose="02020603050405020304" pitchFamily="18" charset="0"/>
              </a:rPr>
              <a:t>I can write an equivalent algebraic expression by applying the laws of exponents.</a:t>
            </a:r>
          </a:p>
        </p:txBody>
      </p:sp>
      <p:graphicFrame>
        <p:nvGraphicFramePr>
          <p:cNvPr id="4" name="Table 3">
            <a:extLst>
              <a:ext uri="{FF2B5EF4-FFF2-40B4-BE49-F238E27FC236}">
                <a16:creationId xmlns:a16="http://schemas.microsoft.com/office/drawing/2014/main" id="{1CECA39D-A820-9F46-AF9D-1202E5FB277F}"/>
              </a:ext>
            </a:extLst>
          </p:cNvPr>
          <p:cNvGraphicFramePr>
            <a:graphicFrameLocks noGrp="1"/>
          </p:cNvGraphicFramePr>
          <p:nvPr>
            <p:extLst>
              <p:ext uri="{D42A27DB-BD31-4B8C-83A1-F6EECF244321}">
                <p14:modId xmlns:p14="http://schemas.microsoft.com/office/powerpoint/2010/main" val="864035994"/>
              </p:ext>
            </p:extLst>
          </p:nvPr>
        </p:nvGraphicFramePr>
        <p:xfrm>
          <a:off x="1976826" y="3753437"/>
          <a:ext cx="8640000" cy="685800"/>
        </p:xfrm>
        <a:graphic>
          <a:graphicData uri="http://schemas.openxmlformats.org/drawingml/2006/table">
            <a:tbl>
              <a:tblPr bandRow="1"/>
              <a:tblGrid>
                <a:gridCol w="2700000">
                  <a:extLst>
                    <a:ext uri="{9D8B030D-6E8A-4147-A177-3AD203B41FA5}">
                      <a16:colId xmlns:a16="http://schemas.microsoft.com/office/drawing/2014/main" val="2551721944"/>
                    </a:ext>
                  </a:extLst>
                </a:gridCol>
                <a:gridCol w="3060000">
                  <a:extLst>
                    <a:ext uri="{9D8B030D-6E8A-4147-A177-3AD203B41FA5}">
                      <a16:colId xmlns:a16="http://schemas.microsoft.com/office/drawing/2014/main" val="1800385844"/>
                    </a:ext>
                  </a:extLst>
                </a:gridCol>
                <a:gridCol w="2880000">
                  <a:extLst>
                    <a:ext uri="{9D8B030D-6E8A-4147-A177-3AD203B41FA5}">
                      <a16:colId xmlns:a16="http://schemas.microsoft.com/office/drawing/2014/main" val="241397888"/>
                    </a:ext>
                  </a:extLst>
                </a:gridCol>
              </a:tblGrid>
              <a:tr h="0">
                <a:tc>
                  <a:txBody>
                    <a:bodyPr/>
                    <a:lstStyle/>
                    <a:p>
                      <a:pPr marL="0" marR="0">
                        <a:spcBef>
                          <a:spcPts val="0"/>
                        </a:spcBef>
                        <a:spcAft>
                          <a:spcPts val="6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 need help.</a:t>
                      </a:r>
                      <a:endParaRPr lang="x-none" sz="2000" dirty="0">
                        <a:effectLst/>
                        <a:latin typeface="Verdana" pitchFamily="34" charset="0"/>
                        <a:ea typeface="Verdana" pitchFamily="34" charset="0"/>
                        <a:cs typeface="Times New Roman" panose="02020603050405020304" pitchFamily="18" charset="0"/>
                      </a:endParaRPr>
                    </a:p>
                    <a:p>
                      <a:pPr marL="0" marR="0">
                        <a:spcBef>
                          <a:spcPts val="0"/>
                        </a:spcBef>
                        <a:spcAft>
                          <a:spcPts val="6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 can’t get started.</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algn="l">
                        <a:spcBef>
                          <a:spcPts val="0"/>
                        </a:spcBef>
                        <a:spcAft>
                          <a:spcPts val="6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I’m getting there, but </a:t>
                      </a:r>
                      <a:endParaRPr lang="x-none" sz="2000">
                        <a:effectLst/>
                        <a:latin typeface="Verdana" pitchFamily="34" charset="0"/>
                        <a:ea typeface="Verdana" pitchFamily="34" charset="0"/>
                        <a:cs typeface="Times New Roman" panose="02020603050405020304" pitchFamily="18" charset="0"/>
                      </a:endParaRPr>
                    </a:p>
                    <a:p>
                      <a:pPr marL="0" marR="0" algn="l">
                        <a:spcBef>
                          <a:spcPts val="0"/>
                        </a:spcBef>
                        <a:spcAft>
                          <a:spcPts val="6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 need more practice.</a:t>
                      </a:r>
                      <a:endParaRPr lang="x-none" sz="2000">
                        <a:effectLst/>
                        <a:latin typeface="Verdana" pitchFamily="34" charset="0"/>
                        <a:ea typeface="Verdana" pitchFamily="34" charset="0"/>
                        <a:cs typeface="Times New Roman" panose="02020603050405020304" pitchFamily="18" charset="0"/>
                      </a:endParaRPr>
                    </a:p>
                  </a:txBody>
                  <a:tcPr marL="68580" marR="68580" marT="0" marB="0" anchor="ctr">
                    <a:lnL>
                      <a:noFill/>
                    </a:lnL>
                    <a:lnR>
                      <a:noFill/>
                    </a:lnR>
                    <a:lnT>
                      <a:noFill/>
                    </a:lnT>
                    <a:lnB>
                      <a:noFill/>
                    </a:lnB>
                  </a:tcPr>
                </a:tc>
                <a:tc>
                  <a:txBody>
                    <a:bodyPr/>
                    <a:lstStyle/>
                    <a:p>
                      <a:pPr marL="0" marR="0" algn="l">
                        <a:spcBef>
                          <a:spcPts val="0"/>
                        </a:spcBef>
                        <a:spcAft>
                          <a:spcPts val="6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I understand this</a:t>
                      </a:r>
                      <a:endParaRPr lang="x-none" sz="2000" dirty="0">
                        <a:effectLst/>
                        <a:latin typeface="Verdana" pitchFamily="34" charset="0"/>
                        <a:ea typeface="Verdana" pitchFamily="34" charset="0"/>
                        <a:cs typeface="Times New Roman" panose="02020603050405020304" pitchFamily="18" charset="0"/>
                      </a:endParaRPr>
                    </a:p>
                    <a:p>
                      <a:pPr marL="0" marR="0" algn="l">
                        <a:spcBef>
                          <a:spcPts val="0"/>
                        </a:spcBef>
                        <a:spcAft>
                          <a:spcPts val="600"/>
                        </a:spcAft>
                      </a:pP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and I feel confident.</a:t>
                      </a:r>
                      <a:endParaRPr lang="x-none" sz="2000" dirty="0">
                        <a:effectLst/>
                        <a:latin typeface="Verdana" pitchFamily="34" charset="0"/>
                        <a:ea typeface="Verdana"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3055678160"/>
                  </a:ext>
                </a:extLst>
              </a:tr>
            </a:tbl>
          </a:graphicData>
        </a:graphic>
      </p:graphicFrame>
      <p:cxnSp>
        <p:nvCxnSpPr>
          <p:cNvPr id="10" name="Straight Arrow Connector 9">
            <a:extLst>
              <a:ext uri="{FF2B5EF4-FFF2-40B4-BE49-F238E27FC236}">
                <a16:creationId xmlns:a16="http://schemas.microsoft.com/office/drawing/2014/main" id="{F1C14F84-51DB-7F40-8E6D-6678E607127B}"/>
              </a:ext>
            </a:extLst>
          </p:cNvPr>
          <p:cNvCxnSpPr/>
          <p:nvPr/>
        </p:nvCxnSpPr>
        <p:spPr>
          <a:xfrm>
            <a:off x="1962912" y="4676752"/>
            <a:ext cx="8470912" cy="0"/>
          </a:xfrm>
          <a:prstGeom prst="straightConnector1">
            <a:avLst/>
          </a:prstGeom>
          <a:ln>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3038</TotalTime>
  <Words>799</Words>
  <Application>Microsoft Office PowerPoint</Application>
  <PresentationFormat>Widescreen</PresentationFormat>
  <Paragraphs>188</Paragraphs>
  <Slides>23</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Verdana</vt:lpstr>
      <vt:lpstr>Wingdings</vt:lpstr>
      <vt:lpstr>Century Gothic</vt:lpstr>
      <vt:lpstr>Calibri</vt:lpstr>
      <vt:lpstr>Arial Black</vt:lpstr>
      <vt:lpstr>Cambria Math</vt:lpstr>
      <vt:lpstr>Arial</vt:lpstr>
      <vt:lpstr>Cambria</vt:lpstr>
      <vt:lpstr>1_Office Theme</vt:lpstr>
      <vt:lpstr>8th Grade Math: Pre-Algebra  Unit 4, Lesson 9  Algebraic Expressions with Negative Exponents  Volume 1, pg. 161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27</cp:revision>
  <dcterms:created xsi:type="dcterms:W3CDTF">2015-03-17T18:51:18Z</dcterms:created>
  <dcterms:modified xsi:type="dcterms:W3CDTF">2022-06-15T23:03:09Z</dcterms:modified>
</cp:coreProperties>
</file>