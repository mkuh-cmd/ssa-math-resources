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345" r:id="rId4"/>
    <p:sldId id="286" r:id="rId5"/>
    <p:sldId id="261" r:id="rId6"/>
    <p:sldId id="287" r:id="rId7"/>
    <p:sldId id="354" r:id="rId8"/>
    <p:sldId id="355" r:id="rId9"/>
    <p:sldId id="356" r:id="rId10"/>
    <p:sldId id="378" r:id="rId11"/>
    <p:sldId id="379" r:id="rId12"/>
    <p:sldId id="381" r:id="rId13"/>
    <p:sldId id="314" r:id="rId14"/>
    <p:sldId id="315" r:id="rId15"/>
    <p:sldId id="316" r:id="rId16"/>
    <p:sldId id="371" r:id="rId17"/>
    <p:sldId id="372" r:id="rId18"/>
    <p:sldId id="373" r:id="rId19"/>
    <p:sldId id="346" r:id="rId20"/>
    <p:sldId id="347" r:id="rId21"/>
    <p:sldId id="348" r:id="rId22"/>
    <p:sldId id="306" r:id="rId23"/>
    <p:sldId id="307" r:id="rId24"/>
  </p:sldIdLst>
  <p:sldSz cx="12192000" cy="6858000"/>
  <p:notesSz cx="6858000" cy="9144000"/>
  <p:embeddedFontLst>
    <p:embeddedFont>
      <p:font typeface="Arial Black" panose="020B0A04020102020204" pitchFamily="34" charset="0"/>
      <p:bold r:id="rId26"/>
    </p:embeddedFont>
    <p:embeddedFont>
      <p:font typeface="Calibri" panose="020F0502020204030204" pitchFamily="34" charset="0"/>
      <p:regular r:id="rId27"/>
      <p:bold r:id="rId28"/>
      <p:italic r:id="rId29"/>
      <p:boldItalic r:id="rId30"/>
    </p:embeddedFont>
    <p:embeddedFont>
      <p:font typeface="Cambria" panose="02040503050406030204" pitchFamily="18" charset="0"/>
      <p:regular r:id="rId31"/>
      <p:bold r:id="rId32"/>
      <p:italic r:id="rId33"/>
      <p:boldItalic r:id="rId34"/>
    </p:embeddedFont>
    <p:embeddedFont>
      <p:font typeface="Cambria Math" panose="02040503050406030204" pitchFamily="18" charset="0"/>
      <p:regular r:id="rId35"/>
    </p:embeddedFont>
    <p:embeddedFont>
      <p:font typeface="Century Gothic" panose="020B0502020202020204" pitchFamily="34" charset="0"/>
      <p:regular r:id="rId36"/>
      <p:bold r:id="rId37"/>
      <p:italic r:id="rId38"/>
      <p:boldItalic r:id="rId39"/>
    </p:embeddedFont>
    <p:embeddedFont>
      <p:font typeface="Verdana" panose="020B0604030504040204"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BFBFBF"/>
    <a:srgbClr val="C9DF6F"/>
    <a:srgbClr val="417DBF"/>
    <a:srgbClr val="3F2A67"/>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28"/>
    <p:restoredTop sz="94626"/>
  </p:normalViewPr>
  <p:slideViewPr>
    <p:cSldViewPr snapToGrid="0">
      <p:cViewPr varScale="1">
        <p:scale>
          <a:sx n="81" d="100"/>
          <a:sy n="81" d="100"/>
        </p:scale>
        <p:origin x="65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font" Target="fonts/font16.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8248967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834062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814399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161201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250671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176519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261167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4086952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6685889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879844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8434125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4301181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4722354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200.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10</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Applying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Multiple Laws of Exponents –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Part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165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613"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306286" y="136525"/>
            <a:ext cx="8794864"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53987" y="4257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36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1888"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80655" y="1307592"/>
            <a:ext cx="913014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MA.8.AR.1.1</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Apply the Laws of Exponents to generate equivalent algebraic expressions, limited to integer exponents and monomial bases.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4897"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435250" y="418867"/>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1378" y="6208824"/>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306286" y="129667"/>
            <a:ext cx="931054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73152"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165</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1068779" y="1455367"/>
            <a:ext cx="8848141"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06286" y="169000"/>
            <a:ext cx="929120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54477" y="45820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165</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80655" y="1600200"/>
            <a:ext cx="913014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3500" dirty="0">
                <a:latin typeface="Verdana" pitchFamily="34" charset="0"/>
                <a:ea typeface="Verdana" pitchFamily="34" charset="0"/>
                <a:cs typeface="Verdana" pitchFamily="34" charset="0"/>
              </a:rPr>
              <a:t>I can write an equivalent algebraic expression by applying multiple laws of exponents.</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166</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7771"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83961" y="60325"/>
            <a:ext cx="915518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4.10.1 Warm-Up: Crack the Safe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26045" y="34952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166</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1D7562E-134F-D14B-AF1A-DF40E11EF758}"/>
                  </a:ext>
                </a:extLst>
              </p:cNvPr>
              <p:cNvSpPr txBox="1"/>
              <p:nvPr/>
            </p:nvSpPr>
            <p:spPr>
              <a:xfrm>
                <a:off x="1080655" y="1361442"/>
                <a:ext cx="8972321"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To crack the safe, you must fill in the middle columns with numbers from the bank. Each number can only be used once. Each row must add to equal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18</m:t>
                    </m:r>
                  </m:oMath>
                </a14:m>
                <a:r>
                  <a:rPr lang="en-US" sz="2000" dirty="0">
                    <a:latin typeface="Verdana" panose="020B0604030504040204" pitchFamily="34" charset="0"/>
                    <a:ea typeface="Verdana" panose="020B0604030504040204" pitchFamily="34" charset="0"/>
                    <a:cs typeface="Verdana" panose="020B0604030504040204" pitchFamily="34" charset="0"/>
                  </a:rPr>
                  <a:t>. You have </a:t>
                </a:r>
                <a:br>
                  <a:rPr lang="en-US" sz="20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minutes before it is locked forever.  </a:t>
                </a:r>
              </a:p>
            </p:txBody>
          </p:sp>
        </mc:Choice>
        <mc:Fallback>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1080655" y="1361442"/>
                <a:ext cx="8972321" cy="1323439"/>
              </a:xfrm>
              <a:prstGeom prst="rect">
                <a:avLst/>
              </a:prstGeom>
              <a:blipFill>
                <a:blip r:embed="rId5"/>
                <a:stretch>
                  <a:fillRect l="-747" t="-2765" b="-7373"/>
                </a:stretch>
              </a:blipFill>
            </p:spPr>
            <p:txBody>
              <a:bodyPr/>
              <a:lstStyle/>
              <a:p>
                <a:r>
                  <a:rPr lang="en-US">
                    <a:noFill/>
                  </a:rPr>
                  <a:t> </a:t>
                </a:r>
              </a:p>
            </p:txBody>
          </p:sp>
        </mc:Fallback>
      </mc:AlternateContent>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614964"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44658ACE-AC6A-6544-BADA-4CCF32AF5F32}"/>
                  </a:ext>
                </a:extLst>
              </p:cNvPr>
              <p:cNvGraphicFramePr>
                <a:graphicFrameLocks noGrp="1"/>
              </p:cNvGraphicFramePr>
              <p:nvPr>
                <p:extLst>
                  <p:ext uri="{D42A27DB-BD31-4B8C-83A1-F6EECF244321}">
                    <p14:modId xmlns:p14="http://schemas.microsoft.com/office/powerpoint/2010/main" val="1524408331"/>
                  </p:ext>
                </p:extLst>
              </p:nvPr>
            </p:nvGraphicFramePr>
            <p:xfrm>
              <a:off x="1861132" y="2819400"/>
              <a:ext cx="6800850" cy="609600"/>
            </p:xfrm>
            <a:graphic>
              <a:graphicData uri="http://schemas.openxmlformats.org/drawingml/2006/table">
                <a:tbl>
                  <a:tblPr firstRow="1" firstCol="1" bandRow="1"/>
                  <a:tblGrid>
                    <a:gridCol w="680085">
                      <a:extLst>
                        <a:ext uri="{9D8B030D-6E8A-4147-A177-3AD203B41FA5}">
                          <a16:colId xmlns:a16="http://schemas.microsoft.com/office/drawing/2014/main" val="2124268536"/>
                        </a:ext>
                      </a:extLst>
                    </a:gridCol>
                    <a:gridCol w="680085">
                      <a:extLst>
                        <a:ext uri="{9D8B030D-6E8A-4147-A177-3AD203B41FA5}">
                          <a16:colId xmlns:a16="http://schemas.microsoft.com/office/drawing/2014/main" val="1980582397"/>
                        </a:ext>
                      </a:extLst>
                    </a:gridCol>
                    <a:gridCol w="680085">
                      <a:extLst>
                        <a:ext uri="{9D8B030D-6E8A-4147-A177-3AD203B41FA5}">
                          <a16:colId xmlns:a16="http://schemas.microsoft.com/office/drawing/2014/main" val="2275897439"/>
                        </a:ext>
                      </a:extLst>
                    </a:gridCol>
                    <a:gridCol w="680085">
                      <a:extLst>
                        <a:ext uri="{9D8B030D-6E8A-4147-A177-3AD203B41FA5}">
                          <a16:colId xmlns:a16="http://schemas.microsoft.com/office/drawing/2014/main" val="1760291508"/>
                        </a:ext>
                      </a:extLst>
                    </a:gridCol>
                    <a:gridCol w="680085">
                      <a:extLst>
                        <a:ext uri="{9D8B030D-6E8A-4147-A177-3AD203B41FA5}">
                          <a16:colId xmlns:a16="http://schemas.microsoft.com/office/drawing/2014/main" val="2561343699"/>
                        </a:ext>
                      </a:extLst>
                    </a:gridCol>
                    <a:gridCol w="680085">
                      <a:extLst>
                        <a:ext uri="{9D8B030D-6E8A-4147-A177-3AD203B41FA5}">
                          <a16:colId xmlns:a16="http://schemas.microsoft.com/office/drawing/2014/main" val="1877678046"/>
                        </a:ext>
                      </a:extLst>
                    </a:gridCol>
                    <a:gridCol w="680085">
                      <a:extLst>
                        <a:ext uri="{9D8B030D-6E8A-4147-A177-3AD203B41FA5}">
                          <a16:colId xmlns:a16="http://schemas.microsoft.com/office/drawing/2014/main" val="3618968462"/>
                        </a:ext>
                      </a:extLst>
                    </a:gridCol>
                    <a:gridCol w="680085">
                      <a:extLst>
                        <a:ext uri="{9D8B030D-6E8A-4147-A177-3AD203B41FA5}">
                          <a16:colId xmlns:a16="http://schemas.microsoft.com/office/drawing/2014/main" val="1541582794"/>
                        </a:ext>
                      </a:extLst>
                    </a:gridCol>
                    <a:gridCol w="680085">
                      <a:extLst>
                        <a:ext uri="{9D8B030D-6E8A-4147-A177-3AD203B41FA5}">
                          <a16:colId xmlns:a16="http://schemas.microsoft.com/office/drawing/2014/main" val="2306135390"/>
                        </a:ext>
                      </a:extLst>
                    </a:gridCol>
                    <a:gridCol w="680085">
                      <a:extLst>
                        <a:ext uri="{9D8B030D-6E8A-4147-A177-3AD203B41FA5}">
                          <a16:colId xmlns:a16="http://schemas.microsoft.com/office/drawing/2014/main" val="1461957475"/>
                        </a:ext>
                      </a:extLst>
                    </a:gridCol>
                  </a:tblGrid>
                  <a:tr h="0">
                    <a:tc gridSpan="10">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Number Bank</a:t>
                          </a:r>
                          <a:endParaRPr lang="x-none" sz="2000" dirty="0">
                            <a:effectLst/>
                            <a:latin typeface="Verdana" pitchFamily="34" charset="0"/>
                            <a:ea typeface="Verdana"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3222540654"/>
                      </a:ext>
                    </a:extLst>
                  </a:tr>
                  <a:tr h="0">
                    <a:tc>
                      <a:txBody>
                        <a:bodyPr/>
                        <a:lstStyle/>
                        <a:p>
                          <a:pPr marL="0" marR="0" algn="ctr">
                            <a:spcBef>
                              <a:spcPts val="0"/>
                            </a:spcBef>
                            <a:spcAft>
                              <a:spcPts val="0"/>
                            </a:spcAft>
                          </a:pPr>
                          <a14:m>
                            <m:oMathPara xmlns:m="http://schemas.openxmlformats.org/officeDocument/2006/math">
                              <m:oMathParaPr>
                                <m:jc m:val="center"/>
                              </m:oMathParaPr>
                              <m:oMath xmlns:m="http://schemas.openxmlformats.org/officeDocument/2006/math">
                                <m: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t>8</m:t>
                                </m:r>
                              </m:oMath>
                            </m:oMathPara>
                          </a14:m>
                          <a:endParaRPr lang="x-none" sz="2000">
                            <a:effectLst/>
                            <a:latin typeface="Verdana" pitchFamily="34" charset="0"/>
                            <a:ea typeface="Verdana" pitchFamily="34" charset="0"/>
                            <a:cs typeface="Times New Roman" panose="02020603050405020304" pitchFamily="18" charset="0"/>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
                              </m:oMathParaPr>
                              <m:oMath xmlns:m="http://schemas.openxmlformats.org/officeDocument/2006/math">
                                <m: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x-none" sz="2000">
                            <a:effectLst/>
                            <a:latin typeface="Verdana" pitchFamily="34" charset="0"/>
                            <a:ea typeface="Verdana" pitchFamily="34" charset="0"/>
                            <a:cs typeface="Times New Roman" panose="02020603050405020304" pitchFamily="18" charset="0"/>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
                              </m:oMathParaPr>
                              <m:oMath xmlns:m="http://schemas.openxmlformats.org/officeDocument/2006/math">
                                <m: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t>5</m:t>
                                </m:r>
                              </m:oMath>
                            </m:oMathPara>
                          </a14:m>
                          <a:endParaRPr lang="x-none" sz="2000">
                            <a:effectLst/>
                            <a:latin typeface="Verdana" pitchFamily="34" charset="0"/>
                            <a:ea typeface="Verdana" pitchFamily="34" charset="0"/>
                            <a:cs typeface="Times New Roman" panose="02020603050405020304" pitchFamily="18" charset="0"/>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
                              </m:oMathParaPr>
                              <m:oMath xmlns:m="http://schemas.openxmlformats.org/officeDocument/2006/math">
                                <m: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t>2</m:t>
                                </m:r>
                              </m:oMath>
                            </m:oMathPara>
                          </a14:m>
                          <a:endParaRPr lang="x-none" sz="2000">
                            <a:effectLst/>
                            <a:latin typeface="Verdana" pitchFamily="34" charset="0"/>
                            <a:ea typeface="Verdana" pitchFamily="34" charset="0"/>
                            <a:cs typeface="Times New Roman" panose="02020603050405020304" pitchFamily="18" charset="0"/>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t>9</m:t>
                                </m:r>
                              </m:oMath>
                            </m:oMathPara>
                          </a14:m>
                          <a:endParaRPr lang="x-none" sz="2000">
                            <a:effectLst/>
                            <a:latin typeface="Verdana" pitchFamily="34" charset="0"/>
                            <a:ea typeface="Verdana" pitchFamily="34" charset="0"/>
                            <a:cs typeface="Times New Roman" panose="02020603050405020304" pitchFamily="18" charset="0"/>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t>6</m:t>
                                </m:r>
                              </m:oMath>
                            </m:oMathPara>
                          </a14:m>
                          <a:endParaRPr lang="x-none" sz="2000">
                            <a:effectLst/>
                            <a:latin typeface="Verdana" pitchFamily="34" charset="0"/>
                            <a:ea typeface="Verdana" pitchFamily="34" charset="0"/>
                            <a:cs typeface="Times New Roman" panose="02020603050405020304" pitchFamily="18" charset="0"/>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t>7</m:t>
                                </m:r>
                              </m:oMath>
                            </m:oMathPara>
                          </a14:m>
                          <a:endParaRPr lang="x-none" sz="2000">
                            <a:effectLst/>
                            <a:latin typeface="Verdana" pitchFamily="34" charset="0"/>
                            <a:ea typeface="Verdana" pitchFamily="34" charset="0"/>
                            <a:cs typeface="Times New Roman" panose="02020603050405020304" pitchFamily="18" charset="0"/>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t>13</m:t>
                                </m:r>
                              </m:oMath>
                            </m:oMathPara>
                          </a14:m>
                          <a:endParaRPr lang="x-none" sz="2000">
                            <a:effectLst/>
                            <a:latin typeface="Verdana" pitchFamily="34" charset="0"/>
                            <a:ea typeface="Verdana" pitchFamily="34" charset="0"/>
                            <a:cs typeface="Times New Roman" panose="02020603050405020304" pitchFamily="18" charset="0"/>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
                              </m:oMathParaPr>
                              <m:oMath xmlns:m="http://schemas.openxmlformats.org/officeDocument/2006/math">
                                <m: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x-none" sz="2000">
                            <a:effectLst/>
                            <a:latin typeface="Verdana" pitchFamily="34" charset="0"/>
                            <a:ea typeface="Verdana" pitchFamily="34" charset="0"/>
                            <a:cs typeface="Times New Roman" panose="02020603050405020304" pitchFamily="18" charset="0"/>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t>3</m:t>
                                </m:r>
                              </m:oMath>
                            </m:oMathPara>
                          </a14:m>
                          <a:endParaRPr lang="x-none" sz="2000" dirty="0">
                            <a:effectLst/>
                            <a:latin typeface="Verdana" pitchFamily="34" charset="0"/>
                            <a:ea typeface="Verdana" pitchFamily="34" charset="0"/>
                            <a:cs typeface="Times New Roman" panose="02020603050405020304" pitchFamily="18" charset="0"/>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6114732"/>
                      </a:ext>
                    </a:extLst>
                  </a:tr>
                </a:tbl>
              </a:graphicData>
            </a:graphic>
          </p:graphicFrame>
        </mc:Choice>
        <mc:Fallback>
          <p:graphicFrame>
            <p:nvGraphicFramePr>
              <p:cNvPr id="4" name="Table 3">
                <a:extLst>
                  <a:ext uri="{FF2B5EF4-FFF2-40B4-BE49-F238E27FC236}">
                    <a16:creationId xmlns:a16="http://schemas.microsoft.com/office/drawing/2014/main" id="{44658ACE-AC6A-6544-BADA-4CCF32AF5F32}"/>
                  </a:ext>
                </a:extLst>
              </p:cNvPr>
              <p:cNvGraphicFramePr>
                <a:graphicFrameLocks noGrp="1"/>
              </p:cNvGraphicFramePr>
              <p:nvPr>
                <p:extLst>
                  <p:ext uri="{D42A27DB-BD31-4B8C-83A1-F6EECF244321}">
                    <p14:modId xmlns:p14="http://schemas.microsoft.com/office/powerpoint/2010/main" val="1524408331"/>
                  </p:ext>
                </p:extLst>
              </p:nvPr>
            </p:nvGraphicFramePr>
            <p:xfrm>
              <a:off x="1861132" y="2819400"/>
              <a:ext cx="6800850" cy="609600"/>
            </p:xfrm>
            <a:graphic>
              <a:graphicData uri="http://schemas.openxmlformats.org/drawingml/2006/table">
                <a:tbl>
                  <a:tblPr firstRow="1" firstCol="1" bandRow="1"/>
                  <a:tblGrid>
                    <a:gridCol w="680085">
                      <a:extLst>
                        <a:ext uri="{9D8B030D-6E8A-4147-A177-3AD203B41FA5}">
                          <a16:colId xmlns:a16="http://schemas.microsoft.com/office/drawing/2014/main" val="2124268536"/>
                        </a:ext>
                      </a:extLst>
                    </a:gridCol>
                    <a:gridCol w="680085">
                      <a:extLst>
                        <a:ext uri="{9D8B030D-6E8A-4147-A177-3AD203B41FA5}">
                          <a16:colId xmlns:a16="http://schemas.microsoft.com/office/drawing/2014/main" val="1980582397"/>
                        </a:ext>
                      </a:extLst>
                    </a:gridCol>
                    <a:gridCol w="680085">
                      <a:extLst>
                        <a:ext uri="{9D8B030D-6E8A-4147-A177-3AD203B41FA5}">
                          <a16:colId xmlns:a16="http://schemas.microsoft.com/office/drawing/2014/main" val="2275897439"/>
                        </a:ext>
                      </a:extLst>
                    </a:gridCol>
                    <a:gridCol w="680085">
                      <a:extLst>
                        <a:ext uri="{9D8B030D-6E8A-4147-A177-3AD203B41FA5}">
                          <a16:colId xmlns:a16="http://schemas.microsoft.com/office/drawing/2014/main" val="1760291508"/>
                        </a:ext>
                      </a:extLst>
                    </a:gridCol>
                    <a:gridCol w="680085">
                      <a:extLst>
                        <a:ext uri="{9D8B030D-6E8A-4147-A177-3AD203B41FA5}">
                          <a16:colId xmlns:a16="http://schemas.microsoft.com/office/drawing/2014/main" val="2561343699"/>
                        </a:ext>
                      </a:extLst>
                    </a:gridCol>
                    <a:gridCol w="680085">
                      <a:extLst>
                        <a:ext uri="{9D8B030D-6E8A-4147-A177-3AD203B41FA5}">
                          <a16:colId xmlns:a16="http://schemas.microsoft.com/office/drawing/2014/main" val="1877678046"/>
                        </a:ext>
                      </a:extLst>
                    </a:gridCol>
                    <a:gridCol w="680085">
                      <a:extLst>
                        <a:ext uri="{9D8B030D-6E8A-4147-A177-3AD203B41FA5}">
                          <a16:colId xmlns:a16="http://schemas.microsoft.com/office/drawing/2014/main" val="3618968462"/>
                        </a:ext>
                      </a:extLst>
                    </a:gridCol>
                    <a:gridCol w="680085">
                      <a:extLst>
                        <a:ext uri="{9D8B030D-6E8A-4147-A177-3AD203B41FA5}">
                          <a16:colId xmlns:a16="http://schemas.microsoft.com/office/drawing/2014/main" val="1541582794"/>
                        </a:ext>
                      </a:extLst>
                    </a:gridCol>
                    <a:gridCol w="680085">
                      <a:extLst>
                        <a:ext uri="{9D8B030D-6E8A-4147-A177-3AD203B41FA5}">
                          <a16:colId xmlns:a16="http://schemas.microsoft.com/office/drawing/2014/main" val="2306135390"/>
                        </a:ext>
                      </a:extLst>
                    </a:gridCol>
                    <a:gridCol w="680085">
                      <a:extLst>
                        <a:ext uri="{9D8B030D-6E8A-4147-A177-3AD203B41FA5}">
                          <a16:colId xmlns:a16="http://schemas.microsoft.com/office/drawing/2014/main" val="1461957475"/>
                        </a:ext>
                      </a:extLst>
                    </a:gridCol>
                  </a:tblGrid>
                  <a:tr h="304800">
                    <a:tc gridSpan="10">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Number Bank</a:t>
                          </a:r>
                          <a:endParaRPr lang="x-none" sz="2000" dirty="0">
                            <a:effectLst/>
                            <a:latin typeface="Verdana" pitchFamily="34" charset="0"/>
                            <a:ea typeface="Verdana"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3222540654"/>
                      </a:ext>
                    </a:extLst>
                  </a:tr>
                  <a:tr h="304800">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893" t="-126000" r="-899107" b="-10000"/>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01802" t="-126000" r="-807207" b="-10000"/>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00000" t="-126000" r="-700000" b="-10000"/>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02703" t="-126000" r="-606306" b="-10000"/>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99107" t="-126000" r="-500893" b="-10000"/>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499107" t="-126000" r="-400893" b="-10000"/>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604505" t="-126000" r="-304505" b="-10000"/>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698214" t="-126000" r="-201786" b="-10000"/>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805405" t="-126000" r="-103604" b="-10000"/>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897321" t="-126000" r="-2679" b="-10000"/>
                          </a:stretch>
                        </a:blipFill>
                      </a:tcPr>
                    </a:tc>
                    <a:extLst>
                      <a:ext uri="{0D108BD9-81ED-4DB2-BD59-A6C34878D82A}">
                        <a16:rowId xmlns:a16="http://schemas.microsoft.com/office/drawing/2014/main" val="846114732"/>
                      </a:ext>
                    </a:extLst>
                  </a:tr>
                </a:tbl>
              </a:graphicData>
            </a:graphic>
          </p:graphicFrame>
        </mc:Fallback>
      </mc:AlternateContent>
      <p:graphicFrame>
        <p:nvGraphicFramePr>
          <p:cNvPr id="6" name="Table 5">
            <a:extLst>
              <a:ext uri="{FF2B5EF4-FFF2-40B4-BE49-F238E27FC236}">
                <a16:creationId xmlns:a16="http://schemas.microsoft.com/office/drawing/2014/main" id="{4F320729-E357-214B-8EB0-35999F11823B}"/>
              </a:ext>
            </a:extLst>
          </p:cNvPr>
          <p:cNvGraphicFramePr>
            <a:graphicFrameLocks noGrp="1"/>
          </p:cNvGraphicFramePr>
          <p:nvPr>
            <p:extLst>
              <p:ext uri="{D42A27DB-BD31-4B8C-83A1-F6EECF244321}">
                <p14:modId xmlns:p14="http://schemas.microsoft.com/office/powerpoint/2010/main" val="2939553943"/>
              </p:ext>
            </p:extLst>
          </p:nvPr>
        </p:nvGraphicFramePr>
        <p:xfrm>
          <a:off x="1861132" y="3616781"/>
          <a:ext cx="3029469" cy="3045180"/>
        </p:xfrm>
        <a:graphic>
          <a:graphicData uri="http://schemas.openxmlformats.org/drawingml/2006/table">
            <a:tbl>
              <a:tblPr firstRow="1" firstCol="1" bandRow="1"/>
              <a:tblGrid>
                <a:gridCol w="724090">
                  <a:extLst>
                    <a:ext uri="{9D8B030D-6E8A-4147-A177-3AD203B41FA5}">
                      <a16:colId xmlns:a16="http://schemas.microsoft.com/office/drawing/2014/main" val="3596345017"/>
                    </a:ext>
                  </a:extLst>
                </a:gridCol>
                <a:gridCol w="687992">
                  <a:extLst>
                    <a:ext uri="{9D8B030D-6E8A-4147-A177-3AD203B41FA5}">
                      <a16:colId xmlns:a16="http://schemas.microsoft.com/office/drawing/2014/main" val="3529798050"/>
                    </a:ext>
                  </a:extLst>
                </a:gridCol>
                <a:gridCol w="611547">
                  <a:extLst>
                    <a:ext uri="{9D8B030D-6E8A-4147-A177-3AD203B41FA5}">
                      <a16:colId xmlns:a16="http://schemas.microsoft.com/office/drawing/2014/main" val="2332752285"/>
                    </a:ext>
                  </a:extLst>
                </a:gridCol>
                <a:gridCol w="1005840">
                  <a:extLst>
                    <a:ext uri="{9D8B030D-6E8A-4147-A177-3AD203B41FA5}">
                      <a16:colId xmlns:a16="http://schemas.microsoft.com/office/drawing/2014/main" val="2632439017"/>
                    </a:ext>
                  </a:extLst>
                </a:gridCol>
              </a:tblGrid>
              <a:tr h="485513">
                <a:tc gridSpan="3">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Code</a:t>
                      </a:r>
                      <a:endParaRPr lang="x-none" sz="2000" dirty="0">
                        <a:effectLst/>
                        <a:latin typeface="Verdana" pitchFamily="34" charset="0"/>
                        <a:ea typeface="Verdana" pitchFamily="34" charset="0"/>
                        <a:cs typeface="Times New Roman" panose="02020603050405020304" pitchFamily="18" charset="0"/>
                      </a:endParaRPr>
                    </a:p>
                  </a:txBody>
                  <a:tcPr marL="79782" marR="79782" marT="39891" marB="39891"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x-none"/>
                    </a:p>
                  </a:txBody>
                  <a:tcPr/>
                </a:tc>
                <a:tc hMerge="1">
                  <a:txBody>
                    <a:bodyPr/>
                    <a:lstStyle/>
                    <a:p>
                      <a:endParaRPr lang="x-none"/>
                    </a:p>
                  </a:txBody>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Row Total</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06558032"/>
                  </a:ext>
                </a:extLst>
              </a:tr>
              <a:tr h="487116">
                <a:tc>
                  <a:txBody>
                    <a:bodyPr/>
                    <a:lstStyle/>
                    <a:p>
                      <a:pPr marL="0" marR="0" algn="ctr">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3</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cs typeface="Times New Roman" panose="02020603050405020304" pitchFamily="18" charset="0"/>
                        </a:rPr>
                        <a:t>18</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9352076"/>
                  </a:ext>
                </a:extLst>
              </a:tr>
              <a:tr h="487116">
                <a:tc>
                  <a:txBody>
                    <a:bodyPr/>
                    <a:lstStyle/>
                    <a:p>
                      <a:pPr marL="0" marR="0" algn="ctr">
                        <a:spcBef>
                          <a:spcPts val="0"/>
                        </a:spcBef>
                        <a:spcAft>
                          <a:spcPts val="0"/>
                        </a:spcAft>
                      </a:pPr>
                      <a:r>
                        <a:rPr lang="en-US" sz="2000">
                          <a:effectLst/>
                          <a:latin typeface="Verdana" pitchFamily="34" charset="0"/>
                          <a:ea typeface="Verdana" pitchFamily="34" charset="0"/>
                          <a:cs typeface="Times New Roman" panose="02020603050405020304" pitchFamily="18" charset="0"/>
                        </a:rPr>
                        <a:t>6</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cs typeface="Times New Roman" panose="02020603050405020304" pitchFamily="18" charset="0"/>
                        </a:rPr>
                        <a:t>18</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041701"/>
                  </a:ext>
                </a:extLst>
              </a:tr>
              <a:tr h="487116">
                <a:tc>
                  <a:txBody>
                    <a:bodyPr/>
                    <a:lstStyle/>
                    <a:p>
                      <a:pPr marL="0" marR="0" algn="ctr">
                        <a:spcBef>
                          <a:spcPts val="0"/>
                        </a:spcBef>
                        <a:spcAft>
                          <a:spcPts val="0"/>
                        </a:spcAft>
                      </a:pPr>
                      <a:r>
                        <a:rPr lang="en-US" sz="2000">
                          <a:effectLst/>
                          <a:latin typeface="Verdana" pitchFamily="34" charset="0"/>
                          <a:ea typeface="Verdana" pitchFamily="34" charset="0"/>
                          <a:cs typeface="Times New Roman" panose="02020603050405020304" pitchFamily="18" charset="0"/>
                        </a:rPr>
                        <a:t>2</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cs typeface="Times New Roman" panose="02020603050405020304" pitchFamily="18" charset="0"/>
                        </a:rPr>
                        <a:t>18</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1587628"/>
                  </a:ext>
                </a:extLst>
              </a:tr>
              <a:tr h="487116">
                <a:tc>
                  <a:txBody>
                    <a:bodyPr/>
                    <a:lstStyle/>
                    <a:p>
                      <a:pPr marL="0" marR="0" algn="ctr">
                        <a:spcBef>
                          <a:spcPts val="0"/>
                        </a:spcBef>
                        <a:spcAft>
                          <a:spcPts val="0"/>
                        </a:spcAft>
                      </a:pPr>
                      <a:r>
                        <a:rPr lang="en-US" sz="2000">
                          <a:effectLst/>
                          <a:latin typeface="Verdana" pitchFamily="34" charset="0"/>
                          <a:ea typeface="Verdana" pitchFamily="34" charset="0"/>
                          <a:cs typeface="Times New Roman" panose="02020603050405020304" pitchFamily="18" charset="0"/>
                        </a:rPr>
                        <a:t>9</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cs typeface="Times New Roman" panose="02020603050405020304" pitchFamily="18" charset="0"/>
                        </a:rPr>
                        <a:t>18</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05894673"/>
                  </a:ext>
                </a:extLst>
              </a:tr>
              <a:tr h="487116">
                <a:tc>
                  <a:txBody>
                    <a:bodyPr/>
                    <a:lstStyle/>
                    <a:p>
                      <a:pPr marL="0" marR="0" algn="ctr">
                        <a:spcBef>
                          <a:spcPts val="0"/>
                        </a:spcBef>
                        <a:spcAft>
                          <a:spcPts val="0"/>
                        </a:spcAft>
                      </a:pPr>
                      <a:r>
                        <a:rPr lang="en-US" sz="2000">
                          <a:effectLst/>
                          <a:latin typeface="Verdana" pitchFamily="34" charset="0"/>
                          <a:ea typeface="Verdana" pitchFamily="34" charset="0"/>
                          <a:cs typeface="Times New Roman" panose="02020603050405020304" pitchFamily="18" charset="0"/>
                        </a:rPr>
                        <a:t>12</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45866" marR="45866" marT="0" marB="0" anchor="ctr">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18</a:t>
                      </a:r>
                      <a:endParaRPr lang="x-none" sz="2000" dirty="0">
                        <a:effectLst/>
                        <a:latin typeface="Verdana" pitchFamily="34" charset="0"/>
                        <a:ea typeface="Verdana" pitchFamily="34" charset="0"/>
                        <a:cs typeface="Times New Roman" panose="02020603050405020304" pitchFamily="18" charset="0"/>
                      </a:endParaRPr>
                    </a:p>
                  </a:txBody>
                  <a:tcPr marL="45866" marR="45866" marT="0" marB="0" anchor="ctr">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975516"/>
                  </a:ext>
                </a:extLst>
              </a:tr>
            </a:tbl>
          </a:graphicData>
        </a:graphic>
      </p:graphicFrame>
      <p:pic>
        <p:nvPicPr>
          <p:cNvPr id="16" name="Picture 15" descr="CMI Basic Home Safe with La Gard Digital Electronic Lock">
            <a:extLst>
              <a:ext uri="{FF2B5EF4-FFF2-40B4-BE49-F238E27FC236}">
                <a16:creationId xmlns:a16="http://schemas.microsoft.com/office/drawing/2014/main" id="{86372550-36F2-3D43-98B9-8C009CAFA2E0}"/>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bwMode="auto">
          <a:xfrm>
            <a:off x="5394507" y="3616781"/>
            <a:ext cx="2536825" cy="2091690"/>
          </a:xfrm>
          <a:prstGeom prst="rect">
            <a:avLst/>
          </a:prstGeom>
          <a:noFill/>
          <a:ln>
            <a:noFill/>
          </a:ln>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166</a:t>
            </a:r>
            <a:endParaRPr i="1" dirty="0">
              <a:latin typeface="Calibri"/>
              <a:ea typeface="Calibri"/>
              <a:cs typeface="Calibri"/>
              <a:sym typeface="Calibri"/>
            </a:endParaRPr>
          </a:p>
        </p:txBody>
      </p:sp>
      <p:pic>
        <p:nvPicPr>
          <p:cNvPr id="9" name="image9.png" descr="Icon&#10;&#10;Description automatically generated">
            <a:extLst>
              <a:ext uri="{FF2B5EF4-FFF2-40B4-BE49-F238E27FC236}">
                <a16:creationId xmlns:a16="http://schemas.microsoft.com/office/drawing/2014/main" id="{A0AA6A5A-24D8-EB4E-9410-D27842550BC8}"/>
              </a:ext>
            </a:extLst>
          </p:cNvPr>
          <p:cNvPicPr/>
          <p:nvPr/>
        </p:nvPicPr>
        <p:blipFill>
          <a:blip r:embed="rId4"/>
          <a:srcRect/>
          <a:stretch>
            <a:fillRect/>
          </a:stretch>
        </p:blipFill>
        <p:spPr>
          <a:xfrm>
            <a:off x="4937850" y="284992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13600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1" name="Rounded Rectangle 10">
            <a:extLst>
              <a:ext uri="{FF2B5EF4-FFF2-40B4-BE49-F238E27FC236}">
                <a16:creationId xmlns:a16="http://schemas.microsoft.com/office/drawing/2014/main" id="{5B735AC3-B39E-604D-B54D-79C4A36B61EF}"/>
              </a:ext>
            </a:extLst>
          </p:cNvPr>
          <p:cNvSpPr/>
          <p:nvPr/>
        </p:nvSpPr>
        <p:spPr>
          <a:xfrm>
            <a:off x="2546354" y="3266950"/>
            <a:ext cx="6822440" cy="2771140"/>
          </a:xfrm>
          <a:prstGeom prst="round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b="1"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Laws of Exponents</a:t>
            </a:r>
            <a:r>
              <a:rPr lang="en-US" sz="18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x-none" sz="1200" dirty="0">
              <a:ea typeface="Times New Roman" panose="02020603050405020304" pitchFamily="18" charset="0"/>
              <a:cs typeface="Times New Roman" panose="02020603050405020304" pitchFamily="18" charset="0"/>
            </a:endParaRPr>
          </a:p>
          <a:p>
            <a:pPr algn="ctr">
              <a:spcAft>
                <a:spcPts val="1000"/>
              </a:spcAft>
            </a:pPr>
            <a:r>
              <a:rPr lang="en-US"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x-none" sz="1200" dirty="0">
              <a:ea typeface="Times New Roman" panose="02020603050405020304" pitchFamily="18" charset="0"/>
              <a:cs typeface="Times New Roman" panose="02020603050405020304" pitchFamily="18" charset="0"/>
            </a:endParaRPr>
          </a:p>
        </p:txBody>
      </p:sp>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85676"/>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06286" y="203244"/>
            <a:ext cx="954671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4.10.2 Guided Practice: Applying Multiple Laws of Exponents to Algebraic Expressions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54275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166</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080656" y="1810929"/>
            <a:ext cx="897232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The laws of exponents are included in the bank below for you to reference as you complete the following problems.</a:t>
            </a:r>
          </a:p>
        </p:txBody>
      </p:sp>
      <p:pic>
        <p:nvPicPr>
          <p:cNvPr id="15" name="image9.png" descr="Icon&#10;&#10;Description automatically generated">
            <a:extLst>
              <a:ext uri="{FF2B5EF4-FFF2-40B4-BE49-F238E27FC236}">
                <a16:creationId xmlns:a16="http://schemas.microsoft.com/office/drawing/2014/main" id="{6DB42D22-D0CA-A94B-B8FC-CBBCE2DD3A9B}"/>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50490" y="374436"/>
            <a:ext cx="747430" cy="747430"/>
          </a:xfrm>
          <a:prstGeom prst="rect">
            <a:avLst/>
          </a:prstGeom>
          <a:ln/>
        </p:spPr>
      </p:pic>
      <p:graphicFrame>
        <p:nvGraphicFramePr>
          <p:cNvPr id="3" name="Table 2">
            <a:extLst>
              <a:ext uri="{FF2B5EF4-FFF2-40B4-BE49-F238E27FC236}">
                <a16:creationId xmlns:a16="http://schemas.microsoft.com/office/drawing/2014/main" id="{87F8C9BE-38F6-BE4F-A953-041431C40F7F}"/>
              </a:ext>
            </a:extLst>
          </p:cNvPr>
          <p:cNvGraphicFramePr>
            <a:graphicFrameLocks noGrp="1"/>
          </p:cNvGraphicFramePr>
          <p:nvPr>
            <p:extLst>
              <p:ext uri="{D42A27DB-BD31-4B8C-83A1-F6EECF244321}">
                <p14:modId xmlns:p14="http://schemas.microsoft.com/office/powerpoint/2010/main" val="3335321782"/>
              </p:ext>
            </p:extLst>
          </p:nvPr>
        </p:nvGraphicFramePr>
        <p:xfrm>
          <a:off x="2656865" y="3843174"/>
          <a:ext cx="6506845" cy="1920240"/>
        </p:xfrm>
        <a:graphic>
          <a:graphicData uri="http://schemas.openxmlformats.org/drawingml/2006/table">
            <a:tbl>
              <a:tblPr firstRow="1" firstCol="1" bandRow="1"/>
              <a:tblGrid>
                <a:gridCol w="2168525">
                  <a:extLst>
                    <a:ext uri="{9D8B030D-6E8A-4147-A177-3AD203B41FA5}">
                      <a16:colId xmlns:a16="http://schemas.microsoft.com/office/drawing/2014/main" val="3030240174"/>
                    </a:ext>
                  </a:extLst>
                </a:gridCol>
                <a:gridCol w="2169160">
                  <a:extLst>
                    <a:ext uri="{9D8B030D-6E8A-4147-A177-3AD203B41FA5}">
                      <a16:colId xmlns:a16="http://schemas.microsoft.com/office/drawing/2014/main" val="3396394861"/>
                    </a:ext>
                  </a:extLst>
                </a:gridCol>
                <a:gridCol w="2169160">
                  <a:extLst>
                    <a:ext uri="{9D8B030D-6E8A-4147-A177-3AD203B41FA5}">
                      <a16:colId xmlns:a16="http://schemas.microsoft.com/office/drawing/2014/main" val="2691777796"/>
                    </a:ext>
                  </a:extLst>
                </a:gridCol>
              </a:tblGrid>
              <a:tr h="640080">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itchFamily="34" charset="0"/>
                          <a:cs typeface="Times New Roman" panose="02020603050405020304" pitchFamily="18" charset="0"/>
                        </a:rPr>
                        <a:t>Product of Powers</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itchFamily="34" charset="0"/>
                          <a:cs typeface="Times New Roman" panose="02020603050405020304" pitchFamily="18" charset="0"/>
                        </a:rPr>
                        <a:t>Quotient of Powers</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0"/>
                        </a:spcAft>
                      </a:pPr>
                      <a:r>
                        <a:rPr lang="en-US" sz="2000">
                          <a:solidFill>
                            <a:srgbClr val="000000"/>
                          </a:solidFill>
                          <a:effectLst/>
                          <a:latin typeface="Verdana" panose="020B0604030504040204" pitchFamily="34" charset="0"/>
                          <a:ea typeface="Verdana" pitchFamily="34" charset="0"/>
                          <a:cs typeface="Times New Roman" panose="02020603050405020304" pitchFamily="18" charset="0"/>
                        </a:rPr>
                        <a:t>Power of a</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a:solidFill>
                            <a:srgbClr val="000000"/>
                          </a:solidFill>
                          <a:effectLst/>
                          <a:latin typeface="Verdana" panose="020B0604030504040204" pitchFamily="34" charset="0"/>
                          <a:ea typeface="Verdana" pitchFamily="34" charset="0"/>
                          <a:cs typeface="Times New Roman" panose="02020603050405020304" pitchFamily="18" charset="0"/>
                        </a:rPr>
                        <a:t>Power</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118287235"/>
                  </a:ext>
                </a:extLst>
              </a:tr>
              <a:tr h="640080">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itchFamily="34" charset="0"/>
                          <a:cs typeface="Times New Roman" panose="02020603050405020304" pitchFamily="18" charset="0"/>
                        </a:rPr>
                        <a:t>Power of a Product</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itchFamily="34" charset="0"/>
                          <a:cs typeface="Times New Roman" panose="02020603050405020304" pitchFamily="18" charset="0"/>
                        </a:rPr>
                        <a:t>Power of a Quotient</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itchFamily="34" charset="0"/>
                          <a:cs typeface="Times New Roman" panose="02020603050405020304" pitchFamily="18" charset="0"/>
                        </a:rPr>
                        <a:t>Negative Exponent</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456673330"/>
                  </a:ext>
                </a:extLst>
              </a:tr>
              <a:tr h="640080">
                <a:tc>
                  <a:txBody>
                    <a:bodyPr/>
                    <a:lstStyle/>
                    <a:p>
                      <a:pPr marL="0" marR="0" algn="ctr">
                        <a:spcBef>
                          <a:spcPts val="0"/>
                        </a:spcBef>
                        <a:spcAft>
                          <a:spcPts val="0"/>
                        </a:spcAft>
                      </a:pPr>
                      <a:r>
                        <a:rPr lang="en-US" sz="2000">
                          <a:solidFill>
                            <a:srgbClr val="000000"/>
                          </a:solidFill>
                          <a:effectLst/>
                          <a:latin typeface="Verdana" panose="020B0604030504040204" pitchFamily="34" charset="0"/>
                          <a:ea typeface="Verdana" pitchFamily="34" charset="0"/>
                          <a:cs typeface="Times New Roman" panose="02020603050405020304" pitchFamily="18" charset="0"/>
                        </a:rPr>
                        <a:t>Identity Exponent</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0"/>
                        </a:spcAft>
                      </a:pPr>
                      <a:r>
                        <a:rPr lang="en-US" sz="2000">
                          <a:solidFill>
                            <a:srgbClr val="000000"/>
                          </a:solidFill>
                          <a:effectLst/>
                          <a:latin typeface="Verdana" panose="020B0604030504040204" pitchFamily="34" charset="0"/>
                          <a:ea typeface="Verdana" pitchFamily="34" charset="0"/>
                          <a:cs typeface="Times New Roman" panose="02020603050405020304" pitchFamily="18" charset="0"/>
                        </a:rPr>
                        <a:t>Zero </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a:solidFill>
                            <a:srgbClr val="000000"/>
                          </a:solidFill>
                          <a:effectLst/>
                          <a:latin typeface="Verdana" panose="020B0604030504040204" pitchFamily="34" charset="0"/>
                          <a:ea typeface="Verdana" pitchFamily="34" charset="0"/>
                          <a:cs typeface="Times New Roman" panose="02020603050405020304" pitchFamily="18" charset="0"/>
                        </a:rPr>
                        <a:t>Exponent</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450741167"/>
                  </a:ext>
                </a:extLst>
              </a:tr>
            </a:tbl>
          </a:graphicData>
        </a:graphic>
      </p:graphicFrame>
    </p:spTree>
    <p:extLst>
      <p:ext uri="{BB962C8B-B14F-4D97-AF65-F5344CB8AC3E}">
        <p14:creationId xmlns:p14="http://schemas.microsoft.com/office/powerpoint/2010/main" val="86611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166</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889B13CF-7799-4D4C-A21A-ADC21E179E83}"/>
                  </a:ext>
                </a:extLst>
              </p:cNvPr>
              <p:cNvSpPr/>
              <p:nvPr/>
            </p:nvSpPr>
            <p:spPr>
              <a:xfrm>
                <a:off x="1068779" y="458531"/>
                <a:ext cx="8984197" cy="3785652"/>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Miguel and Gia generated the same expression equivalent to </a:t>
                </a:r>
                <a14:m>
                  <m:oMath xmlns:m="http://schemas.openxmlformats.org/officeDocument/2006/math">
                    <m:sSup>
                      <m:sSupPr>
                        <m:ctrlPr>
                          <a:rPr lang="en-US" sz="2000" i="1" dirty="0">
                            <a:latin typeface="Cambria Math" panose="02040503050406030204" pitchFamily="18" charset="0"/>
                            <a:ea typeface="Verdana" panose="020B0604030504040204" pitchFamily="34" charset="0"/>
                            <a:cs typeface="Verdana" panose="020B0604030504040204" pitchFamily="34" charset="0"/>
                          </a:rPr>
                        </m:ctrlPr>
                      </m:sSupPr>
                      <m:e>
                        <m:d>
                          <m:dPr>
                            <m:ctrlPr>
                              <a:rPr lang="en-US" sz="2000" i="1" dirty="0">
                                <a:latin typeface="Cambria Math" panose="02040503050406030204" pitchFamily="18" charset="0"/>
                                <a:ea typeface="Verdana" panose="020B0604030504040204" pitchFamily="34" charset="0"/>
                                <a:cs typeface="Verdana" panose="020B0604030504040204" pitchFamily="34" charset="0"/>
                              </a:rPr>
                            </m:ctrlPr>
                          </m:dPr>
                          <m:e>
                            <m:sSup>
                              <m:sSupPr>
                                <m:ctrlPr>
                                  <a:rPr lang="en-US" sz="2000" i="1" dirty="0">
                                    <a:latin typeface="Cambria Math" panose="02040503050406030204" pitchFamily="18" charset="0"/>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𝑟</m:t>
                                </m:r>
                              </m:e>
                              <m:sup>
                                <m:r>
                                  <a:rPr lang="es-ES" sz="2000" i="1" dirty="0">
                                    <a:latin typeface="Cambria Math" panose="02040503050406030204" pitchFamily="18" charset="0"/>
                                    <a:ea typeface="Verdana" panose="020B0604030504040204" pitchFamily="34" charset="0"/>
                                    <a:cs typeface="Verdana" panose="020B0604030504040204" pitchFamily="34" charset="0"/>
                                  </a:rPr>
                                  <m:t>3</m:t>
                                </m:r>
                              </m:sup>
                            </m:sSup>
                            <m:r>
                              <a:rPr lang="es-ES" sz="2000" i="1" dirty="0">
                                <a:latin typeface="Cambria Math" panose="02040503050406030204" pitchFamily="18" charset="0"/>
                                <a:ea typeface="Verdana" panose="020B0604030504040204" pitchFamily="34" charset="0"/>
                                <a:cs typeface="Verdana" panose="020B0604030504040204" pitchFamily="34" charset="0"/>
                              </a:rPr>
                              <m:t>·</m:t>
                            </m:r>
                            <m:sSup>
                              <m:sSupPr>
                                <m:ctrlPr>
                                  <a:rPr lang="en-US" sz="2000" i="1" dirty="0">
                                    <a:latin typeface="Cambria Math" panose="02040503050406030204" pitchFamily="18" charset="0"/>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𝑟</m:t>
                                </m:r>
                              </m:e>
                              <m:sup>
                                <m:r>
                                  <a:rPr lang="es-ES" sz="2000" i="1" dirty="0">
                                    <a:latin typeface="Cambria Math" panose="02040503050406030204" pitchFamily="18" charset="0"/>
                                    <a:ea typeface="Verdana" panose="020B0604030504040204" pitchFamily="34" charset="0"/>
                                    <a:cs typeface="Verdana" panose="020B0604030504040204" pitchFamily="34" charset="0"/>
                                  </a:rPr>
                                  <m:t>2</m:t>
                                </m:r>
                              </m:sup>
                            </m:sSup>
                          </m:e>
                        </m:d>
                      </m:e>
                      <m:sup>
                        <m:r>
                          <a:rPr lang="es-ES" sz="2000" i="1" dirty="0">
                            <a:latin typeface="Cambria Math" panose="02040503050406030204" pitchFamily="18" charset="0"/>
                            <a:ea typeface="Verdana" panose="020B0604030504040204" pitchFamily="34" charset="0"/>
                            <a:cs typeface="Verdana" panose="020B0604030504040204" pitchFamily="34" charset="0"/>
                          </a:rPr>
                          <m:t>2</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They both applied laws of exponents, but in different ways. Their work is shown.</a:t>
                </a: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For each student, identify which laws of exponents they applied and in what order.</a:t>
                </a:r>
              </a:p>
            </p:txBody>
          </p:sp>
        </mc:Choice>
        <mc:Fallback>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1068779" y="458531"/>
                <a:ext cx="8984197" cy="3785652"/>
              </a:xfrm>
              <a:prstGeom prst="rect">
                <a:avLst/>
              </a:prstGeom>
              <a:blipFill>
                <a:blip r:embed="rId4"/>
                <a:stretch>
                  <a:fillRect l="-746" t="-1127" b="-193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0179DA83-34C9-7843-968B-16BBB1E1D152}"/>
                  </a:ext>
                </a:extLst>
              </p:cNvPr>
              <p:cNvGraphicFramePr>
                <a:graphicFrameLocks noGrp="1"/>
              </p:cNvGraphicFramePr>
              <p:nvPr>
                <p:extLst>
                  <p:ext uri="{D42A27DB-BD31-4B8C-83A1-F6EECF244321}">
                    <p14:modId xmlns:p14="http://schemas.microsoft.com/office/powerpoint/2010/main" val="1049167830"/>
                  </p:ext>
                </p:extLst>
              </p:nvPr>
            </p:nvGraphicFramePr>
            <p:xfrm>
              <a:off x="2698434" y="1526414"/>
              <a:ext cx="5724886" cy="1834071"/>
            </p:xfrm>
            <a:graphic>
              <a:graphicData uri="http://schemas.openxmlformats.org/drawingml/2006/table">
                <a:tbl>
                  <a:tblPr firstRow="1" firstCol="1" bandRow="1"/>
                  <a:tblGrid>
                    <a:gridCol w="2862443">
                      <a:extLst>
                        <a:ext uri="{9D8B030D-6E8A-4147-A177-3AD203B41FA5}">
                          <a16:colId xmlns:a16="http://schemas.microsoft.com/office/drawing/2014/main" val="2533407462"/>
                        </a:ext>
                      </a:extLst>
                    </a:gridCol>
                    <a:gridCol w="2862443">
                      <a:extLst>
                        <a:ext uri="{9D8B030D-6E8A-4147-A177-3AD203B41FA5}">
                          <a16:colId xmlns:a16="http://schemas.microsoft.com/office/drawing/2014/main" val="320603815"/>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Miguel</a:t>
                          </a:r>
                          <a:endParaRPr lang="x-none" sz="2000">
                            <a:effectLst/>
                            <a:latin typeface="Verdana" pitchFamily="34" charset="0"/>
                            <a:ea typeface="Verdana" pitchFamily="34" charset="0"/>
                            <a:cs typeface="Times New Roman" panose="02020603050405020304" pitchFamily="18" charset="0"/>
                          </a:endParaRPr>
                        </a:p>
                      </a:txBody>
                      <a:tcPr marL="83598" marR="835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err="1">
                              <a:solidFill>
                                <a:srgbClr val="000000"/>
                              </a:solidFill>
                              <a:effectLst/>
                              <a:latin typeface="Verdana" panose="020B0604030504040204" pitchFamily="34" charset="0"/>
                              <a:ea typeface="Verdana" pitchFamily="34" charset="0"/>
                              <a:cs typeface="Times New Roman" panose="02020603050405020304" pitchFamily="18" charset="0"/>
                            </a:rPr>
                            <a:t>Gia</a:t>
                          </a:r>
                          <a:endParaRPr lang="x-none" sz="2000">
                            <a:effectLst/>
                            <a:latin typeface="Verdana" pitchFamily="34" charset="0"/>
                            <a:ea typeface="Verdana" pitchFamily="34" charset="0"/>
                            <a:cs typeface="Times New Roman" panose="02020603050405020304" pitchFamily="18" charset="0"/>
                          </a:endParaRPr>
                        </a:p>
                      </a:txBody>
                      <a:tcPr marL="83598" marR="835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334970147"/>
                      </a:ext>
                    </a:extLst>
                  </a:tr>
                  <a:tr h="457200">
                    <a:tc>
                      <a:txBody>
                        <a:bodyPr/>
                        <a:lstStyle/>
                        <a:p>
                          <a:pPr marL="0" marR="0" algn="ctr">
                            <a:lnSpc>
                              <a:spcPct val="150000"/>
                            </a:lnSpc>
                            <a:spcBef>
                              <a:spcPts val="60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𝑟</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𝑟</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𝑟</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𝑟</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sup>
                                </m:sSup>
                              </m:oMath>
                            </m:oMathPara>
                          </a14:m>
                          <a:endParaRPr lang="x-none" sz="2000">
                            <a:effectLst/>
                            <a:latin typeface="Verdana" pitchFamily="34" charset="0"/>
                            <a:ea typeface="Verdana" pitchFamily="34" charset="0"/>
                            <a:cs typeface="Times New Roman" panose="02020603050405020304" pitchFamily="18" charset="0"/>
                          </a:endParaRPr>
                        </a:p>
                      </a:txBody>
                      <a:tcPr marL="83598" marR="835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60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𝑟</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𝑟</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dirty="0">
                            <a:effectLst/>
                            <a:latin typeface="Verdana" pitchFamily="34" charset="0"/>
                            <a:ea typeface="Verdana" pitchFamily="34" charset="0"/>
                            <a:cs typeface="Times New Roman" panose="02020603050405020304" pitchFamily="18"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𝑟</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𝑟</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e>
                                </m:d>
                              </m:oMath>
                            </m:oMathPara>
                          </a14:m>
                          <a:endParaRPr lang="x-none" sz="2000" dirty="0">
                            <a:effectLst/>
                            <a:latin typeface="Verdana" pitchFamily="34" charset="0"/>
                            <a:ea typeface="Verdana" pitchFamily="34" charset="0"/>
                            <a:cs typeface="Times New Roman" panose="02020603050405020304" pitchFamily="18"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𝑟</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sup>
                                </m:sSup>
                              </m:oMath>
                            </m:oMathPara>
                          </a14:m>
                          <a:endParaRPr lang="x-none" sz="2000" dirty="0">
                            <a:effectLst/>
                            <a:latin typeface="Verdana" pitchFamily="34" charset="0"/>
                            <a:ea typeface="Verdana" pitchFamily="34" charset="0"/>
                            <a:cs typeface="Times New Roman" panose="02020603050405020304" pitchFamily="18" charset="0"/>
                          </a:endParaRPr>
                        </a:p>
                      </a:txBody>
                      <a:tcPr marL="83598" marR="835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5790252"/>
                      </a:ext>
                    </a:extLst>
                  </a:tr>
                </a:tbl>
              </a:graphicData>
            </a:graphic>
          </p:graphicFrame>
        </mc:Choice>
        <mc:Fallback>
          <p:graphicFrame>
            <p:nvGraphicFramePr>
              <p:cNvPr id="3" name="Table 2">
                <a:extLst>
                  <a:ext uri="{FF2B5EF4-FFF2-40B4-BE49-F238E27FC236}">
                    <a16:creationId xmlns:a16="http://schemas.microsoft.com/office/drawing/2014/main" id="{0179DA83-34C9-7843-968B-16BBB1E1D152}"/>
                  </a:ext>
                </a:extLst>
              </p:cNvPr>
              <p:cNvGraphicFramePr>
                <a:graphicFrameLocks noGrp="1"/>
              </p:cNvGraphicFramePr>
              <p:nvPr>
                <p:extLst>
                  <p:ext uri="{D42A27DB-BD31-4B8C-83A1-F6EECF244321}">
                    <p14:modId xmlns:p14="http://schemas.microsoft.com/office/powerpoint/2010/main" val="1049167830"/>
                  </p:ext>
                </p:extLst>
              </p:nvPr>
            </p:nvGraphicFramePr>
            <p:xfrm>
              <a:off x="2698434" y="1526414"/>
              <a:ext cx="5724886" cy="1834071"/>
            </p:xfrm>
            <a:graphic>
              <a:graphicData uri="http://schemas.openxmlformats.org/drawingml/2006/table">
                <a:tbl>
                  <a:tblPr firstRow="1" firstCol="1" bandRow="1"/>
                  <a:tblGrid>
                    <a:gridCol w="2862443">
                      <a:extLst>
                        <a:ext uri="{9D8B030D-6E8A-4147-A177-3AD203B41FA5}">
                          <a16:colId xmlns:a16="http://schemas.microsoft.com/office/drawing/2014/main" val="2533407462"/>
                        </a:ext>
                      </a:extLst>
                    </a:gridCol>
                    <a:gridCol w="2862443">
                      <a:extLst>
                        <a:ext uri="{9D8B030D-6E8A-4147-A177-3AD203B41FA5}">
                          <a16:colId xmlns:a16="http://schemas.microsoft.com/office/drawing/2014/main" val="320603815"/>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Miguel</a:t>
                          </a:r>
                          <a:endParaRPr lang="x-none" sz="2000">
                            <a:effectLst/>
                            <a:latin typeface="Verdana" pitchFamily="34" charset="0"/>
                            <a:ea typeface="Verdana" pitchFamily="34" charset="0"/>
                            <a:cs typeface="Times New Roman" panose="02020603050405020304" pitchFamily="18" charset="0"/>
                          </a:endParaRPr>
                        </a:p>
                      </a:txBody>
                      <a:tcPr marL="83598" marR="835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err="1">
                              <a:solidFill>
                                <a:srgbClr val="000000"/>
                              </a:solidFill>
                              <a:effectLst/>
                              <a:latin typeface="Verdana" panose="020B0604030504040204" pitchFamily="34" charset="0"/>
                              <a:ea typeface="Verdana" pitchFamily="34" charset="0"/>
                              <a:cs typeface="Times New Roman" panose="02020603050405020304" pitchFamily="18" charset="0"/>
                            </a:rPr>
                            <a:t>Gia</a:t>
                          </a:r>
                          <a:endParaRPr lang="x-none" sz="2000">
                            <a:effectLst/>
                            <a:latin typeface="Verdana" pitchFamily="34" charset="0"/>
                            <a:ea typeface="Verdana" pitchFamily="34" charset="0"/>
                            <a:cs typeface="Times New Roman" panose="02020603050405020304" pitchFamily="18" charset="0"/>
                          </a:endParaRPr>
                        </a:p>
                      </a:txBody>
                      <a:tcPr marL="83598" marR="835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334970147"/>
                      </a:ext>
                    </a:extLst>
                  </a:tr>
                  <a:tr h="1376871">
                    <a:tc>
                      <a:txBody>
                        <a:bodyPr/>
                        <a:lstStyle/>
                        <a:p>
                          <a:endParaRPr lang="en-US"/>
                        </a:p>
                      </a:txBody>
                      <a:tcPr marL="83598" marR="835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13" t="-33480" r="-100426" b="-881"/>
                          </a:stretch>
                        </a:blipFill>
                      </a:tcPr>
                    </a:tc>
                    <a:tc>
                      <a:txBody>
                        <a:bodyPr/>
                        <a:lstStyle/>
                        <a:p>
                          <a:endParaRPr lang="en-US"/>
                        </a:p>
                      </a:txBody>
                      <a:tcPr marL="83598" marR="8359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213" t="-33480" r="-426" b="-881"/>
                          </a:stretch>
                        </a:blipFill>
                      </a:tcPr>
                    </a:tc>
                    <a:extLst>
                      <a:ext uri="{0D108BD9-81ED-4DB2-BD59-A6C34878D82A}">
                        <a16:rowId xmlns:a16="http://schemas.microsoft.com/office/drawing/2014/main" val="4075790252"/>
                      </a:ext>
                    </a:extLst>
                  </a:tr>
                </a:tbl>
              </a:graphicData>
            </a:graphic>
          </p:graphicFrame>
        </mc:Fallback>
      </mc:AlternateContent>
      <p:graphicFrame>
        <p:nvGraphicFramePr>
          <p:cNvPr id="7" name="Table 6">
            <a:extLst>
              <a:ext uri="{FF2B5EF4-FFF2-40B4-BE49-F238E27FC236}">
                <a16:creationId xmlns:a16="http://schemas.microsoft.com/office/drawing/2014/main" id="{5BB3D4CA-AD9A-8343-B3D5-ED1EF051E365}"/>
              </a:ext>
            </a:extLst>
          </p:cNvPr>
          <p:cNvGraphicFramePr>
            <a:graphicFrameLocks noGrp="1"/>
          </p:cNvGraphicFramePr>
          <p:nvPr>
            <p:extLst>
              <p:ext uri="{D42A27DB-BD31-4B8C-83A1-F6EECF244321}">
                <p14:modId xmlns:p14="http://schemas.microsoft.com/office/powerpoint/2010/main" val="4067588069"/>
              </p:ext>
            </p:extLst>
          </p:nvPr>
        </p:nvGraphicFramePr>
        <p:xfrm>
          <a:off x="2732053" y="4314671"/>
          <a:ext cx="6727893" cy="2072640"/>
        </p:xfrm>
        <a:graphic>
          <a:graphicData uri="http://schemas.openxmlformats.org/drawingml/2006/table">
            <a:tbl>
              <a:tblPr firstRow="1" firstCol="1" bandRow="1"/>
              <a:tblGrid>
                <a:gridCol w="2242631">
                  <a:extLst>
                    <a:ext uri="{9D8B030D-6E8A-4147-A177-3AD203B41FA5}">
                      <a16:colId xmlns:a16="http://schemas.microsoft.com/office/drawing/2014/main" val="938104833"/>
                    </a:ext>
                  </a:extLst>
                </a:gridCol>
                <a:gridCol w="2242631">
                  <a:extLst>
                    <a:ext uri="{9D8B030D-6E8A-4147-A177-3AD203B41FA5}">
                      <a16:colId xmlns:a16="http://schemas.microsoft.com/office/drawing/2014/main" val="15525263"/>
                    </a:ext>
                  </a:extLst>
                </a:gridCol>
                <a:gridCol w="2242631">
                  <a:extLst>
                    <a:ext uri="{9D8B030D-6E8A-4147-A177-3AD203B41FA5}">
                      <a16:colId xmlns:a16="http://schemas.microsoft.com/office/drawing/2014/main" val="676074143"/>
                    </a:ext>
                  </a:extLst>
                </a:gridCol>
              </a:tblGrid>
              <a:tr h="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Order</a:t>
                      </a: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 of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Laws Applied</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Miguel</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err="1">
                          <a:solidFill>
                            <a:srgbClr val="000000"/>
                          </a:solidFill>
                          <a:effectLst/>
                          <a:latin typeface="Verdana" panose="020B0604030504040204" pitchFamily="34" charset="0"/>
                          <a:ea typeface="Verdana" pitchFamily="34" charset="0"/>
                          <a:cs typeface="Times New Roman" panose="02020603050405020304" pitchFamily="18" charset="0"/>
                        </a:rPr>
                        <a:t>Gia</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50817209"/>
                  </a:ext>
                </a:extLst>
              </a:tr>
              <a:tr h="640080">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First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5045122"/>
                  </a:ext>
                </a:extLst>
              </a:tr>
              <a:tr h="640080">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Second</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1058585"/>
                  </a:ext>
                </a:extLst>
              </a:tr>
            </a:tbl>
          </a:graphicData>
        </a:graphic>
      </p:graphicFrame>
    </p:spTree>
    <p:extLst>
      <p:ext uri="{BB962C8B-B14F-4D97-AF65-F5344CB8AC3E}">
        <p14:creationId xmlns:p14="http://schemas.microsoft.com/office/powerpoint/2010/main" val="168184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167</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889B13CF-7799-4D4C-A21A-ADC21E179E83}"/>
                  </a:ext>
                </a:extLst>
              </p:cNvPr>
              <p:cNvSpPr/>
              <p:nvPr/>
            </p:nvSpPr>
            <p:spPr>
              <a:xfrm>
                <a:off x="1080655" y="377849"/>
                <a:ext cx="8972321" cy="2206438"/>
              </a:xfrm>
              <a:prstGeom prst="rect">
                <a:avLst/>
              </a:prstGeom>
            </p:spPr>
            <p:txBody>
              <a:bodyPr wrap="square">
                <a:spAutoFit/>
              </a:bodyPr>
              <a:lstStyle/>
              <a:p>
                <a:pPr marL="9144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with your partner which strategy you prefer. Summarize your discussion.</a:t>
                </a:r>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a:p>
                <a:r>
                  <a:rPr lang="en-US" sz="2000" i="1" dirty="0">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a:p>
                <a:r>
                  <a:rPr lang="en-US" sz="2000" i="1" dirty="0">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Jack and Angel rewrote the expression </a:t>
                </a:r>
                <a14:m>
                  <m:oMath xmlns:m="http://schemas.openxmlformats.org/officeDocument/2006/math">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latin typeface="Cambria Math" panose="02040503050406030204" pitchFamily="18" charset="0"/>
                                        <a:ea typeface="Times New Roman" panose="02020603050405020304" pitchFamily="18" charset="0"/>
                                        <a:cs typeface="Times New Roman" panose="02020603050405020304" pitchFamily="18" charset="0"/>
                                      </a:rPr>
                                      <m:t>3</m:t>
                                    </m:r>
                                  </m:sup>
                                </m:sSup>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latin typeface="Cambria Math" panose="02040503050406030204" pitchFamily="18" charset="0"/>
                                        <a:ea typeface="Times New Roman" panose="02020603050405020304" pitchFamily="18" charset="0"/>
                                        <a:cs typeface="Times New Roman" panose="02020603050405020304" pitchFamily="18" charset="0"/>
                                      </a:rPr>
                                      <m:t>−4</m:t>
                                    </m:r>
                                  </m:sup>
                                </m:sSup>
                              </m:num>
                              <m:den>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latin typeface="Cambria Math" panose="02040503050406030204" pitchFamily="18" charset="0"/>
                                        <a:ea typeface="Times New Roman" panose="02020603050405020304" pitchFamily="18" charset="0"/>
                                        <a:cs typeface="Times New Roman" panose="02020603050405020304" pitchFamily="18" charset="0"/>
                                      </a:rPr>
                                      <m:t>2</m:t>
                                    </m:r>
                                  </m:sup>
                                </m:sSup>
                              </m:den>
                            </m:f>
                          </m:e>
                        </m:d>
                      </m:e>
                      <m:sup>
                        <m:r>
                          <a:rPr lang="en-US" sz="2000" i="1">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 different ways and arrived at different expressions. Their work is shown.</a:t>
                </a:r>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1080655" y="377849"/>
                <a:ext cx="8972321" cy="2206438"/>
              </a:xfrm>
              <a:prstGeom prst="rect">
                <a:avLst/>
              </a:prstGeom>
              <a:blipFill>
                <a:blip r:embed="rId4"/>
                <a:stretch>
                  <a:fillRect l="-747" t="-1934" b="-38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29FCFBB-75A8-7745-8E83-ACEEC268021C}"/>
                  </a:ext>
                </a:extLst>
              </p:cNvPr>
              <p:cNvGraphicFramePr>
                <a:graphicFrameLocks noGrp="1"/>
              </p:cNvGraphicFramePr>
              <p:nvPr>
                <p:extLst>
                  <p:ext uri="{D42A27DB-BD31-4B8C-83A1-F6EECF244321}">
                    <p14:modId xmlns:p14="http://schemas.microsoft.com/office/powerpoint/2010/main" val="3959807717"/>
                  </p:ext>
                </p:extLst>
              </p:nvPr>
            </p:nvGraphicFramePr>
            <p:xfrm>
              <a:off x="3890278" y="3095920"/>
              <a:ext cx="4432524" cy="3324733"/>
            </p:xfrm>
            <a:graphic>
              <a:graphicData uri="http://schemas.openxmlformats.org/drawingml/2006/table">
                <a:tbl>
                  <a:tblPr firstRow="1" firstCol="1" bandRow="1"/>
                  <a:tblGrid>
                    <a:gridCol w="2216262">
                      <a:extLst>
                        <a:ext uri="{9D8B030D-6E8A-4147-A177-3AD203B41FA5}">
                          <a16:colId xmlns:a16="http://schemas.microsoft.com/office/drawing/2014/main" val="2593373873"/>
                        </a:ext>
                      </a:extLst>
                    </a:gridCol>
                    <a:gridCol w="2216262">
                      <a:extLst>
                        <a:ext uri="{9D8B030D-6E8A-4147-A177-3AD203B41FA5}">
                          <a16:colId xmlns:a16="http://schemas.microsoft.com/office/drawing/2014/main" val="4079028451"/>
                        </a:ext>
                      </a:extLst>
                    </a:gridCol>
                  </a:tblGrid>
                  <a:tr h="27029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Jack</a:t>
                          </a:r>
                          <a:endParaRPr lang="x-none" sz="2000">
                            <a:effectLst/>
                            <a:latin typeface="Verdana" pitchFamily="34" charset="0"/>
                            <a:ea typeface="Verdana" pitchFamily="34" charset="0"/>
                            <a:cs typeface="Times New Roman" panose="02020603050405020304" pitchFamily="18" charset="0"/>
                          </a:endParaRPr>
                        </a:p>
                      </a:txBody>
                      <a:tcPr marL="64726" marR="64726"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Times New Roman" panose="02020603050405020304" pitchFamily="18" charset="0"/>
                            </a:rPr>
                            <a:t>Angel</a:t>
                          </a:r>
                          <a:endParaRPr lang="x-none" sz="2000">
                            <a:effectLst/>
                            <a:latin typeface="Verdana" pitchFamily="34" charset="0"/>
                            <a:ea typeface="Verdana" pitchFamily="34" charset="0"/>
                            <a:cs typeface="Times New Roman" panose="02020603050405020304" pitchFamily="18" charset="0"/>
                          </a:endParaRPr>
                        </a:p>
                      </a:txBody>
                      <a:tcPr marL="64726" marR="64726"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640577480"/>
                      </a:ext>
                    </a:extLst>
                  </a:tr>
                  <a:tr h="457200">
                    <a:tc>
                      <a:txBody>
                        <a:bodyPr/>
                        <a:lstStyle/>
                        <a:p>
                          <a:pPr marL="0" marR="0" algn="ctr">
                            <a:spcBef>
                              <a:spcPts val="0"/>
                            </a:spcBef>
                            <a:spcAft>
                              <a:spcPts val="2000"/>
                            </a:spcAft>
                          </a:pPr>
                          <a14:m>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n-US" sz="2000" dirty="0">
                              <a:effectLst/>
                              <a:latin typeface="Verdana"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360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US" sz="2000" dirty="0">
                            <a:effectLst/>
                            <a:latin typeface="Verdana" pitchFamily="34" charset="0"/>
                            <a:ea typeface="Times New Roman" panose="02020603050405020304" pitchFamily="18" charset="0"/>
                            <a:cs typeface="Times New Roman" panose="02020603050405020304" pitchFamily="18" charset="0"/>
                          </a:endParaRPr>
                        </a:p>
                        <a:p>
                          <a:pPr marL="0" marR="0" algn="ctr">
                            <a:spcBef>
                              <a:spcPts val="0"/>
                            </a:spcBef>
                            <a:spcAft>
                              <a:spcPts val="200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oMath>
                            </m:oMathPara>
                          </a14:m>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2000"/>
                            </a:spcAft>
                          </a:pPr>
                          <a14:m>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num>
                                <m:den>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den>
                              </m:f>
                            </m:oMath>
                          </a14:m>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L="64726" marR="64726"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2000"/>
                            </a:spcAft>
                          </a:pPr>
                          <a14:m>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p>
                          <a:pPr marL="37465" marR="0" algn="ctr">
                            <a:spcBef>
                              <a:spcPts val="0"/>
                            </a:spcBef>
                            <a:spcAft>
                              <a:spcPts val="2000"/>
                            </a:spcAft>
                          </a:pPr>
                          <a14:m>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sup>
                                  </m:sSup>
                                </m:num>
                                <m:den>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den>
                              </m:f>
                            </m:oMath>
                          </a14:m>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p>
                          <a:pPr marL="37465" marR="0" algn="ctr">
                            <a:spcBef>
                              <a:spcPts val="0"/>
                            </a:spcBef>
                            <a:spcAft>
                              <a:spcPts val="200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−12</m:t>
                                    </m:r>
                                  </m:sup>
                                </m:sSup>
                              </m:oMath>
                            </m:oMathPara>
                          </a14:m>
                          <a:endParaRPr lang="x-none" sz="2000" dirty="0">
                            <a:effectLst/>
                            <a:latin typeface="Verdana" pitchFamily="34" charset="0"/>
                            <a:ea typeface="Verdana" pitchFamily="34" charset="0"/>
                            <a:cs typeface="Times New Roman" panose="02020603050405020304" pitchFamily="18" charset="0"/>
                          </a:endParaRPr>
                        </a:p>
                        <a:p>
                          <a:pPr marL="37465" marR="0" algn="ctr">
                            <a:spcBef>
                              <a:spcPts val="0"/>
                            </a:spcBef>
                            <a:spcAft>
                              <a:spcPts val="2000"/>
                            </a:spcAft>
                          </a:pPr>
                          <a14:m>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num>
                                <m:den>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12</m:t>
                                      </m:r>
                                    </m:sup>
                                  </m:sSup>
                                </m:den>
                              </m:f>
                            </m:oMath>
                          </a14:m>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L="64726" marR="64726"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6954527"/>
                      </a:ext>
                    </a:extLst>
                  </a:tr>
                </a:tbl>
              </a:graphicData>
            </a:graphic>
          </p:graphicFrame>
        </mc:Choice>
        <mc:Fallback xmlns="">
          <p:graphicFrame>
            <p:nvGraphicFramePr>
              <p:cNvPr id="3" name="Table 2">
                <a:extLst>
                  <a:ext uri="{FF2B5EF4-FFF2-40B4-BE49-F238E27FC236}">
                    <a16:creationId xmlns:a16="http://schemas.microsoft.com/office/drawing/2014/main" id="{029FCFBB-75A8-7745-8E83-ACEEC268021C}"/>
                  </a:ext>
                </a:extLst>
              </p:cNvPr>
              <p:cNvGraphicFramePr>
                <a:graphicFrameLocks noGrp="1"/>
              </p:cNvGraphicFramePr>
              <p:nvPr>
                <p:extLst>
                  <p:ext uri="{D42A27DB-BD31-4B8C-83A1-F6EECF244321}">
                    <p14:modId xmlns:p14="http://schemas.microsoft.com/office/powerpoint/2010/main" val="3959807717"/>
                  </p:ext>
                </p:extLst>
              </p:nvPr>
            </p:nvGraphicFramePr>
            <p:xfrm>
              <a:off x="3890278" y="3095920"/>
              <a:ext cx="4432524" cy="3324733"/>
            </p:xfrm>
            <a:graphic>
              <a:graphicData uri="http://schemas.openxmlformats.org/drawingml/2006/table">
                <a:tbl>
                  <a:tblPr firstRow="1" firstCol="1" bandRow="1"/>
                  <a:tblGrid>
                    <a:gridCol w="2216262">
                      <a:extLst>
                        <a:ext uri="{9D8B030D-6E8A-4147-A177-3AD203B41FA5}">
                          <a16:colId xmlns:a16="http://schemas.microsoft.com/office/drawing/2014/main" val="2593373873"/>
                        </a:ext>
                      </a:extLst>
                    </a:gridCol>
                    <a:gridCol w="2216262">
                      <a:extLst>
                        <a:ext uri="{9D8B030D-6E8A-4147-A177-3AD203B41FA5}">
                          <a16:colId xmlns:a16="http://schemas.microsoft.com/office/drawing/2014/main" val="4079028451"/>
                        </a:ext>
                      </a:extLst>
                    </a:gridCol>
                  </a:tblGrid>
                  <a:tr h="48768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Jack</a:t>
                          </a:r>
                          <a:endParaRPr lang="x-none" sz="2000">
                            <a:effectLst/>
                            <a:latin typeface="Verdana" pitchFamily="34" charset="0"/>
                            <a:ea typeface="Verdana" pitchFamily="34" charset="0"/>
                            <a:cs typeface="Times New Roman" panose="02020603050405020304" pitchFamily="18" charset="0"/>
                          </a:endParaRPr>
                        </a:p>
                      </a:txBody>
                      <a:tcPr marL="64726" marR="64726"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Times New Roman" panose="02020603050405020304" pitchFamily="18" charset="0"/>
                            </a:rPr>
                            <a:t>Angel</a:t>
                          </a:r>
                          <a:endParaRPr lang="x-none" sz="2000">
                            <a:effectLst/>
                            <a:latin typeface="Verdana" pitchFamily="34" charset="0"/>
                            <a:ea typeface="Verdana" pitchFamily="34" charset="0"/>
                            <a:cs typeface="Times New Roman" panose="02020603050405020304" pitchFamily="18" charset="0"/>
                          </a:endParaRPr>
                        </a:p>
                      </a:txBody>
                      <a:tcPr marL="64726" marR="64726"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640577480"/>
                      </a:ext>
                    </a:extLst>
                  </a:tr>
                  <a:tr h="2837053">
                    <a:tc>
                      <a:txBody>
                        <a:bodyPr/>
                        <a:lstStyle/>
                        <a:p>
                          <a:endParaRPr lang="en-US"/>
                        </a:p>
                      </a:txBody>
                      <a:tcPr marL="64726" marR="64726"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71" t="-17857" r="-100571" b="-446"/>
                          </a:stretch>
                        </a:blipFill>
                      </a:tcPr>
                    </a:tc>
                    <a:tc>
                      <a:txBody>
                        <a:bodyPr/>
                        <a:lstStyle/>
                        <a:p>
                          <a:endParaRPr lang="en-US"/>
                        </a:p>
                      </a:txBody>
                      <a:tcPr marL="64726" marR="64726"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571" t="-17857" r="-571" b="-446"/>
                          </a:stretch>
                        </a:blipFill>
                      </a:tcPr>
                    </a:tc>
                    <a:extLst>
                      <a:ext uri="{0D108BD9-81ED-4DB2-BD59-A6C34878D82A}">
                        <a16:rowId xmlns:a16="http://schemas.microsoft.com/office/drawing/2014/main" val="2316954527"/>
                      </a:ext>
                    </a:extLst>
                  </a:tr>
                </a:tbl>
              </a:graphicData>
            </a:graphic>
          </p:graphicFrame>
        </mc:Fallback>
      </mc:AlternateContent>
    </p:spTree>
    <p:extLst>
      <p:ext uri="{BB962C8B-B14F-4D97-AF65-F5344CB8AC3E}">
        <p14:creationId xmlns:p14="http://schemas.microsoft.com/office/powerpoint/2010/main" val="858361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495"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7732"/>
            <a:ext cx="563850" cy="658368"/>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480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167</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889B13CF-7799-4D4C-A21A-ADC21E179E83}"/>
                  </a:ext>
                </a:extLst>
              </p:cNvPr>
              <p:cNvSpPr/>
              <p:nvPr/>
            </p:nvSpPr>
            <p:spPr>
              <a:xfrm>
                <a:off x="1080655" y="377850"/>
                <a:ext cx="8972321" cy="5551648"/>
              </a:xfrm>
              <a:prstGeom prst="rect">
                <a:avLst/>
              </a:prstGeom>
            </p:spPr>
            <p:txBody>
              <a:bodyPr wrap="square">
                <a:spAutoFit/>
              </a:bodyPr>
              <a:lstStyle/>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Even though one of the student’s resulting expressions is not equivalent to </a:t>
                </a:r>
                <a14:m>
                  <m:oMath xmlns:m="http://schemas.openxmlformats.org/officeDocument/2006/math">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latin typeface="Cambria Math" panose="02040503050406030204" pitchFamily="18" charset="0"/>
                                        <a:ea typeface="Times New Roman" panose="02020603050405020304" pitchFamily="18" charset="0"/>
                                        <a:cs typeface="Times New Roman" panose="02020603050405020304" pitchFamily="18" charset="0"/>
                                      </a:rPr>
                                      <m:t>3</m:t>
                                    </m:r>
                                  </m:sup>
                                </m:sSup>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latin typeface="Cambria Math" panose="02040503050406030204" pitchFamily="18" charset="0"/>
                                        <a:ea typeface="Times New Roman" panose="02020603050405020304" pitchFamily="18" charset="0"/>
                                        <a:cs typeface="Times New Roman" panose="02020603050405020304" pitchFamily="18" charset="0"/>
                                      </a:rPr>
                                      <m:t>−4</m:t>
                                    </m:r>
                                  </m:sup>
                                </m:sSup>
                              </m:num>
                              <m:den>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latin typeface="Cambria Math" panose="02040503050406030204" pitchFamily="18" charset="0"/>
                                        <a:ea typeface="Times New Roman" panose="02020603050405020304" pitchFamily="18" charset="0"/>
                                        <a:cs typeface="Times New Roman" panose="02020603050405020304" pitchFamily="18" charset="0"/>
                                      </a:rPr>
                                      <m:t>2</m:t>
                                    </m:r>
                                  </m:sup>
                                </m:sSup>
                              </m:den>
                            </m:f>
                          </m:e>
                        </m:d>
                      </m:e>
                      <m:sup>
                        <m:r>
                          <a:rPr lang="en-US" sz="2000" i="1">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identify which laws of exponents each student applied and in what order.</a:t>
                </a: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Which student generated an expression that is not equivalent to </a:t>
                </a:r>
                <a14:m>
                  <m:oMath xmlns:m="http://schemas.openxmlformats.org/officeDocument/2006/math">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latin typeface="Cambria Math" panose="02040503050406030204" pitchFamily="18" charset="0"/>
                                        <a:ea typeface="Times New Roman" panose="02020603050405020304" pitchFamily="18" charset="0"/>
                                        <a:cs typeface="Times New Roman" panose="02020603050405020304" pitchFamily="18" charset="0"/>
                                      </a:rPr>
                                      <m:t>3</m:t>
                                    </m:r>
                                  </m:sup>
                                </m:sSup>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latin typeface="Cambria Math" panose="02040503050406030204" pitchFamily="18" charset="0"/>
                                        <a:ea typeface="Times New Roman" panose="02020603050405020304" pitchFamily="18" charset="0"/>
                                        <a:cs typeface="Times New Roman" panose="02020603050405020304" pitchFamily="18" charset="0"/>
                                      </a:rPr>
                                      <m:t>−4</m:t>
                                    </m:r>
                                  </m:sup>
                                </m:sSup>
                              </m:num>
                              <m:den>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latin typeface="Cambria Math" panose="02040503050406030204" pitchFamily="18" charset="0"/>
                                        <a:ea typeface="Times New Roman" panose="02020603050405020304" pitchFamily="18" charset="0"/>
                                        <a:cs typeface="Times New Roman" panose="02020603050405020304" pitchFamily="18" charset="0"/>
                                      </a:rPr>
                                      <m:t>2</m:t>
                                    </m:r>
                                  </m:sup>
                                </m:sSup>
                              </m:den>
                            </m:f>
                          </m:e>
                        </m:d>
                      </m:e>
                      <m:sup>
                        <m:r>
                          <a:rPr lang="en-US" sz="2000" i="1">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x-none"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1080655" y="377850"/>
                <a:ext cx="8972321" cy="5551648"/>
              </a:xfrm>
              <a:prstGeom prst="rect">
                <a:avLst/>
              </a:prstGeom>
              <a:blipFill>
                <a:blip r:embed="rId4"/>
                <a:stretch>
                  <a:fillRect t="-768" r="-1495"/>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02B7BFFB-69F7-D346-9ACE-C8CAEF044B60}"/>
              </a:ext>
            </a:extLst>
          </p:cNvPr>
          <p:cNvGraphicFramePr>
            <a:graphicFrameLocks noGrp="1"/>
          </p:cNvGraphicFramePr>
          <p:nvPr>
            <p:extLst>
              <p:ext uri="{D42A27DB-BD31-4B8C-83A1-F6EECF244321}">
                <p14:modId xmlns:p14="http://schemas.microsoft.com/office/powerpoint/2010/main" val="311562431"/>
              </p:ext>
            </p:extLst>
          </p:nvPr>
        </p:nvGraphicFramePr>
        <p:xfrm>
          <a:off x="2574882" y="1912056"/>
          <a:ext cx="6720840" cy="2712720"/>
        </p:xfrm>
        <a:graphic>
          <a:graphicData uri="http://schemas.openxmlformats.org/drawingml/2006/table">
            <a:tbl>
              <a:tblPr firstRow="1" firstCol="1" bandRow="1"/>
              <a:tblGrid>
                <a:gridCol w="2240280">
                  <a:extLst>
                    <a:ext uri="{9D8B030D-6E8A-4147-A177-3AD203B41FA5}">
                      <a16:colId xmlns:a16="http://schemas.microsoft.com/office/drawing/2014/main" val="1687148042"/>
                    </a:ext>
                  </a:extLst>
                </a:gridCol>
                <a:gridCol w="2240280">
                  <a:extLst>
                    <a:ext uri="{9D8B030D-6E8A-4147-A177-3AD203B41FA5}">
                      <a16:colId xmlns:a16="http://schemas.microsoft.com/office/drawing/2014/main" val="2378983799"/>
                    </a:ext>
                  </a:extLst>
                </a:gridCol>
                <a:gridCol w="2240280">
                  <a:extLst>
                    <a:ext uri="{9D8B030D-6E8A-4147-A177-3AD203B41FA5}">
                      <a16:colId xmlns:a16="http://schemas.microsoft.com/office/drawing/2014/main" val="3440660225"/>
                    </a:ext>
                  </a:extLst>
                </a:gridCol>
              </a:tblGrid>
              <a:tr h="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Order</a:t>
                      </a: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of </a:t>
                      </a:r>
                      <a:b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Laws Applied</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Jack</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Angel</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254051530"/>
                  </a:ext>
                </a:extLst>
              </a:tr>
              <a:tr h="640080">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First</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5841329"/>
                  </a:ext>
                </a:extLst>
              </a:tr>
              <a:tr h="640080">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Second</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4168836"/>
                  </a:ext>
                </a:extLst>
              </a:tr>
              <a:tr h="640080">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Third</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7667741"/>
                  </a:ext>
                </a:extLst>
              </a:tr>
            </a:tbl>
          </a:graphicData>
        </a:graphic>
      </p:graphicFrame>
    </p:spTree>
    <p:extLst>
      <p:ext uri="{BB962C8B-B14F-4D97-AF65-F5344CB8AC3E}">
        <p14:creationId xmlns:p14="http://schemas.microsoft.com/office/powerpoint/2010/main" val="3319486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874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7582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167</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889B13CF-7799-4D4C-A21A-ADC21E179E83}"/>
                  </a:ext>
                </a:extLst>
              </p:cNvPr>
              <p:cNvSpPr/>
              <p:nvPr/>
            </p:nvSpPr>
            <p:spPr>
              <a:xfrm>
                <a:off x="1080655" y="310615"/>
                <a:ext cx="8972321" cy="4390241"/>
              </a:xfrm>
              <a:prstGeom prst="rect">
                <a:avLst/>
              </a:prstGeom>
            </p:spPr>
            <p:txBody>
              <a:bodyPr wrap="square">
                <a:spAutoFit/>
              </a:bodyPr>
              <a:lstStyle/>
              <a:p>
                <a:pPr marL="914400" indent="-457200">
                  <a:buFont typeface="+mj-lt"/>
                  <a:buAutoNum type="alphaL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Which statement best describes the incorrect student’s strategy?</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1377950" indent="-466725">
                  <a:spcAft>
                    <a:spcPts val="1200"/>
                  </a:spcAft>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The incorrect student used a correct strategy, but applied one of the laws incorrectly.</a:t>
                </a:r>
              </a:p>
              <a:p>
                <a:pPr marL="1377950" indent="-466725">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The incorrect student tried to use an exponent law that didn’t apply to this expression.</a:t>
                </a:r>
              </a:p>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buFont typeface="+mj-lt"/>
                  <a:buAutoNum type="alphaL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Based on your response to Part C, show how to correct the student’s error.</a:t>
                </a:r>
              </a:p>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lvl="0"/>
                <a14:m>
                  <m:oMathPara xmlns:m="http://schemas.openxmlformats.org/officeDocument/2006/math">
                    <m:oMathParaPr>
                      <m:jc m:val="centerGroup"/>
                    </m:oMathParaPr>
                    <m:oMath xmlns:m="http://schemas.openxmlformats.org/officeDocument/2006/math">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latin typeface="Cambria Math" panose="02040503050406030204" pitchFamily="18" charset="0"/>
                                          <a:ea typeface="Times New Roman" panose="02020603050405020304" pitchFamily="18" charset="0"/>
                                          <a:cs typeface="Times New Roman" panose="02020603050405020304" pitchFamily="18" charset="0"/>
                                        </a:rPr>
                                        <m:t>3</m:t>
                                      </m:r>
                                    </m:sup>
                                  </m:sSup>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latin typeface="Cambria Math" panose="02040503050406030204" pitchFamily="18" charset="0"/>
                                          <a:ea typeface="Times New Roman" panose="02020603050405020304" pitchFamily="18" charset="0"/>
                                          <a:cs typeface="Times New Roman" panose="02020603050405020304" pitchFamily="18" charset="0"/>
                                        </a:rPr>
                                        <m:t>−4</m:t>
                                      </m:r>
                                    </m:sup>
                                  </m:sSup>
                                </m:num>
                                <m:den>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sSup>
                                    <m:sSup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latin typeface="Cambria Math" panose="02040503050406030204" pitchFamily="18" charset="0"/>
                                          <a:ea typeface="Times New Roman" panose="02020603050405020304" pitchFamily="18" charset="0"/>
                                          <a:cs typeface="Times New Roman" panose="02020603050405020304" pitchFamily="18" charset="0"/>
                                        </a:rPr>
                                        <m:t>2</m:t>
                                      </m:r>
                                    </m:sup>
                                  </m:sSup>
                                </m:den>
                              </m:f>
                            </m:e>
                          </m:d>
                        </m:e>
                        <m:sup>
                          <m:r>
                            <a:rPr lang="en-US" sz="2000" i="1">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1080655" y="310615"/>
                <a:ext cx="8972321" cy="4390241"/>
              </a:xfrm>
              <a:prstGeom prst="rect">
                <a:avLst/>
              </a:prstGeom>
              <a:blipFill>
                <a:blip r:embed="rId4"/>
                <a:stretch>
                  <a:fillRect t="-972" r="-1359"/>
                </a:stretch>
              </a:blipFill>
            </p:spPr>
            <p:txBody>
              <a:bodyPr/>
              <a:lstStyle/>
              <a:p>
                <a:r>
                  <a:rPr lang="en-US">
                    <a:noFill/>
                  </a:rPr>
                  <a:t> </a:t>
                </a:r>
              </a:p>
            </p:txBody>
          </p:sp>
        </mc:Fallback>
      </mc:AlternateContent>
    </p:spTree>
    <p:extLst>
      <p:ext uri="{BB962C8B-B14F-4D97-AF65-F5344CB8AC3E}">
        <p14:creationId xmlns:p14="http://schemas.microsoft.com/office/powerpoint/2010/main" val="1790096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435431" y="2766145"/>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6000" b="1" dirty="0">
                <a:solidFill>
                  <a:srgbClr val="33BEA6"/>
                </a:solidFill>
                <a:latin typeface="Verdana"/>
                <a:ea typeface="Verdana"/>
                <a:cs typeface="Verdana"/>
                <a:sym typeface="Verdana"/>
              </a:rPr>
              <a:t>Try It</a:t>
            </a:r>
            <a:endParaRPr sz="54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168</a:t>
            </a:r>
            <a:endParaRPr i="1" dirty="0">
              <a:latin typeface="Calibri"/>
              <a:ea typeface="Calibri"/>
              <a:cs typeface="Calibri"/>
              <a:sym typeface="Calibri"/>
            </a:endParaRPr>
          </a:p>
        </p:txBody>
      </p:sp>
      <p:pic>
        <p:nvPicPr>
          <p:cNvPr id="9" name="image4.png" descr="Icon&#10;&#10;Description automatically generated">
            <a:extLst>
              <a:ext uri="{FF2B5EF4-FFF2-40B4-BE49-F238E27FC236}">
                <a16:creationId xmlns:a16="http://schemas.microsoft.com/office/drawing/2014/main" id="{205B81CA-F027-D64D-8BA0-9658A841DAD9}"/>
              </a:ext>
            </a:extLst>
          </p:cNvPr>
          <p:cNvPicPr/>
          <p:nvPr/>
        </p:nvPicPr>
        <p:blipFill>
          <a:blip r:embed="rId4"/>
          <a:srcRect/>
          <a:stretch>
            <a:fillRect/>
          </a:stretch>
        </p:blipFill>
        <p:spPr>
          <a:xfrm>
            <a:off x="5319938" y="2852923"/>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42428" y="154064"/>
            <a:ext cx="929672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4.10.3 Try It: Applying Multiple Laws of Exponents to Algebraic Expressions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1104114" y="1632182"/>
                <a:ext cx="9296722" cy="2178481"/>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For each expression, write an equivalent expression using positive exponents and the fewest factors possible.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Show your work in the space provided. Then, for each expression, check off the exponent laws applied from the list provided.</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PH" sz="2000" dirty="0">
                    <a:latin typeface="Verdana" panose="020B0604030504040204" pitchFamily="34" charset="0"/>
                    <a:ea typeface="Verdana" panose="020B0604030504040204" pitchFamily="34" charset="0"/>
                    <a:cs typeface="Verdana" panose="020B0604030504040204" pitchFamily="34" charset="0"/>
                  </a:rPr>
                  <a:t>a.	</a:t>
                </a:r>
                <a14:m>
                  <m:oMath xmlns:m="http://schemas.openxmlformats.org/officeDocument/2006/math">
                    <m:sSup>
                      <m:sSupPr>
                        <m:ctrlPr>
                          <a:rPr lang="en-US" sz="2000" i="1" dirty="0">
                            <a:latin typeface="Cambria Math" panose="02040503050406030204" pitchFamily="18" charset="0"/>
                            <a:ea typeface="Verdana" panose="020B0604030504040204" pitchFamily="34" charset="0"/>
                            <a:cs typeface="Verdana" panose="020B0604030504040204" pitchFamily="34" charset="0"/>
                          </a:rPr>
                        </m:ctrlPr>
                      </m:sSupPr>
                      <m:e>
                        <m:d>
                          <m:dPr>
                            <m:ctrlPr>
                              <a:rPr lang="en-US" sz="2000" i="1" dirty="0">
                                <a:latin typeface="Cambria Math" panose="02040503050406030204" pitchFamily="18" charset="0"/>
                                <a:ea typeface="Verdana" panose="020B0604030504040204" pitchFamily="34" charset="0"/>
                                <a:cs typeface="Verdana" panose="020B0604030504040204" pitchFamily="34" charset="0"/>
                              </a:rPr>
                            </m:ctrlPr>
                          </m:dPr>
                          <m:e>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000" i="1" dirty="0">
                                        <a:latin typeface="Cambria Math" panose="02040503050406030204" pitchFamily="18" charset="0"/>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9</m:t>
                                    </m:r>
                                    <m:r>
                                      <a:rPr lang="es-ES" sz="2000" i="1" dirty="0">
                                        <a:latin typeface="Cambria Math" panose="02040503050406030204" pitchFamily="18" charset="0"/>
                                        <a:ea typeface="Verdana" panose="020B0604030504040204" pitchFamily="34" charset="0"/>
                                        <a:cs typeface="Verdana" panose="020B0604030504040204" pitchFamily="34" charset="0"/>
                                      </a:rPr>
                                      <m:t>𝑐</m:t>
                                    </m:r>
                                  </m:e>
                                  <m:sup>
                                    <m:r>
                                      <a:rPr lang="es-ES" sz="2000" i="1" dirty="0">
                                        <a:latin typeface="Cambria Math" panose="02040503050406030204" pitchFamily="18" charset="0"/>
                                        <a:ea typeface="Verdana" panose="020B0604030504040204" pitchFamily="34" charset="0"/>
                                        <a:cs typeface="Verdana" panose="020B0604030504040204" pitchFamily="34" charset="0"/>
                                      </a:rPr>
                                      <m:t>4</m:t>
                                    </m:r>
                                  </m:sup>
                                </m:sSup>
                              </m:num>
                              <m:den>
                                <m:sSup>
                                  <m:sSupPr>
                                    <m:ctrlPr>
                                      <a:rPr lang="en-US" sz="2000" i="1" dirty="0">
                                        <a:latin typeface="Cambria Math" panose="02040503050406030204" pitchFamily="18" charset="0"/>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𝑐</m:t>
                                    </m:r>
                                  </m:e>
                                  <m:sup>
                                    <m:r>
                                      <a:rPr lang="es-ES" sz="2000" i="1" dirty="0">
                                        <a:latin typeface="Cambria Math" panose="02040503050406030204" pitchFamily="18" charset="0"/>
                                        <a:ea typeface="Verdana" panose="020B0604030504040204" pitchFamily="34" charset="0"/>
                                        <a:cs typeface="Verdana" panose="020B0604030504040204" pitchFamily="34" charset="0"/>
                                      </a:rPr>
                                      <m:t>−4</m:t>
                                    </m:r>
                                  </m:sup>
                                </m:sSup>
                              </m:den>
                            </m:f>
                          </m:e>
                        </m:d>
                      </m:e>
                      <m:sup>
                        <m:r>
                          <a:rPr lang="es-ES" sz="2000" i="1" dirty="0">
                            <a:latin typeface="Cambria Math" panose="02040503050406030204" pitchFamily="18" charset="0"/>
                            <a:ea typeface="Verdana" panose="020B0604030504040204" pitchFamily="34" charset="0"/>
                            <a:cs typeface="Verdana" panose="020B0604030504040204" pitchFamily="34" charset="0"/>
                          </a:rPr>
                          <m:t>2</m:t>
                        </m:r>
                      </m:sup>
                    </m:sSup>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1104114" y="1632182"/>
                <a:ext cx="9296722" cy="2178481"/>
              </a:xfrm>
              <a:prstGeom prst="rect">
                <a:avLst/>
              </a:prstGeom>
              <a:blipFill>
                <a:blip r:embed="rId4"/>
                <a:stretch>
                  <a:fillRect l="-721" t="-1961" b="-280"/>
                </a:stretch>
              </a:blipFill>
            </p:spPr>
            <p:txBody>
              <a:bodyPr/>
              <a:lstStyle/>
              <a:p>
                <a:r>
                  <a:rPr lang="en-US">
                    <a:noFill/>
                  </a:rPr>
                  <a:t> </a:t>
                </a:r>
              </a:p>
            </p:txBody>
          </p:sp>
        </mc:Fallback>
      </mc:AlternateContent>
      <p:pic>
        <p:nvPicPr>
          <p:cNvPr id="9" name="image4.png" descr="Icon&#10;&#10;Description automatically generated">
            <a:extLst>
              <a:ext uri="{FF2B5EF4-FFF2-40B4-BE49-F238E27FC236}">
                <a16:creationId xmlns:a16="http://schemas.microsoft.com/office/drawing/2014/main" id="{E80F5B7D-B438-1A4E-A2EC-03970823E4A7}"/>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92264" y="441832"/>
            <a:ext cx="750164" cy="750164"/>
          </a:xfrm>
          <a:prstGeom prst="rect">
            <a:avLst/>
          </a:prstGeom>
          <a:ln/>
        </p:spPr>
      </p:pic>
      <p:graphicFrame>
        <p:nvGraphicFramePr>
          <p:cNvPr id="3" name="Table 2">
            <a:extLst>
              <a:ext uri="{FF2B5EF4-FFF2-40B4-BE49-F238E27FC236}">
                <a16:creationId xmlns:a16="http://schemas.microsoft.com/office/drawing/2014/main" id="{17426760-E14A-FF4E-8E55-DFE9D40EB980}"/>
              </a:ext>
            </a:extLst>
          </p:cNvPr>
          <p:cNvGraphicFramePr>
            <a:graphicFrameLocks noGrp="1"/>
          </p:cNvGraphicFramePr>
          <p:nvPr>
            <p:extLst>
              <p:ext uri="{D42A27DB-BD31-4B8C-83A1-F6EECF244321}">
                <p14:modId xmlns:p14="http://schemas.microsoft.com/office/powerpoint/2010/main" val="2475695828"/>
              </p:ext>
            </p:extLst>
          </p:nvPr>
        </p:nvGraphicFramePr>
        <p:xfrm>
          <a:off x="3862836" y="3348714"/>
          <a:ext cx="3566160" cy="3108960"/>
        </p:xfrm>
        <a:graphic>
          <a:graphicData uri="http://schemas.openxmlformats.org/drawingml/2006/table">
            <a:tbl>
              <a:tblPr firstRow="1" firstCol="1" bandRow="1"/>
              <a:tblGrid>
                <a:gridCol w="3566160">
                  <a:extLst>
                    <a:ext uri="{9D8B030D-6E8A-4147-A177-3AD203B41FA5}">
                      <a16:colId xmlns:a16="http://schemas.microsoft.com/office/drawing/2014/main" val="194646567"/>
                    </a:ext>
                  </a:extLst>
                </a:gridCol>
              </a:tblGrid>
              <a:tr h="4572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Exponent Laws Applied</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078732312"/>
                  </a:ext>
                </a:extLst>
              </a:tr>
              <a:tr h="0">
                <a:tc>
                  <a:txBody>
                    <a:bodyPr/>
                    <a:lstStyle/>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identity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 </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quotient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zero exponent</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1564162"/>
                  </a:ext>
                </a:extLst>
              </a:tr>
            </a:tbl>
          </a:graphicData>
        </a:graphic>
      </p:graphicFrame>
    </p:spTree>
    <p:extLst>
      <p:ext uri="{BB962C8B-B14F-4D97-AF65-F5344CB8AC3E}">
        <p14:creationId xmlns:p14="http://schemas.microsoft.com/office/powerpoint/2010/main" val="1674437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F54A4596-5923-6342-9500-70E8F702680A}"/>
                  </a:ext>
                </a:extLst>
              </p:cNvPr>
              <p:cNvSpPr/>
              <p:nvPr/>
            </p:nvSpPr>
            <p:spPr>
              <a:xfrm>
                <a:off x="1080655" y="658839"/>
                <a:ext cx="9254246" cy="466346"/>
              </a:xfrm>
              <a:prstGeom prst="rect">
                <a:avLst/>
              </a:prstGeom>
            </p:spPr>
            <p:txBody>
              <a:bodyPr wrap="square">
                <a:spAutoFit/>
              </a:bodyPr>
              <a:lstStyle/>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𝑑</m:t>
                                </m:r>
                              </m:e>
                              <m:sup>
                                <m:r>
                                  <a:rPr lang="es-ES" sz="2400" i="1" dirty="0">
                                    <a:latin typeface="Cambria Math" panose="02040503050406030204" pitchFamily="18" charset="0"/>
                                    <a:cs typeface="Times New Roman" panose="02020603050405020304" pitchFamily="18" charset="0"/>
                                  </a:rPr>
                                  <m:t>0</m:t>
                                </m:r>
                              </m:sup>
                            </m:sSup>
                            <m:r>
                              <a:rPr lang="es-ES" sz="2400" i="1" dirty="0">
                                <a:latin typeface="Cambria Math" panose="02040503050406030204" pitchFamily="18" charset="0"/>
                                <a:cs typeface="Times New Roman" panose="02020603050405020304" pitchFamily="18" charset="0"/>
                              </a:rPr>
                              <m:t>·</m:t>
                            </m:r>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𝑑</m:t>
                                </m:r>
                              </m:e>
                              <m:sup>
                                <m:r>
                                  <a:rPr lang="es-ES" sz="2400" i="1" dirty="0">
                                    <a:latin typeface="Cambria Math" panose="02040503050406030204" pitchFamily="18" charset="0"/>
                                    <a:cs typeface="Times New Roman" panose="02020603050405020304" pitchFamily="18" charset="0"/>
                                  </a:rPr>
                                  <m:t>5</m:t>
                                </m:r>
                              </m:sup>
                            </m:sSup>
                          </m:e>
                        </m:d>
                      </m:e>
                      <m:sup>
                        <m:r>
                          <a:rPr lang="es-ES" sz="2400" i="1" dirty="0">
                            <a:latin typeface="Cambria Math" panose="02040503050406030204" pitchFamily="18" charset="0"/>
                            <a:cs typeface="Times New Roman" panose="02020603050405020304" pitchFamily="18" charset="0"/>
                          </a:rPr>
                          <m:t>−2</m:t>
                        </m:r>
                      </m:sup>
                    </m:sSup>
                  </m:oMath>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1080655" y="658839"/>
                <a:ext cx="9254246" cy="466346"/>
              </a:xfrm>
              <a:prstGeom prst="rect">
                <a:avLst/>
              </a:prstGeom>
              <a:blipFill>
                <a:blip r:embed="rId4"/>
                <a:stretch>
                  <a:fillRect t="-10390" b="-27273"/>
                </a:stretch>
              </a:blipFill>
            </p:spPr>
            <p:txBody>
              <a:bodyPr/>
              <a:lstStyle/>
              <a:p>
                <a:r>
                  <a:rPr lang="en-US">
                    <a:noFill/>
                  </a:rPr>
                  <a:t> </a:t>
                </a:r>
              </a:p>
            </p:txBody>
          </p:sp>
        </mc:Fallback>
      </mc:AlternateContent>
      <p:graphicFrame>
        <p:nvGraphicFramePr>
          <p:cNvPr id="7" name="Table 6">
            <a:extLst>
              <a:ext uri="{FF2B5EF4-FFF2-40B4-BE49-F238E27FC236}">
                <a16:creationId xmlns:a16="http://schemas.microsoft.com/office/drawing/2014/main" id="{17426760-E14A-FF4E-8E55-DFE9D40EB980}"/>
              </a:ext>
            </a:extLst>
          </p:cNvPr>
          <p:cNvGraphicFramePr>
            <a:graphicFrameLocks noGrp="1"/>
          </p:cNvGraphicFramePr>
          <p:nvPr>
            <p:extLst>
              <p:ext uri="{D42A27DB-BD31-4B8C-83A1-F6EECF244321}">
                <p14:modId xmlns:p14="http://schemas.microsoft.com/office/powerpoint/2010/main" val="2085519402"/>
              </p:ext>
            </p:extLst>
          </p:nvPr>
        </p:nvGraphicFramePr>
        <p:xfrm>
          <a:off x="4312920" y="686582"/>
          <a:ext cx="3566160" cy="3108960"/>
        </p:xfrm>
        <a:graphic>
          <a:graphicData uri="http://schemas.openxmlformats.org/drawingml/2006/table">
            <a:tbl>
              <a:tblPr firstRow="1" firstCol="1" bandRow="1"/>
              <a:tblGrid>
                <a:gridCol w="3566160">
                  <a:extLst>
                    <a:ext uri="{9D8B030D-6E8A-4147-A177-3AD203B41FA5}">
                      <a16:colId xmlns:a16="http://schemas.microsoft.com/office/drawing/2014/main" val="194646567"/>
                    </a:ext>
                  </a:extLst>
                </a:gridCol>
              </a:tblGrid>
              <a:tr h="4572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Exponent Laws Applied</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078732312"/>
                  </a:ext>
                </a:extLst>
              </a:tr>
              <a:tr h="0">
                <a:tc>
                  <a:txBody>
                    <a:bodyPr/>
                    <a:lstStyle/>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identity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 </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quotient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zero exponent</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1564162"/>
                  </a:ext>
                </a:extLst>
              </a:tr>
            </a:tbl>
          </a:graphicData>
        </a:graphic>
      </p:graphicFrame>
    </p:spTree>
    <p:extLst>
      <p:ext uri="{BB962C8B-B14F-4D97-AF65-F5344CB8AC3E}">
        <p14:creationId xmlns:p14="http://schemas.microsoft.com/office/powerpoint/2010/main" val="1251846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168</a:t>
            </a:r>
            <a:endParaRPr i="1" dirty="0">
              <a:latin typeface="Calibri"/>
              <a:ea typeface="Calibri"/>
              <a:cs typeface="Calibri"/>
              <a:sym typeface="Calibri"/>
            </a:endParaRPr>
          </a:p>
        </p:txBody>
      </p:sp>
      <p:pic>
        <p:nvPicPr>
          <p:cNvPr id="9" name="image11.png" descr="Icon&#10;&#10;Description automatically generated">
            <a:extLst>
              <a:ext uri="{FF2B5EF4-FFF2-40B4-BE49-F238E27FC236}">
                <a16:creationId xmlns:a16="http://schemas.microsoft.com/office/drawing/2014/main" id="{AE5FD3BE-9664-444F-B667-C5948F034002}"/>
              </a:ext>
            </a:extLst>
          </p:cNvPr>
          <p:cNvPicPr/>
          <p:nvPr/>
        </p:nvPicPr>
        <p:blipFill>
          <a:blip r:embed="rId4"/>
          <a:srcRect/>
          <a:stretch>
            <a:fillRect/>
          </a:stretch>
        </p:blipFill>
        <p:spPr>
          <a:xfrm>
            <a:off x="5208903" y="2852923"/>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15600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64647" y="86829"/>
            <a:ext cx="927450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4.10.4 Activity: Exponent Laws Relay</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1126333" y="1632182"/>
                <a:ext cx="9274503" cy="4163447"/>
              </a:xfrm>
              <a:prstGeom prst="rect">
                <a:avLst/>
              </a:prstGeom>
              <a:noFill/>
            </p:spPr>
            <p:txBody>
              <a:bodyPr wrap="square" rtlCol="0">
                <a:spAutoFit/>
              </a:bodyPr>
              <a:lstStyle/>
              <a:p>
                <a:pPr>
                  <a:spcAft>
                    <a:spcPts val="2000"/>
                  </a:spcAft>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relay. </a:t>
                </a:r>
              </a:p>
              <a:p>
                <a:pPr marL="307975" indent="-307975">
                  <a:spcAft>
                    <a:spcPts val="2000"/>
                  </a:spcAft>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Start by generating an equivalent expression for question 1 using the fewest factors possible. </a:t>
                </a:r>
              </a:p>
              <a:p>
                <a:pPr marL="307975" indent="-307975">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Insert the answer from question 1 into the box in question 2. Repeat until you have completed all of the questions in this manner.</a:t>
                </a: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000" i="1">
                            <a:latin typeface="Cambria Math" panose="02040503050406030204" pitchFamily="18" charset="0"/>
                            <a:ea typeface="Verdana" panose="020B0604030504040204" pitchFamily="34" charset="0"/>
                          </a:rPr>
                        </m:ctrlPr>
                      </m:fPr>
                      <m:num>
                        <m:sSup>
                          <m:sSupPr>
                            <m:ctrlPr>
                              <a:rPr lang="en-US" sz="2000" i="1">
                                <a:latin typeface="Cambria Math" panose="02040503050406030204" pitchFamily="18" charset="0"/>
                                <a:ea typeface="Verdana" panose="020B0604030504040204" pitchFamily="34" charset="0"/>
                              </a:rPr>
                            </m:ctrlPr>
                          </m:sSupPr>
                          <m:e>
                            <m:r>
                              <a:rPr lang="en-PH" sz="2000" i="1">
                                <a:latin typeface="Cambria Math"/>
                                <a:ea typeface="Verdana" panose="020B0604030504040204" pitchFamily="34" charset="0"/>
                              </a:rPr>
                              <m:t>5</m:t>
                            </m:r>
                            <m:r>
                              <a:rPr lang="en-PH" sz="2000" i="1">
                                <a:latin typeface="Cambria Math"/>
                                <a:ea typeface="Verdana" panose="020B0604030504040204" pitchFamily="34" charset="0"/>
                              </a:rPr>
                              <m:t>𝑥</m:t>
                            </m:r>
                          </m:e>
                          <m:sup>
                            <m:r>
                              <a:rPr lang="en-PH" sz="2000" i="1">
                                <a:latin typeface="Cambria Math"/>
                                <a:ea typeface="Verdana" panose="020B0604030504040204" pitchFamily="34" charset="0"/>
                              </a:rPr>
                              <m:t>−3</m:t>
                            </m:r>
                          </m:sup>
                        </m:sSup>
                        <m:r>
                          <a:rPr lang="en-US" sz="2000" i="1">
                            <a:latin typeface="Cambria Math"/>
                            <a:ea typeface="Cambria Math"/>
                          </a:rPr>
                          <m:t>∙</m:t>
                        </m:r>
                        <m:sSup>
                          <m:sSupPr>
                            <m:ctrlPr>
                              <a:rPr lang="en-US" sz="2000" i="1">
                                <a:latin typeface="Cambria Math" panose="02040503050406030204" pitchFamily="18" charset="0"/>
                                <a:ea typeface="Cambria Math"/>
                              </a:rPr>
                            </m:ctrlPr>
                          </m:sSupPr>
                          <m:e>
                            <m:r>
                              <a:rPr lang="en-PH" sz="2000" i="1">
                                <a:latin typeface="Cambria Math"/>
                                <a:ea typeface="Cambria Math"/>
                              </a:rPr>
                              <m:t>𝑥</m:t>
                            </m:r>
                          </m:e>
                          <m:sup>
                            <m:r>
                              <a:rPr lang="en-PH" sz="2000" i="1">
                                <a:latin typeface="Cambria Math"/>
                                <a:ea typeface="Cambria Math"/>
                              </a:rPr>
                              <m:t>−2</m:t>
                            </m:r>
                          </m:sup>
                        </m:sSup>
                      </m:num>
                      <m:den>
                        <m:sSup>
                          <m:sSupPr>
                            <m:ctrlPr>
                              <a:rPr lang="en-US" sz="2000" i="1">
                                <a:latin typeface="Cambria Math" panose="02040503050406030204" pitchFamily="18" charset="0"/>
                                <a:ea typeface="Verdana" panose="020B0604030504040204" pitchFamily="34" charset="0"/>
                              </a:rPr>
                            </m:ctrlPr>
                          </m:sSupPr>
                          <m:e>
                            <m:r>
                              <a:rPr lang="en-PH" sz="2000" i="1">
                                <a:latin typeface="Cambria Math"/>
                                <a:ea typeface="Verdana" panose="020B0604030504040204" pitchFamily="34" charset="0"/>
                              </a:rPr>
                              <m:t>25</m:t>
                            </m:r>
                            <m:r>
                              <a:rPr lang="en-PH" sz="2000" i="1">
                                <a:latin typeface="Cambria Math"/>
                                <a:ea typeface="Verdana" panose="020B0604030504040204" pitchFamily="34" charset="0"/>
                              </a:rPr>
                              <m:t>𝑥</m:t>
                            </m:r>
                          </m:e>
                          <m:sup>
                            <m:r>
                              <a:rPr lang="en-PH" sz="2000" i="1">
                                <a:latin typeface="Cambria Math"/>
                                <a:ea typeface="Verdana" panose="020B0604030504040204" pitchFamily="34" charset="0"/>
                              </a:rPr>
                              <m:t>−4</m:t>
                            </m:r>
                          </m:sup>
                        </m:sSup>
                      </m:den>
                    </m:f>
                    <m:r>
                      <a:rPr lang="en-PH" sz="2000" i="1">
                        <a:latin typeface="Cambria Math"/>
                        <a:ea typeface="Verdana" panose="020B0604030504040204" pitchFamily="34"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b="1" dirty="0">
                    <a:solidFill>
                      <a:schemeClr val="accent6"/>
                    </a:solidFill>
                    <a:latin typeface="Verdana" panose="020B0604030504040204" pitchFamily="34" charset="0"/>
                    <a:ea typeface="Verdana" panose="020B0604030504040204" pitchFamily="34" charset="0"/>
                    <a:cs typeface="Verdana" panose="020B0604030504040204" pitchFamily="34" charset="0"/>
                  </a:rPr>
                  <a:t>__________</a:t>
                </a:r>
              </a:p>
              <a:p>
                <a:pPr marL="457200" indent="-457200">
                  <a:buFont typeface="+mj-lt"/>
                  <a:buAutoNum type="arabicPeriod"/>
                </a:pPr>
                <a:endParaRPr lang="en-PH" sz="2000" b="1" dirty="0">
                  <a:solidFill>
                    <a:schemeClr val="accent6"/>
                  </a:solidFill>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b="1" dirty="0">
                  <a:solidFill>
                    <a:schemeClr val="accent6"/>
                  </a:solidFill>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PH"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PH" sz="2000" i="1">
                            <a:solidFill>
                              <a:schemeClr val="tx1"/>
                            </a:solidFill>
                            <a:latin typeface="Cambria Math" panose="02040503050406030204" pitchFamily="18" charset="0"/>
                            <a:ea typeface="Verdana" panose="020B0604030504040204" pitchFamily="34" charset="0"/>
                          </a:rPr>
                        </m:ctrlPr>
                      </m:sSupPr>
                      <m:e>
                        <m:r>
                          <a:rPr lang="en-PH" sz="2000" i="1">
                            <a:solidFill>
                              <a:schemeClr val="tx1"/>
                            </a:solidFill>
                            <a:latin typeface="Cambria Math"/>
                            <a:ea typeface="Verdana" panose="020B0604030504040204" pitchFamily="34" charset="0"/>
                          </a:rPr>
                          <m:t>10</m:t>
                        </m:r>
                        <m:r>
                          <a:rPr lang="en-PH" sz="2000" i="1">
                            <a:solidFill>
                              <a:schemeClr val="tx1"/>
                            </a:solidFill>
                            <a:latin typeface="Cambria Math"/>
                            <a:ea typeface="Verdana" panose="020B0604030504040204" pitchFamily="34" charset="0"/>
                          </a:rPr>
                          <m:t>𝑥</m:t>
                        </m:r>
                      </m:e>
                      <m:sup>
                        <m:r>
                          <a:rPr lang="en-PH" sz="2000" i="1">
                            <a:solidFill>
                              <a:schemeClr val="tx1"/>
                            </a:solidFill>
                            <a:latin typeface="Cambria Math"/>
                            <a:ea typeface="Verdana" panose="020B0604030504040204" pitchFamily="34" charset="0"/>
                          </a:rPr>
                          <m:t>3</m:t>
                        </m:r>
                      </m:sup>
                    </m:sSup>
                    <m:r>
                      <a:rPr lang="en-PH" sz="2000" i="1">
                        <a:solidFill>
                          <a:schemeClr val="tx1"/>
                        </a:solidFill>
                        <a:latin typeface="Cambria Math"/>
                        <a:ea typeface="Cambria Math"/>
                      </a:rPr>
                      <m:t>∙                    =</m:t>
                    </m:r>
                  </m:oMath>
                </a14:m>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1" dirty="0">
                    <a:solidFill>
                      <a:srgbClr val="7030A0"/>
                    </a:solidFill>
                    <a:latin typeface="Verdana" panose="020B0604030504040204" pitchFamily="34" charset="0"/>
                    <a:ea typeface="Verdana" panose="020B0604030504040204" pitchFamily="34" charset="0"/>
                    <a:cs typeface="Verdana" panose="020B0604030504040204" pitchFamily="34" charset="0"/>
                  </a:rPr>
                  <a:t>__________</a:t>
                </a:r>
              </a:p>
              <a:p>
                <a:pPr marL="457200" indent="-457200"/>
                <a:endParaRPr lang="en-US" sz="2000" dirty="0">
                  <a:solidFill>
                    <a:srgbClr val="7030A0"/>
                  </a:solidFill>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1126333" y="1632182"/>
                <a:ext cx="9274503" cy="4163447"/>
              </a:xfrm>
              <a:prstGeom prst="rect">
                <a:avLst/>
              </a:prstGeom>
              <a:blipFill>
                <a:blip r:embed="rId4"/>
                <a:stretch>
                  <a:fillRect l="-723" t="-878" r="-592"/>
                </a:stretch>
              </a:blipFill>
            </p:spPr>
            <p:txBody>
              <a:bodyPr/>
              <a:lstStyle/>
              <a:p>
                <a:r>
                  <a:rPr lang="en-US">
                    <a:noFill/>
                  </a:rPr>
                  <a:t> </a:t>
                </a:r>
              </a:p>
            </p:txBody>
          </p:sp>
        </mc:Fallback>
      </mc:AlternateContent>
      <p:pic>
        <p:nvPicPr>
          <p:cNvPr id="9" name="image11.png" descr="Icon&#10;&#10;Description automatically generated">
            <a:extLst>
              <a:ext uri="{FF2B5EF4-FFF2-40B4-BE49-F238E27FC236}">
                <a16:creationId xmlns:a16="http://schemas.microsoft.com/office/drawing/2014/main" id="{AB6025B0-44D8-3D4D-8767-5E84175A4E91}"/>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514839" y="457902"/>
            <a:ext cx="749808" cy="749808"/>
          </a:xfrm>
          <a:prstGeom prst="rect">
            <a:avLst/>
          </a:prstGeom>
          <a:ln/>
        </p:spPr>
      </p:pic>
      <p:sp>
        <p:nvSpPr>
          <p:cNvPr id="2" name="Rectangle 1"/>
          <p:cNvSpPr/>
          <p:nvPr/>
        </p:nvSpPr>
        <p:spPr>
          <a:xfrm>
            <a:off x="2540066" y="5020968"/>
            <a:ext cx="914400" cy="457200"/>
          </a:xfrm>
          <a:prstGeom prst="rect">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oogle Shape;282;g104476d1465_1_17">
            <a:extLst>
              <a:ext uri="{FF2B5EF4-FFF2-40B4-BE49-F238E27FC236}">
                <a16:creationId xmlns:a16="http://schemas.microsoft.com/office/drawing/2014/main"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168</a:t>
            </a:r>
            <a:endParaRPr i="1" dirty="0">
              <a:latin typeface="Calibri"/>
              <a:ea typeface="Calibri"/>
              <a:cs typeface="Calibri"/>
              <a:sym typeface="Calibri"/>
            </a:endParaRPr>
          </a:p>
        </p:txBody>
      </p:sp>
    </p:spTree>
    <p:extLst>
      <p:ext uri="{BB962C8B-B14F-4D97-AF65-F5344CB8AC3E}">
        <p14:creationId xmlns:p14="http://schemas.microsoft.com/office/powerpoint/2010/main" val="1931621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7" name="Rectangle 6">
                <a:extLst>
                  <a:ext uri="{FF2B5EF4-FFF2-40B4-BE49-F238E27FC236}">
                    <a16:creationId xmlns:a16="http://schemas.microsoft.com/office/drawing/2014/main" id="{889B13CF-7799-4D4C-A21A-ADC21E179E83}"/>
                  </a:ext>
                </a:extLst>
              </p:cNvPr>
              <p:cNvSpPr/>
              <p:nvPr/>
            </p:nvSpPr>
            <p:spPr>
              <a:xfrm>
                <a:off x="1080655" y="310614"/>
                <a:ext cx="8972321" cy="3865674"/>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000" i="1">
                            <a:latin typeface="Cambria Math" panose="02040503050406030204" pitchFamily="18" charset="0"/>
                            <a:ea typeface="Verdana" panose="020B0604030504040204" pitchFamily="34" charset="0"/>
                          </a:rPr>
                        </m:ctrlPr>
                      </m:fPr>
                      <m:num>
                        <m:sSup>
                          <m:sSupPr>
                            <m:ctrlPr>
                              <a:rPr lang="en-US" sz="2000" i="1">
                                <a:latin typeface="Cambria Math" panose="02040503050406030204" pitchFamily="18" charset="0"/>
                                <a:ea typeface="Verdana" panose="020B0604030504040204" pitchFamily="34" charset="0"/>
                              </a:rPr>
                            </m:ctrlPr>
                          </m:sSupPr>
                          <m:e>
                            <m:r>
                              <a:rPr lang="en-PH" sz="2000" i="1">
                                <a:latin typeface="Cambria Math"/>
                                <a:ea typeface="Verdana" panose="020B0604030504040204" pitchFamily="34" charset="0"/>
                              </a:rPr>
                              <m:t>(</m:t>
                            </m:r>
                            <m:sSup>
                              <m:sSupPr>
                                <m:ctrlPr>
                                  <a:rPr lang="en-PH" sz="2000" i="1">
                                    <a:latin typeface="Cambria Math" panose="02040503050406030204" pitchFamily="18" charset="0"/>
                                    <a:ea typeface="Verdana" panose="020B0604030504040204" pitchFamily="34" charset="0"/>
                                  </a:rPr>
                                </m:ctrlPr>
                              </m:sSupPr>
                              <m:e>
                                <m:r>
                                  <a:rPr lang="en-PH" sz="2000" i="1">
                                    <a:latin typeface="Cambria Math"/>
                                    <a:ea typeface="Verdana" panose="020B0604030504040204" pitchFamily="34" charset="0"/>
                                  </a:rPr>
                                  <m:t>2</m:t>
                                </m:r>
                                <m:r>
                                  <a:rPr lang="en-PH" sz="2000" i="1">
                                    <a:latin typeface="Cambria Math"/>
                                    <a:ea typeface="Verdana" panose="020B0604030504040204" pitchFamily="34" charset="0"/>
                                  </a:rPr>
                                  <m:t>𝑥</m:t>
                                </m:r>
                              </m:e>
                              <m:sup>
                                <m:r>
                                  <a:rPr lang="en-PH" sz="2000" i="1">
                                    <a:latin typeface="Cambria Math"/>
                                    <a:ea typeface="Verdana" panose="020B0604030504040204" pitchFamily="34" charset="0"/>
                                  </a:rPr>
                                  <m:t>−4</m:t>
                                </m:r>
                              </m:sup>
                            </m:sSup>
                            <m:r>
                              <a:rPr lang="en-PH" sz="2000" i="1">
                                <a:latin typeface="Cambria Math"/>
                                <a:ea typeface="Cambria Math"/>
                              </a:rPr>
                              <m:t>∙</m:t>
                            </m:r>
                            <m:sSup>
                              <m:sSupPr>
                                <m:ctrlPr>
                                  <a:rPr lang="en-PH" sz="2000" i="1">
                                    <a:latin typeface="Cambria Math" panose="02040503050406030204" pitchFamily="18" charset="0"/>
                                    <a:ea typeface="Cambria Math"/>
                                  </a:rPr>
                                </m:ctrlPr>
                              </m:sSupPr>
                              <m:e>
                                <m:r>
                                  <a:rPr lang="en-PH" sz="2000" i="1">
                                    <a:latin typeface="Cambria Math"/>
                                    <a:ea typeface="Cambria Math"/>
                                  </a:rPr>
                                  <m:t>𝑥</m:t>
                                </m:r>
                              </m:e>
                              <m:sup>
                                <m:r>
                                  <a:rPr lang="en-PH" sz="2000" i="1">
                                    <a:latin typeface="Cambria Math"/>
                                    <a:ea typeface="Cambria Math"/>
                                  </a:rPr>
                                  <m:t>5</m:t>
                                </m:r>
                              </m:sup>
                            </m:sSup>
                            <m:r>
                              <a:rPr lang="en-PH" sz="2000" i="1">
                                <a:latin typeface="Cambria Math"/>
                                <a:ea typeface="Verdana" panose="020B0604030504040204" pitchFamily="34" charset="0"/>
                              </a:rPr>
                              <m:t>)</m:t>
                            </m:r>
                          </m:e>
                          <m:sup>
                            <m:r>
                              <a:rPr lang="en-PH" sz="2000" i="1">
                                <a:latin typeface="Cambria Math"/>
                                <a:ea typeface="Verdana" panose="020B0604030504040204" pitchFamily="34" charset="0"/>
                              </a:rPr>
                              <m:t>3</m:t>
                            </m:r>
                          </m:sup>
                        </m:sSup>
                      </m:num>
                      <m:den>
                        <m:r>
                          <a:rPr lang="en-PH" sz="2000" i="1">
                            <a:latin typeface="Cambria Math"/>
                            <a:ea typeface="Cambria Math"/>
                          </a:rPr>
                          <m:t> </m:t>
                        </m:r>
                      </m:den>
                    </m:f>
                    <m:r>
                      <a:rPr lang="en-PH" sz="2000" i="1">
                        <a:latin typeface="Cambria Math"/>
                        <a:ea typeface="Verdana" panose="020B0604030504040204" pitchFamily="34" charset="0"/>
                      </a:rPr>
                      <m:t>=</m:t>
                    </m:r>
                  </m:oMath>
                </a14:m>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1" dirty="0">
                    <a:solidFill>
                      <a:schemeClr val="accent2"/>
                    </a:solidFill>
                    <a:latin typeface="Verdana" panose="020B0604030504040204" pitchFamily="34" charset="0"/>
                    <a:ea typeface="Verdana" panose="020B0604030504040204" pitchFamily="34" charset="0"/>
                    <a:cs typeface="Verdana" panose="020B0604030504040204" pitchFamily="34" charset="0"/>
                  </a:rPr>
                  <a:t>__________</a:t>
                </a:r>
                <a:endParaRPr lang="en-US" sz="2000" dirty="0">
                  <a:solidFill>
                    <a:schemeClr val="accent2"/>
                  </a:solidFill>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r>
                  <a:rPr lang="en-PH"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PH" sz="2000" i="1">
                            <a:latin typeface="Cambria Math" panose="02040503050406030204" pitchFamily="18" charset="0"/>
                            <a:cs typeface="Times New Roman" panose="02020603050405020304" pitchFamily="18" charset="0"/>
                          </a:rPr>
                        </m:ctrlPr>
                      </m:sSupPr>
                      <m:e>
                        <m:d>
                          <m:dPr>
                            <m:ctrlPr>
                              <a:rPr lang="en-PH" sz="2000" i="1">
                                <a:latin typeface="Cambria Math" panose="02040503050406030204" pitchFamily="18" charset="0"/>
                                <a:cs typeface="Times New Roman" panose="02020603050405020304" pitchFamily="18" charset="0"/>
                              </a:rPr>
                            </m:ctrlPr>
                          </m:dPr>
                          <m:e>
                            <m:f>
                              <m:fPr>
                                <m:ctrlPr>
                                  <a:rPr lang="en-PH" sz="2000" i="1">
                                    <a:latin typeface="Cambria Math" panose="02040503050406030204" pitchFamily="18" charset="0"/>
                                    <a:cs typeface="Times New Roman" panose="02020603050405020304" pitchFamily="18" charset="0"/>
                                  </a:rPr>
                                </m:ctrlPr>
                              </m:fPr>
                              <m:num>
                                <m:r>
                                  <a:rPr lang="en-PH" sz="2000" i="1">
                                    <a:latin typeface="Cambria Math"/>
                                    <a:cs typeface="Times New Roman" panose="02020603050405020304" pitchFamily="18" charset="0"/>
                                  </a:rPr>
                                  <m:t>𝑥</m:t>
                                </m:r>
                              </m:num>
                              <m:den>
                                <m:sSup>
                                  <m:sSupPr>
                                    <m:ctrlPr>
                                      <a:rPr lang="en-PH" sz="2000" i="1">
                                        <a:latin typeface="Cambria Math" panose="02040503050406030204" pitchFamily="18" charset="0"/>
                                        <a:cs typeface="Times New Roman" panose="02020603050405020304" pitchFamily="18" charset="0"/>
                                      </a:rPr>
                                    </m:ctrlPr>
                                  </m:sSupPr>
                                  <m:e>
                                    <m:r>
                                      <a:rPr lang="en-PH" sz="2000" i="1">
                                        <a:latin typeface="Cambria Math"/>
                                        <a:cs typeface="Times New Roman" panose="02020603050405020304" pitchFamily="18" charset="0"/>
                                      </a:rPr>
                                      <m:t>2</m:t>
                                    </m:r>
                                    <m:r>
                                      <a:rPr lang="en-PH" sz="2000" i="1">
                                        <a:latin typeface="Cambria Math"/>
                                        <a:cs typeface="Times New Roman" panose="02020603050405020304" pitchFamily="18" charset="0"/>
                                      </a:rPr>
                                      <m:t>𝑥</m:t>
                                    </m:r>
                                  </m:e>
                                  <m:sup>
                                    <m:r>
                                      <a:rPr lang="en-PH" sz="2000" i="1">
                                        <a:latin typeface="Cambria Math"/>
                                        <a:cs typeface="Times New Roman" panose="02020603050405020304" pitchFamily="18" charset="0"/>
                                      </a:rPr>
                                      <m:t>3</m:t>
                                    </m:r>
                                  </m:sup>
                                </m:sSup>
                              </m:den>
                            </m:f>
                          </m:e>
                        </m:d>
                      </m:e>
                      <m:sup>
                        <m:r>
                          <a:rPr lang="en-PH" sz="2000" i="1">
                            <a:latin typeface="Cambria Math"/>
                            <a:cs typeface="Times New Roman" panose="02020603050405020304" pitchFamily="18" charset="0"/>
                          </a:rPr>
                          <m:t>2</m:t>
                        </m:r>
                      </m:sup>
                    </m:sSup>
                    <m:r>
                      <a:rPr lang="en-PH" sz="2000" i="1">
                        <a:latin typeface="Cambria Math"/>
                        <a:ea typeface="Cambria Math"/>
                        <a:cs typeface="Times New Roman" panose="02020603050405020304" pitchFamily="18" charset="0"/>
                      </a:rPr>
                      <m:t>∙                    =</m:t>
                    </m:r>
                  </m:oMath>
                </a14:m>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1" dirty="0">
                    <a:solidFill>
                      <a:schemeClr val="accent1"/>
                    </a:solidFill>
                    <a:latin typeface="Verdana" panose="020B0604030504040204" pitchFamily="34" charset="0"/>
                    <a:ea typeface="Verdana" panose="020B0604030504040204" pitchFamily="34" charset="0"/>
                    <a:cs typeface="Verdana" panose="020B0604030504040204" pitchFamily="34" charset="0"/>
                  </a:rPr>
                  <a:t>__________</a:t>
                </a:r>
                <a:endParaRPr lang="en-PH" sz="2000" dirty="0">
                  <a:solidFill>
                    <a:schemeClr val="accent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000" i="1">
                            <a:latin typeface="Cambria Math" panose="02040503050406030204" pitchFamily="18" charset="0"/>
                            <a:cs typeface="Times New Roman" panose="02020603050405020304" pitchFamily="18" charset="0"/>
                          </a:rPr>
                        </m:ctrlPr>
                      </m:sSupPr>
                      <m:e>
                        <m:r>
                          <a:rPr lang="en-PH" sz="2000" i="1">
                            <a:latin typeface="Cambria Math"/>
                            <a:cs typeface="Times New Roman" panose="02020603050405020304" pitchFamily="18" charset="0"/>
                          </a:rPr>
                          <m:t>𝑥</m:t>
                        </m:r>
                      </m:e>
                      <m:sup>
                        <m:r>
                          <a:rPr lang="en-PH" sz="2000" i="1">
                            <a:latin typeface="Cambria Math"/>
                            <a:cs typeface="Times New Roman" panose="02020603050405020304" pitchFamily="18" charset="0"/>
                          </a:rPr>
                          <m:t>3</m:t>
                        </m:r>
                      </m:sup>
                    </m:sSup>
                    <m:r>
                      <a:rPr lang="en-US" sz="2000" i="1">
                        <a:latin typeface="Cambria Math"/>
                        <a:ea typeface="Cambria Math"/>
                        <a:cs typeface="Times New Roman" panose="02020603050405020304" pitchFamily="18" charset="0"/>
                      </a:rPr>
                      <m:t>∙</m:t>
                    </m:r>
                    <m:r>
                      <a:rPr lang="en-PH" sz="2000" i="1">
                        <a:latin typeface="Cambria Math"/>
                        <a:ea typeface="Cambria Math"/>
                        <a:cs typeface="Times New Roman" panose="02020603050405020304" pitchFamily="18" charset="0"/>
                      </a:rPr>
                      <m:t>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r>
                  <a:rPr lang="en-US" sz="2000" b="1" dirty="0">
                    <a:solidFill>
                      <a:schemeClr val="tx1"/>
                    </a:solidFill>
                    <a:latin typeface="Verdana" panose="020B0604030504040204" pitchFamily="34" charset="0"/>
                    <a:ea typeface="Verdana" panose="020B0604030504040204" pitchFamily="34" charset="0"/>
                    <a:cs typeface="Verdana" panose="020B0604030504040204" pitchFamily="34" charset="0"/>
                  </a:rPr>
                  <a:t>__________</a:t>
                </a:r>
              </a:p>
              <a:p>
                <a:pPr marL="457200" indent="-457200"/>
                <a:endParaRPr 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To successfully complete the relay, your final answer should be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Go back to check your answers if needed.</a:t>
                </a:r>
              </a:p>
            </p:txBody>
          </p:sp>
        </mc:Choice>
        <mc:Fallback>
          <p:sp>
            <p:nvSpPr>
              <p:cNvPr id="7" name="Rectangle 6">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1080655" y="310614"/>
                <a:ext cx="8972321" cy="3865674"/>
              </a:xfrm>
              <a:prstGeom prst="rect">
                <a:avLst/>
              </a:prstGeom>
              <a:blipFill>
                <a:blip r:embed="rId4"/>
                <a:stretch>
                  <a:fillRect l="-747" b="-1893"/>
                </a:stretch>
              </a:blipFill>
            </p:spPr>
            <p:txBody>
              <a:bodyPr/>
              <a:lstStyle/>
              <a:p>
                <a:r>
                  <a:rPr lang="en-US">
                    <a:noFill/>
                  </a:rPr>
                  <a:t> </a:t>
                </a:r>
              </a:p>
            </p:txBody>
          </p:sp>
        </mc:Fallback>
      </mc:AlternateContent>
      <p:sp>
        <p:nvSpPr>
          <p:cNvPr id="9" name="Rectangle 8"/>
          <p:cNvSpPr/>
          <p:nvPr/>
        </p:nvSpPr>
        <p:spPr>
          <a:xfrm>
            <a:off x="2645471" y="1478722"/>
            <a:ext cx="914400" cy="457200"/>
          </a:xfrm>
          <a:prstGeom prst="rect">
            <a:avLst/>
          </a:prstGeom>
          <a:no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190299" y="2505407"/>
            <a:ext cx="914400" cy="457200"/>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818954" y="708142"/>
            <a:ext cx="914400" cy="457200"/>
          </a:xfrm>
          <a:prstGeom prst="rect">
            <a:avLst/>
          </a:prstGeom>
          <a:noFill/>
          <a:ln>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168</a:t>
            </a:r>
            <a:endParaRPr i="1" dirty="0">
              <a:latin typeface="Calibri"/>
              <a:ea typeface="Calibri"/>
              <a:cs typeface="Calibri"/>
              <a:sym typeface="Calibri"/>
            </a:endParaRPr>
          </a:p>
        </p:txBody>
      </p:sp>
    </p:spTree>
    <p:extLst>
      <p:ext uri="{BB962C8B-B14F-4D97-AF65-F5344CB8AC3E}">
        <p14:creationId xmlns:p14="http://schemas.microsoft.com/office/powerpoint/2010/main" val="3721575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76722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7" name="image7.png" descr="Icon&#10;&#10;Description automatically generated">
            <a:extLst>
              <a:ext uri="{FF2B5EF4-FFF2-40B4-BE49-F238E27FC236}">
                <a16:creationId xmlns:a16="http://schemas.microsoft.com/office/drawing/2014/main" id="{7D3D7426-F2D2-6D44-8F53-8B0768628E30}"/>
              </a:ext>
            </a:extLst>
          </p:cNvPr>
          <p:cNvPicPr/>
          <p:nvPr/>
        </p:nvPicPr>
        <p:blipFill>
          <a:blip r:embed="rId4"/>
          <a:srcRect/>
          <a:stretch>
            <a:fillRect/>
          </a:stretch>
        </p:blipFill>
        <p:spPr>
          <a:xfrm>
            <a:off x="4609073" y="2849918"/>
            <a:ext cx="1158155" cy="1158155"/>
          </a:xfrm>
          <a:prstGeom prst="rect">
            <a:avLst/>
          </a:prstGeom>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169</a:t>
            </a:r>
            <a:endParaRPr i="1" dirty="0">
              <a:latin typeface="Calibri"/>
              <a:ea typeface="Calibri"/>
              <a:cs typeface="Calibri"/>
              <a:sym typeface="Calibri"/>
            </a:endParaRPr>
          </a:p>
        </p:txBody>
      </p:sp>
    </p:spTree>
    <p:extLst>
      <p:ext uri="{BB962C8B-B14F-4D97-AF65-F5344CB8AC3E}">
        <p14:creationId xmlns:p14="http://schemas.microsoft.com/office/powerpoint/2010/main" val="1525332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015"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31628"/>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50813" y="11637"/>
            <a:ext cx="969129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400" b="1" dirty="0">
                <a:solidFill>
                  <a:srgbClr val="E24E5F"/>
                </a:solidFill>
                <a:latin typeface="Verdana"/>
                <a:ea typeface="Verdana"/>
                <a:cs typeface="Verdana"/>
                <a:sym typeface="Verdana"/>
              </a:rPr>
              <a:t>4.10.5 Your Turn!</a:t>
            </a: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080656" y="1282657"/>
                <a:ext cx="8960988" cy="241906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For each expression, write an equivalent expression using positive exponents and the fewest factors possible. Show your work in the space provided. Then, for each expression check off the exponent laws applied from the list provided.</a:t>
                </a:r>
              </a:p>
              <a:p>
                <a:pPr marL="457200" indent="-457200" eaLnBrk="0" fontAlgn="base" hangingPunct="0">
                  <a:spcBef>
                    <a:spcPct val="0"/>
                  </a:spcBef>
                  <a:spcAft>
                    <a:spcPct val="0"/>
                  </a:spcAft>
                  <a:buClrTx/>
                  <a:buFont typeface="+mj-lt"/>
                  <a:buAutoNum type="arabi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r>
                  <a:rPr lang="en-PH" altLang="en-US" sz="2000" dirty="0">
                    <a:solidFill>
                      <a:schemeClr val="tx1"/>
                    </a:solidFill>
                    <a:latin typeface="Verdana" panose="020B0604030504040204" pitchFamily="34" charset="0"/>
                    <a:cs typeface="Times New Roman" panose="02020603050405020304" pitchFamily="18" charset="0"/>
                  </a:rPr>
                  <a:t> </a:t>
                </a:r>
                <a14:m>
                  <m:oMath xmlns:m="http://schemas.openxmlformats.org/officeDocument/2006/math">
                    <m:f>
                      <m:fPr>
                        <m:ctrlPr>
                          <a:rPr lang="en-US" altLang="en-US" sz="2000" i="1" dirty="0">
                            <a:solidFill>
                              <a:schemeClr val="tx1"/>
                            </a:solidFill>
                            <a:latin typeface="Cambria Math" panose="02040503050406030204" pitchFamily="18" charset="0"/>
                            <a:cs typeface="Times New Roman" panose="02020603050405020304" pitchFamily="18" charset="0"/>
                          </a:rPr>
                        </m:ctrlPr>
                      </m:fPr>
                      <m:num>
                        <m:sSup>
                          <m:sSupPr>
                            <m:ctrlPr>
                              <a:rPr lang="en-US" altLang="en-US" sz="2000" i="1" dirty="0">
                                <a:solidFill>
                                  <a:schemeClr val="tx1"/>
                                </a:solidFill>
                                <a:latin typeface="Cambria Math" panose="02040503050406030204" pitchFamily="18" charset="0"/>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8</m:t>
                            </m:r>
                            <m:r>
                              <a:rPr lang="es-ES" altLang="en-US" sz="2000" i="1" dirty="0">
                                <a:solidFill>
                                  <a:schemeClr val="tx1"/>
                                </a:solidFill>
                                <a:latin typeface="Cambria Math" panose="02040503050406030204" pitchFamily="18" charset="0"/>
                                <a:cs typeface="Times New Roman" panose="02020603050405020304" pitchFamily="18" charset="0"/>
                              </a:rPr>
                              <m:t>𝑥</m:t>
                            </m:r>
                          </m:e>
                          <m:sup>
                            <m:r>
                              <a:rPr lang="es-ES" altLang="en-US" sz="2000" i="1" dirty="0">
                                <a:solidFill>
                                  <a:schemeClr val="tx1"/>
                                </a:solidFill>
                                <a:latin typeface="Cambria Math" panose="02040503050406030204" pitchFamily="18" charset="0"/>
                                <a:cs typeface="Times New Roman" panose="02020603050405020304" pitchFamily="18" charset="0"/>
                              </a:rPr>
                              <m:t>3</m:t>
                            </m:r>
                          </m:sup>
                        </m:sSup>
                      </m:num>
                      <m:den>
                        <m:sSup>
                          <m:sSupPr>
                            <m:ctrlPr>
                              <a:rPr lang="en-US" altLang="en-US" sz="2000" i="1" dirty="0">
                                <a:solidFill>
                                  <a:schemeClr val="tx1"/>
                                </a:solidFill>
                                <a:latin typeface="Cambria Math" panose="02040503050406030204" pitchFamily="18" charset="0"/>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2</m:t>
                            </m:r>
                            <m:r>
                              <a:rPr lang="es-ES" altLang="en-US" sz="2000" i="1" dirty="0">
                                <a:solidFill>
                                  <a:schemeClr val="tx1"/>
                                </a:solidFill>
                                <a:latin typeface="Cambria Math" panose="02040503050406030204" pitchFamily="18" charset="0"/>
                                <a:cs typeface="Times New Roman" panose="02020603050405020304" pitchFamily="18" charset="0"/>
                              </a:rPr>
                              <m:t>𝑥</m:t>
                            </m:r>
                          </m:e>
                          <m:sup>
                            <m:r>
                              <a:rPr lang="es-ES" altLang="en-US" sz="2000" i="1" dirty="0">
                                <a:solidFill>
                                  <a:schemeClr val="tx1"/>
                                </a:solidFill>
                                <a:latin typeface="Cambria Math" panose="02040503050406030204" pitchFamily="18" charset="0"/>
                                <a:cs typeface="Times New Roman" panose="02020603050405020304" pitchFamily="18" charset="0"/>
                              </a:rPr>
                              <m:t>9</m:t>
                            </m:r>
                          </m:sup>
                        </m:sSup>
                      </m:den>
                    </m:f>
                    <m:r>
                      <a:rPr lang="es-ES" altLang="en-US" sz="2000" i="1" dirty="0">
                        <a:solidFill>
                          <a:schemeClr val="tx1"/>
                        </a:solidFill>
                        <a:latin typeface="Cambria Math" panose="02040503050406030204" pitchFamily="18" charset="0"/>
                        <a:cs typeface="Times New Roman" panose="02020603050405020304" pitchFamily="18" charset="0"/>
                      </a:rPr>
                      <m:t>·</m:t>
                    </m:r>
                    <m:sSup>
                      <m:sSupPr>
                        <m:ctrlPr>
                          <a:rPr lang="es-ES" altLang="en-US" sz="2000" i="1" dirty="0">
                            <a:solidFill>
                              <a:schemeClr val="tx1"/>
                            </a:solidFill>
                            <a:latin typeface="Cambria Math" panose="02040503050406030204" pitchFamily="18" charset="0"/>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𝑥</m:t>
                        </m:r>
                      </m:e>
                      <m:sup>
                        <m:r>
                          <a:rPr lang="es-ES" altLang="en-US" sz="2000" i="1" dirty="0">
                            <a:solidFill>
                              <a:schemeClr val="tx1"/>
                            </a:solidFill>
                            <a:latin typeface="Cambria Math" panose="02040503050406030204" pitchFamily="18" charset="0"/>
                            <a:cs typeface="Times New Roman" panose="02020603050405020304" pitchFamily="18" charset="0"/>
                          </a:rPr>
                          <m:t>4</m:t>
                        </m:r>
                      </m:sup>
                    </m:sSup>
                  </m:oMath>
                </a14:m>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1080656" y="1282657"/>
                <a:ext cx="8960988" cy="2419060"/>
              </a:xfrm>
              <a:prstGeom prst="rect">
                <a:avLst/>
              </a:prstGeom>
              <a:blipFill>
                <a:blip r:embed="rId4"/>
                <a:stretch>
                  <a:fillRect l="-748" t="-1511" r="-6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36" name="image7.png" descr="Icon&#10;&#10;Description automatically generated">
            <a:extLst>
              <a:ext uri="{FF2B5EF4-FFF2-40B4-BE49-F238E27FC236}">
                <a16:creationId xmlns:a16="http://schemas.microsoft.com/office/drawing/2014/main" id="{13336746-0459-FB4D-B451-A8ABC8D12598}"/>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91689" y="294925"/>
            <a:ext cx="759124" cy="759124"/>
          </a:xfrm>
          <a:prstGeom prst="rect">
            <a:avLst/>
          </a:prstGeom>
          <a:ln/>
        </p:spPr>
      </p:pic>
      <p:graphicFrame>
        <p:nvGraphicFramePr>
          <p:cNvPr id="5" name="Table 4">
            <a:extLst>
              <a:ext uri="{FF2B5EF4-FFF2-40B4-BE49-F238E27FC236}">
                <a16:creationId xmlns:a16="http://schemas.microsoft.com/office/drawing/2014/main" id="{BAA6CE6E-6CCC-7349-A6BD-0889B561F839}"/>
              </a:ext>
            </a:extLst>
          </p:cNvPr>
          <p:cNvGraphicFramePr>
            <a:graphicFrameLocks noGrp="1"/>
          </p:cNvGraphicFramePr>
          <p:nvPr>
            <p:extLst>
              <p:ext uri="{D42A27DB-BD31-4B8C-83A1-F6EECF244321}">
                <p14:modId xmlns:p14="http://schemas.microsoft.com/office/powerpoint/2010/main" val="1269509894"/>
              </p:ext>
            </p:extLst>
          </p:nvPr>
        </p:nvGraphicFramePr>
        <p:xfrm>
          <a:off x="3778070" y="2885162"/>
          <a:ext cx="3566160" cy="3108960"/>
        </p:xfrm>
        <a:graphic>
          <a:graphicData uri="http://schemas.openxmlformats.org/drawingml/2006/table">
            <a:tbl>
              <a:tblPr firstRow="1" firstCol="1" bandRow="1"/>
              <a:tblGrid>
                <a:gridCol w="3566160">
                  <a:extLst>
                    <a:ext uri="{9D8B030D-6E8A-4147-A177-3AD203B41FA5}">
                      <a16:colId xmlns:a16="http://schemas.microsoft.com/office/drawing/2014/main" val="4059357587"/>
                    </a:ext>
                  </a:extLst>
                </a:gridCol>
              </a:tblGrid>
              <a:tr h="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Exponent Laws Applied</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958573238"/>
                  </a:ext>
                </a:extLst>
              </a:tr>
              <a:tr h="0">
                <a:tc>
                  <a:txBody>
                    <a:bodyPr/>
                    <a:lstStyle/>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identity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 </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quotient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zero exponent</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5092742"/>
                  </a:ext>
                </a:extLst>
              </a:tr>
            </a:tbl>
          </a:graphicData>
        </a:graphic>
      </p:graphicFrame>
      <p:sp>
        <p:nvSpPr>
          <p:cNvPr id="9" name="Google Shape;282;g104476d1465_1_17">
            <a:extLst>
              <a:ext uri="{FF2B5EF4-FFF2-40B4-BE49-F238E27FC236}">
                <a16:creationId xmlns:a16="http://schemas.microsoft.com/office/drawing/2014/main" id="{B595484E-1C62-AC4F-B448-37E60F77A8C0}"/>
              </a:ext>
            </a:extLst>
          </p:cNvPr>
          <p:cNvSpPr txBox="1"/>
          <p:nvPr/>
        </p:nvSpPr>
        <p:spPr>
          <a:xfrm>
            <a:off x="8889924" y="648870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169</a:t>
            </a:r>
            <a:endParaRPr i="1" dirty="0">
              <a:latin typeface="Calibri"/>
              <a:ea typeface="Calibri"/>
              <a:cs typeface="Calibri"/>
              <a:sym typeface="Calibri"/>
            </a:endParaRPr>
          </a:p>
        </p:txBody>
      </p:sp>
    </p:spTree>
    <p:extLst>
      <p:ext uri="{BB962C8B-B14F-4D97-AF65-F5344CB8AC3E}">
        <p14:creationId xmlns:p14="http://schemas.microsoft.com/office/powerpoint/2010/main" val="2020413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889B13CF-7799-4D4C-A21A-ADC21E179E83}"/>
                  </a:ext>
                </a:extLst>
              </p:cNvPr>
              <p:cNvSpPr/>
              <p:nvPr/>
            </p:nvSpPr>
            <p:spPr>
              <a:xfrm>
                <a:off x="1080655" y="748710"/>
                <a:ext cx="8971871" cy="708977"/>
              </a:xfrm>
              <a:prstGeom prst="rect">
                <a:avLst/>
              </a:prstGeom>
            </p:spPr>
            <p:txBody>
              <a:bodyPr wrap="square">
                <a:spAutoFit/>
              </a:bodyPr>
              <a:lstStyle/>
              <a:p>
                <a:pPr marL="914400" indent="-457200">
                  <a:buFont typeface="+mj-lt"/>
                  <a:buAutoNum type="alphaLcPeriod" startAt="2"/>
                </a:pPr>
                <a:r>
                  <a:rPr lang="en-PH" sz="2400" dirty="0">
                    <a:latin typeface="Verdana" panose="020B0604030504040204" pitchFamily="34" charset="0"/>
                    <a:cs typeface="Times New Roman" panose="02020603050405020304" pitchFamily="18" charset="0"/>
                  </a:rPr>
                  <a:t> </a:t>
                </a:r>
                <a14:m>
                  <m:oMath xmlns:m="http://schemas.openxmlformats.org/officeDocument/2006/math">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𝑝</m:t>
                                </m:r>
                              </m:e>
                              <m:sup>
                                <m:r>
                                  <a:rPr lang="es-ES" sz="2400" i="1" dirty="0">
                                    <a:latin typeface="Cambria Math" panose="02040503050406030204" pitchFamily="18" charset="0"/>
                                    <a:cs typeface="Times New Roman" panose="02020603050405020304" pitchFamily="18" charset="0"/>
                                  </a:rPr>
                                  <m:t>0</m:t>
                                </m:r>
                              </m:sup>
                            </m:sSup>
                            <m:r>
                              <a:rPr lang="es-ES" sz="2400" i="1" dirty="0">
                                <a:latin typeface="Cambria Math" panose="02040503050406030204" pitchFamily="18" charset="0"/>
                                <a:cs typeface="Times New Roman" panose="02020603050405020304" pitchFamily="18" charset="0"/>
                              </a:rPr>
                              <m:t>·</m:t>
                            </m:r>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𝑞</m:t>
                                </m:r>
                              </m:e>
                              <m:sup>
                                <m:r>
                                  <a:rPr lang="es-ES" sz="2400" i="1" dirty="0">
                                    <a:latin typeface="Cambria Math" panose="02040503050406030204" pitchFamily="18" charset="0"/>
                                    <a:cs typeface="Times New Roman" panose="02020603050405020304" pitchFamily="18" charset="0"/>
                                  </a:rPr>
                                  <m:t>−2</m:t>
                                </m:r>
                              </m:sup>
                            </m:sSup>
                          </m:num>
                          <m:den>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𝑝</m:t>
                                        </m:r>
                                      </m:e>
                                      <m:sup>
                                        <m:r>
                                          <a:rPr lang="es-ES" sz="2400" i="1" dirty="0">
                                            <a:latin typeface="Cambria Math" panose="02040503050406030204" pitchFamily="18" charset="0"/>
                                            <a:cs typeface="Times New Roman" panose="02020603050405020304" pitchFamily="18" charset="0"/>
                                          </a:rPr>
                                          <m:t>−3</m:t>
                                        </m:r>
                                      </m:sup>
                                    </m:sSup>
                                    <m:r>
                                      <a:rPr lang="es-ES" sz="2400" i="1" dirty="0">
                                        <a:latin typeface="Cambria Math" panose="02040503050406030204" pitchFamily="18" charset="0"/>
                                        <a:cs typeface="Times New Roman" panose="02020603050405020304" pitchFamily="18" charset="0"/>
                                      </a:rPr>
                                      <m:t>·</m:t>
                                    </m:r>
                                    <m:r>
                                      <a:rPr lang="es-ES" sz="2400" i="1" dirty="0">
                                        <a:latin typeface="Cambria Math" panose="02040503050406030204" pitchFamily="18" charset="0"/>
                                        <a:cs typeface="Times New Roman" panose="02020603050405020304" pitchFamily="18" charset="0"/>
                                      </a:rPr>
                                      <m:t>𝑞</m:t>
                                    </m:r>
                                  </m:e>
                                </m:d>
                              </m:e>
                              <m:sup>
                                <m:r>
                                  <a:rPr lang="es-ES" sz="2400" i="1" dirty="0">
                                    <a:latin typeface="Cambria Math" panose="02040503050406030204" pitchFamily="18" charset="0"/>
                                    <a:cs typeface="Times New Roman" panose="02020603050405020304" pitchFamily="18" charset="0"/>
                                  </a:rPr>
                                  <m:t>2</m:t>
                                </m:r>
                              </m:sup>
                            </m:sSup>
                          </m:den>
                        </m:f>
                      </m:e>
                    </m:d>
                  </m:oMath>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1080655" y="748710"/>
                <a:ext cx="8971871" cy="708977"/>
              </a:xfrm>
              <a:prstGeom prst="rect">
                <a:avLst/>
              </a:prstGeom>
              <a:blipFill>
                <a:blip r:embed="rId4"/>
                <a:stretch>
                  <a:fillRect/>
                </a:stretch>
              </a:blipFill>
            </p:spPr>
            <p:txBody>
              <a:bodyPr/>
              <a:lstStyle/>
              <a:p>
                <a:r>
                  <a:rPr lang="en-US">
                    <a:noFill/>
                  </a:rPr>
                  <a:t> </a:t>
                </a:r>
              </a:p>
            </p:txBody>
          </p:sp>
        </mc:Fallback>
      </mc:AlternateContent>
      <p:graphicFrame>
        <p:nvGraphicFramePr>
          <p:cNvPr id="7" name="Table 6">
            <a:extLst>
              <a:ext uri="{FF2B5EF4-FFF2-40B4-BE49-F238E27FC236}">
                <a16:creationId xmlns:a16="http://schemas.microsoft.com/office/drawing/2014/main" id="{BAA6CE6E-6CCC-7349-A6BD-0889B561F839}"/>
              </a:ext>
            </a:extLst>
          </p:cNvPr>
          <p:cNvGraphicFramePr>
            <a:graphicFrameLocks noGrp="1"/>
          </p:cNvGraphicFramePr>
          <p:nvPr>
            <p:extLst>
              <p:ext uri="{D42A27DB-BD31-4B8C-83A1-F6EECF244321}">
                <p14:modId xmlns:p14="http://schemas.microsoft.com/office/powerpoint/2010/main" val="581362003"/>
              </p:ext>
            </p:extLst>
          </p:nvPr>
        </p:nvGraphicFramePr>
        <p:xfrm>
          <a:off x="4396309" y="848720"/>
          <a:ext cx="3566160" cy="3108960"/>
        </p:xfrm>
        <a:graphic>
          <a:graphicData uri="http://schemas.openxmlformats.org/drawingml/2006/table">
            <a:tbl>
              <a:tblPr firstRow="1" firstCol="1" bandRow="1"/>
              <a:tblGrid>
                <a:gridCol w="3566160">
                  <a:extLst>
                    <a:ext uri="{9D8B030D-6E8A-4147-A177-3AD203B41FA5}">
                      <a16:colId xmlns:a16="http://schemas.microsoft.com/office/drawing/2014/main" val="4059357587"/>
                    </a:ext>
                  </a:extLst>
                </a:gridCol>
              </a:tblGrid>
              <a:tr h="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Exponent Laws Applied</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958573238"/>
                  </a:ext>
                </a:extLst>
              </a:tr>
              <a:tr h="0">
                <a:tc>
                  <a:txBody>
                    <a:bodyPr/>
                    <a:lstStyle/>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identity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 </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quotient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zero exponent</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5092742"/>
                  </a:ext>
                </a:extLst>
              </a:tr>
            </a:tbl>
          </a:graphicData>
        </a:graphic>
      </p:graphicFrame>
      <p:sp>
        <p:nvSpPr>
          <p:cNvPr id="8" name="Google Shape;282;g104476d1465_1_17">
            <a:extLst>
              <a:ext uri="{FF2B5EF4-FFF2-40B4-BE49-F238E27FC236}">
                <a16:creationId xmlns:a16="http://schemas.microsoft.com/office/drawing/2014/main" id="{B595484E-1C62-AC4F-B448-37E60F77A8C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169</a:t>
            </a:r>
            <a:endParaRPr i="1" dirty="0">
              <a:latin typeface="Calibri"/>
              <a:ea typeface="Calibri"/>
              <a:cs typeface="Calibri"/>
              <a:sym typeface="Calibri"/>
            </a:endParaRPr>
          </a:p>
        </p:txBody>
      </p:sp>
    </p:spTree>
    <p:extLst>
      <p:ext uri="{BB962C8B-B14F-4D97-AF65-F5344CB8AC3E}">
        <p14:creationId xmlns:p14="http://schemas.microsoft.com/office/powerpoint/2010/main" val="4040516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169</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63958"/>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18161" y="220697"/>
            <a:ext cx="929866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4.10.6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84164" y="341771"/>
            <a:ext cx="747300" cy="747300"/>
          </a:xfrm>
          <a:prstGeom prst="rect">
            <a:avLst/>
          </a:prstGeom>
          <a:noFill/>
          <a:ln>
            <a:noFill/>
          </a:ln>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AE281112-0763-C941-9DB7-9B28C4EA4745}"/>
                  </a:ext>
                </a:extLst>
              </p:cNvPr>
              <p:cNvSpPr/>
              <p:nvPr/>
            </p:nvSpPr>
            <p:spPr>
              <a:xfrm>
                <a:off x="1092530" y="1546397"/>
                <a:ext cx="9524296" cy="2176045"/>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an equivalent expression using positive exponents and the fewest factors possible.</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a14:m>
                  <m:oMathPara xmlns:m="http://schemas.openxmlformats.org/officeDocument/2006/math">
                    <m:oMathParaPr>
                      <m:jc m:val="centerGroup"/>
                    </m:oMathParaPr>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3</m:t>
                                      </m:r>
                                      <m:r>
                                        <a:rPr lang="es-ES" sz="2400" i="1" dirty="0">
                                          <a:latin typeface="Cambria Math" panose="02040503050406030204" pitchFamily="18" charset="0"/>
                                          <a:cs typeface="Times New Roman" panose="02020603050405020304" pitchFamily="18" charset="0"/>
                                        </a:rPr>
                                        <m:t>𝑚</m:t>
                                      </m:r>
                                    </m:e>
                                    <m:sup>
                                      <m:r>
                                        <a:rPr lang="es-ES" sz="2400" i="1" dirty="0">
                                          <a:latin typeface="Cambria Math" panose="02040503050406030204" pitchFamily="18" charset="0"/>
                                          <a:cs typeface="Times New Roman" panose="02020603050405020304" pitchFamily="18" charset="0"/>
                                        </a:rPr>
                                        <m:t>3</m:t>
                                      </m:r>
                                    </m:sup>
                                  </m:sSup>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𝑛</m:t>
                                      </m:r>
                                    </m:e>
                                    <m:sup>
                                      <m:r>
                                        <a:rPr lang="es-ES" sz="2400" i="1" dirty="0">
                                          <a:latin typeface="Cambria Math" panose="02040503050406030204" pitchFamily="18" charset="0"/>
                                          <a:cs typeface="Times New Roman" panose="02020603050405020304" pitchFamily="18" charset="0"/>
                                        </a:rPr>
                                        <m:t>2</m:t>
                                      </m:r>
                                    </m:sup>
                                  </m:sSup>
                                </m:num>
                                <m:den>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6</m:t>
                                      </m:r>
                                      <m:r>
                                        <a:rPr lang="es-ES" sz="2400" i="1" dirty="0">
                                          <a:latin typeface="Cambria Math" panose="02040503050406030204" pitchFamily="18" charset="0"/>
                                          <a:cs typeface="Times New Roman" panose="02020603050405020304" pitchFamily="18" charset="0"/>
                                        </a:rPr>
                                        <m:t>𝑚𝑛</m:t>
                                      </m:r>
                                    </m:e>
                                    <m:sup>
                                      <m:r>
                                        <a:rPr lang="es-ES" sz="2400" i="1" dirty="0">
                                          <a:latin typeface="Cambria Math" panose="02040503050406030204" pitchFamily="18" charset="0"/>
                                          <a:cs typeface="Times New Roman" panose="02020603050405020304" pitchFamily="18" charset="0"/>
                                        </a:rPr>
                                        <m:t>4</m:t>
                                      </m:r>
                                    </m:sup>
                                  </m:sSup>
                                </m:den>
                              </m:f>
                            </m:e>
                          </m:d>
                        </m:e>
                        <m:sup>
                          <m:r>
                            <a:rPr lang="es-ES" sz="2400" i="1" dirty="0">
                              <a:latin typeface="Cambria Math" panose="02040503050406030204" pitchFamily="18" charset="0"/>
                              <a:cs typeface="Times New Roman" panose="02020603050405020304" pitchFamily="18" charset="0"/>
                            </a:rPr>
                            <m:t>2</m:t>
                          </m:r>
                        </m:sup>
                      </m:sSup>
                    </m:oMath>
                  </m:oMathPara>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2" name="Rectangle 1">
                <a:extLst>
                  <a:ext uri="{FF2B5EF4-FFF2-40B4-BE49-F238E27FC236}">
                    <a16:creationId xmlns:a16="http://schemas.microsoft.com/office/drawing/2014/main" id="{AE281112-0763-C941-9DB7-9B28C4EA4745}"/>
                  </a:ext>
                </a:extLst>
              </p:cNvPr>
              <p:cNvSpPr>
                <a:spLocks noRot="1" noChangeAspect="1" noMove="1" noResize="1" noEditPoints="1" noAdjustHandles="1" noChangeArrowheads="1" noChangeShapeType="1" noTextEdit="1"/>
              </p:cNvSpPr>
              <p:nvPr/>
            </p:nvSpPr>
            <p:spPr>
              <a:xfrm>
                <a:off x="1092530" y="1546397"/>
                <a:ext cx="9524296" cy="2176045"/>
              </a:xfrm>
              <a:prstGeom prst="rect">
                <a:avLst/>
              </a:prstGeom>
              <a:blipFill>
                <a:blip r:embed="rId5"/>
                <a:stretch>
                  <a:fillRect l="-960" t="-2241"/>
                </a:stretch>
              </a:blipFill>
            </p:spPr>
            <p:txBody>
              <a:bodyPr/>
              <a:lstStyle/>
              <a:p>
                <a:r>
                  <a:rPr lang="en-US">
                    <a:noFill/>
                  </a:rPr>
                  <a:t> </a:t>
                </a:r>
              </a:p>
            </p:txBody>
          </p:sp>
        </mc:Fallback>
      </mc:AlternateContent>
      <p:sp>
        <p:nvSpPr>
          <p:cNvPr id="8" name="Google Shape;282;g104476d1465_1_17">
            <a:extLst>
              <a:ext uri="{FF2B5EF4-FFF2-40B4-BE49-F238E27FC236}">
                <a16:creationId xmlns:a16="http://schemas.microsoft.com/office/drawing/2014/main" id="{B595484E-1C62-AC4F-B448-37E60F77A8C0}"/>
              </a:ext>
            </a:extLst>
          </p:cNvPr>
          <p:cNvSpPr txBox="1"/>
          <p:nvPr/>
        </p:nvSpPr>
        <p:spPr>
          <a:xfrm>
            <a:off x="8889924" y="64210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169</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3131</TotalTime>
  <Words>1027</Words>
  <Application>Microsoft Office PowerPoint</Application>
  <PresentationFormat>Widescreen</PresentationFormat>
  <Paragraphs>255</Paragraphs>
  <Slides>23</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Verdana</vt:lpstr>
      <vt:lpstr>Wingdings</vt:lpstr>
      <vt:lpstr>Century Gothic</vt:lpstr>
      <vt:lpstr>Calibri</vt:lpstr>
      <vt:lpstr>Arial Black</vt:lpstr>
      <vt:lpstr>Cambria Math</vt:lpstr>
      <vt:lpstr>Courier New</vt:lpstr>
      <vt:lpstr>Arial</vt:lpstr>
      <vt:lpstr>Cambria</vt:lpstr>
      <vt:lpstr>1_Office Theme</vt:lpstr>
      <vt:lpstr>8th Grade Math: Pre-Algebra  Unit 4, Lesson 10  Applying  Multiple Laws of Exponents –  Part 1  Volume 1, pg. 165  </vt:lpstr>
      <vt:lpstr>Benchmark</vt:lpstr>
      <vt:lpstr>PowerPoint Presentation</vt:lpstr>
      <vt:lpstr>PowerPoint Presentation</vt:lpstr>
      <vt:lpstr>Warm-Up</vt:lpstr>
      <vt:lpstr>PowerPoint Presentation</vt:lpstr>
      <vt:lpstr>Guided Practice</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Activity</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39</cp:revision>
  <dcterms:created xsi:type="dcterms:W3CDTF">2015-03-17T18:51:18Z</dcterms:created>
  <dcterms:modified xsi:type="dcterms:W3CDTF">2022-06-15T23:42:38Z</dcterms:modified>
</cp:coreProperties>
</file>