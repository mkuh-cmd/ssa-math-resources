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345" r:id="rId4"/>
    <p:sldId id="286" r:id="rId5"/>
    <p:sldId id="261" r:id="rId6"/>
    <p:sldId id="287" r:id="rId7"/>
    <p:sldId id="289" r:id="rId8"/>
    <p:sldId id="290" r:id="rId9"/>
    <p:sldId id="308" r:id="rId10"/>
    <p:sldId id="347" r:id="rId11"/>
    <p:sldId id="348" r:id="rId12"/>
    <p:sldId id="315" r:id="rId13"/>
    <p:sldId id="316" r:id="rId14"/>
    <p:sldId id="339" r:id="rId15"/>
    <p:sldId id="306" r:id="rId16"/>
    <p:sldId id="307" r:id="rId17"/>
  </p:sldIdLst>
  <p:sldSz cx="12192000" cy="6858000"/>
  <p:notesSz cx="6858000" cy="9144000"/>
  <p:embeddedFontLst>
    <p:embeddedFont>
      <p:font typeface="Arial Black" panose="020B0A04020102020204" pitchFamily="34" charset="0"/>
      <p:bold r:id="rId19"/>
    </p:embeddedFont>
    <p:embeddedFont>
      <p:font typeface="Calibri" panose="020F0502020204030204" pitchFamily="34" charset="0"/>
      <p:regular r:id="rId20"/>
      <p:bold r:id="rId21"/>
      <p:italic r:id="rId22"/>
      <p:boldItalic r:id="rId23"/>
    </p:embeddedFont>
    <p:embeddedFont>
      <p:font typeface="Cambria Math" panose="02040503050406030204" pitchFamily="18" charset="0"/>
      <p:regular r:id="rId24"/>
    </p:embeddedFont>
    <p:embeddedFont>
      <p:font typeface="Century Gothic" panose="020B0502020202020204" pitchFamily="34" charset="0"/>
      <p:regular r:id="rId25"/>
      <p:bold r:id="rId26"/>
      <p:italic r:id="rId27"/>
      <p:boldItalic r:id="rId28"/>
    </p:embeddedFont>
    <p:embeddedFont>
      <p:font typeface="Verdana" panose="020B060403050404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BEA6"/>
    <a:srgbClr val="BFBFBF"/>
    <a:srgbClr val="C9DF6F"/>
    <a:srgbClr val="417DBF"/>
    <a:srgbClr val="3F2A67"/>
    <a:srgbClr val="E24E5F"/>
    <a:srgbClr val="26B7D4"/>
    <a:srgbClr val="54B5D1"/>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9" autoAdjust="0"/>
    <p:restoredTop sz="94591" autoAdjust="0"/>
  </p:normalViewPr>
  <p:slideViewPr>
    <p:cSldViewPr snapToGrid="0">
      <p:cViewPr varScale="1">
        <p:scale>
          <a:sx n="86" d="100"/>
          <a:sy n="86" d="100"/>
        </p:scale>
        <p:origin x="60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5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225466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848071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687999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1341522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5752346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 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4, Lesson 11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Applying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Multiple Laws of Exponents –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Part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170</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65471" y="136525"/>
            <a:ext cx="8835679"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518171" y="325364"/>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170</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070517" y="1307592"/>
            <a:ext cx="914028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500" dirty="0">
                <a:latin typeface="Verdana" panose="020B0604030504040204" pitchFamily="34" charset="0"/>
                <a:ea typeface="Verdana" panose="020B0604030504040204" pitchFamily="34" charset="0"/>
                <a:cs typeface="Verdana" panose="020B0604030504040204" pitchFamily="34" charset="0"/>
              </a:rPr>
              <a:t>MA.8.AR.1.1</a:t>
            </a:r>
          </a:p>
          <a:p>
            <a:pPr marL="552450" lvl="1" indent="0">
              <a:buNone/>
            </a:pPr>
            <a:r>
              <a:rPr lang="en-US" sz="3500" dirty="0">
                <a:latin typeface="Verdana" panose="020B0604030504040204" pitchFamily="34" charset="0"/>
                <a:ea typeface="Verdana" panose="020B0604030504040204" pitchFamily="34" charset="0"/>
                <a:cs typeface="Verdana" panose="020B0604030504040204" pitchFamily="34" charset="0"/>
              </a:rPr>
              <a:t>Apply the Laws of Exponents to generate equivalent algebraic expressions, limited to integer exponents and monomial bases.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512959" y="328205"/>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304693" y="239726"/>
            <a:ext cx="900475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6" name="Google Shape;282;g104476d1465_1_17">
            <a:extLst>
              <a:ext uri="{FF2B5EF4-FFF2-40B4-BE49-F238E27FC236}">
                <a16:creationId xmlns:a16="http://schemas.microsoft.com/office/drawing/2014/main" id="{FD66E1D7-C8ED-8A4A-9EE6-BDBA39B99125}"/>
              </a:ext>
            </a:extLst>
          </p:cNvPr>
          <p:cNvSpPr txBox="1"/>
          <p:nvPr/>
        </p:nvSpPr>
        <p:spPr>
          <a:xfrm>
            <a:off x="8889924"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170</a:t>
            </a:r>
            <a:endParaRPr i="1" dirty="0">
              <a:latin typeface="Calibri"/>
              <a:ea typeface="Calibri"/>
              <a:cs typeface="Calibri"/>
              <a:sym typeface="Calibri"/>
            </a:endParaRP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1070518" y="1614431"/>
            <a:ext cx="8842846"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304693" y="30660"/>
            <a:ext cx="923428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535091"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170</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649896" y="1600200"/>
            <a:ext cx="856090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write an equivalent algebraic expression by applying multiple laws of exponents.</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170</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52436" y="243038"/>
            <a:ext cx="9163163"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4.11.1 Warm-Up: Reading Numbers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14168" y="375056"/>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170</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1D7562E-134F-D14B-AF1A-DF40E11EF758}"/>
                  </a:ext>
                </a:extLst>
              </p:cNvPr>
              <p:cNvSpPr txBox="1"/>
              <p:nvPr/>
            </p:nvSpPr>
            <p:spPr>
              <a:xfrm>
                <a:off x="1070517" y="1689433"/>
                <a:ext cx="9021747" cy="4093428"/>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In the U.S., the number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42,067,513,708</m:t>
                    </m:r>
                  </m:oMath>
                </a14:m>
                <a:r>
                  <a:rPr lang="en-US" sz="2000" dirty="0">
                    <a:latin typeface="Verdana" panose="020B0604030504040204" pitchFamily="34" charset="0"/>
                    <a:ea typeface="Verdana" panose="020B0604030504040204" pitchFamily="34" charset="0"/>
                    <a:cs typeface="Verdana" panose="020B0604030504040204" pitchFamily="34" charset="0"/>
                  </a:rPr>
                  <a:t> is read as,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42</m:t>
                    </m:r>
                  </m:oMath>
                </a14:m>
                <a:r>
                  <a:rPr lang="en-US" sz="2000" dirty="0">
                    <a:latin typeface="Verdana" panose="020B0604030504040204" pitchFamily="34" charset="0"/>
                    <a:ea typeface="Verdana" panose="020B0604030504040204" pitchFamily="34" charset="0"/>
                    <a:cs typeface="Verdana" panose="020B0604030504040204" pitchFamily="34" charset="0"/>
                  </a:rPr>
                  <a:t> billion,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67</m:t>
                    </m:r>
                  </m:oMath>
                </a14:m>
                <a:r>
                  <a:rPr lang="en-US" sz="2000" dirty="0">
                    <a:latin typeface="Verdana" panose="020B0604030504040204" pitchFamily="34" charset="0"/>
                    <a:ea typeface="Verdana" panose="020B0604030504040204" pitchFamily="34" charset="0"/>
                    <a:cs typeface="Verdana" panose="020B0604030504040204" pitchFamily="34" charset="0"/>
                  </a:rPr>
                  <a:t> million,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513</m:t>
                    </m:r>
                  </m:oMath>
                </a14:m>
                <a:r>
                  <a:rPr lang="en-US" sz="2000" dirty="0">
                    <a:latin typeface="Verdana" panose="020B0604030504040204" pitchFamily="34" charset="0"/>
                    <a:ea typeface="Verdana" panose="020B0604030504040204" pitchFamily="34" charset="0"/>
                    <a:cs typeface="Verdana" panose="020B0604030504040204" pitchFamily="34" charset="0"/>
                  </a:rPr>
                  <a:t> thousand,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708</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88950"/>
                <a:r>
                  <a:rPr lang="en-US" sz="2000" dirty="0">
                    <a:latin typeface="Verdana" panose="020B0604030504040204" pitchFamily="34" charset="0"/>
                    <a:ea typeface="Verdana" panose="020B0604030504040204" pitchFamily="34" charset="0"/>
                    <a:cs typeface="Verdana" panose="020B0604030504040204" pitchFamily="34" charset="0"/>
                  </a:rPr>
                  <a:t>In many Latin American countries and in the United Kingdom, the same number is read as, </a:t>
                </a:r>
              </a:p>
              <a:p>
                <a:pPr marL="488950"/>
                <a:r>
                  <a:rPr lang="en-US" sz="2000" dirty="0">
                    <a:latin typeface="Verdana" panose="020B0604030504040204" pitchFamily="34" charset="0"/>
                    <a:ea typeface="Verdana" panose="020B0604030504040204" pitchFamily="34" charset="0"/>
                    <a:cs typeface="Verdana" panose="020B0604030504040204" pitchFamily="34" charset="0"/>
                  </a:rPr>
                  <a:t>“</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42</m:t>
                    </m:r>
                  </m:oMath>
                </a14:m>
                <a:r>
                  <a:rPr lang="en-US" sz="2000" dirty="0">
                    <a:latin typeface="Verdana" panose="020B0604030504040204" pitchFamily="34" charset="0"/>
                    <a:ea typeface="Verdana" panose="020B0604030504040204" pitchFamily="34" charset="0"/>
                    <a:cs typeface="Verdana" panose="020B0604030504040204" pitchFamily="34" charset="0"/>
                  </a:rPr>
                  <a:t> thousand million,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67</m:t>
                    </m:r>
                  </m:oMath>
                </a14:m>
                <a:r>
                  <a:rPr lang="en-US" sz="2000" dirty="0">
                    <a:latin typeface="Verdana" panose="020B0604030504040204" pitchFamily="34" charset="0"/>
                    <a:ea typeface="Verdana" panose="020B0604030504040204" pitchFamily="34" charset="0"/>
                    <a:cs typeface="Verdana" panose="020B0604030504040204" pitchFamily="34" charset="0"/>
                  </a:rPr>
                  <a:t> million,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513</m:t>
                    </m:r>
                  </m:oMath>
                </a14:m>
                <a:r>
                  <a:rPr lang="en-US" sz="2000" dirty="0">
                    <a:latin typeface="Verdana" panose="020B0604030504040204" pitchFamily="34" charset="0"/>
                    <a:ea typeface="Verdana" panose="020B0604030504040204" pitchFamily="34" charset="0"/>
                    <a:cs typeface="Verdana" panose="020B0604030504040204" pitchFamily="34" charset="0"/>
                  </a:rPr>
                  <a:t> thousand,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708</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8895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Explain or show how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42</m:t>
                    </m:r>
                  </m:oMath>
                </a14:m>
                <a:r>
                  <a:rPr lang="en-US" sz="2000" dirty="0">
                    <a:latin typeface="Verdana" panose="020B0604030504040204" pitchFamily="34" charset="0"/>
                    <a:ea typeface="Verdana" panose="020B0604030504040204" pitchFamily="34" charset="0"/>
                    <a:cs typeface="Verdana" panose="020B0604030504040204" pitchFamily="34" charset="0"/>
                  </a:rPr>
                  <a:t> billion and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42</m:t>
                    </m:r>
                  </m:oMath>
                </a14:m>
                <a:r>
                  <a:rPr lang="en-US" sz="2000" dirty="0">
                    <a:latin typeface="Verdana" panose="020B0604030504040204" pitchFamily="34" charset="0"/>
                    <a:ea typeface="Verdana" panose="020B0604030504040204" pitchFamily="34" charset="0"/>
                    <a:cs typeface="Verdana" panose="020B0604030504040204" pitchFamily="34" charset="0"/>
                  </a:rPr>
                  <a:t> thousand million describe the same quantity.</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Express the quantity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42</m:t>
                    </m:r>
                  </m:oMath>
                </a14:m>
                <a:r>
                  <a:rPr lang="en-US" sz="2000" dirty="0">
                    <a:latin typeface="Verdana" panose="020B0604030504040204" pitchFamily="34" charset="0"/>
                    <a:ea typeface="Verdana" panose="020B0604030504040204" pitchFamily="34" charset="0"/>
                    <a:cs typeface="Verdana" panose="020B0604030504040204" pitchFamily="34" charset="0"/>
                  </a:rPr>
                  <a:t> thousand million using scientific notation.</a:t>
                </a:r>
              </a:p>
            </p:txBody>
          </p:sp>
        </mc:Choice>
        <mc:Fallback>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1070517" y="1689433"/>
                <a:ext cx="9021747" cy="4093428"/>
              </a:xfrm>
              <a:prstGeom prst="rect">
                <a:avLst/>
              </a:prstGeom>
              <a:blipFill>
                <a:blip r:embed="rId5"/>
                <a:stretch>
                  <a:fillRect l="-743" t="-1042" b="-1637"/>
                </a:stretch>
              </a:blipFill>
            </p:spPr>
            <p:txBody>
              <a:bodyPr/>
              <a:lstStyle/>
              <a:p>
                <a:r>
                  <a:rPr lang="en-US">
                    <a:noFill/>
                  </a:rPr>
                  <a:t> </a:t>
                </a:r>
              </a:p>
            </p:txBody>
          </p:sp>
        </mc:Fallback>
      </mc:AlternateContent>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171</a:t>
            </a:r>
            <a:endParaRPr i="1" dirty="0">
              <a:latin typeface="Calibri"/>
              <a:ea typeface="Calibri"/>
              <a:cs typeface="Calibri"/>
              <a:sym typeface="Calibri"/>
            </a:endParaRPr>
          </a:p>
        </p:txBody>
      </p:sp>
      <p:pic>
        <p:nvPicPr>
          <p:cNvPr id="7" name="image11.png" descr="Icon&#10;&#10;Description automatically generated">
            <a:extLst>
              <a:ext uri="{FF2B5EF4-FFF2-40B4-BE49-F238E27FC236}">
                <a16:creationId xmlns:a16="http://schemas.microsoft.com/office/drawing/2014/main" id="{BAC72EFF-A717-D149-9B45-4086978C030F}"/>
              </a:ext>
            </a:extLst>
          </p:cNvPr>
          <p:cNvPicPr/>
          <p:nvPr/>
        </p:nvPicPr>
        <p:blipFill>
          <a:blip r:embed="rId4"/>
          <a:srcRect/>
          <a:stretch>
            <a:fillRect/>
          </a:stretch>
        </p:blipFill>
        <p:spPr>
          <a:xfrm>
            <a:off x="4947852" y="2854921"/>
            <a:ext cx="1148148" cy="1148148"/>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04693" y="414539"/>
            <a:ext cx="9521803"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4.11.2 Activity: Riddle Me This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171</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1070518" y="1548018"/>
            <a:ext cx="898246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Work with your partner to generate equivalent expressions for each expression given below by applying the laws of exponents. Your results will be used to complete the riddle in question 2. </a:t>
            </a:r>
          </a:p>
        </p:txBody>
      </p:sp>
      <p:pic>
        <p:nvPicPr>
          <p:cNvPr id="9" name="image11.png" descr="Icon&#10;&#10;Description automatically generated">
            <a:extLst>
              <a:ext uri="{FF2B5EF4-FFF2-40B4-BE49-F238E27FC236}">
                <a16:creationId xmlns:a16="http://schemas.microsoft.com/office/drawing/2014/main" id="{BA614084-E970-E240-85C8-C869451A38DA}"/>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436433" y="252323"/>
            <a:ext cx="753107" cy="753107"/>
          </a:xfrm>
          <a:prstGeom prst="rect">
            <a:avLst/>
          </a:prstGeom>
          <a:ln/>
        </p:spPr>
      </p:pic>
      <p:pic>
        <p:nvPicPr>
          <p:cNvPr id="8" name="Picture 7" descr="Table, calendar&#10;&#10;Description automatically generated with medium confidence">
            <a:extLst>
              <a:ext uri="{FF2B5EF4-FFF2-40B4-BE49-F238E27FC236}">
                <a16:creationId xmlns:a16="http://schemas.microsoft.com/office/drawing/2014/main" id="{7B0F5048-F3FC-3B4A-A853-B3FDA148547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854022" y="3518470"/>
            <a:ext cx="6500813" cy="2403590"/>
          </a:xfrm>
          <a:prstGeom prst="rect">
            <a:avLst/>
          </a:prstGeom>
        </p:spPr>
      </p:pic>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171</a:t>
            </a:r>
            <a:endParaRPr i="1" dirty="0">
              <a:latin typeface="Calibri"/>
              <a:ea typeface="Calibri"/>
              <a:cs typeface="Calibri"/>
              <a:sym typeface="Calibri"/>
            </a:endParaRPr>
          </a:p>
        </p:txBody>
      </p:sp>
      <p:pic>
        <p:nvPicPr>
          <p:cNvPr id="3" name="Picture 2" descr="Table&#10;&#10;Description automatically generated">
            <a:extLst>
              <a:ext uri="{FF2B5EF4-FFF2-40B4-BE49-F238E27FC236}">
                <a16:creationId xmlns:a16="http://schemas.microsoft.com/office/drawing/2014/main" id="{B79C3EC0-EDAF-E349-BBB5-13D00B83557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852489" y="476567"/>
            <a:ext cx="6487023" cy="5896516"/>
          </a:xfrm>
          <a:prstGeom prst="rect">
            <a:avLst/>
          </a:prstGeom>
        </p:spPr>
      </p:pic>
    </p:spTree>
    <p:extLst>
      <p:ext uri="{BB962C8B-B14F-4D97-AF65-F5344CB8AC3E}">
        <p14:creationId xmlns:p14="http://schemas.microsoft.com/office/powerpoint/2010/main" val="3393813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171</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1070518" y="597508"/>
                <a:ext cx="8982460" cy="193899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Complete the answers to the riddle by writing the letters in the blanks from the expressions in question 1 that are equivalent to each expression.</a:t>
                </a: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indent="45085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In the expression </a:t>
                </a:r>
                <a14:m>
                  <m:oMath xmlns:m="http://schemas.openxmlformats.org/officeDocument/2006/math">
                    <m:sSup>
                      <m:sSupPr>
                        <m:ctrlPr>
                          <a:rPr lang="en-US" altLang="en-US" sz="2400" i="1" dirty="0">
                            <a:solidFill>
                              <a:schemeClr val="tx1"/>
                            </a:solidFill>
                            <a:latin typeface="Cambria Math" panose="02040503050406030204" pitchFamily="18" charset="0"/>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𝑥</m:t>
                        </m:r>
                      </m:e>
                      <m:sup>
                        <m:r>
                          <a:rPr lang="es-ES" altLang="en-US" sz="2400" i="1" dirty="0">
                            <a:solidFill>
                              <a:schemeClr val="tx1"/>
                            </a:solidFill>
                            <a:latin typeface="Cambria Math" panose="02040503050406030204" pitchFamily="18" charset="0"/>
                            <a:cs typeface="Times New Roman" panose="02020603050405020304" pitchFamily="18" charset="0"/>
                          </a:rPr>
                          <m:t>3</m:t>
                        </m:r>
                      </m:sup>
                    </m:sSup>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what do you call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3</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p>
            </p:txBody>
          </p:sp>
        </mc:Choice>
        <mc:Fallback>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1070518" y="597508"/>
                <a:ext cx="8982460" cy="1938992"/>
              </a:xfrm>
              <a:prstGeom prst="rect">
                <a:avLst/>
              </a:prstGeom>
              <a:blipFill>
                <a:blip r:embed="rId4"/>
                <a:stretch>
                  <a:fillRect l="-1086" t="-1887" r="-747" b="-660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10" name="Table 9">
                <a:extLst>
                  <a:ext uri="{FF2B5EF4-FFF2-40B4-BE49-F238E27FC236}">
                    <a16:creationId xmlns:a16="http://schemas.microsoft.com/office/drawing/2014/main" id="{F60206A5-BADF-F14E-ADD5-E1B3614DC6A9}"/>
                  </a:ext>
                </a:extLst>
              </p:cNvPr>
              <p:cNvGraphicFramePr>
                <a:graphicFrameLocks noGrp="1"/>
              </p:cNvGraphicFramePr>
              <p:nvPr>
                <p:extLst>
                  <p:ext uri="{D42A27DB-BD31-4B8C-83A1-F6EECF244321}">
                    <p14:modId xmlns:p14="http://schemas.microsoft.com/office/powerpoint/2010/main" val="2299373994"/>
                  </p:ext>
                </p:extLst>
              </p:nvPr>
            </p:nvGraphicFramePr>
            <p:xfrm>
              <a:off x="2591747" y="2887480"/>
              <a:ext cx="5940000" cy="1271584"/>
            </p:xfrm>
            <a:graphic>
              <a:graphicData uri="http://schemas.openxmlformats.org/drawingml/2006/table">
                <a:tbl>
                  <a:tblPr firstRow="1" firstCol="1" bandRow="1"/>
                  <a:tblGrid>
                    <a:gridCol w="540000">
                      <a:extLst>
                        <a:ext uri="{9D8B030D-6E8A-4147-A177-3AD203B41FA5}">
                          <a16:colId xmlns:a16="http://schemas.microsoft.com/office/drawing/2014/main" val="1104734230"/>
                        </a:ext>
                      </a:extLst>
                    </a:gridCol>
                    <a:gridCol w="180000">
                      <a:extLst>
                        <a:ext uri="{9D8B030D-6E8A-4147-A177-3AD203B41FA5}">
                          <a16:colId xmlns:a16="http://schemas.microsoft.com/office/drawing/2014/main" val="686658897"/>
                        </a:ext>
                      </a:extLst>
                    </a:gridCol>
                    <a:gridCol w="720000">
                      <a:extLst>
                        <a:ext uri="{9D8B030D-6E8A-4147-A177-3AD203B41FA5}">
                          <a16:colId xmlns:a16="http://schemas.microsoft.com/office/drawing/2014/main" val="435007519"/>
                        </a:ext>
                      </a:extLst>
                    </a:gridCol>
                    <a:gridCol w="180000">
                      <a:extLst>
                        <a:ext uri="{9D8B030D-6E8A-4147-A177-3AD203B41FA5}">
                          <a16:colId xmlns:a16="http://schemas.microsoft.com/office/drawing/2014/main" val="2878217323"/>
                        </a:ext>
                      </a:extLst>
                    </a:gridCol>
                    <a:gridCol w="720000">
                      <a:extLst>
                        <a:ext uri="{9D8B030D-6E8A-4147-A177-3AD203B41FA5}">
                          <a16:colId xmlns:a16="http://schemas.microsoft.com/office/drawing/2014/main" val="3882220760"/>
                        </a:ext>
                      </a:extLst>
                    </a:gridCol>
                    <a:gridCol w="720000">
                      <a:extLst>
                        <a:ext uri="{9D8B030D-6E8A-4147-A177-3AD203B41FA5}">
                          <a16:colId xmlns:a16="http://schemas.microsoft.com/office/drawing/2014/main" val="3356638544"/>
                        </a:ext>
                      </a:extLst>
                    </a:gridCol>
                    <a:gridCol w="720000">
                      <a:extLst>
                        <a:ext uri="{9D8B030D-6E8A-4147-A177-3AD203B41FA5}">
                          <a16:colId xmlns:a16="http://schemas.microsoft.com/office/drawing/2014/main" val="2676298219"/>
                        </a:ext>
                      </a:extLst>
                    </a:gridCol>
                    <a:gridCol w="720000">
                      <a:extLst>
                        <a:ext uri="{9D8B030D-6E8A-4147-A177-3AD203B41FA5}">
                          <a16:colId xmlns:a16="http://schemas.microsoft.com/office/drawing/2014/main" val="2078419341"/>
                        </a:ext>
                      </a:extLst>
                    </a:gridCol>
                    <a:gridCol w="720000">
                      <a:extLst>
                        <a:ext uri="{9D8B030D-6E8A-4147-A177-3AD203B41FA5}">
                          <a16:colId xmlns:a16="http://schemas.microsoft.com/office/drawing/2014/main" val="331194328"/>
                        </a:ext>
                      </a:extLst>
                    </a:gridCol>
                    <a:gridCol w="720000">
                      <a:extLst>
                        <a:ext uri="{9D8B030D-6E8A-4147-A177-3AD203B41FA5}">
                          <a16:colId xmlns:a16="http://schemas.microsoft.com/office/drawing/2014/main" val="2035150618"/>
                        </a:ext>
                      </a:extLst>
                    </a:gridCol>
                  </a:tblGrid>
                  <a:tr h="540000">
                    <a:tc>
                      <a:txBody>
                        <a:bodyPr/>
                        <a:lstStyle/>
                        <a:p>
                          <a:pPr marL="0" marR="0" indent="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An</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 </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extLst>
                      <a:ext uri="{0D108BD9-81ED-4DB2-BD59-A6C34878D82A}">
                        <a16:rowId xmlns:a16="http://schemas.microsoft.com/office/drawing/2014/main" val="3768240907"/>
                      </a:ext>
                    </a:extLst>
                  </a:tr>
                  <a:tr h="640080">
                    <a:tc>
                      <a:txBody>
                        <a:bodyPr/>
                        <a:lstStyle/>
                        <a:p>
                          <a:pPr marL="0" marR="0">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 </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spcBef>
                              <a:spcPts val="0"/>
                            </a:spcBef>
                            <a:spcAft>
                              <a:spcPts val="0"/>
                            </a:spcAft>
                          </a:pPr>
                          <a:r>
                            <a:rPr lang="en-US" sz="2400">
                              <a:effectLst/>
                              <a:latin typeface="Verdana" panose="020B0604030504040204" pitchFamily="34" charset="0"/>
                              <a:ea typeface="Verdana" pitchFamily="34" charset="0"/>
                              <a:cs typeface="Times New Roman" panose="02020603050405020304" pitchFamily="18" charset="0"/>
                            </a:rPr>
                            <a:t> </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100</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𝑎</m:t>
                                </m:r>
                              </m:oMath>
                            </m:oMathPara>
                          </a14:m>
                          <a:endParaRPr lang="x-none" sz="240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 </a:t>
                          </a:r>
                          <a:endParaRPr lang="x-none" sz="2400" dirty="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17</m:t>
                                        </m:r>
                                      </m:sup>
                                    </m:sSup>
                                  </m:den>
                                </m:f>
                              </m:oMath>
                            </m:oMathPara>
                          </a14:m>
                          <a:endParaRPr lang="x-none" sz="240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13</m:t>
                                        </m:r>
                                      </m:sup>
                                    </m:sSup>
                                  </m:num>
                                  <m:den>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m:t>
                                    </m:r>
                                  </m:den>
                                </m:f>
                              </m:oMath>
                            </m:oMathPara>
                          </a14:m>
                          <a:endParaRPr lang="x-none" sz="240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m:t>
                                        </m:r>
                                      </m:sup>
                                    </m:sSup>
                                  </m:den>
                                </m:f>
                              </m:oMath>
                            </m:oMathPara>
                          </a14:m>
                          <a:endParaRPr lang="x-none" sz="240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8</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sup>
                                    </m:sSup>
                                  </m:den>
                                </m:f>
                              </m:oMath>
                            </m:oMathPara>
                          </a14:m>
                          <a:endParaRPr lang="x-none" sz="240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𝑏</m:t>
                                    </m:r>
                                  </m:num>
                                  <m:den>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m:t>
                                        </m:r>
                                      </m:sup>
                                    </m:sSup>
                                  </m:den>
                                </m:f>
                              </m:oMath>
                            </m:oMathPara>
                          </a14:m>
                          <a:endParaRPr lang="x-none" sz="240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−8</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𝑎</m:t>
                                </m:r>
                              </m:oMath>
                            </m:oMathPara>
                          </a14:m>
                          <a:endParaRPr lang="x-none" sz="2400" dirty="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extLst>
                      <a:ext uri="{0D108BD9-81ED-4DB2-BD59-A6C34878D82A}">
                        <a16:rowId xmlns:a16="http://schemas.microsoft.com/office/drawing/2014/main" val="1712242566"/>
                      </a:ext>
                    </a:extLst>
                  </a:tr>
                </a:tbl>
              </a:graphicData>
            </a:graphic>
          </p:graphicFrame>
        </mc:Choice>
        <mc:Fallback>
          <p:graphicFrame>
            <p:nvGraphicFramePr>
              <p:cNvPr id="10" name="Table 9">
                <a:extLst>
                  <a:ext uri="{FF2B5EF4-FFF2-40B4-BE49-F238E27FC236}">
                    <a16:creationId xmlns:a16="http://schemas.microsoft.com/office/drawing/2014/main" id="{F60206A5-BADF-F14E-ADD5-E1B3614DC6A9}"/>
                  </a:ext>
                </a:extLst>
              </p:cNvPr>
              <p:cNvGraphicFramePr>
                <a:graphicFrameLocks noGrp="1"/>
              </p:cNvGraphicFramePr>
              <p:nvPr>
                <p:extLst>
                  <p:ext uri="{D42A27DB-BD31-4B8C-83A1-F6EECF244321}">
                    <p14:modId xmlns:p14="http://schemas.microsoft.com/office/powerpoint/2010/main" val="2299373994"/>
                  </p:ext>
                </p:extLst>
              </p:nvPr>
            </p:nvGraphicFramePr>
            <p:xfrm>
              <a:off x="2591747" y="2887480"/>
              <a:ext cx="5940000" cy="1271584"/>
            </p:xfrm>
            <a:graphic>
              <a:graphicData uri="http://schemas.openxmlformats.org/drawingml/2006/table">
                <a:tbl>
                  <a:tblPr firstRow="1" firstCol="1" bandRow="1"/>
                  <a:tblGrid>
                    <a:gridCol w="540000">
                      <a:extLst>
                        <a:ext uri="{9D8B030D-6E8A-4147-A177-3AD203B41FA5}">
                          <a16:colId xmlns:a16="http://schemas.microsoft.com/office/drawing/2014/main" val="1104734230"/>
                        </a:ext>
                      </a:extLst>
                    </a:gridCol>
                    <a:gridCol w="180000">
                      <a:extLst>
                        <a:ext uri="{9D8B030D-6E8A-4147-A177-3AD203B41FA5}">
                          <a16:colId xmlns:a16="http://schemas.microsoft.com/office/drawing/2014/main" val="686658897"/>
                        </a:ext>
                      </a:extLst>
                    </a:gridCol>
                    <a:gridCol w="720000">
                      <a:extLst>
                        <a:ext uri="{9D8B030D-6E8A-4147-A177-3AD203B41FA5}">
                          <a16:colId xmlns:a16="http://schemas.microsoft.com/office/drawing/2014/main" val="435007519"/>
                        </a:ext>
                      </a:extLst>
                    </a:gridCol>
                    <a:gridCol w="180000">
                      <a:extLst>
                        <a:ext uri="{9D8B030D-6E8A-4147-A177-3AD203B41FA5}">
                          <a16:colId xmlns:a16="http://schemas.microsoft.com/office/drawing/2014/main" val="2878217323"/>
                        </a:ext>
                      </a:extLst>
                    </a:gridCol>
                    <a:gridCol w="720000">
                      <a:extLst>
                        <a:ext uri="{9D8B030D-6E8A-4147-A177-3AD203B41FA5}">
                          <a16:colId xmlns:a16="http://schemas.microsoft.com/office/drawing/2014/main" val="3882220760"/>
                        </a:ext>
                      </a:extLst>
                    </a:gridCol>
                    <a:gridCol w="720000">
                      <a:extLst>
                        <a:ext uri="{9D8B030D-6E8A-4147-A177-3AD203B41FA5}">
                          <a16:colId xmlns:a16="http://schemas.microsoft.com/office/drawing/2014/main" val="3356638544"/>
                        </a:ext>
                      </a:extLst>
                    </a:gridCol>
                    <a:gridCol w="720000">
                      <a:extLst>
                        <a:ext uri="{9D8B030D-6E8A-4147-A177-3AD203B41FA5}">
                          <a16:colId xmlns:a16="http://schemas.microsoft.com/office/drawing/2014/main" val="2676298219"/>
                        </a:ext>
                      </a:extLst>
                    </a:gridCol>
                    <a:gridCol w="720000">
                      <a:extLst>
                        <a:ext uri="{9D8B030D-6E8A-4147-A177-3AD203B41FA5}">
                          <a16:colId xmlns:a16="http://schemas.microsoft.com/office/drawing/2014/main" val="2078419341"/>
                        </a:ext>
                      </a:extLst>
                    </a:gridCol>
                    <a:gridCol w="720000">
                      <a:extLst>
                        <a:ext uri="{9D8B030D-6E8A-4147-A177-3AD203B41FA5}">
                          <a16:colId xmlns:a16="http://schemas.microsoft.com/office/drawing/2014/main" val="331194328"/>
                        </a:ext>
                      </a:extLst>
                    </a:gridCol>
                    <a:gridCol w="720000">
                      <a:extLst>
                        <a:ext uri="{9D8B030D-6E8A-4147-A177-3AD203B41FA5}">
                          <a16:colId xmlns:a16="http://schemas.microsoft.com/office/drawing/2014/main" val="2035150618"/>
                        </a:ext>
                      </a:extLst>
                    </a:gridCol>
                  </a:tblGrid>
                  <a:tr h="540000">
                    <a:tc>
                      <a:txBody>
                        <a:bodyPr/>
                        <a:lstStyle/>
                        <a:p>
                          <a:pPr marL="0" marR="0" indent="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An</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 </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extLst>
                      <a:ext uri="{0D108BD9-81ED-4DB2-BD59-A6C34878D82A}">
                        <a16:rowId xmlns:a16="http://schemas.microsoft.com/office/drawing/2014/main" val="3768240907"/>
                      </a:ext>
                    </a:extLst>
                  </a:tr>
                  <a:tr h="731584">
                    <a:tc>
                      <a:txBody>
                        <a:bodyPr/>
                        <a:lstStyle/>
                        <a:p>
                          <a:pPr marL="0" marR="0">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 </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spcBef>
                              <a:spcPts val="0"/>
                            </a:spcBef>
                            <a:spcAft>
                              <a:spcPts val="0"/>
                            </a:spcAft>
                          </a:pPr>
                          <a:r>
                            <a:rPr lang="en-US" sz="2400">
                              <a:effectLst/>
                              <a:latin typeface="Verdana" panose="020B0604030504040204" pitchFamily="34" charset="0"/>
                              <a:ea typeface="Verdana" pitchFamily="34" charset="0"/>
                              <a:cs typeface="Times New Roman" panose="02020603050405020304" pitchFamily="18" charset="0"/>
                            </a:rPr>
                            <a:t> </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endParaRPr lang="en-US"/>
                        </a:p>
                      </a:txBody>
                      <a:tcPr marL="0" marR="0" marT="0" marB="0" anchor="ctr">
                        <a:lnL>
                          <a:noFill/>
                        </a:lnL>
                        <a:lnR>
                          <a:noFill/>
                        </a:lnR>
                        <a:lnT>
                          <a:noFill/>
                        </a:lnT>
                        <a:lnB>
                          <a:noFill/>
                        </a:lnB>
                        <a:blipFill>
                          <a:blip r:embed="rId5"/>
                          <a:stretch>
                            <a:fillRect l="-100000" t="-85950" r="-626271"/>
                          </a:stretch>
                        </a:blipFill>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 </a:t>
                          </a:r>
                          <a:endParaRPr lang="x-none" sz="2400" dirty="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endParaRPr lang="en-US"/>
                        </a:p>
                      </a:txBody>
                      <a:tcPr marL="0" marR="0" marT="0" marB="0" anchor="ctr">
                        <a:lnL>
                          <a:noFill/>
                        </a:lnL>
                        <a:lnR>
                          <a:noFill/>
                        </a:lnR>
                        <a:lnT>
                          <a:noFill/>
                        </a:lnT>
                        <a:lnB>
                          <a:noFill/>
                        </a:lnB>
                        <a:blipFill>
                          <a:blip r:embed="rId5"/>
                          <a:stretch>
                            <a:fillRect l="-225424" t="-85950" r="-500847"/>
                          </a:stretch>
                        </a:blipFill>
                      </a:tcPr>
                    </a:tc>
                    <a:tc>
                      <a:txBody>
                        <a:bodyPr/>
                        <a:lstStyle/>
                        <a:p>
                          <a:endParaRPr lang="en-US"/>
                        </a:p>
                      </a:txBody>
                      <a:tcPr marL="0" marR="0" marT="0" marB="0" anchor="ctr">
                        <a:lnL>
                          <a:noFill/>
                        </a:lnL>
                        <a:lnR>
                          <a:noFill/>
                        </a:lnR>
                        <a:lnT>
                          <a:noFill/>
                        </a:lnT>
                        <a:lnB>
                          <a:noFill/>
                        </a:lnB>
                        <a:blipFill>
                          <a:blip r:embed="rId5"/>
                          <a:stretch>
                            <a:fillRect l="-325424" t="-85950" r="-400847"/>
                          </a:stretch>
                        </a:blipFill>
                      </a:tcPr>
                    </a:tc>
                    <a:tc>
                      <a:txBody>
                        <a:bodyPr/>
                        <a:lstStyle/>
                        <a:p>
                          <a:endParaRPr lang="en-US"/>
                        </a:p>
                      </a:txBody>
                      <a:tcPr marL="0" marR="0" marT="0" marB="0" anchor="ctr">
                        <a:lnL>
                          <a:noFill/>
                        </a:lnL>
                        <a:lnR>
                          <a:noFill/>
                        </a:lnR>
                        <a:lnT>
                          <a:noFill/>
                        </a:lnT>
                        <a:lnB>
                          <a:noFill/>
                        </a:lnB>
                        <a:blipFill>
                          <a:blip r:embed="rId5"/>
                          <a:stretch>
                            <a:fillRect l="-425424" t="-85950" r="-300847"/>
                          </a:stretch>
                        </a:blipFill>
                      </a:tcPr>
                    </a:tc>
                    <a:tc>
                      <a:txBody>
                        <a:bodyPr/>
                        <a:lstStyle/>
                        <a:p>
                          <a:endParaRPr lang="en-US"/>
                        </a:p>
                      </a:txBody>
                      <a:tcPr marL="0" marR="0" marT="0" marB="0" anchor="ctr">
                        <a:lnL>
                          <a:noFill/>
                        </a:lnL>
                        <a:lnR>
                          <a:noFill/>
                        </a:lnR>
                        <a:lnT>
                          <a:noFill/>
                        </a:lnT>
                        <a:lnB>
                          <a:noFill/>
                        </a:lnB>
                        <a:blipFill>
                          <a:blip r:embed="rId5"/>
                          <a:stretch>
                            <a:fillRect l="-521008" t="-85950" r="-198319"/>
                          </a:stretch>
                        </a:blipFill>
                      </a:tcPr>
                    </a:tc>
                    <a:tc>
                      <a:txBody>
                        <a:bodyPr/>
                        <a:lstStyle/>
                        <a:p>
                          <a:endParaRPr lang="en-US"/>
                        </a:p>
                      </a:txBody>
                      <a:tcPr marL="0" marR="0" marT="0" marB="0" anchor="ctr">
                        <a:lnL>
                          <a:noFill/>
                        </a:lnL>
                        <a:lnR>
                          <a:noFill/>
                        </a:lnR>
                        <a:lnT>
                          <a:noFill/>
                        </a:lnT>
                        <a:lnB>
                          <a:noFill/>
                        </a:lnB>
                        <a:blipFill>
                          <a:blip r:embed="rId5"/>
                          <a:stretch>
                            <a:fillRect l="-626271" t="-85950" r="-100000"/>
                          </a:stretch>
                        </a:blipFill>
                      </a:tcPr>
                    </a:tc>
                    <a:tc>
                      <a:txBody>
                        <a:bodyPr/>
                        <a:lstStyle/>
                        <a:p>
                          <a:endParaRPr lang="en-US"/>
                        </a:p>
                      </a:txBody>
                      <a:tcPr marL="0" marR="0" marT="0" marB="0" anchor="ctr">
                        <a:lnL>
                          <a:noFill/>
                        </a:lnL>
                        <a:lnR>
                          <a:noFill/>
                        </a:lnR>
                        <a:lnT>
                          <a:noFill/>
                        </a:lnT>
                        <a:lnB>
                          <a:noFill/>
                        </a:lnB>
                        <a:blipFill>
                          <a:blip r:embed="rId5"/>
                          <a:stretch>
                            <a:fillRect l="-726271" t="-85950"/>
                          </a:stretch>
                        </a:blipFill>
                      </a:tcPr>
                    </a:tc>
                    <a:extLst>
                      <a:ext uri="{0D108BD9-81ED-4DB2-BD59-A6C34878D82A}">
                        <a16:rowId xmlns:a16="http://schemas.microsoft.com/office/drawing/2014/main" val="1712242566"/>
                      </a:ext>
                    </a:extLst>
                  </a:tr>
                </a:tbl>
              </a:graphicData>
            </a:graphic>
          </p:graphicFrame>
        </mc:Fallback>
      </mc:AlternateContent>
      <mc:AlternateContent xmlns:mc="http://schemas.openxmlformats.org/markup-compatibility/2006">
        <mc:Choice xmlns:a14="http://schemas.microsoft.com/office/drawing/2010/main" Requires="a14">
          <p:sp>
            <p:nvSpPr>
              <p:cNvPr id="14" name="Rectangle 13">
                <a:extLst>
                  <a:ext uri="{FF2B5EF4-FFF2-40B4-BE49-F238E27FC236}">
                    <a16:creationId xmlns:a16="http://schemas.microsoft.com/office/drawing/2014/main" id="{DA0CA7EB-BD01-B141-9674-92D9F32DED53}"/>
                  </a:ext>
                </a:extLst>
              </p:cNvPr>
              <p:cNvSpPr>
                <a:spLocks noChangeArrowheads="1"/>
              </p:cNvSpPr>
              <p:nvPr/>
            </p:nvSpPr>
            <p:spPr bwMode="auto">
              <a:xfrm>
                <a:off x="1070518" y="4380887"/>
                <a:ext cx="8982459" cy="4616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45085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In the expression </a:t>
                </a:r>
                <a14:m>
                  <m:oMath xmlns:m="http://schemas.openxmlformats.org/officeDocument/2006/math">
                    <m:sSup>
                      <m:sSupPr>
                        <m:ctrlPr>
                          <a:rPr lang="en-US" altLang="en-US" sz="2400" i="1" dirty="0">
                            <a:solidFill>
                              <a:schemeClr val="tx1"/>
                            </a:solidFill>
                            <a:latin typeface="Cambria Math" panose="02040503050406030204" pitchFamily="18" charset="0"/>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𝑦</m:t>
                        </m:r>
                      </m:e>
                      <m:sup>
                        <m:r>
                          <a:rPr lang="es-ES" altLang="en-US" sz="2400" i="1" dirty="0">
                            <a:solidFill>
                              <a:schemeClr val="tx1"/>
                            </a:solidFill>
                            <a:latin typeface="Cambria Math" panose="02040503050406030204" pitchFamily="18" charset="0"/>
                            <a:cs typeface="Times New Roman" panose="02020603050405020304" pitchFamily="18" charset="0"/>
                          </a:rPr>
                          <m:t>2</m:t>
                        </m:r>
                      </m:sup>
                    </m:sSup>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what do you call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p>
            </p:txBody>
          </p:sp>
        </mc:Choice>
        <mc:Fallback>
          <p:sp>
            <p:nvSpPr>
              <p:cNvPr id="14" name="Rectangle 13">
                <a:extLst>
                  <a:ext uri="{FF2B5EF4-FFF2-40B4-BE49-F238E27FC236}">
                    <a16:creationId xmlns:a16="http://schemas.microsoft.com/office/drawing/2014/main" id="{DA0CA7EB-BD01-B141-9674-92D9F32DED53}"/>
                  </a:ext>
                </a:extLst>
              </p:cNvPr>
              <p:cNvSpPr>
                <a:spLocks noRot="1" noChangeAspect="1" noMove="1" noResize="1" noEditPoints="1" noAdjustHandles="1" noChangeArrowheads="1" noChangeShapeType="1" noTextEdit="1"/>
              </p:cNvSpPr>
              <p:nvPr/>
            </p:nvSpPr>
            <p:spPr bwMode="auto">
              <a:xfrm>
                <a:off x="1070518" y="4380887"/>
                <a:ext cx="8982459" cy="461665"/>
              </a:xfrm>
              <a:prstGeom prst="rect">
                <a:avLst/>
              </a:prstGeom>
              <a:blipFill>
                <a:blip r:embed="rId6"/>
                <a:stretch>
                  <a:fillRect t="-12000" b="-2933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13" name="Table 12">
                <a:extLst>
                  <a:ext uri="{FF2B5EF4-FFF2-40B4-BE49-F238E27FC236}">
                    <a16:creationId xmlns:a16="http://schemas.microsoft.com/office/drawing/2014/main" id="{2FF1917A-CD7D-2548-A1B9-346A47EC4113}"/>
                  </a:ext>
                </a:extLst>
              </p:cNvPr>
              <p:cNvGraphicFramePr>
                <a:graphicFrameLocks noGrp="1"/>
              </p:cNvGraphicFramePr>
              <p:nvPr>
                <p:extLst>
                  <p:ext uri="{D42A27DB-BD31-4B8C-83A1-F6EECF244321}">
                    <p14:modId xmlns:p14="http://schemas.microsoft.com/office/powerpoint/2010/main" val="814186831"/>
                  </p:ext>
                </p:extLst>
              </p:nvPr>
            </p:nvGraphicFramePr>
            <p:xfrm>
              <a:off x="2591747" y="5064375"/>
              <a:ext cx="5940000" cy="1279140"/>
            </p:xfrm>
            <a:graphic>
              <a:graphicData uri="http://schemas.openxmlformats.org/drawingml/2006/table">
                <a:tbl>
                  <a:tblPr firstRow="1" firstCol="1" bandRow="1"/>
                  <a:tblGrid>
                    <a:gridCol w="540000">
                      <a:extLst>
                        <a:ext uri="{9D8B030D-6E8A-4147-A177-3AD203B41FA5}">
                          <a16:colId xmlns:a16="http://schemas.microsoft.com/office/drawing/2014/main" val="359234624"/>
                        </a:ext>
                      </a:extLst>
                    </a:gridCol>
                    <a:gridCol w="180000">
                      <a:extLst>
                        <a:ext uri="{9D8B030D-6E8A-4147-A177-3AD203B41FA5}">
                          <a16:colId xmlns:a16="http://schemas.microsoft.com/office/drawing/2014/main" val="1111606607"/>
                        </a:ext>
                      </a:extLst>
                    </a:gridCol>
                    <a:gridCol w="720000">
                      <a:extLst>
                        <a:ext uri="{9D8B030D-6E8A-4147-A177-3AD203B41FA5}">
                          <a16:colId xmlns:a16="http://schemas.microsoft.com/office/drawing/2014/main" val="3490182063"/>
                        </a:ext>
                      </a:extLst>
                    </a:gridCol>
                    <a:gridCol w="180000">
                      <a:extLst>
                        <a:ext uri="{9D8B030D-6E8A-4147-A177-3AD203B41FA5}">
                          <a16:colId xmlns:a16="http://schemas.microsoft.com/office/drawing/2014/main" val="2803708032"/>
                        </a:ext>
                      </a:extLst>
                    </a:gridCol>
                    <a:gridCol w="720000">
                      <a:extLst>
                        <a:ext uri="{9D8B030D-6E8A-4147-A177-3AD203B41FA5}">
                          <a16:colId xmlns:a16="http://schemas.microsoft.com/office/drawing/2014/main" val="3811833002"/>
                        </a:ext>
                      </a:extLst>
                    </a:gridCol>
                    <a:gridCol w="720000">
                      <a:extLst>
                        <a:ext uri="{9D8B030D-6E8A-4147-A177-3AD203B41FA5}">
                          <a16:colId xmlns:a16="http://schemas.microsoft.com/office/drawing/2014/main" val="2179096560"/>
                        </a:ext>
                      </a:extLst>
                    </a:gridCol>
                    <a:gridCol w="720000">
                      <a:extLst>
                        <a:ext uri="{9D8B030D-6E8A-4147-A177-3AD203B41FA5}">
                          <a16:colId xmlns:a16="http://schemas.microsoft.com/office/drawing/2014/main" val="1971618940"/>
                        </a:ext>
                      </a:extLst>
                    </a:gridCol>
                    <a:gridCol w="720000">
                      <a:extLst>
                        <a:ext uri="{9D8B030D-6E8A-4147-A177-3AD203B41FA5}">
                          <a16:colId xmlns:a16="http://schemas.microsoft.com/office/drawing/2014/main" val="734507907"/>
                        </a:ext>
                      </a:extLst>
                    </a:gridCol>
                    <a:gridCol w="720000">
                      <a:extLst>
                        <a:ext uri="{9D8B030D-6E8A-4147-A177-3AD203B41FA5}">
                          <a16:colId xmlns:a16="http://schemas.microsoft.com/office/drawing/2014/main" val="3810976966"/>
                        </a:ext>
                      </a:extLst>
                    </a:gridCol>
                    <a:gridCol w="720000">
                      <a:extLst>
                        <a:ext uri="{9D8B030D-6E8A-4147-A177-3AD203B41FA5}">
                          <a16:colId xmlns:a16="http://schemas.microsoft.com/office/drawing/2014/main" val="3808268982"/>
                        </a:ext>
                      </a:extLst>
                    </a:gridCol>
                  </a:tblGrid>
                  <a:tr h="540000">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A</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 </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dirty="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extLst>
                      <a:ext uri="{0D108BD9-81ED-4DB2-BD59-A6C34878D82A}">
                        <a16:rowId xmlns:a16="http://schemas.microsoft.com/office/drawing/2014/main" val="2928935752"/>
                      </a:ext>
                    </a:extLst>
                  </a:tr>
                  <a:tr h="640080">
                    <a:tc>
                      <a:txBody>
                        <a:bodyPr/>
                        <a:lstStyle/>
                        <a:p>
                          <a:pPr marL="0" marR="0">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 </a:t>
                          </a:r>
                          <a:endParaRPr lang="x-none" sz="240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pPr marL="0" marR="0">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 </a:t>
                          </a:r>
                          <a:endParaRPr lang="x-none" sz="240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m:t>
                                    </m:r>
                                  </m:sup>
                                </m:sSup>
                              </m:oMath>
                            </m:oMathPara>
                          </a14:m>
                          <a:endParaRPr lang="x-none" sz="240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pPr marL="0" marR="0" algn="ctr">
                            <a:spcBef>
                              <a:spcPts val="0"/>
                            </a:spcBef>
                            <a:spcAft>
                              <a:spcPts val="0"/>
                            </a:spcAft>
                          </a:pPr>
                          <a:r>
                            <a:rPr lang="en-US" sz="2400">
                              <a:effectLst/>
                              <a:latin typeface="Verdana" panose="020B0604030504040204" pitchFamily="34" charset="0"/>
                              <a:ea typeface="Verdana" pitchFamily="34" charset="0"/>
                              <a:cs typeface="Times New Roman" panose="02020603050405020304" pitchFamily="18" charset="0"/>
                            </a:rPr>
                            <a:t> </a:t>
                          </a:r>
                          <a:endParaRPr lang="x-none" sz="240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pPr marL="0" marR="0" algn="ctr">
                            <a:spcBef>
                              <a:spcPts val="0"/>
                            </a:spcBef>
                            <a:spcAft>
                              <a:spcPts val="0"/>
                            </a:spcAft>
                          </a:pPr>
                          <a14:m>
                            <m:oMath xmlns:m="http://schemas.openxmlformats.org/officeDocument/2006/math">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m:t>
                                  </m:r>
                                </m:sup>
                              </m:sSup>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𝑏</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11</m:t>
                                  </m:r>
                                </m:sup>
                              </m:sSup>
                            </m:oMath>
                          </a14:m>
                          <a:r>
                            <a:rPr lang="en-US" sz="2400" dirty="0">
                              <a:effectLst/>
                              <a:latin typeface="Verdana" panose="020B0604030504040204" pitchFamily="34" charset="0"/>
                              <a:ea typeface="Verdana" pitchFamily="34" charset="0"/>
                              <a:cs typeface="Times New Roman" panose="02020603050405020304" pitchFamily="18" charset="0"/>
                            </a:rPr>
                            <a:t> </a:t>
                          </a:r>
                          <a:endParaRPr lang="x-none" sz="240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pPr marL="0" marR="0" algn="ctr">
                            <a:spcBef>
                              <a:spcPts val="0"/>
                            </a:spcBef>
                            <a:spcAft>
                              <a:spcPts val="0"/>
                            </a:spcAft>
                          </a:pPr>
                          <a14:m>
                            <m:oMath xmlns:m="http://schemas.openxmlformats.org/officeDocument/2006/math">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sup>
                              </m:sSup>
                            </m:oMath>
                          </a14:m>
                          <a:r>
                            <a:rPr lang="en-US" sz="2400" dirty="0">
                              <a:effectLst/>
                              <a:latin typeface="Verdana" panose="020B0604030504040204" pitchFamily="34" charset="0"/>
                              <a:ea typeface="Verdana" pitchFamily="34" charset="0"/>
                              <a:cs typeface="Times New Roman" panose="02020603050405020304" pitchFamily="18" charset="0"/>
                            </a:rPr>
                            <a:t> </a:t>
                          </a:r>
                          <a:endParaRPr lang="x-none" sz="240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10</m:t>
                                    </m:r>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sup>
                                    </m:sSup>
                                  </m:num>
                                  <m:den>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𝑏</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8</m:t>
                                        </m:r>
                                      </m:sup>
                                    </m:sSup>
                                  </m:den>
                                </m:f>
                              </m:oMath>
                            </m:oMathPara>
                          </a14:m>
                          <a:endParaRPr lang="x-none" sz="240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sup>
                                    </m:sSup>
                                  </m:den>
                                </m:f>
                              </m:oMath>
                            </m:oMathPara>
                          </a14:m>
                          <a:endParaRPr lang="x-none" sz="240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pPr marL="0" marR="0" algn="ctr">
                            <a:spcBef>
                              <a:spcPts val="0"/>
                            </a:spcBef>
                            <a:spcAft>
                              <a:spcPts val="0"/>
                            </a:spcAft>
                          </a:pPr>
                          <a14:m>
                            <m:oMath xmlns:m="http://schemas.openxmlformats.org/officeDocument/2006/math">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400" dirty="0">
                              <a:effectLst/>
                              <a:latin typeface="Verdana" panose="020B0604030504040204" pitchFamily="34" charset="0"/>
                              <a:ea typeface="Verdana" pitchFamily="34" charset="0"/>
                              <a:cs typeface="Times New Roman" panose="02020603050405020304" pitchFamily="18" charset="0"/>
                            </a:rPr>
                            <a:t> </a:t>
                          </a:r>
                          <a:endParaRPr lang="x-none" sz="240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m:t>
                                        </m:r>
                                      </m:sup>
                                    </m:sSup>
                                  </m:den>
                                </m:f>
                              </m:oMath>
                            </m:oMathPara>
                          </a14:m>
                          <a:endParaRPr lang="x-none" sz="2400" dirty="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extLst>
                      <a:ext uri="{0D108BD9-81ED-4DB2-BD59-A6C34878D82A}">
                        <a16:rowId xmlns:a16="http://schemas.microsoft.com/office/drawing/2014/main" val="641870319"/>
                      </a:ext>
                    </a:extLst>
                  </a:tr>
                </a:tbl>
              </a:graphicData>
            </a:graphic>
          </p:graphicFrame>
        </mc:Choice>
        <mc:Fallback>
          <p:graphicFrame>
            <p:nvGraphicFramePr>
              <p:cNvPr id="13" name="Table 12">
                <a:extLst>
                  <a:ext uri="{FF2B5EF4-FFF2-40B4-BE49-F238E27FC236}">
                    <a16:creationId xmlns:a16="http://schemas.microsoft.com/office/drawing/2014/main" id="{2FF1917A-CD7D-2548-A1B9-346A47EC4113}"/>
                  </a:ext>
                </a:extLst>
              </p:cNvPr>
              <p:cNvGraphicFramePr>
                <a:graphicFrameLocks noGrp="1"/>
              </p:cNvGraphicFramePr>
              <p:nvPr>
                <p:extLst>
                  <p:ext uri="{D42A27DB-BD31-4B8C-83A1-F6EECF244321}">
                    <p14:modId xmlns:p14="http://schemas.microsoft.com/office/powerpoint/2010/main" val="814186831"/>
                  </p:ext>
                </p:extLst>
              </p:nvPr>
            </p:nvGraphicFramePr>
            <p:xfrm>
              <a:off x="2591747" y="5064375"/>
              <a:ext cx="5940000" cy="1279140"/>
            </p:xfrm>
            <a:graphic>
              <a:graphicData uri="http://schemas.openxmlformats.org/drawingml/2006/table">
                <a:tbl>
                  <a:tblPr firstRow="1" firstCol="1" bandRow="1"/>
                  <a:tblGrid>
                    <a:gridCol w="540000">
                      <a:extLst>
                        <a:ext uri="{9D8B030D-6E8A-4147-A177-3AD203B41FA5}">
                          <a16:colId xmlns:a16="http://schemas.microsoft.com/office/drawing/2014/main" val="359234624"/>
                        </a:ext>
                      </a:extLst>
                    </a:gridCol>
                    <a:gridCol w="180000">
                      <a:extLst>
                        <a:ext uri="{9D8B030D-6E8A-4147-A177-3AD203B41FA5}">
                          <a16:colId xmlns:a16="http://schemas.microsoft.com/office/drawing/2014/main" val="1111606607"/>
                        </a:ext>
                      </a:extLst>
                    </a:gridCol>
                    <a:gridCol w="720000">
                      <a:extLst>
                        <a:ext uri="{9D8B030D-6E8A-4147-A177-3AD203B41FA5}">
                          <a16:colId xmlns:a16="http://schemas.microsoft.com/office/drawing/2014/main" val="3490182063"/>
                        </a:ext>
                      </a:extLst>
                    </a:gridCol>
                    <a:gridCol w="180000">
                      <a:extLst>
                        <a:ext uri="{9D8B030D-6E8A-4147-A177-3AD203B41FA5}">
                          <a16:colId xmlns:a16="http://schemas.microsoft.com/office/drawing/2014/main" val="2803708032"/>
                        </a:ext>
                      </a:extLst>
                    </a:gridCol>
                    <a:gridCol w="720000">
                      <a:extLst>
                        <a:ext uri="{9D8B030D-6E8A-4147-A177-3AD203B41FA5}">
                          <a16:colId xmlns:a16="http://schemas.microsoft.com/office/drawing/2014/main" val="3811833002"/>
                        </a:ext>
                      </a:extLst>
                    </a:gridCol>
                    <a:gridCol w="720000">
                      <a:extLst>
                        <a:ext uri="{9D8B030D-6E8A-4147-A177-3AD203B41FA5}">
                          <a16:colId xmlns:a16="http://schemas.microsoft.com/office/drawing/2014/main" val="2179096560"/>
                        </a:ext>
                      </a:extLst>
                    </a:gridCol>
                    <a:gridCol w="720000">
                      <a:extLst>
                        <a:ext uri="{9D8B030D-6E8A-4147-A177-3AD203B41FA5}">
                          <a16:colId xmlns:a16="http://schemas.microsoft.com/office/drawing/2014/main" val="1971618940"/>
                        </a:ext>
                      </a:extLst>
                    </a:gridCol>
                    <a:gridCol w="720000">
                      <a:extLst>
                        <a:ext uri="{9D8B030D-6E8A-4147-A177-3AD203B41FA5}">
                          <a16:colId xmlns:a16="http://schemas.microsoft.com/office/drawing/2014/main" val="734507907"/>
                        </a:ext>
                      </a:extLst>
                    </a:gridCol>
                    <a:gridCol w="720000">
                      <a:extLst>
                        <a:ext uri="{9D8B030D-6E8A-4147-A177-3AD203B41FA5}">
                          <a16:colId xmlns:a16="http://schemas.microsoft.com/office/drawing/2014/main" val="3810976966"/>
                        </a:ext>
                      </a:extLst>
                    </a:gridCol>
                    <a:gridCol w="720000">
                      <a:extLst>
                        <a:ext uri="{9D8B030D-6E8A-4147-A177-3AD203B41FA5}">
                          <a16:colId xmlns:a16="http://schemas.microsoft.com/office/drawing/2014/main" val="3808268982"/>
                        </a:ext>
                      </a:extLst>
                    </a:gridCol>
                  </a:tblGrid>
                  <a:tr h="540000">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A</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 </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dirty="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tc>
                      <a:txBody>
                        <a:bodyPr/>
                        <a:lstStyle/>
                        <a:p>
                          <a:pPr marL="0" marR="0" algn="ctr">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___</a:t>
                          </a:r>
                          <a:endParaRPr lang="x-none" sz="2400">
                            <a:effectLst/>
                            <a:latin typeface="Verdana" pitchFamily="34" charset="0"/>
                            <a:ea typeface="Verdana" pitchFamily="34" charset="0"/>
                            <a:cs typeface="Times New Roman" panose="02020603050405020304" pitchFamily="18" charset="0"/>
                          </a:endParaRPr>
                        </a:p>
                      </a:txBody>
                      <a:tcPr marL="0" marR="0" marT="0" marB="0">
                        <a:lnL>
                          <a:noFill/>
                        </a:lnL>
                        <a:lnR>
                          <a:noFill/>
                        </a:lnR>
                        <a:lnT>
                          <a:noFill/>
                        </a:lnT>
                        <a:lnB>
                          <a:noFill/>
                        </a:lnB>
                      </a:tcPr>
                    </a:tc>
                    <a:extLst>
                      <a:ext uri="{0D108BD9-81ED-4DB2-BD59-A6C34878D82A}">
                        <a16:rowId xmlns:a16="http://schemas.microsoft.com/office/drawing/2014/main" val="2928935752"/>
                      </a:ext>
                    </a:extLst>
                  </a:tr>
                  <a:tr h="739140">
                    <a:tc>
                      <a:txBody>
                        <a:bodyPr/>
                        <a:lstStyle/>
                        <a:p>
                          <a:pPr marL="0" marR="0">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 </a:t>
                          </a:r>
                          <a:endParaRPr lang="x-none" sz="240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pPr marL="0" marR="0">
                            <a:spcBef>
                              <a:spcPts val="0"/>
                            </a:spcBef>
                            <a:spcAft>
                              <a:spcPts val="0"/>
                            </a:spcAft>
                          </a:pPr>
                          <a:r>
                            <a:rPr lang="en-US" sz="2400" dirty="0">
                              <a:effectLst/>
                              <a:latin typeface="Verdana" panose="020B0604030504040204" pitchFamily="34" charset="0"/>
                              <a:ea typeface="Verdana" pitchFamily="34" charset="0"/>
                              <a:cs typeface="Times New Roman" panose="02020603050405020304" pitchFamily="18" charset="0"/>
                            </a:rPr>
                            <a:t> </a:t>
                          </a:r>
                          <a:endParaRPr lang="x-none" sz="240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endParaRPr lang="en-US"/>
                        </a:p>
                      </a:txBody>
                      <a:tcPr marL="0" marR="0" marT="0" marB="0" anchor="ctr">
                        <a:lnL>
                          <a:noFill/>
                        </a:lnL>
                        <a:lnR>
                          <a:noFill/>
                        </a:lnR>
                        <a:lnT>
                          <a:noFill/>
                        </a:lnT>
                        <a:lnB>
                          <a:noFill/>
                        </a:lnB>
                        <a:blipFill>
                          <a:blip r:embed="rId7"/>
                          <a:stretch>
                            <a:fillRect l="-100000" t="-85246" r="-626271"/>
                          </a:stretch>
                        </a:blipFill>
                      </a:tcPr>
                    </a:tc>
                    <a:tc>
                      <a:txBody>
                        <a:bodyPr/>
                        <a:lstStyle/>
                        <a:p>
                          <a:pPr marL="0" marR="0" algn="ctr">
                            <a:spcBef>
                              <a:spcPts val="0"/>
                            </a:spcBef>
                            <a:spcAft>
                              <a:spcPts val="0"/>
                            </a:spcAft>
                          </a:pPr>
                          <a:r>
                            <a:rPr lang="en-US" sz="2400">
                              <a:effectLst/>
                              <a:latin typeface="Verdana" panose="020B0604030504040204" pitchFamily="34" charset="0"/>
                              <a:ea typeface="Verdana" pitchFamily="34" charset="0"/>
                              <a:cs typeface="Times New Roman" panose="02020603050405020304" pitchFamily="18" charset="0"/>
                            </a:rPr>
                            <a:t> </a:t>
                          </a:r>
                          <a:endParaRPr lang="x-none" sz="2400">
                            <a:effectLst/>
                            <a:latin typeface="Verdana" pitchFamily="34" charset="0"/>
                            <a:ea typeface="Verdana" pitchFamily="34" charset="0"/>
                            <a:cs typeface="Times New Roman" panose="02020603050405020304" pitchFamily="18" charset="0"/>
                          </a:endParaRPr>
                        </a:p>
                      </a:txBody>
                      <a:tcPr marL="0" marR="0" marT="0" marB="0" anchor="ctr">
                        <a:lnL>
                          <a:noFill/>
                        </a:lnL>
                        <a:lnR>
                          <a:noFill/>
                        </a:lnR>
                        <a:lnT>
                          <a:noFill/>
                        </a:lnT>
                        <a:lnB>
                          <a:noFill/>
                        </a:lnB>
                      </a:tcPr>
                    </a:tc>
                    <a:tc>
                      <a:txBody>
                        <a:bodyPr/>
                        <a:lstStyle/>
                        <a:p>
                          <a:endParaRPr lang="en-US"/>
                        </a:p>
                      </a:txBody>
                      <a:tcPr marL="0" marR="0" marT="0" marB="0" anchor="ctr">
                        <a:lnL>
                          <a:noFill/>
                        </a:lnL>
                        <a:lnR>
                          <a:noFill/>
                        </a:lnR>
                        <a:lnT>
                          <a:noFill/>
                        </a:lnT>
                        <a:lnB>
                          <a:noFill/>
                        </a:lnB>
                        <a:blipFill>
                          <a:blip r:embed="rId7"/>
                          <a:stretch>
                            <a:fillRect l="-225424" t="-85246" r="-500847"/>
                          </a:stretch>
                        </a:blipFill>
                      </a:tcPr>
                    </a:tc>
                    <a:tc>
                      <a:txBody>
                        <a:bodyPr/>
                        <a:lstStyle/>
                        <a:p>
                          <a:endParaRPr lang="en-US"/>
                        </a:p>
                      </a:txBody>
                      <a:tcPr marL="0" marR="0" marT="0" marB="0" anchor="ctr">
                        <a:lnL>
                          <a:noFill/>
                        </a:lnL>
                        <a:lnR>
                          <a:noFill/>
                        </a:lnR>
                        <a:lnT>
                          <a:noFill/>
                        </a:lnT>
                        <a:lnB>
                          <a:noFill/>
                        </a:lnB>
                        <a:blipFill>
                          <a:blip r:embed="rId7"/>
                          <a:stretch>
                            <a:fillRect l="-325424" t="-85246" r="-400847"/>
                          </a:stretch>
                        </a:blipFill>
                      </a:tcPr>
                    </a:tc>
                    <a:tc>
                      <a:txBody>
                        <a:bodyPr/>
                        <a:lstStyle/>
                        <a:p>
                          <a:endParaRPr lang="en-US"/>
                        </a:p>
                      </a:txBody>
                      <a:tcPr marL="0" marR="0" marT="0" marB="0" anchor="ctr">
                        <a:lnL>
                          <a:noFill/>
                        </a:lnL>
                        <a:lnR>
                          <a:noFill/>
                        </a:lnR>
                        <a:lnT>
                          <a:noFill/>
                        </a:lnT>
                        <a:lnB>
                          <a:noFill/>
                        </a:lnB>
                        <a:blipFill>
                          <a:blip r:embed="rId7"/>
                          <a:stretch>
                            <a:fillRect l="-425424" t="-85246" r="-300847"/>
                          </a:stretch>
                        </a:blipFill>
                      </a:tcPr>
                    </a:tc>
                    <a:tc>
                      <a:txBody>
                        <a:bodyPr/>
                        <a:lstStyle/>
                        <a:p>
                          <a:endParaRPr lang="en-US"/>
                        </a:p>
                      </a:txBody>
                      <a:tcPr marL="0" marR="0" marT="0" marB="0" anchor="ctr">
                        <a:lnL>
                          <a:noFill/>
                        </a:lnL>
                        <a:lnR>
                          <a:noFill/>
                        </a:lnR>
                        <a:lnT>
                          <a:noFill/>
                        </a:lnT>
                        <a:lnB>
                          <a:noFill/>
                        </a:lnB>
                        <a:blipFill>
                          <a:blip r:embed="rId7"/>
                          <a:stretch>
                            <a:fillRect l="-521008" t="-85246" r="-198319"/>
                          </a:stretch>
                        </a:blipFill>
                      </a:tcPr>
                    </a:tc>
                    <a:tc>
                      <a:txBody>
                        <a:bodyPr/>
                        <a:lstStyle/>
                        <a:p>
                          <a:endParaRPr lang="en-US"/>
                        </a:p>
                      </a:txBody>
                      <a:tcPr marL="0" marR="0" marT="0" marB="0" anchor="ctr">
                        <a:lnL>
                          <a:noFill/>
                        </a:lnL>
                        <a:lnR>
                          <a:noFill/>
                        </a:lnR>
                        <a:lnT>
                          <a:noFill/>
                        </a:lnT>
                        <a:lnB>
                          <a:noFill/>
                        </a:lnB>
                        <a:blipFill>
                          <a:blip r:embed="rId7"/>
                          <a:stretch>
                            <a:fillRect l="-626271" t="-85246" r="-100000"/>
                          </a:stretch>
                        </a:blipFill>
                      </a:tcPr>
                    </a:tc>
                    <a:tc>
                      <a:txBody>
                        <a:bodyPr/>
                        <a:lstStyle/>
                        <a:p>
                          <a:endParaRPr lang="en-US"/>
                        </a:p>
                      </a:txBody>
                      <a:tcPr marL="0" marR="0" marT="0" marB="0" anchor="ctr">
                        <a:lnL>
                          <a:noFill/>
                        </a:lnL>
                        <a:lnR>
                          <a:noFill/>
                        </a:lnR>
                        <a:lnT>
                          <a:noFill/>
                        </a:lnT>
                        <a:lnB>
                          <a:noFill/>
                        </a:lnB>
                        <a:blipFill>
                          <a:blip r:embed="rId7"/>
                          <a:stretch>
                            <a:fillRect l="-726271" t="-85246"/>
                          </a:stretch>
                        </a:blipFill>
                      </a:tcPr>
                    </a:tc>
                    <a:extLst>
                      <a:ext uri="{0D108BD9-81ED-4DB2-BD59-A6C34878D82A}">
                        <a16:rowId xmlns:a16="http://schemas.microsoft.com/office/drawing/2014/main" val="641870319"/>
                      </a:ext>
                    </a:extLst>
                  </a:tr>
                </a:tbl>
              </a:graphicData>
            </a:graphic>
          </p:graphicFrame>
        </mc:Fallback>
      </mc:AlternateContent>
    </p:spTree>
    <p:extLst>
      <p:ext uri="{BB962C8B-B14F-4D97-AF65-F5344CB8AC3E}">
        <p14:creationId xmlns:p14="http://schemas.microsoft.com/office/powerpoint/2010/main" val="3723656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172</a:t>
            </a:r>
            <a:endParaRPr i="1" dirty="0">
              <a:latin typeface="Calibri"/>
              <a:ea typeface="Calibri"/>
              <a:cs typeface="Calibri"/>
              <a:sym typeface="Calibri"/>
            </a:endParaRPr>
          </a:p>
        </p:txBody>
      </p:sp>
      <p:pic>
        <p:nvPicPr>
          <p:cNvPr id="7" name="image11.png" descr="Icon&#10;&#10;Description automatically generated">
            <a:extLst>
              <a:ext uri="{FF2B5EF4-FFF2-40B4-BE49-F238E27FC236}">
                <a16:creationId xmlns:a16="http://schemas.microsoft.com/office/drawing/2014/main" id="{BAC72EFF-A717-D149-9B45-4086978C030F}"/>
              </a:ext>
            </a:extLst>
          </p:cNvPr>
          <p:cNvPicPr/>
          <p:nvPr/>
        </p:nvPicPr>
        <p:blipFill>
          <a:blip r:embed="rId4"/>
          <a:srcRect/>
          <a:stretch>
            <a:fillRect/>
          </a:stretch>
        </p:blipFill>
        <p:spPr>
          <a:xfrm>
            <a:off x="4947852" y="2854921"/>
            <a:ext cx="1148148" cy="1148148"/>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525632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20591" y="48378"/>
            <a:ext cx="923404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4.11.3 Activity: Scavenger Hunt</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172</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id="{E44DF7DE-9172-3E4E-B74A-7A51585FB6EA}"/>
              </a:ext>
            </a:extLst>
          </p:cNvPr>
          <p:cNvSpPr txBox="1"/>
          <p:nvPr/>
        </p:nvSpPr>
        <p:spPr>
          <a:xfrm>
            <a:off x="1148449" y="1412530"/>
            <a:ext cx="9252387" cy="1200329"/>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Work with your partner or group to complete the scavenger hunt. Each card in the scavenger hunt appears as shown.</a:t>
            </a:r>
          </a:p>
        </p:txBody>
      </p:sp>
      <p:pic>
        <p:nvPicPr>
          <p:cNvPr id="9" name="image11.png" descr="Icon&#10;&#10;Description automatically generated">
            <a:extLst>
              <a:ext uri="{FF2B5EF4-FFF2-40B4-BE49-F238E27FC236}">
                <a16:creationId xmlns:a16="http://schemas.microsoft.com/office/drawing/2014/main" id="{916CECBD-F4D5-2246-8947-0007518E0268}"/>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95342" y="334674"/>
            <a:ext cx="753107" cy="753107"/>
          </a:xfrm>
          <a:prstGeom prst="rect">
            <a:avLst/>
          </a:prstGeom>
          <a:ln/>
        </p:spPr>
      </p:pic>
      <p:pic>
        <p:nvPicPr>
          <p:cNvPr id="3" name="Picture 2" descr="Graphical user interface, text, application, chat or text message&#10;&#10;Description automatically generated">
            <a:extLst>
              <a:ext uri="{FF2B5EF4-FFF2-40B4-BE49-F238E27FC236}">
                <a16:creationId xmlns:a16="http://schemas.microsoft.com/office/drawing/2014/main" id="{67C9E8FF-B3BA-DF48-95A2-A2A4E29F53C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159112" y="2778166"/>
            <a:ext cx="7533126" cy="3510836"/>
          </a:xfrm>
          <a:prstGeom prst="rect">
            <a:avLst/>
          </a:prstGeom>
        </p:spPr>
      </p:pic>
    </p:spTree>
    <p:extLst>
      <p:ext uri="{BB962C8B-B14F-4D97-AF65-F5344CB8AC3E}">
        <p14:creationId xmlns:p14="http://schemas.microsoft.com/office/powerpoint/2010/main" val="1674437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172</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070517" y="417102"/>
            <a:ext cx="9139624" cy="4154984"/>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Write the number of the problem you start with and the given expression in the first row of the table. Then, work with your group or partner to generate an equivalent expression using the fewest number of factors.</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Look for the card with an expression equivalent to your problem to find your next problem to work on.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Repeat this process until your group has completed all the scavenger hunt problems and have ended up back at your original problem.</a:t>
            </a:r>
          </a:p>
        </p:txBody>
      </p:sp>
    </p:spTree>
    <p:extLst>
      <p:ext uri="{BB962C8B-B14F-4D97-AF65-F5344CB8AC3E}">
        <p14:creationId xmlns:p14="http://schemas.microsoft.com/office/powerpoint/2010/main" val="1251846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172</a:t>
            </a:r>
            <a:endParaRPr i="1" dirty="0">
              <a:latin typeface="Calibri"/>
              <a:ea typeface="Calibri"/>
              <a:cs typeface="Calibri"/>
              <a:sym typeface="Calibri"/>
            </a:endParaRPr>
          </a:p>
        </p:txBody>
      </p:sp>
      <p:pic>
        <p:nvPicPr>
          <p:cNvPr id="30" name="Picture 29" descr="A picture containing table&#10;&#10;Description automatically generated">
            <a:extLst>
              <a:ext uri="{FF2B5EF4-FFF2-40B4-BE49-F238E27FC236}">
                <a16:creationId xmlns:a16="http://schemas.microsoft.com/office/drawing/2014/main" id="{15B0CB46-63DA-2749-A6FD-6D496DF21C3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207186" y="212141"/>
            <a:ext cx="3964080" cy="6541199"/>
          </a:xfrm>
          <a:prstGeom prst="rect">
            <a:avLst/>
          </a:prstGeom>
        </p:spPr>
      </p:pic>
    </p:spTree>
    <p:extLst>
      <p:ext uri="{BB962C8B-B14F-4D97-AF65-F5344CB8AC3E}">
        <p14:creationId xmlns:p14="http://schemas.microsoft.com/office/powerpoint/2010/main" val="2381553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173</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489"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173</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93541" y="189928"/>
            <a:ext cx="9208737" cy="6462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4.11.4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42542" y="217627"/>
            <a:ext cx="747300" cy="747300"/>
          </a:xfrm>
          <a:prstGeom prst="rect">
            <a:avLst/>
          </a:prstGeom>
          <a:noFill/>
          <a:ln>
            <a:noFill/>
          </a:ln>
        </p:spPr>
      </p:pic>
      <p:sp>
        <p:nvSpPr>
          <p:cNvPr id="2" name="Rectangle 1">
            <a:extLst>
              <a:ext uri="{FF2B5EF4-FFF2-40B4-BE49-F238E27FC236}">
                <a16:creationId xmlns:a16="http://schemas.microsoft.com/office/drawing/2014/main" id="{AE281112-0763-C941-9DB7-9B28C4EA4745}"/>
              </a:ext>
            </a:extLst>
          </p:cNvPr>
          <p:cNvSpPr/>
          <p:nvPr/>
        </p:nvSpPr>
        <p:spPr>
          <a:xfrm>
            <a:off x="1070517" y="1062712"/>
            <a:ext cx="9443247" cy="1938992"/>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Circle the icon that best describes your understanding of each learning target in the table.</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indent="450850"/>
            <a:r>
              <a:rPr lang="en-US" sz="2400" dirty="0">
                <a:latin typeface="Verdana" panose="020B0604030504040204" pitchFamily="34" charset="0"/>
                <a:ea typeface="Times New Roman" panose="02020603050405020304" pitchFamily="18" charset="0"/>
                <a:cs typeface="Times New Roman" panose="02020603050405020304" pitchFamily="18" charset="0"/>
              </a:rPr>
              <a:t>I need help.       I got it.      I could help someone.</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p:pic>
        <p:nvPicPr>
          <p:cNvPr id="13" name="image29.png" descr="Marketing">
            <a:extLst>
              <a:ext uri="{FF2B5EF4-FFF2-40B4-BE49-F238E27FC236}">
                <a16:creationId xmlns:a16="http://schemas.microsoft.com/office/drawing/2014/main" id="{1A18B1BE-EEDF-D848-90CD-1DE48139A9A3}"/>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440082" y="2142520"/>
            <a:ext cx="520065" cy="520065"/>
          </a:xfrm>
          <a:prstGeom prst="rect">
            <a:avLst/>
          </a:prstGeom>
          <a:ln/>
        </p:spPr>
      </p:pic>
      <p:pic>
        <p:nvPicPr>
          <p:cNvPr id="14" name="image28.png" descr="Thumbs up sign">
            <a:extLst>
              <a:ext uri="{FF2B5EF4-FFF2-40B4-BE49-F238E27FC236}">
                <a16:creationId xmlns:a16="http://schemas.microsoft.com/office/drawing/2014/main" id="{EB51BE09-BD0E-4C4E-9FEA-441BAB3D9E5A}"/>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5444519" y="2175857"/>
            <a:ext cx="453390" cy="453390"/>
          </a:xfrm>
          <a:prstGeom prst="rect">
            <a:avLst/>
          </a:prstGeom>
          <a:ln/>
        </p:spPr>
      </p:pic>
      <p:pic>
        <p:nvPicPr>
          <p:cNvPr id="15" name="image30.png" descr="Shooting star">
            <a:extLst>
              <a:ext uri="{FF2B5EF4-FFF2-40B4-BE49-F238E27FC236}">
                <a16:creationId xmlns:a16="http://schemas.microsoft.com/office/drawing/2014/main" id="{E72A04E3-2B48-C442-AEFC-B9B45A0D9D1D}"/>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9489475" y="2216580"/>
            <a:ext cx="447040" cy="447040"/>
          </a:xfrm>
          <a:prstGeom prst="rect">
            <a:avLst/>
          </a:prstGeom>
          <a:ln/>
        </p:spPr>
      </p:pic>
      <p:graphicFrame>
        <p:nvGraphicFramePr>
          <p:cNvPr id="8" name="Table 7">
            <a:extLst>
              <a:ext uri="{FF2B5EF4-FFF2-40B4-BE49-F238E27FC236}">
                <a16:creationId xmlns:a16="http://schemas.microsoft.com/office/drawing/2014/main" id="{00D9E0FE-7ABD-4E4E-9510-1EAB1CECCCFE}"/>
              </a:ext>
            </a:extLst>
          </p:cNvPr>
          <p:cNvGraphicFramePr>
            <a:graphicFrameLocks noGrp="1"/>
          </p:cNvGraphicFramePr>
          <p:nvPr>
            <p:extLst>
              <p:ext uri="{D42A27DB-BD31-4B8C-83A1-F6EECF244321}">
                <p14:modId xmlns:p14="http://schemas.microsoft.com/office/powerpoint/2010/main" val="2222458020"/>
              </p:ext>
            </p:extLst>
          </p:nvPr>
        </p:nvGraphicFramePr>
        <p:xfrm>
          <a:off x="2152995" y="2998925"/>
          <a:ext cx="7560000" cy="3537078"/>
        </p:xfrm>
        <a:graphic>
          <a:graphicData uri="http://schemas.openxmlformats.org/drawingml/2006/table">
            <a:tbl>
              <a:tblPr bandRow="1"/>
              <a:tblGrid>
                <a:gridCol w="5040000">
                  <a:extLst>
                    <a:ext uri="{9D8B030D-6E8A-4147-A177-3AD203B41FA5}">
                      <a16:colId xmlns:a16="http://schemas.microsoft.com/office/drawing/2014/main" val="3669112326"/>
                    </a:ext>
                  </a:extLst>
                </a:gridCol>
                <a:gridCol w="2520000">
                  <a:extLst>
                    <a:ext uri="{9D8B030D-6E8A-4147-A177-3AD203B41FA5}">
                      <a16:colId xmlns:a16="http://schemas.microsoft.com/office/drawing/2014/main" val="4292004369"/>
                    </a:ext>
                  </a:extLst>
                </a:gridCol>
              </a:tblGrid>
              <a:tr h="914400">
                <a:tc>
                  <a:txBody>
                    <a:bodyPr/>
                    <a:lstStyle/>
                    <a:p>
                      <a:pPr marL="0" marR="0">
                        <a:lnSpc>
                          <a:spcPct val="115000"/>
                        </a:lnSpc>
                        <a:spcBef>
                          <a:spcPts val="0"/>
                        </a:spcBef>
                        <a:spcAft>
                          <a:spcPts val="0"/>
                        </a:spcAft>
                      </a:pP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Apply </a:t>
                      </a:r>
                      <a:r>
                        <a:rPr lang="en-US" sz="24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one law</a:t>
                      </a: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of exponents </a:t>
                      </a:r>
                      <a:b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b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to generate an equivalent algebraic expression</a:t>
                      </a:r>
                      <a:endParaRPr lang="x-none" sz="24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i="1" dirty="0">
                          <a:solidFill>
                            <a:srgbClr val="000000"/>
                          </a:solidFill>
                          <a:effectLst/>
                          <a:latin typeface="Verdana" pitchFamily="34" charset="0"/>
                          <a:ea typeface="Verdana" pitchFamily="34" charset="0"/>
                          <a:cs typeface="Century Gothic" panose="020B0502020202020204" pitchFamily="34"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4974062"/>
                  </a:ext>
                </a:extLst>
              </a:tr>
              <a:tr h="914400">
                <a:tc>
                  <a:txBody>
                    <a:bodyPr/>
                    <a:lstStyle/>
                    <a:p>
                      <a:pPr marL="0" marR="0">
                        <a:lnSpc>
                          <a:spcPct val="115000"/>
                        </a:lnSpc>
                        <a:spcBef>
                          <a:spcPts val="0"/>
                        </a:spcBef>
                        <a:spcAft>
                          <a:spcPts val="0"/>
                        </a:spcAft>
                      </a:pP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Apply </a:t>
                      </a:r>
                      <a:r>
                        <a:rPr lang="en-US" sz="24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multiple laws</a:t>
                      </a: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of exponents to generate an equivalent algebraic expression</a:t>
                      </a:r>
                      <a:endParaRPr lang="x-none" sz="24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a:solidFill>
                            <a:srgbClr val="000000"/>
                          </a:solidFill>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8222457"/>
                  </a:ext>
                </a:extLst>
              </a:tr>
              <a:tr h="914400">
                <a:tc>
                  <a:txBody>
                    <a:bodyPr/>
                    <a:lstStyle/>
                    <a:p>
                      <a:pPr marL="0" marR="0">
                        <a:lnSpc>
                          <a:spcPct val="115000"/>
                        </a:lnSpc>
                        <a:spcBef>
                          <a:spcPts val="0"/>
                        </a:spcBef>
                        <a:spcAft>
                          <a:spcPts val="0"/>
                        </a:spcAft>
                      </a:pP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Determine if two algebraic expressions are equivalent</a:t>
                      </a:r>
                      <a:endParaRPr lang="x-none" sz="24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solidFill>
                            <a:srgbClr val="000000"/>
                          </a:solidFill>
                          <a:effectLst/>
                          <a:latin typeface="Verdana"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555715"/>
                  </a:ext>
                </a:extLst>
              </a:tr>
            </a:tbl>
          </a:graphicData>
        </a:graphic>
      </p:graphicFrame>
      <p:pic>
        <p:nvPicPr>
          <p:cNvPr id="18" name="image29.png" descr="Marketing">
            <a:extLst>
              <a:ext uri="{FF2B5EF4-FFF2-40B4-BE49-F238E27FC236}">
                <a16:creationId xmlns:a16="http://schemas.microsoft.com/office/drawing/2014/main" id="{3237532B-1C6B-2245-B549-AB1AB2C480BE}"/>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7408967" y="3443688"/>
            <a:ext cx="520065" cy="520065"/>
          </a:xfrm>
          <a:prstGeom prst="rect">
            <a:avLst/>
          </a:prstGeom>
          <a:ln/>
        </p:spPr>
      </p:pic>
      <p:pic>
        <p:nvPicPr>
          <p:cNvPr id="19" name="image28.png" descr="Thumbs up sign">
            <a:extLst>
              <a:ext uri="{FF2B5EF4-FFF2-40B4-BE49-F238E27FC236}">
                <a16:creationId xmlns:a16="http://schemas.microsoft.com/office/drawing/2014/main" id="{B776FC1B-194D-6340-9E0C-6F8B899330CA}"/>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8193180" y="3453212"/>
            <a:ext cx="453390" cy="453390"/>
          </a:xfrm>
          <a:prstGeom prst="rect">
            <a:avLst/>
          </a:prstGeom>
          <a:ln/>
        </p:spPr>
      </p:pic>
      <p:pic>
        <p:nvPicPr>
          <p:cNvPr id="20" name="image30.png" descr="Shooting star">
            <a:extLst>
              <a:ext uri="{FF2B5EF4-FFF2-40B4-BE49-F238E27FC236}">
                <a16:creationId xmlns:a16="http://schemas.microsoft.com/office/drawing/2014/main" id="{D34D9FC0-328C-914E-8B87-21AC3AEF22A8}"/>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8961095" y="3496028"/>
            <a:ext cx="447040" cy="447040"/>
          </a:xfrm>
          <a:prstGeom prst="rect">
            <a:avLst/>
          </a:prstGeom>
          <a:ln/>
        </p:spPr>
      </p:pic>
      <p:pic>
        <p:nvPicPr>
          <p:cNvPr id="21" name="image29.png" descr="Marketing">
            <a:extLst>
              <a:ext uri="{FF2B5EF4-FFF2-40B4-BE49-F238E27FC236}">
                <a16:creationId xmlns:a16="http://schemas.microsoft.com/office/drawing/2014/main" id="{C5EB444C-70D6-8247-9E98-61960E23E463}"/>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7408967" y="4751377"/>
            <a:ext cx="520065" cy="520065"/>
          </a:xfrm>
          <a:prstGeom prst="rect">
            <a:avLst/>
          </a:prstGeom>
          <a:ln/>
        </p:spPr>
      </p:pic>
      <p:pic>
        <p:nvPicPr>
          <p:cNvPr id="22" name="image28.png" descr="Thumbs up sign">
            <a:extLst>
              <a:ext uri="{FF2B5EF4-FFF2-40B4-BE49-F238E27FC236}">
                <a16:creationId xmlns:a16="http://schemas.microsoft.com/office/drawing/2014/main" id="{C739A31B-730F-D342-BE24-BD79A20E4AC9}"/>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8193180" y="4760901"/>
            <a:ext cx="453390" cy="453390"/>
          </a:xfrm>
          <a:prstGeom prst="rect">
            <a:avLst/>
          </a:prstGeom>
          <a:ln/>
        </p:spPr>
      </p:pic>
      <p:pic>
        <p:nvPicPr>
          <p:cNvPr id="23" name="image30.png" descr="Shooting star">
            <a:extLst>
              <a:ext uri="{FF2B5EF4-FFF2-40B4-BE49-F238E27FC236}">
                <a16:creationId xmlns:a16="http://schemas.microsoft.com/office/drawing/2014/main" id="{DC02F8CD-8EC7-9B48-A9AF-7DD8B8B62AED}"/>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8961095" y="4803717"/>
            <a:ext cx="447040" cy="447040"/>
          </a:xfrm>
          <a:prstGeom prst="rect">
            <a:avLst/>
          </a:prstGeom>
          <a:ln/>
        </p:spPr>
      </p:pic>
      <p:pic>
        <p:nvPicPr>
          <p:cNvPr id="24" name="image29.png" descr="Marketing">
            <a:extLst>
              <a:ext uri="{FF2B5EF4-FFF2-40B4-BE49-F238E27FC236}">
                <a16:creationId xmlns:a16="http://schemas.microsoft.com/office/drawing/2014/main" id="{CC1836BC-2D3D-F544-BABC-67EEB74DB39A}"/>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7408967" y="5853886"/>
            <a:ext cx="520065" cy="520065"/>
          </a:xfrm>
          <a:prstGeom prst="rect">
            <a:avLst/>
          </a:prstGeom>
          <a:ln/>
        </p:spPr>
      </p:pic>
      <p:pic>
        <p:nvPicPr>
          <p:cNvPr id="25" name="image28.png" descr="Thumbs up sign">
            <a:extLst>
              <a:ext uri="{FF2B5EF4-FFF2-40B4-BE49-F238E27FC236}">
                <a16:creationId xmlns:a16="http://schemas.microsoft.com/office/drawing/2014/main" id="{86F382CC-FC86-5D4B-AD13-5901C5FAD081}"/>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8193180" y="5863410"/>
            <a:ext cx="453390" cy="453390"/>
          </a:xfrm>
          <a:prstGeom prst="rect">
            <a:avLst/>
          </a:prstGeom>
          <a:ln/>
        </p:spPr>
      </p:pic>
      <p:pic>
        <p:nvPicPr>
          <p:cNvPr id="26" name="image30.png" descr="Shooting star">
            <a:extLst>
              <a:ext uri="{FF2B5EF4-FFF2-40B4-BE49-F238E27FC236}">
                <a16:creationId xmlns:a16="http://schemas.microsoft.com/office/drawing/2014/main" id="{7A713C29-294C-8743-987E-CF6BA309A651}"/>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8961095" y="5906226"/>
            <a:ext cx="447040" cy="447040"/>
          </a:xfrm>
          <a:prstGeom prst="rect">
            <a:avLst/>
          </a:prstGeom>
          <a:ln/>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3032</TotalTime>
  <Words>637</Words>
  <Application>Microsoft Office PowerPoint</Application>
  <PresentationFormat>Widescreen</PresentationFormat>
  <Paragraphs>118</Paragraphs>
  <Slides>16</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Verdana</vt:lpstr>
      <vt:lpstr>Wingdings</vt:lpstr>
      <vt:lpstr>Century Gothic</vt:lpstr>
      <vt:lpstr>Calibri</vt:lpstr>
      <vt:lpstr>Arial Black</vt:lpstr>
      <vt:lpstr>Cambria Math</vt:lpstr>
      <vt:lpstr>Arial</vt:lpstr>
      <vt:lpstr>1_Office Theme</vt:lpstr>
      <vt:lpstr>8th Grade Math: Pre-Algebra  Unit 4, Lesson 11  Applying  Multiple Laws of Exponents –  Part 2  Volume 1, pg. 170  </vt:lpstr>
      <vt:lpstr>Benchmark</vt:lpstr>
      <vt:lpstr>PowerPoint Presentation</vt:lpstr>
      <vt:lpstr>PowerPoint Presentation</vt:lpstr>
      <vt:lpstr>Warm-Up</vt:lpstr>
      <vt:lpstr>PowerPoint Presentation</vt:lpstr>
      <vt:lpstr>Activity</vt:lpstr>
      <vt:lpstr>PowerPoint Presentation</vt:lpstr>
      <vt:lpstr>PowerPoint Presentation</vt:lpstr>
      <vt:lpstr>PowerPoint Presentation</vt:lpstr>
      <vt:lpstr>Activity</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27</cp:revision>
  <dcterms:created xsi:type="dcterms:W3CDTF">2015-03-17T18:51:18Z</dcterms:created>
  <dcterms:modified xsi:type="dcterms:W3CDTF">2022-06-15T23:59:33Z</dcterms:modified>
</cp:coreProperties>
</file>