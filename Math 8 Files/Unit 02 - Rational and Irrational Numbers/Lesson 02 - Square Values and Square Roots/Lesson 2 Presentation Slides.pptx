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5" r:id="rId12"/>
    <p:sldId id="320" r:id="rId13"/>
    <p:sldId id="321" r:id="rId14"/>
    <p:sldId id="332" r:id="rId15"/>
    <p:sldId id="333" r:id="rId16"/>
    <p:sldId id="322" r:id="rId17"/>
    <p:sldId id="334" r:id="rId18"/>
    <p:sldId id="336" r:id="rId19"/>
    <p:sldId id="323" r:id="rId20"/>
    <p:sldId id="324" r:id="rId21"/>
    <p:sldId id="337" r:id="rId22"/>
    <p:sldId id="325" r:id="rId23"/>
    <p:sldId id="302" r:id="rId24"/>
    <p:sldId id="303" r:id="rId25"/>
    <p:sldId id="306" r:id="rId26"/>
    <p:sldId id="307" r:id="rId27"/>
  </p:sldIdLst>
  <p:sldSz cx="12192000" cy="6858000"/>
  <p:notesSz cx="6858000" cy="9144000"/>
  <p:embeddedFontLst>
    <p:embeddedFont>
      <p:font typeface="Arial Black" pitchFamily="34" charset="0"/>
      <p:bold r:id="rId29"/>
    </p:embeddedFont>
    <p:embeddedFont>
      <p:font typeface="Verdana" pitchFamily="34" charset="0"/>
      <p:regular r:id="rId30"/>
      <p:bold r:id="rId31"/>
      <p:italic r:id="rId32"/>
      <p:boldItalic r:id="rId33"/>
    </p:embeddedFont>
    <p:embeddedFont>
      <p:font typeface="Calibri" pitchFamily="34" charset="0"/>
      <p:regular r:id="rId34"/>
      <p:bold r:id="rId35"/>
      <p:italic r:id="rId36"/>
      <p:boldItalic r:id="rId37"/>
    </p:embeddedFont>
    <p:embeddedFont>
      <p:font typeface="Century Gothic" pitchFamily="34" charset="0"/>
      <p:regular r:id="rId38"/>
      <p:bold r:id="rId39"/>
      <p:italic r:id="rId40"/>
      <p:boldItalic r:id="rId41"/>
    </p:embeddedFont>
    <p:embeddedFont>
      <p:font typeface="Cambria Math" pitchFamily="18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94"/>
  </p:normalViewPr>
  <p:slideViewPr>
    <p:cSldViewPr snapToGrid="0">
      <p:cViewPr>
        <p:scale>
          <a:sx n="80" d="100"/>
          <a:sy n="80" d="100"/>
        </p:scale>
        <p:origin x="-643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84164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76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182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360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793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167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26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5982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4949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3334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hyperlink" Target="http://www.publicdomainpictures.net/view-image.php?image=2802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jpeg"/><Relationship Id="rId5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0.png"/><Relationship Id="rId10" Type="http://schemas.openxmlformats.org/officeDocument/2006/relationships/image" Target="../media/image10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Grade Math: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Square Values and Square Roots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xmlns="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00" y="1600200"/>
                <a:ext cx="11009924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MA.8.NSO.1.1</a:t>
                </a:r>
              </a:p>
              <a:p>
                <a:pPr indent="0">
                  <a:buNone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Extend previous understanding of rational numbers to define irrational numbers within the real number system. Locate an approximate value of a numerical expression involving irrational numbers on a number line.</a:t>
                </a:r>
              </a:p>
              <a:p>
                <a:pPr indent="0">
                  <a:buNone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MA.8.AR.2.3</a:t>
                </a:r>
              </a:p>
              <a:p>
                <a:pPr indent="0">
                  <a:buNone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an equation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𝑝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 and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𝑞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integer, determine the real solutions.</a:t>
                </a:r>
                <a:endParaRPr 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00" y="1600200"/>
                <a:ext cx="11009924" cy="4205700"/>
              </a:xfrm>
              <a:prstGeom prst="rect">
                <a:avLst/>
              </a:prstGeom>
              <a:blipFill>
                <a:blip r:embed="rId5"/>
                <a:stretch>
                  <a:fillRect l="-8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xmlns="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6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00" y="1600200"/>
                <a:ext cx="11009924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determine the positive and negative solutions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a whole number.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use the vocabulary related to radicals.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interpret and evaluate a square root.</a:t>
                </a:r>
                <a:endParaRPr lang="en-US" sz="35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00" y="1600200"/>
                <a:ext cx="11009924" cy="4205700"/>
              </a:xfrm>
              <a:prstGeom prst="rect">
                <a:avLst/>
              </a:prstGeom>
              <a:blipFill>
                <a:blip r:embed="rId5"/>
                <a:stretch>
                  <a:fillRect l="-1440" t="-24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Estimation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103490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2006, scientists in North Wales found a deep-sea clam that was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 old. Deep-sea clams have the slowest growth rate, growing as little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millimeters (mm), or one-third inch,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years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1034902" cy="1569660"/>
              </a:xfrm>
              <a:prstGeom prst="rect">
                <a:avLst/>
              </a:prstGeom>
              <a:blipFill>
                <a:blip r:embed="rId5"/>
                <a:stretch>
                  <a:fillRect l="-828" t="-3101" r="-497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A picture containing invertebrate, mollusk, mussel, clam&#10;&#10;Description automatically generated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3639452" y="3176391"/>
            <a:ext cx="4942494" cy="3273566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40565" y="520393"/>
            <a:ext cx="110653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 the clam’s size when the scientists found it in 2006. 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reasoning for your estimation.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9B2481D9-8B52-C443-ABEF-765D254993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="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50" y="82493"/>
                <a:ext cx="10441876" cy="9887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2.2.2 Guided Instruction: </a:t>
                </a:r>
                <a:r>
                  <a:rPr lang="en-US" sz="32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/>
                </a:r>
                <a:br>
                  <a:rPr lang="en-US" sz="32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200" b="1" dirty="0" smtClean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Solving </a:t>
                </a: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26B6D4"/>
                            </a:solidFill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3200" b="1" i="1">
                            <a:solidFill>
                              <a:srgbClr val="26B6D4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solidFill>
                              <a:srgbClr val="26B6D4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solidFill>
                          <a:srgbClr val="26B6D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3200" b="1" i="1">
                        <a:solidFill>
                          <a:srgbClr val="26B6D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𝒑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50" y="82493"/>
                <a:ext cx="10441876" cy="988756"/>
              </a:xfrm>
              <a:prstGeom prst="rect">
                <a:avLst/>
              </a:prstGeom>
              <a:blipFill rotWithShape="1">
                <a:blip r:embed="rId3"/>
                <a:stretch>
                  <a:fillRect l="-1518" t="-12963" b="-191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130760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value(s) make the equation true.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the solutions that satisfy the equation.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solutions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lvl="1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1307600" cy="4893647"/>
              </a:xfrm>
              <a:prstGeom prst="rect">
                <a:avLst/>
              </a:prstGeom>
              <a:blipFill>
                <a:blip r:embed="rId6"/>
                <a:stretch>
                  <a:fillRect l="-809" t="-1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2260A17C-F127-D647-A05B-7BB35115884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0"/>
                <a:ext cx="1106536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number, there are always two solutions, except in the case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For all other whole number values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there is one positive and one negative solution.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you think it is possible to find a solution to this equation.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0"/>
                <a:ext cx="11065362" cy="3785652"/>
              </a:xfrm>
              <a:prstGeom prst="rect">
                <a:avLst/>
              </a:prstGeom>
              <a:blipFill>
                <a:blip r:embed="rId4"/>
                <a:stretch>
                  <a:fillRect l="-826" t="-1449" r="-1652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288746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Complete the statements.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637" y="1198183"/>
            <a:ext cx="1337234" cy="8587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35871" y="1396738"/>
            <a:ext cx="69803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real number that can 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339688" y="2179294"/>
                <a:ext cx="74526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multiplied by itself to result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Therefore,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688" y="2179294"/>
                <a:ext cx="7452681" cy="461665"/>
              </a:xfrm>
              <a:prstGeom prst="rect">
                <a:avLst/>
              </a:prstGeom>
              <a:blipFill>
                <a:blip r:embed="rId5"/>
                <a:stretch>
                  <a:fillRect l="-1309" t="-11842" r="-2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339687" y="1396737"/>
            <a:ext cx="105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1725" y="2763295"/>
            <a:ext cx="7081886" cy="1734565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234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324;g103996e1364_0_25">
                <a:extLst>
                  <a:ext uri="{FF2B5EF4-FFF2-40B4-BE49-F238E27FC236}">
                    <a16:creationId xmlns:a16="http://schemas.microsoft.com/office/drawing/2014/main" xmlns="" id="{DB5796CA-12EB-BB4C-8338-B127D750A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2649" y="228797"/>
                <a:ext cx="10343231" cy="9887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2.2.3 Try It: </a:t>
                </a:r>
                <a:r>
                  <a:rPr lang="en-US" sz="32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Solving </a:t>
                </a:r>
                <a:r>
                  <a:rPr lang="en-US" sz="3200" b="1" dirty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Equations in the </a:t>
                </a:r>
                <a:r>
                  <a:rPr lang="en-US" sz="32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/>
                </a:r>
                <a:br>
                  <a:rPr lang="en-US" sz="32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-US" sz="3200" b="1" dirty="0" smtClean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04BFA5"/>
                            </a:solidFill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3200" b="1" i="1">
                            <a:solidFill>
                              <a:srgbClr val="04BFA5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solidFill>
                              <a:srgbClr val="04BFA5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solidFill>
                          <a:srgbClr val="04BFA5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3200" b="1" i="1">
                        <a:solidFill>
                          <a:srgbClr val="04BFA5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𝒑</m:t>
                    </m:r>
                  </m:oMath>
                </a14:m>
                <a:endParaRPr lang="en-US" sz="3200" b="1" dirty="0">
                  <a:solidFill>
                    <a:srgbClr val="33BEA6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>
          <p:sp>
            <p:nvSpPr>
              <p:cNvPr id="8" name="Google Shape;324;g103996e1364_0_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B5796CA-12EB-BB4C-8338-B127D750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49" y="228797"/>
                <a:ext cx="10343231" cy="988756"/>
              </a:xfrm>
              <a:prstGeom prst="rect">
                <a:avLst/>
              </a:prstGeom>
              <a:blipFill rotWithShape="1">
                <a:blip r:embed="rId3"/>
                <a:stretch>
                  <a:fillRect l="-1533" t="-12963" b="-191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189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832713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Find the solution(s) for each equation. </a:t>
                </a:r>
              </a:p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358775" indent="-358775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2400" i="1" dirty="0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PH" sz="2400" i="1" dirty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=36</m:t>
                    </m:r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=144</m:t>
                    </m:r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49=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8327136" cy="4154984"/>
              </a:xfrm>
              <a:prstGeom prst="rect">
                <a:avLst/>
              </a:prstGeom>
              <a:blipFill>
                <a:blip r:embed="rId6"/>
                <a:stretch>
                  <a:fillRect l="-1098" t="-117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xmlns="" id="{F37EE21E-8B35-FE4A-9307-F19691384C8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5752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227314"/>
            <a:ext cx="1095738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2.2.4 Guided Instruction: Square Roots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350" y="1214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11034902" cy="3467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perfect square is the product that results from squaring a number. Squaring a number is multiplying it by itself. The inverse operation to squaring a number is taking its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root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called a </a:t>
                </a:r>
                <a:r>
                  <a:rPr lang="en-US" sz="2400" b="1" i="1" dirty="0">
                    <a:solidFill>
                      <a:srgbClr val="0070C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radical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It is used to represent a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root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 under the radical sign is called the </a:t>
                </a:r>
                <a:r>
                  <a:rPr lang="en-US" sz="2400" b="1" i="1" dirty="0">
                    <a:solidFill>
                      <a:srgbClr val="7030A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radicand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400" b="1" i="1" dirty="0">
                    <a:solidFill>
                      <a:srgbClr val="00B05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index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number outside the radical sign that indicates the root being taken.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11034902" cy="3467616"/>
              </a:xfrm>
              <a:prstGeom prst="rect">
                <a:avLst/>
              </a:prstGeom>
              <a:blipFill>
                <a:blip r:embed="rId5"/>
                <a:stretch>
                  <a:fillRect l="-828" t="-1406" r="-718" b="-2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2260A17C-F127-D647-A05B-7BB351158843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347CCE-34A7-8044-BA67-B5895157AE55}"/>
              </a:ext>
            </a:extLst>
          </p:cNvPr>
          <p:cNvSpPr txBox="1"/>
          <p:nvPr/>
        </p:nvSpPr>
        <p:spPr>
          <a:xfrm>
            <a:off x="465232" y="349586"/>
            <a:ext cx="11058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this information to label the parts of a radical expression.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DBC627A-4143-AD4E-B8AF-FA569ACE060F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8201" y="1499591"/>
            <a:ext cx="4211384" cy="2545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40564" y="4974726"/>
                <a:ext cx="10868963" cy="882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interpreted as the square root, unless an index other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indicated.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974726"/>
                <a:ext cx="10868963" cy="882293"/>
              </a:xfrm>
              <a:prstGeom prst="rect">
                <a:avLst/>
              </a:prstGeom>
              <a:blipFill>
                <a:blip r:embed="rId5"/>
                <a:stretch>
                  <a:fillRect l="-897" t="-68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626"/>
                <a:ext cx="11162918" cy="4559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equations shown.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show which values can be squared to result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Based on the information given about square roots, what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explored in the previous lesson with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every number has both a positive and negative square root, except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symbol is read, “plus or minus,” and is used in front of the radical to denote both roots.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626"/>
                <a:ext cx="11162918" cy="4559133"/>
              </a:xfrm>
              <a:prstGeom prst="rect">
                <a:avLst/>
              </a:prstGeom>
              <a:blipFill>
                <a:blip r:embed="rId4"/>
                <a:stretch>
                  <a:fillRect l="-819" t="-1070" b="-2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2374262"/>
                  </p:ext>
                </p:extLst>
              </p:nvPr>
            </p:nvGraphicFramePr>
            <p:xfrm>
              <a:off x="1065321" y="993363"/>
              <a:ext cx="6943090" cy="44427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4427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(4)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(−4)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2374262"/>
                  </p:ext>
                </p:extLst>
              </p:nvPr>
            </p:nvGraphicFramePr>
            <p:xfrm>
              <a:off x="1065321" y="993363"/>
              <a:ext cx="6943090" cy="44427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42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r="-100000" b="-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00000" b="-22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626"/>
                <a:ext cx="11285490" cy="4784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spcAft>
                    <a:spcPts val="6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because 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_____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= _____ and</a:t>
                </a:r>
              </a:p>
              <a:p>
                <a:pPr marL="3768725" indent="12700"/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= ________</a:t>
                </a:r>
              </a:p>
              <a:p>
                <a:pPr marL="803275" indent="-346075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spcAft>
                    <a:spcPts val="600"/>
                  </a:spcAft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121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i="1">
                        <a:latin typeface="Cambria Math"/>
                      </a:rPr>
                      <m:t> ______</m:t>
                    </m:r>
                  </m:oMath>
                </a14:m>
                <a:r>
                  <a:rPr lang="en-US" sz="2400" dirty="0"/>
                  <a:t> because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= ________</a:t>
                </a:r>
              </a:p>
              <a:p>
                <a:pPr marL="3683000"/>
                <a:r>
                  <a:rPr lang="en-US" sz="2400" dirty="0"/>
                  <a:t>and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= ________</a:t>
                </a:r>
              </a:p>
              <a:p>
                <a:pPr marL="622300" indent="-6223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there is not a real number equivalent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626"/>
                <a:ext cx="11285490" cy="4784323"/>
              </a:xfrm>
              <a:prstGeom prst="rect">
                <a:avLst/>
              </a:prstGeom>
              <a:blipFill>
                <a:blip r:embed="rId4"/>
                <a:stretch>
                  <a:fillRect l="-810" t="-1019" b="-1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071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510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9510717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2.2.5 Guided Practice: Squares and Square Roots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593248" y="1385906"/>
            <a:ext cx="832713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Xavier completed two problems as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Xavier’s answers with your partner.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xmlns="" id="{46CE9362-15C8-D54E-981B-E2717DFC6652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316" y="2000102"/>
            <a:ext cx="6852522" cy="2849207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AE5E1E0-A54D-BE42-84B5-F917038ADE99}"/>
              </a:ext>
            </a:extLst>
          </p:cNvPr>
          <p:cNvSpPr txBox="1"/>
          <p:nvPr/>
        </p:nvSpPr>
        <p:spPr>
          <a:xfrm>
            <a:off x="465232" y="288626"/>
            <a:ext cx="8327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8048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328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Xavier answered                      correctly.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A7817ACE-0EAD-F54B-BF54-D1C44606A01D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53" y="783633"/>
            <a:ext cx="2220347" cy="8881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1408" y="1721545"/>
            <a:ext cx="2781491" cy="8194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125827" y="1879210"/>
                <a:ext cx="63154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827" y="1879210"/>
                <a:ext cx="6315456" cy="461665"/>
              </a:xfrm>
              <a:prstGeom prst="rect">
                <a:avLst/>
              </a:prstGeom>
              <a:blipFill>
                <a:blip r:embed="rId6"/>
                <a:stretch>
                  <a:fillRect l="-154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5082" y="2606382"/>
            <a:ext cx="2526221" cy="8398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368730" y="2773812"/>
            <a:ext cx="2366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 there</a:t>
            </a:r>
            <a:endParaRPr lang="en-US" sz="2400" dirty="0"/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6261302" y="2771809"/>
            <a:ext cx="2924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make(s) the 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68729" y="3268149"/>
                <a:ext cx="7918336" cy="2988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 true. When finding the value of a square root, consider what value can be multiplied by itself to result in the radicand. Therefore,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729" y="3268149"/>
                <a:ext cx="7918336" cy="2988510"/>
              </a:xfrm>
              <a:prstGeom prst="rect">
                <a:avLst/>
              </a:prstGeom>
              <a:blipFill>
                <a:blip r:embed="rId8"/>
                <a:stretch>
                  <a:fillRect l="-1233" r="-1849" b="-3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562379" y="1950947"/>
            <a:ext cx="1879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9300" indent="555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1025" y="5383781"/>
            <a:ext cx="1113950" cy="1273874"/>
          </a:xfrm>
          <a:prstGeom prst="rect">
            <a:avLst/>
          </a:prstGeom>
        </p:spPr>
      </p:pic>
      <p:sp>
        <p:nvSpPr>
          <p:cNvPr id="1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1557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3BC97A7-8575-5A46-8E72-A886A83AEC7E}"/>
              </a:ext>
            </a:extLst>
          </p:cNvPr>
          <p:cNvSpPr txBox="1"/>
          <p:nvPr/>
        </p:nvSpPr>
        <p:spPr>
          <a:xfrm>
            <a:off x="465232" y="386162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of the following.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xmlns="" id="{01E1BEEC-C47B-3A48-99B3-7CB267A11974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500792"/>
                  </p:ext>
                </p:extLst>
              </p:nvPr>
            </p:nvGraphicFramePr>
            <p:xfrm>
              <a:off x="929481" y="983897"/>
              <a:ext cx="6033812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43381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358775" marR="0" indent="-358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81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225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−64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500792"/>
                  </p:ext>
                </p:extLst>
              </p:nvPr>
            </p:nvGraphicFramePr>
            <p:xfrm>
              <a:off x="929481" y="983897"/>
              <a:ext cx="6033812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338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t="-5618" r="-67682" b="-116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47750" t="-5618" b="-116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4"/>
                          <a:stretch>
                            <a:fillRect t="-106215" r="-67682" b="-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>
                          <a:blip r:embed="rId4"/>
                          <a:stretch>
                            <a:fillRect l="-147750" t="-106215" b="-16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465232" y="3860209"/>
            <a:ext cx="38924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Solve each equation.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09107" y="4462465"/>
                <a:ext cx="2104365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8775" indent="-3587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=169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8775" indent="-3587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225=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07" y="4462465"/>
                <a:ext cx="2104365" cy="1569660"/>
              </a:xfrm>
              <a:prstGeom prst="rect">
                <a:avLst/>
              </a:prstGeom>
              <a:blipFill>
                <a:blip r:embed="rId5"/>
                <a:stretch>
                  <a:fillRect l="-4348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34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59C3E41-93EC-B84D-963F-86A3B15AC1C6}"/>
              </a:ext>
            </a:extLst>
          </p:cNvPr>
          <p:cNvSpPr txBox="1"/>
          <p:nvPr/>
        </p:nvSpPr>
        <p:spPr>
          <a:xfrm>
            <a:off x="593248" y="1385905"/>
            <a:ext cx="8327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of the following.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each equation.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134A47CD-5DBB-654A-843E-9182A1B8FB7F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1823760"/>
                  </p:ext>
                </p:extLst>
              </p:nvPr>
            </p:nvGraphicFramePr>
            <p:xfrm>
              <a:off x="1077364" y="2173473"/>
              <a:ext cx="6648000" cy="648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648690">
                    <a:tc>
                      <a:txBody>
                        <a:bodyPr/>
                        <a:lstStyle/>
                        <a:p>
                          <a:pPr marL="358775" indent="-358775">
                            <a:buFont typeface="+mj-lt"/>
                            <a:buAutoNum type="alphaLcPeriod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US" sz="2400" i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58775" indent="-358775">
                            <a:buFont typeface="+mj-lt"/>
                            <a:buAutoNum type="alphaLcPeriod" startAt="2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196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1823760"/>
                  </p:ext>
                </p:extLst>
              </p:nvPr>
            </p:nvGraphicFramePr>
            <p:xfrm>
              <a:off x="1077364" y="2173473"/>
              <a:ext cx="6648000" cy="648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486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t="-1869" r="-847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7964" t="-1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7962" y="4212222"/>
                <a:ext cx="4572000" cy="1569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742950" lvl="1" indent="-2857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=4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121=</m:t>
                    </m:r>
                    <m:sSup>
                      <m:sSupPr>
                        <m:ctrlPr>
                          <a:rPr lang="en-US" sz="24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62" y="4212222"/>
                <a:ext cx="4572000" cy="1569660"/>
              </a:xfrm>
              <a:prstGeom prst="rect">
                <a:avLst/>
              </a:prstGeom>
              <a:blipFill>
                <a:blip r:embed="rId6"/>
                <a:stretch>
                  <a:fillRect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2.2.6 Your Turn!</a:t>
            </a:r>
            <a:endParaRPr lang="en-US" sz="44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34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93248" y="1385906"/>
            <a:ext cx="110055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statements to complete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you reflect on today’s lesson.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that made the most sense to me today was … 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that I just don’t understand is … 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I learned today was …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I still wonder about is … 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I noticed about square roots is …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xmlns="" id="{69767437-9B0B-9D43-A596-1373A90D9FE8}"/>
              </a:ext>
            </a:extLst>
          </p:cNvPr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49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2.2.7 Wrap-Up: Reflection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1371</TotalTime>
  <Words>952</Words>
  <Application>Microsoft Office PowerPoint</Application>
  <PresentationFormat>Custom</PresentationFormat>
  <Paragraphs>211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Verdana</vt:lpstr>
      <vt:lpstr>Calibri</vt:lpstr>
      <vt:lpstr>Times New Roman</vt:lpstr>
      <vt:lpstr>Century Gothic</vt:lpstr>
      <vt:lpstr>Cambria Math</vt:lpstr>
      <vt:lpstr>Wingdings</vt:lpstr>
      <vt:lpstr>1_Office Theme</vt:lpstr>
      <vt:lpstr>8th Grade Math: Pre-Algebra  Unit 2, Lesson 2  Square Values and Square Roots  Volume 1, pg. 44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39</cp:revision>
  <dcterms:created xsi:type="dcterms:W3CDTF">2015-03-17T18:51:18Z</dcterms:created>
  <dcterms:modified xsi:type="dcterms:W3CDTF">2022-06-14T08:35:37Z</dcterms:modified>
</cp:coreProperties>
</file>