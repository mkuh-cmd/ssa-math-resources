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288" r:id="rId11"/>
    <p:sldId id="335" r:id="rId12"/>
    <p:sldId id="329" r:id="rId13"/>
    <p:sldId id="330" r:id="rId14"/>
    <p:sldId id="332" r:id="rId15"/>
    <p:sldId id="333" r:id="rId16"/>
    <p:sldId id="338" r:id="rId17"/>
    <p:sldId id="289" r:id="rId18"/>
    <p:sldId id="290" r:id="rId19"/>
    <p:sldId id="337" r:id="rId20"/>
    <p:sldId id="336" r:id="rId21"/>
    <p:sldId id="308" r:id="rId22"/>
    <p:sldId id="306" r:id="rId23"/>
    <p:sldId id="307" r:id="rId24"/>
  </p:sldIdLst>
  <p:sldSz cx="12192000" cy="6858000"/>
  <p:notesSz cx="6858000" cy="9144000"/>
  <p:embeddedFontLst>
    <p:embeddedFont>
      <p:font typeface="Arial Black" pitchFamily="34" charset="0"/>
      <p:bold r:id="rId26"/>
    </p:embeddedFont>
    <p:embeddedFont>
      <p:font typeface="Verdana" pitchFamily="34" charset="0"/>
      <p:regular r:id="rId27"/>
      <p:bold r:id="rId28"/>
      <p:italic r:id="rId29"/>
      <p:boldItalic r:id="rId30"/>
    </p:embeddedFont>
    <p:embeddedFont>
      <p:font typeface="Calibri" pitchFamily="34" charset="0"/>
      <p:regular r:id="rId31"/>
      <p:bold r:id="rId32"/>
      <p:italic r:id="rId33"/>
      <p:boldItalic r:id="rId34"/>
    </p:embeddedFont>
    <p:embeddedFont>
      <p:font typeface="Century Gothic" pitchFamily="34" charset="0"/>
      <p:regular r:id="rId35"/>
      <p:bold r:id="rId36"/>
      <p:italic r:id="rId37"/>
      <p:boldItalic r:id="rId38"/>
    </p:embeddedFont>
    <p:embeddedFont>
      <p:font typeface="Cambria Math" pitchFamily="18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544" autoAdjust="0"/>
    <p:restoredTop sz="94707" autoAdjust="0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450847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454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9119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3049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1605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4493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6156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0815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44355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49260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6.tiff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Grade Math: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Cube Values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MA.8.AR.2.3</a:t>
            </a:r>
          </a:p>
          <a:p>
            <a:pPr marL="512763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an equation in the form of </a:t>
            </a:r>
            <a:r>
              <a:rPr lang="en-US" sz="35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𝑥</a:t>
            </a:r>
            <a:r>
              <a:rPr lang="en-US" sz="35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2</a:t>
            </a:r>
            <a:r>
              <a:rPr lang="en-US" sz="35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 = 𝑝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</a:t>
            </a:r>
            <a: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3500" dirty="0" smtClean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𝑥</a:t>
            </a:r>
            <a:r>
              <a:rPr lang="en-US" sz="35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3</a:t>
            </a:r>
            <a:r>
              <a:rPr lang="en-US" sz="35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 = 𝑞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where </a:t>
            </a:r>
            <a:r>
              <a:rPr lang="en-US" sz="35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𝑝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whole number and </a:t>
            </a:r>
            <a:r>
              <a:rPr lang="en-US" sz="35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𝑞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an integer, determine the real solutions.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xmlns="" id="{79998D09-ED40-CB40-ADB3-2C926DC27F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6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xmlns="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000" y="1600200"/>
                <a:ext cx="11114150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630238" indent="-630238">
                  <a:buFont typeface="Wingdings" panose="05000000000000000000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use multiple representations to explore cube values.</a:t>
                </a: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endParaRPr lang="en-US" sz="35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determine the positive and negative solutions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integer.</a:t>
                </a: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endParaRPr lang="en-US" sz="35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find the values of cube roots.</a:t>
                </a:r>
              </a:p>
            </p:txBody>
          </p:sp>
        </mc:Choice>
        <mc:Fallback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00" y="1600200"/>
                <a:ext cx="11114150" cy="4205700"/>
              </a:xfrm>
              <a:prstGeom prst="rect">
                <a:avLst/>
              </a:prstGeom>
              <a:blipFill rotWithShape="1">
                <a:blip r:embed="rId4"/>
                <a:stretch>
                  <a:fillRect l="-1371" t="-2467" r="-7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9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2.3.1 Warm-Up: Magic Square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09306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Place the digits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each square so the sum of the digits in each row, column, and diagonal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Each digit can only be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used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once.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0930676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837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438658"/>
              </p:ext>
            </p:extLst>
          </p:nvPr>
        </p:nvGraphicFramePr>
        <p:xfrm>
          <a:off x="4030395" y="2852101"/>
          <a:ext cx="4056381" cy="32797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514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24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5245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1073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073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649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330758"/>
            <a:ext cx="1071172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2.3.2 Exploration: Volume of Cubes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250077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593248" y="1386026"/>
            <a:ext cx="11034902" cy="4415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volume of a cube can be found by multiplying the length by the width by the height. Volume is measured in cubic units.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following.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pPr>
              <a:lnSpc>
                <a:spcPct val="2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length, width, and height of a cube have                      measure(s). </a:t>
            </a:r>
          </a:p>
          <a:p>
            <a:pPr>
              <a:lnSpc>
                <a:spcPct val="2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Therefore, the volume of a cube can be found by taking one side length to the		      power, which is also known as			the side length. 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519FE075-E2FF-7B4C-8C80-17BA7226159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0071" y="3606557"/>
            <a:ext cx="1677252" cy="883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479" y="5053324"/>
            <a:ext cx="1278079" cy="10739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0892" y="5131813"/>
            <a:ext cx="1654166" cy="916933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374090"/>
                <a:ext cx="11087585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cube is shown with dimensions given in meters (m).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each statement.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edges of the cube each measure _____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m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 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volume of the cube is ______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m</a:t>
                </a:r>
                <a:r>
                  <a:rPr lang="en-US" sz="2400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3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_____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______.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74090"/>
                <a:ext cx="11087585" cy="5262979"/>
              </a:xfrm>
              <a:prstGeom prst="rect">
                <a:avLst/>
              </a:prstGeom>
              <a:blipFill>
                <a:blip r:embed="rId4"/>
                <a:stretch>
                  <a:fillRect l="-880" t="-926" b="-1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5737989" y="1115046"/>
            <a:ext cx="4074803" cy="3029658"/>
            <a:chOff x="4349947" y="1442593"/>
            <a:chExt cx="4074803" cy="3029658"/>
          </a:xfrm>
        </p:grpSpPr>
        <p:pic>
          <p:nvPicPr>
            <p:cNvPr id="6" name="Picture 5" descr="A picture containing green&#10;&#10;Description automatically generated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97754" y="1442593"/>
              <a:ext cx="2481580" cy="2363470"/>
            </a:xfrm>
            <a:prstGeom prst="rect">
              <a:avLst/>
            </a:prstGeom>
          </p:spPr>
        </p:pic>
        <p:grpSp>
          <p:nvGrpSpPr>
            <p:cNvPr id="8" name="Group 7"/>
            <p:cNvGrpSpPr/>
            <p:nvPr/>
          </p:nvGrpSpPr>
          <p:grpSpPr>
            <a:xfrm>
              <a:off x="4349947" y="2007817"/>
              <a:ext cx="4074803" cy="2464434"/>
              <a:chOff x="-497541" y="391207"/>
              <a:chExt cx="4074803" cy="2464992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 flipH="1">
                <a:off x="334587" y="391207"/>
                <a:ext cx="39" cy="183029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490347" y="2331547"/>
                <a:ext cx="1821074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14" y="1549148"/>
                <a:ext cx="969669" cy="78172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 Box 21"/>
              <p:cNvSpPr txBox="1"/>
              <p:nvPr/>
            </p:nvSpPr>
            <p:spPr>
              <a:xfrm>
                <a:off x="1017142" y="2332217"/>
                <a:ext cx="832207" cy="52398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3 m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4" name="Text Box 22"/>
              <p:cNvSpPr txBox="1"/>
              <p:nvPr/>
            </p:nvSpPr>
            <p:spPr>
              <a:xfrm>
                <a:off x="-497541" y="837587"/>
                <a:ext cx="832207" cy="52398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3 m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5" name="Text Box 23"/>
              <p:cNvSpPr txBox="1"/>
              <p:nvPr/>
            </p:nvSpPr>
            <p:spPr>
              <a:xfrm>
                <a:off x="2745055" y="1808031"/>
                <a:ext cx="832207" cy="52398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3 m</a:t>
                </a:r>
                <a:endParaRPr lang="en-US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sp>
        <p:nvSpPr>
          <p:cNvPr id="1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10032" y="392695"/>
                <a:ext cx="11118118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cube is shown, where each gridline measures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the measures of the length, width, and height of the cube.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volume of the cube?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32" y="392695"/>
                <a:ext cx="11118118" cy="4893647"/>
              </a:xfrm>
              <a:prstGeom prst="rect">
                <a:avLst/>
              </a:prstGeom>
              <a:blipFill>
                <a:blip r:embed="rId4"/>
                <a:stretch>
                  <a:fillRect l="-877" t="-1121" r="-110" b="-1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picture containing screen, building&#10;&#10;Description automatically generated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0" y="830542"/>
            <a:ext cx="2844800" cy="275590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9B2481D9-8B52-C443-ABEF-765D254993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384469"/>
                <a:ext cx="11087585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numbers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cube numbers, or perfect cubes.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what you think a perfect cube is.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find at least two other numbers that are perfect cubes.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84469"/>
                <a:ext cx="11087585" cy="3785652"/>
              </a:xfrm>
              <a:prstGeom prst="rect">
                <a:avLst/>
              </a:prstGeom>
              <a:blipFill>
                <a:blip r:embed="rId4"/>
                <a:stretch>
                  <a:fillRect l="-880" t="-1449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9B2481D9-8B52-C443-ABEF-765D254993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7290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179535"/>
            <a:ext cx="10343231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2.3.3 Bring It Together: Perfect Cubes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69E00F9-F39F-5043-888E-B0A2D8C9AE0F}"/>
              </a:ext>
            </a:extLst>
          </p:cNvPr>
          <p:cNvSpPr txBox="1"/>
          <p:nvPr/>
        </p:nvSpPr>
        <p:spPr>
          <a:xfrm>
            <a:off x="593248" y="1233625"/>
            <a:ext cx="11034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the similarities and differences between square numbers and cube numbers. Then, summarize your discussion in the table.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320606D7-FA1D-5D44-AD19-A87F7EA7DDF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928" y="10007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811270"/>
              </p:ext>
            </p:extLst>
          </p:nvPr>
        </p:nvGraphicFramePr>
        <p:xfrm>
          <a:off x="2142638" y="2733753"/>
          <a:ext cx="7612272" cy="37239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061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061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9674">
                <a:tc>
                  <a:txBody>
                    <a:bodyPr/>
                    <a:lstStyle/>
                    <a:p>
                      <a:pPr marL="45085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Similarities</a:t>
                      </a:r>
                    </a:p>
                  </a:txBody>
                  <a:tcPr marL="95209" marR="95209" marT="47604" marB="47604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Differences</a:t>
                      </a:r>
                    </a:p>
                  </a:txBody>
                  <a:tcPr marL="95209" marR="95209" marT="47604" marB="47604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64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 </a:t>
                      </a:r>
                      <a:endParaRPr lang="en-US" sz="6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09" marR="95209" marT="47604" marB="4760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09" marR="95209" marT="47604" marB="4760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9536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44784" y="60325"/>
            <a:ext cx="1002354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2.3.4 Exploration: Cube Values on the Coordinate Plane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487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32701" y="1634150"/>
                <a:ext cx="604552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Use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complete the following with your partner.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of values for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substituting the given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solving for the corresponding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01" y="1634150"/>
                <a:ext cx="6045520" cy="2554545"/>
              </a:xfrm>
              <a:prstGeom prst="rect">
                <a:avLst/>
              </a:prstGeom>
              <a:blipFill>
                <a:blip r:embed="rId5"/>
                <a:stretch>
                  <a:fillRect l="-1109" t="-1671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519FE075-E2FF-7B4C-8C80-17BA7226159F}"/>
              </a:ext>
            </a:extLst>
          </p:cNvPr>
          <p:cNvSpPr/>
          <p:nvPr/>
        </p:nvSpPr>
        <p:spPr>
          <a:xfrm>
            <a:off x="-7865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7346777"/>
                  </p:ext>
                </p:extLst>
              </p:nvPr>
            </p:nvGraphicFramePr>
            <p:xfrm>
              <a:off x="6921836" y="1678064"/>
              <a:ext cx="4572000" cy="387596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5022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= 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000" b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oMath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  <a:r>
                            <a:rPr lang="en-US" sz="2000" b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(−2)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_______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0" dirty="0" smtClean="0">
                                  <a:effectLst/>
                                  <a:latin typeface="Cambria Math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______ )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7346777"/>
                  </p:ext>
                </p:extLst>
              </p:nvPr>
            </p:nvGraphicFramePr>
            <p:xfrm>
              <a:off x="6921836" y="1678064"/>
              <a:ext cx="4572000" cy="387596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07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351" t="-4310" r="-409459" b="-45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0676" t="-4310" r="-104730" b="-45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5277" t="-4310" r="-977" b="-45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351" t="-101681" r="-409459" b="-3403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0676" t="-101681" r="-104730" b="-3403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5277" t="-101681" r="-977" b="-3403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351" t="-240000" r="-409459" b="-3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351" t="-336634" r="-409459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351" t="-441000" r="-409459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1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351" t="-535644" r="-409459" b="-2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390542" y="4587006"/>
                <a:ext cx="618767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 are cube numbers. What do you notice about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-values?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42" y="4587006"/>
                <a:ext cx="6187679" cy="707886"/>
              </a:xfrm>
              <a:prstGeom prst="rect">
                <a:avLst/>
              </a:prstGeom>
              <a:blipFill>
                <a:blip r:embed="rId7"/>
                <a:stretch>
                  <a:fillRect t="-5128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4655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465232" y="317624"/>
                <a:ext cx="10043544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coordinates on the grid shown.</a:t>
                </a: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1">
                  <a:tabLst>
                    <a:tab pos="4300538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1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Notice the graph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includes points above and below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-axis, unlike the graph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explored in a previous lesson.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17624"/>
                <a:ext cx="10043544" cy="6001643"/>
              </a:xfrm>
              <a:prstGeom prst="rect">
                <a:avLst/>
              </a:prstGeom>
              <a:blipFill>
                <a:blip r:embed="rId4"/>
                <a:stretch>
                  <a:fillRect l="-910" t="-812" r="-910" b="-1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9E4C3D56-1DA8-9443-9950-361D67B05B6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Chart, line chart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7712" y="948690"/>
            <a:ext cx="6144768" cy="417195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9968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xmlns="" id="{21B1DF8E-16A0-FA4E-8CEB-434668DFA6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2650" y="-85979"/>
                <a:ext cx="10575500" cy="132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  <a:buFont typeface="Century Gothic"/>
                  <a:buNone/>
                </a:pPr>
                <a:r>
                  <a:rPr lang="en-US" sz="32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2.3.5 Guided Instruction: Solving Equations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>
                            <a:solidFill>
                              <a:srgbClr val="54B5D1"/>
                            </a:solidFill>
                            <a:latin typeface="Cambria Math"/>
                            <a:ea typeface="Verdana"/>
                            <a:cs typeface="Verdana"/>
                            <a:sym typeface="Verdana"/>
                          </a:rPr>
                        </m:ctrlPr>
                      </m:sSupPr>
                      <m:e>
                        <m:r>
                          <a:rPr lang="en-US" sz="3200" b="1" i="1">
                            <a:solidFill>
                              <a:srgbClr val="54B5D1"/>
                            </a:solidFill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solidFill>
                              <a:srgbClr val="54B5D1"/>
                            </a:solidFill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𝟑</m:t>
                        </m:r>
                      </m:sup>
                    </m:sSup>
                    <m:r>
                      <a:rPr lang="en-US" sz="32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=</m:t>
                    </m:r>
                    <m:r>
                      <a:rPr lang="en-US" sz="32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𝒒</m:t>
                    </m:r>
                  </m:oMath>
                </a14:m>
                <a:endParaRPr lang="en-US" sz="3200" b="1" dirty="0">
                  <a:solidFill>
                    <a:srgbClr val="54B5D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id="{21B1DF8E-16A0-FA4E-8CEB-434668DF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650" y="-85979"/>
                <a:ext cx="10575500" cy="1325700"/>
              </a:xfrm>
              <a:prstGeom prst="rect">
                <a:avLst/>
              </a:prstGeom>
              <a:blipFill>
                <a:blip r:embed="rId4"/>
                <a:stretch>
                  <a:fillRect l="-1499" b="-1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1103490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solution to each equation.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803275" indent="-34607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=8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−8=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latin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the similarities and differences between the equations and their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solutions.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11034902" cy="3785652"/>
              </a:xfrm>
              <a:prstGeom prst="rect">
                <a:avLst/>
              </a:prstGeom>
              <a:blipFill rotWithShape="1">
                <a:blip r:embed="rId6"/>
                <a:stretch>
                  <a:fillRect l="-828" t="-1288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2260A17C-F127-D647-A05B-7BB35115884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465232" y="435050"/>
                <a:ext cx="8402469" cy="4684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457200">
                  <a:lnSpc>
                    <a:spcPct val="30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equations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integer, there			            The solution(s) can 				The sign of the solution(s) depends on the sign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35050"/>
                <a:ext cx="8402469" cy="4684167"/>
              </a:xfrm>
              <a:prstGeom prst="rect">
                <a:avLst/>
              </a:prstGeom>
              <a:blipFill>
                <a:blip r:embed="rId4"/>
                <a:stretch>
                  <a:fillRect l="-1088" t="-1040" r="-1885" b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9E4C3D56-1DA8-9443-9950-361D67B05B6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4021" y="2106071"/>
            <a:ext cx="3039557" cy="10819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0991" y="3262184"/>
            <a:ext cx="3384625" cy="1081971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0675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465232" y="435049"/>
                <a:ext cx="11058692" cy="3186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Similar to the relationship between squares and square roots, there is an inverse relationship between cubes and cube roots.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symbol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200" i="1">
                            <a:solidFill>
                              <a:srgbClr val="00B05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   </m:t>
                        </m:r>
                      </m:e>
                    </m:rad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used to indicate a </a:t>
                </a:r>
                <a:r>
                  <a:rPr lang="en-US" sz="22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cube root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 the index of the radical.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Cube roots can be used to solve equations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integer.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35049"/>
                <a:ext cx="11058692" cy="3186321"/>
              </a:xfrm>
              <a:prstGeom prst="rect">
                <a:avLst/>
              </a:prstGeom>
              <a:blipFill>
                <a:blip r:embed="rId4"/>
                <a:stretch>
                  <a:fillRect l="-717" t="-956" r="-1599" b="-3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9E4C3D56-1DA8-9443-9950-361D67B05B6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5482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465232" y="399956"/>
            <a:ext cx="8327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for each equation.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4461423"/>
                  </p:ext>
                </p:extLst>
              </p:nvPr>
            </p:nvGraphicFramePr>
            <p:xfrm>
              <a:off x="1080916" y="1003679"/>
              <a:ext cx="7560000" cy="504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Related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Cube Root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27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27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=_______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_______=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________=</m:t>
                                </m:r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_______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_______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_______=</m:t>
                                </m:r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−27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____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−125=</m:t>
                                </m:r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4461423"/>
                  </p:ext>
                </p:extLst>
              </p:nvPr>
            </p:nvGraphicFramePr>
            <p:xfrm>
              <a:off x="1080916" y="1003679"/>
              <a:ext cx="7560000" cy="504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Related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Cube Root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Solution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101681" r="-200483" b="-4991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26" t="-101681" r="-100969" b="-4991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42" t="-101681" r="-725" b="-4991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203390" r="-200483" b="-4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26" t="-203390" r="-100969" b="-4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42" t="-203390" r="-725" b="-4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303390" r="-200483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26" t="-303390" r="-100969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42" t="-303390" r="-725" b="-3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403390" r="-200483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26" t="-403390" r="-100969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42" t="-403390" r="-725" b="-2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499160" r="-200483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26" t="-499160" r="-100969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42" t="-499160" r="-725" b="-10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" t="-604237" r="-200483" b="-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26" t="-604237" r="-100969" b="-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42" t="-604237" r="-725" b="-2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8" y="1368508"/>
                <a:ext cx="8327136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each of the following.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each equation.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=−64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1=</m:t>
                    </m:r>
                    <m:sSup>
                      <m:sSupPr>
                        <m:ctrlPr>
                          <a:rPr lang="en-US" sz="22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𝑘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68508"/>
                <a:ext cx="8327136" cy="4832092"/>
              </a:xfrm>
              <a:prstGeom prst="rect">
                <a:avLst/>
              </a:prstGeom>
              <a:blipFill>
                <a:blip r:embed="rId5"/>
                <a:stretch>
                  <a:fillRect l="-952" t="-883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69767437-9B0B-9D43-A596-1373A90D9FE8}"/>
              </a:ext>
            </a:extLst>
          </p:cNvPr>
          <p:cNvSpPr/>
          <p:nvPr/>
        </p:nvSpPr>
        <p:spPr>
          <a:xfrm>
            <a:off x="0" y="-25742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112410"/>
                  </p:ext>
                </p:extLst>
              </p:nvPr>
            </p:nvGraphicFramePr>
            <p:xfrm>
              <a:off x="1134800" y="2037233"/>
              <a:ext cx="6057900" cy="100584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4003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</a:p>
                        <a:p>
                          <a:pPr marL="358775" marR="0" indent="-358775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en-US" sz="2000" baseline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125</m:t>
                                  </m:r>
                                </m:e>
                              </m:ra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</a:p>
                        <a:p>
                          <a:pPr marL="358775" marR="0" indent="-3587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−8</m:t>
                                  </m:r>
                                </m:e>
                              </m:rad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 </m:t>
                              </m:r>
                            </m:oMath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112410"/>
                  </p:ext>
                </p:extLst>
              </p:nvPr>
            </p:nvGraphicFramePr>
            <p:xfrm>
              <a:off x="1134800" y="2037233"/>
              <a:ext cx="6057900" cy="100584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400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r="-1522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120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2.3.6 Wrap-Up: Ticket Out the Door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Google Shape;469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767</Words>
  <Application>Microsoft Office PowerPoint</Application>
  <PresentationFormat>Custom</PresentationFormat>
  <Paragraphs>256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 Black</vt:lpstr>
      <vt:lpstr>Verdana</vt:lpstr>
      <vt:lpstr>Calibri</vt:lpstr>
      <vt:lpstr>Times New Roman</vt:lpstr>
      <vt:lpstr>Century Gothic</vt:lpstr>
      <vt:lpstr>Cambria Math</vt:lpstr>
      <vt:lpstr>Wingdings</vt:lpstr>
      <vt:lpstr>1_Office Theme</vt:lpstr>
      <vt:lpstr>8th Grade Math: Pre-Algebra  Unit 2, Lesson 3  Cube Values  Volume 1, pg. 50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36</cp:revision>
  <dcterms:created xsi:type="dcterms:W3CDTF">2015-03-17T18:51:18Z</dcterms:created>
  <dcterms:modified xsi:type="dcterms:W3CDTF">2022-06-14T08:52:59Z</dcterms:modified>
</cp:coreProperties>
</file>