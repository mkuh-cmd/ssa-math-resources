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85" r:id="rId4"/>
    <p:sldId id="286" r:id="rId5"/>
    <p:sldId id="261" r:id="rId6"/>
    <p:sldId id="287" r:id="rId7"/>
    <p:sldId id="289" r:id="rId8"/>
    <p:sldId id="290" r:id="rId9"/>
    <p:sldId id="288" r:id="rId10"/>
    <p:sldId id="308" r:id="rId11"/>
    <p:sldId id="333" r:id="rId12"/>
    <p:sldId id="323" r:id="rId13"/>
    <p:sldId id="324" r:id="rId14"/>
    <p:sldId id="317" r:id="rId15"/>
    <p:sldId id="318" r:id="rId16"/>
    <p:sldId id="325" r:id="rId17"/>
    <p:sldId id="329" r:id="rId18"/>
    <p:sldId id="330" r:id="rId19"/>
    <p:sldId id="332" r:id="rId20"/>
    <p:sldId id="306" r:id="rId21"/>
    <p:sldId id="307" r:id="rId22"/>
  </p:sldIdLst>
  <p:sldSz cx="12192000" cy="6858000"/>
  <p:notesSz cx="6858000" cy="9144000"/>
  <p:embeddedFontLst>
    <p:embeddedFont>
      <p:font typeface="Century Gothic" pitchFamily="34" charset="0"/>
      <p:regular r:id="rId24"/>
      <p:bold r:id="rId25"/>
      <p:italic r:id="rId26"/>
      <p:boldItalic r:id="rId27"/>
    </p:embeddedFont>
    <p:embeddedFont>
      <p:font typeface="Cambria Math" pitchFamily="18" charset="0"/>
      <p:regular r:id="rId28"/>
    </p:embeddedFont>
    <p:embeddedFont>
      <p:font typeface="Arial Black" pitchFamily="34" charset="0"/>
      <p:bold r:id="rId29"/>
    </p:embeddedFont>
    <p:embeddedFont>
      <p:font typeface="Verdana" pitchFamily="34" charset="0"/>
      <p:regular r:id="rId30"/>
      <p:bold r:id="rId31"/>
      <p:italic r:id="rId32"/>
      <p:boldItalic r:id="rId33"/>
    </p:embeddedFont>
    <p:embeddedFont>
      <p:font typeface="Calibri" pitchFamily="34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9647"/>
    <a:srgbClr val="FCBD1E"/>
    <a:srgbClr val="C9DF6F"/>
    <a:srgbClr val="417DBF"/>
    <a:srgbClr val="3F2A67"/>
    <a:srgbClr val="E24E5F"/>
    <a:srgbClr val="26B7D4"/>
    <a:srgbClr val="54B5D1"/>
    <a:srgbClr val="33BEA6"/>
    <a:srgbClr val="2DA4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6544" autoAdjust="0"/>
    <p:restoredTop sz="94694"/>
  </p:normalViewPr>
  <p:slideViewPr>
    <p:cSldViewPr snapToGrid="0">
      <p:cViewPr>
        <p:scale>
          <a:sx n="80" d="100"/>
          <a:sy n="80" d="100"/>
        </p:scale>
        <p:origin x="-1397" y="-1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9129952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34478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72684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20331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76779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30581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02437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84142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481965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15227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4860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6.png"/><Relationship Id="rId5" Type="http://schemas.openxmlformats.org/officeDocument/2006/relationships/image" Target="../media/image10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8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Math: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Pre-Algebra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2, Lesson 6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Rational and Irrational Numbers on the Number Line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68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sp>
        <p:nvSpPr>
          <p:cNvPr id="20" name="Google Shape;309;g104476d1465_1_39">
            <a:extLst>
              <a:ext uri="{FF2B5EF4-FFF2-40B4-BE49-F238E27FC236}">
                <a16:creationId xmlns=""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xmlns="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745080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4050" y="14475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80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=""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8425"/>
            <a:ext cx="111141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MA.8.NSO.1.2</a:t>
            </a:r>
          </a:p>
          <a:p>
            <a:pPr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Plot, order, and compare rational and irrational numbers, represented in various forms.</a:t>
            </a: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68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80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=""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5200" y="137892"/>
            <a:ext cx="881037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=""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01760" y="1604615"/>
            <a:ext cx="1052639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 marL="457200">
              <a:buSzPts val="523"/>
            </a:pP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</p:txBody>
      </p:sp>
      <p:sp>
        <p:nvSpPr>
          <p:cNvPr id="12" name="Google Shape;278;g104476d1465_1_17">
            <a:extLst>
              <a:ext uri="{FF2B5EF4-FFF2-40B4-BE49-F238E27FC236}">
                <a16:creationId xmlns="" xmlns:a16="http://schemas.microsoft.com/office/drawing/2014/main" id="{79998D09-ED40-CB40-ADB3-2C926DC27F8F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68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301;g103996e1364_0_16">
            <a:extLst>
              <a:ext uri="{FF2B5EF4-FFF2-40B4-BE49-F238E27FC236}">
                <a16:creationId xmlns=""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13375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=""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213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=""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11141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85800" indent="-685800">
              <a:buFont typeface="Wingdings" panose="05000000000000000000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compare rational and irrational values.</a:t>
            </a:r>
          </a:p>
          <a:p>
            <a:pPr marL="685800" indent="-685800">
              <a:buFont typeface="Wingdings" panose="05000000000000000000" pitchFamily="2" charset="2"/>
              <a:buChar char="q"/>
            </a:pPr>
            <a:endParaRPr lang="en-US" sz="35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685800" indent="-685800">
              <a:buFont typeface="Wingdings" panose="05000000000000000000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order rational and irrational values.</a:t>
            </a:r>
          </a:p>
          <a:p>
            <a:pPr marL="685800" indent="-685800">
              <a:buFont typeface="Wingdings" panose="05000000000000000000" pitchFamily="2" charset="2"/>
              <a:buChar char="q"/>
            </a:pPr>
            <a:endParaRPr lang="en-US" sz="35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685800" indent="-685800">
              <a:buFont typeface="Wingdings" panose="05000000000000000000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plot rational and irrational numbers on a number line.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="" xmlns:a16="http://schemas.microsoft.com/office/drawing/2014/main" id="{4411E69F-FF2D-4E45-A95C-56414991DB11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68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69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326;g103996e1364_0_25">
            <a:extLst>
              <a:ext uri="{FF2B5EF4-FFF2-40B4-BE49-F238E27FC236}">
                <a16:creationId xmlns=""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350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593248" y="1386026"/>
            <a:ext cx="110349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Four numbers are shown in the table. Choose 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two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of the values to write an argument for why each does not belong with the others.</a:t>
            </a:r>
          </a:p>
        </p:txBody>
      </p:sp>
      <p:sp>
        <p:nvSpPr>
          <p:cNvPr id="10" name="Google Shape;278;g104476d1465_1_17">
            <a:extLst>
              <a:ext uri="{FF2B5EF4-FFF2-40B4-BE49-F238E27FC236}">
                <a16:creationId xmlns="" xmlns:a16="http://schemas.microsoft.com/office/drawing/2014/main" id="{733F64CC-F62E-3D45-B066-56DBFBB732F6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59933229"/>
                  </p:ext>
                </p:extLst>
              </p:nvPr>
            </p:nvGraphicFramePr>
            <p:xfrm>
              <a:off x="1162684" y="2284630"/>
              <a:ext cx="7143573" cy="3967955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947801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5195772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Number</a:t>
                          </a:r>
                        </a:p>
                      </a:txBody>
                      <a:tcPr marL="101314" marR="101314" marT="50657" marB="5065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Why doesn’t this </a:t>
                          </a:r>
                          <a:b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a:b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belong with the others?</a:t>
                          </a:r>
                        </a:p>
                      </a:txBody>
                      <a:tcPr marL="101314" marR="101314" marT="50657" marB="5065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3.14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101314" marR="101314" marT="50657" marB="5065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101314" marR="101314" marT="50657" marB="50657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22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7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101314" marR="101314" marT="50657" marB="5065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101314" marR="101314" marT="50657" marB="50657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101314" marR="101314" marT="50657" marB="5065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 </a:t>
                          </a:r>
                        </a:p>
                      </a:txBody>
                      <a:tcPr marL="101314" marR="101314" marT="50657" marB="50657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3.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14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101314" marR="101314" marT="50657" marB="5065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  </a:t>
                          </a:r>
                        </a:p>
                      </a:txBody>
                      <a:tcPr marL="101314" marR="101314" marT="50657" marB="50657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59933229"/>
                  </p:ext>
                </p:extLst>
              </p:nvPr>
            </p:nvGraphicFramePr>
            <p:xfrm>
              <a:off x="1162684" y="2284630"/>
              <a:ext cx="7143573" cy="3843432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947801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519577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76736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Number</a:t>
                          </a:r>
                        </a:p>
                      </a:txBody>
                      <a:tcPr marL="101314" marR="101314" marT="50657" marB="5065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Why doesn’t this </a:t>
                          </a:r>
                          <a:b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a:b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belong with the others?</a:t>
                          </a:r>
                        </a:p>
                      </a:txBody>
                      <a:tcPr marL="101314" marR="101314" marT="50657" marB="5065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77250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314" marR="101314" marT="50657" marB="5065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13" t="-101587" r="-266250" b="-3007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 marL="101314" marR="101314" marT="50657" marB="50657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75853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314" marR="101314" marT="50657" marB="5065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13" t="-203200" r="-266250" b="-2032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101314" marR="101314" marT="50657" marB="50657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77250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314" marR="101314" marT="50657" marB="5065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13" t="-300794" r="-266250" b="-1015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 </a:t>
                          </a:r>
                        </a:p>
                      </a:txBody>
                      <a:tcPr marL="101314" marR="101314" marT="50657" marB="50657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  <a:tr h="77250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314" marR="101314" marT="50657" marB="5065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13" t="-397638" r="-266250" b="-7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  </a:t>
                          </a:r>
                        </a:p>
                      </a:txBody>
                      <a:tcPr marL="101314" marR="101314" marT="50657" marB="50657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69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Google Shape;324;g103996e1364_0_25">
            <a:extLst>
              <a:ext uri="{FF2B5EF4-FFF2-40B4-BE49-F238E27FC236}">
                <a16:creationId xmlns=""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49" y="303390"/>
            <a:ext cx="10477935" cy="535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2.6.1 Warm-Up: Which One Doesn’t Belong?</a:t>
            </a: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5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=""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69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43;g103996e1364_0_321">
            <a:extLst>
              <a:ext uri="{FF2B5EF4-FFF2-40B4-BE49-F238E27FC236}">
                <a16:creationId xmlns=""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142926"/>
            <a:ext cx="10575500" cy="86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2.6.2 Guided Instruction: Compare and Order Rational and Irrational Numbers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=""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5350" y="20322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C01B13E8-EC8D-E443-A329-C5E3593DD13A}"/>
              </a:ext>
            </a:extLst>
          </p:cNvPr>
          <p:cNvSpPr txBox="1"/>
          <p:nvPr/>
        </p:nvSpPr>
        <p:spPr>
          <a:xfrm>
            <a:off x="593247" y="1386026"/>
            <a:ext cx="1032496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Use the numbers shown to complete the following.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each number under the appropriate description in the table.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Google Shape;278;g104476d1465_1_17">
            <a:extLst>
              <a:ext uri="{FF2B5EF4-FFF2-40B4-BE49-F238E27FC236}">
                <a16:creationId xmlns="" xmlns:a16="http://schemas.microsoft.com/office/drawing/2014/main" id="{2260A17C-F127-D647-A05B-7BB351158843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62506639"/>
                  </p:ext>
                </p:extLst>
              </p:nvPr>
            </p:nvGraphicFramePr>
            <p:xfrm>
              <a:off x="1052650" y="1978537"/>
              <a:ext cx="6943090" cy="731520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991870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991870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  <a:gridCol w="991870">
                      <a:extLst>
                        <a:ext uri="{9D8B030D-6E8A-4147-A177-3AD203B41FA5}">
                          <a16:colId xmlns="" xmlns:a16="http://schemas.microsoft.com/office/drawing/2014/main" val="20002"/>
                        </a:ext>
                      </a:extLst>
                    </a:gridCol>
                    <a:gridCol w="991870">
                      <a:extLst>
                        <a:ext uri="{9D8B030D-6E8A-4147-A177-3AD203B41FA5}">
                          <a16:colId xmlns="" xmlns:a16="http://schemas.microsoft.com/office/drawing/2014/main" val="20003"/>
                        </a:ext>
                      </a:extLst>
                    </a:gridCol>
                    <a:gridCol w="991870">
                      <a:extLst>
                        <a:ext uri="{9D8B030D-6E8A-4147-A177-3AD203B41FA5}">
                          <a16:colId xmlns="" xmlns:a16="http://schemas.microsoft.com/office/drawing/2014/main" val="20004"/>
                        </a:ext>
                      </a:extLst>
                    </a:gridCol>
                    <a:gridCol w="991870">
                      <a:extLst>
                        <a:ext uri="{9D8B030D-6E8A-4147-A177-3AD203B41FA5}">
                          <a16:colId xmlns="" xmlns:a16="http://schemas.microsoft.com/office/drawing/2014/main" val="20005"/>
                        </a:ext>
                      </a:extLst>
                    </a:gridCol>
                    <a:gridCol w="991870">
                      <a:extLst>
                        <a:ext uri="{9D8B030D-6E8A-4147-A177-3AD203B41FA5}">
                          <a16:colId xmlns="" xmlns:a16="http://schemas.microsoft.com/office/drawing/2014/main" val="20006"/>
                        </a:ext>
                      </a:extLst>
                    </a:gridCol>
                  </a:tblGrid>
                  <a:tr h="73152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0.125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12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−8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49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−2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deg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−8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62506639"/>
                  </p:ext>
                </p:extLst>
              </p:nvPr>
            </p:nvGraphicFramePr>
            <p:xfrm>
              <a:off x="1052650" y="1978537"/>
              <a:ext cx="6943090" cy="731520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99187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9187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9187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9187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99187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99187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99187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7315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r="-5993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100000" r="-4993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200000" r="-3993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301852" r="-30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399387" r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499387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5993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9560207"/>
              </p:ext>
            </p:extLst>
          </p:nvPr>
        </p:nvGraphicFramePr>
        <p:xfrm>
          <a:off x="1657572" y="3491500"/>
          <a:ext cx="7232350" cy="274321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1617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61617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Rational Numbers</a:t>
                      </a:r>
                    </a:p>
                  </a:txBody>
                  <a:tcPr marL="106692" marR="106692" marT="53346" marB="53346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Irrational Numbers</a:t>
                      </a:r>
                    </a:p>
                  </a:txBody>
                  <a:tcPr marL="106692" marR="106692" marT="53346" marB="53346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6692" marR="106692" marT="53346" marB="53346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06692" marR="106692" marT="53346" marB="53346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69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0565" y="394506"/>
            <a:ext cx="991362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75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Order the numbers from least to greatest.</a:t>
            </a:r>
          </a:p>
          <a:p>
            <a:pPr marL="904875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04875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04875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04875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04875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04875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04875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Plot and label each number on the number line.</a:t>
            </a: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="" xmlns:a16="http://schemas.microsoft.com/office/drawing/2014/main" id="{9B2481D9-8B52-C443-ABEF-765D2549936D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9" name="Picture 8"/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32110" y="4232848"/>
            <a:ext cx="7335591" cy="487297"/>
          </a:xfrm>
          <a:prstGeom prst="rect">
            <a:avLst/>
          </a:prstGeom>
        </p:spPr>
      </p:pic>
      <p:sp>
        <p:nvSpPr>
          <p:cNvPr id="10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69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512853" y="288746"/>
                <a:ext cx="1106536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table by comparing each pair of expressions using 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, 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Then, plot and label the expressions on the number line.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853" y="288746"/>
                <a:ext cx="11065363" cy="830997"/>
              </a:xfrm>
              <a:prstGeom prst="rect">
                <a:avLst/>
              </a:prstGeom>
              <a:blipFill>
                <a:blip r:embed="rId4"/>
                <a:stretch>
                  <a:fillRect l="-826" t="-5839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/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54570" y="3086046"/>
            <a:ext cx="4846320" cy="476885"/>
          </a:xfrm>
          <a:prstGeom prst="rect">
            <a:avLst/>
          </a:prstGeom>
        </p:spPr>
      </p:pic>
      <p:pic>
        <p:nvPicPr>
          <p:cNvPr id="17" name="Picture 16"/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46010" y="4960485"/>
            <a:ext cx="4754880" cy="4826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11154" y="4539574"/>
            <a:ext cx="750422" cy="10570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6964153"/>
                  </p:ext>
                </p:extLst>
              </p:nvPr>
            </p:nvGraphicFramePr>
            <p:xfrm>
              <a:off x="1075647" y="1533528"/>
              <a:ext cx="8284235" cy="4438134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633244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5650991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</a:tblGrid>
                  <a:tr h="83813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Compare</a:t>
                          </a:r>
                        </a:p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&gt;</m:t>
                              </m:r>
                            </m:oMath>
                          </a14:m>
                          <a:r>
                            <a:rPr lang="en-US" sz="2000" b="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</m:t>
                              </m:r>
                            </m:oMath>
                          </a14:m>
                          <a:r>
                            <a:rPr lang="en-US" sz="2000" b="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, </a:t>
                          </a:r>
                          <a:r>
                            <a:rPr lang="en-US" sz="2000" b="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or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sz="2000" b="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)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Number Line Plot</a:t>
                          </a:r>
                        </a:p>
                      </a:txBody>
                      <a:tcPr marL="38339" marR="38339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180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</a:p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</a:p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sz="2000" i="1">
                                      <a:effectLst/>
                                      <a:latin typeface="Cambria Math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36</m:t>
                                  </m:r>
                                </m:e>
                              </m:rad>
                            </m:oMath>
                          </a14:m>
                          <a:r>
                            <a:rPr lang="en-US" sz="2000" dirty="0">
                              <a:effectLst/>
                            </a:rPr>
                            <a:t>            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ctrlPr>
                                    <a:rPr lang="en-US" sz="2000" i="1">
                                      <a:effectLst/>
                                      <a:latin typeface="Cambria Math"/>
                                    </a:rPr>
                                  </m:ctrlPr>
                                </m:radPr>
                                <m:deg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g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36</m:t>
                                  </m:r>
                                </m:e>
                              </m:rad>
                            </m:oMath>
                          </a14:m>
                          <a:endParaRPr lang="en-US" sz="2000" dirty="0">
                            <a:effectLst/>
                          </a:endParaRPr>
                        </a:p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</a:endParaRPr>
                        </a:p>
                      </a:txBody>
                      <a:tcPr marL="38339" marR="38339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  <a:tr h="180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sz="2000" i="1">
                                      <a:effectLst/>
                                      <a:latin typeface="Cambria Math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89</m:t>
                                  </m:r>
                                </m:e>
                              </m:rad>
                            </m:oMath>
                          </a14:m>
                          <a:r>
                            <a:rPr lang="en-US" sz="2000" dirty="0">
                              <a:effectLst/>
                            </a:rPr>
                            <a:t>            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9.89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</a:endParaRPr>
                        </a:p>
                      </a:txBody>
                      <a:tcPr marL="38339" marR="38339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6964153"/>
                  </p:ext>
                </p:extLst>
              </p:nvPr>
            </p:nvGraphicFramePr>
            <p:xfrm>
              <a:off x="1075647" y="1533528"/>
              <a:ext cx="8284235" cy="4438134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63324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65099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83813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463" t="-725" r="-215509" b="-430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Number Line Plot</a:t>
                          </a:r>
                        </a:p>
                      </a:txBody>
                      <a:tcPr marL="38339" marR="38339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80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463" t="-47119" r="-215509" b="-1013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</a:endParaRPr>
                        </a:p>
                      </a:txBody>
                      <a:tcPr marL="38339" marR="38339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80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463" t="-146622" r="-215509" b="-10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</a:endParaRPr>
                        </a:p>
                      </a:txBody>
                      <a:tcPr marL="38339" marR="38339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23" name="Picture 22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23346" y="2795946"/>
            <a:ext cx="750422" cy="1057085"/>
          </a:xfrm>
          <a:prstGeom prst="rect">
            <a:avLst/>
          </a:prstGeom>
        </p:spPr>
      </p:pic>
      <p:sp>
        <p:nvSpPr>
          <p:cNvPr id="11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70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9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Google Shape;278;g104476d1465_1_17">
            <a:extLst>
              <a:ext uri="{FF2B5EF4-FFF2-40B4-BE49-F238E27FC236}">
                <a16:creationId xmlns="" xmlns:a16="http://schemas.microsoft.com/office/drawing/2014/main" id="{9B2481D9-8B52-C443-ABEF-765D2549936D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93813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4751159"/>
                  </p:ext>
                </p:extLst>
              </p:nvPr>
            </p:nvGraphicFramePr>
            <p:xfrm>
              <a:off x="2041751" y="479791"/>
              <a:ext cx="8287200" cy="4405749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635200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5652000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</a:tblGrid>
                  <a:tr h="80574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Compare</a:t>
                          </a:r>
                        </a:p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&gt;</m:t>
                              </m:r>
                            </m:oMath>
                          </a14:m>
                          <a:r>
                            <a:rPr lang="en-US" sz="2000" b="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</m:t>
                              </m:r>
                            </m:oMath>
                          </a14:m>
                          <a:r>
                            <a:rPr lang="en-US" sz="2000" b="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, </a:t>
                          </a:r>
                          <a:r>
                            <a:rPr lang="en-US" sz="2000" b="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or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sz="2000" b="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)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Number Line Plot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180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             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sz="20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23</m:t>
                                  </m:r>
                                </m:e>
                              </m:rad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  <a:tr h="180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sz="200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+3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             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4751159"/>
                  </p:ext>
                </p:extLst>
              </p:nvPr>
            </p:nvGraphicFramePr>
            <p:xfrm>
              <a:off x="2041751" y="479791"/>
              <a:ext cx="8287200" cy="4405749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6352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5652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80574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31" t="-1515" r="-214815" b="-447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Number Line Plot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180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31" t="-45424" r="-214815" b="-1003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180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31" t="-145424" r="-214815" b="-3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="" xmlns:a16="http://schemas.microsoft.com/office/drawing/2014/main" id="{01E1BEEC-C47B-3A48-99B3-7CB267A11974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36650" y="1706564"/>
            <a:ext cx="750422" cy="105708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25896" y="3467049"/>
            <a:ext cx="750422" cy="1057085"/>
          </a:xfrm>
          <a:prstGeom prst="rect">
            <a:avLst/>
          </a:prstGeom>
        </p:spPr>
      </p:pic>
      <p:pic>
        <p:nvPicPr>
          <p:cNvPr id="13" name="Picture 12"/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7382" y="3790339"/>
            <a:ext cx="4846320" cy="476885"/>
          </a:xfrm>
          <a:prstGeom prst="rect">
            <a:avLst/>
          </a:prstGeom>
        </p:spPr>
      </p:pic>
      <p:pic>
        <p:nvPicPr>
          <p:cNvPr id="14" name="Picture 13"/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01197" y="1993806"/>
            <a:ext cx="4754880" cy="482600"/>
          </a:xfrm>
          <a:prstGeom prst="rect">
            <a:avLst/>
          </a:prstGeom>
        </p:spPr>
      </p:pic>
      <p:sp>
        <p:nvSpPr>
          <p:cNvPr id="1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70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234199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=""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70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43;g103996e1364_0_321">
            <a:extLst>
              <a:ext uri="{FF2B5EF4-FFF2-40B4-BE49-F238E27FC236}">
                <a16:creationId xmlns=""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-37211"/>
            <a:ext cx="1069807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2.6.3 Guided Practice: Compare and Order Rational and Irrational Numbers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=""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25073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31D40250-DEDD-2C41-8538-3D4DD18CCC4A}"/>
              </a:ext>
            </a:extLst>
          </p:cNvPr>
          <p:cNvSpPr txBox="1"/>
          <p:nvPr/>
        </p:nvSpPr>
        <p:spPr>
          <a:xfrm>
            <a:off x="593248" y="1386026"/>
            <a:ext cx="1093067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Use the numbers shown to complete the following.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Order the numbers from greatest to least. </a:t>
            </a: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Plot and label each number on the number line.</a:t>
            </a: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Google Shape;278;g104476d1465_1_17">
            <a:extLst>
              <a:ext uri="{FF2B5EF4-FFF2-40B4-BE49-F238E27FC236}">
                <a16:creationId xmlns="" xmlns:a16="http://schemas.microsoft.com/office/drawing/2014/main" id="{46CE9362-15C8-D54E-981B-E2717DFC6652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9" name="Picture 8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34657" y="5171678"/>
            <a:ext cx="6949440" cy="631825"/>
          </a:xfrm>
          <a:prstGeom prst="rect">
            <a:avLst/>
          </a:prstGeom>
        </p:spPr>
      </p:pic>
      <p:sp>
        <p:nvSpPr>
          <p:cNvPr id="1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70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3" name="Table 1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82874193"/>
                  </p:ext>
                </p:extLst>
              </p:nvPr>
            </p:nvGraphicFramePr>
            <p:xfrm>
              <a:off x="1052650" y="2120951"/>
              <a:ext cx="7684854" cy="929005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1280809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1280809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1280809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1280809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  <a:gridCol w="1280809">
                      <a:extLst>
                        <a:ext uri="{9D8B030D-6E8A-4147-A177-3AD203B41FA5}">
                          <a16:colId xmlns:a16="http://schemas.microsoft.com/office/drawing/2014/main" xmlns="" val="20004"/>
                        </a:ext>
                      </a:extLst>
                    </a:gridCol>
                    <a:gridCol w="1280809">
                      <a:extLst>
                        <a:ext uri="{9D8B030D-6E8A-4147-A177-3AD203B41FA5}">
                          <a16:colId xmlns:a16="http://schemas.microsoft.com/office/drawing/2014/main" xmlns="" val="20005"/>
                        </a:ext>
                      </a:extLst>
                    </a:gridCol>
                  </a:tblGrid>
                  <a:tr h="92900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−4.5</m:t>
                                </m:r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4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4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sz="2400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7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  <m:f>
                                <m:fPr>
                                  <m:ctrlPr>
                                    <a:rPr lang="en-US" sz="24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4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 </m:t>
                                </m:r>
                                <m:rad>
                                  <m:radPr>
                                    <m:ctrlPr>
                                      <a:rPr lang="en-US" sz="2400" i="1">
                                        <a:effectLst/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deg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64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400" i="1">
                                      <a:effectLst/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4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3" name="Table 1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82874193"/>
                  </p:ext>
                </p:extLst>
              </p:nvPr>
            </p:nvGraphicFramePr>
            <p:xfrm>
              <a:off x="1052650" y="2120951"/>
              <a:ext cx="7684854" cy="929005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1280809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0000"/>
                        </a:ext>
                      </a:extLst>
                    </a:gridCol>
                    <a:gridCol w="1280809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0001"/>
                        </a:ext>
                      </a:extLst>
                    </a:gridCol>
                    <a:gridCol w="1280809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0002"/>
                        </a:ext>
                      </a:extLst>
                    </a:gridCol>
                    <a:gridCol w="1280809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0003"/>
                        </a:ext>
                      </a:extLst>
                    </a:gridCol>
                    <a:gridCol w="1280809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0004"/>
                        </a:ext>
                      </a:extLst>
                    </a:gridCol>
                    <a:gridCol w="1280809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0005"/>
                        </a:ext>
                      </a:extLst>
                    </a:gridCol>
                  </a:tblGrid>
                  <a:tr h="92900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1">
                          <a:blip r:embed="rId6"/>
                          <a:stretch>
                            <a:fillRect l="-476" t="-658" r="-500476" b="-6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1">
                          <a:blip r:embed="rId6"/>
                          <a:stretch>
                            <a:fillRect l="-100476" t="-658" r="-400476" b="-6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1">
                          <a:blip r:embed="rId6"/>
                          <a:stretch>
                            <a:fillRect l="-200476" t="-658" r="-300476" b="-6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1">
                          <a:blip r:embed="rId6"/>
                          <a:stretch>
                            <a:fillRect l="-300476" t="-658" r="-200476" b="-6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1">
                          <a:blip r:embed="rId6"/>
                          <a:stretch>
                            <a:fillRect l="-400476" t="-658" r="-100476" b="-6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1">
                          <a:blip r:embed="rId6"/>
                          <a:stretch>
                            <a:fillRect l="-500476" t="-658" r="-476" b="-6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5122" name="Picture 2" descr="Icon&#10;&#10;Description automatically generated">
            <a:extLst>
              <a:ext uri="{FF2B5EF4-FFF2-40B4-BE49-F238E27FC236}">
                <a16:creationId xmlns="" xmlns:a16="http://schemas.microsoft.com/office/drawing/2014/main" id="{217F3A92-AA2C-4D41-A73D-4DC6608D6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0890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71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161115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=""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60325"/>
            <a:ext cx="85866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2.6.4 Activity: Ordering Rational and Irrational Numbers</a:t>
            </a: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="" xmlns:a16="http://schemas.microsoft.com/office/drawing/2014/main" id="{37999C4E-6AE0-FA43-BC73-665C08EC5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34827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A3547ABD-563B-A148-B65C-C7679A7B43D4}"/>
              </a:ext>
            </a:extLst>
          </p:cNvPr>
          <p:cNvSpPr txBox="1"/>
          <p:nvPr/>
        </p:nvSpPr>
        <p:spPr>
          <a:xfrm>
            <a:off x="593248" y="1386025"/>
            <a:ext cx="11005504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Your teacher will give you a card with a numerical expression on it. 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is the numerical expression on your card? </a:t>
            </a: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Does the expression include any irrational numbers?</a:t>
            </a: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If your expression contains only rational numbers, write the exact value of your card, expressed as a decimal. If your expression contains any irrational numbers, write the approximate value of your card, expressed as a decimal.</a:t>
            </a:r>
          </a:p>
        </p:txBody>
      </p:sp>
      <p:sp>
        <p:nvSpPr>
          <p:cNvPr id="12" name="Google Shape;278;g104476d1465_1_17">
            <a:extLst>
              <a:ext uri="{FF2B5EF4-FFF2-40B4-BE49-F238E27FC236}">
                <a16:creationId xmlns="" xmlns:a16="http://schemas.microsoft.com/office/drawing/2014/main" id="{2834ACB5-9863-9B4D-A302-444ED7CCE577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3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71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699352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A3BC97A7-8575-5A46-8E72-A886A83AEC7E}"/>
              </a:ext>
            </a:extLst>
          </p:cNvPr>
          <p:cNvSpPr txBox="1"/>
          <p:nvPr/>
        </p:nvSpPr>
        <p:spPr>
          <a:xfrm>
            <a:off x="468858" y="386282"/>
            <a:ext cx="1115929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Once in your group, label the tick marks on the number line to match your group’s assigned number line.</a:t>
            </a: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with your group to order your number cards from least to greatest.</a:t>
            </a:r>
          </a:p>
          <a:p>
            <a:pPr marL="914400" lvl="1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with your group to determine the approximate location of each expression on the number line. Then, plot and label each expression on your number line.</a:t>
            </a: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="" xmlns:a16="http://schemas.microsoft.com/office/drawing/2014/main" id="{01E1BEEC-C47B-3A48-99B3-7CB267A11974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/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1402" y="1851076"/>
            <a:ext cx="7784592" cy="347831"/>
          </a:xfrm>
          <a:prstGeom prst="rect">
            <a:avLst/>
          </a:prstGeom>
        </p:spPr>
      </p:pic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71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183854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518563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Bring It Together</a:t>
            </a:r>
            <a:endParaRPr sz="5100" b="1" dirty="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314" name="Picture 2" descr="Icon&#10;&#10;Description automatically generated">
            <a:extLst>
              <a:ext uri="{FF2B5EF4-FFF2-40B4-BE49-F238E27FC236}">
                <a16:creationId xmlns="" xmlns:a16="http://schemas.microsoft.com/office/drawing/2014/main" id="{31E4CCCA-703A-4C46-A49C-ABEAC0061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05255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71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560658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43;g103996e1364_0_321">
            <a:extLst>
              <a:ext uri="{FF2B5EF4-FFF2-40B4-BE49-F238E27FC236}">
                <a16:creationId xmlns=""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115600"/>
            <a:ext cx="10288640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2.6.5 Bring It Together: Ordering Rational and Irrational Numbers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669E00F9-F39F-5043-888E-B0A2D8C9AE0F}"/>
              </a:ext>
            </a:extLst>
          </p:cNvPr>
          <p:cNvSpPr txBox="1"/>
          <p:nvPr/>
        </p:nvSpPr>
        <p:spPr>
          <a:xfrm>
            <a:off x="593248" y="1386025"/>
            <a:ext cx="1093067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Use your experience doing the previous activity to complete the following.</a:t>
            </a:r>
          </a:p>
          <a:p>
            <a:r>
              <a:rPr lang="en-US" sz="20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List any strategies you learned that are helpful to keep in mind when comparing and ordering rational and irrational numbers or plotting them on a number line.</a:t>
            </a:r>
          </a:p>
        </p:txBody>
      </p:sp>
      <p:sp>
        <p:nvSpPr>
          <p:cNvPr id="11" name="Google Shape;278;g104476d1465_1_17">
            <a:extLst>
              <a:ext uri="{FF2B5EF4-FFF2-40B4-BE49-F238E27FC236}">
                <a16:creationId xmlns="" xmlns:a16="http://schemas.microsoft.com/office/drawing/2014/main" id="{320606D7-FA1D-5D44-AD19-A87F7EA7DDF3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0" name="Picture 2" descr="Icon&#10;&#10;Description automatically generated">
            <a:extLst>
              <a:ext uri="{FF2B5EF4-FFF2-40B4-BE49-F238E27FC236}">
                <a16:creationId xmlns="" xmlns:a16="http://schemas.microsoft.com/office/drawing/2014/main" id="{108F4C35-3A24-A244-BB28-81EF2D36CA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0928" y="223902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71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7857811"/>
              </p:ext>
            </p:extLst>
          </p:nvPr>
        </p:nvGraphicFramePr>
        <p:xfrm>
          <a:off x="1595518" y="3203618"/>
          <a:ext cx="9144000" cy="250104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3257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Strategies for </a:t>
                      </a:r>
                      <a:r>
                        <a:rPr lang="en-US" sz="2000" b="1" dirty="0" smtClean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Comparing </a:t>
                      </a: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and Ordering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Strategies for </a:t>
                      </a:r>
                      <a:r>
                        <a:rPr lang="en-US" sz="2000" b="1" dirty="0" smtClean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Plotting </a:t>
                      </a: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on a </a:t>
                      </a:r>
                      <a:b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</a:b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Number Line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98569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A3BC97A7-8575-5A46-8E72-A886A83AEC7E}"/>
              </a:ext>
            </a:extLst>
          </p:cNvPr>
          <p:cNvSpPr txBox="1"/>
          <p:nvPr/>
        </p:nvSpPr>
        <p:spPr>
          <a:xfrm>
            <a:off x="465232" y="386281"/>
            <a:ext cx="111629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Compare and discuss your list with your partner. Add any strategies your partner shares that you find helpful that aren’t on your list.</a:t>
            </a: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="" xmlns:a16="http://schemas.microsoft.com/office/drawing/2014/main" id="{01E1BEEC-C47B-3A48-99B3-7CB267A11974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71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688763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=""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72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589860" y="1378324"/>
            <a:ext cx="110382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Color in the arrow up to the statement that best describes your current understanding of today’s learning targets. </a:t>
            </a:r>
          </a:p>
        </p:txBody>
      </p:sp>
      <p:sp>
        <p:nvSpPr>
          <p:cNvPr id="10" name="Google Shape;278;g104476d1465_1_17">
            <a:extLst>
              <a:ext uri="{FF2B5EF4-FFF2-40B4-BE49-F238E27FC236}">
                <a16:creationId xmlns="" xmlns:a16="http://schemas.microsoft.com/office/drawing/2014/main" id="{69767437-9B0B-9D43-A596-1373A90D9FE8}"/>
              </a:ext>
            </a:extLst>
          </p:cNvPr>
          <p:cNvSpPr/>
          <p:nvPr/>
        </p:nvSpPr>
        <p:spPr>
          <a:xfrm>
            <a:off x="-3388" y="-15926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Arrow: Up 2"/>
          <p:cNvSpPr/>
          <p:nvPr/>
        </p:nvSpPr>
        <p:spPr>
          <a:xfrm>
            <a:off x="1269224" y="2291780"/>
            <a:ext cx="963532" cy="3704944"/>
          </a:xfrm>
          <a:prstGeom prst="upArrow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5446803"/>
              </p:ext>
            </p:extLst>
          </p:nvPr>
        </p:nvGraphicFramePr>
        <p:xfrm>
          <a:off x="2410133" y="2275050"/>
          <a:ext cx="8753735" cy="3721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5373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802173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I’m so confident, I could explain this to </a:t>
                      </a:r>
                      <a:br>
                        <a:rPr lang="en-GB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</a:br>
                      <a:r>
                        <a:rPr lang="en-GB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someone else!</a:t>
                      </a: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802173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 can get to the right answer, but I don’t understand well enough to explain it yet.</a:t>
                      </a: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12983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 understand some of this, but I don’t understand all of it yet.</a:t>
                      </a: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802173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 tried hard and I listened, but I am finding this challenging. I will make sure that I get help with this in the next lesson.</a:t>
                      </a: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802173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 do not understand any of this yet. I have questions I will ask in the next lesson.</a:t>
                      </a: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72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468;p34"/>
          <p:cNvSpPr txBox="1"/>
          <p:nvPr/>
        </p:nvSpPr>
        <p:spPr>
          <a:xfrm>
            <a:off x="1142999" y="284833"/>
            <a:ext cx="1066951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2.6.6 Wrap-Up: Reflection</a:t>
            </a:r>
            <a:endParaRPr lang="en-US" sz="36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5" name="Google Shape;469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1340</TotalTime>
  <Words>731</Words>
  <Application>Microsoft Office PowerPoint</Application>
  <PresentationFormat>Custom</PresentationFormat>
  <Paragraphs>169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Century Gothic</vt:lpstr>
      <vt:lpstr>Wingdings</vt:lpstr>
      <vt:lpstr>Cambria Math</vt:lpstr>
      <vt:lpstr>Arial Black</vt:lpstr>
      <vt:lpstr>Verdana</vt:lpstr>
      <vt:lpstr>Calibri</vt:lpstr>
      <vt:lpstr>Times New Roman</vt:lpstr>
      <vt:lpstr>1_Office Theme</vt:lpstr>
      <vt:lpstr>8th Grade Math: Pre-Algebra  Unit 2, Lesson 6  Rational and Irrational Numbers on the Number Line  Volume 1, pg. 68  </vt:lpstr>
      <vt:lpstr>Benchmark</vt:lpstr>
      <vt:lpstr>PowerPoint Presentation</vt:lpstr>
      <vt:lpstr>PowerPoint Presentation</vt:lpstr>
      <vt:lpstr>Warm-Up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Activity</vt:lpstr>
      <vt:lpstr>PowerPoint Presentation</vt:lpstr>
      <vt:lpstr>PowerPoint Presentation</vt:lpstr>
      <vt:lpstr>Bring It Together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John Patrick</cp:lastModifiedBy>
  <cp:revision>37</cp:revision>
  <dcterms:created xsi:type="dcterms:W3CDTF">2015-03-17T18:51:18Z</dcterms:created>
  <dcterms:modified xsi:type="dcterms:W3CDTF">2022-06-14T11:00:32Z</dcterms:modified>
</cp:coreProperties>
</file>