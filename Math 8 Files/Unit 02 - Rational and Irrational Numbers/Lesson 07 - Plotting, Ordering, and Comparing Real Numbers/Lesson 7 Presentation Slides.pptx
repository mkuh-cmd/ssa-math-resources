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85" r:id="rId4"/>
    <p:sldId id="286" r:id="rId5"/>
    <p:sldId id="261" r:id="rId6"/>
    <p:sldId id="287" r:id="rId7"/>
    <p:sldId id="317" r:id="rId8"/>
    <p:sldId id="318" r:id="rId9"/>
    <p:sldId id="288" r:id="rId10"/>
    <p:sldId id="319" r:id="rId11"/>
    <p:sldId id="332" r:id="rId12"/>
    <p:sldId id="333" r:id="rId13"/>
    <p:sldId id="334" r:id="rId14"/>
    <p:sldId id="335" r:id="rId15"/>
    <p:sldId id="336" r:id="rId16"/>
    <p:sldId id="338" r:id="rId17"/>
    <p:sldId id="339" r:id="rId18"/>
    <p:sldId id="340" r:id="rId19"/>
    <p:sldId id="306" r:id="rId20"/>
    <p:sldId id="307" r:id="rId21"/>
  </p:sldIdLst>
  <p:sldSz cx="12192000" cy="6858000"/>
  <p:notesSz cx="6858000" cy="9144000"/>
  <p:embeddedFontLst>
    <p:embeddedFont>
      <p:font typeface="Century Gothic" pitchFamily="34" charset="0"/>
      <p:regular r:id="rId23"/>
      <p:bold r:id="rId24"/>
      <p:italic r:id="rId25"/>
      <p:boldItalic r:id="rId26"/>
    </p:embeddedFont>
    <p:embeddedFont>
      <p:font typeface="Cambria Math" pitchFamily="18" charset="0"/>
      <p:regular r:id="rId27"/>
    </p:embeddedFont>
    <p:embeddedFont>
      <p:font typeface="Arial Black" pitchFamily="34" charset="0"/>
      <p:bold r:id="rId28"/>
    </p:embeddedFont>
    <p:embeddedFont>
      <p:font typeface="Verdana" pitchFamily="34" charset="0"/>
      <p:regular r:id="rId29"/>
      <p:bold r:id="rId30"/>
      <p:italic r:id="rId31"/>
      <p:boldItalic r:id="rId32"/>
    </p:embeddedFont>
    <p:embeddedFont>
      <p:font typeface="Calibri" pitchFamily="34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9647"/>
    <a:srgbClr val="FCBD1E"/>
    <a:srgbClr val="C9DF6F"/>
    <a:srgbClr val="417DBF"/>
    <a:srgbClr val="3F2A67"/>
    <a:srgbClr val="E24E5F"/>
    <a:srgbClr val="26B7D4"/>
    <a:srgbClr val="54B5D1"/>
    <a:srgbClr val="33BEA6"/>
    <a:srgbClr val="2DA4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6544" autoAdjust="0"/>
    <p:restoredTop sz="94591" autoAdjust="0"/>
  </p:normalViewPr>
  <p:slideViewPr>
    <p:cSldViewPr snapToGrid="0">
      <p:cViewPr>
        <p:scale>
          <a:sx n="80" d="100"/>
          <a:sy n="80" d="100"/>
        </p:scale>
        <p:origin x="-1397" y="-1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0421490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949314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115250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050654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30581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02437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30514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96619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461664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60164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43774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533937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350594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37359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571437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6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6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40.png"/><Relationship Id="rId5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7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9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8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Math: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Pre-Algebra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2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2, Lesson 7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Plotting, Ordering, and Comparing Real Numbers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72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sp>
        <p:nvSpPr>
          <p:cNvPr id="20" name="Google Shape;309;g104476d1465_1_39">
            <a:extLst>
              <a:ext uri="{FF2B5EF4-FFF2-40B4-BE49-F238E27FC236}">
                <a16:creationId xmlns=""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A blue sign with white text&#10;&#10;Description automatically generated with medium confidence">
            <a:extLst>
              <a:ext uri="{FF2B5EF4-FFF2-40B4-BE49-F238E27FC236}">
                <a16:creationId xmlns=""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745080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6759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17291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791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=""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07240" y="1600200"/>
            <a:ext cx="11016683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MA.8.NSO.1.2</a:t>
            </a:r>
          </a:p>
          <a:p>
            <a:pPr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Plot, order, and compare rational and irrational numbers, represented in various forms.</a:t>
            </a: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72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=""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5199" y="129667"/>
            <a:ext cx="851011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=""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01760" y="1596390"/>
            <a:ext cx="1052639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 marL="457200"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</p:txBody>
      </p:sp>
      <p:sp>
        <p:nvSpPr>
          <p:cNvPr id="12" name="Google Shape;278;g104476d1465_1_17">
            <a:extLst>
              <a:ext uri="{FF2B5EF4-FFF2-40B4-BE49-F238E27FC236}">
                <a16:creationId xmlns="" xmlns:a16="http://schemas.microsoft.com/office/drawing/2014/main" id="{79998D09-ED40-CB40-ADB3-2C926DC27F8F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72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301;g103996e1364_0_16">
            <a:extLst>
              <a:ext uri="{FF2B5EF4-FFF2-40B4-BE49-F238E27FC236}">
                <a16:creationId xmlns=""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13375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=""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213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=""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11141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85800" indent="-685800">
              <a:buFont typeface="Wingdings" panose="05000000000000000000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compare rational and irrational values.</a:t>
            </a:r>
          </a:p>
          <a:p>
            <a:pPr marL="685800" indent="-685800">
              <a:buFont typeface="Wingdings" panose="05000000000000000000" pitchFamily="2" charset="2"/>
              <a:buChar char="q"/>
            </a:pPr>
            <a:endParaRPr lang="en-US" sz="35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685800" indent="-685800">
              <a:buFont typeface="Wingdings" panose="05000000000000000000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order rational and irrational values.</a:t>
            </a:r>
          </a:p>
          <a:p>
            <a:pPr marL="685800" indent="-685800">
              <a:buFont typeface="Wingdings" panose="05000000000000000000" pitchFamily="2" charset="2"/>
              <a:buChar char="q"/>
            </a:pPr>
            <a:endParaRPr lang="en-US" sz="35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685800" indent="-685800">
              <a:buFont typeface="Wingdings" panose="05000000000000000000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plot rational and irrational numbers on a number line.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="" xmlns:a16="http://schemas.microsoft.com/office/drawing/2014/main" id="{4411E69F-FF2D-4E45-A95C-56414991DB11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3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72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73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=""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1739" y="275690"/>
            <a:ext cx="80193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2.7.1 Warm-Up: Bell Work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=""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439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592337" y="1386025"/>
            <a:ext cx="1031222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Six real numbers are shown.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1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04875" lvl="1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Circle all numbers that are irrational.</a:t>
            </a:r>
          </a:p>
          <a:p>
            <a:pPr marL="904875" lvl="1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04875" lvl="1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Order all the values from greatest to least. </a:t>
            </a:r>
          </a:p>
          <a:p>
            <a:pPr marL="904875" lvl="1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04875" lvl="1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Plot and label each number on the number line.</a:t>
            </a:r>
          </a:p>
        </p:txBody>
      </p:sp>
      <p:sp>
        <p:nvSpPr>
          <p:cNvPr id="10" name="Google Shape;278;g104476d1465_1_17">
            <a:extLst>
              <a:ext uri="{FF2B5EF4-FFF2-40B4-BE49-F238E27FC236}">
                <a16:creationId xmlns="" xmlns:a16="http://schemas.microsoft.com/office/drawing/2014/main" id="{733F64CC-F62E-3D45-B066-56DBFBB732F6}"/>
              </a:ext>
            </a:extLst>
          </p:cNvPr>
          <p:cNvSpPr/>
          <p:nvPr/>
        </p:nvSpPr>
        <p:spPr>
          <a:xfrm>
            <a:off x="-911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696814" y="2204835"/>
                <a:ext cx="6118182" cy="7283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2200" i="1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rad>
                      <m:r>
                        <a:rPr lang="en-US" sz="2200">
                          <a:latin typeface="Cambria Math" panose="02040503050406030204" pitchFamily="18" charset="0"/>
                        </a:rPr>
                        <m:t>,  1.2,  −3</m:t>
                      </m:r>
                      <m:f>
                        <m:fPr>
                          <m:ctrlPr>
                            <a:rPr lang="en-US" sz="22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200">
                          <a:latin typeface="Cambria Math" panose="02040503050406030204" pitchFamily="18" charset="0"/>
                        </a:rPr>
                        <m:t>,  </m:t>
                      </m:r>
                      <m:f>
                        <m:fPr>
                          <m:ctrlPr>
                            <a:rPr lang="en-US" sz="22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200">
                          <a:latin typeface="Cambria Math" panose="02040503050406030204" pitchFamily="18" charset="0"/>
                        </a:rPr>
                        <m:t>,  −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sz="2200">
                          <a:latin typeface="Cambria Math" panose="02040503050406030204" pitchFamily="18" charset="0"/>
                        </a:rPr>
                        <m:t>,  </m:t>
                      </m:r>
                      <m:rad>
                        <m:radPr>
                          <m:ctrlPr>
                            <a:rPr lang="en-US" sz="2200" i="1">
                              <a:latin typeface="Cambria Math"/>
                            </a:rPr>
                          </m:ctrlPr>
                        </m:radPr>
                        <m:deg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3</m:t>
                          </m:r>
                        </m:deg>
                        <m:e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rad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6814" y="2204835"/>
                <a:ext cx="6118182" cy="7283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 descr="A picture containing antenna, clock&#10;&#10;Description automatically generated"/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02843" y="5541010"/>
            <a:ext cx="6858000" cy="889635"/>
          </a:xfrm>
          <a:prstGeom prst="rect">
            <a:avLst/>
          </a:prstGeom>
        </p:spPr>
      </p:pic>
      <p:sp>
        <p:nvSpPr>
          <p:cNvPr id="1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73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5122" name="Picture 2" descr="Icon&#10;&#10;Description automatically generated">
            <a:extLst>
              <a:ext uri="{FF2B5EF4-FFF2-40B4-BE49-F238E27FC236}">
                <a16:creationId xmlns="" xmlns:a16="http://schemas.microsoft.com/office/drawing/2014/main" id="{217F3A92-AA2C-4D41-A73D-4DC6608D6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0890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73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16111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=""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60325"/>
            <a:ext cx="1013851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2.7.2 Activity: Station 1 – Comparing and Ordering</a:t>
            </a: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="" xmlns:a16="http://schemas.microsoft.com/office/drawing/2014/main" id="{37999C4E-6AE0-FA43-BC73-665C08EC5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34827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id="{A3547ABD-563B-A148-B65C-C7679A7B43D4}"/>
                  </a:ext>
                </a:extLst>
              </p:cNvPr>
              <p:cNvSpPr txBox="1"/>
              <p:nvPr/>
            </p:nvSpPr>
            <p:spPr>
              <a:xfrm>
                <a:off x="660842" y="1375303"/>
                <a:ext cx="109673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Compare each pair of expressions using the symbols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3547ABD-563B-A148-B65C-C7679A7B43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842" y="1375303"/>
                <a:ext cx="10967308" cy="461665"/>
              </a:xfrm>
              <a:prstGeom prst="rect">
                <a:avLst/>
              </a:prstGeom>
              <a:blipFill>
                <a:blip r:embed="rId5"/>
                <a:stretch>
                  <a:fillRect l="-833" t="-12000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Google Shape;278;g104476d1465_1_17">
            <a:extLst>
              <a:ext uri="{FF2B5EF4-FFF2-40B4-BE49-F238E27FC236}">
                <a16:creationId xmlns="" xmlns:a16="http://schemas.microsoft.com/office/drawing/2014/main" id="{2834ACB5-9863-9B4D-A302-444ED7CCE577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4436323"/>
                  </p:ext>
                </p:extLst>
              </p:nvPr>
            </p:nvGraphicFramePr>
            <p:xfrm>
              <a:off x="1182011" y="2272303"/>
              <a:ext cx="7284798" cy="38430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642399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3642399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</a:tblGrid>
                  <a:tr h="1281000">
                    <a:tc>
                      <a:txBody>
                        <a:bodyPr/>
                        <a:lstStyle/>
                        <a:p>
                          <a:pPr algn="l"/>
                          <a:endParaRPr lang="en-US" sz="22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354013" indent="-354013" algn="l">
                            <a:buFont typeface="+mj-lt"/>
                            <a:buAutoNum type="alphaLcPeriod"/>
                          </a:pPr>
                          <a:r>
                            <a:rPr lang="en-US" sz="2200" dirty="0">
                              <a:latin typeface="Verdana" pitchFamily="34" charset="0"/>
                              <a:ea typeface="Verdana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−5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oMath>
                          </a14:m>
                          <a:r>
                            <a:rPr lang="en-US" sz="2200" dirty="0"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       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−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2200" b="0" i="1" dirty="0" smtClean="0">
                                      <a:latin typeface="Cambria Math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225</m:t>
                                  </m:r>
                                </m:e>
                              </m:rad>
                            </m:oMath>
                          </a14:m>
                          <a:endParaRPr lang="en-US" sz="2200" dirty="0"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US" sz="2200" dirty="0"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354013" indent="-354013" algn="l">
                            <a:buFont typeface="+mj-lt"/>
                            <a:buAutoNum type="alphaLcPeriod" startAt="2"/>
                          </a:pPr>
                          <a:r>
                            <a:rPr lang="en-US" sz="2200" dirty="0"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ctrlPr>
                                    <a:rPr lang="en-US" sz="2200" i="1" smtClean="0">
                                      <a:latin typeface="Cambria Math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</m:ctrlPr>
                                </m:radPr>
                                <m:deg>
                                  <m:r>
                                    <m:rPr>
                                      <m:brk m:alnAt="7"/>
                                    </m:rPr>
                                    <a:rPr lang="en-US" sz="2200" b="0" i="1" smtClean="0"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3</m:t>
                                  </m:r>
                                </m:deg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125</m:t>
                                  </m:r>
                                </m:e>
                              </m:rad>
                            </m:oMath>
                          </a14:m>
                          <a:r>
                            <a:rPr lang="en-US" sz="2200" dirty="0"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      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200" i="1" dirty="0" smtClean="0">
                                      <a:latin typeface="Cambria Math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US" sz="2200" i="1" dirty="0" smtClean="0">
                                          <a:latin typeface="Cambria Math"/>
                                          <a:ea typeface="Verdana" panose="020B0604030504040204" pitchFamily="34" charset="0"/>
                                          <a:cs typeface="Verdana" panose="020B0604030504040204" pitchFamily="34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sz="2200" b="0" i="1" dirty="0" smtClean="0"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  <a:cs typeface="Verdana" panose="020B0604030504040204" pitchFamily="34" charset="0"/>
                                        </a:rPr>
                                        <m:t>100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endParaRPr lang="en-US" sz="2200" dirty="0"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  <a:tr h="1281000">
                    <a:tc>
                      <a:txBody>
                        <a:bodyPr/>
                        <a:lstStyle/>
                        <a:p>
                          <a:pPr algn="l"/>
                          <a:endParaRPr lang="en-US" sz="2200" dirty="0"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354013" indent="-354013" algn="l">
                            <a:buFont typeface="+mj-lt"/>
                            <a:buAutoNum type="alphaLcPeriod" startAt="3"/>
                          </a:pPr>
                          <a:r>
                            <a:rPr lang="en-US" sz="2200" dirty="0"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sz="2200" i="1" smtClean="0">
                                      <a:latin typeface="Cambria Math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45</m:t>
                                  </m:r>
                                </m:e>
                              </m:rad>
                            </m:oMath>
                          </a14:m>
                          <a:r>
                            <a:rPr lang="en-US" sz="2200" dirty="0"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        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Verdana" panose="020B0604030504040204" pitchFamily="34" charset="0"/>
                                </a:rPr>
                                <m:t>𝜋</m:t>
                              </m:r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Verdana" panose="020B0604030504040204" pitchFamily="34" charset="0"/>
                                </a:rPr>
                                <m:t>+4</m:t>
                              </m:r>
                            </m:oMath>
                          </a14:m>
                          <a:endParaRPr lang="en-US" sz="2200" dirty="0"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US" sz="2200" dirty="0"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354013" indent="-354013" algn="l">
                            <a:buFont typeface="+mj-lt"/>
                            <a:buAutoNum type="alphaLcPeriod" startAt="4"/>
                          </a:pPr>
                          <a:r>
                            <a:rPr lang="en-US" sz="2200" dirty="0"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−7</m:t>
                              </m:r>
                            </m:oMath>
                          </a14:m>
                          <a:r>
                            <a:rPr lang="en-US" sz="2200" dirty="0"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        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−</m:t>
                              </m:r>
                              <m:rad>
                                <m:radPr>
                                  <m:ctrlPr>
                                    <a:rPr lang="en-US" sz="2200" b="0" i="1" dirty="0" smtClean="0">
                                      <a:latin typeface="Cambria Math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</m:ctrlPr>
                                </m:radPr>
                                <m:deg>
                                  <m:r>
                                    <m:rPr>
                                      <m:brk m:alnAt="7"/>
                                    </m:rPr>
                                    <a:rPr lang="en-US" sz="2200" b="0" i="1" dirty="0" smtClean="0"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3</m:t>
                                  </m:r>
                                </m:deg>
                                <m:e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49</m:t>
                                  </m:r>
                                </m:e>
                              </m:rad>
                            </m:oMath>
                          </a14:m>
                          <a:r>
                            <a:rPr lang="en-US" sz="2200" dirty="0"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="" xmlns:a16="http://schemas.microsoft.com/office/drawing/2014/main" val="10001"/>
                      </a:ext>
                    </a:extLst>
                  </a:tr>
                  <a:tr h="1281000">
                    <a:tc>
                      <a:txBody>
                        <a:bodyPr/>
                        <a:lstStyle/>
                        <a:p>
                          <a:pPr algn="l"/>
                          <a:endParaRPr lang="en-US" sz="2200" dirty="0"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354013" indent="-354013" algn="l">
                            <a:buFont typeface="+mj-lt"/>
                            <a:buAutoNum type="alphaLcPeriod" startAt="5"/>
                          </a:pPr>
                          <a:r>
                            <a:rPr lang="en-US" sz="2200" dirty="0"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200" i="1" smtClean="0">
                                      <a:latin typeface="Cambria Math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29</m:t>
                                  </m:r>
                                </m:num>
                                <m:den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200" dirty="0"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        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sz="2200" i="1" dirty="0" smtClean="0">
                                      <a:latin typeface="Cambria Math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80</m:t>
                                  </m:r>
                                </m:e>
                              </m:rad>
                            </m:oMath>
                          </a14:m>
                          <a:endParaRPr lang="en-US" sz="2200" dirty="0"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US" sz="2200" dirty="0"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354013" indent="-354013" algn="l">
                            <a:buFont typeface="+mj-lt"/>
                            <a:buAutoNum type="alphaLcPeriod" startAt="6"/>
                          </a:pPr>
                          <a:r>
                            <a:rPr lang="en-US" sz="2200" dirty="0"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200" i="1" smtClean="0">
                                      <a:latin typeface="Cambria Math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Verdana" panose="020B0604030504040204" pitchFamily="34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200" dirty="0"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        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sz="2200" i="1" dirty="0" smtClean="0">
                                      <a:latin typeface="Cambria Math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22</m:t>
                                  </m:r>
                                </m:e>
                              </m:rad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−3</m:t>
                              </m:r>
                            </m:oMath>
                          </a14:m>
                          <a:endParaRPr lang="en-US" sz="2200" dirty="0"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=""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4436323"/>
                  </p:ext>
                </p:extLst>
              </p:nvPr>
            </p:nvGraphicFramePr>
            <p:xfrm>
              <a:off x="1182011" y="2272303"/>
              <a:ext cx="7284798" cy="38430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64239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4239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1281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r="-100000" b="-1995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00000" b="-1995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281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t="-100476" r="-100000" b="-1004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00000" t="-100476" b="-1004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281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t="-199526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00000" t="-1995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61447" y="2399440"/>
            <a:ext cx="677863" cy="97116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78079" y="2399439"/>
            <a:ext cx="677863" cy="97116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61446" y="3692447"/>
            <a:ext cx="677863" cy="971169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39147" y="3692446"/>
            <a:ext cx="677863" cy="971169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13882" y="4950994"/>
            <a:ext cx="677863" cy="971169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37980" y="4950993"/>
            <a:ext cx="677863" cy="971169"/>
          </a:xfrm>
          <a:prstGeom prst="rect">
            <a:avLst/>
          </a:prstGeom>
        </p:spPr>
      </p:pic>
      <p:sp>
        <p:nvSpPr>
          <p:cNvPr id="15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73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" name="Google Shape;283;g104476d1465_1_17"/>
          <p:cNvPicPr preferRelativeResize="0"/>
          <p:nvPr/>
        </p:nvPicPr>
        <p:blipFill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69935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0565" y="386281"/>
            <a:ext cx="1106536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Choose one pair of expressions from the previous question that were not equivalent. 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Circle the pair of expressions.</a:t>
            </a:r>
          </a:p>
          <a:p>
            <a:pPr marL="914400" lvl="1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Explain how you determined which value was greater. </a:t>
            </a: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="" xmlns:a16="http://schemas.microsoft.com/office/drawing/2014/main" id="{9B2481D9-8B52-C443-ABEF-765D2549936D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73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id="{B6C08EE3-8247-C14E-9600-35165D5C8679}"/>
                  </a:ext>
                </a:extLst>
              </p:cNvPr>
              <p:cNvSpPr txBox="1"/>
              <p:nvPr/>
            </p:nvSpPr>
            <p:spPr>
              <a:xfrm>
                <a:off x="540564" y="374692"/>
                <a:ext cx="10983359" cy="37215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Order each set of numbers from least to greatest. 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04863" indent="-347663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34</m:t>
                        </m:r>
                      </m:e>
                    </m:rad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+2,  5</m:t>
                    </m:r>
                    <m:f>
                      <m:f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04863" indent="-347663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04863" indent="-347663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04863" indent="-347663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04863" indent="-347663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04863" indent="-347663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04863" indent="-347663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ad>
                      <m:rad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radPr>
                      <m:deg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g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60</m:t>
                        </m:r>
                      </m:e>
                    </m:ra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−</m:t>
                    </m:r>
                    <m:f>
                      <m:f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−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6C08EE3-8247-C14E-9600-35165D5C8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4" y="374692"/>
                <a:ext cx="10983359" cy="3721532"/>
              </a:xfrm>
              <a:prstGeom prst="rect">
                <a:avLst/>
              </a:prstGeom>
              <a:blipFill>
                <a:blip r:embed="rId4"/>
                <a:stretch>
                  <a:fillRect l="-888" t="-1309" b="-1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="" xmlns:a16="http://schemas.microsoft.com/office/drawing/2014/main" id="{9DDCE86C-AC17-F84F-84C9-3604F0100B34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74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711547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5122" name="Picture 2" descr="Icon&#10;&#10;Description automatically generated">
            <a:extLst>
              <a:ext uri="{FF2B5EF4-FFF2-40B4-BE49-F238E27FC236}">
                <a16:creationId xmlns="" xmlns:a16="http://schemas.microsoft.com/office/drawing/2014/main" id="{217F3A92-AA2C-4D41-A73D-4DC6608D6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0890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74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577008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A3547ABD-563B-A148-B65C-C7679A7B43D4}"/>
              </a:ext>
            </a:extLst>
          </p:cNvPr>
          <p:cNvSpPr txBox="1"/>
          <p:nvPr/>
        </p:nvSpPr>
        <p:spPr>
          <a:xfrm>
            <a:off x="593248" y="1287029"/>
            <a:ext cx="1054610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Five expressions are shown.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each expression under the appropriate description in the table.</a:t>
            </a:r>
          </a:p>
        </p:txBody>
      </p:sp>
      <p:sp>
        <p:nvSpPr>
          <p:cNvPr id="12" name="Google Shape;278;g104476d1465_1_17">
            <a:extLst>
              <a:ext uri="{FF2B5EF4-FFF2-40B4-BE49-F238E27FC236}">
                <a16:creationId xmlns="" xmlns:a16="http://schemas.microsoft.com/office/drawing/2014/main" id="{2834ACB5-9863-9B4D-A302-444ED7CCE577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1701384"/>
              </p:ext>
            </p:extLst>
          </p:nvPr>
        </p:nvGraphicFramePr>
        <p:xfrm>
          <a:off x="1679457" y="3691291"/>
          <a:ext cx="6471710" cy="268104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23585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23585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52862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Includes Only Rational Numbers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Includes an Irrational Number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9800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65176957"/>
                  </p:ext>
                </p:extLst>
              </p:nvPr>
            </p:nvGraphicFramePr>
            <p:xfrm>
              <a:off x="812617" y="1786615"/>
              <a:ext cx="8055084" cy="73152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080000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  <a:gridCol w="1687542">
                      <a:extLst>
                        <a:ext uri="{9D8B030D-6E8A-4147-A177-3AD203B41FA5}">
                          <a16:colId xmlns="" xmlns:a16="http://schemas.microsoft.com/office/drawing/2014/main" val="20002"/>
                        </a:ext>
                      </a:extLst>
                    </a:gridCol>
                    <a:gridCol w="1687542">
                      <a:extLst>
                        <a:ext uri="{9D8B030D-6E8A-4147-A177-3AD203B41FA5}">
                          <a16:colId xmlns="" xmlns:a16="http://schemas.microsoft.com/office/drawing/2014/main" val="20003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="" xmlns:a16="http://schemas.microsoft.com/office/drawing/2014/main" val="20004"/>
                        </a:ext>
                      </a:extLst>
                    </a:gridCol>
                  </a:tblGrid>
                  <a:tr h="731520">
                    <a:tc>
                      <a:txBody>
                        <a:bodyPr/>
                        <a:lstStyle/>
                        <a:p>
                          <a:pPr marL="457200"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PH" sz="2400" i="1">
                                        <a:effectLst/>
                                        <a:latin typeface="Cambria Math"/>
                                        <a:ea typeface="Times New Roman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/>
                                        <a:ea typeface="Times New Roman"/>
                                      </a:rPr>
                                      <m:t>150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PH" sz="1600" dirty="0"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457200"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>
                                    <a:effectLst/>
                                    <a:latin typeface="Cambria Math"/>
                                    <a:ea typeface="Times New Roman"/>
                                  </a:rPr>
                                  <m:t>−</m:t>
                                </m:r>
                                <m:r>
                                  <a:rPr lang="en-US" sz="2400" i="1">
                                    <a:effectLst/>
                                    <a:latin typeface="Cambria Math"/>
                                    <a:ea typeface="Times New Roman"/>
                                  </a:rPr>
                                  <m:t>𝜋</m:t>
                                </m:r>
                                <m:r>
                                  <a:rPr lang="en-US" sz="2400" i="1">
                                    <a:effectLst/>
                                    <a:latin typeface="Cambria Math"/>
                                    <a:ea typeface="Times New Roman"/>
                                  </a:rPr>
                                  <m:t>+15</m:t>
                                </m:r>
                              </m:oMath>
                            </m:oMathPara>
                          </a14:m>
                          <a:endParaRPr lang="en-PH" sz="1600" dirty="0"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457200"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</a:rPr>
                                  <m:t>10.2</m:t>
                                </m:r>
                              </m:oMath>
                            </m:oMathPara>
                          </a14:m>
                          <a:endParaRPr lang="en-PH" sz="1600" dirty="0"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457200"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>
                                    <a:effectLst/>
                                    <a:latin typeface="Cambria Math"/>
                                    <a:ea typeface="Times New Roman"/>
                                  </a:rPr>
                                  <m:t>11</m:t>
                                </m:r>
                                <m:f>
                                  <m:fPr>
                                    <m:ctrlPr>
                                      <a:rPr lang="en-PH" sz="2400" i="1">
                                        <a:effectLst/>
                                        <a:latin typeface="Cambria Math"/>
                                        <a:ea typeface="Times New Roman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effectLst/>
                                        <a:latin typeface="Cambria Math"/>
                                        <a:ea typeface="Times New Roman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effectLst/>
                                        <a:latin typeface="Cambria Math"/>
                                        <a:ea typeface="Times New Roman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PH" sz="1600" dirty="0"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457200"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ctrlPr>
                                      <a:rPr lang="en-PH" sz="24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  <a:ea typeface="Times New Roman"/>
                                      </a:rPr>
                                    </m:ctrlPr>
                                  </m:radPr>
                                  <m:deg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  <a:ea typeface="Times New Roman"/>
                                      </a:rPr>
                                      <m:t>3</m:t>
                                    </m:r>
                                  </m:deg>
                                  <m:e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  <a:ea typeface="Times New Roman"/>
                                      </a:rPr>
                                      <m:t>64</m:t>
                                    </m:r>
                                  </m:e>
                                </m:rad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</a:rPr>
                                  <m:t>+8</m:t>
                                </m:r>
                              </m:oMath>
                            </m:oMathPara>
                          </a14:m>
                          <a:endParaRPr lang="en-PH" sz="1600" dirty="0"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65176957"/>
                  </p:ext>
                </p:extLst>
              </p:nvPr>
            </p:nvGraphicFramePr>
            <p:xfrm>
              <a:off x="812617" y="1786615"/>
              <a:ext cx="8055084" cy="73152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08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68754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8754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7315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r="-6468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l="-59797" r="-2868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l="-170758" r="-2064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l="-270758" r="-1064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l="-3481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74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" name="Google Shape;324;g103996e1364_0_25">
            <a:extLst>
              <a:ext uri="{FF2B5EF4-FFF2-40B4-BE49-F238E27FC236}">
                <a16:creationId xmlns=""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60325"/>
            <a:ext cx="1013851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2.7.3 Activity: Station 2 – Plotting Rational and Irrational Numbers on a Number Line</a:t>
            </a:r>
            <a:endParaRPr lang="en-US" sz="32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5" name="Picture 2" descr="Icon&#10;&#10;Description automatically generated">
            <a:extLst>
              <a:ext uri="{FF2B5EF4-FFF2-40B4-BE49-F238E27FC236}">
                <a16:creationId xmlns="" xmlns:a16="http://schemas.microsoft.com/office/drawing/2014/main" id="{37999C4E-6AE0-FA43-BC73-665C08EC5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34827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03002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B6C08EE3-8247-C14E-9600-35165D5C8679}"/>
              </a:ext>
            </a:extLst>
          </p:cNvPr>
          <p:cNvSpPr txBox="1"/>
          <p:nvPr/>
        </p:nvSpPr>
        <p:spPr>
          <a:xfrm>
            <a:off x="465232" y="337514"/>
            <a:ext cx="1128549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Plot and label each number on the number line.</a:t>
            </a: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Six expressions are shown.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Plot and label the location of each expression on the number line.</a:t>
            </a: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="" xmlns:a16="http://schemas.microsoft.com/office/drawing/2014/main" id="{9DDCE86C-AC17-F84F-84C9-3604F0100B34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69220736"/>
                  </p:ext>
                </p:extLst>
              </p:nvPr>
            </p:nvGraphicFramePr>
            <p:xfrm>
              <a:off x="959008" y="3043047"/>
              <a:ext cx="7598568" cy="763555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1266428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1266428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  <a:gridCol w="1266428">
                      <a:extLst>
                        <a:ext uri="{9D8B030D-6E8A-4147-A177-3AD203B41FA5}">
                          <a16:colId xmlns="" xmlns:a16="http://schemas.microsoft.com/office/drawing/2014/main" val="20002"/>
                        </a:ext>
                      </a:extLst>
                    </a:gridCol>
                    <a:gridCol w="1266428">
                      <a:extLst>
                        <a:ext uri="{9D8B030D-6E8A-4147-A177-3AD203B41FA5}">
                          <a16:colId xmlns="" xmlns:a16="http://schemas.microsoft.com/office/drawing/2014/main" val="20003"/>
                        </a:ext>
                      </a:extLst>
                    </a:gridCol>
                    <a:gridCol w="1266428">
                      <a:extLst>
                        <a:ext uri="{9D8B030D-6E8A-4147-A177-3AD203B41FA5}">
                          <a16:colId xmlns="" xmlns:a16="http://schemas.microsoft.com/office/drawing/2014/main" val="20004"/>
                        </a:ext>
                      </a:extLst>
                    </a:gridCol>
                    <a:gridCol w="1266428">
                      <a:extLst>
                        <a:ext uri="{9D8B030D-6E8A-4147-A177-3AD203B41FA5}">
                          <a16:colId xmlns="" xmlns:a16="http://schemas.microsoft.com/office/drawing/2014/main" val="20005"/>
                        </a:ext>
                      </a:extLst>
                    </a:gridCol>
                  </a:tblGrid>
                  <a:tr h="76355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2400" i="1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20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24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60</m:t>
                                  </m:r>
                                </m:num>
                                <m:den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11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4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2400" i="1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8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oMath>
                          </a14:m>
                          <a:r>
                            <a:rPr lang="en-US" sz="24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ad>
                                  <m:radPr>
                                    <m:ctrlPr>
                                      <a:rPr lang="en-US" sz="2400" i="1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deg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−125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24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23</m:t>
                                  </m:r>
                                </m:num>
                                <m:den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4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69220736"/>
                  </p:ext>
                </p:extLst>
              </p:nvPr>
            </p:nvGraphicFramePr>
            <p:xfrm>
              <a:off x="959008" y="3043047"/>
              <a:ext cx="7598568" cy="763555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126642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26642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26642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26642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266428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266428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76355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r="-4995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100000" r="-3995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200000" r="-2995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301449" r="-2009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399519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4995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" name="Picture 9"/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008" y="5006469"/>
            <a:ext cx="7713621" cy="680158"/>
          </a:xfrm>
          <a:prstGeom prst="rect">
            <a:avLst/>
          </a:prstGeom>
        </p:spPr>
      </p:pic>
      <p:pic>
        <p:nvPicPr>
          <p:cNvPr id="11" name="Picture 10"/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30623" y="1384761"/>
            <a:ext cx="6396355" cy="602615"/>
          </a:xfrm>
          <a:prstGeom prst="rect">
            <a:avLst/>
          </a:prstGeom>
        </p:spPr>
      </p:pic>
      <p:sp>
        <p:nvSpPr>
          <p:cNvPr id="1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75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468306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5122" name="Picture 2" descr="Icon&#10;&#10;Description automatically generated">
            <a:extLst>
              <a:ext uri="{FF2B5EF4-FFF2-40B4-BE49-F238E27FC236}">
                <a16:creationId xmlns="" xmlns:a16="http://schemas.microsoft.com/office/drawing/2014/main" id="{217F3A92-AA2C-4D41-A73D-4DC6608D6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0890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75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984818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Icon&#10;&#10;Description automatically generated">
            <a:extLst>
              <a:ext uri="{FF2B5EF4-FFF2-40B4-BE49-F238E27FC236}">
                <a16:creationId xmlns="" xmlns:a16="http://schemas.microsoft.com/office/drawing/2014/main" id="{37999C4E-6AE0-FA43-BC73-665C08EC5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34827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id="{A3547ABD-563B-A148-B65C-C7679A7B43D4}"/>
                  </a:ext>
                </a:extLst>
              </p:cNvPr>
              <p:cNvSpPr txBox="1"/>
              <p:nvPr/>
            </p:nvSpPr>
            <p:spPr>
              <a:xfrm>
                <a:off x="593248" y="1386026"/>
                <a:ext cx="10908452" cy="23802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Sara approximated the value of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radPr>
                      <m:deg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g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11</m:t>
                        </m:r>
                      </m:e>
                    </m:rad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Her thinking is shown.</a:t>
                </a: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r>
                  <a:rPr lang="en-US" sz="24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number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lang="en-US" sz="24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between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lang="en-US" sz="24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lang="en-US" sz="24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which are both perfect squares. So, I know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radPr>
                      <m:deg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g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11</m:t>
                        </m:r>
                      </m:e>
                    </m:rad>
                  </m:oMath>
                </a14:m>
                <a:r>
                  <a:rPr lang="en-US" sz="24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lies between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4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sz="24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 a number line, but it’s closer to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4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because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lang="en-US" sz="24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closer to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lang="en-US" sz="24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than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lang="en-US" sz="24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I would plot its approximate location here.</a:t>
                </a: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3547ABD-563B-A148-B65C-C7679A7B43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1386026"/>
                <a:ext cx="10908452" cy="2380267"/>
              </a:xfrm>
              <a:prstGeom prst="rect">
                <a:avLst/>
              </a:prstGeom>
              <a:blipFill>
                <a:blip r:embed="rId5"/>
                <a:stretch>
                  <a:fillRect l="-838" t="-767" b="-4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Google Shape;278;g104476d1465_1_17">
            <a:extLst>
              <a:ext uri="{FF2B5EF4-FFF2-40B4-BE49-F238E27FC236}">
                <a16:creationId xmlns="" xmlns:a16="http://schemas.microsoft.com/office/drawing/2014/main" id="{2834ACB5-9863-9B4D-A302-444ED7CCE577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15" name="Group 14"/>
          <p:cNvGrpSpPr/>
          <p:nvPr/>
        </p:nvGrpSpPr>
        <p:grpSpPr>
          <a:xfrm>
            <a:off x="2139948" y="4411359"/>
            <a:ext cx="7815051" cy="1060615"/>
            <a:chOff x="0" y="0"/>
            <a:chExt cx="6400800" cy="86921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 Box 49"/>
                <p:cNvSpPr txBox="1"/>
                <p:nvPr/>
              </p:nvSpPr>
              <p:spPr>
                <a:xfrm>
                  <a:off x="4614203" y="0"/>
                  <a:ext cx="813113" cy="379388"/>
                </a:xfrm>
                <a:prstGeom prst="rect">
                  <a:avLst/>
                </a:prstGeom>
                <a:solidFill>
                  <a:schemeClr val="lt1"/>
                </a:solidFill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ad>
                          <m:radPr>
                            <m:ctrlPr>
                              <a:rPr lang="en-PH" sz="1800" i="1">
                                <a:solidFill>
                                  <a:srgbClr val="ED7D31"/>
                                </a:solidFill>
                                <a:latin typeface="Cambria Math"/>
                                <a:ea typeface="Calibri"/>
                                <a:cs typeface="Times New Roman"/>
                              </a:rPr>
                            </m:ctrlPr>
                          </m:radPr>
                          <m:deg>
                            <m:r>
                              <a:rPr lang="en-US" sz="1800" i="1">
                                <a:solidFill>
                                  <a:srgbClr val="ED7D31"/>
                                </a:solidFill>
                                <a:latin typeface="Cambria Math"/>
                                <a:ea typeface="Calibri"/>
                              </a:rPr>
                              <m:t>3</m:t>
                            </m:r>
                          </m:deg>
                          <m:e>
                            <m:r>
                              <a:rPr lang="en-US" sz="1800" i="1">
                                <a:solidFill>
                                  <a:srgbClr val="ED7D31"/>
                                </a:solidFill>
                                <a:latin typeface="Cambria Math"/>
                                <a:ea typeface="Calibri"/>
                                <a:cs typeface="Times New Roman"/>
                              </a:rPr>
                              <m:t>11</m:t>
                            </m:r>
                          </m:e>
                        </m:rad>
                      </m:oMath>
                    </m:oMathPara>
                  </a14:m>
                  <a:endParaRPr lang="en-PH" sz="1200">
                    <a:latin typeface="Times New Roman"/>
                    <a:ea typeface="Times New Roman"/>
                  </a:endParaRPr>
                </a:p>
              </p:txBody>
            </p:sp>
          </mc:Choice>
          <mc:Fallback xmlns="">
            <p:sp>
              <p:nvSpPr>
                <p:cNvPr id="17" name="Text Box 4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14203" y="0"/>
                  <a:ext cx="813113" cy="379388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PH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351692"/>
              <a:ext cx="6400800" cy="517525"/>
            </a:xfrm>
            <a:prstGeom prst="rect">
              <a:avLst/>
            </a:prstGeom>
          </p:spPr>
        </p:pic>
        <p:sp>
          <p:nvSpPr>
            <p:cNvPr id="20" name="Oval 19"/>
            <p:cNvSpPr>
              <a:spLocks noChangeAspect="1"/>
            </p:cNvSpPr>
            <p:nvPr/>
          </p:nvSpPr>
          <p:spPr>
            <a:xfrm>
              <a:off x="5022166" y="464234"/>
              <a:ext cx="137160" cy="135565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H"/>
            </a:p>
          </p:txBody>
        </p:sp>
      </p:grpSp>
      <p:sp>
        <p:nvSpPr>
          <p:cNvPr id="13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75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6" name="Google Shape;324;g103996e1364_0_25">
            <a:extLst>
              <a:ext uri="{FF2B5EF4-FFF2-40B4-BE49-F238E27FC236}">
                <a16:creationId xmlns=""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455429"/>
            <a:ext cx="10138514" cy="535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2.7.4 Activity: Station 3 – </a:t>
            </a:r>
            <a:r>
              <a:rPr lang="en-US" sz="32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Error </a:t>
            </a: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Analysis</a:t>
            </a:r>
            <a:endParaRPr lang="en-US" sz="32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7985570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id="{B6C08EE3-8247-C14E-9600-35165D5C8679}"/>
                  </a:ext>
                </a:extLst>
              </p:cNvPr>
              <p:cNvSpPr txBox="1"/>
              <p:nvPr/>
            </p:nvSpPr>
            <p:spPr>
              <a:xfrm>
                <a:off x="465232" y="337514"/>
                <a:ext cx="11065880" cy="49296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Sara’s thinking with your partner. Then, complete the table</a:t>
                </a:r>
                <a: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4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4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4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4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Plot 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and label the correct approximate value of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radPr>
                      <m:deg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g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11</m:t>
                        </m:r>
                      </m:e>
                    </m:rad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 the number line</a:t>
                </a:r>
                <a: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id="{B6C08EE3-8247-C14E-9600-35165D5C8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2" y="337514"/>
                <a:ext cx="11065880" cy="4929619"/>
              </a:xfrm>
              <a:prstGeom prst="rect">
                <a:avLst/>
              </a:prstGeom>
              <a:blipFill rotWithShape="1">
                <a:blip r:embed="rId3"/>
                <a:stretch>
                  <a:fillRect t="-989" b="-17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="" xmlns:a16="http://schemas.microsoft.com/office/drawing/2014/main" id="{9DDCE86C-AC17-F84F-84C9-3604F0100B34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20661"/>
              </p:ext>
            </p:extLst>
          </p:nvPr>
        </p:nvGraphicFramePr>
        <p:xfrm>
          <a:off x="1556917" y="1325063"/>
          <a:ext cx="9144000" cy="28800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572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What is correct in </a:t>
                      </a:r>
                      <a:r>
                        <a:rPr lang="en-US" sz="2000" b="1" dirty="0" smtClean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/>
                      </a:r>
                      <a:br>
                        <a:rPr lang="en-US" sz="2000" b="1" dirty="0" smtClean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</a:br>
                      <a:r>
                        <a:rPr lang="en-US" sz="2000" b="1" dirty="0" smtClean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Sara’s </a:t>
                      </a: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thinking?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What error(s) did </a:t>
                      </a:r>
                      <a:b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</a:b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Sara make?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1600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0" name="Picture 9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58860" y="5356559"/>
            <a:ext cx="7278624" cy="588500"/>
          </a:xfrm>
          <a:prstGeom prst="rect">
            <a:avLst/>
          </a:prstGeom>
        </p:spPr>
      </p:pic>
      <p:sp>
        <p:nvSpPr>
          <p:cNvPr id="11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75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832415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4CE9D117-FAE6-F74F-940B-9CD1479755BE}"/>
              </a:ext>
            </a:extLst>
          </p:cNvPr>
          <p:cNvSpPr txBox="1"/>
          <p:nvPr/>
        </p:nvSpPr>
        <p:spPr>
          <a:xfrm>
            <a:off x="465232" y="422857"/>
            <a:ext cx="1116291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 each pair of numbers, an explanation comparing the values is provided. 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Determine whether each explanation is correct or incorrect.</a:t>
            </a: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="" xmlns:a16="http://schemas.microsoft.com/office/drawing/2014/main" id="{BEF6C55E-B3A1-F64B-8B75-315832270770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52061485"/>
                  </p:ext>
                </p:extLst>
              </p:nvPr>
            </p:nvGraphicFramePr>
            <p:xfrm>
              <a:off x="1544910" y="2201179"/>
              <a:ext cx="9102179" cy="3749245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974245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5128880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  <a:gridCol w="1999054">
                      <a:extLst>
                        <a:ext uri="{9D8B030D-6E8A-4147-A177-3AD203B41FA5}">
                          <a16:colId xmlns="" xmlns:a16="http://schemas.microsoft.com/office/drawing/2014/main" val="20002"/>
                        </a:ext>
                      </a:extLst>
                    </a:gridCol>
                  </a:tblGrid>
                  <a:tr h="95056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Pair of Numbers</a:t>
                          </a:r>
                        </a:p>
                      </a:txBody>
                      <a:tcPr marL="101552" marR="101552" marT="50776" marB="5077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Comparison and Explanation</a:t>
                          </a:r>
                        </a:p>
                      </a:txBody>
                      <a:tcPr marL="101552" marR="101552" marT="50776" marB="5077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Is it Correct?</a:t>
                          </a:r>
                        </a:p>
                      </a:txBody>
                      <a:tcPr marL="101552" marR="101552" marT="50776" marB="5077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  <a:tr h="139933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2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p>
                                  <m:r>
                                    <a:rPr lang="en-US" sz="22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2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9</m:t>
                              </m:r>
                            </m:oMath>
                          </a14:m>
                          <a:endParaRPr lang="en-US" sz="22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101552" marR="101552" marT="50776" marB="5077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9</m:t>
                              </m:r>
                            </m:oMath>
                          </a14:m>
                          <a:r>
                            <a:rPr lang="en-US" sz="22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 </a:t>
                          </a:r>
                          <a:r>
                            <a:rPr lang="en-US" sz="22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is greater than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2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p>
                                  <m:r>
                                    <a:rPr lang="en-US" sz="22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2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 </a:t>
                          </a:r>
                          <a:r>
                            <a:rPr lang="en-US" sz="22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because</a:t>
                          </a:r>
                          <a:r>
                            <a:rPr lang="en-US" sz="22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oMath>
                          </a14:m>
                          <a:r>
                            <a:rPr lang="en-US" sz="22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 </a:t>
                          </a:r>
                          <a:r>
                            <a:rPr lang="en-US" sz="22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is slightly more than</a:t>
                          </a:r>
                          <a:r>
                            <a:rPr lang="en-US" sz="22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oMath>
                          </a14:m>
                          <a:r>
                            <a:rPr lang="en-US" sz="22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, </a:t>
                          </a:r>
                          <a:r>
                            <a:rPr lang="en-US" sz="22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so</a:t>
                          </a:r>
                          <a:r>
                            <a:rPr lang="en-US" sz="22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2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p>
                                  <m:r>
                                    <a:rPr lang="en-US" sz="22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2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 </a:t>
                          </a:r>
                          <a:r>
                            <a:rPr lang="en-US" sz="22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is slightly more than</a:t>
                          </a:r>
                          <a:r>
                            <a:rPr lang="en-US" sz="22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</m:t>
                              </m:r>
                            </m:oMath>
                          </a14:m>
                          <a:r>
                            <a:rPr lang="en-US" sz="22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.</a:t>
                          </a:r>
                        </a:p>
                      </a:txBody>
                      <a:tcPr marL="101552" marR="101552" marT="50776" marB="5077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2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correct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2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incorrect</a:t>
                          </a:r>
                        </a:p>
                      </a:txBody>
                      <a:tcPr marL="101552" marR="101552" marT="50776" marB="5077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1"/>
                      </a:ext>
                    </a:extLst>
                  </a:tr>
                  <a:tr h="139933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sz="22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2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50</m:t>
                                  </m:r>
                                </m:e>
                              </m:rad>
                            </m:oMath>
                          </a14:m>
                          <a:r>
                            <a:rPr lang="en-US" sz="22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</m:t>
                              </m:r>
                            </m:oMath>
                          </a14:m>
                          <a:endParaRPr lang="en-US" sz="22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101552" marR="101552" marT="50776" marB="5077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sz="22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2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50</m:t>
                                  </m:r>
                                </m:e>
                              </m:rad>
                            </m:oMath>
                          </a14:m>
                          <a:r>
                            <a:rPr lang="en-US" sz="22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is less than </a:t>
                          </a:r>
                          <a14:m>
                            <m:oMath xmlns:m="http://schemas.openxmlformats.org/officeDocument/2006/math"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</m:t>
                              </m:r>
                            </m:oMath>
                          </a14:m>
                          <a:r>
                            <a:rPr lang="en-US" sz="22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because </a:t>
                          </a:r>
                          <a14:m>
                            <m:oMath xmlns:m="http://schemas.openxmlformats.org/officeDocument/2006/math"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</m:t>
                              </m:r>
                            </m:oMath>
                          </a14:m>
                          <a:r>
                            <a:rPr lang="en-US" sz="22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is equal to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sz="22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2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64</m:t>
                                  </m:r>
                                </m:e>
                              </m:rad>
                            </m:oMath>
                          </a14:m>
                          <a:r>
                            <a:rPr lang="en-US" sz="22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sz="22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2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50</m:t>
                                  </m:r>
                                </m:e>
                              </m:rad>
                            </m:oMath>
                          </a14:m>
                          <a:r>
                            <a:rPr lang="en-US" sz="22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is less than that.</a:t>
                          </a:r>
                        </a:p>
                      </a:txBody>
                      <a:tcPr marL="101552" marR="101552" marT="50776" marB="5077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2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correct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2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incorrect</a:t>
                          </a:r>
                        </a:p>
                      </a:txBody>
                      <a:tcPr marL="101552" marR="101552" marT="50776" marB="5077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52061485"/>
                  </p:ext>
                </p:extLst>
              </p:nvPr>
            </p:nvGraphicFramePr>
            <p:xfrm>
              <a:off x="1544910" y="2201179"/>
              <a:ext cx="9102179" cy="3749245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97424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1288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99905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95056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Pair of Numbers</a:t>
                          </a:r>
                        </a:p>
                      </a:txBody>
                      <a:tcPr marL="101552" marR="101552" marT="50776" marB="5077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Comparison and Explanation</a:t>
                          </a:r>
                        </a:p>
                      </a:txBody>
                      <a:tcPr marL="101552" marR="101552" marT="50776" marB="5077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Is it Correct?</a:t>
                          </a:r>
                        </a:p>
                      </a:txBody>
                      <a:tcPr marL="101552" marR="101552" marT="50776" marB="5077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39933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552" marR="101552" marT="50776" marB="5077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17" t="-68696" r="-362037" b="-1013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552" marR="101552" marT="50776" marB="5077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8717" t="-68696" r="-39311" b="-1013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2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correct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2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incorrect</a:t>
                          </a:r>
                        </a:p>
                      </a:txBody>
                      <a:tcPr marL="101552" marR="101552" marT="50776" marB="5077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39933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552" marR="101552" marT="50776" marB="5077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17" t="-168696" r="-362037" b="-13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552" marR="101552" marT="50776" marB="5077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8717" t="-168696" r="-39311" b="-13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2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correct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2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incorrect</a:t>
                          </a:r>
                        </a:p>
                      </a:txBody>
                      <a:tcPr marL="101552" marR="101552" marT="50776" marB="5077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76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895554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4CE9D117-FAE6-F74F-940B-9CD1479755BE}"/>
              </a:ext>
            </a:extLst>
          </p:cNvPr>
          <p:cNvSpPr txBox="1"/>
          <p:nvPr/>
        </p:nvSpPr>
        <p:spPr>
          <a:xfrm>
            <a:off x="617912" y="3937506"/>
            <a:ext cx="10906012" cy="22852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8050" lvl="1" indent="-457200">
              <a:buFont typeface="+mj-lt"/>
              <a:buAutoNum type="alphaLcPeriod" startAt="2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Two of the explanations above are incorrect. Write the correct explanation for each of them by completing the sentence stems. </a:t>
            </a:r>
          </a:p>
          <a:p>
            <a:pPr marL="457200"/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896938"/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______ is greater than ______ because ...</a:t>
            </a:r>
          </a:p>
          <a:p>
            <a:pPr marL="896938"/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896938"/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______ is less than ______ because ...</a:t>
            </a:r>
          </a:p>
          <a:p>
            <a:pPr marL="896938"/>
            <a:endParaRPr lang="en-US" sz="1050" dirty="0"/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="" xmlns:a16="http://schemas.microsoft.com/office/drawing/2014/main" id="{BEF6C55E-B3A1-F64B-8B75-315832270770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59410001"/>
                  </p:ext>
                </p:extLst>
              </p:nvPr>
            </p:nvGraphicFramePr>
            <p:xfrm>
              <a:off x="1827075" y="462454"/>
              <a:ext cx="8197200" cy="3240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778400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4618800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="" xmlns:a16="http://schemas.microsoft.com/office/drawing/2014/main" val="20002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Pair of Numbers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Comparison and Explanation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Is it Correct?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  <a:tr h="126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13</m:t>
                                  </m:r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and</a:t>
                          </a: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ctrlPr>
                                    <a:rPr lang="en-US" sz="20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deg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60</m:t>
                                  </m:r>
                                </m:e>
                              </m:rad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13</m:t>
                                  </m:r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is greater than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ctrlPr>
                                    <a:rPr lang="en-US" sz="20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deg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60</m:t>
                                  </m:r>
                                </m:e>
                              </m:rad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because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 smtClean="0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13</m:t>
                                  </m:r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is slightly more than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ctrlPr>
                                    <a:rPr lang="en-US" sz="20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deg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60</m:t>
                                  </m:r>
                                </m:e>
                              </m:rad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is slightly less than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correct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incorrect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1"/>
                      </a:ext>
                    </a:extLst>
                  </a:tr>
                  <a:tr h="126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 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and</a:t>
                          </a: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−6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−6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is less than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 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because 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−2∙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 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is between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−6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and</a:t>
                          </a: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0" i="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7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which means it’s larger than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−6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 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correct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incorrect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59410001"/>
                  </p:ext>
                </p:extLst>
              </p:nvPr>
            </p:nvGraphicFramePr>
            <p:xfrm>
              <a:off x="1827075" y="462454"/>
              <a:ext cx="8197200" cy="3240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7784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6188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Pair of Numbers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Comparison and Explanation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Is it Correct?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26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42" t="-58173" r="-361986" b="-1009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8654" t="-58173" r="-39446" b="-1009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correct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incorrect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26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42" t="-158937" r="-361986" b="-14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8654" t="-158937" r="-39446" b="-14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correct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incorrect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76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504484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=""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77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497524" y="1243129"/>
            <a:ext cx="405903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Circle the icon that best describes your understanding of each concept learned in this unit. </a:t>
            </a: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Google Shape;278;g104476d1465_1_17">
            <a:extLst>
              <a:ext uri="{FF2B5EF4-FFF2-40B4-BE49-F238E27FC236}">
                <a16:creationId xmlns="" xmlns:a16="http://schemas.microsoft.com/office/drawing/2014/main" id="{69767437-9B0B-9D43-A596-1373A90D9FE8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163" name="Picture 19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318900" y="1243129"/>
            <a:ext cx="7152376" cy="52146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77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Google Shape;468;p34"/>
          <p:cNvSpPr txBox="1"/>
          <p:nvPr/>
        </p:nvSpPr>
        <p:spPr>
          <a:xfrm>
            <a:off x="1142999" y="284833"/>
            <a:ext cx="1066951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2.7.5 Wrap-Up: Reflection</a:t>
            </a:r>
            <a:endParaRPr lang="en-US" sz="36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5" name="Google Shape;469;p3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1374</TotalTime>
  <Words>894</Words>
  <Application>Microsoft Office PowerPoint</Application>
  <PresentationFormat>Custom</PresentationFormat>
  <Paragraphs>189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Arial</vt:lpstr>
      <vt:lpstr>Century Gothic</vt:lpstr>
      <vt:lpstr>Wingdings</vt:lpstr>
      <vt:lpstr>Cambria Math</vt:lpstr>
      <vt:lpstr>Arial Black</vt:lpstr>
      <vt:lpstr>Verdana</vt:lpstr>
      <vt:lpstr>Calibri</vt:lpstr>
      <vt:lpstr>Courier New</vt:lpstr>
      <vt:lpstr>Times New Roman</vt:lpstr>
      <vt:lpstr>1_Office Theme</vt:lpstr>
      <vt:lpstr>8th Grade Math: Pre-Algebra  Unit 2, Lesson 7  Plotting, Ordering, and Comparing Real Numbers  Volume 1, pg. 72  </vt:lpstr>
      <vt:lpstr>Benchmark</vt:lpstr>
      <vt:lpstr>PowerPoint Presentation</vt:lpstr>
      <vt:lpstr>PowerPoint Presentation</vt:lpstr>
      <vt:lpstr>Warm-Up</vt:lpstr>
      <vt:lpstr>PowerPoint Presentation</vt:lpstr>
      <vt:lpstr>Activity</vt:lpstr>
      <vt:lpstr>PowerPoint Presentation</vt:lpstr>
      <vt:lpstr>PowerPoint Presentation</vt:lpstr>
      <vt:lpstr>PowerPoint Presentation</vt:lpstr>
      <vt:lpstr>Activity</vt:lpstr>
      <vt:lpstr>PowerPoint Presentation</vt:lpstr>
      <vt:lpstr>PowerPoint Presentation</vt:lpstr>
      <vt:lpstr>Activity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John Patrick</cp:lastModifiedBy>
  <cp:revision>37</cp:revision>
  <dcterms:created xsi:type="dcterms:W3CDTF">2015-03-17T18:51:18Z</dcterms:created>
  <dcterms:modified xsi:type="dcterms:W3CDTF">2022-06-14T11:11:35Z</dcterms:modified>
</cp:coreProperties>
</file>