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35" r:id="rId11"/>
    <p:sldId id="311" r:id="rId12"/>
    <p:sldId id="312" r:id="rId13"/>
    <p:sldId id="316" r:id="rId14"/>
    <p:sldId id="336" r:id="rId15"/>
    <p:sldId id="337" r:id="rId16"/>
    <p:sldId id="313" r:id="rId17"/>
    <p:sldId id="338" r:id="rId18"/>
    <p:sldId id="332" r:id="rId19"/>
    <p:sldId id="333" r:id="rId20"/>
    <p:sldId id="340" r:id="rId21"/>
    <p:sldId id="323" r:id="rId22"/>
    <p:sldId id="324" r:id="rId23"/>
    <p:sldId id="339" r:id="rId24"/>
    <p:sldId id="334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6040202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8" autoAdjust="0"/>
    <p:restoredTop sz="94694"/>
  </p:normalViewPr>
  <p:slideViewPr>
    <p:cSldViewPr snapToGrid="0">
      <p:cViewPr varScale="1">
        <p:scale>
          <a:sx n="128" d="100"/>
          <a:sy n="128" d="100"/>
        </p:scale>
        <p:origin x="58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891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779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05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412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696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543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5191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0545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2954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745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6494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134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593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32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0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Math: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Square Roots and Cube Roots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631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15419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19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470" y="1321975"/>
                <a:ext cx="10967826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MA.8.NSO.1.1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Extend previous understanding of rational numbers to define irrational numbers within the real number system. Locate an approximate value of a numerical expression involving irrational numbers on a number line.</a:t>
                </a:r>
              </a:p>
              <a:p>
                <a:pPr indent="0">
                  <a:buNone/>
                </a:pPr>
                <a:endParaRPr 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MA.8.AR.2.3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𝑝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 and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𝑞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determine the real solutions.</a:t>
                </a:r>
                <a:endParaRPr 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70" y="1321975"/>
                <a:ext cx="10967826" cy="4205700"/>
              </a:xfrm>
              <a:prstGeom prst="rect">
                <a:avLst/>
              </a:prstGeom>
              <a:blipFill>
                <a:blip r:embed="rId5"/>
                <a:stretch>
                  <a:fillRect l="-8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81364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2300" indent="-6223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extend my understanding of square roots and cube roots.</a:t>
            </a:r>
          </a:p>
          <a:p>
            <a:pPr marL="622300" indent="-6223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2300" indent="-6223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square roots and cube roots.</a:t>
            </a:r>
          </a:p>
          <a:p>
            <a:pPr marL="622300" indent="-6223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2300" indent="-6223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approximate square roots and cube roots.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33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2.4.1 Warm-Up: Number Pattern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110349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pattern is shown with one value missing.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value of the empty cell in the pattern. 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determined the missing value.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3139" y="1960615"/>
            <a:ext cx="6675120" cy="2270152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4"/>
            <a:ext cx="9510717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2.4.2 Collaboration: Square Roots vs. Cube Roots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0565" y="1378111"/>
                <a:ext cx="10961136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Damion knows that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says this means the following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equations are all true.</a:t>
                </a: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or not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you agree that all of the equations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Damion wrote are true.</a:t>
                </a: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Damion wrote any false equation(s), explain what makes them false.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all of Damion’s equations are true, explain how you know.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378111"/>
                <a:ext cx="10961136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612" t="-693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0158018"/>
                  </p:ext>
                </p:extLst>
              </p:nvPr>
            </p:nvGraphicFramePr>
            <p:xfrm>
              <a:off x="7757701" y="1378111"/>
              <a:ext cx="3744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7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D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14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0158018"/>
                  </p:ext>
                </p:extLst>
              </p:nvPr>
            </p:nvGraphicFramePr>
            <p:xfrm>
              <a:off x="7757701" y="1378111"/>
              <a:ext cx="3744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326" b="-305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326" t="-101136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326" t="-198876" b="-106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D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326" t="-302273" b="-7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414319"/>
                <a:ext cx="8327136" cy="399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12800" indent="-3556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			      because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12800" indent="-3556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		      because </a:t>
                </a: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4319"/>
                <a:ext cx="8327136" cy="3992631"/>
              </a:xfrm>
              <a:prstGeom prst="rect">
                <a:avLst/>
              </a:prstGeom>
              <a:blipFill>
                <a:blip r:embed="rId4"/>
                <a:stretch>
                  <a:fillRect l="-1171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6266" y="867761"/>
            <a:ext cx="3034284" cy="987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200" y="1971899"/>
            <a:ext cx="6437376" cy="12279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4574" y="3457993"/>
            <a:ext cx="3034284" cy="9870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200" y="4533950"/>
            <a:ext cx="6437376" cy="1227939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409911"/>
                <a:ext cx="11087585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table by choosing a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based on the inequality. Then, determine if the result is real or non-real.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short explanation of when a non-real result will occur.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09911"/>
                <a:ext cx="11087585" cy="5324535"/>
              </a:xfrm>
              <a:prstGeom prst="rect">
                <a:avLst/>
              </a:prstGeom>
              <a:blipFill>
                <a:blip r:embed="rId4"/>
                <a:stretch>
                  <a:fillRect l="-605" t="-801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241329"/>
                  </p:ext>
                </p:extLst>
              </p:nvPr>
            </p:nvGraphicFramePr>
            <p:xfrm>
              <a:off x="1080402" y="1247217"/>
              <a:ext cx="7247462" cy="386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3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29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 or Non-Real Result(s)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241329"/>
                  </p:ext>
                </p:extLst>
              </p:nvPr>
            </p:nvGraphicFramePr>
            <p:xfrm>
              <a:off x="1080402" y="1247217"/>
              <a:ext cx="7247462" cy="386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3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 or Non-Real Result(s)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2" t="-92308" r="-211488" b="-3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2" t="-190840" r="-211488" b="-2083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2" t="-293077" r="-211488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2" t="-393077" r="-211488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6223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566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95232"/>
            <a:ext cx="90330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2.4.3 Exploration: Square Roots of Non-Perfect Squares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054610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are an infinite number of perfect squares in the real number system.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list of the first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perfect squares.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0546102" cy="1569660"/>
              </a:xfrm>
              <a:prstGeom prst="rect">
                <a:avLst/>
              </a:prstGeom>
              <a:blipFill>
                <a:blip r:embed="rId5"/>
                <a:stretch>
                  <a:fillRect l="-867" t="-3101" r="-983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7223930"/>
                  </p:ext>
                </p:extLst>
              </p:nvPr>
            </p:nvGraphicFramePr>
            <p:xfrm>
              <a:off x="1188307" y="3057775"/>
              <a:ext cx="6545041" cy="360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5907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8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95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8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6699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____</a:t>
                          </a: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7223930"/>
                  </p:ext>
                </p:extLst>
              </p:nvPr>
            </p:nvGraphicFramePr>
            <p:xfrm>
              <a:off x="1188307" y="3057775"/>
              <a:ext cx="6545041" cy="360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5907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8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95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8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6699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r="-311877" b="-4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68127" r="-160159" b="-4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46058" b="-40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t="-99160" r="-311877" b="-298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68127" t="-99160" r="-160159" b="-298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46058" t="-99160" b="-298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t="-200847" r="-311877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68127" t="-200847" r="-160159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46058" t="-200847" b="-20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t="-298319" r="-311877" b="-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68127" t="-298319" r="-160159" b="-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46058" t="-298319" b="-991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t="-401695" r="-311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715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68127" t="-401695" r="-160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143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46058" t="-40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190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answers with your partner.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square roots of perfect squares are rational numbers because they can be expressed as a ratio of two integers.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roots of non-perfect squares, such as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are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irrational numbers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190955"/>
              </a:xfrm>
              <a:prstGeom prst="rect">
                <a:avLst/>
              </a:prstGeom>
              <a:blipFill>
                <a:blip r:embed="rId4"/>
                <a:stretch>
                  <a:fillRect l="-885" t="-1163" b="-2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540565" y="4601621"/>
            <a:ext cx="8280000" cy="1111250"/>
            <a:chOff x="0" y="0"/>
            <a:chExt cx="8280000" cy="11113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/>
            <p:cNvGrpSpPr/>
            <p:nvPr/>
          </p:nvGrpSpPr>
          <p:grpSpPr>
            <a:xfrm>
              <a:off x="0" y="0"/>
              <a:ext cx="8280000" cy="1111347"/>
              <a:chOff x="0" y="0"/>
              <a:chExt cx="8280000" cy="8128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0" y="214006"/>
                <a:ext cx="8280000" cy="572817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723900"/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Irrational numbers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real numbers that cannot be expressed as a ratio of two integers.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pic>
          <p:nvPicPr>
            <p:cNvPr id="9" name="Shape 7" descr="Icon&#10;&#10;Description automatically generated"/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6179" y="414663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65362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decimal expansions of irrational numbers do not terminate nor repeat. Therefore, the values of a square root of a non-perfect square can only be approximated.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evaluating the square root of a number, the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principal square root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assumed when the radical symbol is used. A negative symbol,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placed in front of the radical to indicate the negative square root. Perfect squares can be used to estimate the value of the principal square root of non-perfect squares.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65362" cy="4893647"/>
              </a:xfrm>
              <a:prstGeom prst="rect">
                <a:avLst/>
              </a:prstGeom>
              <a:blipFill>
                <a:blip r:embed="rId4"/>
                <a:stretch>
                  <a:fillRect l="-882" t="-996" r="-1708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540565" y="1867331"/>
            <a:ext cx="8280000" cy="990158"/>
            <a:chOff x="2031300" y="3373600"/>
            <a:chExt cx="8280000" cy="10018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/>
            <p:cNvGrpSpPr/>
            <p:nvPr/>
          </p:nvGrpSpPr>
          <p:grpSpPr>
            <a:xfrm>
              <a:off x="2031300" y="3373600"/>
              <a:ext cx="8280000" cy="1001899"/>
              <a:chOff x="0" y="0"/>
              <a:chExt cx="8280000" cy="100189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0" y="209464"/>
                <a:ext cx="8280000" cy="792435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717550"/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principal square root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positive square root of a positive real number. 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pic>
            <p:nvPicPr>
              <p:cNvPr id="11" name="Shape 7" descr="Icon&#10;&#10;Description automatically generated"/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30556" y="339978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2208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5181"/>
                <a:ext cx="11065362" cy="4982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 to approximate the principal square root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inequality to show which two perfect squares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lies between.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answers to Part A to indicate which two square roots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lies between.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square root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to indicate its approximate value based on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5181"/>
                <a:ext cx="11065362" cy="4982903"/>
              </a:xfrm>
              <a:prstGeom prst="rect">
                <a:avLst/>
              </a:prstGeom>
              <a:blipFill>
                <a:blip r:embed="rId4"/>
                <a:stretch>
                  <a:fillRect l="-606" t="-856" b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3709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307887" y="1924581"/>
                <a:ext cx="35157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14400" algn="ctr"/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________ &lt;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________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887" y="1924581"/>
                <a:ext cx="3515706" cy="400110"/>
              </a:xfrm>
              <a:prstGeom prst="rect">
                <a:avLst/>
              </a:prstGeom>
              <a:blipFill>
                <a:blip r:embed="rId5"/>
                <a:stretch>
                  <a:fillRect t="-9231" r="-1563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95614" y="3429000"/>
                <a:ext cx="3740255" cy="430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14400" algn="ctr"/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________ 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&lt; ________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614" y="3429000"/>
                <a:ext cx="3740255" cy="430118"/>
              </a:xfrm>
              <a:prstGeom prst="rect">
                <a:avLst/>
              </a:prstGeom>
              <a:blipFill>
                <a:blip r:embed="rId6"/>
                <a:stretch>
                  <a:fillRect t="-2857" r="-1466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1793" y="5590498"/>
            <a:ext cx="5943600" cy="68961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213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5181"/>
            <a:ext cx="110653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approximate locations of six square roots are plotted on the number line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which point matches the approximate value of each square root given in the table.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3101446" y="1040686"/>
            <a:ext cx="5943600" cy="956309"/>
            <a:chOff x="0" y="0"/>
            <a:chExt cx="5943600" cy="956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199"/>
                <p:cNvSpPr txBox="1"/>
                <p:nvPr/>
              </p:nvSpPr>
              <p:spPr>
                <a:xfrm>
                  <a:off x="773723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𝑭</m:t>
                        </m:r>
                      </m:oMath>
                    </m:oMathPara>
                  </a14:m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 Box 1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723" y="0"/>
                  <a:ext cx="393700" cy="37973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200"/>
                <p:cNvSpPr txBox="1"/>
                <p:nvPr/>
              </p:nvSpPr>
              <p:spPr>
                <a:xfrm>
                  <a:off x="1322363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2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363" y="0"/>
                  <a:ext cx="393700" cy="37973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201"/>
                <p:cNvSpPr txBox="1"/>
                <p:nvPr/>
              </p:nvSpPr>
              <p:spPr>
                <a:xfrm>
                  <a:off x="1941342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𝑴</m:t>
                        </m:r>
                      </m:oMath>
                    </m:oMathPara>
                  </a14:m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2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1342" y="0"/>
                  <a:ext cx="393700" cy="37973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202"/>
                <p:cNvSpPr txBox="1"/>
                <p:nvPr/>
              </p:nvSpPr>
              <p:spPr>
                <a:xfrm>
                  <a:off x="3390314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2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0314" y="0"/>
                  <a:ext cx="393700" cy="37973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03"/>
                <p:cNvSpPr txBox="1"/>
                <p:nvPr/>
              </p:nvSpPr>
              <p:spPr>
                <a:xfrm>
                  <a:off x="3727939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𝒀</m:t>
                        </m:r>
                      </m:oMath>
                    </m:oMathPara>
                  </a14:m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2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939" y="0"/>
                  <a:ext cx="393700" cy="37973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04"/>
                <p:cNvSpPr txBox="1"/>
                <p:nvPr/>
              </p:nvSpPr>
              <p:spPr>
                <a:xfrm>
                  <a:off x="4051495" y="0"/>
                  <a:ext cx="39370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495" y="0"/>
                  <a:ext cx="393700" cy="37973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/>
            <p:cNvGrpSpPr/>
            <p:nvPr/>
          </p:nvGrpSpPr>
          <p:grpSpPr>
            <a:xfrm>
              <a:off x="0" y="267286"/>
              <a:ext cx="5943600" cy="689610"/>
              <a:chOff x="0" y="0"/>
              <a:chExt cx="5943600" cy="68961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0" y="0"/>
                <a:ext cx="5943600" cy="689610"/>
                <a:chOff x="0" y="0"/>
                <a:chExt cx="5943600" cy="689610"/>
              </a:xfrm>
            </p:grpSpPr>
            <p:pic>
              <p:nvPicPr>
                <p:cNvPr id="19" name="Picture 18"/>
                <p:cNvPicPr>
                  <a:picLocks noChangeAspect="1"/>
                </p:cNvPicPr>
                <p:nvPr/>
              </p:nvPicPr>
              <p:blipFill>
                <a:blip r:embed="rId1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0"/>
                  <a:ext cx="5943600" cy="689610"/>
                </a:xfrm>
                <a:prstGeom prst="rect">
                  <a:avLst/>
                </a:prstGeom>
              </p:spPr>
            </p:pic>
            <p:sp>
              <p:nvSpPr>
                <p:cNvPr id="20" name="Oval 19"/>
                <p:cNvSpPr>
                  <a:spLocks noChangeAspect="1"/>
                </p:cNvSpPr>
                <p:nvPr/>
              </p:nvSpPr>
              <p:spPr>
                <a:xfrm>
                  <a:off x="3854548" y="140677"/>
                  <a:ext cx="109728" cy="1097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Oval 20"/>
                <p:cNvSpPr>
                  <a:spLocks noChangeAspect="1"/>
                </p:cNvSpPr>
                <p:nvPr/>
              </p:nvSpPr>
              <p:spPr>
                <a:xfrm>
                  <a:off x="3516923" y="140677"/>
                  <a:ext cx="109728" cy="1097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Oval 21"/>
                <p:cNvSpPr>
                  <a:spLocks noChangeAspect="1"/>
                </p:cNvSpPr>
                <p:nvPr/>
              </p:nvSpPr>
              <p:spPr>
                <a:xfrm>
                  <a:off x="1448972" y="140677"/>
                  <a:ext cx="109220" cy="1092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Oval 22"/>
                <p:cNvSpPr>
                  <a:spLocks noChangeAspect="1"/>
                </p:cNvSpPr>
                <p:nvPr/>
              </p:nvSpPr>
              <p:spPr>
                <a:xfrm>
                  <a:off x="2067951" y="140677"/>
                  <a:ext cx="109220" cy="1092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7" name="Oval 16"/>
              <p:cNvSpPr>
                <a:spLocks noChangeAspect="1"/>
              </p:cNvSpPr>
              <p:nvPr/>
            </p:nvSpPr>
            <p:spPr>
              <a:xfrm>
                <a:off x="4164037" y="140677"/>
                <a:ext cx="109728" cy="1097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" name="Oval 17"/>
              <p:cNvSpPr>
                <a:spLocks noChangeAspect="1"/>
              </p:cNvSpPr>
              <p:nvPr/>
            </p:nvSpPr>
            <p:spPr>
              <a:xfrm>
                <a:off x="900332" y="140677"/>
                <a:ext cx="109728" cy="1097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5247746"/>
                  </p:ext>
                </p:extLst>
              </p:nvPr>
            </p:nvGraphicFramePr>
            <p:xfrm>
              <a:off x="2696190" y="3190138"/>
              <a:ext cx="6973138" cy="32008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865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86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Square Root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5247746"/>
                  </p:ext>
                </p:extLst>
              </p:nvPr>
            </p:nvGraphicFramePr>
            <p:xfrm>
              <a:off x="2696190" y="3190138"/>
              <a:ext cx="6973138" cy="32008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865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4865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Square Root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100000" r="-100175" b="-5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200000" r="-100175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300000" r="-100175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400000" r="-100175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500000" r="-100175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576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11"/>
                          <a:stretch>
                            <a:fillRect t="-600000" r="-100175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10699" marR="110699" marT="55349" marB="55349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83;g104476d1465_1_17"/>
          <p:cNvPicPr preferRelativeResize="0"/>
          <p:nvPr/>
        </p:nvPicPr>
        <p:blipFill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82315"/>
                <a:ext cx="10983359" cy="5734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 to explain how you determined the approximate location of the point selected.</a:t>
                </a: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	     is between	     and   	    but</a:t>
                </a: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closer to		 because	        is between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closer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2315"/>
                <a:ext cx="10983359" cy="5734903"/>
              </a:xfrm>
              <a:prstGeom prst="rect">
                <a:avLst/>
              </a:prstGeom>
              <a:blipFill rotWithShape="1">
                <a:blip r:embed="rId3"/>
                <a:stretch>
                  <a:fillRect l="-888" t="-851" b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3151" y="1339917"/>
            <a:ext cx="1097759" cy="17356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9923" y="1252989"/>
            <a:ext cx="1003013" cy="19095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0980" y="1252989"/>
            <a:ext cx="946762" cy="19095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3930" y="3333941"/>
            <a:ext cx="1003013" cy="19095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473" y="3333941"/>
            <a:ext cx="1190146" cy="1827522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102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023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879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0901278" cy="4651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Similar to the square roots of non-perfect squares, the cube roots of some numbers are irrational.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values of such cube roots can be approximated using the cube roots of perfect cubes.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line is shown with values indicated at specific points.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placed in the same location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0901278" cy="4651466"/>
              </a:xfrm>
              <a:prstGeom prst="rect">
                <a:avLst/>
              </a:prstGeom>
              <a:blipFill rotWithShape="1">
                <a:blip r:embed="rId3"/>
                <a:stretch>
                  <a:fillRect l="-838" t="-1048" r="-335" b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4418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2.4.4 Exploration: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Estimating Cube Roots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3072087" y="3975268"/>
            <a:ext cx="5943600" cy="1076731"/>
            <a:chOff x="0" y="-63928"/>
            <a:chExt cx="5943600" cy="10770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45"/>
                <p:cNvSpPr txBox="1"/>
                <p:nvPr/>
              </p:nvSpPr>
              <p:spPr>
                <a:xfrm>
                  <a:off x="1491175" y="-49860"/>
                  <a:ext cx="531251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8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175" y="-49860"/>
                  <a:ext cx="531251" cy="37973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23557"/>
              <a:ext cx="5943600" cy="689610"/>
            </a:xfrm>
            <a:prstGeom prst="rect">
              <a:avLst/>
            </a:prstGeom>
          </p:spPr>
        </p:pic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2518116" y="464234"/>
              <a:ext cx="109220" cy="1092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3334043" y="464234"/>
              <a:ext cx="109220" cy="1092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1716258" y="464234"/>
              <a:ext cx="109728" cy="109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50"/>
                <p:cNvSpPr txBox="1"/>
                <p:nvPr/>
              </p:nvSpPr>
              <p:spPr>
                <a:xfrm>
                  <a:off x="2222695" y="-49860"/>
                  <a:ext cx="633046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27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695" y="-49860"/>
                  <a:ext cx="633046" cy="37973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4808"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51"/>
                <p:cNvSpPr txBox="1"/>
                <p:nvPr/>
              </p:nvSpPr>
              <p:spPr>
                <a:xfrm>
                  <a:off x="3038621" y="-63928"/>
                  <a:ext cx="63246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64</m:t>
                            </m:r>
                          </m:e>
                        </m:rad>
                      </m:oMath>
                    </m:oMathPara>
                  </a14:m>
                  <a:endParaRPr lang="en-US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8621" y="-63928"/>
                  <a:ext cx="632460" cy="37973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4808"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975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11065362" cy="5336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Label the locations of the following cube roots on the number line.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e>
                    </m:rad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rad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the approximate locations of the following cube roots on the number line.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140</m:t>
                        </m:r>
                      </m:e>
                    </m:rad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answers to your partner’s. Discuss any differences and make revisions to your work as needed.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11065362" cy="5336333"/>
              </a:xfrm>
              <a:prstGeom prst="rect">
                <a:avLst/>
              </a:prstGeom>
              <a:blipFill>
                <a:blip r:embed="rId3"/>
                <a:stretch>
                  <a:fillRect t="-950" b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3265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51689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2.4.5 Guided Practice: Locating Square Roots and Cube Roots on a Number Line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396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487625"/>
                <a:ext cx="10930676" cy="3488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 which two perfect squares does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lie?</a:t>
                </a:r>
              </a:p>
              <a:p>
                <a:pPr marL="4572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 which two integers is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2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487625"/>
                <a:ext cx="10930676" cy="3488263"/>
              </a:xfrm>
              <a:prstGeom prst="rect">
                <a:avLst/>
              </a:prstGeom>
              <a:blipFill>
                <a:blip r:embed="rId5"/>
                <a:stretch>
                  <a:fillRect l="-837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82314"/>
                <a:ext cx="11065362" cy="6109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1700" lvl="1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Corey said,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about halfway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slightly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 I think a good estimate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would be about halfway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slightly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 </a:t>
                </a:r>
              </a:p>
              <a:p>
                <a:pPr marL="444500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444500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Circle two of the values shown on the number line that Corey 	could use to check his thinking.</a:t>
                </a:r>
              </a:p>
              <a:p>
                <a:pPr marL="444500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9017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/>
                <a:r>
                  <a:rPr lang="en-US" sz="2400" dirty="0">
                    <a:latin typeface="Verdana"/>
                    <a:ea typeface="Times New Roman"/>
                  </a:rPr>
                  <a:t>d. Square both values circled in Part C to determine which is a 	better approximation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/>
                            <a:ea typeface="Times New Roman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.</a:t>
                </a:r>
                <a:endParaRPr lang="en-PH" sz="1600" dirty="0">
                  <a:latin typeface="Times New Roman"/>
                  <a:ea typeface="Times New Roman"/>
                </a:endParaRPr>
              </a:p>
              <a:p>
                <a:pPr marL="9017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lvl="1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e. Plot and label the approximate location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</a:t>
                </a:r>
              </a:p>
              <a:p>
                <a:pPr marL="444500"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line above based on your work in Part 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2314"/>
                <a:ext cx="11065362" cy="6109558"/>
              </a:xfrm>
              <a:prstGeom prst="rect">
                <a:avLst/>
              </a:prstGeom>
              <a:blipFill>
                <a:blip r:embed="rId3"/>
                <a:stretch>
                  <a:fillRect t="-898" r="-386" b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4074" y="2888524"/>
            <a:ext cx="7303851" cy="548569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1369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90"/>
                <a:ext cx="10956635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Six equations are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the approximate locations of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number line.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value and explain how you determined its location on the number line.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90"/>
                <a:ext cx="10956635" cy="5632311"/>
              </a:xfrm>
              <a:prstGeom prst="rect">
                <a:avLst/>
              </a:prstGeom>
              <a:blipFill>
                <a:blip r:embed="rId4"/>
                <a:stretch>
                  <a:fillRect l="-890" t="-86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2109825"/>
                  </p:ext>
                </p:extLst>
              </p:nvPr>
            </p:nvGraphicFramePr>
            <p:xfrm>
              <a:off x="1888437" y="1127125"/>
              <a:ext cx="8640000" cy="14352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152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1=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2109825"/>
                  </p:ext>
                </p:extLst>
              </p:nvPr>
            </p:nvGraphicFramePr>
            <p:xfrm>
              <a:off x="1888437" y="1127125"/>
              <a:ext cx="8640000" cy="14352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152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5"/>
                          <a:stretch>
                            <a:fillRect l="-212" t="-855" r="-200424" b="-106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5"/>
                          <a:stretch>
                            <a:fillRect l="-100000" t="-855" r="-100000" b="-106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5"/>
                          <a:stretch>
                            <a:fillRect l="-200424" t="-855" r="-212" b="-1068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 rotWithShape="1">
                          <a:blip r:embed="rId5"/>
                          <a:stretch>
                            <a:fillRect l="-212" t="-100000" r="-200424" b="-5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 rotWithShape="1">
                          <a:blip r:embed="rId5"/>
                          <a:stretch>
                            <a:fillRect l="-100000" t="-100000" r="-100000" b="-5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 rotWithShape="1">
                          <a:blip r:embed="rId5"/>
                          <a:stretch>
                            <a:fillRect l="-200424" t="-100000" r="-212" b="-59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8481" y="4079668"/>
            <a:ext cx="6400800" cy="69659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9167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2.4.6 Wrap-Up: Growth Mindset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5906"/>
            <a:ext cx="110055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“Don’t be afraid of failure. This is the way to succeed.”</a:t>
            </a: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Lebron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James</a:t>
            </a:r>
          </a:p>
          <a:p>
            <a:r>
              <a:rPr lang="en-US" sz="2400" dirty="0"/>
              <a:t> 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found a way to succeed at… 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did not give up on learning…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1475</Words>
  <Application>Microsoft Macintosh PowerPoint</Application>
  <PresentationFormat>Widescreen</PresentationFormat>
  <Paragraphs>332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Calibri</vt:lpstr>
      <vt:lpstr>Arial Black</vt:lpstr>
      <vt:lpstr>Cambria Math</vt:lpstr>
      <vt:lpstr>Wingdings</vt:lpstr>
      <vt:lpstr>Verdana</vt:lpstr>
      <vt:lpstr>Courier New</vt:lpstr>
      <vt:lpstr>Arial</vt:lpstr>
      <vt:lpstr>Century Gothic</vt:lpstr>
      <vt:lpstr>Times New Roman</vt:lpstr>
      <vt:lpstr>1_Office Theme</vt:lpstr>
      <vt:lpstr>8th Grade Math: Pre-Algebra  Unit 2, Lesson 4  Square Roots and Cube Roots  Volume 1, pg. 55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45</cp:revision>
  <dcterms:created xsi:type="dcterms:W3CDTF">2015-03-17T18:51:18Z</dcterms:created>
  <dcterms:modified xsi:type="dcterms:W3CDTF">2023-02-02T15:17:51Z</dcterms:modified>
</cp:coreProperties>
</file>