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85" r:id="rId4"/>
    <p:sldId id="286" r:id="rId5"/>
    <p:sldId id="261" r:id="rId6"/>
    <p:sldId id="287" r:id="rId7"/>
    <p:sldId id="288" r:id="rId8"/>
    <p:sldId id="314" r:id="rId9"/>
    <p:sldId id="315" r:id="rId10"/>
    <p:sldId id="338" r:id="rId11"/>
    <p:sldId id="289" r:id="rId12"/>
    <p:sldId id="290" r:id="rId13"/>
    <p:sldId id="339" r:id="rId14"/>
    <p:sldId id="316" r:id="rId15"/>
    <p:sldId id="308" r:id="rId16"/>
    <p:sldId id="340" r:id="rId17"/>
    <p:sldId id="332" r:id="rId18"/>
    <p:sldId id="333" r:id="rId19"/>
    <p:sldId id="341" r:id="rId20"/>
    <p:sldId id="335" r:id="rId21"/>
    <p:sldId id="336" r:id="rId22"/>
    <p:sldId id="334" r:id="rId23"/>
    <p:sldId id="337" r:id="rId24"/>
    <p:sldId id="342" r:id="rId25"/>
    <p:sldId id="323" r:id="rId26"/>
    <p:sldId id="324" r:id="rId27"/>
    <p:sldId id="325" r:id="rId28"/>
    <p:sldId id="306" r:id="rId29"/>
    <p:sldId id="307" r:id="rId30"/>
  </p:sldIdLst>
  <p:sldSz cx="12192000" cy="6858000"/>
  <p:notesSz cx="6858000" cy="9144000"/>
  <p:embeddedFontLst>
    <p:embeddedFont>
      <p:font typeface="Arial Black" panose="020B0A04020102020204" pitchFamily="34" charset="0"/>
      <p:bold r:id="rId32"/>
    </p:embeddedFont>
    <p:embeddedFont>
      <p:font typeface="Calibri" panose="020F0502020204030204" pitchFamily="34" charset="0"/>
      <p:regular r:id="rId33"/>
      <p:bold r:id="rId34"/>
      <p:italic r:id="rId35"/>
      <p:boldItalic r:id="rId36"/>
    </p:embeddedFont>
    <p:embeddedFont>
      <p:font typeface="Cambria Math" panose="02040503050406030204" pitchFamily="18" charset="0"/>
      <p:regular r:id="rId37"/>
    </p:embeddedFont>
    <p:embeddedFont>
      <p:font typeface="Century Gothic" panose="020B0502020202020204" pitchFamily="34" charset="0"/>
      <p:regular r:id="rId38"/>
      <p:bold r:id="rId39"/>
      <p:italic r:id="rId40"/>
      <p:boldItalic r:id="rId41"/>
    </p:embeddedFont>
    <p:embeddedFont>
      <p:font typeface="Verdana" panose="020B0604030504040204" pitchFamily="34" charset="0"/>
      <p:regular r:id="rId42"/>
      <p:bold r:id="rId43"/>
      <p:italic r:id="rId44"/>
      <p:boldItalic r:id="rId4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9647"/>
    <a:srgbClr val="FCBD1E"/>
    <a:srgbClr val="C9DF6F"/>
    <a:srgbClr val="417DBF"/>
    <a:srgbClr val="3F2A67"/>
    <a:srgbClr val="E24E5F"/>
    <a:srgbClr val="26B7D4"/>
    <a:srgbClr val="54B5D1"/>
    <a:srgbClr val="33BEA6"/>
    <a:srgbClr val="2DA4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6353" autoAdjust="0"/>
    <p:restoredTop sz="94694"/>
  </p:normalViewPr>
  <p:slideViewPr>
    <p:cSldViewPr snapToGrid="0">
      <p:cViewPr varScale="1">
        <p:scale>
          <a:sx n="63" d="100"/>
          <a:sy n="63" d="100"/>
        </p:scale>
        <p:origin x="198" y="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8.fntdata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42" Type="http://schemas.openxmlformats.org/officeDocument/2006/relationships/font" Target="fonts/font11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font" Target="fonts/font9.fntdata"/><Relationship Id="rId45" Type="http://schemas.openxmlformats.org/officeDocument/2006/relationships/font" Target="fonts/font14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5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4" Type="http://schemas.openxmlformats.org/officeDocument/2006/relationships/font" Target="fonts/font1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4.fntdata"/><Relationship Id="rId43" Type="http://schemas.openxmlformats.org/officeDocument/2006/relationships/font" Target="fonts/font12.fntdata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font" Target="fonts/font7.fntdata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14437675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767126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571154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372486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39936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0380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99906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829809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8865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27792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5741347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1341473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807107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4818124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201230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6676862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3262652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3246544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0582463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1716024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3731078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753682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2880882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539210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3841422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4.png"/><Relationship Id="rId5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7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8.png"/><Relationship Id="rId9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21.png"/><Relationship Id="rId4" Type="http://schemas.openxmlformats.org/officeDocument/2006/relationships/image" Target="../media/image20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2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5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3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3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3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35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36.png"/></Relationships>
</file>

<file path=ppt/slides/_rels/slide23.xml.rels><?xml version="1.0" encoding="UTF-8" standalone="yes"?>
<Relationships xmlns="http://schemas.openxmlformats.org/package/2006/relationships"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42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742834" y="2054277"/>
            <a:ext cx="4925167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8</a:t>
            </a:r>
            <a:r>
              <a:rPr lang="en-US" sz="38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Math: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Pre-Algebra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2, Lesson 5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Approximating Irrational Numbers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62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-8100"/>
            <a:ext cx="4094106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6" name="Picture 5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640" y="1745080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124050" y="136525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Benchmarks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514000" y="1600200"/>
            <a:ext cx="1111415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24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MA.8.NSO.1.1</a:t>
            </a:r>
          </a:p>
          <a:p>
            <a:pPr indent="0">
              <a:buNone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Extend previous understanding of </a:t>
            </a:r>
            <a:b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rational numbers to define irrational numbers within the real number system. Locate an approximate value of a numerical expression involving irrational numbers on a number line.</a:t>
            </a:r>
          </a:p>
          <a:p>
            <a:pPr indent="0">
              <a:buNone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 marL="0" indent="0">
              <a:buSzPts val="1100"/>
              <a:buNone/>
            </a:pPr>
            <a:r>
              <a:rPr lang="en-US" sz="24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MA.8.NSO.1.2</a:t>
            </a:r>
          </a:p>
          <a:p>
            <a:pPr indent="0">
              <a:buNone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Plot, order, and compare rational and irrational numbers represented in various forms.</a:t>
            </a: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Century Gothic"/>
            </a:endParaRPr>
          </a:p>
        </p:txBody>
      </p:sp>
      <p:sp>
        <p:nvSpPr>
          <p:cNvPr id="9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62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278;g104476d1465_1_17">
            <a:extLst>
              <a:ext uri="{FF2B5EF4-FFF2-40B4-BE49-F238E27FC236}">
                <a16:creationId xmlns:a16="http://schemas.microsoft.com/office/drawing/2014/main" id="{79998D09-ED40-CB40-ADB3-2C926DC27F8F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0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62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14" name="Google Shape;281;g104476d1465_1_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0550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5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54217" y="129667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6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154216" y="1596390"/>
            <a:ext cx="9980509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3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MA.K12.MTR.3.1 Complete tasks with mathematical fluency.</a:t>
            </a:r>
          </a:p>
          <a:p>
            <a:pPr marL="457200">
              <a:buSzPts val="523"/>
            </a:pPr>
            <a:endParaRPr lang="en-US" sz="3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3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113375" y="38885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Targets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1213" y="32808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514000" y="1608425"/>
            <a:ext cx="1111415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28650" indent="-628650">
              <a:spcAft>
                <a:spcPts val="2000"/>
              </a:spcAft>
              <a:buFont typeface="Wingdings" panose="05000000000000000000" pitchFamily="2" charset="2"/>
              <a:buChar char="q"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identify whether a number is rational or irrational.</a:t>
            </a:r>
          </a:p>
          <a:p>
            <a:pPr marL="628650" indent="-628650">
              <a:spcAft>
                <a:spcPts val="2000"/>
              </a:spcAft>
              <a:buFont typeface="Wingdings" panose="05000000000000000000" pitchFamily="2" charset="2"/>
              <a:buChar char="q"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approximate the values of irrational numbers.</a:t>
            </a:r>
          </a:p>
          <a:p>
            <a:pPr marL="628650" indent="-628650">
              <a:buFont typeface="Wingdings" panose="05000000000000000000" pitchFamily="2" charset="2"/>
              <a:buChar char="q"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plot irrational numbers on a number line.</a:t>
            </a:r>
            <a:endParaRPr lang="en-US" sz="35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</p:txBody>
      </p:sp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id="{4411E69F-FF2D-4E45-A95C-56414991DB11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1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62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2" name="Google Shape;312;g104476d1465_1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63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5350" y="190323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0" name="Google Shape;278;g104476d1465_1_17">
            <a:extLst>
              <a:ext uri="{FF2B5EF4-FFF2-40B4-BE49-F238E27FC236}">
                <a16:creationId xmlns:a16="http://schemas.microsoft.com/office/drawing/2014/main" id="{733F64CC-F62E-3D45-B066-56DBFBB732F6}"/>
              </a:ext>
            </a:extLst>
          </p:cNvPr>
          <p:cNvSpPr/>
          <p:nvPr/>
        </p:nvSpPr>
        <p:spPr>
          <a:xfrm>
            <a:off x="0" y="-15387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33399923"/>
                  </p:ext>
                </p:extLst>
              </p:nvPr>
            </p:nvGraphicFramePr>
            <p:xfrm>
              <a:off x="2357909" y="2658497"/>
              <a:ext cx="7233566" cy="374904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220436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0292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Expression </a:t>
                          </a:r>
                        </a:p>
                      </a:txBody>
                      <a:tcPr marL="60178" marR="60178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Description</a:t>
                          </a:r>
                        </a:p>
                      </a:txBody>
                      <a:tcPr marL="60178" marR="60178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00584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sz="2000" i="1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sz="2000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sz="2000" b="0" i="0" smtClean="0">
                                        <a:effectLst/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  <m:t>  </m:t>
                                    </m:r>
                                    <m:r>
                                      <a:rPr lang="en-US" sz="2000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  </m:t>
                                    </m:r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sz="2000" b="0" i="1" smtClean="0">
                                              <a:effectLst/>
                                              <a:latin typeface="Cambria Math"/>
                                              <a:ea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US" sz="2000" b="0" i="1" smtClean="0">
                                              <a:effectLst/>
                                              <a:latin typeface="Cambria Math"/>
                                              <a:ea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</m:e>
                                      </m:mr>
                                    </m:m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      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0178" marR="60178" marT="0" marB="1828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This is a rational number.</a:t>
                          </a:r>
                        </a:p>
                      </a:txBody>
                      <a:tcPr marL="60178" marR="60178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00584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sz="2000" i="1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  </m:t>
                                    </m:r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sz="2000" b="0" i="1" smtClean="0">
                                              <a:effectLst/>
                                              <a:latin typeface="Cambria Math"/>
                                              <a:ea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US" sz="2000" b="0" i="1" smtClean="0">
                                              <a:effectLst/>
                                              <a:latin typeface="Cambria Math"/>
                                              <a:ea typeface="Cambria Math" panose="02040503050406030204" pitchFamily="18" charset="0"/>
                                            </a:rPr>
                                            <m:t>    </m:t>
                                          </m:r>
                                        </m:e>
                                      </m:mr>
                                    </m:m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      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0178" marR="60178" marT="0" marB="1828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This is an irrational number. </a:t>
                          </a:r>
                        </a:p>
                      </a:txBody>
                      <a:tcPr marL="60178" marR="60178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128016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          </m:t>
                                    </m:r>
                                  </m:num>
                                  <m:den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      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0178" marR="60178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This is a rational number and an integer. </a:t>
                          </a:r>
                        </a:p>
                      </a:txBody>
                      <a:tcPr marL="60178" marR="60178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33399923"/>
                  </p:ext>
                </p:extLst>
              </p:nvPr>
            </p:nvGraphicFramePr>
            <p:xfrm>
              <a:off x="2357909" y="2658497"/>
              <a:ext cx="7233566" cy="374904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2204366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50292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Expression </a:t>
                          </a:r>
                        </a:p>
                      </a:txBody>
                      <a:tcPr marL="60178" marR="60178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Description</a:t>
                          </a:r>
                        </a:p>
                      </a:txBody>
                      <a:tcPr marL="60178" marR="60178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  <a:tr h="1005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0178" marR="60178" marT="0" marB="1828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277" t="-46667" r="-228809" b="-2278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This is a rational number.</a:t>
                          </a:r>
                        </a:p>
                      </a:txBody>
                      <a:tcPr marL="60178" marR="60178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1"/>
                      </a:ext>
                    </a:extLst>
                  </a:tr>
                  <a:tr h="1005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0178" marR="60178" marT="0" marB="1828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277" t="-146667" r="-228809" b="-1278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This is an irrational number. </a:t>
                          </a:r>
                        </a:p>
                      </a:txBody>
                      <a:tcPr marL="60178" marR="60178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2"/>
                      </a:ext>
                    </a:extLst>
                  </a:tr>
                  <a:tr h="12801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0178" marR="60178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277" t="-193810" r="-228809" b="-4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This is a rational number and an integer. </a:t>
                          </a:r>
                        </a:p>
                      </a:txBody>
                      <a:tcPr marL="60178" marR="60178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3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4" name="Group 3"/>
          <p:cNvGrpSpPr/>
          <p:nvPr/>
        </p:nvGrpSpPr>
        <p:grpSpPr>
          <a:xfrm>
            <a:off x="3151737" y="5205671"/>
            <a:ext cx="555049" cy="1108559"/>
            <a:chOff x="1929604" y="5128885"/>
            <a:chExt cx="555049" cy="1108559"/>
          </a:xfrm>
        </p:grpSpPr>
        <p:sp>
          <p:nvSpPr>
            <p:cNvPr id="18" name="Rectangle 17"/>
            <p:cNvSpPr/>
            <p:nvPr/>
          </p:nvSpPr>
          <p:spPr>
            <a:xfrm>
              <a:off x="1929604" y="5128885"/>
              <a:ext cx="555049" cy="496419"/>
            </a:xfrm>
            <a:prstGeom prst="rect">
              <a:avLst/>
            </a:prstGeom>
            <a:noFill/>
            <a:ln w="381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r>
                <a:rPr lang="en-US" sz="1200">
                  <a:latin typeface="Times New Roman" panose="02020603050405020304" pitchFamily="18" charset="0"/>
                  <a:ea typeface="Times New Roman" panose="02020603050405020304" pitchFamily="18" charset="0"/>
                </a:rPr>
                <a:t> 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1929604" y="5741025"/>
              <a:ext cx="555049" cy="496419"/>
            </a:xfrm>
            <a:prstGeom prst="rect">
              <a:avLst/>
            </a:prstGeom>
            <a:noFill/>
            <a:ln w="381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r>
                <a:rPr lang="en-US" sz="1200">
                  <a:latin typeface="Times New Roman" panose="02020603050405020304" pitchFamily="18" charset="0"/>
                  <a:ea typeface="Times New Roman" panose="02020603050405020304" pitchFamily="18" charset="0"/>
                </a:rPr>
                <a:t> </a:t>
              </a:r>
            </a:p>
          </p:txBody>
        </p:sp>
      </p:grpSp>
      <p:sp>
        <p:nvSpPr>
          <p:cNvPr id="25" name="Rectangle 24"/>
          <p:cNvSpPr/>
          <p:nvPr/>
        </p:nvSpPr>
        <p:spPr>
          <a:xfrm>
            <a:off x="3245717" y="3400239"/>
            <a:ext cx="555049" cy="496419"/>
          </a:xfrm>
          <a:prstGeom prst="rect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200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45717" y="4413191"/>
            <a:ext cx="555049" cy="496419"/>
          </a:xfrm>
          <a:prstGeom prst="rect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200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</p:txBody>
      </p:sp>
      <p:sp>
        <p:nvSpPr>
          <p:cNvPr id="14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63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6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2649" y="303390"/>
            <a:ext cx="9453425" cy="535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2.5.1 Warm-Up: Rational vs. Irrational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1D7562E-134F-D14B-AF1A-DF40E11EF758}"/>
                  </a:ext>
                </a:extLst>
              </p:cNvPr>
              <p:cNvSpPr txBox="1"/>
              <p:nvPr/>
            </p:nvSpPr>
            <p:spPr>
              <a:xfrm>
                <a:off x="593248" y="1386026"/>
                <a:ext cx="11034902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Complete the table by filling in values in each box with a digit, </a:t>
                </a:r>
                <a:br>
                  <a:rPr lang="en-US" sz="2000" dirty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</a:b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through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such that the value of the expression matches the given description. Each digit can only be used once.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="" xmlns:a16="http://schemas.microsoft.com/office/drawing/2014/main" id="{E1D7562E-134F-D14B-AF1A-DF40E11EF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248" y="1386026"/>
                <a:ext cx="11034902" cy="1015663"/>
              </a:xfrm>
              <a:prstGeom prst="rect">
                <a:avLst/>
              </a:prstGeom>
              <a:blipFill rotWithShape="1">
                <a:blip r:embed="rId6"/>
                <a:stretch>
                  <a:fillRect l="-552" t="-3593" b="-9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9B2481D9-8B52-C443-ABEF-765D2549936D}"/>
              </a:ext>
            </a:extLst>
          </p:cNvPr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31872164"/>
                  </p:ext>
                </p:extLst>
              </p:nvPr>
            </p:nvGraphicFramePr>
            <p:xfrm>
              <a:off x="1487851" y="544379"/>
              <a:ext cx="8570855" cy="3490854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261189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95896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Expression </a:t>
                          </a:r>
                        </a:p>
                      </a:txBody>
                      <a:tcPr marL="71303" marR="71303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Description</a:t>
                          </a:r>
                        </a:p>
                      </a:txBody>
                      <a:tcPr marL="71303" marR="71303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516827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          </m:t>
                                    </m:r>
                                  </m:num>
                                  <m:den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      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71303" marR="71303" marT="108345" marB="108345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This is a rational number with a terminating decimal</a:t>
                          </a:r>
                          <a:r>
                            <a:rPr lang="en-US" sz="2000" baseline="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expression</a:t>
                          </a: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.</a:t>
                          </a:r>
                        </a:p>
                      </a:txBody>
                      <a:tcPr marL="71303" marR="71303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516827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          </m:t>
                                    </m:r>
                                  </m:num>
                                  <m:den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      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71303" marR="71303" marT="108345" marB="108345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This is a rational number with a repeating decimal expression.</a:t>
                          </a:r>
                        </a:p>
                      </a:txBody>
                      <a:tcPr marL="71303" marR="71303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31872164"/>
                  </p:ext>
                </p:extLst>
              </p:nvPr>
            </p:nvGraphicFramePr>
            <p:xfrm>
              <a:off x="1487851" y="544379"/>
              <a:ext cx="8570855" cy="3490854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2611893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5958962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r>
                            <a:rPr lang="en-US" sz="2000" b="1" dirty="0" smtClean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Expression </a:t>
                          </a:r>
                          <a:endParaRPr lang="en-US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71303" marR="71303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Description</a:t>
                          </a:r>
                        </a:p>
                      </a:txBody>
                      <a:tcPr marL="71303" marR="71303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  <a:tr h="151682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1303" marR="71303" marT="108345" marB="108345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t="-30120" r="-228738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This is a rational number with a terminating decimal</a:t>
                          </a:r>
                          <a:r>
                            <a:rPr lang="en-US" sz="2000" baseline="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expression</a:t>
                          </a: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.</a:t>
                          </a:r>
                        </a:p>
                      </a:txBody>
                      <a:tcPr marL="71303" marR="71303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1"/>
                      </a:ext>
                    </a:extLst>
                  </a:tr>
                  <a:tr h="151682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1303" marR="71303" marT="108345" marB="108345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t="-130120" r="-2287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This is a rational number with a repeating decimal expression.</a:t>
                          </a:r>
                        </a:p>
                      </a:txBody>
                      <a:tcPr marL="71303" marR="71303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2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14" name="Group 13"/>
          <p:cNvGrpSpPr/>
          <p:nvPr/>
        </p:nvGrpSpPr>
        <p:grpSpPr>
          <a:xfrm>
            <a:off x="2421253" y="1069794"/>
            <a:ext cx="679021" cy="1356159"/>
            <a:chOff x="1929604" y="5128885"/>
            <a:chExt cx="555049" cy="1108559"/>
          </a:xfrm>
        </p:grpSpPr>
        <p:sp>
          <p:nvSpPr>
            <p:cNvPr id="17" name="Rectangle 16"/>
            <p:cNvSpPr/>
            <p:nvPr/>
          </p:nvSpPr>
          <p:spPr>
            <a:xfrm>
              <a:off x="1929604" y="5128885"/>
              <a:ext cx="555049" cy="496419"/>
            </a:xfrm>
            <a:prstGeom prst="rect">
              <a:avLst/>
            </a:prstGeom>
            <a:noFill/>
            <a:ln w="381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r>
                <a:rPr lang="en-US" sz="1200">
                  <a:latin typeface="Times New Roman" panose="02020603050405020304" pitchFamily="18" charset="0"/>
                  <a:ea typeface="Times New Roman" panose="02020603050405020304" pitchFamily="18" charset="0"/>
                </a:rPr>
                <a:t> 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1929604" y="5741025"/>
              <a:ext cx="555049" cy="496419"/>
            </a:xfrm>
            <a:prstGeom prst="rect">
              <a:avLst/>
            </a:prstGeom>
            <a:noFill/>
            <a:ln w="381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r>
                <a:rPr lang="en-US" sz="1200">
                  <a:latin typeface="Times New Roman" panose="02020603050405020304" pitchFamily="18" charset="0"/>
                  <a:ea typeface="Times New Roman" panose="02020603050405020304" pitchFamily="18" charset="0"/>
                </a:rPr>
                <a:t> </a:t>
              </a: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2417383" y="2665090"/>
            <a:ext cx="679021" cy="1224211"/>
            <a:chOff x="1929604" y="5128885"/>
            <a:chExt cx="555049" cy="1108559"/>
          </a:xfrm>
        </p:grpSpPr>
        <p:sp>
          <p:nvSpPr>
            <p:cNvPr id="20" name="Rectangle 19"/>
            <p:cNvSpPr/>
            <p:nvPr/>
          </p:nvSpPr>
          <p:spPr>
            <a:xfrm>
              <a:off x="1929604" y="5128885"/>
              <a:ext cx="555049" cy="496419"/>
            </a:xfrm>
            <a:prstGeom prst="rect">
              <a:avLst/>
            </a:prstGeom>
            <a:noFill/>
            <a:ln w="381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r>
                <a:rPr lang="en-US" sz="1200">
                  <a:latin typeface="Times New Roman" panose="02020603050405020304" pitchFamily="18" charset="0"/>
                  <a:ea typeface="Times New Roman" panose="02020603050405020304" pitchFamily="18" charset="0"/>
                </a:rPr>
                <a:t> 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929604" y="5741025"/>
              <a:ext cx="555049" cy="496419"/>
            </a:xfrm>
            <a:prstGeom prst="rect">
              <a:avLst/>
            </a:prstGeom>
            <a:noFill/>
            <a:ln w="381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r>
                <a:rPr lang="en-US" sz="1200">
                  <a:latin typeface="Times New Roman" panose="02020603050405020304" pitchFamily="18" charset="0"/>
                  <a:ea typeface="Times New Roman" panose="02020603050405020304" pitchFamily="18" charset="0"/>
                </a:rPr>
                <a:t> </a:t>
              </a:r>
            </a:p>
          </p:txBody>
        </p:sp>
      </p:grpSp>
      <p:sp>
        <p:nvSpPr>
          <p:cNvPr id="13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63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98233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5258" y="2766145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D0821C8B-4657-A74D-94B5-D6CF373A17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3114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63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607887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E44DF7DE-9172-3E4E-B74A-7A51585FB6EA}"/>
              </a:ext>
            </a:extLst>
          </p:cNvPr>
          <p:cNvSpPr txBox="1"/>
          <p:nvPr/>
        </p:nvSpPr>
        <p:spPr>
          <a:xfrm>
            <a:off x="615104" y="1386026"/>
            <a:ext cx="105789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Robin is learning about square roots. A question and her response are shown in the table. Since this is new for Robin, there are some mistakes in her response.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36240687"/>
                  </p:ext>
                </p:extLst>
              </p:nvPr>
            </p:nvGraphicFramePr>
            <p:xfrm>
              <a:off x="2337481" y="2391384"/>
              <a:ext cx="7667322" cy="368808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233149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3582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Question</a:t>
                          </a: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Robin’s Response</a:t>
                          </a: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2004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Where would </a:t>
                          </a:r>
                          <a14:m>
                            <m:oMath xmlns:m="http://schemas.openxmlformats.org/officeDocument/2006/math">
                              <m:rad>
                                <m:radPr>
                                  <m:degHide m:val="on"/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116</m:t>
                                  </m:r>
                                </m:e>
                              </m:rad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be located on a number line?</a:t>
                          </a: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Taking the square root is the inverse </a:t>
                          </a:r>
                          <a:br>
                            <a:rPr lang="en-US" sz="2000" i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a:br>
                          <a:r>
                            <a:rPr lang="en-US" sz="2000" i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of squaring a number. Squaring a number is the same as raising it to the second power. To find the value of a square root, you divide the radicand </a:t>
                          </a:r>
                          <a:br>
                            <a:rPr lang="en-US" sz="2000" i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a:br>
                          <a:r>
                            <a:rPr lang="en-US" sz="2000" i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by </a:t>
                          </a:r>
                          <a:r>
                            <a:rPr lang="en-US" sz="2000" i="1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Verdana" panose="020B0604030504040204" pitchFamily="34" charset="0"/>
                            </a:rPr>
                            <a:t>2</a:t>
                          </a:r>
                          <a:r>
                            <a:rPr lang="en-US" sz="2000" i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. The number line shows the location of </a:t>
                          </a:r>
                          <a14:m>
                            <m:oMath xmlns:m="http://schemas.openxmlformats.org/officeDocument/2006/math">
                              <m:rad>
                                <m:radPr>
                                  <m:degHide m:val="on"/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116</m:t>
                                  </m:r>
                                </m:e>
                              </m:rad>
                            </m:oMath>
                          </a14:m>
                          <a:r>
                            <a:rPr lang="en-US" sz="2000" i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because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116÷2=58</m:t>
                              </m:r>
                            </m:oMath>
                          </a14:m>
                          <a:r>
                            <a:rPr lang="en-US" sz="2000" i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.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T="91440" marB="9144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36240687"/>
                  </p:ext>
                </p:extLst>
              </p:nvPr>
            </p:nvGraphicFramePr>
            <p:xfrm>
              <a:off x="2337481" y="2391384"/>
              <a:ext cx="7667322" cy="368808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2331495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5335827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</a:tblGrid>
                  <a:tr h="48768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Question</a:t>
                          </a: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Robin’s Response</a:t>
                          </a: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  <a:tr h="32004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t="-15238" r="-228721" b="-1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43771" t="-15238" r="-114" b="-1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1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11" name="Group 10"/>
          <p:cNvGrpSpPr/>
          <p:nvPr/>
        </p:nvGrpSpPr>
        <p:grpSpPr>
          <a:xfrm>
            <a:off x="5356591" y="5241036"/>
            <a:ext cx="3920549" cy="709478"/>
            <a:chOff x="0" y="0"/>
            <a:chExt cx="4206240" cy="7802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 Box 14"/>
                <p:cNvSpPr txBox="1"/>
                <p:nvPr/>
              </p:nvSpPr>
              <p:spPr>
                <a:xfrm>
                  <a:off x="1983545" y="0"/>
                  <a:ext cx="813113" cy="379602"/>
                </a:xfrm>
                <a:prstGeom prst="rect">
                  <a:avLst/>
                </a:prstGeom>
                <a:solidFill>
                  <a:schemeClr val="lt1"/>
                </a:solidFill>
                <a:ln w="6350">
                  <a:noFill/>
                </a:ln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ad>
                          <m:radPr>
                            <m:degHide m:val="on"/>
                            <m:ctrlPr>
                              <a:rPr lang="en-US" sz="18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18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116</m:t>
                            </m:r>
                          </m:e>
                        </m:rad>
                      </m:oMath>
                    </m:oMathPara>
                  </a14:m>
                  <a:endParaRPr lang="en-US" sz="1200" dirty="0"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3" name="Text 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3545" y="0"/>
                  <a:ext cx="813113" cy="379602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 b="-10526"/>
                  </a:stretch>
                </a:blipFill>
                <a:ln w="635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4" name="Picture 13"/>
            <p:cNvPicPr>
              <a:picLocks noChangeAspect="1"/>
            </p:cNvPicPr>
            <p:nvPr/>
          </p:nvPicPr>
          <p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0" y="337625"/>
              <a:ext cx="4206240" cy="442595"/>
            </a:xfrm>
            <a:prstGeom prst="rect">
              <a:avLst/>
            </a:prstGeom>
          </p:spPr>
        </p:pic>
        <p:sp>
          <p:nvSpPr>
            <p:cNvPr id="16" name="Oval 15"/>
            <p:cNvSpPr>
              <a:spLocks noChangeAspect="1"/>
            </p:cNvSpPr>
            <p:nvPr/>
          </p:nvSpPr>
          <p:spPr>
            <a:xfrm>
              <a:off x="2335237" y="407963"/>
              <a:ext cx="109220" cy="108585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</p:grpSp>
      <p:sp>
        <p:nvSpPr>
          <p:cNvPr id="15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63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" name="Google Shape;283;g104476d1465_1_17"/>
          <p:cNvPicPr preferRelativeResize="0"/>
          <p:nvPr/>
        </p:nvPicPr>
        <p:blipFill>
          <a:blip r:embed="rId8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9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2649" y="378363"/>
            <a:ext cx="9510717" cy="535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2.5.2 Collaboration: Error Analysis</a:t>
            </a:r>
          </a:p>
        </p:txBody>
      </p:sp>
      <p:pic>
        <p:nvPicPr>
          <p:cNvPr id="20" name="Picture 2">
            <a:extLst>
              <a:ext uri="{FF2B5EF4-FFF2-40B4-BE49-F238E27FC236}">
                <a16:creationId xmlns:a16="http://schemas.microsoft.com/office/drawing/2014/main" id="{A80EBD0F-404F-0B4B-AC09-DA5A6DF60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2842" y="271205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Google Shape;278;g104476d1465_1_17">
            <a:extLst>
              <a:ext uri="{FF2B5EF4-FFF2-40B4-BE49-F238E27FC236}">
                <a16:creationId xmlns:a16="http://schemas.microsoft.com/office/drawing/2014/main" id="{6A18DD6C-446D-A641-972C-BC7EF386945F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744370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40565" y="520394"/>
                <a:ext cx="11065362" cy="41513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Discuss Robin’s response with your partner. Then, cross out any incorrect statements in her response.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Work with your partner to write a correct explanation of how to locate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116</m:t>
                        </m:r>
                      </m:e>
                    </m:rad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on a number line.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Use the number line to plot and label a point to better approximate the location of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116</m:t>
                        </m:r>
                      </m:e>
                    </m:rad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Be sure to write an appropriate scale using the tick marks.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520394"/>
                <a:ext cx="11065362" cy="4151393"/>
              </a:xfrm>
              <a:prstGeom prst="rect">
                <a:avLst/>
              </a:prstGeom>
              <a:blipFill>
                <a:blip r:embed="rId4"/>
                <a:stretch>
                  <a:fillRect l="-606" t="-881" r="-110" b="-16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9B2481D9-8B52-C443-ABEF-765D2549936D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6" name="Picture 5"/>
          <p:cNvPicPr/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" b="61038"/>
          <a:stretch/>
        </p:blipFill>
        <p:spPr bwMode="auto">
          <a:xfrm>
            <a:off x="2277211" y="4963415"/>
            <a:ext cx="7592070" cy="75606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9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63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814191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5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338;g103996e1364_0_315">
            <a:extLst>
              <a:ext uri="{FF2B5EF4-FFF2-40B4-BE49-F238E27FC236}">
                <a16:creationId xmlns:a16="http://schemas.microsoft.com/office/drawing/2014/main" id="{2AC58C8F-2DD8-F347-9ECA-58EE9E1B7E9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19075" y="284992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64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026124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052649" y="-85979"/>
            <a:ext cx="9197479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2.5.3 Guided Instruction: Rational and Irrational Numbers</a:t>
            </a:r>
          </a:p>
        </p:txBody>
      </p:sp>
      <p:pic>
        <p:nvPicPr>
          <p:cNvPr id="9" name="Google Shape;345;g103996e1364_0_321">
            <a:extLst>
              <a:ext uri="{FF2B5EF4-FFF2-40B4-BE49-F238E27FC236}">
                <a16:creationId xmlns:a16="http://schemas.microsoft.com/office/drawing/2014/main" id="{CBDD45DF-949B-9F42-BFF6-A7167F0CF79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5350" y="12128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01B13E8-EC8D-E443-A329-C5E3593DD13A}"/>
                  </a:ext>
                </a:extLst>
              </p:cNvPr>
              <p:cNvSpPr txBox="1"/>
              <p:nvPr/>
            </p:nvSpPr>
            <p:spPr>
              <a:xfrm>
                <a:off x="540566" y="1247299"/>
                <a:ext cx="10946762" cy="50439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0800"/>
                  </a:spcAft>
                </a:pPr>
                <a:r>
                  <a:rPr lang="en-US" sz="2000" dirty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The real number system includes both </a:t>
                </a:r>
                <a:r>
                  <a:rPr lang="en-US" sz="2000" b="1" i="1" dirty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rational</a:t>
                </a:r>
                <a:r>
                  <a:rPr lang="en-US" sz="2000" dirty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 and </a:t>
                </a:r>
                <a:r>
                  <a:rPr lang="en-US" sz="2000" b="1" i="1" dirty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irrational</a:t>
                </a:r>
                <a:r>
                  <a:rPr lang="en-US" sz="2000" i="1" dirty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 </a:t>
                </a:r>
                <a:r>
                  <a:rPr lang="en-US" sz="2000" b="1" i="1" dirty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numbers</a:t>
                </a:r>
                <a:r>
                  <a:rPr lang="en-US" sz="2000" dirty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.</a:t>
                </a:r>
              </a:p>
              <a:p>
                <a:pPr>
                  <a:spcAft>
                    <a:spcPts val="10200"/>
                  </a:spcAft>
                </a:pPr>
                <a:r>
                  <a:rPr lang="en-US" sz="2000" dirty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Rational numbers can be written as a fraction,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where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are integers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or as a decimal. In decimal form, rational numbers either terminate or repeat. 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When expressed as decimals, irrational numbers do not terminate or repeat. Therefore, any decimal expansion is </a:t>
                </a: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only an approximate value.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01B13E8-EC8D-E443-A329-C5E3593DD1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6" y="1247299"/>
                <a:ext cx="10946762" cy="5043945"/>
              </a:xfrm>
              <a:prstGeom prst="rect">
                <a:avLst/>
              </a:prstGeom>
              <a:blipFill>
                <a:blip r:embed="rId5"/>
                <a:stretch>
                  <a:fillRect l="-613" t="-726" b="-13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Google Shape;278;g104476d1465_1_17">
            <a:extLst>
              <a:ext uri="{FF2B5EF4-FFF2-40B4-BE49-F238E27FC236}">
                <a16:creationId xmlns:a16="http://schemas.microsoft.com/office/drawing/2014/main" id="{2260A17C-F127-D647-A05B-7BB351158843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pSp>
        <p:nvGrpSpPr>
          <p:cNvPr id="2" name="Group 1"/>
          <p:cNvGrpSpPr/>
          <p:nvPr/>
        </p:nvGrpSpPr>
        <p:grpSpPr>
          <a:xfrm>
            <a:off x="544324" y="1763110"/>
            <a:ext cx="8261380" cy="987504"/>
            <a:chOff x="1321688" y="1992325"/>
            <a:chExt cx="8261380" cy="987504"/>
          </a:xfrm>
        </p:grpSpPr>
        <p:sp>
          <p:nvSpPr>
            <p:cNvPr id="15" name="Rounded Rectangle 14"/>
            <p:cNvSpPr/>
            <p:nvPr/>
          </p:nvSpPr>
          <p:spPr>
            <a:xfrm>
              <a:off x="1321688" y="1992325"/>
              <a:ext cx="8261380" cy="987504"/>
            </a:xfrm>
            <a:prstGeom prst="roundRect">
              <a:avLst>
                <a:gd name="adj" fmla="val 16667"/>
              </a:avLst>
            </a:prstGeom>
            <a:solidFill>
              <a:srgbClr val="E2EED5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spcFirstLastPara="1" wrap="square" lIns="91425" tIns="91440" rIns="91425" bIns="91440" anchor="ctr" anchorCtr="0">
              <a:spAutoFit/>
            </a:bodyPr>
            <a:lstStyle/>
            <a:p>
              <a:pPr marL="742950">
                <a:lnSpc>
                  <a:spcPct val="115000"/>
                </a:lnSpc>
              </a:pPr>
              <a:r>
                <a:rPr lang="en-US" sz="2000" spc="-60" dirty="0">
                  <a:solidFill>
                    <a:srgbClr val="6C993D"/>
                  </a:solidFill>
                  <a:latin typeface="Verdana" panose="020B0604030504040204" pitchFamily="34" charset="0"/>
                  <a:ea typeface="Calibri" panose="020F0502020204030204" pitchFamily="34" charset="0"/>
                </a:rPr>
                <a:t>A </a:t>
              </a:r>
              <a:r>
                <a:rPr lang="en-US" sz="2000" b="1" i="1" spc="-60" dirty="0">
                  <a:solidFill>
                    <a:srgbClr val="6C993D"/>
                  </a:solidFill>
                  <a:latin typeface="Verdana" panose="020B0604030504040204" pitchFamily="34" charset="0"/>
                  <a:ea typeface="Calibri" panose="020F0502020204030204" pitchFamily="34" charset="0"/>
                </a:rPr>
                <a:t>rational number</a:t>
              </a:r>
              <a:r>
                <a:rPr lang="en-US" sz="2000" spc="-60" dirty="0">
                  <a:solidFill>
                    <a:srgbClr val="6C993D"/>
                  </a:solidFill>
                  <a:latin typeface="Verdana" panose="020B0604030504040204" pitchFamily="34" charset="0"/>
                  <a:ea typeface="Calibri" panose="020F0502020204030204" pitchFamily="34" charset="0"/>
                </a:rPr>
                <a:t> is a real number that can be expressed as a ratio of two integers.</a:t>
              </a:r>
              <a:endParaRPr lang="en-US" sz="2000" spc="-60" dirty="0"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pic>
          <p:nvPicPr>
            <p:cNvPr id="16" name="Shape 7" descr="Icon&#10;&#10;Description automatically generated"/>
            <p:cNvPicPr preferRelativeResize="0"/>
            <p:nvPr/>
          </p:nvPicPr>
          <p:blipFill rotWithShape="1">
            <a:blip r:embed="rId6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03049" y="2210015"/>
              <a:ext cx="539716" cy="529542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17" name="Group 16"/>
          <p:cNvGrpSpPr/>
          <p:nvPr/>
        </p:nvGrpSpPr>
        <p:grpSpPr>
          <a:xfrm>
            <a:off x="540566" y="4040404"/>
            <a:ext cx="8265138" cy="1019235"/>
            <a:chOff x="2027542" y="3373600"/>
            <a:chExt cx="8265138" cy="1020032"/>
          </a:xfrm>
        </p:grpSpPr>
        <p:grpSp>
          <p:nvGrpSpPr>
            <p:cNvPr id="18" name="Group 17"/>
            <p:cNvGrpSpPr/>
            <p:nvPr/>
          </p:nvGrpSpPr>
          <p:grpSpPr>
            <a:xfrm>
              <a:off x="2027542" y="3373600"/>
              <a:ext cx="8265138" cy="1020032"/>
              <a:chOff x="-3758" y="0"/>
              <a:chExt cx="8265138" cy="1020032"/>
            </a:xfrm>
          </p:grpSpPr>
          <p:sp>
            <p:nvSpPr>
              <p:cNvPr id="19" name="Rectangle 18"/>
              <p:cNvSpPr/>
              <p:nvPr/>
            </p:nvSpPr>
            <p:spPr>
              <a:xfrm>
                <a:off x="0" y="0"/>
                <a:ext cx="66294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r>
                  <a:rPr lang="en-US" sz="120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 </a:t>
                </a:r>
              </a:p>
            </p:txBody>
          </p:sp>
          <p:sp>
            <p:nvSpPr>
              <p:cNvPr id="20" name="Rounded Rectangle 19"/>
              <p:cNvSpPr/>
              <p:nvPr/>
            </p:nvSpPr>
            <p:spPr>
              <a:xfrm>
                <a:off x="-3758" y="133991"/>
                <a:ext cx="8265138" cy="886041"/>
              </a:xfrm>
              <a:prstGeom prst="roundRect">
                <a:avLst>
                  <a:gd name="adj" fmla="val 16667"/>
                </a:avLst>
              </a:prstGeom>
              <a:solidFill>
                <a:srgbClr val="E2EED5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spcFirstLastPara="1" wrap="square" lIns="91425" tIns="91440" rIns="91425" bIns="91440" anchor="ctr" anchorCtr="0">
                <a:spAutoFit/>
              </a:bodyPr>
              <a:lstStyle/>
              <a:p>
                <a:pPr marL="742950"/>
                <a:r>
                  <a:rPr lang="en-US" sz="2000" dirty="0">
                    <a:solidFill>
                      <a:srgbClr val="6C993D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An </a:t>
                </a:r>
                <a:r>
                  <a:rPr lang="en-US" sz="2000" b="1" i="1" dirty="0">
                    <a:solidFill>
                      <a:srgbClr val="6C993D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irrational number</a:t>
                </a:r>
                <a:r>
                  <a:rPr lang="en-US" sz="2000" dirty="0">
                    <a:solidFill>
                      <a:srgbClr val="6C993D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a real number that cannot be expressed as a ratio of two integers.</a:t>
                </a:r>
                <a:r>
                  <a:rPr lang="en-US" sz="200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 </a:t>
                </a:r>
              </a:p>
            </p:txBody>
          </p:sp>
          <p:pic>
            <p:nvPicPr>
              <p:cNvPr id="21" name="Shape 7" descr="Icon&#10;&#10;Description automatically generated"/>
              <p:cNvPicPr preferRelativeResize="0"/>
              <p:nvPr/>
            </p:nvPicPr>
            <p:blipFill rotWithShape="1">
              <a:blip r:embed="rId7" cstate="screen">
                <a:alphaModFix/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177569" y="297422"/>
                <a:ext cx="539750" cy="53975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</p:grpSp>
      </p:grpSp>
      <p:sp>
        <p:nvSpPr>
          <p:cNvPr id="22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64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" name="Google Shape;283;g104476d1465_1_17"/>
          <p:cNvPicPr preferRelativeResize="0"/>
          <p:nvPr/>
        </p:nvPicPr>
        <p:blipFill>
          <a:blip r:embed="rId8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024578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40565" y="520393"/>
                <a:ext cx="11065362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The relationship between the circumference and diameter of any circle is represented by pi (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).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lvl="1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Discuss with your partner what you remember about the value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520393"/>
                <a:ext cx="11065362" cy="1938992"/>
              </a:xfrm>
              <a:prstGeom prst="rect">
                <a:avLst/>
              </a:prstGeom>
              <a:blipFill>
                <a:blip r:embed="rId4"/>
                <a:stretch>
                  <a:fillRect l="-882" t="-2516" b="-59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9B2481D9-8B52-C443-ABEF-765D2549936D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64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909097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AA35BC6-D428-FC41-BDE5-6438AB8840FC}"/>
                  </a:ext>
                </a:extLst>
              </p:cNvPr>
              <p:cNvSpPr txBox="1"/>
              <p:nvPr/>
            </p:nvSpPr>
            <p:spPr>
              <a:xfrm>
                <a:off x="540565" y="410665"/>
                <a:ext cx="8327136" cy="49728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lvl="1" indent="-457200">
                  <a:buFont typeface="+mj-lt"/>
                  <a:buAutoNum type="alphaLcPeriod" startAt="2"/>
                </a:pPr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Complete the statements.</a:t>
                </a:r>
              </a:p>
              <a:p>
                <a:pPr marL="914400" indent="-457200"/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/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ratio of the circumference of a circle to its </a:t>
                </a:r>
              </a:p>
              <a:p>
                <a:pPr marL="914400"/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/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diameter is expressed as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The values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3.14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22</m:t>
                        </m:r>
                      </m:num>
                      <m:den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</a:p>
              <a:p>
                <a:pPr marL="914400"/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/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are						     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Verdana" panose="020B0604030504040204" pitchFamily="34" charset="0"/>
                      </a:rPr>
                      <m:t>𝜋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The</a:t>
                </a:r>
              </a:p>
              <a:p>
                <a:pPr marL="914400"/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/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/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exact value of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Verdana" panose="020B0604030504040204" pitchFamily="34" charset="0"/>
                      </a:rPr>
                      <m:t>𝜋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		    be expressed as a </a:t>
                </a:r>
              </a:p>
              <a:p>
                <a:pPr marL="914400"/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/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fraction </a:t>
                </a:r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  <a:cs typeface="Verdana" panose="020B0604030504040204" pitchFamily="34" charset="0"/>
                  </a:rPr>
                  <a:t> </a:t>
                </a:r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of two integers or a decimal. Therefore,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Verdana" panose="020B0604030504040204" pitchFamily="34" charset="0"/>
                      </a:rPr>
                      <m:t>𝜋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</a:p>
              <a:p>
                <a:pPr marL="914400"/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/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is			number.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AA35BC6-D428-FC41-BDE5-6438AB884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410665"/>
                <a:ext cx="8327136" cy="4972836"/>
              </a:xfrm>
              <a:prstGeom prst="rect">
                <a:avLst/>
              </a:prstGeom>
              <a:blipFill>
                <a:blip r:embed="rId4"/>
                <a:stretch>
                  <a:fillRect t="-858" b="-15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C2F4C951-E46B-E944-87E2-3B81D09643B6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41254" y="2310679"/>
            <a:ext cx="5291518" cy="98799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22189" y="3377290"/>
            <a:ext cx="1563888" cy="91693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17426" y="4748602"/>
            <a:ext cx="2235899" cy="900167"/>
          </a:xfrm>
          <a:prstGeom prst="rect">
            <a:avLst/>
          </a:prstGeom>
        </p:spPr>
      </p:pic>
      <p:sp>
        <p:nvSpPr>
          <p:cNvPr id="10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64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8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518468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AE5E1E0-A54D-BE42-84B5-F917038ADE99}"/>
              </a:ext>
            </a:extLst>
          </p:cNvPr>
          <p:cNvSpPr txBox="1"/>
          <p:nvPr/>
        </p:nvSpPr>
        <p:spPr>
          <a:xfrm>
            <a:off x="465232" y="288746"/>
            <a:ext cx="10961136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Enter each of the following values into a calculator.</a:t>
            </a:r>
          </a:p>
          <a:p>
            <a:pPr marL="457200" indent="-457200">
              <a:buFont typeface="+mj-lt"/>
              <a:buAutoNum type="arabi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1"/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1" indent="-457200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Circle the values that can be expressed as a ratio of two integers.</a:t>
            </a:r>
          </a:p>
          <a:p>
            <a:pPr marL="457200" lvl="1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lvl="1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lvl="1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1" indent="-457200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Discuss with your partner how you would describe the values that are not circled.</a:t>
            </a:r>
          </a:p>
          <a:p>
            <a:pPr marL="457200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A7817ACE-0EAD-F54B-BF54-D1C44606A01D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17747076"/>
                  </p:ext>
                </p:extLst>
              </p:nvPr>
            </p:nvGraphicFramePr>
            <p:xfrm>
              <a:off x="501935" y="1324261"/>
              <a:ext cx="6943090" cy="429006"/>
            </p:xfrm>
            <a:graphic>
              <a:graphicData uri="http://schemas.openxmlformats.org/drawingml/2006/table">
                <a:tbl>
                  <a:tblPr firstRow="1" firstCol="1" bandRow="1">
                    <a:tableStyleId>{2D5ABB26-0587-4C30-8999-92F81FD0307C}</a:tableStyleId>
                  </a:tblPr>
                  <a:tblGrid>
                    <a:gridCol w="173545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73545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73609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73609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sz="24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25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sz="24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sz="24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18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sz="24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ctrlP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>
                                    <m:r>
                                      <a:rPr lang="en-US" sz="24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</m:deg>
                                  <m:e>
                                    <m:r>
                                      <a:rPr lang="en-US" sz="24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27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sz="24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ctrlP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>
                                    <m:r>
                                      <a:rPr lang="en-US" sz="24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</m:deg>
                                  <m:e>
                                    <m:r>
                                      <a:rPr lang="en-US" sz="24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30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sz="24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17747076"/>
                  </p:ext>
                </p:extLst>
              </p:nvPr>
            </p:nvGraphicFramePr>
            <p:xfrm>
              <a:off x="501935" y="1324261"/>
              <a:ext cx="6943090" cy="429006"/>
            </p:xfrm>
            <a:graphic>
              <a:graphicData uri="http://schemas.openxmlformats.org/drawingml/2006/table">
                <a:tbl>
                  <a:tblPr firstRow="1" firstCol="1" bandRow="1">
                    <a:tableStyleId>{2D5ABB26-0587-4C30-8999-92F81FD0307C}</a:tableStyleId>
                  </a:tblPr>
                  <a:tblGrid>
                    <a:gridCol w="173545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73545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73609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73609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42900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4"/>
                          <a:stretch>
                            <a:fillRect r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4"/>
                          <a:stretch>
                            <a:fillRect l="-100000" r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4"/>
                          <a:stretch>
                            <a:fillRect l="-200000" r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4"/>
                          <a:stretch>
                            <a:fillRect l="-3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65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938133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AE5E1E0-A54D-BE42-84B5-F917038ADE99}"/>
              </a:ext>
            </a:extLst>
          </p:cNvPr>
          <p:cNvSpPr txBox="1"/>
          <p:nvPr/>
        </p:nvSpPr>
        <p:spPr>
          <a:xfrm>
            <a:off x="465232" y="411349"/>
            <a:ext cx="8327136" cy="5201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buFont typeface="+mj-lt"/>
              <a:buAutoNum type="alphaLcPeriod" startAt="3"/>
            </a:pP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the statements.</a:t>
            </a:r>
          </a:p>
          <a:p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/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Square roots of perfect squares and cube </a:t>
            </a:r>
          </a:p>
          <a:p>
            <a:pPr marL="914400"/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/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roots of perfect cubes		  be expressed</a:t>
            </a:r>
          </a:p>
          <a:p>
            <a:pPr marL="914400"/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/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 a ratio of two integers. Therefore, they are</a:t>
            </a:r>
          </a:p>
          <a:p>
            <a:pPr marL="914400"/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/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		  Square roots of non-perfect squares</a:t>
            </a:r>
          </a:p>
          <a:p>
            <a:pPr marL="914400"/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/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and cube roots of non-perfect cubes</a:t>
            </a:r>
          </a:p>
          <a:p>
            <a:pPr marL="914400"/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/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be expressed as a ratio of two integers. Therefore, </a:t>
            </a:r>
          </a:p>
          <a:p>
            <a:pPr marL="914400"/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/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they are 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</p:txBody>
      </p:sp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A7817ACE-0EAD-F54B-BF54-D1C44606A01D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28800" y="1563106"/>
            <a:ext cx="1517904" cy="86658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3552" y="2908366"/>
            <a:ext cx="1947291" cy="91236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19806" y="3547430"/>
            <a:ext cx="1517904" cy="86658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9526" y="4926707"/>
            <a:ext cx="1947291" cy="912367"/>
          </a:xfrm>
          <a:prstGeom prst="rect">
            <a:avLst/>
          </a:prstGeom>
        </p:spPr>
      </p:pic>
      <p:sp>
        <p:nvSpPr>
          <p:cNvPr id="11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65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55814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5258" y="2766145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D0821C8B-4657-A74D-94B5-D6CF373A17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3114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65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86655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E44DF7DE-9172-3E4E-B74A-7A51585FB6EA}"/>
              </a:ext>
            </a:extLst>
          </p:cNvPr>
          <p:cNvSpPr txBox="1"/>
          <p:nvPr/>
        </p:nvSpPr>
        <p:spPr>
          <a:xfrm>
            <a:off x="576738" y="1291434"/>
            <a:ext cx="1094718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Work with your partner to complete the following.</a:t>
            </a: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Several numbers are given:</a:t>
            </a: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Write each expression in the appropriate column of the table based on the definitions of rational and irrational numbers.</a:t>
            </a:r>
          </a:p>
        </p:txBody>
      </p:sp>
      <p:sp>
        <p:nvSpPr>
          <p:cNvPr id="12" name="Google Shape;278;g104476d1465_1_17">
            <a:extLst>
              <a:ext uri="{FF2B5EF4-FFF2-40B4-BE49-F238E27FC236}">
                <a16:creationId xmlns:a16="http://schemas.microsoft.com/office/drawing/2014/main" id="{6A18DD6C-446D-A641-972C-BC7EF386945F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576739" y="2434124"/>
                <a:ext cx="8523054" cy="52822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	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 	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5.124784…</m:t>
                    </m:r>
                  </m:oMath>
                </a14:m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	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4.</m:t>
                    </m:r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35</m:t>
                        </m:r>
                      </m:e>
                    </m:acc>
                  </m:oMath>
                </a14:m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	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3.275</m:t>
                    </m:r>
                  </m:oMath>
                </a14:m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	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40</m:t>
                        </m:r>
                      </m:e>
                    </m:rad>
                  </m:oMath>
                </a14:m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	   </a:t>
                </a:r>
                <a14:m>
                  <m:oMath xmlns:m="http://schemas.openxmlformats.org/officeDocument/2006/math">
                    <m:rad>
                      <m:rad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deg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−27</m:t>
                        </m:r>
                      </m:e>
                    </m:rad>
                  </m:oMath>
                </a14:m>
                <a:endParaRPr lang="en-US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739" y="2434124"/>
                <a:ext cx="8523054" cy="528222"/>
              </a:xfrm>
              <a:prstGeom prst="rect">
                <a:avLst/>
              </a:prstGeom>
              <a:blipFill>
                <a:blip r:embed="rId5"/>
                <a:stretch>
                  <a:fillRect b="-22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6245384"/>
              </p:ext>
            </p:extLst>
          </p:nvPr>
        </p:nvGraphicFramePr>
        <p:xfrm>
          <a:off x="1170416" y="4051408"/>
          <a:ext cx="8768920" cy="228600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43844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44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Rational</a:t>
                      </a:r>
                    </a:p>
                  </a:txBody>
                  <a:tcPr marL="53641" marR="53641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Irrational</a:t>
                      </a:r>
                    </a:p>
                  </a:txBody>
                  <a:tcPr marL="53641" marR="53641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lang="en-US" sz="20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 </a:t>
                      </a:r>
                    </a:p>
                  </a:txBody>
                  <a:tcPr marL="53641" marR="53641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lang="en-US" sz="20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 </a:t>
                      </a:r>
                    </a:p>
                  </a:txBody>
                  <a:tcPr marL="53641" marR="53641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65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5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2649" y="378363"/>
            <a:ext cx="10471274" cy="535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2.5.4 Collaboration: Rational or Irrational?</a:t>
            </a:r>
          </a:p>
        </p:txBody>
      </p:sp>
      <p:pic>
        <p:nvPicPr>
          <p:cNvPr id="16" name="Picture 2">
            <a:extLst>
              <a:ext uri="{FF2B5EF4-FFF2-40B4-BE49-F238E27FC236}">
                <a16:creationId xmlns:a16="http://schemas.microsoft.com/office/drawing/2014/main" id="{A80EBD0F-404F-0B4B-AC09-DA5A6DF60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2842" y="271205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65008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/>
              <p:nvPr/>
            </p:nvSpPr>
            <p:spPr>
              <a:xfrm>
                <a:off x="465232" y="380186"/>
                <a:ext cx="11058692" cy="35470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Explain how you determined whether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/>
                          </a:rPr>
                          <m:t>𝜋</m:t>
                        </m:r>
                      </m:num>
                      <m:den>
                        <m:r>
                          <a:rPr lang="en-US" sz="2400" i="1">
                            <a:latin typeface="Cambria Math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rational or irrational.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Explain how you determined whether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4.</m:t>
                    </m:r>
                    <m:acc>
                      <m:accPr>
                        <m:chr m:val="̅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/>
                          </a:rPr>
                          <m:t>35</m:t>
                        </m:r>
                      </m:e>
                    </m:acc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rational or irrational.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232" y="380186"/>
                <a:ext cx="11058692" cy="3547061"/>
              </a:xfrm>
              <a:prstGeom prst="rect">
                <a:avLst/>
              </a:prstGeom>
              <a:blipFill>
                <a:blip r:embed="rId4"/>
                <a:stretch>
                  <a:fillRect l="-827" t="-687" b="-27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A7817ACE-0EAD-F54B-BF54-D1C44606A01D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66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478535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338;g103996e1364_0_315">
            <a:extLst>
              <a:ext uri="{FF2B5EF4-FFF2-40B4-BE49-F238E27FC236}">
                <a16:creationId xmlns:a16="http://schemas.microsoft.com/office/drawing/2014/main" id="{2AC58C8F-2DD8-F347-9ECA-58EE9E1B7E9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19075" y="284992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66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88844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052650" y="-85979"/>
            <a:ext cx="108340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28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2.5.5 Guided Instruction: </a:t>
            </a:r>
            <a:r>
              <a:rPr lang="en-US" sz="2800" b="1" dirty="0">
                <a:solidFill>
                  <a:srgbClr val="26B6D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Approximating Irrational Numbers and Locating Them on a Number Line</a:t>
            </a:r>
            <a:endParaRPr lang="en-US" sz="28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" name="Google Shape;345;g103996e1364_0_321">
            <a:extLst>
              <a:ext uri="{FF2B5EF4-FFF2-40B4-BE49-F238E27FC236}">
                <a16:creationId xmlns:a16="http://schemas.microsoft.com/office/drawing/2014/main" id="{CBDD45DF-949B-9F42-BFF6-A7167F0CF79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5350" y="203221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01B13E8-EC8D-E443-A329-C5E3593DD13A}"/>
                  </a:ext>
                </a:extLst>
              </p:cNvPr>
              <p:cNvSpPr txBox="1"/>
              <p:nvPr/>
            </p:nvSpPr>
            <p:spPr>
              <a:xfrm>
                <a:off x="593248" y="1386025"/>
                <a:ext cx="11034902" cy="38901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values of irrational numbers and expressions involving irrational numbers can be approximated.</a:t>
                </a:r>
              </a:p>
              <a:p>
                <a:pPr lvl="0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Consider the expression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13</m:t>
                        </m:r>
                      </m:e>
                    </m:rad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lvl="1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Between which two whole numbers does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13</m:t>
                        </m:r>
                      </m:e>
                    </m:rad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lie on a number line?</a:t>
                </a:r>
              </a:p>
              <a:p>
                <a:pPr marL="914400" lvl="1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1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1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Which whole number is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13</m:t>
                        </m:r>
                      </m:e>
                    </m:rad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closer to?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01B13E8-EC8D-E443-A329-C5E3593DD1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248" y="1386025"/>
                <a:ext cx="11034902" cy="3890104"/>
              </a:xfrm>
              <a:prstGeom prst="rect">
                <a:avLst/>
              </a:prstGeom>
              <a:blipFill>
                <a:blip r:embed="rId5"/>
                <a:stretch>
                  <a:fillRect l="-828" t="-1252" b="-23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Google Shape;278;g104476d1465_1_17">
            <a:extLst>
              <a:ext uri="{FF2B5EF4-FFF2-40B4-BE49-F238E27FC236}">
                <a16:creationId xmlns:a16="http://schemas.microsoft.com/office/drawing/2014/main" id="{2260A17C-F127-D647-A05B-7BB351158843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1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66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922634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AA35BC6-D428-FC41-BDE5-6438AB8840FC}"/>
                  </a:ext>
                </a:extLst>
              </p:cNvPr>
              <p:cNvSpPr txBox="1"/>
              <p:nvPr/>
            </p:nvSpPr>
            <p:spPr>
              <a:xfrm>
                <a:off x="540565" y="410665"/>
                <a:ext cx="11065362" cy="38725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lvl="1" indent="-457200">
                  <a:buFont typeface="+mj-lt"/>
                  <a:buAutoNum type="alphaLcPeriod" startAt="3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Faith thinks the value of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000" i="1">
                            <a:latin typeface="Cambria Math"/>
                          </a:rPr>
                          <m:t>13</m:t>
                        </m:r>
                      </m:e>
                    </m:rad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will be close to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3.6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or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3.7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Discuss with your partner why Faith may have made these estimates. </a:t>
                </a:r>
              </a:p>
              <a:p>
                <a:pPr marL="457200" lvl="1" indent="-457200">
                  <a:buFont typeface="+mj-lt"/>
                  <a:buAutoNum type="alphaL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lvl="1" indent="-457200">
                  <a:buFont typeface="+mj-lt"/>
                  <a:buAutoNum type="alphaL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1" indent="-457200">
                  <a:buFont typeface="+mj-lt"/>
                  <a:buAutoNum type="alphaLcPeriod" startAt="3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Check Faith’s estimates to determine if either estimate is close to the value of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000" i="1">
                            <a:latin typeface="Cambria Math"/>
                          </a:rPr>
                          <m:t>13</m:t>
                        </m:r>
                      </m:e>
                    </m:rad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marL="457200" lvl="1" indent="-457200">
                  <a:buFont typeface="+mj-lt"/>
                  <a:buAutoNum type="alphaL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lvl="1" indent="-457200">
                  <a:buFont typeface="+mj-lt"/>
                  <a:buAutoNum type="alphaL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lvl="1" indent="-457200">
                  <a:buFont typeface="+mj-lt"/>
                  <a:buAutoNum type="alphaL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1" indent="-457200">
                  <a:buFont typeface="+mj-lt"/>
                  <a:buAutoNum type="alphaLcPeriod" startAt="3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Based on your work in Part D, complete the statement. </a:t>
                </a:r>
              </a:p>
              <a:p>
                <a:pPr lvl="1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1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approximate value of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000" i="1">
                            <a:latin typeface="Cambria Math"/>
                          </a:rPr>
                          <m:t>13</m:t>
                        </m:r>
                      </m:e>
                    </m:rad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to the nearest tenth, is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______. ______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AA35BC6-D428-FC41-BDE5-6438AB884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410665"/>
                <a:ext cx="11065362" cy="3872599"/>
              </a:xfrm>
              <a:prstGeom prst="rect">
                <a:avLst/>
              </a:prstGeom>
              <a:blipFill>
                <a:blip r:embed="rId4"/>
                <a:stretch>
                  <a:fillRect t="-314" b="-1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C2F4C951-E46B-E944-87E2-3B81D09643B6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66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64839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/>
              <p:nvPr/>
            </p:nvSpPr>
            <p:spPr>
              <a:xfrm>
                <a:off x="465232" y="288746"/>
                <a:ext cx="11065362" cy="29202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lphaLcPeriod" startAt="6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Plot and label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13</m:t>
                        </m:r>
                      </m:e>
                    </m:rad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on the number line to indicate its approximate location.</a:t>
                </a:r>
              </a:p>
              <a:p>
                <a:pPr marL="914400" indent="-457200">
                  <a:buFont typeface="+mj-lt"/>
                  <a:buAutoNum type="alphaLcPeriod" startAt="6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6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6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6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Use the approximation of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13</m:t>
                        </m:r>
                      </m:e>
                    </m:rad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from the previous question to complete the following.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Approximate the value of each expression.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232" y="288746"/>
                <a:ext cx="11065362" cy="2920287"/>
              </a:xfrm>
              <a:prstGeom prst="rect">
                <a:avLst/>
              </a:prstGeom>
              <a:blipFill>
                <a:blip r:embed="rId4"/>
                <a:stretch>
                  <a:fillRect l="-606" t="-418" b="-31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A7817ACE-0EAD-F54B-BF54-D1C44606A01D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9993974"/>
                  </p:ext>
                </p:extLst>
              </p:nvPr>
            </p:nvGraphicFramePr>
            <p:xfrm>
              <a:off x="1466751" y="3400425"/>
              <a:ext cx="8133536" cy="247280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406676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06676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50246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</a:rPr>
                            <a:t>Expression</a:t>
                          </a:r>
                          <a:endParaRPr lang="en-US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81208" marR="81208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</a:rPr>
                            <a:t>Approximate Value</a:t>
                          </a:r>
                          <a:endParaRPr lang="en-US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81208" marR="81208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13</m:t>
                                    </m:r>
                                  </m:e>
                                </m:rad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108277" marR="108277" marT="108277" marB="108277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 </a:t>
                          </a:r>
                        </a:p>
                      </a:txBody>
                      <a:tcPr marL="108277" marR="108277" marT="108277" marB="108277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ad>
                                      <m:radPr>
                                        <m:degHide m:val="on"/>
                                        <m:ctrlP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13</m:t>
                                        </m:r>
                                      </m:e>
                                    </m:rad>
                                  </m:num>
                                  <m:den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108277" marR="108277" marT="108277" marB="108277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 </a:t>
                          </a:r>
                        </a:p>
                      </a:txBody>
                      <a:tcPr marL="108277" marR="108277" marT="108277" marB="108277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4−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13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108277" marR="108277" marT="108277" marB="108277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 </a:t>
                          </a:r>
                        </a:p>
                      </a:txBody>
                      <a:tcPr marL="108277" marR="108277" marT="108277" marB="108277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9993974"/>
                  </p:ext>
                </p:extLst>
              </p:nvPr>
            </p:nvGraphicFramePr>
            <p:xfrm>
              <a:off x="1466751" y="3400425"/>
              <a:ext cx="8133536" cy="247280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4066768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4066768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</a:tblGrid>
                  <a:tr h="50246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</a:rPr>
                            <a:t>Expression</a:t>
                          </a:r>
                          <a:endParaRPr lang="en-US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81208" marR="81208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</a:rPr>
                            <a:t>Approximate Value</a:t>
                          </a:r>
                          <a:endParaRPr lang="en-US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81208" marR="81208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  <a:tr h="55729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8277" marR="108277" marT="108277" marB="108277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150" t="-90217" r="-100000" b="-2521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 </a:t>
                          </a:r>
                        </a:p>
                      </a:txBody>
                      <a:tcPr marL="108277" marR="108277" marT="108277" marB="108277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1"/>
                      </a:ext>
                    </a:extLst>
                  </a:tr>
                  <a:tr h="85574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8277" marR="108277" marT="108277" marB="108277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150" t="-125000" r="-100000" b="-6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 </a:t>
                          </a:r>
                        </a:p>
                      </a:txBody>
                      <a:tcPr marL="108277" marR="108277" marT="108277" marB="108277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2"/>
                      </a:ext>
                    </a:extLst>
                  </a:tr>
                  <a:tr h="55729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8277" marR="108277" marT="108277" marB="108277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150" t="-346154" r="-100000" b="-10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 </a:t>
                          </a:r>
                        </a:p>
                      </a:txBody>
                      <a:tcPr marL="108277" marR="108277" marT="108277" marB="108277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3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9" name="Picture 8"/>
          <p:cNvPicPr/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39591" y="1035673"/>
            <a:ext cx="5943600" cy="572135"/>
          </a:xfrm>
          <a:prstGeom prst="rect">
            <a:avLst/>
          </a:prstGeom>
        </p:spPr>
      </p:pic>
      <p:sp>
        <p:nvSpPr>
          <p:cNvPr id="10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67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283336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AE5E1E0-A54D-BE42-84B5-F917038ADE99}"/>
              </a:ext>
            </a:extLst>
          </p:cNvPr>
          <p:cNvSpPr txBox="1"/>
          <p:nvPr/>
        </p:nvSpPr>
        <p:spPr>
          <a:xfrm>
            <a:off x="465232" y="288745"/>
            <a:ext cx="1105869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buFont typeface="+mj-lt"/>
              <a:buAutoNum type="alphaLcPeriod" startAt="2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Plot and label the approximate location of each expression from part a on the number line.</a:t>
            </a:r>
          </a:p>
          <a:p>
            <a:pPr marL="457200" lvl="1"/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lvl="1"/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lvl="1"/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lvl="1"/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1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To approximate the value of expressions involving irrational numbers, first approximate the value of the irrational number. Then, use that approximation to perform any operations indicated.</a:t>
            </a:r>
          </a:p>
        </p:txBody>
      </p:sp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A7817ACE-0EAD-F54B-BF54-D1C44606A01D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0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67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AAA6064-091C-B1D3-7BD4-318DB28BDB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0882" y="1203581"/>
            <a:ext cx="6191845" cy="895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253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5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25955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218" name="Picture 2" descr="Icon&#10;&#10;Description automatically generated">
            <a:extLst>
              <a:ext uri="{FF2B5EF4-FFF2-40B4-BE49-F238E27FC236}">
                <a16:creationId xmlns:a16="http://schemas.microsoft.com/office/drawing/2014/main" id="{B02E8C6A-53AD-AA4E-A4ED-406F3B0E3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272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67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930146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052649" y="-37211"/>
            <a:ext cx="10701815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28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2.5.6 Guided Instruction: </a:t>
            </a:r>
            <a:r>
              <a:rPr lang="en-US" sz="2800" b="1" dirty="0">
                <a:solidFill>
                  <a:srgbClr val="26B6D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Approximating Irrational Numbers and Locating Them on a Number Line</a:t>
            </a:r>
            <a:endParaRPr lang="en-US" sz="28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Picture 2" descr="Icon&#10;&#10;Description automatically generated">
            <a:extLst>
              <a:ext uri="{FF2B5EF4-FFF2-40B4-BE49-F238E27FC236}">
                <a16:creationId xmlns:a16="http://schemas.microsoft.com/office/drawing/2014/main" id="{B3C42596-1BDF-794D-A82A-7C54635CB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2842" y="250735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1D40250-DEDD-2C41-8538-3D4DD18CCC4A}"/>
              </a:ext>
            </a:extLst>
          </p:cNvPr>
          <p:cNvSpPr txBox="1"/>
          <p:nvPr/>
        </p:nvSpPr>
        <p:spPr>
          <a:xfrm>
            <a:off x="593248" y="1386026"/>
            <a:ext cx="8327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Approximate the value of each expression.</a:t>
            </a:r>
          </a:p>
        </p:txBody>
      </p:sp>
      <p:sp>
        <p:nvSpPr>
          <p:cNvPr id="11" name="Google Shape;278;g104476d1465_1_17">
            <a:extLst>
              <a:ext uri="{FF2B5EF4-FFF2-40B4-BE49-F238E27FC236}">
                <a16:creationId xmlns:a16="http://schemas.microsoft.com/office/drawing/2014/main" id="{46CE9362-15C8-D54E-981B-E2717DFC6652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77425931"/>
                  </p:ext>
                </p:extLst>
              </p:nvPr>
            </p:nvGraphicFramePr>
            <p:xfrm>
              <a:off x="1113610" y="2015126"/>
              <a:ext cx="7180410" cy="3026664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248432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69608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Expression</a:t>
                          </a: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Approximate Value</a:t>
                          </a: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ad>
                                <m:radPr>
                                  <m:degHide m:val="on"/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6</m:t>
                                  </m:r>
                                </m:e>
                              </m:rad>
                            </m:oMath>
                          </a14:m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</m:deg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20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2∙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6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−3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77425931"/>
                  </p:ext>
                </p:extLst>
              </p:nvPr>
            </p:nvGraphicFramePr>
            <p:xfrm>
              <a:off x="1113610" y="2015126"/>
              <a:ext cx="7180410" cy="3026664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2484328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4696082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</a:tblGrid>
                  <a:tr h="48768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Expression</a:t>
                          </a: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Approximate Value</a:t>
                          </a: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  <a:tr h="4876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245" t="-101250" r="-188725" b="-4212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1"/>
                      </a:ext>
                    </a:extLst>
                  </a:tr>
                  <a:tr h="51638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245" t="-191667" r="-188725" b="-3011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2"/>
                      </a:ext>
                    </a:extLst>
                  </a:tr>
                  <a:tr h="52362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245" t="-284884" r="-188725" b="-1941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3"/>
                      </a:ext>
                    </a:extLst>
                  </a:tr>
                  <a:tr h="52362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245" t="-384884" r="-188725" b="-941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4"/>
                      </a:ext>
                    </a:extLst>
                  </a:tr>
                  <a:tr h="4876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245" t="-521250" r="-188725" b="-12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2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67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4552332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3BC97A7-8575-5A46-8E72-A886A83AEC7E}"/>
              </a:ext>
            </a:extLst>
          </p:cNvPr>
          <p:cNvSpPr txBox="1"/>
          <p:nvPr/>
        </p:nvSpPr>
        <p:spPr>
          <a:xfrm>
            <a:off x="465231" y="394507"/>
            <a:ext cx="108467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Plot and label the approximate location of each expression from the previous question on the number line.</a:t>
            </a:r>
          </a:p>
        </p:txBody>
      </p:sp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01E1BEEC-C47B-3A48-99B3-7CB267A11974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6" name="Picture 5"/>
          <p:cNvPicPr/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13901" y="1803874"/>
            <a:ext cx="6949440" cy="543560"/>
          </a:xfrm>
          <a:prstGeom prst="rect">
            <a:avLst/>
          </a:prstGeom>
        </p:spPr>
      </p:pic>
      <p:sp>
        <p:nvSpPr>
          <p:cNvPr id="9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67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183854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68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278;g104476d1465_1_17">
            <a:extLst>
              <a:ext uri="{FF2B5EF4-FFF2-40B4-BE49-F238E27FC236}">
                <a16:creationId xmlns:a16="http://schemas.microsoft.com/office/drawing/2014/main" id="{69767437-9B0B-9D43-A596-1373A90D9FE8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6852656"/>
              </p:ext>
            </p:extLst>
          </p:nvPr>
        </p:nvGraphicFramePr>
        <p:xfrm>
          <a:off x="1200149" y="2058203"/>
          <a:ext cx="8229600" cy="432816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The terms and information used in the lesson that I knew were…</a:t>
                      </a:r>
                    </a:p>
                  </a:txBody>
                  <a:tcPr marT="91440" marB="9144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Something I wondered during the lesson was…</a:t>
                      </a:r>
                    </a:p>
                  </a:txBody>
                  <a:tcPr marT="91440" marB="9144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Something I learned during lesson was…</a:t>
                      </a:r>
                    </a:p>
                  </a:txBody>
                  <a:tcPr marT="91440" marB="9144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 </a:t>
                      </a:r>
                      <a:endParaRPr lang="en-US" sz="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720" marR="45720" marT="91440" marB="9144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 </a:t>
                      </a:r>
                      <a:endParaRPr lang="en-US" sz="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720" marR="45720" marT="91440" marB="9144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 </a:t>
                      </a:r>
                      <a:endParaRPr lang="en-US" sz="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720" marR="45720" marT="91440" marB="9144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5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68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7" name="Google Shape;468;p34"/>
          <p:cNvSpPr txBox="1"/>
          <p:nvPr/>
        </p:nvSpPr>
        <p:spPr>
          <a:xfrm>
            <a:off x="1142999" y="284833"/>
            <a:ext cx="10669510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2.5.7 Wrap-Up: Reflection</a:t>
            </a:r>
          </a:p>
        </p:txBody>
      </p:sp>
      <p:pic>
        <p:nvPicPr>
          <p:cNvPr id="18" name="Google Shape;469;p3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0370EDB7-6994-3D43-ABF9-E04CBAFB9CD9}"/>
              </a:ext>
            </a:extLst>
          </p:cNvPr>
          <p:cNvSpPr txBox="1"/>
          <p:nvPr/>
        </p:nvSpPr>
        <p:spPr>
          <a:xfrm>
            <a:off x="593248" y="1385906"/>
            <a:ext cx="110055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the table.</a:t>
            </a:r>
          </a:p>
        </p:txBody>
      </p:sp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1430</TotalTime>
  <Words>1374</Words>
  <Application>Microsoft Office PowerPoint</Application>
  <PresentationFormat>Widescreen</PresentationFormat>
  <Paragraphs>261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8" baseType="lpstr">
      <vt:lpstr>Arial</vt:lpstr>
      <vt:lpstr>Cambria Math</vt:lpstr>
      <vt:lpstr>Wingdings</vt:lpstr>
      <vt:lpstr>Calibri</vt:lpstr>
      <vt:lpstr>Times New Roman</vt:lpstr>
      <vt:lpstr>Arial Black</vt:lpstr>
      <vt:lpstr>Verdana</vt:lpstr>
      <vt:lpstr>Century Gothic</vt:lpstr>
      <vt:lpstr>1_Office Theme</vt:lpstr>
      <vt:lpstr>8th Grade Math: Pre-Algebra  Unit 2, Lesson 5  Approximating Irrational Numbers  Volume 1, pg. 62  </vt:lpstr>
      <vt:lpstr>Benchmarks</vt:lpstr>
      <vt:lpstr>PowerPoint Presentation</vt:lpstr>
      <vt:lpstr>PowerPoint Presentation</vt:lpstr>
      <vt:lpstr>Warm-Up</vt:lpstr>
      <vt:lpstr>PowerPoint Presentation</vt:lpstr>
      <vt:lpstr>PowerPoint Presentation</vt:lpstr>
      <vt:lpstr>Collaboration</vt:lpstr>
      <vt:lpstr>PowerPoint Presentation</vt:lpstr>
      <vt:lpstr>PowerPoint Presentation</vt:lpstr>
      <vt:lpstr>Guided Instruction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Collaboration</vt:lpstr>
      <vt:lpstr>PowerPoint Presentation</vt:lpstr>
      <vt:lpstr>PowerPoint Presentation</vt:lpstr>
      <vt:lpstr>Guided Instruction</vt:lpstr>
      <vt:lpstr>PowerPoint Presentation</vt:lpstr>
      <vt:lpstr>PowerPoint Presentation</vt:lpstr>
      <vt:lpstr>PowerPoint Presentation</vt:lpstr>
      <vt:lpstr>PowerPoint Presentation</vt:lpstr>
      <vt:lpstr>Guided Practice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Cassie O'Connor</cp:lastModifiedBy>
  <cp:revision>55</cp:revision>
  <dcterms:created xsi:type="dcterms:W3CDTF">2015-03-17T18:51:18Z</dcterms:created>
  <dcterms:modified xsi:type="dcterms:W3CDTF">2022-07-14T01:21:39Z</dcterms:modified>
</cp:coreProperties>
</file>