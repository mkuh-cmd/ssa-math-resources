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85" r:id="rId4"/>
    <p:sldId id="286" r:id="rId5"/>
    <p:sldId id="261" r:id="rId6"/>
    <p:sldId id="287" r:id="rId7"/>
    <p:sldId id="311" r:id="rId8"/>
    <p:sldId id="312" r:id="rId9"/>
    <p:sldId id="313" r:id="rId10"/>
    <p:sldId id="335" r:id="rId11"/>
    <p:sldId id="336" r:id="rId12"/>
    <p:sldId id="329" r:id="rId13"/>
    <p:sldId id="330" r:id="rId14"/>
    <p:sldId id="337" r:id="rId15"/>
    <p:sldId id="331" r:id="rId16"/>
    <p:sldId id="338" r:id="rId17"/>
    <p:sldId id="339" r:id="rId18"/>
    <p:sldId id="332" r:id="rId19"/>
    <p:sldId id="333" r:id="rId20"/>
    <p:sldId id="340" r:id="rId21"/>
    <p:sldId id="334" r:id="rId22"/>
    <p:sldId id="341" r:id="rId23"/>
    <p:sldId id="342" r:id="rId24"/>
    <p:sldId id="306" r:id="rId25"/>
    <p:sldId id="307" r:id="rId26"/>
  </p:sldIdLst>
  <p:sldSz cx="12192000" cy="6858000"/>
  <p:notesSz cx="6858000" cy="9144000"/>
  <p:embeddedFontLst>
    <p:embeddedFont>
      <p:font typeface="Arial Black" panose="020B0604020202020204" pitchFamily="34" charset="0"/>
      <p:bold r:id="rId28"/>
    </p:embeddedFont>
    <p:embeddedFont>
      <p:font typeface="Calibri" panose="020F0502020204030204" pitchFamily="34" charset="0"/>
      <p:regular r:id="rId29"/>
      <p:bold r:id="rId30"/>
      <p:italic r:id="rId31"/>
      <p:boldItalic r:id="rId32"/>
    </p:embeddedFont>
    <p:embeddedFont>
      <p:font typeface="Cambria Math" panose="02040503050406030204" pitchFamily="18" charset="0"/>
      <p:regular r:id="rId33"/>
    </p:embeddedFont>
    <p:embeddedFont>
      <p:font typeface="Century Gothic" panose="020B0502020202020204" pitchFamily="34" charset="0"/>
      <p:regular r:id="rId34"/>
      <p:bold r:id="rId35"/>
      <p:italic r:id="rId36"/>
      <p:boldItalic r:id="rId37"/>
    </p:embeddedFont>
    <p:embeddedFont>
      <p:font typeface="Verdana" panose="020B0604030504040204" pitchFamily="34" charset="0"/>
      <p:regular r:id="rId38"/>
      <p:bold r:id="rId39"/>
      <p:italic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9647"/>
    <a:srgbClr val="FCBD1E"/>
    <a:srgbClr val="C9DF6F"/>
    <a:srgbClr val="417DBF"/>
    <a:srgbClr val="3F2A67"/>
    <a:srgbClr val="E24E5F"/>
    <a:srgbClr val="26B7D4"/>
    <a:srgbClr val="54B5D1"/>
    <a:srgbClr val="33BEA6"/>
    <a:srgbClr val="2DA4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64" autoAdjust="0"/>
    <p:restoredTop sz="94694"/>
  </p:normalViewPr>
  <p:slideViewPr>
    <p:cSldViewPr snapToGrid="0">
      <p:cViewPr varScale="1">
        <p:scale>
          <a:sx n="128" d="100"/>
          <a:sy n="128" d="100"/>
        </p:scale>
        <p:origin x="432" y="1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2.fntdata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font" Target="fonts/font13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font" Target="fonts/font11.fntdata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1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7757121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650991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262858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649233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90414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75793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124544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481965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15227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444093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06461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90952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8011632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011643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981035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5733409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2913245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7524996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3360254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.png"/><Relationship Id="rId5" Type="http://schemas.openxmlformats.org/officeDocument/2006/relationships/image" Target="../media/image15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17.tiff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2.png"/><Relationship Id="rId5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7.png"/><Relationship Id="rId5" Type="http://schemas.openxmlformats.org/officeDocument/2006/relationships/image" Target="../media/image23.tiff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60.png"/><Relationship Id="rId5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tif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0.png"/><Relationship Id="rId5" Type="http://schemas.openxmlformats.org/officeDocument/2006/relationships/image" Target="../media/image28.png"/><Relationship Id="rId10" Type="http://schemas.openxmlformats.org/officeDocument/2006/relationships/image" Target="../media/image10.png"/><Relationship Id="rId4" Type="http://schemas.openxmlformats.org/officeDocument/2006/relationships/image" Target="../media/image33.png"/><Relationship Id="rId9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4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8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Math: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Pre-Algebra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2, Lesson 1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Square Values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39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-8100"/>
            <a:ext cx="4094106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745080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2405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Google Shape;280;g104476d1465_1_17">
                <a:extLst>
                  <a:ext uri="{FF2B5EF4-FFF2-40B4-BE49-F238E27FC236}">
                    <a16:creationId xmlns:a16="http://schemas.microsoft.com/office/drawing/2014/main" id="{527A9F9F-07B8-ED47-B967-E5507C67DBC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14000" y="1600200"/>
                <a:ext cx="11114150" cy="420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marR="0" lvl="0" indent="-361950" algn="l" rtl="0">
                  <a:lnSpc>
                    <a:spcPct val="90000"/>
                  </a:lnSpc>
                  <a:spcBef>
                    <a:spcPts val="750"/>
                  </a:spcBef>
                  <a:spcAft>
                    <a:spcPts val="0"/>
                  </a:spcAft>
                  <a:buClr>
                    <a:schemeClr val="dk1"/>
                  </a:buClr>
                  <a:buSzPts val="2100"/>
                  <a:buFont typeface="Arial"/>
                  <a:buChar char="•"/>
                  <a:defRPr sz="21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1pPr>
                <a:lvl2pPr marL="914400" marR="0" lvl="1" indent="-342900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Arial"/>
                  <a:buChar char="•"/>
                  <a:defRPr sz="18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2pPr>
                <a:lvl3pPr marL="1371600" marR="0" lvl="2" indent="-323850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1500"/>
                  <a:buFont typeface="Arial"/>
                  <a:buChar char="•"/>
                  <a:defRPr sz="150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3pPr>
                <a:lvl4pPr marL="1828800" marR="0" lvl="3" indent="-314325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Char char="•"/>
                  <a:defRPr sz="135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4pPr>
                <a:lvl5pPr marL="2286000" marR="0" lvl="4" indent="-314325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Char char="•"/>
                  <a:defRPr sz="135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5pPr>
                <a:lvl6pPr marL="2743200" marR="0" lvl="5" indent="-314325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Char char="•"/>
                  <a:defRPr sz="135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6pPr>
                <a:lvl7pPr marL="3200400" marR="0" lvl="6" indent="-314325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Char char="•"/>
                  <a:defRPr sz="135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7pPr>
                <a:lvl8pPr marL="3657600" marR="0" lvl="7" indent="-314325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Char char="•"/>
                  <a:defRPr sz="135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8pPr>
                <a:lvl9pPr marL="4114800" marR="0" lvl="8" indent="-314325" algn="l" rtl="0">
                  <a:lnSpc>
                    <a:spcPct val="90000"/>
                  </a:lnSpc>
                  <a:spcBef>
                    <a:spcPts val="375"/>
                  </a:spcBef>
                  <a:spcAft>
                    <a:spcPts val="0"/>
                  </a:spcAft>
                  <a:buClr>
                    <a:schemeClr val="dk1"/>
                  </a:buClr>
                  <a:buSzPts val="1350"/>
                  <a:buFont typeface="Arial"/>
                  <a:buChar char="•"/>
                  <a:defRPr sz="1350" b="0" i="0" u="none" strike="noStrike" cap="non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lvl9pPr>
              </a:lstStyle>
              <a:p>
                <a:pPr marL="0" indent="0">
                  <a:buSzPts val="1100"/>
                  <a:buNone/>
                </a:pPr>
                <a:r>
                  <a:rPr lang="en-US" sz="35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  <a:sym typeface="Verdana"/>
                  </a:rPr>
                  <a:t>MA.8.AR.2.3</a:t>
                </a:r>
              </a:p>
              <a:p>
                <a:pPr indent="0">
                  <a:buNone/>
                </a:pPr>
                <a:r>
                  <a:rPr lang="en-US" sz="35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Given an equation in the form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5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5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35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3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35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</a:t>
                </a:r>
                <a:r>
                  <a:rPr lang="en-US" sz="35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5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5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35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3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35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35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</a:t>
                </a:r>
                <a:r>
                  <a:rPr lang="en-US" sz="35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where </a:t>
                </a:r>
                <a:r>
                  <a:rPr lang="en-US" sz="35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𝑝</a:t>
                </a:r>
                <a:r>
                  <a:rPr lang="en-US" sz="35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a whole number and </a:t>
                </a:r>
                <a:r>
                  <a:rPr lang="en-US" sz="35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𝑞</a:t>
                </a:r>
                <a:r>
                  <a:rPr lang="en-US" sz="35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an integer, determine the real solutions.</a:t>
                </a:r>
                <a:endParaRPr lang="en-US" sz="3500" dirty="0">
                  <a:solidFill>
                    <a:schemeClr val="tx1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  <a:sym typeface="Century Gothic"/>
                </a:endParaRPr>
              </a:p>
            </p:txBody>
          </p:sp>
        </mc:Choice>
        <mc:Fallback xmlns="">
          <p:sp>
            <p:nvSpPr>
              <p:cNvPr id="8" name="Google Shape;280;g104476d1465_1_17">
                <a:extLst>
                  <a:ext uri="{FF2B5EF4-FFF2-40B4-BE49-F238E27FC236}">
                    <a16:creationId xmlns:a16="http://schemas.microsoft.com/office/drawing/2014/main" id="{527A9F9F-07B8-ED47-B967-E5507C67DB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000" y="1600200"/>
                <a:ext cx="11114150" cy="4205700"/>
              </a:xfrm>
              <a:prstGeom prst="rect">
                <a:avLst/>
              </a:prstGeom>
              <a:blipFill>
                <a:blip r:embed="rId5"/>
                <a:stretch>
                  <a:fillRect l="-1590" t="-130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78;g104476d1465_1_17">
            <a:extLst>
              <a:ext uri="{FF2B5EF4-FFF2-40B4-BE49-F238E27FC236}">
                <a16:creationId xmlns:a16="http://schemas.microsoft.com/office/drawing/2014/main" id="{79998D09-ED40-CB40-ADB3-2C926DC27F8F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0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5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54216" y="1596390"/>
            <a:ext cx="9980509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  <p:sp>
        <p:nvSpPr>
          <p:cNvPr id="16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54217" y="129667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13375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213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514000" y="1600200"/>
            <a:ext cx="1100992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28650" indent="-622300"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use multiple representations to explore square values.</a:t>
            </a:r>
            <a:endParaRPr lang="en-US" sz="35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4411E69F-FF2D-4E45-A95C-56414991DB11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1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275689"/>
            <a:ext cx="1083400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2.1.1 Warm-Up: Reflecting on Learning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5350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593248" y="1386026"/>
            <a:ext cx="1103490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Learning something new can sometimes be challenging, but the challenges are part of what leads to success.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“Failure is not the opposite of success. It is part of success.” -Arianna Huffington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would you want your teacher to say to you when they see you taking a risk, trying hard, or pushing through mistakes to learn something new?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Describe how it feels when you learn or accomplish something that is really challenging.</a:t>
            </a:r>
          </a:p>
        </p:txBody>
      </p:sp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id="{733F64CC-F62E-3D45-B066-56DBFBB732F6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1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30950" y="2814305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49" y="60325"/>
            <a:ext cx="9743169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2.1.2 Exploration: Area of Squares</a:t>
            </a: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96352" y="308450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/>
              <p:nvPr/>
            </p:nvSpPr>
            <p:spPr>
              <a:xfrm>
                <a:off x="593248" y="1386025"/>
                <a:ext cx="11034902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following with your partner.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Four figures are shown on the grid, where each gridline is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1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unit.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8" y="1386025"/>
                <a:ext cx="11034902" cy="1200329"/>
              </a:xfrm>
              <a:prstGeom prst="rect">
                <a:avLst/>
              </a:prstGeom>
              <a:blipFill>
                <a:blip r:embed="rId5"/>
                <a:stretch>
                  <a:fillRect l="-828" t="-4061" b="-10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id="{519FE075-E2FF-7B4C-8C80-17BA7226159F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9" name="Picture 8" descr="Chart, line chart&#10;&#10;Description automatically generated"/>
          <p:cNvPicPr/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8606" y="3082585"/>
            <a:ext cx="6814820" cy="2151380"/>
          </a:xfrm>
          <a:prstGeom prst="rect">
            <a:avLst/>
          </a:prstGeom>
        </p:spPr>
      </p:pic>
      <p:sp>
        <p:nvSpPr>
          <p:cNvPr id="13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74EB5C6-2FDE-474B-866F-02AD6706D73C}"/>
              </a:ext>
            </a:extLst>
          </p:cNvPr>
          <p:cNvSpPr txBox="1"/>
          <p:nvPr/>
        </p:nvSpPr>
        <p:spPr>
          <a:xfrm>
            <a:off x="540565" y="405279"/>
            <a:ext cx="8327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Find the dimensions and area of each figure.</a:t>
            </a: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44D12CB6-7E65-7742-A366-7CDB25327756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4922682"/>
              </p:ext>
            </p:extLst>
          </p:nvPr>
        </p:nvGraphicFramePr>
        <p:xfrm>
          <a:off x="1583848" y="1042067"/>
          <a:ext cx="6000750" cy="26280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1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Figure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Dimensions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Area (units</a:t>
                      </a:r>
                      <a:r>
                        <a:rPr lang="en-US" sz="2000" b="1" baseline="30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2</a:t>
                      </a: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)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B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1044352" y="3997045"/>
            <a:ext cx="1047957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</a:rPr>
              <a:t>All of the figures above are rectangles. Explain, using the dimensions, which of the shapes are also squares.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1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878348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08C1C0E-C7C0-F14B-88E2-57B6133AD69D}"/>
                  </a:ext>
                </a:extLst>
              </p:cNvPr>
              <p:cNvSpPr txBox="1"/>
              <p:nvPr/>
            </p:nvSpPr>
            <p:spPr>
              <a:xfrm>
                <a:off x="465232" y="443274"/>
                <a:ext cx="11162918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With your partner, create squares whose areas range from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square units. Create as many as possible on the grid paper below. Each gridline has a length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unit. 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For each square, label the length and the width, along with the area inside.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08C1C0E-C7C0-F14B-88E2-57B6133AD6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232" y="443274"/>
                <a:ext cx="11162918" cy="2308324"/>
              </a:xfrm>
              <a:prstGeom prst="rect">
                <a:avLst/>
              </a:prstGeom>
              <a:blipFill>
                <a:blip r:embed="rId4"/>
                <a:stretch>
                  <a:fillRect l="-819" t="-2381" b="-5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9E4C3D56-1DA8-9443-9950-361D67B05B62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 descr="A close up of a device&#10;&#10;Description automatically generated"/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99837" y="3272590"/>
            <a:ext cx="6858000" cy="3041650"/>
          </a:xfrm>
          <a:prstGeom prst="rect">
            <a:avLst/>
          </a:prstGeom>
        </p:spPr>
      </p:pic>
      <p:sp>
        <p:nvSpPr>
          <p:cNvPr id="9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045744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08C1C0E-C7C0-F14B-88E2-57B6133AD69D}"/>
                  </a:ext>
                </a:extLst>
              </p:cNvPr>
              <p:cNvSpPr txBox="1"/>
              <p:nvPr/>
            </p:nvSpPr>
            <p:spPr>
              <a:xfrm>
                <a:off x="465232" y="435049"/>
                <a:ext cx="11162918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Form a group with another pair of partners. Compare the squares each group created and, if necessary, add any squares to your grid.</a:t>
                </a: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Alicia says, “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squared is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squared is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.” Explain what you think it means to square a number.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08C1C0E-C7C0-F14B-88E2-57B6133AD6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232" y="435049"/>
                <a:ext cx="11162918" cy="2677656"/>
              </a:xfrm>
              <a:prstGeom prst="rect">
                <a:avLst/>
              </a:prstGeom>
              <a:blipFill>
                <a:blip r:embed="rId4"/>
                <a:stretch>
                  <a:fillRect l="-819" t="-1818" b="-4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9E4C3D56-1DA8-9443-9950-361D67B05B62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368867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518563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Bring It Together</a:t>
            </a:r>
            <a:endParaRPr sz="5100" b="1" dirty="0">
              <a:solidFill>
                <a:srgbClr val="26B7D4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3314" name="Picture 2" descr="Icon&#10;&#10;Description automatically generated">
            <a:extLst>
              <a:ext uri="{FF2B5EF4-FFF2-40B4-BE49-F238E27FC236}">
                <a16:creationId xmlns:a16="http://schemas.microsoft.com/office/drawing/2014/main" id="{31E4CCCA-703A-4C46-A49C-ABEAC0061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05255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560658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52650" y="179535"/>
            <a:ext cx="10838422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2.1.3 Bring It Together: Area of Squares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69E00F9-F39F-5043-888E-B0A2D8C9AE0F}"/>
                  </a:ext>
                </a:extLst>
              </p:cNvPr>
              <p:cNvSpPr txBox="1"/>
              <p:nvPr/>
            </p:nvSpPr>
            <p:spPr>
              <a:xfrm>
                <a:off x="593248" y="1386025"/>
                <a:ext cx="6662958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area of the square shown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64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square units.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lvl="1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Label the length and the width of the square on the grid. 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69E00F9-F39F-5043-888E-B0A2D8C9AE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8" y="1386025"/>
                <a:ext cx="6662958" cy="1631216"/>
              </a:xfrm>
              <a:prstGeom prst="rect">
                <a:avLst/>
              </a:prstGeom>
              <a:blipFill>
                <a:blip r:embed="rId4"/>
                <a:stretch>
                  <a:fillRect l="-1006" t="-2239" b="-5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id="{320606D7-FA1D-5D44-AD19-A87F7EA7DDF3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0" name="Picture 2" descr="Icon&#10;&#10;Description automatically generated">
            <a:extLst>
              <a:ext uri="{FF2B5EF4-FFF2-40B4-BE49-F238E27FC236}">
                <a16:creationId xmlns:a16="http://schemas.microsoft.com/office/drawing/2014/main" id="{108F4C35-3A24-A244-BB28-81EF2D36CA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0928" y="100077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Chart, line chart&#10;&#10;Description automatically generated"/>
          <p:cNvPicPr/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65719" y="849885"/>
            <a:ext cx="3392346" cy="328107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105088" y="4310770"/>
                <a:ext cx="10499002" cy="22467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371600" lvl="1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length and width can be multiplied to find the area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64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square units. Since the figure is a square, the area can also be found using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𝐴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𝑠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where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𝑠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the length of a side.</a:t>
                </a:r>
              </a:p>
              <a:p>
                <a:pPr marL="9144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1427163">
                  <a:lnSpc>
                    <a:spcPct val="150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equations for the square shown.</a:t>
                </a:r>
              </a:p>
              <a:p>
                <a:pPr marL="914400" algn="ctr">
                  <a:lnSpc>
                    <a:spcPct val="150000"/>
                  </a:lnSpc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Area </a:t>
                </a: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_______</m:t>
                            </m:r>
                          </m:e>
                        </m:d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     or      Area </a:t>
                </a:r>
                <a:r>
                  <a:rPr lang="en-US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=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________×________</m:t>
                    </m:r>
                  </m:oMath>
                </a14:m>
                <a:endParaRPr lang="en-US" sz="2000" dirty="0">
                  <a:latin typeface="Cambria Math" panose="02040503050406030204" pitchFamily="18" charset="0"/>
                  <a:ea typeface="Cambria Math" panose="02040503050406030204" pitchFamily="18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088" y="4310770"/>
                <a:ext cx="10499002" cy="2246769"/>
              </a:xfrm>
              <a:prstGeom prst="rect">
                <a:avLst/>
              </a:prstGeom>
              <a:blipFill>
                <a:blip r:embed="rId7"/>
                <a:stretch>
                  <a:fillRect t="-1897" b="-10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8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998569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08C1C0E-C7C0-F14B-88E2-57B6133AD69D}"/>
                  </a:ext>
                </a:extLst>
              </p:cNvPr>
              <p:cNvSpPr txBox="1"/>
              <p:nvPr/>
            </p:nvSpPr>
            <p:spPr>
              <a:xfrm>
                <a:off x="465232" y="435049"/>
                <a:ext cx="10581310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Consider a square with an area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</a:t>
                </a:r>
                <a:r>
                  <a:rPr lang="en-US" sz="2400" dirty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units</a:t>
                </a:r>
                <a:r>
                  <a:rPr lang="en-US" sz="2400" baseline="30000" dirty="0">
                    <a:latin typeface="Verdana" pitchFamily="34" charset="0"/>
                    <a:ea typeface="Verdana" pitchFamily="34" charset="0"/>
                    <a:cs typeface="Verdana" pitchFamily="34" charset="0"/>
                  </a:rPr>
                  <a:t>2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lvl="1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length of each side?</a:t>
                </a:r>
              </a:p>
              <a:p>
                <a:pPr marL="914400" lvl="1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Explain how you determined the length.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08C1C0E-C7C0-F14B-88E2-57B6133AD6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232" y="435049"/>
                <a:ext cx="10581310" cy="2308324"/>
              </a:xfrm>
              <a:prstGeom prst="rect">
                <a:avLst/>
              </a:prstGeom>
              <a:blipFill>
                <a:blip r:embed="rId4"/>
                <a:stretch>
                  <a:fillRect l="-864" t="-2375" b="-50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9E4C3D56-1DA8-9443-9950-361D67B05B62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588401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08C1C0E-C7C0-F14B-88E2-57B6133AD69D}"/>
                  </a:ext>
                </a:extLst>
              </p:cNvPr>
              <p:cNvSpPr txBox="1"/>
              <p:nvPr/>
            </p:nvSpPr>
            <p:spPr>
              <a:xfrm>
                <a:off x="465232" y="435050"/>
                <a:ext cx="11058692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Consider a rectangle with an area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square units. 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lvl="1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the grid to draw all of the possible rectangles with an area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square units.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08C1C0E-C7C0-F14B-88E2-57B6133AD6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232" y="435050"/>
                <a:ext cx="11058692" cy="1323439"/>
              </a:xfrm>
              <a:prstGeom prst="rect">
                <a:avLst/>
              </a:prstGeom>
              <a:blipFill>
                <a:blip r:embed="rId4"/>
                <a:stretch>
                  <a:fillRect l="-606" t="-2765" b="-7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9E4C3D56-1DA8-9443-9950-361D67B05B62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/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87628" y="1966753"/>
            <a:ext cx="5405120" cy="341122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973686" y="5630141"/>
                <a:ext cx="11058692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Explain whether it is possible to have a square with an area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8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square units.</a:t>
                </a:r>
                <a:endParaRPr lang="en-US" sz="2000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686" y="5630141"/>
                <a:ext cx="11058692" cy="400110"/>
              </a:xfrm>
              <a:prstGeom prst="rect">
                <a:avLst/>
              </a:prstGeom>
              <a:blipFill>
                <a:blip r:embed="rId6"/>
                <a:stretch>
                  <a:fillRect l="-606" t="-10769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722731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/>
              <p:nvPr/>
            </p:nvSpPr>
            <p:spPr>
              <a:xfrm>
                <a:off x="540565" y="374089"/>
                <a:ext cx="11065362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numbers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1, 4, 16, 25, 64</m:t>
                    </m:r>
                    <m:r>
                      <a:rPr lang="en-US" sz="2400" i="1">
                        <a:latin typeface="Cambria Math"/>
                      </a:rPr>
                      <m:t>, 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100</m:t>
                    </m:r>
                    <m:r>
                      <a:rPr lang="en-US" sz="2400" i="1">
                        <a:latin typeface="Cambria Math"/>
                      </a:rPr>
                      <m:t> 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are all examples of perfect squares. The numbers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3, 8</m:t>
                    </m:r>
                    <m:r>
                      <a:rPr lang="en-US" sz="2400" i="1">
                        <a:latin typeface="Cambria Math"/>
                      </a:rPr>
                      <m:t>,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200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are nonexamples of perfect squares. 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lvl="1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 what it means for a number to be a perfect square. Then, write your definition of a perfect square.</a:t>
                </a:r>
              </a:p>
              <a:p>
                <a:pPr marL="914400" lvl="1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374089"/>
                <a:ext cx="11065362" cy="2677656"/>
              </a:xfrm>
              <a:prstGeom prst="rect">
                <a:avLst/>
              </a:prstGeom>
              <a:blipFill>
                <a:blip r:embed="rId3"/>
                <a:stretch>
                  <a:fillRect l="-803" t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44D12CB6-7E65-7742-A366-7CDB25327756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75423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74EB5C6-2FDE-474B-866F-02AD6706D73C}"/>
              </a:ext>
            </a:extLst>
          </p:cNvPr>
          <p:cNvSpPr txBox="1"/>
          <p:nvPr/>
        </p:nvSpPr>
        <p:spPr>
          <a:xfrm>
            <a:off x="527313" y="374088"/>
            <a:ext cx="1099661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Ask two other pairs of partners the definition they wrote. </a:t>
            </a:r>
            <a:b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Listen to their definition and write a summary. </a:t>
            </a:r>
            <a:r>
              <a:rPr lang="en-US" sz="24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You are the only person who should write in the first column of the table.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b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Have the person initial next to your summary stating that your summary was accurate.</a:t>
            </a:r>
          </a:p>
          <a:p>
            <a:pPr marL="914400" indent="-457200">
              <a:buFont typeface="+mj-lt"/>
              <a:buAutoNum type="alphaLcPeriod" startAt="2"/>
            </a:pPr>
            <a:endParaRPr lang="en-PH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PH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PH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PH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PH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PH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PH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endParaRPr lang="en-PH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Review the definitions with your partner and make any necessary adjustments to your own definition.</a:t>
            </a:r>
            <a:endParaRPr lang="en-US" sz="2400" dirty="0"/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44D12CB6-7E65-7742-A366-7CDB25327756}"/>
              </a:ext>
            </a:extLst>
          </p:cNvPr>
          <p:cNvSpPr/>
          <p:nvPr/>
        </p:nvSpPr>
        <p:spPr>
          <a:xfrm>
            <a:off x="-13252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1952433"/>
              </p:ext>
            </p:extLst>
          </p:nvPr>
        </p:nvGraphicFramePr>
        <p:xfrm>
          <a:off x="1588837" y="2659195"/>
          <a:ext cx="8616592" cy="219332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731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13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8155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My Summary of the Definition of a </a:t>
                      </a:r>
                      <a:b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</a:b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Perfect Square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Initials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8358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340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122374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30950" y="2814305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433836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233830"/>
            <a:ext cx="10471274" cy="97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2.1.4 Exploration: Square Values on the Coordinate Plane</a:t>
            </a: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96352" y="308450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/>
              <p:nvPr/>
            </p:nvSpPr>
            <p:spPr>
              <a:xfrm>
                <a:off x="503899" y="1386026"/>
                <a:ext cx="5592101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the equation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complete the following with your partner.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895350" lvl="1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table of values for the equation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by substituting the given values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solving for the corresponding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-value.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899" y="1386026"/>
                <a:ext cx="5592101" cy="2246769"/>
              </a:xfrm>
              <a:prstGeom prst="rect">
                <a:avLst/>
              </a:prstGeom>
              <a:blipFill>
                <a:blip r:embed="rId5"/>
                <a:stretch>
                  <a:fillRect l="-1200" t="-1626" r="-1200" b="-37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id="{519FE075-E2FF-7B4C-8C80-17BA7226159F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15740395"/>
                  </p:ext>
                </p:extLst>
              </p:nvPr>
            </p:nvGraphicFramePr>
            <p:xfrm>
              <a:off x="6288287" y="1386025"/>
              <a:ext cx="4752000" cy="4883722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900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980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872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59436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Substitute </a:t>
                          </a:r>
                          <a:b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a:b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into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= 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sz="20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Coordinates</a:t>
                          </a:r>
                          <a:r>
                            <a:rPr lang="en-US" sz="2000" dirty="0">
                              <a:effectLst/>
                            </a:rPr>
                            <a:t> 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𝒚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9436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−3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(−3)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= _______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(-3, ______ )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9436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−2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9436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9436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59436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59436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59436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</a:rPr>
                            <a:t> 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15740395"/>
                  </p:ext>
                </p:extLst>
              </p:nvPr>
            </p:nvGraphicFramePr>
            <p:xfrm>
              <a:off x="6288287" y="1386025"/>
              <a:ext cx="4752000" cy="4883722"/>
            </p:xfrm>
            <a:graphic>
              <a:graphicData uri="http://schemas.openxmlformats.org/drawingml/2006/table">
                <a:tbl>
                  <a:tblPr firstRow="1" firstCol="1" bandRow="1">
                    <a:tableStyleId>{5940675A-B579-460E-94D1-54222C63F5DA}</a:tableStyleId>
                  </a:tblPr>
                  <a:tblGrid>
                    <a:gridCol w="90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198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1872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</a:tblGrid>
                  <a:tr h="70796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676" t="-4310" r="-427027" b="-5913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45988" t="-4310" r="-95062" b="-5913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154072" t="-4310" r="-326" b="-5913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609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676" t="-121000" r="-427027" b="-58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45988" t="-121000" r="-95062" b="-58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(-3, ______ )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5943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676" t="-225510" r="-427027" b="-4979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  <a:tr h="5943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676" t="-325510" r="-427027" b="-3979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3"/>
                      </a:ext>
                    </a:extLst>
                  </a:tr>
                  <a:tr h="5943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676" t="-429897" r="-427027" b="-3020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4"/>
                      </a:ext>
                    </a:extLst>
                  </a:tr>
                  <a:tr h="5943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676" t="-524490" r="-427027" b="-1989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5"/>
                      </a:ext>
                    </a:extLst>
                  </a:tr>
                  <a:tr h="5943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676" t="-630928" r="-427027" b="-1010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6"/>
                      </a:ext>
                    </a:extLst>
                  </a:tr>
                  <a:tr h="5943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676" t="-723469" r="-427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</a:rPr>
                            <a:t> </a:t>
                          </a:r>
                          <a:endParaRPr lang="en-US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</a:rPr>
                            <a:t> </a:t>
                          </a:r>
                          <a:endParaRPr lang="en-US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11246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/>
              <p:nvPr/>
            </p:nvSpPr>
            <p:spPr>
              <a:xfrm>
                <a:off x="540564" y="382315"/>
                <a:ext cx="10983359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898525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Discuss with your partner why the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𝑦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</a:rPr>
                  <a:t>-values are all perfect squares. Summarize your discussion.</a:t>
                </a: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4" y="382315"/>
                <a:ext cx="10983359" cy="830997"/>
              </a:xfrm>
              <a:prstGeom prst="rect">
                <a:avLst/>
              </a:prstGeom>
              <a:blipFill>
                <a:blip r:embed="rId4"/>
                <a:stretch>
                  <a:fillRect t="-6618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44D12CB6-7E65-7742-A366-7CDB25327756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047749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74EB5C6-2FDE-474B-866F-02AD6706D73C}"/>
              </a:ext>
            </a:extLst>
          </p:cNvPr>
          <p:cNvSpPr txBox="1"/>
          <p:nvPr/>
        </p:nvSpPr>
        <p:spPr>
          <a:xfrm>
            <a:off x="540565" y="374090"/>
            <a:ext cx="8327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+mj-lt"/>
              <a:buAutoNum type="alphaLcPeriod" startAt="3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Plot the coordinates on the grid shown. </a:t>
            </a: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44D12CB6-7E65-7742-A366-7CDB25327756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/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11683" y="1061313"/>
            <a:ext cx="6184900" cy="5170805"/>
          </a:xfrm>
          <a:prstGeom prst="rect">
            <a:avLst/>
          </a:prstGeom>
        </p:spPr>
      </p:pic>
      <p:sp>
        <p:nvSpPr>
          <p:cNvPr id="9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299187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/>
              <p:nvPr/>
            </p:nvSpPr>
            <p:spPr>
              <a:xfrm>
                <a:off x="540565" y="374089"/>
                <a:ext cx="11065362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lvl="1" indent="-457200">
                  <a:buFont typeface="+mj-lt"/>
                  <a:buAutoNum type="alphaLcPeriod" startAt="4"/>
                  <a:tabLst>
                    <a:tab pos="292100" algn="l"/>
                  </a:tabLs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graph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does not go below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-axis. Complete the statements.</a:t>
                </a:r>
              </a:p>
              <a:p>
                <a:pPr marL="9144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 positive number multiplied by itself results </a:t>
                </a:r>
              </a:p>
              <a:p>
                <a:pPr marL="9144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in a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374089"/>
                <a:ext cx="11065362" cy="1938992"/>
              </a:xfrm>
              <a:prstGeom prst="rect">
                <a:avLst/>
              </a:prstGeom>
              <a:blipFill>
                <a:blip r:embed="rId4"/>
                <a:stretch>
                  <a:fillRect t="-1887" b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44D12CB6-7E65-7742-A366-7CDB25327756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85904" y="1769110"/>
            <a:ext cx="1540869" cy="85848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09352" y="2427891"/>
            <a:ext cx="1500109" cy="83577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783924" y="1919961"/>
            <a:ext cx="4572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product. A negative number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30991" y="2684107"/>
            <a:ext cx="407836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multiplied by itself results in a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1430990" y="3340434"/>
                <a:ext cx="6562802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product. Therefore, for any value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multiplied 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by itself other than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the value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will</a:t>
                </a: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990" y="3340434"/>
                <a:ext cx="6562802" cy="1015663"/>
              </a:xfrm>
              <a:prstGeom prst="rect">
                <a:avLst/>
              </a:prstGeom>
              <a:blipFill>
                <a:blip r:embed="rId7"/>
                <a:stretch>
                  <a:fillRect l="-1022" t="-3593" b="-9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Picture 13"/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71878" y="3768851"/>
            <a:ext cx="1813898" cy="88844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1430990" y="4819973"/>
            <a:ext cx="49725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endParaRPr lang="en-US" sz="2000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40052" y="4513745"/>
            <a:ext cx="1540869" cy="858484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3629671" y="4819973"/>
            <a:ext cx="440697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 all of the points on the graph 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1430990" y="5590915"/>
                <a:ext cx="617803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other than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(0,0)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are above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-axis.</a:t>
                </a: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990" y="5590915"/>
                <a:ext cx="6178038" cy="400110"/>
              </a:xfrm>
              <a:prstGeom prst="rect">
                <a:avLst/>
              </a:prstGeom>
              <a:blipFill>
                <a:blip r:embed="rId9"/>
                <a:stretch>
                  <a:fillRect l="-1086" t="-7576" r="-99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" name="Google Shape;283;g104476d1465_1_17"/>
          <p:cNvPicPr preferRelativeResize="0"/>
          <p:nvPr/>
        </p:nvPicPr>
        <p:blipFill>
          <a:blip r:embed="rId10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927250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/>
              <p:nvPr/>
            </p:nvSpPr>
            <p:spPr>
              <a:xfrm>
                <a:off x="540565" y="374090"/>
                <a:ext cx="1056497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Four coordinate pairs are shown. The points represented are also on the graph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374090"/>
                <a:ext cx="10564970" cy="830997"/>
              </a:xfrm>
              <a:prstGeom prst="rect">
                <a:avLst/>
              </a:prstGeom>
              <a:blipFill>
                <a:blip r:embed="rId4"/>
                <a:stretch>
                  <a:fillRect l="-923" t="-5839" b="-145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44D12CB6-7E65-7742-A366-7CDB25327756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58006365"/>
                  </p:ext>
                </p:extLst>
              </p:nvPr>
            </p:nvGraphicFramePr>
            <p:xfrm>
              <a:off x="1274256" y="1479949"/>
              <a:ext cx="8887383" cy="702374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222117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22207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22207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22207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(1.5, 2.25)</m:t>
                                </m:r>
                              </m:oMath>
                            </m:oMathPara>
                          </a14:m>
                          <a:endParaRPr lang="en-US" sz="24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(−1.5, 2.25)</m:t>
                                </m:r>
                              </m:oMath>
                            </m:oMathPara>
                          </a14:m>
                          <a:endParaRPr lang="en-US" sz="24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24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4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num>
                                      <m:den>
                                        <m:r>
                                          <a:rPr lang="en-US" sz="24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</m:t>
                                    </m:r>
                                    <m:f>
                                      <m:fPr>
                                        <m:ctrlPr>
                                          <a:rPr lang="en-US" sz="24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4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25</m:t>
                                        </m:r>
                                      </m:num>
                                      <m:den>
                                        <m:r>
                                          <a:rPr lang="en-US" sz="24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US" sz="24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sz="24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en-US" sz="24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4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5</m:t>
                                        </m:r>
                                      </m:num>
                                      <m:den>
                                        <m:r>
                                          <a:rPr lang="en-US" sz="24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  <m:r>
                                      <a:rPr lang="en-US" sz="24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, </m:t>
                                    </m:r>
                                    <m:f>
                                      <m:fPr>
                                        <m:ctrlPr>
                                          <a:rPr lang="en-US" sz="24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4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25</m:t>
                                        </m:r>
                                      </m:num>
                                      <m:den>
                                        <m:r>
                                          <a:rPr lang="en-US" sz="2400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</m:e>
                                </m:d>
                              </m:oMath>
                            </m:oMathPara>
                          </a14:m>
                          <a:endParaRPr lang="en-US" sz="24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58006365"/>
                  </p:ext>
                </p:extLst>
              </p:nvPr>
            </p:nvGraphicFramePr>
            <p:xfrm>
              <a:off x="1274256" y="1479949"/>
              <a:ext cx="8887383" cy="821817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222117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22207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22207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222071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82181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5"/>
                          <a:stretch>
                            <a:fillRect r="-3005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5"/>
                          <a:stretch>
                            <a:fillRect l="-99726" r="-1997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5"/>
                          <a:stretch>
                            <a:fillRect l="-200275" r="-1002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blipFill>
                          <a:blip r:embed="rId5"/>
                          <a:stretch>
                            <a:fillRect l="-2994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540565" y="2672023"/>
                <a:ext cx="10697706" cy="34163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914400" lvl="1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Locate and plot the given points on the graph.</a:t>
                </a:r>
              </a:p>
              <a:p>
                <a:pPr marL="914400" lvl="1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 what you notice about the given coordinate pairs. Then, summarize your discussion.</a:t>
                </a:r>
              </a:p>
              <a:p>
                <a:pPr marL="914400" lvl="1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lvl="1" indent="-4572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Choose one of the points and show how it satisfies the equation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𝑦</m:t>
                    </m: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2672023"/>
                <a:ext cx="10697706" cy="3416320"/>
              </a:xfrm>
              <a:prstGeom prst="rect">
                <a:avLst/>
              </a:prstGeom>
              <a:blipFill>
                <a:blip r:embed="rId6"/>
                <a:stretch>
                  <a:fillRect t="-1426" b="-2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43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727390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44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flower&#10;&#10;Description automatically generated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96000" y="1386024"/>
            <a:ext cx="5188350" cy="481457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556114" y="1386025"/>
            <a:ext cx="518835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Plot a point on the grid below to indicate your level of interest and understanding of today’s learning targets.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Write one question you have about square values after today’s lesson.</a:t>
            </a:r>
          </a:p>
        </p:txBody>
      </p:sp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id="{69767437-9B0B-9D43-A596-1373A90D9FE8}"/>
              </a:ext>
            </a:extLst>
          </p:cNvPr>
          <p:cNvSpPr/>
          <p:nvPr/>
        </p:nvSpPr>
        <p:spPr>
          <a:xfrm>
            <a:off x="-37135" y="-8226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3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</a:t>
            </a:r>
            <a:r>
              <a:rPr lang="en-US" i="1">
                <a:latin typeface="Calibri"/>
                <a:ea typeface="Calibri"/>
                <a:cs typeface="Calibri"/>
                <a:sym typeface="Calibri"/>
              </a:rPr>
              <a:t>. </a:t>
            </a: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44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5" name="Google Shape;468;p34"/>
          <p:cNvSpPr txBox="1"/>
          <p:nvPr/>
        </p:nvSpPr>
        <p:spPr>
          <a:xfrm>
            <a:off x="1142999" y="284833"/>
            <a:ext cx="1066951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2.1.5 Wrap-Up: Reflection</a:t>
            </a:r>
          </a:p>
        </p:txBody>
      </p:sp>
      <p:pic>
        <p:nvPicPr>
          <p:cNvPr id="16" name="Google Shape;469;p3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1322</TotalTime>
  <Words>1236</Words>
  <Application>Microsoft Macintosh PowerPoint</Application>
  <PresentationFormat>Widescreen</PresentationFormat>
  <Paragraphs>207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Verdana</vt:lpstr>
      <vt:lpstr>Arial</vt:lpstr>
      <vt:lpstr>Century Gothic</vt:lpstr>
      <vt:lpstr>Times New Roman</vt:lpstr>
      <vt:lpstr>Calibri</vt:lpstr>
      <vt:lpstr>Arial Black</vt:lpstr>
      <vt:lpstr>Cambria Math</vt:lpstr>
      <vt:lpstr>1_Office Theme</vt:lpstr>
      <vt:lpstr>8th Grade Math: Pre-Algebra  Unit 2, Lesson 1  Square Values  Volume 1, pg. 39  </vt:lpstr>
      <vt:lpstr>Benchmark</vt:lpstr>
      <vt:lpstr>PowerPoint Presentation</vt:lpstr>
      <vt:lpstr>PowerPoint Presentation</vt:lpstr>
      <vt:lpstr>Warm-Up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Bring It Together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Diana Barnett</cp:lastModifiedBy>
  <cp:revision>37</cp:revision>
  <dcterms:created xsi:type="dcterms:W3CDTF">2015-03-17T18:51:18Z</dcterms:created>
  <dcterms:modified xsi:type="dcterms:W3CDTF">2023-02-13T13:45:25Z</dcterms:modified>
</cp:coreProperties>
</file>