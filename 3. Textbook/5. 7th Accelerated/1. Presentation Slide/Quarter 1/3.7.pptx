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6" r:id="rId8"/>
    <p:sldId id="267" r:id="rId9"/>
    <p:sldId id="275" r:id="rId10"/>
    <p:sldId id="276" r:id="rId11"/>
    <p:sldId id="277" r:id="rId12"/>
    <p:sldId id="293" r:id="rId13"/>
    <p:sldId id="278" r:id="rId14"/>
    <p:sldId id="279" r:id="rId15"/>
    <p:sldId id="280" r:id="rId16"/>
    <p:sldId id="294" r:id="rId17"/>
    <p:sldId id="263" r:id="rId18"/>
    <p:sldId id="264" r:id="rId19"/>
    <p:sldId id="265" r:id="rId20"/>
    <p:sldId id="290" r:id="rId21"/>
    <p:sldId id="291"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gmwbqYbtu5YpsP+R29NhyWnQlF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30" autoAdjust="0"/>
    <p:restoredTop sz="94695"/>
  </p:normalViewPr>
  <p:slideViewPr>
    <p:cSldViewPr snapToGrid="0">
      <p:cViewPr varScale="1">
        <p:scale>
          <a:sx n="59" d="100"/>
          <a:sy n="59" d="100"/>
        </p:scale>
        <p:origin x="26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51"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4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3089076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extLst>
      <p:ext uri="{BB962C8B-B14F-4D97-AF65-F5344CB8AC3E}">
        <p14:creationId xmlns:p14="http://schemas.microsoft.com/office/powerpoint/2010/main" val="1131392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extLst>
      <p:ext uri="{BB962C8B-B14F-4D97-AF65-F5344CB8AC3E}">
        <p14:creationId xmlns:p14="http://schemas.microsoft.com/office/powerpoint/2010/main" val="3512460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extLst>
      <p:ext uri="{BB962C8B-B14F-4D97-AF65-F5344CB8AC3E}">
        <p14:creationId xmlns:p14="http://schemas.microsoft.com/office/powerpoint/2010/main" val="1885404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12702694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38048582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extLst>
      <p:ext uri="{BB962C8B-B14F-4D97-AF65-F5344CB8AC3E}">
        <p14:creationId xmlns:p14="http://schemas.microsoft.com/office/powerpoint/2010/main" val="3878372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374630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532533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extLst>
      <p:ext uri="{BB962C8B-B14F-4D97-AF65-F5344CB8AC3E}">
        <p14:creationId xmlns:p14="http://schemas.microsoft.com/office/powerpoint/2010/main" val="27221621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2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5.png"/><Relationship Id="rId4" Type="http://schemas.openxmlformats.org/officeDocument/2006/relationships/image" Target="../media/image240.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7</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Equivalent Expressions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134</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810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185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537150" y="1111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713650" y="346900"/>
            <a:ext cx="747300" cy="747300"/>
          </a:xfrm>
          <a:prstGeom prst="rect">
            <a:avLst/>
          </a:prstGeom>
          <a:noFill/>
          <a:ln>
            <a:noFill/>
          </a:ln>
          <a:effectLst>
            <a:outerShdw blurRad="57150" dist="19050" dir="5400000" algn="bl" rotWithShape="0">
              <a:srgbClr val="000000">
                <a:alpha val="49803"/>
              </a:srgbClr>
            </a:outerShdw>
          </a:effectLst>
        </p:spPr>
      </p:pic>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638300" y="1600200"/>
            <a:ext cx="89154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400" dirty="0">
                <a:latin typeface="Verdana" panose="020B0604030504040204" pitchFamily="34" charset="0"/>
                <a:ea typeface="Verdana" panose="020B0604030504040204" pitchFamily="34" charset="0"/>
                <a:cs typeface="Verdana" panose="020B0604030504040204" pitchFamily="34" charset="0"/>
              </a:rPr>
              <a:t>MA.8.NSO.1.3 </a:t>
            </a:r>
          </a:p>
          <a:p>
            <a:pPr>
              <a:lnSpc>
                <a:spcPct val="90000"/>
              </a:lnSpc>
              <a:spcBef>
                <a:spcPts val="750"/>
              </a:spcBef>
              <a:buClr>
                <a:schemeClr val="dk1"/>
              </a:buClr>
              <a:buSzPts val="1100"/>
            </a:pPr>
            <a:r>
              <a:rPr lang="en-US" sz="2400" dirty="0">
                <a:latin typeface="Verdana" panose="020B0604030504040204" pitchFamily="34" charset="0"/>
                <a:ea typeface="Verdana" panose="020B0604030504040204" pitchFamily="34" charset="0"/>
                <a:cs typeface="Verdana" panose="020B0604030504040204" pitchFamily="34" charset="0"/>
              </a:rPr>
              <a:t>Extend previous understanding of the Laws of Exponents to include integer exponents. Apply the Laws of Exponents to evaluate numerical expressions and generate equivalent numerical expressions, limited to integer exponents and rational number bases, with procedural fluency.</a:t>
            </a:r>
            <a:endParaRPr sz="2100" dirty="0">
              <a:solidFill>
                <a:schemeClr val="dk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
        <p:nvSpPr>
          <p:cNvPr id="8"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134</a:t>
            </a:r>
            <a:endParaRPr i="1"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777150" y="359600"/>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601800" y="1169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524450" y="1596390"/>
            <a:ext cx="9730860" cy="4205700"/>
          </a:xfrm>
          <a:prstGeom prst="rect">
            <a:avLst/>
          </a:prstGeom>
          <a:noFill/>
          <a:ln>
            <a:noFill/>
          </a:ln>
        </p:spPr>
        <p:txBody>
          <a:bodyPr spcFirstLastPara="1" wrap="square" lIns="91425" tIns="45700" rIns="91425" bIns="45700" anchor="t" anchorCtr="0">
            <a:noAutofit/>
          </a:bodyPr>
          <a:lstStyle/>
          <a:p>
            <a:r>
              <a:rPr lang="en-US" sz="2000" dirty="0">
                <a:solidFill>
                  <a:schemeClr val="dk1"/>
                </a:solidFill>
                <a:latin typeface="Verdana"/>
                <a:ea typeface="Verdana"/>
                <a:cs typeface="Verdana"/>
                <a:sym typeface="Verdana"/>
              </a:rPr>
              <a:t>MA.K12.MTR.1.1 Actively participate in effortful learning both individually and collectively.</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MA.K12.MTR.3.1 Complete tasks with mathematical fluency.</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MA.K12.MTR.4.1 Engage in discussions that reflect on the mathematical thinking of self and others.</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MA.K12.MTR.5.1 Use patterns and structure to help understand and connect mathematical concepts.</a:t>
            </a:r>
            <a:endParaRPr sz="2000" dirty="0"/>
          </a:p>
          <a:p>
            <a:endParaRPr sz="1800" dirty="0">
              <a:solidFill>
                <a:schemeClr val="dk1"/>
              </a:solidFill>
              <a:latin typeface="Verdana"/>
              <a:ea typeface="Verdana"/>
              <a:cs typeface="Verdana"/>
              <a:sym typeface="Verdana"/>
            </a:endParaRPr>
          </a:p>
        </p:txBody>
      </p:sp>
      <p:sp>
        <p:nvSpPr>
          <p:cNvPr id="138" name="Google Shape;138;p1"/>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10"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134</a:t>
            </a:r>
            <a:endParaRPr i="1" dirty="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704275"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a:t>
            </a:r>
            <a:endParaRPr dirty="0"/>
          </a:p>
        </p:txBody>
      </p:sp>
      <p:pic>
        <p:nvPicPr>
          <p:cNvPr id="146" name="Google Shape;146;p2"/>
          <p:cNvPicPr preferRelativeResize="0"/>
          <p:nvPr/>
        </p:nvPicPr>
        <p:blipFill rotWithShape="1">
          <a:blip r:embed="rId3">
            <a:alphaModFix/>
          </a:blip>
          <a:srcRect/>
          <a:stretch/>
        </p:blipFill>
        <p:spPr>
          <a:xfrm>
            <a:off x="922113" y="28920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728138" y="1600200"/>
            <a:ext cx="8735724"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200" dirty="0">
                <a:latin typeface="Verdana" panose="020B0604030504040204" pitchFamily="34" charset="0"/>
                <a:ea typeface="Verdana" panose="020B0604030504040204" pitchFamily="34" charset="0"/>
                <a:cs typeface="Verdana" panose="020B0604030504040204" pitchFamily="34" charset="0"/>
              </a:rPr>
              <a:t>I can determine equivalency using the laws of exponents.</a:t>
            </a:r>
            <a:endParaRPr sz="1200" dirty="0">
              <a:latin typeface="Verdana" panose="020B0604030504040204" pitchFamily="34" charset="0"/>
              <a:ea typeface="Verdana" panose="020B0604030504040204" pitchFamily="34" charset="0"/>
              <a:cs typeface="Verdana" panose="020B0604030504040204" pitchFamily="34" charset="0"/>
            </a:endParaRPr>
          </a:p>
        </p:txBody>
      </p:sp>
      <p:sp>
        <p:nvSpPr>
          <p:cNvPr id="149" name="Google Shape;149;p2"/>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10"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134</a:t>
            </a:r>
            <a:endParaRPr i="1" dirty="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135</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465988"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3.7.1 Warm-Up: Bell Work</a:t>
            </a:r>
            <a:endParaRPr dirty="0"/>
          </a:p>
        </p:txBody>
      </p:sp>
      <p:pic>
        <p:nvPicPr>
          <p:cNvPr id="167" name="Google Shape;167;p4"/>
          <p:cNvPicPr preferRelativeResize="0"/>
          <p:nvPr/>
        </p:nvPicPr>
        <p:blipFill rotWithShape="1">
          <a:blip r:embed="rId3">
            <a:alphaModFix/>
          </a:blip>
          <a:srcRect/>
          <a:stretch/>
        </p:blipFill>
        <p:spPr>
          <a:xfrm>
            <a:off x="705988" y="337185"/>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69" name="Google Shape;169;p4"/>
              <p:cNvSpPr txBox="1"/>
              <p:nvPr/>
            </p:nvSpPr>
            <p:spPr>
              <a:xfrm>
                <a:off x="1679370" y="1386025"/>
                <a:ext cx="9089292" cy="3477515"/>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Evaluate each expression. Show your work.</a:t>
                </a:r>
              </a:p>
              <a:p>
                <a:pPr lvl="0"/>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US" sz="2000">
                                <a:latin typeface="Cambria Math" panose="02040503050406030204" pitchFamily="18" charset="0"/>
                                <a:ea typeface="Verdana" panose="020B0604030504040204" pitchFamily="34" charset="0"/>
                                <a:cs typeface="Verdana" panose="020B0604030504040204" pitchFamily="34" charset="0"/>
                              </a:rPr>
                              <m:t>(−4)</m:t>
                            </m:r>
                          </m:e>
                          <m:sup>
                            <m:r>
                              <a:rPr lang="en-US" sz="2000">
                                <a:latin typeface="Cambria Math" panose="02040503050406030204" pitchFamily="18" charset="0"/>
                                <a:ea typeface="Verdana" panose="020B0604030504040204" pitchFamily="34" charset="0"/>
                                <a:cs typeface="Verdana" panose="020B0604030504040204" pitchFamily="34" charset="0"/>
                              </a:rPr>
                              <m:t>2</m:t>
                            </m:r>
                          </m:sup>
                        </m:sSup>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IN" sz="2000" b="0" i="0" smtClean="0">
                                <a:latin typeface="Cambria Math" panose="02040503050406030204" pitchFamily="18" charset="0"/>
                                <a:ea typeface="Verdana" panose="020B0604030504040204" pitchFamily="34" charset="0"/>
                                <a:cs typeface="Verdana" panose="020B0604030504040204" pitchFamily="34" charset="0"/>
                              </a:rPr>
                              <m:t> </m:t>
                            </m:r>
                            <m:r>
                              <a:rPr lang="en-US" sz="2000">
                                <a:latin typeface="Cambria Math" panose="02040503050406030204" pitchFamily="18" charset="0"/>
                                <a:ea typeface="Verdana" panose="020B0604030504040204" pitchFamily="34" charset="0"/>
                                <a:cs typeface="Verdana" panose="020B0604030504040204" pitchFamily="34" charset="0"/>
                              </a:rPr>
                              <m:t>(−4)</m:t>
                            </m:r>
                          </m:e>
                          <m:sup>
                            <m:r>
                              <a:rPr lang="en-US" sz="2000">
                                <a:latin typeface="Cambria Math" panose="02040503050406030204" pitchFamily="18" charset="0"/>
                                <a:ea typeface="Verdana" panose="020B0604030504040204" pitchFamily="34" charset="0"/>
                                <a:cs typeface="Verdana" panose="020B0604030504040204" pitchFamily="34" charset="0"/>
                              </a:rPr>
                              <m:t>−3</m:t>
                            </m:r>
                          </m:sup>
                        </m:sSup>
                      </m:num>
                      <m:den>
                        <m:r>
                          <a:rPr lang="en-US" sz="2000">
                            <a:latin typeface="Cambria Math" panose="02040503050406030204" pitchFamily="18" charset="0"/>
                            <a:ea typeface="Verdana" panose="020B0604030504040204" pitchFamily="34" charset="0"/>
                            <a:cs typeface="Verdana" panose="020B0604030504040204" pitchFamily="34" charset="0"/>
                          </a:rPr>
                          <m:t>−4</m:t>
                        </m:r>
                      </m:den>
                    </m:f>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14:m>
                  <m:oMath xmlns:m="http://schemas.openxmlformats.org/officeDocument/2006/math">
                    <m:sSup>
                      <m:sSupPr>
                        <m:ctrlPr>
                          <a:rPr lang="en-US" sz="2000" i="1" dirty="0">
                            <a:latin typeface="Cambria Math" panose="02040503050406030204" pitchFamily="18" charset="0"/>
                            <a:ea typeface="Cambria Math" panose="02040503050406030204" pitchFamily="18" charset="0"/>
                          </a:rPr>
                        </m:ctrlPr>
                      </m:sSupPr>
                      <m:e>
                        <m:d>
                          <m:dPr>
                            <m:ctrlPr>
                              <a:rPr lang="en-US" sz="2000" i="1" dirty="0">
                                <a:latin typeface="Cambria Math" panose="02040503050406030204" pitchFamily="18" charset="0"/>
                                <a:ea typeface="Cambria Math" panose="02040503050406030204" pitchFamily="18" charset="0"/>
                              </a:rPr>
                            </m:ctrlPr>
                          </m:dPr>
                          <m:e>
                            <m:sSup>
                              <m:sSupPr>
                                <m:ctrlPr>
                                  <a:rPr lang="en-US" sz="2000" i="1" dirty="0">
                                    <a:latin typeface="Cambria Math" panose="02040503050406030204" pitchFamily="18" charset="0"/>
                                    <a:ea typeface="Cambria Math" panose="02040503050406030204" pitchFamily="18" charset="0"/>
                                  </a:rPr>
                                </m:ctrlPr>
                              </m:sSupPr>
                              <m:e>
                                <m:d>
                                  <m:dPr>
                                    <m:ctrlPr>
                                      <a:rPr lang="en-US" sz="2000" i="1" dirty="0">
                                        <a:latin typeface="Cambria Math" panose="02040503050406030204" pitchFamily="18" charset="0"/>
                                        <a:ea typeface="Cambria Math" panose="02040503050406030204" pitchFamily="18" charset="0"/>
                                      </a:rPr>
                                    </m:ctrlPr>
                                  </m:dPr>
                                  <m:e>
                                    <m:f>
                                      <m:fPr>
                                        <m:ctrlPr>
                                          <a:rPr lang="en-US" sz="2000" i="1" dirty="0">
                                            <a:latin typeface="Cambria Math" panose="02040503050406030204" pitchFamily="18" charset="0"/>
                                            <a:ea typeface="Cambria Math" panose="02040503050406030204" pitchFamily="18" charset="0"/>
                                          </a:rPr>
                                        </m:ctrlPr>
                                      </m:fPr>
                                      <m:num>
                                        <m:r>
                                          <a:rPr lang="en-IN" sz="2000" i="1" dirty="0">
                                            <a:latin typeface="Cambria Math" panose="02040503050406030204" pitchFamily="18" charset="0"/>
                                            <a:ea typeface="Cambria Math" panose="02040503050406030204" pitchFamily="18" charset="0"/>
                                          </a:rPr>
                                          <m:t>2</m:t>
                                        </m:r>
                                      </m:num>
                                      <m:den>
                                        <m:r>
                                          <a:rPr lang="en-IN" sz="2000" i="1" dirty="0">
                                            <a:latin typeface="Cambria Math" panose="02040503050406030204" pitchFamily="18" charset="0"/>
                                            <a:ea typeface="Cambria Math" panose="02040503050406030204" pitchFamily="18" charset="0"/>
                                          </a:rPr>
                                          <m:t>5</m:t>
                                        </m:r>
                                      </m:den>
                                    </m:f>
                                  </m:e>
                                </m:d>
                              </m:e>
                              <m:sup>
                                <m:r>
                                  <a:rPr lang="en-IN" sz="2000" i="1" dirty="0">
                                    <a:latin typeface="Cambria Math" panose="02040503050406030204" pitchFamily="18" charset="0"/>
                                    <a:ea typeface="Cambria Math" panose="02040503050406030204" pitchFamily="18" charset="0"/>
                                  </a:rPr>
                                  <m:t>3</m:t>
                                </m:r>
                              </m:sup>
                            </m:sSup>
                          </m:e>
                        </m:d>
                      </m:e>
                      <m:sup>
                        <m:r>
                          <a:rPr lang="en-IN" sz="2000" i="1" dirty="0">
                            <a:latin typeface="Cambria Math" panose="02040503050406030204" pitchFamily="18" charset="0"/>
                            <a:ea typeface="Cambria Math" panose="02040503050406030204" pitchFamily="18" charset="0"/>
                          </a:rPr>
                          <m:t>−2</m:t>
                        </m:r>
                      </m:sup>
                    </m:sSup>
                    <m:sSup>
                      <m:sSupPr>
                        <m:ctrlPr>
                          <a:rPr lang="en-US" sz="2000" i="1">
                            <a:latin typeface="Cambria Math" panose="02040503050406030204" pitchFamily="18" charset="0"/>
                            <a:ea typeface="Cambria Math" panose="02040503050406030204" pitchFamily="18" charset="0"/>
                            <a:cs typeface="Verdana" panose="020B0604030504040204" pitchFamily="34" charset="0"/>
                          </a:rPr>
                        </m:ctrlPr>
                      </m:sSupPr>
                      <m:e>
                        <m:r>
                          <a:rPr lang="en-US" sz="2000">
                            <a:latin typeface="Cambria Math" panose="02040503050406030204" pitchFamily="18" charset="0"/>
                            <a:ea typeface="Cambria Math" panose="02040503050406030204" pitchFamily="18" charset="0"/>
                            <a:cs typeface="Verdana" panose="020B0604030504040204" pitchFamily="34" charset="0"/>
                          </a:rPr>
                          <m:t> ∙</m:t>
                        </m:r>
                        <m:d>
                          <m:dPr>
                            <m:ctrlPr>
                              <a:rPr lang="en-US" sz="2000" i="1" smtClean="0">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cs typeface="Verdana" panose="020B0604030504040204" pitchFamily="34" charset="0"/>
                                  </a:rPr>
                                </m:ctrlPr>
                              </m:fPr>
                              <m:num>
                                <m:r>
                                  <a:rPr lang="en-US" sz="2000">
                                    <a:latin typeface="Cambria Math" panose="02040503050406030204" pitchFamily="18" charset="0"/>
                                    <a:ea typeface="Cambria Math" panose="02040503050406030204" pitchFamily="18" charset="0"/>
                                    <a:cs typeface="Verdana" panose="020B0604030504040204" pitchFamily="34" charset="0"/>
                                  </a:rPr>
                                  <m:t>5</m:t>
                                </m:r>
                              </m:num>
                              <m:den>
                                <m:r>
                                  <a:rPr lang="en-US" sz="2000">
                                    <a:latin typeface="Cambria Math" panose="02040503050406030204" pitchFamily="18" charset="0"/>
                                    <a:ea typeface="Cambria Math" panose="02040503050406030204" pitchFamily="18" charset="0"/>
                                    <a:cs typeface="Verdana" panose="020B0604030504040204" pitchFamily="34" charset="0"/>
                                  </a:rPr>
                                  <m:t>2</m:t>
                                </m:r>
                              </m:den>
                            </m:f>
                          </m:e>
                        </m:d>
                      </m:e>
                      <m:sup>
                        <m:r>
                          <a:rPr lang="en-US" sz="2000">
                            <a:latin typeface="Cambria Math" panose="02040503050406030204" pitchFamily="18" charset="0"/>
                            <a:ea typeface="Cambria Math" panose="02040503050406030204" pitchFamily="18" charset="0"/>
                            <a:cs typeface="Verdana" panose="020B0604030504040204" pitchFamily="34" charset="0"/>
                          </a:rPr>
                          <m:t>−4</m:t>
                        </m:r>
                      </m:sup>
                    </m:sSup>
                  </m:oMath>
                </a14:m>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457200" indent="-4572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69" name="Google Shape;169;p4"/>
              <p:cNvSpPr txBox="1">
                <a:spLocks noRot="1" noChangeAspect="1" noMove="1" noResize="1" noEditPoints="1" noAdjustHandles="1" noChangeArrowheads="1" noChangeShapeType="1" noTextEdit="1"/>
              </p:cNvSpPr>
              <p:nvPr/>
            </p:nvSpPr>
            <p:spPr>
              <a:xfrm>
                <a:off x="1679370" y="1386025"/>
                <a:ext cx="9089292" cy="3477515"/>
              </a:xfrm>
              <a:prstGeom prst="rect">
                <a:avLst/>
              </a:prstGeom>
              <a:blipFill>
                <a:blip r:embed="rId4"/>
                <a:stretch>
                  <a:fillRect l="-737" t="-1051"/>
                </a:stretch>
              </a:blipFill>
              <a:ln>
                <a:noFill/>
              </a:ln>
            </p:spPr>
            <p:txBody>
              <a:bodyPr/>
              <a:lstStyle/>
              <a:p>
                <a:r>
                  <a:rPr lang="en-IN">
                    <a:noFill/>
                  </a:rPr>
                  <a:t> </a:t>
                </a:r>
              </a:p>
            </p:txBody>
          </p:sp>
        </mc:Fallback>
      </mc:AlternateContent>
      <p:sp>
        <p:nvSpPr>
          <p:cNvPr id="170" name="Google Shape;170;p4"/>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10"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135</a:t>
            </a:r>
            <a:endParaRPr i="1" dirty="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9"/>
          <p:cNvSpPr/>
          <p:nvPr/>
        </p:nvSpPr>
        <p:spPr>
          <a:xfrm>
            <a:off x="0" y="-15155"/>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17" name="Google Shape;217;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19" name="Google Shape;219;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135</a:t>
            </a:r>
            <a:endParaRPr i="1" dirty="0">
              <a:latin typeface="Calibri"/>
              <a:ea typeface="Calibri"/>
              <a:cs typeface="Calibri"/>
              <a:sym typeface="Calibri"/>
            </a:endParaRPr>
          </a:p>
        </p:txBody>
      </p:sp>
    </p:spTree>
    <p:extLst>
      <p:ext uri="{BB962C8B-B14F-4D97-AF65-F5344CB8AC3E}">
        <p14:creationId xmlns:p14="http://schemas.microsoft.com/office/powerpoint/2010/main" val="3297403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6" name="Google Shape;226;p10"/>
          <p:cNvSpPr txBox="1"/>
          <p:nvPr/>
        </p:nvSpPr>
        <p:spPr>
          <a:xfrm>
            <a:off x="1580050" y="149056"/>
            <a:ext cx="8019300" cy="1000379"/>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33BEA6"/>
                </a:solidFill>
                <a:latin typeface="Verdana"/>
                <a:ea typeface="Verdana"/>
                <a:cs typeface="Verdana"/>
                <a:sym typeface="Verdana"/>
              </a:rPr>
              <a:t>3.7.2 Exploration: Exponential Expressions with Different Bases</a:t>
            </a:r>
            <a:endParaRPr sz="1200" dirty="0"/>
          </a:p>
        </p:txBody>
      </p:sp>
      <p:pic>
        <p:nvPicPr>
          <p:cNvPr id="228" name="Google Shape;228;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44521" y="273118"/>
            <a:ext cx="752254" cy="752254"/>
          </a:xfrm>
          <a:prstGeom prst="rect">
            <a:avLst/>
          </a:prstGeom>
          <a:noFill/>
          <a:ln>
            <a:noFill/>
          </a:ln>
          <a:effectLst>
            <a:outerShdw blurRad="50800" dist="38100" dir="2700000" algn="tl" rotWithShape="0">
              <a:srgbClr val="000000">
                <a:alpha val="40000"/>
              </a:srgbClr>
            </a:outerShdw>
          </a:effectLst>
        </p:spPr>
      </p:pic>
      <p:sp>
        <p:nvSpPr>
          <p:cNvPr id="229" name="Google Shape;229;p10"/>
          <p:cNvSpPr txBox="1"/>
          <p:nvPr/>
        </p:nvSpPr>
        <p:spPr>
          <a:xfrm>
            <a:off x="1003300" y="1386025"/>
            <a:ext cx="10441432" cy="5324494"/>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Three expressions are given in the table.</a:t>
            </a:r>
          </a:p>
          <a:p>
            <a:pPr lvl="0"/>
            <a:r>
              <a:rPr lang="en-US" sz="2000" dirty="0">
                <a:latin typeface="Verdana" panose="020B0604030504040204" pitchFamily="34" charset="0"/>
                <a:ea typeface="Verdana" panose="020B0604030504040204" pitchFamily="34" charset="0"/>
                <a:cs typeface="Verdana" panose="020B0604030504040204" pitchFamily="34" charset="0"/>
              </a:rPr>
              <a:t> </a:t>
            </a:r>
          </a:p>
          <a:p>
            <a:pPr marL="917575" indent="-452438">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For each given expression, generate an equivalent expression by applying exponent laws. Then, find the value of the expression using a calculator.</a:t>
            </a: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Discuss your results with your partner. What do you notice about the three expressions?</a:t>
            </a:r>
          </a:p>
          <a:p>
            <a:pPr marL="457200" indent="-457200">
              <a:buAutoNum type="alphaLcPeriod"/>
            </a:pP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230" name="Google Shape;230;p10"/>
          <p:cNvSpPr/>
          <p:nvPr/>
        </p:nvSpPr>
        <p:spPr>
          <a:xfrm>
            <a:off x="-3029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46EFB132-DEA8-524F-A7D6-249CE8C01FD5}"/>
              </a:ext>
            </a:extLst>
          </p:cNvPr>
          <p:cNvPicPr>
            <a:picLocks noChangeAspect="1"/>
          </p:cNvPicPr>
          <p:nvPr/>
        </p:nvPicPr>
        <p:blipFill>
          <a:blip r:embed="rId4"/>
          <a:stretch>
            <a:fillRect/>
          </a:stretch>
        </p:blipFill>
        <p:spPr>
          <a:xfrm>
            <a:off x="3783554" y="2929727"/>
            <a:ext cx="4624892" cy="2667885"/>
          </a:xfrm>
          <a:prstGeom prst="rect">
            <a:avLst/>
          </a:prstGeom>
        </p:spPr>
      </p:pic>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11"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135</a:t>
            </a:r>
            <a:endParaRPr i="1" dirty="0">
              <a:latin typeface="Calibri"/>
              <a:ea typeface="Calibri"/>
              <a:cs typeface="Calibri"/>
              <a:sym typeface="Calibri"/>
            </a:endParaRPr>
          </a:p>
        </p:txBody>
      </p:sp>
    </p:spTree>
    <p:extLst>
      <p:ext uri="{BB962C8B-B14F-4D97-AF65-F5344CB8AC3E}">
        <p14:creationId xmlns:p14="http://schemas.microsoft.com/office/powerpoint/2010/main" val="2790671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136</a:t>
            </a:r>
            <a:endParaRPr i="1" dirty="0">
              <a:latin typeface="Calibri"/>
              <a:ea typeface="Calibri"/>
              <a:cs typeface="Calibri"/>
              <a:sym typeface="Calibri"/>
            </a:endParaRPr>
          </a:p>
        </p:txBody>
      </p:sp>
    </p:spTree>
    <p:extLst>
      <p:ext uri="{BB962C8B-B14F-4D97-AF65-F5344CB8AC3E}">
        <p14:creationId xmlns:p14="http://schemas.microsoft.com/office/powerpoint/2010/main" val="370766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351450" y="-8074"/>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dirty="0">
                <a:solidFill>
                  <a:srgbClr val="54B5D1"/>
                </a:solidFill>
                <a:latin typeface="Verdana"/>
                <a:ea typeface="Verdana"/>
                <a:cs typeface="Verdana"/>
                <a:sym typeface="Verdana"/>
              </a:rPr>
              <a:t>3.7.3 Guided Instruction: Rewriting Expressions with Different Bases</a:t>
            </a:r>
            <a:endParaRPr sz="3000" dirty="0"/>
          </a:p>
        </p:txBody>
      </p:sp>
      <p:pic>
        <p:nvPicPr>
          <p:cNvPr id="317" name="Google Shape;317;p19"/>
          <p:cNvPicPr preferRelativeResize="0"/>
          <p:nvPr/>
        </p:nvPicPr>
        <p:blipFill rotWithShape="1">
          <a:blip r:embed="rId3">
            <a:alphaModFix/>
          </a:blip>
          <a:srcRect/>
          <a:stretch/>
        </p:blipFill>
        <p:spPr>
          <a:xfrm>
            <a:off x="604150" y="237290"/>
            <a:ext cx="747300" cy="747300"/>
          </a:xfrm>
          <a:prstGeom prst="rect">
            <a:avLst/>
          </a:prstGeom>
          <a:noFill/>
          <a:ln>
            <a:noFill/>
          </a:ln>
          <a:effectLst>
            <a:outerShdw blurRad="50800" dist="38100" dir="2700000" algn="tl" rotWithShape="0">
              <a:srgbClr val="000000">
                <a:alpha val="40000"/>
              </a:srgbClr>
            </a:outerShdw>
          </a:effectLst>
        </p:spPr>
      </p:pic>
      <p:sp>
        <p:nvSpPr>
          <p:cNvPr id="319" name="Google Shape;319;p19"/>
          <p:cNvSpPr txBox="1"/>
          <p:nvPr/>
        </p:nvSpPr>
        <p:spPr>
          <a:xfrm>
            <a:off x="1558540" y="1386025"/>
            <a:ext cx="9330952" cy="1631175"/>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Exponent laws can be applied to exponents with the </a:t>
            </a:r>
            <a:r>
              <a:rPr lang="en-US" sz="2000" b="1" dirty="0">
                <a:latin typeface="Verdana" panose="020B0604030504040204" pitchFamily="34" charset="0"/>
                <a:ea typeface="Verdana" panose="020B0604030504040204" pitchFamily="34" charset="0"/>
                <a:cs typeface="Verdana" panose="020B0604030504040204" pitchFamily="34" charset="0"/>
              </a:rPr>
              <a:t>same base</a:t>
            </a:r>
            <a:r>
              <a:rPr lang="en-US" sz="2000" dirty="0">
                <a:latin typeface="Verdana" panose="020B0604030504040204" pitchFamily="34" charset="0"/>
                <a:ea typeface="Verdana" panose="020B0604030504040204" pitchFamily="34" charset="0"/>
                <a:cs typeface="Verdana" panose="020B0604030504040204" pitchFamily="34" charset="0"/>
              </a:rPr>
              <a:t>. However, sometimes a base can be rewritten to create a common base when perfect squares, cubes, fourths, etc. are present.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1. Complete the table. The first row is started for you.</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320" name="Google Shape;320;p19"/>
          <p:cNvSpPr/>
          <p:nvPr/>
        </p:nvSpPr>
        <p:spPr>
          <a:xfrm>
            <a:off x="-6963"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32B79632-16CB-AB4D-8F50-50988C0E009F}"/>
              </a:ext>
            </a:extLst>
          </p:cNvPr>
          <p:cNvPicPr>
            <a:picLocks noChangeAspect="1"/>
          </p:cNvPicPr>
          <p:nvPr/>
        </p:nvPicPr>
        <p:blipFill>
          <a:blip r:embed="rId4"/>
          <a:stretch>
            <a:fillRect/>
          </a:stretch>
        </p:blipFill>
        <p:spPr>
          <a:xfrm>
            <a:off x="2446329" y="3067123"/>
            <a:ext cx="6081654" cy="3340627"/>
          </a:xfrm>
          <a:prstGeom prst="rect">
            <a:avLst/>
          </a:prstGeom>
        </p:spPr>
      </p:pic>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11"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136</a:t>
            </a:r>
            <a:endParaRPr i="1" dirty="0">
              <a:latin typeface="Calibri"/>
              <a:ea typeface="Calibri"/>
              <a:cs typeface="Calibri"/>
              <a:sym typeface="Calibri"/>
            </a:endParaRPr>
          </a:p>
        </p:txBody>
      </p:sp>
    </p:spTree>
    <p:extLst>
      <p:ext uri="{BB962C8B-B14F-4D97-AF65-F5344CB8AC3E}">
        <p14:creationId xmlns:p14="http://schemas.microsoft.com/office/powerpoint/2010/main" val="1448199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282700" y="288745"/>
                <a:ext cx="9626600" cy="3481362"/>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2. Write an exponential expression equivalent to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US" sz="2000" i="1">
                            <a:latin typeface="Cambria Math" panose="02040503050406030204" pitchFamily="18" charset="0"/>
                            <a:ea typeface="Verdana" panose="020B0604030504040204" pitchFamily="34" charset="0"/>
                            <a:cs typeface="Verdana" panose="020B0604030504040204" pitchFamily="34" charset="0"/>
                          </a:rPr>
                          <m:t>8</m:t>
                        </m:r>
                      </m:e>
                      <m:sup>
                        <m:r>
                          <a:rPr lang="en-US" sz="2000" i="1">
                            <a:latin typeface="Cambria Math" panose="02040503050406030204" pitchFamily="18" charset="0"/>
                            <a:ea typeface="Verdana" panose="020B0604030504040204" pitchFamily="34" charset="0"/>
                            <a:cs typeface="Verdana" panose="020B0604030504040204" pitchFamily="34" charset="0"/>
                          </a:rPr>
                          <m:t>5</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that has a base of </a:t>
                </a:r>
                <a:r>
                  <a:rPr lang="en-US" sz="2000" dirty="0">
                    <a:latin typeface="Cambria Math" panose="02040503050406030204" pitchFamily="18" charset="0"/>
                    <a:ea typeface="Cambria Math" panose="02040503050406030204" pitchFamily="18" charset="0"/>
                    <a:cs typeface="Verdana" panose="020B0604030504040204" pitchFamily="34" charset="0"/>
                  </a:rPr>
                  <a:t>2</a:t>
                </a:r>
                <a:r>
                  <a:rPr lang="en-US" sz="2000" dirty="0">
                    <a:latin typeface="Verdana" panose="020B0604030504040204" pitchFamily="34" charset="0"/>
                    <a:ea typeface="Verdana" panose="020B0604030504040204" pitchFamily="34" charset="0"/>
                    <a:cs typeface="Verdana" panose="020B0604030504040204" pitchFamily="34" charset="0"/>
                  </a:rPr>
                  <a:t>.</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3.</a:t>
                </a:r>
                <a:r>
                  <a:rPr lang="en-US" sz="2000" dirty="0"/>
                  <a:t> </a:t>
                </a:r>
                <a:r>
                  <a:rPr lang="en-US" sz="2000" dirty="0">
                    <a:latin typeface="Verdana" panose="020B0604030504040204" pitchFamily="34" charset="0"/>
                    <a:ea typeface="Verdana" panose="020B0604030504040204" pitchFamily="34" charset="0"/>
                    <a:cs typeface="Verdana" panose="020B0604030504040204" pitchFamily="34" charset="0"/>
                  </a:rPr>
                  <a:t>Write an exponential expression equivalent to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US" sz="2000" i="1">
                            <a:latin typeface="Cambria Math" panose="02040503050406030204" pitchFamily="18" charset="0"/>
                            <a:ea typeface="Verdana" panose="020B0604030504040204" pitchFamily="34" charset="0"/>
                            <a:cs typeface="Verdana" panose="020B0604030504040204" pitchFamily="34" charset="0"/>
                          </a:rPr>
                          <m:t>9</m:t>
                        </m:r>
                      </m:e>
                      <m:sup>
                        <m:r>
                          <a:rPr lang="en-US" sz="2000" i="1">
                            <a:latin typeface="Cambria Math" panose="02040503050406030204" pitchFamily="18" charset="0"/>
                            <a:ea typeface="Verdana" panose="020B0604030504040204" pitchFamily="34" charset="0"/>
                            <a:cs typeface="Verdana" panose="020B0604030504040204" pitchFamily="34" charset="0"/>
                          </a:rPr>
                          <m:t>4</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that has a base of</a:t>
                </a:r>
                <a:r>
                  <a:rPr lang="en-US" sz="2000" dirty="0">
                    <a:latin typeface="Cambria Math" panose="02040503050406030204" pitchFamily="18" charset="0"/>
                    <a:ea typeface="Cambria Math" panose="02040503050406030204" pitchFamily="18" charset="0"/>
                    <a:cs typeface="Verdana" panose="020B0604030504040204" pitchFamily="34" charset="0"/>
                  </a:rPr>
                  <a:t> 3</a:t>
                </a:r>
                <a:r>
                  <a:rPr lang="en-US" sz="2000" dirty="0">
                    <a:latin typeface="Verdana" panose="020B0604030504040204" pitchFamily="34" charset="0"/>
                    <a:ea typeface="Verdana" panose="020B0604030504040204" pitchFamily="34" charset="0"/>
                    <a:cs typeface="Verdana" panose="020B0604030504040204" pitchFamily="34" charset="0"/>
                  </a:rPr>
                  <a:t>.</a:t>
                </a:r>
                <a:endParaRPr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282700" y="288745"/>
                <a:ext cx="9626600" cy="3481362"/>
              </a:xfrm>
              <a:prstGeom prst="rect">
                <a:avLst/>
              </a:prstGeom>
              <a:blipFill rotWithShape="0">
                <a:blip r:embed="rId3"/>
                <a:stretch>
                  <a:fillRect l="-633" t="-876" b="-2102"/>
                </a:stretch>
              </a:blipFill>
              <a:ln>
                <a:noFill/>
              </a:ln>
            </p:spPr>
            <p:txBody>
              <a:bodyPr/>
              <a:lstStyle/>
              <a:p>
                <a:r>
                  <a:rPr lang="en-US">
                    <a:noFill/>
                  </a:rPr>
                  <a:t> </a:t>
                </a:r>
              </a:p>
            </p:txBody>
          </p:sp>
        </mc:Fallback>
      </mc:AlternateContent>
      <p:sp>
        <p:nvSpPr>
          <p:cNvPr id="329" name="Google Shape;329;p20"/>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with medium confidence">
            <a:extLst>
              <a:ext uri="{FF2B5EF4-FFF2-40B4-BE49-F238E27FC236}">
                <a16:creationId xmlns:a16="http://schemas.microsoft.com/office/drawing/2014/main" id="{5D392336-4B44-5C40-98FF-734C08FF7C65}"/>
              </a:ext>
            </a:extLst>
          </p:cNvPr>
          <p:cNvPicPr>
            <a:picLocks noChangeAspect="1"/>
          </p:cNvPicPr>
          <p:nvPr/>
        </p:nvPicPr>
        <p:blipFill>
          <a:blip r:embed="rId4"/>
          <a:stretch>
            <a:fillRect/>
          </a:stretch>
        </p:blipFill>
        <p:spPr>
          <a:xfrm>
            <a:off x="3065237" y="1022945"/>
            <a:ext cx="5904593" cy="2037578"/>
          </a:xfrm>
          <a:prstGeom prst="rect">
            <a:avLst/>
          </a:prstGeom>
        </p:spPr>
      </p:pic>
      <p:pic>
        <p:nvPicPr>
          <p:cNvPr id="5" name="Picture 4" descr="Diagram&#10;&#10;Description automatically generated with medium confidence">
            <a:extLst>
              <a:ext uri="{FF2B5EF4-FFF2-40B4-BE49-F238E27FC236}">
                <a16:creationId xmlns:a16="http://schemas.microsoft.com/office/drawing/2014/main" id="{0487AC8C-0780-2942-92BC-ED859847B171}"/>
              </a:ext>
            </a:extLst>
          </p:cNvPr>
          <p:cNvPicPr>
            <a:picLocks noChangeAspect="1"/>
          </p:cNvPicPr>
          <p:nvPr/>
        </p:nvPicPr>
        <p:blipFill>
          <a:blip r:embed="rId5"/>
          <a:stretch>
            <a:fillRect/>
          </a:stretch>
        </p:blipFill>
        <p:spPr>
          <a:xfrm>
            <a:off x="3065236" y="4003222"/>
            <a:ext cx="1727200" cy="1943100"/>
          </a:xfrm>
          <a:prstGeom prst="rect">
            <a:avLst/>
          </a:prstGeom>
        </p:spPr>
      </p:pic>
      <p:pic>
        <p:nvPicPr>
          <p:cNvPr id="8"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136</a:t>
            </a:r>
            <a:endParaRPr i="1" dirty="0">
              <a:latin typeface="Calibri"/>
              <a:ea typeface="Calibri"/>
              <a:cs typeface="Calibri"/>
              <a:sym typeface="Calibri"/>
            </a:endParaRPr>
          </a:p>
        </p:txBody>
      </p:sp>
    </p:spTree>
    <p:extLst>
      <p:ext uri="{BB962C8B-B14F-4D97-AF65-F5344CB8AC3E}">
        <p14:creationId xmlns:p14="http://schemas.microsoft.com/office/powerpoint/2010/main" val="2810123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pic>
        <p:nvPicPr>
          <p:cNvPr id="3" name="Picture 2" descr="Text&#10;&#10;Description automatically generated with medium confidence">
            <a:extLst>
              <a:ext uri="{FF2B5EF4-FFF2-40B4-BE49-F238E27FC236}">
                <a16:creationId xmlns:a16="http://schemas.microsoft.com/office/drawing/2014/main" id="{B7E65B66-AACD-894C-A99D-5AC265FB9D50}"/>
              </a:ext>
            </a:extLst>
          </p:cNvPr>
          <p:cNvPicPr>
            <a:picLocks noChangeAspect="1"/>
          </p:cNvPicPr>
          <p:nvPr/>
        </p:nvPicPr>
        <p:blipFill>
          <a:blip r:embed="rId3"/>
          <a:stretch>
            <a:fillRect/>
          </a:stretch>
        </p:blipFill>
        <p:spPr>
          <a:xfrm>
            <a:off x="3075875" y="1155397"/>
            <a:ext cx="1539669" cy="2463470"/>
          </a:xfrm>
          <a:prstGeom prst="rect">
            <a:avLst/>
          </a:prstGeom>
        </p:spPr>
      </p:pic>
      <mc:AlternateContent xmlns:mc="http://schemas.openxmlformats.org/markup-compatibility/2006" xmlns:a14="http://schemas.microsoft.com/office/drawing/2010/main">
        <mc:Choice Requires="a14">
          <p:sp>
            <p:nvSpPr>
              <p:cNvPr id="208" name="Google Shape;208;p8"/>
              <p:cNvSpPr txBox="1"/>
              <p:nvPr/>
            </p:nvSpPr>
            <p:spPr>
              <a:xfrm>
                <a:off x="1270000" y="410666"/>
                <a:ext cx="9802666" cy="3785611"/>
              </a:xfrm>
              <a:prstGeom prst="rect">
                <a:avLst/>
              </a:prstGeom>
              <a:noFill/>
              <a:ln>
                <a:noFill/>
              </a:ln>
            </p:spPr>
            <p:txBody>
              <a:bodyPr spcFirstLastPara="1" wrap="square" lIns="91425" tIns="45700" rIns="91425" bIns="45700" anchor="t" anchorCtr="0">
                <a:spAutoFit/>
              </a:bodyPr>
              <a:lstStyle/>
              <a:p>
                <a:pPr marL="350838" lvl="0" indent="-350838"/>
                <a:r>
                  <a:rPr lang="en-US" sz="2000" dirty="0">
                    <a:latin typeface="Verdana" panose="020B0604030504040204" pitchFamily="34" charset="0"/>
                    <a:ea typeface="Verdana" panose="020B0604030504040204" pitchFamily="34" charset="0"/>
                    <a:cs typeface="Verdana" panose="020B0604030504040204" pitchFamily="34" charset="0"/>
                  </a:rPr>
                  <a:t>4. Complete the steps to write an exponential expression equivalent to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US" sz="2000" i="1">
                            <a:latin typeface="Cambria Math" panose="02040503050406030204" pitchFamily="18" charset="0"/>
                            <a:ea typeface="Verdana" panose="020B0604030504040204" pitchFamily="34" charset="0"/>
                            <a:cs typeface="Verdana" panose="020B0604030504040204" pitchFamily="34" charset="0"/>
                          </a:rPr>
                          <m:t>2</m:t>
                        </m:r>
                      </m:e>
                      <m:sup>
                        <m:r>
                          <a:rPr lang="en-US" sz="2000" i="1">
                            <a:latin typeface="Cambria Math" panose="02040503050406030204" pitchFamily="18" charset="0"/>
                            <a:ea typeface="Verdana" panose="020B0604030504040204" pitchFamily="34" charset="0"/>
                            <a:cs typeface="Verdana" panose="020B0604030504040204" pitchFamily="34"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US" sz="2000" i="1">
                            <a:latin typeface="Cambria Math" panose="02040503050406030204" pitchFamily="18" charset="0"/>
                            <a:ea typeface="Verdana" panose="020B0604030504040204" pitchFamily="34" charset="0"/>
                            <a:cs typeface="Verdana" panose="020B0604030504040204" pitchFamily="34" charset="0"/>
                          </a:rPr>
                          <m:t>4</m:t>
                        </m:r>
                      </m:e>
                      <m:sup>
                        <m:r>
                          <a:rPr lang="en-US" sz="2000" i="1">
                            <a:latin typeface="Cambria Math" panose="02040503050406030204" pitchFamily="18" charset="0"/>
                            <a:ea typeface="Verdana" panose="020B0604030504040204" pitchFamily="34" charset="0"/>
                            <a:cs typeface="Verdana" panose="020B0604030504040204" pitchFamily="34"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that has a base of </a:t>
                </a:r>
                <a:r>
                  <a:rPr lang="en-US" sz="2000" dirty="0">
                    <a:latin typeface="Cambria Math" panose="02040503050406030204" pitchFamily="18" charset="0"/>
                    <a:ea typeface="Cambria Math" panose="02040503050406030204" pitchFamily="18" charset="0"/>
                    <a:cs typeface="Verdana" panose="020B0604030504040204" pitchFamily="34" charset="0"/>
                  </a:rPr>
                  <a:t>2</a:t>
                </a:r>
                <a:r>
                  <a:rPr lang="en-US" sz="2000" dirty="0">
                    <a:latin typeface="Verdana" panose="020B0604030504040204" pitchFamily="34" charset="0"/>
                    <a:ea typeface="Verdana" panose="020B0604030504040204" pitchFamily="34" charset="0"/>
                    <a:cs typeface="Verdana" panose="020B0604030504040204" pitchFamily="34" charset="0"/>
                  </a:rPr>
                  <a:t>. </a:t>
                </a:r>
              </a:p>
              <a:p>
                <a:pPr marL="350838" lvl="0" indent="-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lvl="0" indent="-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lvl="0" indent="-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lvl="0" indent="-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lvl="0" indent="-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lvl="0" indent="-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lvl="0" indent="-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lvl="0" indent="-350838"/>
                <a:endParaRPr lang="en-US" sz="2000" dirty="0">
                  <a:latin typeface="Verdana" panose="020B0604030504040204" pitchFamily="34" charset="0"/>
                  <a:ea typeface="Verdana" panose="020B0604030504040204" pitchFamily="34" charset="0"/>
                  <a:cs typeface="Verdana" panose="020B0604030504040204" pitchFamily="34" charset="0"/>
                </a:endParaRPr>
              </a:p>
              <a:p>
                <a:pPr marL="350838" lvl="0" indent="-350838"/>
                <a:r>
                  <a:rPr lang="en-US" sz="2000" dirty="0">
                    <a:latin typeface="Verdana" panose="020B0604030504040204" pitchFamily="34" charset="0"/>
                    <a:ea typeface="Verdana" panose="020B0604030504040204" pitchFamily="34" charset="0"/>
                    <a:cs typeface="Verdana" panose="020B0604030504040204" pitchFamily="34" charset="0"/>
                  </a:rPr>
                  <a:t>5. Work with your partner to rewrite each expression from the Exploration using a common base of </a:t>
                </a:r>
                <a:r>
                  <a:rPr lang="en-US" sz="2000" dirty="0">
                    <a:latin typeface="Cambria Math" panose="02040503050406030204" pitchFamily="18" charset="0"/>
                    <a:ea typeface="Cambria Math" panose="02040503050406030204" pitchFamily="18" charset="0"/>
                    <a:cs typeface="Verdana" panose="020B0604030504040204" pitchFamily="34" charset="0"/>
                  </a:rPr>
                  <a:t>2</a:t>
                </a:r>
                <a:r>
                  <a:rPr lang="en-US" sz="2000" dirty="0">
                    <a:latin typeface="Verdana" panose="020B0604030504040204" pitchFamily="34" charset="0"/>
                    <a:ea typeface="Verdana" panose="020B0604030504040204" pitchFamily="34" charset="0"/>
                    <a:cs typeface="Verdana" panose="020B0604030504040204" pitchFamily="34" charset="0"/>
                  </a:rPr>
                  <a:t>.</a:t>
                </a:r>
                <a:endParaRPr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270000" y="410666"/>
                <a:ext cx="9802666" cy="3785611"/>
              </a:xfrm>
              <a:prstGeom prst="rect">
                <a:avLst/>
              </a:prstGeom>
              <a:blipFill rotWithShape="0">
                <a:blip r:embed="rId4"/>
                <a:stretch>
                  <a:fillRect l="-622" t="-805" r="-1368" b="-1932"/>
                </a:stretch>
              </a:blipFill>
              <a:ln>
                <a:noFill/>
              </a:ln>
            </p:spPr>
            <p:txBody>
              <a:bodyPr/>
              <a:lstStyle/>
              <a:p>
                <a:r>
                  <a:rPr lang="en-US">
                    <a:noFill/>
                  </a:rPr>
                  <a:t> </a:t>
                </a:r>
              </a:p>
            </p:txBody>
          </p:sp>
        </mc:Fallback>
      </mc:AlternateContent>
      <p:sp>
        <p:nvSpPr>
          <p:cNvPr id="209" name="Google Shape;209;p8"/>
          <p:cNvSpPr/>
          <p:nvPr/>
        </p:nvSpPr>
        <p:spPr>
          <a:xfrm>
            <a:off x="3791"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5" name="Picture 4" descr="Table&#10;&#10;Description automatically generated">
            <a:extLst>
              <a:ext uri="{FF2B5EF4-FFF2-40B4-BE49-F238E27FC236}">
                <a16:creationId xmlns:a16="http://schemas.microsoft.com/office/drawing/2014/main" id="{16CFB9B6-6171-D54B-AB06-A9F94316DF45}"/>
              </a:ext>
            </a:extLst>
          </p:cNvPr>
          <p:cNvPicPr>
            <a:picLocks noChangeAspect="1"/>
          </p:cNvPicPr>
          <p:nvPr/>
        </p:nvPicPr>
        <p:blipFill>
          <a:blip r:embed="rId5"/>
          <a:stretch>
            <a:fillRect/>
          </a:stretch>
        </p:blipFill>
        <p:spPr>
          <a:xfrm>
            <a:off x="3249881" y="4095107"/>
            <a:ext cx="5502235" cy="2639520"/>
          </a:xfrm>
          <a:prstGeom prst="rect">
            <a:avLst/>
          </a:prstGeom>
        </p:spPr>
      </p:pic>
      <p:pic>
        <p:nvPicPr>
          <p:cNvPr id="8"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136</a:t>
            </a:r>
            <a:endParaRPr i="1" dirty="0">
              <a:latin typeface="Calibri"/>
              <a:ea typeface="Calibri"/>
              <a:cs typeface="Calibri"/>
              <a:sym typeface="Calibri"/>
            </a:endParaRPr>
          </a:p>
        </p:txBody>
      </p:sp>
    </p:spTree>
    <p:extLst>
      <p:ext uri="{BB962C8B-B14F-4D97-AF65-F5344CB8AC3E}">
        <p14:creationId xmlns:p14="http://schemas.microsoft.com/office/powerpoint/2010/main" val="16450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1"/>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37" name="Google Shape;337;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339" name="Google Shape;339;p2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137</a:t>
            </a:r>
            <a:endParaRPr i="1" dirty="0">
              <a:latin typeface="Calibri"/>
              <a:ea typeface="Calibri"/>
              <a:cs typeface="Calibri"/>
              <a:sym typeface="Calibri"/>
            </a:endParaRPr>
          </a:p>
        </p:txBody>
      </p:sp>
    </p:spTree>
    <p:extLst>
      <p:ext uri="{BB962C8B-B14F-4D97-AF65-F5344CB8AC3E}">
        <p14:creationId xmlns:p14="http://schemas.microsoft.com/office/powerpoint/2010/main" val="2652643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6" name="Google Shape;346;p22"/>
          <p:cNvSpPr txBox="1"/>
          <p:nvPr/>
        </p:nvSpPr>
        <p:spPr>
          <a:xfrm>
            <a:off x="1351450" y="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3.7.4 Guided Practice: Different Bases, Same Value</a:t>
            </a:r>
            <a:endParaRPr dirty="0"/>
          </a:p>
        </p:txBody>
      </p:sp>
      <p:pic>
        <p:nvPicPr>
          <p:cNvPr id="348" name="Google Shape;348;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01642" y="249757"/>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349" name="Google Shape;349;p22"/>
              <p:cNvSpPr txBox="1"/>
              <p:nvPr/>
            </p:nvSpPr>
            <p:spPr>
              <a:xfrm>
                <a:off x="1351450" y="1386026"/>
                <a:ext cx="10230950" cy="2113039"/>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The laws of exponents can be applied to determine if expressions are equivalent.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Consider the expressions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US" sz="2000" i="1">
                            <a:latin typeface="Cambria Math" panose="02040503050406030204" pitchFamily="18" charset="0"/>
                            <a:ea typeface="Verdana" panose="020B0604030504040204" pitchFamily="34" charset="0"/>
                            <a:cs typeface="Verdana" panose="020B0604030504040204" pitchFamily="34" charset="0"/>
                          </a:rPr>
                          <m:t>3</m:t>
                        </m:r>
                      </m:e>
                      <m:sup>
                        <m:r>
                          <a:rPr lang="en-US" sz="2000" i="1">
                            <a:latin typeface="Cambria Math" panose="02040503050406030204" pitchFamily="18" charset="0"/>
                            <a:ea typeface="Verdana" panose="020B0604030504040204" pitchFamily="34" charset="0"/>
                            <a:cs typeface="Verdana" panose="020B0604030504040204" pitchFamily="34" charset="0"/>
                          </a:rPr>
                          <m:t>2</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US" sz="2000" i="1">
                            <a:latin typeface="Cambria Math" panose="02040503050406030204" pitchFamily="18" charset="0"/>
                            <a:ea typeface="Verdana" panose="020B0604030504040204" pitchFamily="34" charset="0"/>
                            <a:cs typeface="Verdana" panose="020B0604030504040204" pitchFamily="34" charset="0"/>
                          </a:rPr>
                          <m:t>6</m:t>
                        </m:r>
                      </m:e>
                      <m:sup>
                        <m:r>
                          <a:rPr lang="en-US" sz="2000" i="1">
                            <a:latin typeface="Cambria Math" panose="02040503050406030204" pitchFamily="18" charset="0"/>
                            <a:ea typeface="Verdana" panose="020B0604030504040204" pitchFamily="34" charset="0"/>
                            <a:cs typeface="Verdana" panose="020B0604030504040204" pitchFamily="34"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US" sz="2000" i="1">
                                <a:latin typeface="Cambria Math" panose="02040503050406030204" pitchFamily="18" charset="0"/>
                                <a:ea typeface="Verdana" panose="020B0604030504040204" pitchFamily="34" charset="0"/>
                                <a:cs typeface="Verdana" panose="020B0604030504040204" pitchFamily="34" charset="0"/>
                              </a:rPr>
                              <m:t>(3</m:t>
                            </m:r>
                            <m:r>
                              <a:rPr lang="en-US" sz="2000" i="1">
                                <a:latin typeface="Cambria Math" panose="02040503050406030204" pitchFamily="18" charset="0"/>
                                <a:ea typeface="Cambria Math" panose="02040503050406030204" pitchFamily="18" charset="0"/>
                                <a:cs typeface="Verdana" panose="020B0604030504040204" pitchFamily="34" charset="0"/>
                              </a:rPr>
                              <m:t>∙2)</m:t>
                            </m:r>
                          </m:e>
                          <m:sup>
                            <m:r>
                              <a:rPr lang="en-US" sz="2000" i="1">
                                <a:latin typeface="Cambria Math" panose="02040503050406030204" pitchFamily="18" charset="0"/>
                                <a:ea typeface="Verdana" panose="020B0604030504040204" pitchFamily="34" charset="0"/>
                                <a:cs typeface="Verdana" panose="020B0604030504040204" pitchFamily="34" charset="0"/>
                              </a:rPr>
                              <m:t>5</m:t>
                            </m:r>
                          </m:sup>
                        </m:sSup>
                      </m:num>
                      <m:den>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US" sz="2000" i="1">
                                <a:latin typeface="Cambria Math" panose="02040503050406030204" pitchFamily="18" charset="0"/>
                                <a:ea typeface="Verdana" panose="020B0604030504040204" pitchFamily="34" charset="0"/>
                                <a:cs typeface="Verdana" panose="020B0604030504040204" pitchFamily="34" charset="0"/>
                              </a:rPr>
                              <m:t>2</m:t>
                            </m:r>
                          </m:e>
                          <m:sup>
                            <m:r>
                              <a:rPr lang="en-US" sz="2000" i="1">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3275" lvl="0" indent="-338138"/>
                <a:r>
                  <a:rPr lang="en-US" sz="2000" dirty="0">
                    <a:latin typeface="Verdana" panose="020B0604030504040204" pitchFamily="34" charset="0"/>
                    <a:ea typeface="Verdana" panose="020B0604030504040204" pitchFamily="34" charset="0"/>
                    <a:cs typeface="Verdana" panose="020B0604030504040204" pitchFamily="34" charset="0"/>
                  </a:rPr>
                  <a:t>a. Complete the steps to rewrite each expression using laws of exponents.</a:t>
                </a:r>
                <a:endParaRPr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49" name="Google Shape;349;p22"/>
              <p:cNvSpPr txBox="1">
                <a:spLocks noRot="1" noChangeAspect="1" noMove="1" noResize="1" noEditPoints="1" noAdjustHandles="1" noChangeArrowheads="1" noChangeShapeType="1" noTextEdit="1"/>
              </p:cNvSpPr>
              <p:nvPr/>
            </p:nvSpPr>
            <p:spPr>
              <a:xfrm>
                <a:off x="1351450" y="1386026"/>
                <a:ext cx="10230950" cy="2113039"/>
              </a:xfrm>
              <a:prstGeom prst="rect">
                <a:avLst/>
              </a:prstGeom>
              <a:blipFill rotWithShape="0">
                <a:blip r:embed="rId4"/>
                <a:stretch>
                  <a:fillRect l="-656" t="-1441" r="-179" b="-4323"/>
                </a:stretch>
              </a:blipFill>
              <a:ln>
                <a:noFill/>
              </a:ln>
            </p:spPr>
            <p:txBody>
              <a:bodyPr/>
              <a:lstStyle/>
              <a:p>
                <a:r>
                  <a:rPr lang="en-US">
                    <a:noFill/>
                  </a:rPr>
                  <a:t> </a:t>
                </a:r>
              </a:p>
            </p:txBody>
          </p:sp>
        </mc:Fallback>
      </mc:AlternateContent>
      <p:sp>
        <p:nvSpPr>
          <p:cNvPr id="350" name="Google Shape;350;p22"/>
          <p:cNvSpPr/>
          <p:nvPr/>
        </p:nvSpPr>
        <p:spPr>
          <a:xfrm>
            <a:off x="0" y="-37211"/>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Diagram, schematic&#10;&#10;Description automatically generated">
            <a:extLst>
              <a:ext uri="{FF2B5EF4-FFF2-40B4-BE49-F238E27FC236}">
                <a16:creationId xmlns:a16="http://schemas.microsoft.com/office/drawing/2014/main" id="{AB829E59-0AE6-7540-A04F-E6135B61F7B0}"/>
              </a:ext>
            </a:extLst>
          </p:cNvPr>
          <p:cNvPicPr>
            <a:picLocks noChangeAspect="1"/>
          </p:cNvPicPr>
          <p:nvPr/>
        </p:nvPicPr>
        <p:blipFill>
          <a:blip r:embed="rId5"/>
          <a:stretch>
            <a:fillRect/>
          </a:stretch>
        </p:blipFill>
        <p:spPr>
          <a:xfrm>
            <a:off x="3685323" y="3618873"/>
            <a:ext cx="4821355" cy="2815671"/>
          </a:xfrm>
          <a:prstGeom prst="rect">
            <a:avLst/>
          </a:prstGeom>
        </p:spPr>
      </p:pic>
      <p:pic>
        <p:nvPicPr>
          <p:cNvPr id="9"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11"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137</a:t>
            </a:r>
            <a:endParaRPr i="1" dirty="0">
              <a:latin typeface="Calibri"/>
              <a:ea typeface="Calibri"/>
              <a:cs typeface="Calibri"/>
              <a:sym typeface="Calibri"/>
            </a:endParaRPr>
          </a:p>
        </p:txBody>
      </p:sp>
    </p:spTree>
    <p:extLst>
      <p:ext uri="{BB962C8B-B14F-4D97-AF65-F5344CB8AC3E}">
        <p14:creationId xmlns:p14="http://schemas.microsoft.com/office/powerpoint/2010/main" val="375008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8" name="Google Shape;358;p23"/>
          <p:cNvSpPr txBox="1"/>
          <p:nvPr/>
        </p:nvSpPr>
        <p:spPr>
          <a:xfrm>
            <a:off x="1932432" y="386282"/>
            <a:ext cx="8327136" cy="400069"/>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b. Complete the statement.</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359" name="Google Shape;359;p23"/>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Graphical user interface, text, application, chat or text message&#10;&#10;Description automatically generated">
            <a:extLst>
              <a:ext uri="{FF2B5EF4-FFF2-40B4-BE49-F238E27FC236}">
                <a16:creationId xmlns:a16="http://schemas.microsoft.com/office/drawing/2014/main" id="{E4995BC0-2CF7-874E-A551-68F3E2E906B2}"/>
              </a:ext>
            </a:extLst>
          </p:cNvPr>
          <p:cNvPicPr>
            <a:picLocks noChangeAspect="1"/>
          </p:cNvPicPr>
          <p:nvPr/>
        </p:nvPicPr>
        <p:blipFill>
          <a:blip r:embed="rId3"/>
          <a:stretch>
            <a:fillRect/>
          </a:stretch>
        </p:blipFill>
        <p:spPr>
          <a:xfrm>
            <a:off x="3206750" y="1198336"/>
            <a:ext cx="5778500" cy="2806700"/>
          </a:xfrm>
          <a:prstGeom prst="rect">
            <a:avLst/>
          </a:prstGeom>
        </p:spPr>
      </p:pic>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137</a:t>
            </a:r>
            <a:endParaRPr i="1" dirty="0">
              <a:latin typeface="Calibri"/>
              <a:ea typeface="Calibri"/>
              <a:cs typeface="Calibri"/>
              <a:sym typeface="Calibri"/>
            </a:endParaRPr>
          </a:p>
        </p:txBody>
      </p:sp>
    </p:spTree>
    <p:extLst>
      <p:ext uri="{BB962C8B-B14F-4D97-AF65-F5344CB8AC3E}">
        <p14:creationId xmlns:p14="http://schemas.microsoft.com/office/powerpoint/2010/main" val="4067913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8" name="Google Shape;358;p23"/>
              <p:cNvSpPr txBox="1"/>
              <p:nvPr/>
            </p:nvSpPr>
            <p:spPr>
              <a:xfrm>
                <a:off x="1054100" y="386282"/>
                <a:ext cx="10083800" cy="5204333"/>
              </a:xfrm>
              <a:prstGeom prst="rect">
                <a:avLst/>
              </a:prstGeom>
              <a:noFill/>
              <a:ln>
                <a:noFill/>
              </a:ln>
            </p:spPr>
            <p:txBody>
              <a:bodyPr spcFirstLastPara="1" wrap="square" lIns="91425" tIns="45700" rIns="91425" bIns="45700" anchor="t" anchorCtr="0">
                <a:spAutoFit/>
              </a:bodyPr>
              <a:lstStyle/>
              <a:p>
                <a:pPr marL="350838" lvl="0" indent="-350838"/>
                <a:r>
                  <a:rPr lang="en-US" sz="2000" dirty="0">
                    <a:latin typeface="Verdana" panose="020B0604030504040204" pitchFamily="34" charset="0"/>
                    <a:ea typeface="Verdana" panose="020B0604030504040204" pitchFamily="34" charset="0"/>
                    <a:cs typeface="Verdana" panose="020B0604030504040204" pitchFamily="34" charset="0"/>
                  </a:rPr>
                  <a:t>2. Xavier says the expressions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000" i="1" smtClean="0">
                                <a:latin typeface="Cambria Math" panose="02040503050406030204" pitchFamily="18" charset="0"/>
                                <a:ea typeface="Verdana" panose="020B0604030504040204" pitchFamily="34" charset="0"/>
                              </a:rPr>
                            </m:ctrlPr>
                          </m:dPr>
                          <m:e>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4</m:t>
                                </m:r>
                              </m:den>
                            </m:f>
                          </m:e>
                        </m:d>
                      </m:e>
                      <m:sup>
                        <m:r>
                          <a:rPr lang="en-US" sz="2000" i="1">
                            <a:latin typeface="Cambria Math" panose="02040503050406030204" pitchFamily="18" charset="0"/>
                            <a:ea typeface="Verdana" panose="020B0604030504040204" pitchFamily="34" charset="0"/>
                            <a:cs typeface="Verdana" panose="020B0604030504040204" pitchFamily="34" charset="0"/>
                          </a:rPr>
                          <m:t>2</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US" sz="2000" i="1">
                            <a:latin typeface="Cambria Math" panose="02040503050406030204" pitchFamily="18" charset="0"/>
                            <a:ea typeface="Verdana" panose="020B0604030504040204" pitchFamily="34" charset="0"/>
                            <a:cs typeface="Verdana" panose="020B0604030504040204" pitchFamily="34" charset="0"/>
                          </a:rPr>
                          <m:t>2</m:t>
                        </m:r>
                      </m:e>
                      <m:sup>
                        <m:r>
                          <a:rPr lang="en-US" sz="2000" i="1">
                            <a:latin typeface="Cambria Math" panose="02040503050406030204" pitchFamily="18" charset="0"/>
                            <a:ea typeface="Verdana" panose="020B0604030504040204" pitchFamily="34" charset="0"/>
                            <a:cs typeface="Verdana" panose="020B0604030504040204" pitchFamily="34"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000" i="1">
                                <a:latin typeface="Cambria Math" panose="02040503050406030204" pitchFamily="18" charset="0"/>
                                <a:ea typeface="Verdana" panose="020B0604030504040204" pitchFamily="34" charset="0"/>
                              </a:rPr>
                            </m:ctrlPr>
                          </m:dPr>
                          <m:e>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IN" sz="2000" b="0" i="1" smtClean="0">
                                    <a:latin typeface="Cambria Math" panose="02040503050406030204" pitchFamily="18" charset="0"/>
                                    <a:ea typeface="Verdana" panose="020B0604030504040204" pitchFamily="34" charset="0"/>
                                    <a:cs typeface="Verdana" panose="020B0604030504040204" pitchFamily="34" charset="0"/>
                                  </a:rPr>
                                  <m:t>2</m:t>
                                </m:r>
                              </m:den>
                            </m:f>
                          </m:e>
                        </m:d>
                      </m:e>
                      <m:sup>
                        <m:r>
                          <a:rPr lang="en-US" sz="2000" i="1">
                            <a:latin typeface="Cambria Math" panose="02040503050406030204" pitchFamily="18" charset="0"/>
                            <a:ea typeface="Verdana" panose="020B0604030504040204" pitchFamily="34" charset="0"/>
                            <a:cs typeface="Verdana" panose="020B0604030504040204" pitchFamily="34" charset="0"/>
                          </a:rPr>
                          <m:t>4</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US" sz="2000" i="1">
                            <a:latin typeface="Cambria Math" panose="02040503050406030204" pitchFamily="18" charset="0"/>
                            <a:ea typeface="Verdana" panose="020B0604030504040204" pitchFamily="34" charset="0"/>
                            <a:cs typeface="Verdana" panose="020B0604030504040204" pitchFamily="34" charset="0"/>
                          </a:rPr>
                          <m:t>4</m:t>
                        </m:r>
                      </m:e>
                      <m:sup>
                        <m:r>
                          <a:rPr lang="en-US" sz="2000" i="1">
                            <a:latin typeface="Cambria Math" panose="02040503050406030204" pitchFamily="18" charset="0"/>
                            <a:ea typeface="Verdana" panose="020B0604030504040204" pitchFamily="34" charset="0"/>
                            <a:cs typeface="Verdana" panose="020B0604030504040204" pitchFamily="34" charset="0"/>
                          </a:rPr>
                          <m:t>−1</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are equivalent because both expressions can be rewritten as </a:t>
                </a:r>
                <a14:m>
                  <m:oMath xmlns:m="http://schemas.openxmlformats.org/officeDocument/2006/math">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n-US" sz="2000" i="1">
                            <a:latin typeface="Cambria Math" panose="02040503050406030204" pitchFamily="18" charset="0"/>
                            <a:ea typeface="Verdana" panose="020B0604030504040204" pitchFamily="34" charset="0"/>
                            <a:cs typeface="Verdana" panose="020B0604030504040204" pitchFamily="34" charset="0"/>
                          </a:rPr>
                          <m:t>2</m:t>
                        </m:r>
                      </m:e>
                      <m:sup>
                        <m:r>
                          <a:rPr lang="en-US" sz="2000" i="1">
                            <a:latin typeface="Cambria Math" panose="02040503050406030204" pitchFamily="18" charset="0"/>
                            <a:ea typeface="Verdana" panose="020B0604030504040204" pitchFamily="34" charset="0"/>
                            <a:cs typeface="Verdana" panose="020B0604030504040204" pitchFamily="34" charset="0"/>
                          </a:rPr>
                          <m:t>−7</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Generate an equivalent expression for each expression using a base of 2. Show your work. </a:t>
                </a: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Explain whether or not you agree with Xavier.</a:t>
                </a:r>
                <a:endParaRPr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58" name="Google Shape;358;p23"/>
              <p:cNvSpPr txBox="1">
                <a:spLocks noRot="1" noChangeAspect="1" noMove="1" noResize="1" noEditPoints="1" noAdjustHandles="1" noChangeArrowheads="1" noChangeShapeType="1" noTextEdit="1"/>
              </p:cNvSpPr>
              <p:nvPr/>
            </p:nvSpPr>
            <p:spPr>
              <a:xfrm>
                <a:off x="1054100" y="386282"/>
                <a:ext cx="10083800" cy="5204333"/>
              </a:xfrm>
              <a:prstGeom prst="rect">
                <a:avLst/>
              </a:prstGeom>
              <a:blipFill>
                <a:blip r:embed="rId3"/>
                <a:stretch>
                  <a:fillRect l="-665" b="-1756"/>
                </a:stretch>
              </a:blipFill>
              <a:ln>
                <a:noFill/>
              </a:ln>
            </p:spPr>
            <p:txBody>
              <a:bodyPr/>
              <a:lstStyle/>
              <a:p>
                <a:r>
                  <a:rPr lang="en-IN">
                    <a:noFill/>
                  </a:rPr>
                  <a:t> </a:t>
                </a:r>
              </a:p>
            </p:txBody>
          </p:sp>
        </mc:Fallback>
      </mc:AlternateContent>
      <p:sp>
        <p:nvSpPr>
          <p:cNvPr id="359" name="Google Shape;359;p23"/>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A picture containing text&#10;&#10;Description automatically generated">
            <a:extLst>
              <a:ext uri="{FF2B5EF4-FFF2-40B4-BE49-F238E27FC236}">
                <a16:creationId xmlns:a16="http://schemas.microsoft.com/office/drawing/2014/main" id="{67A55873-78AF-8344-9A6E-AF210E4DF741}"/>
              </a:ext>
            </a:extLst>
          </p:cNvPr>
          <p:cNvPicPr>
            <a:picLocks noChangeAspect="1"/>
          </p:cNvPicPr>
          <p:nvPr/>
        </p:nvPicPr>
        <p:blipFill>
          <a:blip r:embed="rId4"/>
          <a:stretch>
            <a:fillRect/>
          </a:stretch>
        </p:blipFill>
        <p:spPr>
          <a:xfrm>
            <a:off x="3654880" y="2145526"/>
            <a:ext cx="4755696" cy="2965316"/>
          </a:xfrm>
          <a:prstGeom prst="rect">
            <a:avLst/>
          </a:prstGeom>
        </p:spPr>
      </p:pic>
      <p:pic>
        <p:nvPicPr>
          <p:cNvPr id="7"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137</a:t>
            </a:r>
            <a:endParaRPr i="1" dirty="0">
              <a:latin typeface="Calibri"/>
              <a:ea typeface="Calibri"/>
              <a:cs typeface="Calibri"/>
              <a:sym typeface="Calibri"/>
            </a:endParaRPr>
          </a:p>
        </p:txBody>
      </p:sp>
    </p:spTree>
    <p:extLst>
      <p:ext uri="{BB962C8B-B14F-4D97-AF65-F5344CB8AC3E}">
        <p14:creationId xmlns:p14="http://schemas.microsoft.com/office/powerpoint/2010/main" val="2284233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138</a:t>
            </a:r>
            <a:endParaRPr i="1" dirty="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459762" y="29739"/>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3.7.5 Collaboration: Equivalent Expressions</a:t>
            </a:r>
            <a:endParaRPr dirty="0"/>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09954" y="317685"/>
            <a:ext cx="749808" cy="749808"/>
          </a:xfrm>
          <a:prstGeom prst="rect">
            <a:avLst/>
          </a:prstGeom>
          <a:noFill/>
          <a:ln>
            <a:noFill/>
          </a:ln>
          <a:effectLst>
            <a:outerShdw blurRad="50800" dist="38100" dir="2700000" algn="tl" rotWithShape="0">
              <a:srgbClr val="000000">
                <a:alpha val="40000"/>
              </a:srgbClr>
            </a:outerShdw>
          </a:effectLst>
        </p:spPr>
      </p:pic>
      <p:sp>
        <p:nvSpPr>
          <p:cNvPr id="199" name="Google Shape;199;p7"/>
          <p:cNvSpPr txBox="1"/>
          <p:nvPr/>
        </p:nvSpPr>
        <p:spPr>
          <a:xfrm>
            <a:off x="1459762" y="1386026"/>
            <a:ext cx="4280638" cy="3139281"/>
          </a:xfrm>
          <a:prstGeom prst="rect">
            <a:avLst/>
          </a:prstGeom>
          <a:noFill/>
          <a:ln>
            <a:noFill/>
          </a:ln>
        </p:spPr>
        <p:txBody>
          <a:bodyPr spcFirstLastPara="1" wrap="square" lIns="91425" tIns="45700" rIns="91425" bIns="45700" anchor="t" anchorCtr="0">
            <a:spAutoFit/>
          </a:bodyPr>
          <a:lstStyle/>
          <a:p>
            <a:pPr marL="457200" indent="-457200">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With your partner, determine who is Partner A and who is Partner B. </a:t>
            </a:r>
          </a:p>
          <a:p>
            <a:pPr lvl="0"/>
            <a:endParaRPr lang="en-US" sz="1800" dirty="0">
              <a:latin typeface="Verdana" panose="020B0604030504040204" pitchFamily="34" charset="0"/>
              <a:ea typeface="Verdana" panose="020B0604030504040204" pitchFamily="34" charset="0"/>
              <a:cs typeface="Verdana" panose="020B0604030504040204" pitchFamily="34" charset="0"/>
            </a:endParaRPr>
          </a:p>
          <a:p>
            <a:pPr marL="917575" indent="-452438">
              <a:buAutoNum type="alphaLcPeriod"/>
            </a:pPr>
            <a:r>
              <a:rPr lang="en-US" sz="1800" dirty="0">
                <a:latin typeface="Verdana" panose="020B0604030504040204" pitchFamily="34" charset="0"/>
                <a:ea typeface="Verdana" panose="020B0604030504040204" pitchFamily="34" charset="0"/>
                <a:cs typeface="Verdana" panose="020B0604030504040204" pitchFamily="34" charset="0"/>
              </a:rPr>
              <a:t>Generate an equivalent exponential expression for each expression in your column using as few bases as possible.</a:t>
            </a:r>
          </a:p>
          <a:p>
            <a:pPr marL="457200" indent="-457200">
              <a:buAutoNum type="alphaL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sz="1800" dirty="0">
              <a:latin typeface="Verdana" panose="020B0604030504040204" pitchFamily="34" charset="0"/>
              <a:ea typeface="Verdana" panose="020B0604030504040204" pitchFamily="34" charset="0"/>
              <a:cs typeface="Verdana" panose="020B0604030504040204" pitchFamily="34" charset="0"/>
            </a:endParaRPr>
          </a:p>
        </p:txBody>
      </p:sp>
      <p:sp>
        <p:nvSpPr>
          <p:cNvPr id="200" name="Google Shape;200;p7"/>
          <p:cNvSpPr/>
          <p:nvPr/>
        </p:nvSpPr>
        <p:spPr>
          <a:xfrm>
            <a:off x="2756"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able&#10;&#10;Description automatically generated">
            <a:extLst>
              <a:ext uri="{FF2B5EF4-FFF2-40B4-BE49-F238E27FC236}">
                <a16:creationId xmlns:a16="http://schemas.microsoft.com/office/drawing/2014/main" id="{CF28D8A1-94DE-814B-A650-A17B27899A1C}"/>
              </a:ext>
            </a:extLst>
          </p:cNvPr>
          <p:cNvPicPr>
            <a:picLocks noChangeAspect="1"/>
          </p:cNvPicPr>
          <p:nvPr/>
        </p:nvPicPr>
        <p:blipFill>
          <a:blip r:embed="rId4"/>
          <a:stretch>
            <a:fillRect/>
          </a:stretch>
        </p:blipFill>
        <p:spPr>
          <a:xfrm>
            <a:off x="5963622" y="1251301"/>
            <a:ext cx="4574580" cy="5206373"/>
          </a:xfrm>
          <a:prstGeom prst="rect">
            <a:avLst/>
          </a:prstGeom>
        </p:spPr>
      </p:pic>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11"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138</a:t>
            </a:r>
            <a:endParaRPr i="1" dirty="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244600" y="410666"/>
            <a:ext cx="9853466" cy="1323399"/>
          </a:xfrm>
          <a:prstGeom prst="rect">
            <a:avLst/>
          </a:prstGeom>
          <a:noFill/>
          <a:ln>
            <a:noFill/>
          </a:ln>
        </p:spPr>
        <p:txBody>
          <a:bodyPr spcFirstLastPara="1" wrap="square" lIns="91425" tIns="45700" rIns="91425" bIns="45700" anchor="t" anchorCtr="0">
            <a:spAutoFit/>
          </a:bodyPr>
          <a:lstStyle/>
          <a:p>
            <a:pPr marL="350838" lvl="0" indent="-339725"/>
            <a:r>
              <a:rPr lang="en-US" sz="2000" dirty="0">
                <a:latin typeface="Verdana" panose="020B0604030504040204" pitchFamily="34" charset="0"/>
                <a:ea typeface="Verdana" panose="020B0604030504040204" pitchFamily="34" charset="0"/>
                <a:cs typeface="Verdana" panose="020B0604030504040204" pitchFamily="34" charset="0"/>
              </a:rPr>
              <a:t>b. The expressions in each row are equivalent. If your expression and your partner’s expressions are not equivalent, work together to find and correct any error(s). Then, write the equivalent expression in the middle column.</a:t>
            </a:r>
            <a:endParaRPr sz="2000" b="1" dirty="0">
              <a:latin typeface="Verdana" panose="020B0604030504040204" pitchFamily="34" charset="0"/>
              <a:ea typeface="Verdana" panose="020B0604030504040204" pitchFamily="34" charset="0"/>
              <a:cs typeface="Verdana" panose="020B0604030504040204" pitchFamily="34" charset="0"/>
            </a:endParaRPr>
          </a:p>
        </p:txBody>
      </p:sp>
      <p:sp>
        <p:nvSpPr>
          <p:cNvPr id="209" name="Google Shape;209;p8"/>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8"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138</a:t>
            </a:r>
            <a:endParaRPr i="1" dirty="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139</a:t>
            </a:r>
            <a:endParaRPr i="1" dirty="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359349" y="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3.7.6 Wrap-Up: Reflection</a:t>
            </a:r>
            <a:endParaRPr dirty="0"/>
          </a:p>
        </p:txBody>
      </p:sp>
      <p:pic>
        <p:nvPicPr>
          <p:cNvPr id="468" name="Google Shape;468;p34"/>
          <p:cNvPicPr preferRelativeResize="0"/>
          <p:nvPr/>
        </p:nvPicPr>
        <p:blipFill rotWithShape="1">
          <a:blip r:embed="rId3">
            <a:alphaModFix/>
          </a:blip>
          <a:srcRect/>
          <a:stretch/>
        </p:blipFill>
        <p:spPr>
          <a:xfrm>
            <a:off x="607367" y="227901"/>
            <a:ext cx="747300" cy="747300"/>
          </a:xfrm>
          <a:prstGeom prst="rect">
            <a:avLst/>
          </a:prstGeom>
          <a:noFill/>
          <a:ln>
            <a:noFill/>
          </a:ln>
          <a:effectLst>
            <a:outerShdw blurRad="50800" dist="38100" dir="2700000" algn="tl" rotWithShape="0">
              <a:srgbClr val="000000">
                <a:alpha val="40000"/>
              </a:srgbClr>
            </a:outerShdw>
          </a:effectLst>
        </p:spPr>
      </p:pic>
      <p:sp>
        <p:nvSpPr>
          <p:cNvPr id="469" name="Google Shape;469;p34"/>
          <p:cNvSpPr txBox="1"/>
          <p:nvPr/>
        </p:nvSpPr>
        <p:spPr>
          <a:xfrm>
            <a:off x="1447800" y="1386025"/>
            <a:ext cx="7679871" cy="400069"/>
          </a:xfrm>
          <a:prstGeom prst="rect">
            <a:avLst/>
          </a:prstGeom>
          <a:noFill/>
          <a:ln>
            <a:noFill/>
          </a:ln>
        </p:spPr>
        <p:txBody>
          <a:bodyPr spcFirstLastPara="1" wrap="square" lIns="91425" tIns="45700" rIns="91425" bIns="45700" anchor="t" anchorCtr="0">
            <a:spAutoFit/>
          </a:bodyPr>
          <a:lstStyle/>
          <a:p>
            <a:pPr marL="350838" lvl="0" indent="-350838"/>
            <a:r>
              <a:rPr lang="en-US" sz="2000" dirty="0">
                <a:latin typeface="Verdana" panose="020B0604030504040204" pitchFamily="34" charset="0"/>
                <a:ea typeface="Verdana" panose="020B0604030504040204" pitchFamily="34" charset="0"/>
                <a:cs typeface="Verdana" panose="020B0604030504040204" pitchFamily="34" charset="0"/>
              </a:rPr>
              <a:t>1. Write a summary of what you learned in this lesson.</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470" name="Google Shape;470;p34"/>
          <p:cNvSpPr/>
          <p:nvPr/>
        </p:nvSpPr>
        <p:spPr>
          <a:xfrm>
            <a:off x="-18035"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62676" y="6200599"/>
            <a:ext cx="563850" cy="657276"/>
          </a:xfrm>
          <a:prstGeom prst="rect">
            <a:avLst/>
          </a:prstGeom>
          <a:noFill/>
          <a:ln>
            <a:noFill/>
          </a:ln>
          <a:effectLst>
            <a:outerShdw blurRad="57150" dist="19050" dir="5400000" algn="bl" rotWithShape="0">
              <a:srgbClr val="000000">
                <a:alpha val="49803"/>
              </a:srgbClr>
            </a:outerShdw>
          </a:effectLst>
        </p:spPr>
      </p:pic>
      <p:sp>
        <p:nvSpPr>
          <p:cNvPr id="10" name="Google Shape;465;p34">
            <a:extLst>
              <a:ext uri="{FF2B5EF4-FFF2-40B4-BE49-F238E27FC236}">
                <a16:creationId xmlns:a16="http://schemas.microsoft.com/office/drawing/2014/main" id="{D7FF0664-9348-1C47-B808-7993867D51E9}"/>
              </a:ext>
            </a:extLst>
          </p:cNvPr>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139</a:t>
            </a:r>
            <a:endParaRPr i="1" dirty="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718</Words>
  <Application>Microsoft Office PowerPoint</Application>
  <PresentationFormat>Widescreen</PresentationFormat>
  <Paragraphs>137</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 Black</vt:lpstr>
      <vt:lpstr>Calibri</vt:lpstr>
      <vt:lpstr>Cambria Math</vt:lpstr>
      <vt:lpstr>Verdana</vt:lpstr>
      <vt:lpstr>1_Office Theme</vt:lpstr>
      <vt:lpstr>7th Grade Accelerated Math  Unit 3, Lesson 7  Equivalent Expressions  Volume 1, pg. 134  </vt:lpstr>
      <vt:lpstr>Benchmark</vt:lpstr>
      <vt:lpstr>PowerPoint Presentation</vt:lpstr>
      <vt:lpstr>PowerPoint Presentation</vt:lpstr>
      <vt:lpstr>Warm-Up</vt:lpstr>
      <vt:lpstr>PowerPoint Presentation</vt:lpstr>
      <vt:lpstr>Exploration</vt:lpstr>
      <vt:lpstr>PowerPoint Presentation</vt:lpstr>
      <vt:lpstr>Guided Instruction</vt:lpstr>
      <vt:lpstr>PowerPoint Presentation</vt:lpstr>
      <vt:lpstr>PowerPoint Presentation</vt:lpstr>
      <vt:lpstr>PowerPoint Presentation</vt:lpstr>
      <vt:lpstr>Guided Practice</vt:lpstr>
      <vt:lpstr>PowerPoint Presentation</vt:lpstr>
      <vt:lpstr>PowerPoint Presentation</vt:lpstr>
      <vt:lpstr>PowerPoint Presentation</vt:lpstr>
      <vt:lpstr>Collaboration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7th Grade Accelerated Math  Unit 3, Lesson 7  Equivalent Expressions  Volume 1, pg. 134  </dc:title>
  <dc:creator>Karen McKenzie</dc:creator>
  <cp:lastModifiedBy>Cassie O'Connor</cp:lastModifiedBy>
  <cp:revision>6</cp:revision>
  <dcterms:created xsi:type="dcterms:W3CDTF">2015-03-17T18:51:18Z</dcterms:created>
  <dcterms:modified xsi:type="dcterms:W3CDTF">2022-07-27T02:56:17Z</dcterms:modified>
</cp:coreProperties>
</file>