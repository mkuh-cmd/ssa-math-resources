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6" r:id="rId2"/>
    <p:sldId id="257" r:id="rId3"/>
    <p:sldId id="285" r:id="rId4"/>
    <p:sldId id="286" r:id="rId5"/>
    <p:sldId id="261" r:id="rId6"/>
    <p:sldId id="287" r:id="rId7"/>
    <p:sldId id="332" r:id="rId8"/>
    <p:sldId id="333" r:id="rId9"/>
    <p:sldId id="334" r:id="rId10"/>
    <p:sldId id="338" r:id="rId11"/>
    <p:sldId id="339" r:id="rId12"/>
    <p:sldId id="340" r:id="rId13"/>
    <p:sldId id="349" r:id="rId14"/>
    <p:sldId id="350" r:id="rId15"/>
    <p:sldId id="335" r:id="rId16"/>
    <p:sldId id="336" r:id="rId17"/>
    <p:sldId id="351" r:id="rId18"/>
    <p:sldId id="337" r:id="rId19"/>
    <p:sldId id="344" r:id="rId20"/>
    <p:sldId id="345" r:id="rId21"/>
    <p:sldId id="352" r:id="rId22"/>
    <p:sldId id="341" r:id="rId23"/>
    <p:sldId id="342" r:id="rId24"/>
    <p:sldId id="343" r:id="rId25"/>
    <p:sldId id="353" r:id="rId26"/>
    <p:sldId id="354" r:id="rId27"/>
    <p:sldId id="346" r:id="rId28"/>
    <p:sldId id="347" r:id="rId29"/>
    <p:sldId id="348" r:id="rId30"/>
    <p:sldId id="302" r:id="rId31"/>
    <p:sldId id="303" r:id="rId32"/>
    <p:sldId id="309" r:id="rId33"/>
    <p:sldId id="355" r:id="rId34"/>
    <p:sldId id="306" r:id="rId35"/>
    <p:sldId id="307"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FCBD1E"/>
    <a:srgbClr val="C9DF6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273"/>
    <p:restoredTop sz="94694"/>
  </p:normalViewPr>
  <p:slideViewPr>
    <p:cSldViewPr snapToGrid="0">
      <p:cViewPr varScale="1">
        <p:scale>
          <a:sx n="116" d="100"/>
          <a:sy n="116" d="100"/>
        </p:scale>
        <p:origin x="216" y="2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512785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052593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5006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630179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91429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84884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36147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921888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041524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7863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64861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33904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811530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051263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91433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301369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70289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030829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224708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883166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0200469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5622651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547636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540458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8270616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Product Laws of Exponents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99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601899" y="15151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78399" y="38729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25699" y="1600200"/>
            <a:ext cx="914060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MA.7.NSO.1.1 </a:t>
            </a:r>
          </a:p>
          <a:p>
            <a:pPr marL="468313" indent="0">
              <a:buNone/>
            </a:pPr>
            <a:r>
              <a:rPr lang="en-US" sz="2400" dirty="0">
                <a:latin typeface="Verdana" charset="0"/>
                <a:ea typeface="Verdana" charset="0"/>
                <a:cs typeface="Verdana" charset="0"/>
              </a:rPr>
              <a:t>Know and apply the Laws of Exponents to evaluate numerical expressions and generate equivalent numerical expressions, limited to whole-number exponents and rational number bases.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883331" y="34386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07981" y="10123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30631" y="1596390"/>
            <a:ext cx="951849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78;g104476d1465_1_17">
            <a:extLst>
              <a:ext uri="{FF2B5EF4-FFF2-40B4-BE49-F238E27FC236}">
                <a16:creationId xmlns:a16="http://schemas.microsoft.com/office/drawing/2014/main" id="{0EC4A24D-AC58-5143-9A1A-1E71E28DFCF5}"/>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99</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84721"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02559"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84721" y="1600200"/>
            <a:ext cx="922255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charset="2"/>
              <a:buChar char="q"/>
            </a:pPr>
            <a:r>
              <a:rPr lang="en-US" sz="2400" dirty="0">
                <a:latin typeface="Verdana" charset="0"/>
                <a:ea typeface="Verdana" charset="0"/>
                <a:cs typeface="Verdana" charset="0"/>
              </a:rPr>
              <a:t>I can explain and use the power of a product, power of a power, product of powers, and identity laws of exponents.</a:t>
            </a:r>
          </a:p>
        </p:txBody>
      </p:sp>
      <p:sp>
        <p:nvSpPr>
          <p:cNvPr id="8" name="Google Shape;278;g104476d1465_1_17">
            <a:extLst>
              <a:ext uri="{FF2B5EF4-FFF2-40B4-BE49-F238E27FC236}">
                <a16:creationId xmlns:a16="http://schemas.microsoft.com/office/drawing/2014/main" id="{7BA09A98-EDA0-5343-AD77-8F8E8C4F0E7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04601" y="-89575"/>
            <a:ext cx="93283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3.1.1 Warm-Up: Help You Grow</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57301"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404601" y="1386025"/>
            <a:ext cx="9638830"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Two artists are drawing a plant. As they go through the process, both artists make mistakes and start over on their drawings. One of the artists crumples their papers up and throws them on the floor. The other artist hangs them on the wall next to where she is working.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What do you think is the purpose of hanging up the drawings with mistakes? </a:t>
            </a:r>
          </a:p>
        </p:txBody>
      </p:sp>
      <p:sp>
        <p:nvSpPr>
          <p:cNvPr id="9" name="Google Shape;278;g104476d1465_1_17">
            <a:extLst>
              <a:ext uri="{FF2B5EF4-FFF2-40B4-BE49-F238E27FC236}">
                <a16:creationId xmlns:a16="http://schemas.microsoft.com/office/drawing/2014/main" id="{C2564F7E-689E-724F-BBC4-EC8DFC52E6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68040" y="3102659"/>
            <a:ext cx="5699760" cy="2448786"/>
          </a:xfrm>
          <a:prstGeom prst="rect">
            <a:avLst/>
          </a:prstGeom>
        </p:spPr>
      </p:pic>
      <p:sp>
        <p:nvSpPr>
          <p:cNvPr id="10"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99</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52706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19416" y="603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3.1.2 Exploration: Product of Powers Exponent Law</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63118" y="308452"/>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656572" y="1386026"/>
            <a:ext cx="9134888" cy="1323439"/>
          </a:xfrm>
          <a:prstGeom prst="rect">
            <a:avLst/>
          </a:prstGeom>
          <a:noFill/>
        </p:spPr>
        <p:txBody>
          <a:bodyPr wrap="square" rtlCol="0">
            <a:spAutoFit/>
          </a:bodyPr>
          <a:lstStyle/>
          <a:p>
            <a:r>
              <a:rPr lang="en-US" sz="2000" dirty="0">
                <a:latin typeface="Verdana" charset="0"/>
                <a:ea typeface="Verdana" charset="0"/>
                <a:cs typeface="Verdana" charset="0"/>
              </a:rPr>
              <a:t>Recall that repeated multiplication is a way of writing a number with an exponent.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The number 2, called the </a:t>
            </a:r>
            <a:r>
              <a:rPr lang="en-US" sz="2000" b="1" i="1" dirty="0">
                <a:latin typeface="Verdana" charset="0"/>
                <a:ea typeface="Verdana" charset="0"/>
                <a:cs typeface="Verdana" charset="0"/>
              </a:rPr>
              <a:t>base</a:t>
            </a:r>
            <a:r>
              <a:rPr lang="en-US" sz="2000" b="1" dirty="0">
                <a:latin typeface="Verdana" charset="0"/>
                <a:ea typeface="Verdana" charset="0"/>
                <a:cs typeface="Verdana" charset="0"/>
              </a:rPr>
              <a:t>,</a:t>
            </a:r>
            <a:r>
              <a:rPr lang="en-US" sz="2000" dirty="0">
                <a:latin typeface="Verdana" charset="0"/>
                <a:ea typeface="Verdana" charset="0"/>
                <a:cs typeface="Verdana" charset="0"/>
              </a:rPr>
              <a:t> is being multiplied repeatedly. </a:t>
            </a:r>
          </a:p>
        </p:txBody>
      </p:sp>
      <p:sp>
        <p:nvSpPr>
          <p:cNvPr id="9" name="Google Shape;278;g104476d1465_1_17">
            <a:extLst>
              <a:ext uri="{FF2B5EF4-FFF2-40B4-BE49-F238E27FC236}">
                <a16:creationId xmlns:a16="http://schemas.microsoft.com/office/drawing/2014/main" id="{6200F4BF-3C27-A748-A63E-5BC45D57275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883660" y="3034785"/>
            <a:ext cx="4394200" cy="1333500"/>
          </a:xfrm>
          <a:prstGeom prst="rect">
            <a:avLst/>
          </a:prstGeom>
        </p:spPr>
      </p:pic>
      <p:sp>
        <p:nvSpPr>
          <p:cNvPr id="11" name="Text Box 24"/>
          <p:cNvSpPr txBox="1"/>
          <p:nvPr/>
        </p:nvSpPr>
        <p:spPr>
          <a:xfrm>
            <a:off x="2909316" y="4798854"/>
            <a:ext cx="6629400" cy="1218482"/>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dirty="0">
                <a:solidFill>
                  <a:schemeClr val="accent6"/>
                </a:solidFill>
                <a:latin typeface="Verdana" charset="0"/>
                <a:ea typeface="Verdana" charset="0"/>
                <a:cs typeface="Verdana" charset="0"/>
              </a:rPr>
              <a:t>A</a:t>
            </a:r>
            <a:r>
              <a:rPr lang="en-US" sz="2000" b="1" i="1" dirty="0">
                <a:solidFill>
                  <a:schemeClr val="accent6"/>
                </a:solidFill>
                <a:latin typeface="Verdana" charset="0"/>
                <a:ea typeface="Verdana" charset="0"/>
                <a:cs typeface="Verdana" charset="0"/>
              </a:rPr>
              <a:t> base</a:t>
            </a:r>
            <a:r>
              <a:rPr lang="en-US" sz="2000" b="1" dirty="0">
                <a:solidFill>
                  <a:schemeClr val="accent6"/>
                </a:solidFill>
                <a:latin typeface="Verdana" charset="0"/>
                <a:ea typeface="Verdana" charset="0"/>
                <a:cs typeface="Verdana" charset="0"/>
              </a:rPr>
              <a:t> </a:t>
            </a:r>
            <a:r>
              <a:rPr lang="en-US" sz="2000" dirty="0">
                <a:solidFill>
                  <a:schemeClr val="accent6"/>
                </a:solidFill>
                <a:latin typeface="Verdana" charset="0"/>
                <a:ea typeface="Verdana" charset="0"/>
                <a:cs typeface="Verdana" charset="0"/>
              </a:rPr>
              <a:t>is the number used as a factor in exponential form.</a:t>
            </a:r>
          </a:p>
        </p:txBody>
      </p:sp>
      <p:pic>
        <p:nvPicPr>
          <p:cNvPr id="12" name="Picture 1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97817" y="5064019"/>
            <a:ext cx="558119" cy="570949"/>
          </a:xfrm>
          <a:prstGeom prst="rect">
            <a:avLst/>
          </a:prstGeom>
          <a:effectLst>
            <a:outerShdw blurRad="50800" dist="76200" dir="2700000" algn="tl" rotWithShape="0">
              <a:prstClr val="black">
                <a:alpha val="40000"/>
              </a:prstClr>
            </a:outerShdw>
          </a:effectLst>
        </p:spPr>
      </p:pic>
      <p:sp>
        <p:nvSpPr>
          <p:cNvPr id="13"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100</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3442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2007765" y="374090"/>
            <a:ext cx="8327136" cy="461665"/>
          </a:xfrm>
          <a:prstGeom prst="rect">
            <a:avLst/>
          </a:prstGeom>
          <a:noFill/>
        </p:spPr>
        <p:txBody>
          <a:bodyPr wrap="square" rtlCol="0">
            <a:spAutoFit/>
          </a:bodyPr>
          <a:lstStyle/>
          <a:p>
            <a:r>
              <a:rPr lang="en-US" sz="2400" dirty="0"/>
              <a:t>Since the base, 2, is a factor 3 times, the </a:t>
            </a:r>
            <a:r>
              <a:rPr lang="en-US" sz="2400" b="1" i="1" dirty="0"/>
              <a:t>exponent</a:t>
            </a:r>
            <a:r>
              <a:rPr lang="en-US" sz="2400" dirty="0"/>
              <a:t> is 3. </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2978553" y="2651862"/>
            <a:ext cx="6629400" cy="1218482"/>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dirty="0">
                <a:solidFill>
                  <a:schemeClr val="accent6"/>
                </a:solidFill>
                <a:latin typeface="Verdana" charset="0"/>
                <a:ea typeface="Verdana" charset="0"/>
                <a:cs typeface="Verdana" charset="0"/>
              </a:rPr>
              <a:t>An</a:t>
            </a:r>
            <a:r>
              <a:rPr lang="en-US" sz="2000" b="1" i="1" dirty="0">
                <a:solidFill>
                  <a:schemeClr val="accent6"/>
                </a:solidFill>
                <a:latin typeface="Verdana" charset="0"/>
                <a:ea typeface="Verdana" charset="0"/>
                <a:cs typeface="Verdana" charset="0"/>
              </a:rPr>
              <a:t> exponent</a:t>
            </a:r>
            <a:r>
              <a:rPr lang="en-US" sz="2000" b="1" dirty="0">
                <a:solidFill>
                  <a:schemeClr val="accent6"/>
                </a:solidFill>
                <a:latin typeface="Verdana" charset="0"/>
                <a:ea typeface="Verdana" charset="0"/>
                <a:cs typeface="Verdana" charset="0"/>
              </a:rPr>
              <a:t> </a:t>
            </a:r>
            <a:r>
              <a:rPr lang="en-US" sz="2000" dirty="0">
                <a:solidFill>
                  <a:schemeClr val="accent6"/>
                </a:solidFill>
                <a:latin typeface="Verdana" charset="0"/>
                <a:ea typeface="Verdana" charset="0"/>
                <a:cs typeface="Verdana" charset="0"/>
              </a:rPr>
              <a:t>is the number of times the base occurs as a factor.</a:t>
            </a:r>
          </a:p>
        </p:txBody>
      </p:sp>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267054" y="2917027"/>
            <a:ext cx="558119" cy="570949"/>
          </a:xfrm>
          <a:prstGeom prst="rect">
            <a:avLst/>
          </a:prstGeom>
          <a:effectLst>
            <a:outerShdw blurRad="50800" dist="76200" dir="2700000" algn="tl" rotWithShape="0">
              <a:prstClr val="black">
                <a:alpha val="40000"/>
              </a:prstClr>
            </a:outerShdw>
          </a:effectLst>
        </p:spPr>
      </p:pic>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304433" y="1096108"/>
            <a:ext cx="3733800" cy="1295400"/>
          </a:xfrm>
          <a:prstGeom prst="rect">
            <a:avLst/>
          </a:prstGeom>
        </p:spPr>
      </p:pic>
      <p:sp>
        <p:nvSpPr>
          <p:cNvPr id="3" name="Rectangle 2"/>
          <p:cNvSpPr/>
          <p:nvPr/>
        </p:nvSpPr>
        <p:spPr>
          <a:xfrm>
            <a:off x="1274165" y="4207617"/>
            <a:ext cx="9665664" cy="1738938"/>
          </a:xfrm>
          <a:prstGeom prst="rect">
            <a:avLst/>
          </a:prstGeom>
        </p:spPr>
        <p:txBody>
          <a:bodyPr wrap="square">
            <a:spAutoFit/>
          </a:bodyPr>
          <a:lstStyle/>
          <a:p>
            <a:pPr marL="342900" indent="-342900">
              <a:lnSpc>
                <a:spcPct val="107000"/>
              </a:lnSpc>
              <a:buFont typeface="+mj-lt"/>
              <a:buAutoNum type="arabicPeriod"/>
            </a:pPr>
            <a:r>
              <a:rPr lang="en-US" sz="2000" dirty="0">
                <a:latin typeface="Verdana" charset="0"/>
                <a:ea typeface="Verdana" charset="0"/>
                <a:cs typeface="Verdana" charset="0"/>
              </a:rPr>
              <a:t>With your partner, use the definition of an exponent to complete the table. </a:t>
            </a:r>
          </a:p>
          <a:p>
            <a:pPr marL="457200">
              <a:lnSpc>
                <a:spcPct val="107000"/>
              </a:lnSpc>
            </a:pPr>
            <a:r>
              <a:rPr lang="en-US" sz="2000" dirty="0">
                <a:latin typeface="Verdana" charset="0"/>
                <a:ea typeface="Verdana" charset="0"/>
                <a:cs typeface="Verdana" charset="0"/>
              </a:rPr>
              <a:t> </a:t>
            </a:r>
          </a:p>
          <a:p>
            <a:pPr marL="920750" indent="-452438">
              <a:lnSpc>
                <a:spcPct val="107000"/>
              </a:lnSpc>
              <a:buFont typeface="+mj-lt"/>
              <a:buAutoNum type="alphaLcPeriod"/>
            </a:pPr>
            <a:r>
              <a:rPr lang="en-US" sz="2000" dirty="0">
                <a:latin typeface="Verdana" charset="0"/>
                <a:ea typeface="Verdana" charset="0"/>
                <a:cs typeface="Verdana" charset="0"/>
              </a:rPr>
              <a:t>Write each product as a repeated multiplication expression. Then, write each expression with an exponent. </a:t>
            </a:r>
          </a:p>
        </p:txBody>
      </p:sp>
      <p:sp>
        <p:nvSpPr>
          <p:cNvPr id="10"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8032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543988" y="3742129"/>
            <a:ext cx="9700568" cy="163121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How do the exponents in the first column relate to the exponents in the last column?</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What do you notice about the bases in all three columns?</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52119217"/>
                  </p:ext>
                </p:extLst>
              </p:nvPr>
            </p:nvGraphicFramePr>
            <p:xfrm>
              <a:off x="2266633" y="520255"/>
              <a:ext cx="7786343" cy="2891039"/>
            </p:xfrm>
            <a:graphic>
              <a:graphicData uri="http://schemas.openxmlformats.org/drawingml/2006/table">
                <a:tbl>
                  <a:tblPr firstRow="1" firstCol="1" bandRow="1"/>
                  <a:tblGrid>
                    <a:gridCol w="1461095">
                      <a:extLst>
                        <a:ext uri="{9D8B030D-6E8A-4147-A177-3AD203B41FA5}">
                          <a16:colId xmlns:a16="http://schemas.microsoft.com/office/drawing/2014/main" val="20000"/>
                        </a:ext>
                      </a:extLst>
                    </a:gridCol>
                    <a:gridCol w="4394383">
                      <a:extLst>
                        <a:ext uri="{9D8B030D-6E8A-4147-A177-3AD203B41FA5}">
                          <a16:colId xmlns:a16="http://schemas.microsoft.com/office/drawing/2014/main" val="20001"/>
                        </a:ext>
                      </a:extLst>
                    </a:gridCol>
                    <a:gridCol w="1930865">
                      <a:extLst>
                        <a:ext uri="{9D8B030D-6E8A-4147-A177-3AD203B41FA5}">
                          <a16:colId xmlns:a16="http://schemas.microsoft.com/office/drawing/2014/main" val="20002"/>
                        </a:ext>
                      </a:extLst>
                    </a:gridCol>
                  </a:tblGrid>
                  <a:tr h="608510">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Product</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Repeated Multiplication</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Power of the Form </a:t>
                          </a:r>
                          <a14:m>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𝒂</m:t>
                                  </m:r>
                                </m:e>
                                <m:sup>
                                  <m:r>
                                    <a:rPr lang="en-US" sz="2000" b="1" i="1">
                                      <a:effectLst/>
                                      <a:latin typeface="Cambria Math" panose="02040503050406030204" pitchFamily="18" charset="0"/>
                                      <a:ea typeface="Verdana" charset="0"/>
                                      <a:cs typeface="Verdana" charset="0"/>
                                    </a:rPr>
                                    <m:t>𝒃</m:t>
                                  </m:r>
                                </m:sup>
                              </m:sSup>
                            </m:oMath>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8019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2</m:t>
                                    </m:r>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2</m:t>
                                    </m:r>
                                  </m:e>
                                  <m:sup>
                                    <m:r>
                                      <a:rPr lang="en-US" sz="2000" i="1">
                                        <a:effectLst/>
                                        <a:latin typeface="Cambria Math" panose="02040503050406030204" pitchFamily="18" charset="0"/>
                                        <a:ea typeface="Verdana" charset="0"/>
                                        <a:cs typeface="Verdana" charset="0"/>
                                      </a:rPr>
                                      <m:t>3</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2∙2</m:t>
                                    </m:r>
                                  </m:e>
                                </m:d>
                                <m:r>
                                  <a:rPr lang="en-US" sz="2000" i="1">
                                    <a:effectLst/>
                                    <a:latin typeface="Cambria Math" panose="02040503050406030204" pitchFamily="18" charset="0"/>
                                    <a:ea typeface="Verdana" charset="0"/>
                                    <a:cs typeface="Verdana" charset="0"/>
                                  </a:rPr>
                                  <m:t>∙</m:t>
                                </m:r>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2∙2∙2</m:t>
                                    </m:r>
                                  </m:e>
                                </m:d>
                                <m:r>
                                  <a:rPr lang="en-US" sz="2000" i="1">
                                    <a:effectLst/>
                                    <a:latin typeface="Cambria Math" panose="02040503050406030204" pitchFamily="18" charset="0"/>
                                    <a:ea typeface="Verdana" charset="0"/>
                                    <a:cs typeface="Verdana" charset="0"/>
                                  </a:rPr>
                                  <m:t>=2∙2</m:t>
                                </m:r>
                                <m:r>
                                  <a:rPr lang="en-US" sz="2000" b="1" i="1">
                                    <a:effectLst/>
                                    <a:latin typeface="Cambria Math" panose="02040503050406030204" pitchFamily="18" charset="0"/>
                                    <a:ea typeface="Verdana" charset="0"/>
                                    <a:cs typeface="Verdana" charset="0"/>
                                  </a:rPr>
                                  <m:t>∙</m:t>
                                </m:r>
                                <m:r>
                                  <a:rPr lang="en-US" sz="2000" i="1">
                                    <a:effectLst/>
                                    <a:latin typeface="Cambria Math" panose="02040503050406030204" pitchFamily="18" charset="0"/>
                                    <a:ea typeface="Verdana" charset="0"/>
                                    <a:cs typeface="Verdana" charset="0"/>
                                  </a:rPr>
                                  <m:t>2∙2∙2</m:t>
                                </m:r>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2</m:t>
                                    </m:r>
                                  </m:e>
                                  <m:sup>
                                    <m:r>
                                      <a:rPr lang="en-US" sz="2000" i="1">
                                        <a:effectLst/>
                                        <a:latin typeface="Cambria Math" panose="02040503050406030204" pitchFamily="18" charset="0"/>
                                        <a:ea typeface="Verdana" charset="0"/>
                                        <a:cs typeface="Verdana" charset="0"/>
                                      </a:rPr>
                                      <m:t>5</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715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3</m:t>
                                    </m:r>
                                  </m:e>
                                  <m:sup>
                                    <m:r>
                                      <a:rPr lang="en-US" sz="2000" i="1">
                                        <a:effectLst/>
                                        <a:latin typeface="Cambria Math" panose="02040503050406030204" pitchFamily="18" charset="0"/>
                                        <a:ea typeface="Verdana" charset="0"/>
                                        <a:cs typeface="Verdana" charset="0"/>
                                      </a:rPr>
                                      <m:t>5</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3</m:t>
                                    </m:r>
                                  </m:e>
                                  <m:sup>
                                    <m:r>
                                      <a:rPr lang="en-US" sz="2000" i="1">
                                        <a:effectLst/>
                                        <a:latin typeface="Cambria Math" panose="02040503050406030204" pitchFamily="18" charset="0"/>
                                        <a:ea typeface="Verdana" charset="0"/>
                                        <a:cs typeface="Verdana" charset="0"/>
                                      </a:rPr>
                                      <m:t>4</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3715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5</m:t>
                                    </m:r>
                                  </m:e>
                                  <m:sup>
                                    <m:r>
                                      <a:rPr lang="en-US" sz="2000" i="1">
                                        <a:effectLst/>
                                        <a:latin typeface="Cambria Math" panose="02040503050406030204" pitchFamily="18" charset="0"/>
                                        <a:ea typeface="Verdana" charset="0"/>
                                        <a:cs typeface="Verdana" charset="0"/>
                                      </a:rPr>
                                      <m:t>1</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5</m:t>
                                    </m:r>
                                  </m:e>
                                  <m:sup>
                                    <m:r>
                                      <a:rPr lang="en-US" sz="2000" i="1">
                                        <a:effectLst/>
                                        <a:latin typeface="Cambria Math" panose="02040503050406030204" pitchFamily="18" charset="0"/>
                                        <a:ea typeface="Verdana" charset="0"/>
                                        <a:cs typeface="Verdana" charset="0"/>
                                      </a:rPr>
                                      <m:t>4</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5</m:t>
                                    </m:r>
                                  </m:e>
                                  <m:sup>
                                    <m:r>
                                      <a:rPr lang="en-US" sz="2000" i="1">
                                        <a:effectLst/>
                                        <a:latin typeface="Cambria Math" panose="02040503050406030204" pitchFamily="18" charset="0"/>
                                        <a:ea typeface="Verdana" charset="0"/>
                                        <a:cs typeface="Verdana" charset="0"/>
                                      </a:rPr>
                                      <m:t>3</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52119217"/>
                  </p:ext>
                </p:extLst>
              </p:nvPr>
            </p:nvGraphicFramePr>
            <p:xfrm>
              <a:off x="742632" y="520255"/>
              <a:ext cx="7786343" cy="2891039"/>
            </p:xfrm>
            <a:graphic>
              <a:graphicData uri="http://schemas.openxmlformats.org/drawingml/2006/table">
                <a:tbl>
                  <a:tblPr firstRow="1" firstCol="1" bandRow="1"/>
                  <a:tblGrid>
                    <a:gridCol w="1461095"/>
                    <a:gridCol w="4394383"/>
                    <a:gridCol w="1930865"/>
                  </a:tblGrid>
                  <a:tr h="636524">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Product</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Repeated Multiplication</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303785" t="-13333" r="-631" b="-354286"/>
                          </a:stretch>
                        </a:blipFill>
                      </a:tcPr>
                    </a:tc>
                  </a:tr>
                  <a:tr h="580197">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417" t="-125263" r="-433750" b="-291579"/>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33380" t="-125263" r="-44183" b="-291579"/>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303785" t="-125263" r="-631" b="-291579"/>
                          </a:stretch>
                        </a:blipFill>
                      </a:tcPr>
                    </a:tc>
                  </a:tr>
                  <a:tr h="83715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417" t="-156204" r="-433750" b="-102190"/>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715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417" t="-254348" r="-433750" b="-1449"/>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56454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139252" y="374089"/>
            <a:ext cx="10064162"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Write a rule for the product of two exponential expressions with the same base.</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2909316" y="1371398"/>
            <a:ext cx="6629400" cy="2027123"/>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b="1" dirty="0">
                <a:solidFill>
                  <a:srgbClr val="417DBF"/>
                </a:solidFill>
                <a:latin typeface="Verdana" charset="0"/>
                <a:ea typeface="Verdana" charset="0"/>
                <a:cs typeface="Verdana" charset="0"/>
              </a:rPr>
              <a:t>Product of Powers Exponent Law</a:t>
            </a:r>
            <a:endParaRPr lang="en-US" sz="2000" dirty="0">
              <a:solidFill>
                <a:srgbClr val="417DBF"/>
              </a:solidFill>
              <a:latin typeface="Verdana" charset="0"/>
              <a:ea typeface="Verdana" charset="0"/>
              <a:cs typeface="Verdana" charset="0"/>
            </a:endParaRPr>
          </a:p>
          <a:p>
            <a:pPr marL="920750"/>
            <a:r>
              <a:rPr lang="en-US" sz="2000" dirty="0">
                <a:solidFill>
                  <a:srgbClr val="417DBF"/>
                </a:solidFill>
                <a:latin typeface="Verdana" charset="0"/>
                <a:ea typeface="Verdana" charset="0"/>
                <a:cs typeface="Verdana" charset="0"/>
              </a:rPr>
              <a:t>When multiplying two powers that have the same nonzero base, </a:t>
            </a:r>
            <a:r>
              <a:rPr lang="en-US" sz="2000" b="1" u="sng" dirty="0">
                <a:solidFill>
                  <a:srgbClr val="417DBF"/>
                </a:solidFill>
                <a:latin typeface="Verdana" charset="0"/>
                <a:ea typeface="Verdana" charset="0"/>
                <a:cs typeface="Verdana" charset="0"/>
              </a:rPr>
              <a:t>			</a:t>
            </a:r>
            <a:r>
              <a:rPr lang="en-US" sz="2000" dirty="0">
                <a:solidFill>
                  <a:srgbClr val="417DBF"/>
                </a:solidFill>
                <a:latin typeface="Verdana" charset="0"/>
                <a:ea typeface="Verdana" charset="0"/>
                <a:cs typeface="Verdana" charset="0"/>
              </a:rPr>
              <a:t> the exponents and keep the same base.</a:t>
            </a:r>
          </a:p>
        </p:txBody>
      </p:sp>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165839" y="1557134"/>
            <a:ext cx="542544" cy="530352"/>
          </a:xfrm>
          <a:prstGeom prst="rect">
            <a:avLst/>
          </a:prstGeom>
          <a:effectLst>
            <a:outerShdw blurRad="50800" dist="76200" dir="2700000" algn="tl" rotWithShape="0">
              <a:prstClr val="black">
                <a:alpha val="40000"/>
              </a:prstClr>
            </a:outerShdw>
          </a:effectLst>
        </p:spPr>
      </p:pic>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37616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184223" y="374090"/>
            <a:ext cx="9974220" cy="2862322"/>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With your partner, follow the steps.</a:t>
            </a:r>
          </a:p>
          <a:p>
            <a:r>
              <a:rPr lang="en-US" sz="2000" dirty="0">
                <a:latin typeface="Verdana" charset="0"/>
                <a:ea typeface="Verdana" charset="0"/>
                <a:cs typeface="Verdana" charset="0"/>
              </a:rPr>
              <a:t> </a:t>
            </a:r>
          </a:p>
          <a:p>
            <a:pPr marL="920750" indent="-452438">
              <a:buFont typeface="Arial" charset="0"/>
              <a:buChar char="•"/>
            </a:pPr>
            <a:r>
              <a:rPr lang="en-US" sz="2000" dirty="0">
                <a:latin typeface="Verdana" charset="0"/>
                <a:ea typeface="Verdana" charset="0"/>
                <a:cs typeface="Verdana" charset="0"/>
              </a:rPr>
              <a:t>Determine which column you will start in, and which column your partner will start in. </a:t>
            </a:r>
          </a:p>
          <a:p>
            <a:pPr marL="920750" indent="-452438">
              <a:buFont typeface="Arial" charset="0"/>
              <a:buChar char="•"/>
            </a:pPr>
            <a:r>
              <a:rPr lang="en-US" sz="2000" dirty="0">
                <a:latin typeface="Verdana" charset="0"/>
                <a:ea typeface="Verdana" charset="0"/>
                <a:cs typeface="Verdana" charset="0"/>
              </a:rPr>
              <a:t>Using the directions for your column, evaluate the expression. Your partner should use the directions in their column to evaluate the same expression. </a:t>
            </a:r>
          </a:p>
          <a:p>
            <a:pPr marL="920750" indent="-452438">
              <a:buFont typeface="Arial" charset="0"/>
              <a:buChar char="•"/>
            </a:pPr>
            <a:r>
              <a:rPr lang="en-US" sz="2000" dirty="0">
                <a:latin typeface="Verdana" charset="0"/>
                <a:ea typeface="Verdana" charset="0"/>
                <a:cs typeface="Verdana" charset="0"/>
              </a:rPr>
              <a:t>Verify if your answers are the same. If not, find the error(s).</a:t>
            </a:r>
          </a:p>
          <a:p>
            <a:pPr marL="920750" indent="-452438">
              <a:buFont typeface="Arial" charset="0"/>
              <a:buChar char="•"/>
            </a:pPr>
            <a:r>
              <a:rPr lang="en-US" sz="2000" dirty="0">
                <a:latin typeface="Verdana" charset="0"/>
                <a:ea typeface="Verdana" charset="0"/>
                <a:cs typeface="Verdana" charset="0"/>
              </a:rPr>
              <a:t>After each problem, switch columns.</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101</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40551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2007765" y="374089"/>
            <a:ext cx="8327136" cy="400110"/>
          </a:xfrm>
          <a:prstGeom prst="rect">
            <a:avLst/>
          </a:prstGeom>
          <a:noFill/>
        </p:spPr>
        <p:txBody>
          <a:bodyPr wrap="square" rtlCol="0">
            <a:spAutoFit/>
          </a:bodyPr>
          <a:lstStyle/>
          <a:p>
            <a:r>
              <a:rPr lang="en-US" sz="2000" dirty="0">
                <a:latin typeface="Verdana" charset="0"/>
                <a:ea typeface="Verdana" charset="0"/>
                <a:cs typeface="Verdana" charset="0"/>
              </a:rPr>
              <a:t> The first expression has been evaluated.</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886714089"/>
                  </p:ext>
                </p:extLst>
              </p:nvPr>
            </p:nvGraphicFramePr>
            <p:xfrm>
              <a:off x="2101209" y="991061"/>
              <a:ext cx="7847542" cy="5446016"/>
            </p:xfrm>
            <a:graphic>
              <a:graphicData uri="http://schemas.openxmlformats.org/drawingml/2006/table">
                <a:tbl>
                  <a:tblPr firstRow="1" firstCol="1" bandRow="1"/>
                  <a:tblGrid>
                    <a:gridCol w="3674238">
                      <a:extLst>
                        <a:ext uri="{9D8B030D-6E8A-4147-A177-3AD203B41FA5}">
                          <a16:colId xmlns:a16="http://schemas.microsoft.com/office/drawing/2014/main" val="20000"/>
                        </a:ext>
                      </a:extLst>
                    </a:gridCol>
                    <a:gridCol w="4173304">
                      <a:extLst>
                        <a:ext uri="{9D8B030D-6E8A-4147-A177-3AD203B41FA5}">
                          <a16:colId xmlns:a16="http://schemas.microsoft.com/office/drawing/2014/main" val="20001"/>
                        </a:ext>
                      </a:extLst>
                    </a:gridCol>
                  </a:tblGrid>
                  <a:tr h="920198">
                    <a:tc>
                      <a:txBody>
                        <a:bodyPr/>
                        <a:lstStyle/>
                        <a:p>
                          <a:pPr marL="0" marR="0" algn="ctr">
                            <a:lnSpc>
                              <a:spcPct val="107000"/>
                            </a:lnSpc>
                            <a:spcBef>
                              <a:spcPts val="0"/>
                            </a:spcBef>
                            <a:spcAft>
                              <a:spcPts val="0"/>
                            </a:spcAft>
                          </a:pPr>
                          <a:r>
                            <a:rPr lang="en-US" sz="2000" b="1" dirty="0">
                              <a:effectLst/>
                              <a:latin typeface="Verdana" charset="0"/>
                              <a:ea typeface="Verdana" charset="0"/>
                              <a:cs typeface="Verdana" charset="0"/>
                            </a:rPr>
                            <a:t>Evaluate each power, then multiply.</a:t>
                          </a:r>
                          <a:endParaRPr lang="en-US" sz="2000" dirty="0">
                            <a:effectLst/>
                            <a:latin typeface="Verdana" charset="0"/>
                            <a:ea typeface="Verdana" charset="0"/>
                            <a:cs typeface="Verdana" charset="0"/>
                          </a:endParaRPr>
                        </a:p>
                      </a:txBody>
                      <a:tcPr marL="40668" marR="406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Apply the product of powers exponent law, then evaluate the power.</a:t>
                          </a:r>
                          <a:endParaRPr lang="en-US" sz="2000">
                            <a:effectLst/>
                            <a:latin typeface="Verdana" charset="0"/>
                            <a:ea typeface="Verdana" charset="0"/>
                            <a:cs typeface="Verdana" charset="0"/>
                          </a:endParaRPr>
                        </a:p>
                      </a:txBody>
                      <a:tcPr marL="40668" marR="406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23267">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𝟕</m:t>
                                    </m:r>
                                  </m:e>
                                  <m:sup>
                                    <m:r>
                                      <a:rPr lang="en-US" sz="2000" b="1" i="1">
                                        <a:effectLst/>
                                        <a:latin typeface="Cambria Math" panose="02040503050406030204" pitchFamily="18" charset="0"/>
                                        <a:ea typeface="Verdana" charset="0"/>
                                        <a:cs typeface="Verdana" charset="0"/>
                                      </a:rPr>
                                      <m:t>𝟐</m:t>
                                    </m:r>
                                  </m:sup>
                                </m:sSup>
                                <m:r>
                                  <a:rPr lang="en-US" sz="2000" b="1" i="1">
                                    <a:effectLst/>
                                    <a:latin typeface="Cambria Math" panose="02040503050406030204" pitchFamily="18" charset="0"/>
                                    <a:ea typeface="Verdana" charset="0"/>
                                    <a:cs typeface="Verdana" charset="0"/>
                                  </a:rPr>
                                  <m:t>∙</m:t>
                                </m:r>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𝟕</m:t>
                                    </m:r>
                                  </m:e>
                                  <m:sup>
                                    <m:r>
                                      <a:rPr lang="en-US" sz="2000" b="1" i="1">
                                        <a:effectLst/>
                                        <a:latin typeface="Cambria Math" panose="02040503050406030204" pitchFamily="18" charset="0"/>
                                        <a:ea typeface="Verdana" charset="0"/>
                                        <a:cs typeface="Verdana" charset="0"/>
                                      </a:rPr>
                                      <m:t>𝟏</m:t>
                                    </m:r>
                                  </m:sup>
                                </m:sSup>
                              </m:oMath>
                            </m:oMathPara>
                          </a14:m>
                          <a:endParaRPr lang="en-US" sz="200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1"/>
                      </a:ext>
                    </a:extLst>
                  </a:tr>
                  <a:tr h="1810979">
                    <a:tc>
                      <a:txBody>
                        <a:bodyPr/>
                        <a:lstStyle/>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7</m:t>
                                    </m:r>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7</m:t>
                                    </m:r>
                                  </m:e>
                                  <m:sup>
                                    <m:r>
                                      <a:rPr lang="en-US" sz="2000" i="1">
                                        <a:effectLst/>
                                        <a:latin typeface="Cambria Math" panose="02040503050406030204" pitchFamily="18" charset="0"/>
                                        <a:ea typeface="Verdana" charset="0"/>
                                        <a:cs typeface="Verdana" charset="0"/>
                                      </a:rPr>
                                      <m:t>1</m:t>
                                    </m:r>
                                  </m:sup>
                                </m:sSup>
                              </m:oMath>
                            </m:oMathPara>
                          </a14:m>
                          <a:endParaRPr lang="en-US" sz="2000" dirty="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49∙7</m:t>
                                </m:r>
                              </m:oMath>
                            </m:oMathPara>
                          </a14:m>
                          <a:endParaRPr lang="en-US" sz="2000" dirty="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343</m:t>
                                </m:r>
                              </m:oMath>
                            </m:oMathPara>
                          </a14:m>
                          <a:endParaRPr lang="en-US" sz="2000" dirty="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7</m:t>
                                    </m:r>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7</m:t>
                                    </m:r>
                                  </m:e>
                                  <m:sup>
                                    <m:r>
                                      <a:rPr lang="en-US" sz="2000" i="1">
                                        <a:effectLst/>
                                        <a:latin typeface="Cambria Math" panose="02040503050406030204" pitchFamily="18" charset="0"/>
                                        <a:ea typeface="Verdana" charset="0"/>
                                        <a:cs typeface="Verdana" charset="0"/>
                                      </a:rPr>
                                      <m:t>1</m:t>
                                    </m:r>
                                  </m:sup>
                                </m:sSup>
                              </m:oMath>
                            </m:oMathPara>
                          </a14:m>
                          <a:endParaRPr lang="en-US" sz="2000" dirty="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7</m:t>
                                    </m:r>
                                  </m:e>
                                  <m:sup>
                                    <m:r>
                                      <a:rPr lang="en-US" sz="2000" i="1">
                                        <a:effectLst/>
                                        <a:latin typeface="Cambria Math" panose="02040503050406030204" pitchFamily="18" charset="0"/>
                                        <a:ea typeface="Verdana" charset="0"/>
                                        <a:cs typeface="Verdana" charset="0"/>
                                      </a:rPr>
                                      <m:t>(2 + 1)</m:t>
                                    </m:r>
                                  </m:sup>
                                </m:sSup>
                              </m:oMath>
                            </m:oMathPara>
                          </a14:m>
                          <a:endParaRPr lang="en-US" sz="2000" dirty="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7</m:t>
                                    </m:r>
                                  </m:e>
                                  <m:sup>
                                    <m:r>
                                      <a:rPr lang="en-US" sz="2000" i="1">
                                        <a:effectLst/>
                                        <a:latin typeface="Cambria Math" panose="02040503050406030204" pitchFamily="18" charset="0"/>
                                        <a:ea typeface="Verdana" charset="0"/>
                                        <a:cs typeface="Verdana" charset="0"/>
                                      </a:rPr>
                                      <m:t>3</m:t>
                                    </m:r>
                                  </m:sup>
                                </m:sSup>
                              </m:oMath>
                            </m:oMathPara>
                          </a14:m>
                          <a:endParaRPr lang="en-US" sz="2000" dirty="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343</m:t>
                                </m:r>
                              </m:oMath>
                            </m:oMathPara>
                          </a14:m>
                          <a:endParaRPr lang="en-US" sz="2000" dirty="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3267">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𝟔</m:t>
                                    </m:r>
                                  </m:e>
                                  <m:sup>
                                    <m:r>
                                      <a:rPr lang="en-US" sz="2000" b="1" i="1">
                                        <a:effectLst/>
                                        <a:latin typeface="Cambria Math" panose="02040503050406030204" pitchFamily="18" charset="0"/>
                                        <a:ea typeface="Verdana" charset="0"/>
                                        <a:cs typeface="Verdana" charset="0"/>
                                      </a:rPr>
                                      <m:t>𝟗</m:t>
                                    </m:r>
                                  </m:sup>
                                </m:sSup>
                                <m:r>
                                  <a:rPr lang="en-US" sz="2000" b="1" i="1">
                                    <a:effectLst/>
                                    <a:latin typeface="Cambria Math" panose="02040503050406030204" pitchFamily="18" charset="0"/>
                                    <a:ea typeface="Verdana" charset="0"/>
                                    <a:cs typeface="Verdana" charset="0"/>
                                  </a:rPr>
                                  <m:t>∙</m:t>
                                </m:r>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𝟔</m:t>
                                    </m:r>
                                  </m:e>
                                  <m:sup>
                                    <m:r>
                                      <a:rPr lang="en-US" sz="2000" b="1" i="1">
                                        <a:effectLst/>
                                        <a:latin typeface="Cambria Math" panose="02040503050406030204" pitchFamily="18" charset="0"/>
                                        <a:ea typeface="Verdana" charset="0"/>
                                        <a:cs typeface="Verdana" charset="0"/>
                                      </a:rPr>
                                      <m:t>𝟑</m:t>
                                    </m:r>
                                  </m:sup>
                                </m:sSup>
                              </m:oMath>
                            </m:oMathPara>
                          </a14:m>
                          <a:endParaRPr lang="en-US" sz="200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3"/>
                      </a:ext>
                    </a:extLst>
                  </a:tr>
                  <a:tr h="821563">
                    <a:tc>
                      <a:txBody>
                        <a:bodyPr/>
                        <a:lstStyle/>
                        <a:p>
                          <a:pPr marL="0" marR="0">
                            <a:lnSpc>
                              <a:spcPct val="107000"/>
                            </a:lnSpc>
                            <a:spcBef>
                              <a:spcPts val="0"/>
                            </a:spcBef>
                            <a:spcAft>
                              <a:spcPts val="0"/>
                            </a:spcAft>
                          </a:pPr>
                          <a:endParaRPr lang="en-US" sz="2000" dirty="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7944">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m:t>
                                    </m:r>
                                    <m:r>
                                      <a:rPr lang="en-US" sz="2000" b="1" i="1">
                                        <a:effectLst/>
                                        <a:latin typeface="Cambria Math" panose="02040503050406030204" pitchFamily="18" charset="0"/>
                                        <a:ea typeface="Verdana" charset="0"/>
                                        <a:cs typeface="Verdana" charset="0"/>
                                      </a:rPr>
                                      <m:t>𝟖</m:t>
                                    </m:r>
                                    <m:r>
                                      <a:rPr lang="en-US" sz="2000" b="1" i="1">
                                        <a:effectLst/>
                                        <a:latin typeface="Cambria Math" panose="02040503050406030204" pitchFamily="18" charset="0"/>
                                        <a:ea typeface="Verdana" charset="0"/>
                                        <a:cs typeface="Verdana" charset="0"/>
                                      </a:rPr>
                                      <m:t>)</m:t>
                                    </m:r>
                                  </m:e>
                                  <m:sup>
                                    <m:r>
                                      <a:rPr lang="en-US" sz="2000" b="1" i="1">
                                        <a:effectLst/>
                                        <a:latin typeface="Cambria Math" panose="02040503050406030204" pitchFamily="18" charset="0"/>
                                        <a:ea typeface="Verdana" charset="0"/>
                                        <a:cs typeface="Verdana" charset="0"/>
                                      </a:rPr>
                                      <m:t>𝟒</m:t>
                                    </m:r>
                                  </m:sup>
                                </m:sSup>
                                <m:r>
                                  <a:rPr lang="en-US" sz="2000" b="1" i="1">
                                    <a:effectLst/>
                                    <a:latin typeface="Cambria Math" panose="02040503050406030204" pitchFamily="18" charset="0"/>
                                    <a:ea typeface="Verdana" charset="0"/>
                                    <a:cs typeface="Verdana" charset="0"/>
                                  </a:rPr>
                                  <m:t>∙</m:t>
                                </m:r>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m:t>
                                    </m:r>
                                    <m:r>
                                      <a:rPr lang="en-US" sz="2000" b="1" i="1">
                                        <a:effectLst/>
                                        <a:latin typeface="Cambria Math" panose="02040503050406030204" pitchFamily="18" charset="0"/>
                                        <a:ea typeface="Verdana" charset="0"/>
                                        <a:cs typeface="Verdana" charset="0"/>
                                      </a:rPr>
                                      <m:t>𝟖</m:t>
                                    </m:r>
                                    <m:r>
                                      <a:rPr lang="en-US" sz="2000" b="1" i="1">
                                        <a:effectLst/>
                                        <a:latin typeface="Cambria Math" panose="02040503050406030204" pitchFamily="18" charset="0"/>
                                        <a:ea typeface="Verdana" charset="0"/>
                                        <a:cs typeface="Verdana" charset="0"/>
                                      </a:rPr>
                                      <m:t>)</m:t>
                                    </m:r>
                                  </m:e>
                                  <m:sup>
                                    <m:r>
                                      <a:rPr lang="en-US" sz="2000" b="1" i="1">
                                        <a:effectLst/>
                                        <a:latin typeface="Cambria Math" panose="02040503050406030204" pitchFamily="18" charset="0"/>
                                        <a:ea typeface="Verdana" charset="0"/>
                                        <a:cs typeface="Verdana" charset="0"/>
                                      </a:rPr>
                                      <m:t>𝟓</m:t>
                                    </m:r>
                                  </m:sup>
                                </m:sSup>
                              </m:oMath>
                            </m:oMathPara>
                          </a14:m>
                          <a:endParaRPr lang="en-US" sz="200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5"/>
                      </a:ext>
                    </a:extLst>
                  </a:tr>
                  <a:tr h="821563">
                    <a:tc>
                      <a:txBody>
                        <a:bodyPr/>
                        <a:lstStyle/>
                        <a:p>
                          <a:pPr marL="0" marR="0">
                            <a:lnSpc>
                              <a:spcPct val="107000"/>
                            </a:lnSpc>
                            <a:spcBef>
                              <a:spcPts val="0"/>
                            </a:spcBef>
                            <a:spcAft>
                              <a:spcPts val="0"/>
                            </a:spcAft>
                          </a:pPr>
                          <a:endParaRPr lang="en-US" sz="2000" dirty="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886714089"/>
                  </p:ext>
                </p:extLst>
              </p:nvPr>
            </p:nvGraphicFramePr>
            <p:xfrm>
              <a:off x="2101209" y="991061"/>
              <a:ext cx="7847542" cy="5446016"/>
            </p:xfrm>
            <a:graphic>
              <a:graphicData uri="http://schemas.openxmlformats.org/drawingml/2006/table">
                <a:tbl>
                  <a:tblPr firstRow="1" firstCol="1" bandRow="1"/>
                  <a:tblGrid>
                    <a:gridCol w="3674238">
                      <a:extLst>
                        <a:ext uri="{9D8B030D-6E8A-4147-A177-3AD203B41FA5}">
                          <a16:colId xmlns:a16="http://schemas.microsoft.com/office/drawing/2014/main" val="20000"/>
                        </a:ext>
                      </a:extLst>
                    </a:gridCol>
                    <a:gridCol w="4173304">
                      <a:extLst>
                        <a:ext uri="{9D8B030D-6E8A-4147-A177-3AD203B41FA5}">
                          <a16:colId xmlns:a16="http://schemas.microsoft.com/office/drawing/2014/main" val="20001"/>
                        </a:ext>
                      </a:extLst>
                    </a:gridCol>
                  </a:tblGrid>
                  <a:tr h="949516">
                    <a:tc>
                      <a:txBody>
                        <a:bodyPr/>
                        <a:lstStyle/>
                        <a:p>
                          <a:pPr marL="0" marR="0" algn="ctr">
                            <a:lnSpc>
                              <a:spcPct val="107000"/>
                            </a:lnSpc>
                            <a:spcBef>
                              <a:spcPts val="0"/>
                            </a:spcBef>
                            <a:spcAft>
                              <a:spcPts val="0"/>
                            </a:spcAft>
                          </a:pPr>
                          <a:r>
                            <a:rPr lang="en-US" sz="2000" b="1" dirty="0">
                              <a:effectLst/>
                              <a:latin typeface="Verdana" charset="0"/>
                              <a:ea typeface="Verdana" charset="0"/>
                              <a:cs typeface="Verdana" charset="0"/>
                            </a:rPr>
                            <a:t>Evaluate each power, then multiply.</a:t>
                          </a:r>
                          <a:endParaRPr lang="en-US" sz="2000" dirty="0">
                            <a:effectLst/>
                            <a:latin typeface="Verdana" charset="0"/>
                            <a:ea typeface="Verdana" charset="0"/>
                            <a:cs typeface="Verdana" charset="0"/>
                          </a:endParaRPr>
                        </a:p>
                      </a:txBody>
                      <a:tcPr marL="40668" marR="406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Apply the product of powers exponent law, then evaluate the power.</a:t>
                          </a:r>
                          <a:endParaRPr lang="en-US" sz="2000">
                            <a:effectLst/>
                            <a:latin typeface="Verdana" charset="0"/>
                            <a:ea typeface="Verdana" charset="0"/>
                            <a:cs typeface="Verdana" charset="0"/>
                          </a:endParaRPr>
                        </a:p>
                      </a:txBody>
                      <a:tcPr marL="40668" marR="406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33566">
                    <a:tc gridSpan="2">
                      <a:txBody>
                        <a:bodyPr/>
                        <a:lstStyle/>
                        <a:p>
                          <a:endParaRPr lang="en-US"/>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62" t="-319231" r="-162" b="-1269231"/>
                          </a:stretch>
                        </a:blipFill>
                      </a:tcPr>
                    </a:tc>
                    <a:tc hMerge="1">
                      <a:txBody>
                        <a:bodyPr/>
                        <a:lstStyle/>
                        <a:p>
                          <a:endParaRPr lang="en-US"/>
                        </a:p>
                      </a:txBody>
                      <a:tcPr/>
                    </a:tc>
                    <a:extLst>
                      <a:ext uri="{0D108BD9-81ED-4DB2-BD59-A6C34878D82A}">
                        <a16:rowId xmlns:a16="http://schemas.microsoft.com/office/drawing/2014/main" val="10001"/>
                      </a:ext>
                    </a:extLst>
                  </a:tr>
                  <a:tr h="1847850">
                    <a:tc>
                      <a:txBody>
                        <a:bodyPr/>
                        <a:lstStyle/>
                        <a:p>
                          <a:endParaRPr lang="en-US"/>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5" t="-74658" r="-113793" b="-126027"/>
                          </a:stretch>
                        </a:blipFill>
                      </a:tcPr>
                    </a:tc>
                    <a:tc>
                      <a:txBody>
                        <a:bodyPr/>
                        <a:lstStyle/>
                        <a:p>
                          <a:endParaRPr lang="en-US"/>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8450" t="-74658" r="-304" b="-126027"/>
                          </a:stretch>
                        </a:blipFill>
                      </a:tcPr>
                    </a:tc>
                    <a:extLst>
                      <a:ext uri="{0D108BD9-81ED-4DB2-BD59-A6C34878D82A}">
                        <a16:rowId xmlns:a16="http://schemas.microsoft.com/office/drawing/2014/main" val="10002"/>
                      </a:ext>
                    </a:extLst>
                  </a:tr>
                  <a:tr h="333566">
                    <a:tc gridSpan="2">
                      <a:txBody>
                        <a:bodyPr/>
                        <a:lstStyle/>
                        <a:p>
                          <a:endParaRPr lang="en-US"/>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62" t="-980769" r="-162" b="-607692"/>
                          </a:stretch>
                        </a:blipFill>
                      </a:tcPr>
                    </a:tc>
                    <a:tc hMerge="1">
                      <a:txBody>
                        <a:bodyPr/>
                        <a:lstStyle/>
                        <a:p>
                          <a:endParaRPr lang="en-US"/>
                        </a:p>
                      </a:txBody>
                      <a:tcPr/>
                    </a:tc>
                    <a:extLst>
                      <a:ext uri="{0D108BD9-81ED-4DB2-BD59-A6C34878D82A}">
                        <a16:rowId xmlns:a16="http://schemas.microsoft.com/office/drawing/2014/main" val="10003"/>
                      </a:ext>
                    </a:extLst>
                  </a:tr>
                  <a:tr h="821563">
                    <a:tc>
                      <a:txBody>
                        <a:bodyPr/>
                        <a:lstStyle/>
                        <a:p>
                          <a:pPr marL="0" marR="0">
                            <a:lnSpc>
                              <a:spcPct val="107000"/>
                            </a:lnSpc>
                            <a:spcBef>
                              <a:spcPts val="0"/>
                            </a:spcBef>
                            <a:spcAft>
                              <a:spcPts val="0"/>
                            </a:spcAft>
                          </a:pPr>
                          <a:endParaRPr lang="en-US" sz="2000" dirty="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38392">
                    <a:tc gridSpan="2">
                      <a:txBody>
                        <a:bodyPr/>
                        <a:lstStyle/>
                        <a:p>
                          <a:endParaRPr lang="en-US"/>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62" t="-1330769" r="-162" b="-257692"/>
                          </a:stretch>
                        </a:blipFill>
                      </a:tcPr>
                    </a:tc>
                    <a:tc hMerge="1">
                      <a:txBody>
                        <a:bodyPr/>
                        <a:lstStyle/>
                        <a:p>
                          <a:endParaRPr lang="en-US"/>
                        </a:p>
                      </a:txBody>
                      <a:tcPr/>
                    </a:tc>
                    <a:extLst>
                      <a:ext uri="{0D108BD9-81ED-4DB2-BD59-A6C34878D82A}">
                        <a16:rowId xmlns:a16="http://schemas.microsoft.com/office/drawing/2014/main" val="10005"/>
                      </a:ext>
                    </a:extLst>
                  </a:tr>
                  <a:tr h="821563">
                    <a:tc>
                      <a:txBody>
                        <a:bodyPr/>
                        <a:lstStyle/>
                        <a:p>
                          <a:pPr marL="0" marR="0">
                            <a:lnSpc>
                              <a:spcPct val="107000"/>
                            </a:lnSpc>
                            <a:spcBef>
                              <a:spcPts val="0"/>
                            </a:spcBef>
                            <a:spcAft>
                              <a:spcPts val="0"/>
                            </a:spcAft>
                          </a:pPr>
                          <a:endParaRPr lang="en-US" sz="2000" dirty="0">
                            <a:effectLst/>
                            <a:latin typeface="Verdana" charset="0"/>
                            <a:ea typeface="Verdana" charset="0"/>
                            <a:cs typeface="Verdana" charset="0"/>
                          </a:endParaRP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0668" marR="406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101</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82045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89351" y="374089"/>
                <a:ext cx="10363964" cy="3170099"/>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Julian says that he can evaluate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3</m:t>
                        </m:r>
                      </m:e>
                      <m:sup>
                        <m:r>
                          <a:rPr lang="en-US" sz="2000" i="1">
                            <a:latin typeface="Cambria Math" panose="02040503050406030204" pitchFamily="18" charset="0"/>
                            <a:ea typeface="Verdana" charset="0"/>
                            <a:cs typeface="Verdana" charset="0"/>
                          </a:rPr>
                          <m:t>2</m:t>
                        </m:r>
                      </m:sup>
                    </m:sSup>
                    <m:r>
                      <a:rPr lang="en-US" sz="2000" i="1">
                        <a:latin typeface="Cambria Math" panose="02040503050406030204" pitchFamily="18"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 2</m:t>
                        </m:r>
                      </m:e>
                      <m:sup>
                        <m:r>
                          <a:rPr lang="en-US" sz="2000" i="1">
                            <a:latin typeface="Cambria Math" panose="02040503050406030204" pitchFamily="18" charset="0"/>
                            <a:ea typeface="Verdana" charset="0"/>
                            <a:cs typeface="Verdana" charset="0"/>
                          </a:rPr>
                          <m:t>3</m:t>
                        </m:r>
                      </m:sup>
                    </m:sSup>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using the product of powers exponent law. </a:t>
                </a:r>
              </a:p>
              <a:p>
                <a:r>
                  <a:rPr lang="en-US" sz="2000" dirty="0">
                    <a:latin typeface="Verdana" charset="0"/>
                    <a:ea typeface="Verdana" charset="0"/>
                    <a:cs typeface="Verdana" charset="0"/>
                  </a:rPr>
                  <a:t> </a:t>
                </a:r>
              </a:p>
              <a:p>
                <a:pPr marL="920750" lvl="1" indent="-452438">
                  <a:buFont typeface="+mj-lt"/>
                  <a:buAutoNum type="alphaLcPeriod"/>
                </a:pPr>
                <a:r>
                  <a:rPr lang="en-US" sz="2000" dirty="0">
                    <a:latin typeface="Verdana" charset="0"/>
                    <a:ea typeface="Verdana" charset="0"/>
                    <a:cs typeface="Verdana" charset="0"/>
                  </a:rPr>
                  <a:t>Explain to Julian if he is correct.</a:t>
                </a:r>
              </a:p>
              <a:p>
                <a:pPr marL="920750" lvl="1" indent="-452438">
                  <a:buFont typeface="+mj-lt"/>
                  <a:buAutoNum type="alphaLcPeriod"/>
                </a:pPr>
                <a:endParaRPr lang="en-US" sz="2000" dirty="0">
                  <a:latin typeface="Verdana" charset="0"/>
                  <a:ea typeface="Verdana" charset="0"/>
                  <a:cs typeface="Verdana" charset="0"/>
                </a:endParaRPr>
              </a:p>
              <a:p>
                <a:pPr marL="920750" lvl="1" indent="-452438">
                  <a:buFont typeface="+mj-lt"/>
                  <a:buAutoNum type="alphaLcPeriod"/>
                </a:pPr>
                <a:r>
                  <a:rPr lang="en-US" sz="2000" dirty="0">
                    <a:latin typeface="Verdana" charset="0"/>
                    <a:ea typeface="Verdana" charset="0"/>
                    <a:cs typeface="Verdana" charset="0"/>
                  </a:rPr>
                  <a:t>Complete the statement about the product of powers exponent law.</a:t>
                </a:r>
              </a:p>
              <a:p>
                <a:pPr marL="920750" lvl="1">
                  <a:buFont typeface="+mj-lt"/>
                  <a:buAutoNum type="alphaLcPeriod"/>
                </a:pPr>
                <a:endParaRPr lang="en-US" sz="2000" dirty="0">
                  <a:latin typeface="Verdana" charset="0"/>
                  <a:ea typeface="Verdana" charset="0"/>
                  <a:cs typeface="Verdana" charset="0"/>
                </a:endParaRPr>
              </a:p>
              <a:p>
                <a:pPr marL="920750" lvl="1"/>
                <a:r>
                  <a:rPr lang="en-US" sz="2000" dirty="0">
                    <a:latin typeface="Verdana" charset="0"/>
                    <a:ea typeface="Verdana" charset="0"/>
                    <a:cs typeface="Verdana" charset="0"/>
                  </a:rPr>
                  <a:t>When</a:t>
                </a:r>
                <a14:m>
                  <m:oMath xmlns:m="http://schemas.openxmlformats.org/officeDocument/2006/math">
                    <m:r>
                      <a:rPr lang="en-US" sz="2000">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𝑎</m:t>
                    </m:r>
                  </m:oMath>
                </a14:m>
                <a:r>
                  <a:rPr lang="en-US" sz="2000" dirty="0">
                    <a:latin typeface="Verdana" charset="0"/>
                    <a:ea typeface="Verdana" charset="0"/>
                    <a:cs typeface="Verdana" charset="0"/>
                  </a:rPr>
                  <a:t> is a nonzero real number, and </a:t>
                </a:r>
                <a14:m>
                  <m:oMath xmlns:m="http://schemas.openxmlformats.org/officeDocument/2006/math">
                    <m:r>
                      <a:rPr lang="en-US" sz="2000" i="1">
                        <a:latin typeface="Cambria Math" panose="02040503050406030204" pitchFamily="18" charset="0"/>
                        <a:ea typeface="Verdana" charset="0"/>
                        <a:cs typeface="Verdana" charset="0"/>
                      </a:rPr>
                      <m:t>𝑚</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𝑛</m:t>
                    </m:r>
                  </m:oMath>
                </a14:m>
                <a:r>
                  <a:rPr lang="en-US" sz="2000" dirty="0">
                    <a:latin typeface="Verdana" charset="0"/>
                    <a:ea typeface="Verdana" charset="0"/>
                    <a:cs typeface="Verdana" charset="0"/>
                  </a:rPr>
                  <a:t> are integers, the </a:t>
                </a:r>
              </a:p>
              <a:p>
                <a:pPr marL="920750" lvl="1"/>
                <a:endParaRPr lang="en-US" sz="2000" dirty="0">
                  <a:latin typeface="Verdana" charset="0"/>
                  <a:ea typeface="Verdana" charset="0"/>
                  <a:cs typeface="Verdana" charset="0"/>
                </a:endParaRPr>
              </a:p>
              <a:p>
                <a:pPr marL="920750" lvl="1"/>
                <a:r>
                  <a:rPr lang="en-US" sz="2000" dirty="0">
                    <a:latin typeface="Verdana" charset="0"/>
                    <a:ea typeface="Verdana" charset="0"/>
                    <a:cs typeface="Verdana" charset="0"/>
                  </a:rPr>
                  <a:t>exponential expression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𝑎</m:t>
                        </m:r>
                      </m:e>
                      <m:sup>
                        <m:r>
                          <a:rPr lang="en-US" sz="2000" i="1">
                            <a:latin typeface="Cambria Math" panose="02040503050406030204" pitchFamily="18" charset="0"/>
                            <a:ea typeface="Verdana" charset="0"/>
                            <a:cs typeface="Verdana" charset="0"/>
                          </a:rPr>
                          <m:t>𝑚</m:t>
                        </m:r>
                      </m:sup>
                    </m:sSup>
                    <m:r>
                      <a:rPr lang="en-US" sz="2000" i="1">
                        <a:latin typeface="Cambria Math" panose="02040503050406030204" pitchFamily="18" charset="0"/>
                        <a:ea typeface="Verdana" charset="0"/>
                        <a:cs typeface="Verdana" charset="0"/>
                      </a:rPr>
                      <m:t>· </m:t>
                    </m:r>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𝑎</m:t>
                        </m:r>
                      </m:e>
                      <m:sup>
                        <m:r>
                          <a:rPr lang="en-US" sz="2000" i="1">
                            <a:latin typeface="Cambria Math" panose="02040503050406030204" pitchFamily="18" charset="0"/>
                            <a:ea typeface="Verdana" charset="0"/>
                            <a:cs typeface="Verdana" charset="0"/>
                          </a:rPr>
                          <m:t>𝑛</m:t>
                        </m:r>
                      </m:sup>
                    </m:sSup>
                  </m:oMath>
                </a14:m>
                <a:r>
                  <a:rPr lang="en-US" sz="2000" dirty="0">
                    <a:latin typeface="Verdana" charset="0"/>
                    <a:ea typeface="Verdana" charset="0"/>
                    <a:cs typeface="Verdana" charset="0"/>
                  </a:rPr>
                  <a:t> is equal to</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989351" y="374089"/>
                <a:ext cx="10363964" cy="3170099"/>
              </a:xfrm>
              <a:prstGeom prst="rect">
                <a:avLst/>
              </a:prstGeom>
              <a:blipFill rotWithShape="0">
                <a:blip r:embed="rId3"/>
                <a:stretch>
                  <a:fillRect l="-647" t="-12115" b="-1538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415759" y="2942105"/>
            <a:ext cx="1447800" cy="1270000"/>
          </a:xfrm>
          <a:prstGeom prst="rect">
            <a:avLst/>
          </a:prstGeom>
        </p:spPr>
      </p:pic>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101</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425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49057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6385"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3.1.3 Exploration: Power of a Product Exponent Law</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0087" y="24812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432341" y="1634151"/>
            <a:ext cx="9477984"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With your partner, complete the table and answer the questions. </a:t>
            </a:r>
          </a:p>
          <a:p>
            <a:endParaRPr lang="en-US" sz="2000" dirty="0">
              <a:latin typeface="Verdana" charset="0"/>
              <a:ea typeface="Verdana" charset="0"/>
              <a:cs typeface="Verdana" charset="0"/>
            </a:endParaRPr>
          </a:p>
        </p:txBody>
      </p:sp>
      <p:sp>
        <p:nvSpPr>
          <p:cNvPr id="9" name="Google Shape;278;g104476d1465_1_17">
            <a:extLst>
              <a:ext uri="{FF2B5EF4-FFF2-40B4-BE49-F238E27FC236}">
                <a16:creationId xmlns:a16="http://schemas.microsoft.com/office/drawing/2014/main" id="{6200F4BF-3C27-A748-A63E-5BC45D572750}"/>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4937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1424066" y="273505"/>
                <a:ext cx="9599900" cy="1631216"/>
              </a:xfrm>
              <a:prstGeom prst="rect">
                <a:avLst/>
              </a:prstGeom>
              <a:noFill/>
            </p:spPr>
            <p:txBody>
              <a:bodyPr wrap="square" rtlCol="0">
                <a:spAutoFit/>
              </a:bodyPr>
              <a:lstStyle/>
              <a:p>
                <a:r>
                  <a:rPr lang="en-US" sz="2000" dirty="0">
                    <a:latin typeface="Verdana" charset="0"/>
                    <a:ea typeface="Verdana" charset="0"/>
                    <a:cs typeface="Verdana" charset="0"/>
                  </a:rPr>
                  <a:t> </a:t>
                </a:r>
              </a:p>
              <a:p>
                <a:pPr marL="920750" indent="-528638">
                  <a:buFont typeface="+mj-lt"/>
                  <a:buAutoNum type="alphaLcPeriod"/>
                </a:pPr>
                <a:r>
                  <a:rPr lang="en-US" sz="2000" dirty="0">
                    <a:latin typeface="Verdana" charset="0"/>
                    <a:ea typeface="Verdana" charset="0"/>
                    <a:cs typeface="Verdana" charset="0"/>
                  </a:rPr>
                  <a:t>Write each power of a product as a repeated multiplication expression, and group repeated factors by using the commutative and associative properties. Then, write each expression with an exponent in the form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𝑎</m:t>
                        </m:r>
                      </m:e>
                      <m:sup>
                        <m:r>
                          <a:rPr lang="en-US" sz="2000" i="1">
                            <a:latin typeface="Cambria Math" panose="02040503050406030204" pitchFamily="18" charset="0"/>
                            <a:ea typeface="Verdana" charset="0"/>
                            <a:cs typeface="Verdana" charset="0"/>
                          </a:rPr>
                          <m:t>𝑚</m:t>
                        </m:r>
                      </m:sup>
                    </m:sSup>
                    <m:r>
                      <a:rPr lang="en-US" sz="2000" i="1">
                        <a:latin typeface="Cambria Math" panose="02040503050406030204" pitchFamily="18" charset="0"/>
                        <a:ea typeface="Verdana" charset="0"/>
                        <a:cs typeface="Verdana" charset="0"/>
                      </a:rPr>
                      <m:t>∙ </m:t>
                    </m:r>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𝑏</m:t>
                        </m:r>
                      </m:e>
                      <m:sup>
                        <m:r>
                          <a:rPr lang="en-US" sz="2000" i="1">
                            <a:latin typeface="Cambria Math" panose="02040503050406030204" pitchFamily="18" charset="0"/>
                            <a:ea typeface="Verdana" charset="0"/>
                            <a:cs typeface="Verdana" charset="0"/>
                          </a:rPr>
                          <m:t>𝑛</m:t>
                        </m:r>
                      </m:sup>
                    </m:sSup>
                  </m:oMath>
                </a14:m>
                <a:r>
                  <a:rPr lang="en-US" sz="2000" dirty="0">
                    <a:latin typeface="Verdana" charset="0"/>
                    <a:ea typeface="Verdana" charset="0"/>
                    <a:cs typeface="Verdana" charset="0"/>
                  </a:rPr>
                  <a:t>. </a:t>
                </a: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1424066" y="273505"/>
                <a:ext cx="9599900" cy="1631216"/>
              </a:xfrm>
              <a:prstGeom prst="rect">
                <a:avLst/>
              </a:prstGeom>
              <a:blipFill rotWithShape="0">
                <a:blip r:embed="rId3"/>
                <a:stretch>
                  <a:fillRect r="-1080" b="-31086"/>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6200F4BF-3C27-A748-A63E-5BC45D57275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36983010"/>
                  </p:ext>
                </p:extLst>
              </p:nvPr>
            </p:nvGraphicFramePr>
            <p:xfrm>
              <a:off x="2159198" y="2532943"/>
              <a:ext cx="8228387" cy="2551304"/>
            </p:xfrm>
            <a:graphic>
              <a:graphicData uri="http://schemas.openxmlformats.org/drawingml/2006/table">
                <a:tbl>
                  <a:tblPr firstRow="1" firstCol="1" bandRow="1"/>
                  <a:tblGrid>
                    <a:gridCol w="1300283">
                      <a:extLst>
                        <a:ext uri="{9D8B030D-6E8A-4147-A177-3AD203B41FA5}">
                          <a16:colId xmlns:a16="http://schemas.microsoft.com/office/drawing/2014/main" val="20000"/>
                        </a:ext>
                      </a:extLst>
                    </a:gridCol>
                    <a:gridCol w="2591633">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gridCol w="1715191">
                      <a:extLst>
                        <a:ext uri="{9D8B030D-6E8A-4147-A177-3AD203B41FA5}">
                          <a16:colId xmlns:a16="http://schemas.microsoft.com/office/drawing/2014/main" val="20003"/>
                        </a:ext>
                      </a:extLst>
                    </a:gridCol>
                  </a:tblGrid>
                  <a:tr h="832574">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Power</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b="1" i="1">
                              <a:effectLst/>
                              <a:latin typeface="Verdana" charset="0"/>
                              <a:ea typeface="Verdana" charset="0"/>
                              <a:cs typeface="Verdana" charset="0"/>
                            </a:rPr>
                            <a:t>of a Product</a:t>
                          </a:r>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Repeated Multiplication</a:t>
                          </a:r>
                          <a:endParaRPr lang="en-US" sz="20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Group Repeated Factors</a:t>
                          </a:r>
                          <a:endParaRPr lang="en-US" sz="20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Power of the Form</a:t>
                          </a:r>
                          <a:endParaRPr lang="en-US" sz="2000" i="1">
                            <a:effectLst/>
                            <a:latin typeface="Verdana" charset="0"/>
                            <a:ea typeface="Verdana" charset="0"/>
                            <a:cs typeface="Verdana"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𝒂</m:t>
                                    </m:r>
                                  </m:e>
                                  <m:sup>
                                    <m:r>
                                      <a:rPr lang="en-US" sz="2000" b="1" i="1">
                                        <a:effectLst/>
                                        <a:latin typeface="Cambria Math" panose="02040503050406030204" pitchFamily="18" charset="0"/>
                                        <a:ea typeface="Verdana" charset="0"/>
                                        <a:cs typeface="Verdana" charset="0"/>
                                      </a:rPr>
                                      <m:t>𝒎</m:t>
                                    </m:r>
                                  </m:sup>
                                </m:sSup>
                                <m:r>
                                  <a:rPr lang="en-US" sz="2000" b="1" i="1">
                                    <a:effectLst/>
                                    <a:latin typeface="Cambria Math" panose="02040503050406030204" pitchFamily="18" charset="0"/>
                                    <a:ea typeface="Verdana" charset="0"/>
                                    <a:cs typeface="Verdana" charset="0"/>
                                  </a:rPr>
                                  <m:t>∙</m:t>
                                </m:r>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𝒃</m:t>
                                    </m:r>
                                  </m:e>
                                  <m:sup>
                                    <m:r>
                                      <a:rPr lang="en-US" sz="2000" b="1" i="1">
                                        <a:effectLst/>
                                        <a:latin typeface="Cambria Math" panose="02040503050406030204" pitchFamily="18" charset="0"/>
                                        <a:ea typeface="Verdana" charset="0"/>
                                        <a:cs typeface="Verdana" charset="0"/>
                                      </a:rPr>
                                      <m:t>𝒏</m:t>
                                    </m:r>
                                  </m:sup>
                                </m:sSup>
                              </m:oMath>
                            </m:oMathPara>
                          </a14:m>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5385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2∙3</m:t>
                                        </m:r>
                                      </m:e>
                                    </m:d>
                                  </m:e>
                                  <m:sup>
                                    <m:r>
                                      <a:rPr lang="en-US" sz="2000" i="1">
                                        <a:effectLst/>
                                        <a:latin typeface="Cambria Math" panose="02040503050406030204" pitchFamily="18" charset="0"/>
                                        <a:ea typeface="Verdana" charset="0"/>
                                        <a:cs typeface="Verdana" charset="0"/>
                                      </a:rPr>
                                      <m:t>3</m:t>
                                    </m:r>
                                  </m:sup>
                                </m:sSup>
                              </m:oMath>
                            </m:oMathPara>
                          </a14:m>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(2∙3)∙(2∙3)∙(2∙3)</m:t>
                                </m:r>
                              </m:oMath>
                            </m:oMathPara>
                          </a14:m>
                          <a:endParaRPr lang="en-US" sz="20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2∙2∙2</m:t>
                                    </m:r>
                                  </m:e>
                                </m:d>
                                <m:r>
                                  <a:rPr lang="en-US" sz="2000" i="1">
                                    <a:effectLst/>
                                    <a:latin typeface="Cambria Math" panose="02040503050406030204" pitchFamily="18" charset="0"/>
                                    <a:ea typeface="Verdana" charset="0"/>
                                    <a:cs typeface="Verdana" charset="0"/>
                                  </a:rPr>
                                  <m:t>∙</m:t>
                                </m:r>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3∙3∙3</m:t>
                                    </m:r>
                                  </m:e>
                                </m:d>
                              </m:oMath>
                            </m:oMathPara>
                          </a14:m>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2</m:t>
                                    </m:r>
                                  </m:e>
                                  <m:sup>
                                    <m:r>
                                      <a:rPr lang="en-US" sz="2000" i="1">
                                        <a:effectLst/>
                                        <a:latin typeface="Cambria Math" panose="02040503050406030204" pitchFamily="18" charset="0"/>
                                        <a:ea typeface="Verdana" charset="0"/>
                                        <a:cs typeface="Verdana" charset="0"/>
                                      </a:rPr>
                                      <m:t>3</m:t>
                                    </m:r>
                                  </m:sup>
                                </m:sSup>
                                <m:r>
                                  <a:rPr lang="en-US" sz="2000" i="1">
                                    <a:effectLst/>
                                    <a:latin typeface="Cambria Math" panose="02040503050406030204" pitchFamily="18" charset="0"/>
                                    <a:ea typeface="Verdana" charset="0"/>
                                    <a:cs typeface="Verdana" charset="0"/>
                                  </a:rPr>
                                  <m:t>∙ </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3</m:t>
                                    </m:r>
                                  </m:e>
                                  <m:sup>
                                    <m:r>
                                      <a:rPr lang="en-US" sz="2000" i="1">
                                        <a:effectLst/>
                                        <a:latin typeface="Cambria Math" panose="02040503050406030204" pitchFamily="18" charset="0"/>
                                        <a:ea typeface="Verdana" charset="0"/>
                                        <a:cs typeface="Verdana" charset="0"/>
                                      </a:rPr>
                                      <m:t>3</m:t>
                                    </m:r>
                                  </m:sup>
                                </m:sSup>
                              </m:oMath>
                            </m:oMathPara>
                          </a14:m>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640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6∙5</m:t>
                                        </m:r>
                                      </m:e>
                                    </m:d>
                                  </m:e>
                                  <m:sup>
                                    <m:r>
                                      <a:rPr lang="en-US" sz="2000" i="1">
                                        <a:effectLst/>
                                        <a:latin typeface="Cambria Math" panose="02040503050406030204" pitchFamily="18" charset="0"/>
                                        <a:ea typeface="Verdana" charset="0"/>
                                        <a:cs typeface="Verdana" charset="0"/>
                                      </a:rPr>
                                      <m:t>4</m:t>
                                    </m:r>
                                  </m:sup>
                                </m:sSup>
                              </m:oMath>
                            </m:oMathPara>
                          </a14:m>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640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10∙4</m:t>
                                        </m:r>
                                      </m:e>
                                    </m:d>
                                  </m:e>
                                  <m:sup>
                                    <m:r>
                                      <a:rPr lang="en-US" sz="2000" i="1">
                                        <a:effectLst/>
                                        <a:latin typeface="Cambria Math" panose="02040503050406030204" pitchFamily="18" charset="0"/>
                                        <a:ea typeface="Verdana" charset="0"/>
                                        <a:cs typeface="Verdana" charset="0"/>
                                      </a:rPr>
                                      <m:t>2</m:t>
                                    </m:r>
                                  </m:sup>
                                </m:sSup>
                              </m:oMath>
                            </m:oMathPara>
                          </a14:m>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36983010"/>
                  </p:ext>
                </p:extLst>
              </p:nvPr>
            </p:nvGraphicFramePr>
            <p:xfrm>
              <a:off x="635197" y="2532943"/>
              <a:ext cx="8228387" cy="2616518"/>
            </p:xfrm>
            <a:graphic>
              <a:graphicData uri="http://schemas.openxmlformats.org/drawingml/2006/table">
                <a:tbl>
                  <a:tblPr firstRow="1" firstCol="1" bandRow="1"/>
                  <a:tblGrid>
                    <a:gridCol w="1300283"/>
                    <a:gridCol w="2591633"/>
                    <a:gridCol w="2621280"/>
                    <a:gridCol w="1715191"/>
                  </a:tblGrid>
                  <a:tr h="978408">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Power</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b="1" i="1">
                              <a:effectLst/>
                              <a:latin typeface="Verdana" charset="0"/>
                              <a:ea typeface="Verdana" charset="0"/>
                              <a:cs typeface="Verdana" charset="0"/>
                            </a:rPr>
                            <a:t>of a Product</a:t>
                          </a:r>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Repeated Multiplication</a:t>
                          </a:r>
                          <a:endParaRPr lang="en-US" sz="20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Group Repeated Factors</a:t>
                          </a:r>
                          <a:endParaRPr lang="en-US" sz="20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380783" t="-8075" r="-1068" b="-168323"/>
                          </a:stretch>
                        </a:blipFill>
                      </a:tcPr>
                    </a:tc>
                  </a:tr>
                  <a:tr h="333566">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469" t="-316364" r="-535211" b="-392727"/>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50235" t="-316364" r="-167606" b="-392727"/>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148837" t="-316364" r="-66047" b="-392727"/>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380783" t="-316364" r="-1068" b="-392727"/>
                          </a:stretch>
                        </a:blipFill>
                      </a:tcPr>
                    </a:tc>
                  </a:tr>
                  <a:tr h="65227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469" t="-214019" r="-535211" b="-101869"/>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227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469" t="-314019" r="-535211" b="-1869"/>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102</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901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109272" y="374090"/>
            <a:ext cx="10124122" cy="4708981"/>
          </a:xfrm>
          <a:prstGeom prst="rect">
            <a:avLst/>
          </a:prstGeom>
          <a:noFill/>
        </p:spPr>
        <p:txBody>
          <a:bodyPr wrap="square" rtlCol="0">
            <a:spAutoFit/>
          </a:bodyPr>
          <a:lstStyle/>
          <a:p>
            <a:pPr marL="920750" indent="-512763">
              <a:buFont typeface="+mj-lt"/>
              <a:buAutoNum type="alphaLcPeriod" startAt="2"/>
            </a:pPr>
            <a:r>
              <a:rPr lang="en-US" sz="2000" dirty="0">
                <a:latin typeface="Verdana" charset="0"/>
                <a:ea typeface="Verdana" charset="0"/>
                <a:cs typeface="Verdana" charset="0"/>
              </a:rPr>
              <a:t>How does the base in the first column relate to the bases in the last column?</a:t>
            </a:r>
          </a:p>
          <a:p>
            <a:pPr marL="920750" indent="-512763">
              <a:buFont typeface="+mj-lt"/>
              <a:buAutoNum type="alphaLcPeriod" startAt="2"/>
            </a:pPr>
            <a:endParaRPr lang="en-US" sz="2000" dirty="0">
              <a:latin typeface="Verdana" charset="0"/>
              <a:ea typeface="Verdana" charset="0"/>
              <a:cs typeface="Verdana" charset="0"/>
            </a:endParaRPr>
          </a:p>
          <a:p>
            <a:pPr marL="920750" indent="-512763">
              <a:buFont typeface="+mj-lt"/>
              <a:buAutoNum type="alphaLcPeriod" startAt="2"/>
            </a:pPr>
            <a:endParaRPr lang="en-US" sz="2000" dirty="0">
              <a:latin typeface="Verdana" charset="0"/>
              <a:ea typeface="Verdana" charset="0"/>
              <a:cs typeface="Verdana" charset="0"/>
            </a:endParaRPr>
          </a:p>
          <a:p>
            <a:pPr marL="920750" indent="-512763">
              <a:buFont typeface="+mj-lt"/>
              <a:buAutoNum type="alphaLcPeriod" startAt="2"/>
            </a:pPr>
            <a:endParaRPr lang="en-US" sz="2000" dirty="0">
              <a:latin typeface="Verdana" charset="0"/>
              <a:ea typeface="Verdana" charset="0"/>
              <a:cs typeface="Verdana" charset="0"/>
            </a:endParaRPr>
          </a:p>
          <a:p>
            <a:pPr marL="920750" indent="-512763">
              <a:buFont typeface="+mj-lt"/>
              <a:buAutoNum type="alphaLcPeriod" startAt="2"/>
            </a:pPr>
            <a:endParaRPr lang="en-US" sz="2000" dirty="0">
              <a:latin typeface="Verdana" charset="0"/>
              <a:ea typeface="Verdana" charset="0"/>
              <a:cs typeface="Verdana" charset="0"/>
            </a:endParaRPr>
          </a:p>
          <a:p>
            <a:pPr marL="920750" indent="-512763">
              <a:buFont typeface="+mj-lt"/>
              <a:buAutoNum type="alphaLcPeriod" startAt="2"/>
            </a:pPr>
            <a:endParaRPr lang="en-US" sz="2000" dirty="0">
              <a:latin typeface="Verdana" charset="0"/>
              <a:ea typeface="Verdana" charset="0"/>
              <a:cs typeface="Verdana" charset="0"/>
            </a:endParaRPr>
          </a:p>
          <a:p>
            <a:pPr marL="920750" indent="-512763">
              <a:buFont typeface="+mj-lt"/>
              <a:buAutoNum type="alphaLcPeriod" startAt="2"/>
            </a:pPr>
            <a:r>
              <a:rPr lang="en-US" sz="2000" dirty="0">
                <a:latin typeface="Verdana" charset="0"/>
                <a:ea typeface="Verdana" charset="0"/>
                <a:cs typeface="Verdana" charset="0"/>
              </a:rPr>
              <a:t>How does the exponent in the first column relate to the exponents in the last column?</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Write a rule for the power of a product.</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102</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21863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094282" y="2302880"/>
            <a:ext cx="10717952" cy="2862322"/>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With your partner, follow the steps.</a:t>
            </a:r>
          </a:p>
          <a:p>
            <a:r>
              <a:rPr lang="en-US" sz="2000" dirty="0">
                <a:latin typeface="Verdana" charset="0"/>
                <a:ea typeface="Verdana" charset="0"/>
                <a:cs typeface="Verdana" charset="0"/>
              </a:rPr>
              <a:t> </a:t>
            </a:r>
          </a:p>
          <a:p>
            <a:pPr marL="920750" indent="-452438">
              <a:buFont typeface="Arial" charset="0"/>
              <a:buChar char="•"/>
            </a:pPr>
            <a:r>
              <a:rPr lang="en-US" sz="2000" dirty="0">
                <a:latin typeface="Verdana" charset="0"/>
                <a:ea typeface="Verdana" charset="0"/>
                <a:cs typeface="Verdana" charset="0"/>
              </a:rPr>
              <a:t>Determine which column you will start in, and which column your partner will start in.</a:t>
            </a:r>
          </a:p>
          <a:p>
            <a:pPr marL="920750" indent="-452438">
              <a:buFont typeface="Arial" charset="0"/>
              <a:buChar char="•"/>
            </a:pPr>
            <a:r>
              <a:rPr lang="en-US" sz="2000" dirty="0">
                <a:latin typeface="Verdana" charset="0"/>
                <a:ea typeface="Verdana" charset="0"/>
                <a:cs typeface="Verdana" charset="0"/>
              </a:rPr>
              <a:t>Using the directions for your column, evaluate the expression. Your partner should use the directions in their column to evaluate the same expression.</a:t>
            </a:r>
          </a:p>
          <a:p>
            <a:pPr marL="920750" indent="-452438">
              <a:buFont typeface="Arial" charset="0"/>
              <a:buChar char="•"/>
            </a:pPr>
            <a:r>
              <a:rPr lang="en-US" sz="2000" dirty="0">
                <a:latin typeface="Verdana" charset="0"/>
                <a:ea typeface="Verdana" charset="0"/>
                <a:cs typeface="Verdana" charset="0"/>
              </a:rPr>
              <a:t>Verify if your answers are the same. If not, find the error(s).</a:t>
            </a:r>
          </a:p>
          <a:p>
            <a:pPr marL="920750" indent="-452438">
              <a:buFont typeface="Arial" charset="0"/>
              <a:buChar char="•"/>
            </a:pPr>
            <a:r>
              <a:rPr lang="en-US" sz="2000" dirty="0">
                <a:latin typeface="Verdana" charset="0"/>
                <a:ea typeface="Verdana" charset="0"/>
                <a:cs typeface="Verdana" charset="0"/>
              </a:rPr>
              <a:t>After each problem, switch columns.</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2924556" y="506250"/>
            <a:ext cx="6629400" cy="1326083"/>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b="1" dirty="0">
                <a:solidFill>
                  <a:srgbClr val="417DBF"/>
                </a:solidFill>
                <a:latin typeface="Verdana" charset="0"/>
                <a:ea typeface="Verdana" charset="0"/>
                <a:cs typeface="Verdana" charset="0"/>
              </a:rPr>
              <a:t>Power of a Product Exponent Law</a:t>
            </a:r>
            <a:endParaRPr lang="en-US" sz="2000" dirty="0">
              <a:solidFill>
                <a:srgbClr val="417DBF"/>
              </a:solidFill>
              <a:latin typeface="Verdana" charset="0"/>
              <a:ea typeface="Verdana" charset="0"/>
              <a:cs typeface="Verdana" charset="0"/>
            </a:endParaRPr>
          </a:p>
          <a:p>
            <a:pPr marL="920750"/>
            <a:r>
              <a:rPr lang="en-US" sz="2000" dirty="0">
                <a:solidFill>
                  <a:srgbClr val="417DBF"/>
                </a:solidFill>
                <a:latin typeface="Verdana" charset="0"/>
                <a:ea typeface="Verdana" charset="0"/>
                <a:cs typeface="Verdana" charset="0"/>
              </a:rPr>
              <a:t>When raising a product to a power, distribute the power to each factor.</a:t>
            </a:r>
          </a:p>
        </p:txBody>
      </p:sp>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181079" y="691986"/>
            <a:ext cx="542544" cy="530352"/>
          </a:xfrm>
          <a:prstGeom prst="rect">
            <a:avLst/>
          </a:prstGeom>
          <a:effectLst>
            <a:outerShdw blurRad="50800" dist="76200" dir="2700000" algn="tl" rotWithShape="0">
              <a:prstClr val="black">
                <a:alpha val="40000"/>
              </a:prstClr>
            </a:outerShdw>
          </a:effectLst>
        </p:spPr>
      </p:pic>
      <p:sp>
        <p:nvSpPr>
          <p:cNvPr id="9"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06731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2007765" y="374089"/>
            <a:ext cx="8327136" cy="400110"/>
          </a:xfrm>
          <a:prstGeom prst="rect">
            <a:avLst/>
          </a:prstGeom>
          <a:noFill/>
        </p:spPr>
        <p:txBody>
          <a:bodyPr wrap="square" rtlCol="0">
            <a:spAutoFit/>
          </a:bodyPr>
          <a:lstStyle/>
          <a:p>
            <a:r>
              <a:rPr lang="en-US" sz="2000" dirty="0">
                <a:latin typeface="Verdana" charset="0"/>
                <a:ea typeface="Verdana" charset="0"/>
                <a:cs typeface="Verdana" charset="0"/>
              </a:rPr>
              <a:t>The first expression has been evaluated.</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8682236"/>
                  </p:ext>
                </p:extLst>
              </p:nvPr>
            </p:nvGraphicFramePr>
            <p:xfrm>
              <a:off x="2270760" y="850400"/>
              <a:ext cx="8010816" cy="5191521"/>
            </p:xfrm>
            <a:graphic>
              <a:graphicData uri="http://schemas.openxmlformats.org/drawingml/2006/table">
                <a:tbl>
                  <a:tblPr firstRow="1" firstCol="1" bandRow="1"/>
                  <a:tblGrid>
                    <a:gridCol w="4005003">
                      <a:extLst>
                        <a:ext uri="{9D8B030D-6E8A-4147-A177-3AD203B41FA5}">
                          <a16:colId xmlns:a16="http://schemas.microsoft.com/office/drawing/2014/main" val="20000"/>
                        </a:ext>
                      </a:extLst>
                    </a:gridCol>
                    <a:gridCol w="4005813">
                      <a:extLst>
                        <a:ext uri="{9D8B030D-6E8A-4147-A177-3AD203B41FA5}">
                          <a16:colId xmlns:a16="http://schemas.microsoft.com/office/drawing/2014/main" val="20001"/>
                        </a:ext>
                      </a:extLst>
                    </a:gridCol>
                  </a:tblGrid>
                  <a:tr h="797388">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Evaluate inside the parentheses, then apply the exponent.</a:t>
                          </a:r>
                          <a:endParaRPr lang="en-US" sz="2000">
                            <a:effectLst/>
                            <a:latin typeface="Verdana" charset="0"/>
                            <a:ea typeface="Verdana" charset="0"/>
                            <a:cs typeface="Verdana" charset="0"/>
                          </a:endParaRPr>
                        </a:p>
                      </a:txBody>
                      <a:tcPr marL="49835" marR="498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Apply the power of a product exponent law, then evaluate the power.</a:t>
                          </a:r>
                          <a:endParaRPr lang="en-US" sz="2000">
                            <a:effectLst/>
                            <a:latin typeface="Verdana" charset="0"/>
                            <a:ea typeface="Verdana" charset="0"/>
                            <a:cs typeface="Verdana" charset="0"/>
                          </a:endParaRPr>
                        </a:p>
                      </a:txBody>
                      <a:tcPr marL="49835" marR="498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2388">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𝟓</m:t>
                                            </m:r>
                                          </m:e>
                                        </m:sPre>
                                        <m:r>
                                          <a:rPr lang="en-US" sz="2000" b="1" i="1">
                                            <a:effectLst/>
                                            <a:latin typeface="Cambria Math" panose="02040503050406030204" pitchFamily="18" charset="0"/>
                                            <a:ea typeface="Verdana" charset="0"/>
                                            <a:cs typeface="Verdana" charset="0"/>
                                          </a:rPr>
                                          <m:t> ∙</m:t>
                                        </m:r>
                                        <m:r>
                                          <a:rPr lang="en-US" sz="2000" b="1" i="1">
                                            <a:effectLst/>
                                            <a:latin typeface="Cambria Math" panose="02040503050406030204" pitchFamily="18" charset="0"/>
                                            <a:ea typeface="Verdana" charset="0"/>
                                            <a:cs typeface="Verdana" charset="0"/>
                                          </a:rPr>
                                          <m:t>𝟔</m:t>
                                        </m:r>
                                      </m:e>
                                    </m:d>
                                  </m:e>
                                  <m:sup>
                                    <m:r>
                                      <a:rPr lang="en-US" sz="2000" b="1" i="1">
                                        <a:effectLst/>
                                        <a:latin typeface="Cambria Math" panose="02040503050406030204" pitchFamily="18" charset="0"/>
                                        <a:ea typeface="Verdana" charset="0"/>
                                        <a:cs typeface="Verdana" charset="0"/>
                                      </a:rPr>
                                      <m:t>𝟐</m:t>
                                    </m:r>
                                  </m:sup>
                                </m:sSup>
                              </m:oMath>
                            </m:oMathPara>
                          </a14:m>
                          <a:endParaRPr lang="en-US" sz="2000">
                            <a:effectLst/>
                            <a:latin typeface="Verdana" charset="0"/>
                            <a:ea typeface="Verdana" charset="0"/>
                            <a:cs typeface="Verdana" charset="0"/>
                          </a:endParaRP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1"/>
                      </a:ext>
                    </a:extLst>
                  </a:tr>
                  <a:tr h="1960114">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5</m:t>
                                            </m:r>
                                          </m:e>
                                        </m:sPre>
                                        <m:r>
                                          <a:rPr lang="en-US" sz="2000" i="1">
                                            <a:effectLst/>
                                            <a:latin typeface="Cambria Math" panose="02040503050406030204" pitchFamily="18" charset="0"/>
                                            <a:ea typeface="Verdana" charset="0"/>
                                            <a:cs typeface="Verdana" charset="0"/>
                                          </a:rPr>
                                          <m:t> ∙6</m:t>
                                        </m:r>
                                      </m:e>
                                    </m:d>
                                  </m:e>
                                  <m:sup>
                                    <m:r>
                                      <a:rPr lang="en-US" sz="2000" i="1">
                                        <a:effectLst/>
                                        <a:latin typeface="Cambria Math" panose="02040503050406030204" pitchFamily="18" charset="0"/>
                                        <a:ea typeface="Verdana" charset="0"/>
                                        <a:cs typeface="Verdana" charset="0"/>
                                      </a:rPr>
                                      <m:t>2</m:t>
                                    </m:r>
                                  </m:sup>
                                </m:sSup>
                              </m:oMath>
                            </m:oMathPara>
                          </a14:m>
                          <a:endParaRPr lang="en-US" sz="2000">
                            <a:effectLst/>
                            <a:latin typeface="Verdana" charset="0"/>
                            <a:ea typeface="Verdana" charset="0"/>
                            <a:cs typeface="Verdana" charset="0"/>
                          </a:endParaRPr>
                        </a:p>
                        <a:p>
                          <a:pPr marL="0" marR="0">
                            <a:lnSpc>
                              <a:spcPct val="107000"/>
                            </a:lnSpc>
                            <a:spcBef>
                              <a:spcPts val="0"/>
                            </a:spcBef>
                            <a:spcAft>
                              <a:spcPts val="0"/>
                            </a:spcAft>
                          </a:pPr>
                          <a:r>
                            <a:rPr lang="en-US" sz="2000">
                              <a:effectLst/>
                              <a:latin typeface="Verdana" charset="0"/>
                              <a:ea typeface="Verdana" charset="0"/>
                              <a:cs typeface="Verdana"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30</m:t>
                                            </m:r>
                                          </m:e>
                                        </m:sPre>
                                      </m:e>
                                    </m:d>
                                  </m:e>
                                  <m:sup>
                                    <m:r>
                                      <a:rPr lang="en-US" sz="2000" i="1">
                                        <a:effectLst/>
                                        <a:latin typeface="Cambria Math" panose="02040503050406030204" pitchFamily="18" charset="0"/>
                                        <a:ea typeface="Verdana" charset="0"/>
                                        <a:cs typeface="Verdana" charset="0"/>
                                      </a:rPr>
                                      <m:t>2</m:t>
                                    </m:r>
                                  </m:sup>
                                </m:sSup>
                              </m:oMath>
                            </m:oMathPara>
                          </a14:m>
                          <a:endParaRPr lang="en-US" sz="2000">
                            <a:effectLst/>
                            <a:latin typeface="Verdana" charset="0"/>
                            <a:ea typeface="Verdana" charset="0"/>
                            <a:cs typeface="Verdana" charset="0"/>
                          </a:endParaRPr>
                        </a:p>
                        <a:p>
                          <a:pPr marL="0" marR="0">
                            <a:lnSpc>
                              <a:spcPct val="107000"/>
                            </a:lnSpc>
                            <a:spcBef>
                              <a:spcPts val="0"/>
                            </a:spcBef>
                            <a:spcAft>
                              <a:spcPts val="0"/>
                            </a:spcAft>
                          </a:pPr>
                          <a:r>
                            <a:rPr lang="en-US" sz="2000">
                              <a:effectLst/>
                              <a:latin typeface="Verdana" charset="0"/>
                              <a:ea typeface="Verdana" charset="0"/>
                              <a:cs typeface="Verdana"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30 </m:t>
                                        </m:r>
                                      </m:e>
                                    </m:sPre>
                                  </m:e>
                                </m:d>
                                <m:r>
                                  <a:rPr lang="en-US" sz="2000" i="1">
                                    <a:effectLst/>
                                    <a:latin typeface="Cambria Math" panose="02040503050406030204" pitchFamily="18" charset="0"/>
                                    <a:ea typeface="Verdana" charset="0"/>
                                    <a:cs typeface="Verdana" charset="0"/>
                                  </a:rPr>
                                  <m:t> ∙ </m:t>
                                </m:r>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30</m:t>
                                        </m:r>
                                      </m:e>
                                    </m:sPre>
                                  </m:e>
                                </m:d>
                              </m:oMath>
                            </m:oMathPara>
                          </a14:m>
                          <a:endParaRPr lang="en-US" sz="2000">
                            <a:effectLst/>
                            <a:latin typeface="Verdana" charset="0"/>
                            <a:ea typeface="Verdana" charset="0"/>
                            <a:cs typeface="Verdana" charset="0"/>
                          </a:endParaRPr>
                        </a:p>
                        <a:p>
                          <a:pPr marL="0" marR="0">
                            <a:lnSpc>
                              <a:spcPct val="107000"/>
                            </a:lnSpc>
                            <a:spcBef>
                              <a:spcPts val="0"/>
                            </a:spcBef>
                            <a:spcAft>
                              <a:spcPts val="0"/>
                            </a:spcAft>
                          </a:pPr>
                          <a:r>
                            <a:rPr lang="en-US" sz="2000">
                              <a:effectLst/>
                              <a:latin typeface="Verdana" charset="0"/>
                              <a:ea typeface="Verdana" charset="0"/>
                              <a:cs typeface="Verdana"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900</m:t>
                                </m:r>
                              </m:oMath>
                            </m:oMathPara>
                          </a14:m>
                          <a:endParaRPr lang="en-US" sz="2000">
                            <a:effectLst/>
                            <a:latin typeface="Verdana" charset="0"/>
                            <a:ea typeface="Verdana" charset="0"/>
                            <a:cs typeface="Verdana" charset="0"/>
                          </a:endParaRP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5</m:t>
                                            </m:r>
                                          </m:e>
                                        </m:sPre>
                                        <m:r>
                                          <a:rPr lang="en-US" sz="2000" i="1">
                                            <a:effectLst/>
                                            <a:latin typeface="Cambria Math" panose="02040503050406030204" pitchFamily="18" charset="0"/>
                                            <a:ea typeface="Verdana" charset="0"/>
                                            <a:cs typeface="Verdana" charset="0"/>
                                          </a:rPr>
                                          <m:t> ∙6</m:t>
                                        </m:r>
                                      </m:e>
                                    </m:d>
                                  </m:e>
                                  <m:sup>
                                    <m:r>
                                      <a:rPr lang="en-US" sz="2000" i="1">
                                        <a:effectLst/>
                                        <a:latin typeface="Cambria Math" panose="02040503050406030204" pitchFamily="18" charset="0"/>
                                        <a:ea typeface="Verdana" charset="0"/>
                                        <a:cs typeface="Verdana" charset="0"/>
                                      </a:rPr>
                                      <m:t>2</m:t>
                                    </m:r>
                                  </m:sup>
                                </m:sSup>
                              </m:oMath>
                            </m:oMathPara>
                          </a14:m>
                          <a:endParaRPr lang="en-US" sz="2000" dirty="0">
                            <a:effectLst/>
                            <a:latin typeface="Verdana" charset="0"/>
                            <a:ea typeface="Verdana" charset="0"/>
                            <a:cs typeface="Verdana" charset="0"/>
                          </a:endParaRPr>
                        </a:p>
                        <a:p>
                          <a:pPr marL="0" marR="0">
                            <a:lnSpc>
                              <a:spcPct val="107000"/>
                            </a:lnSpc>
                            <a:spcBef>
                              <a:spcPts val="0"/>
                            </a:spcBef>
                            <a:spcAft>
                              <a:spcPts val="0"/>
                            </a:spcAft>
                          </a:pPr>
                          <a:r>
                            <a:rPr lang="en-US" sz="2000" dirty="0">
                              <a:effectLst/>
                              <a:latin typeface="Verdana" charset="0"/>
                              <a:ea typeface="Verdana" charset="0"/>
                              <a:cs typeface="Verdana"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5</m:t>
                                            </m:r>
                                          </m:e>
                                        </m:sPre>
                                      </m:e>
                                    </m:d>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 ∙ </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6</m:t>
                                    </m:r>
                                  </m:e>
                                  <m:sup>
                                    <m:r>
                                      <a:rPr lang="en-US" sz="2000" i="1">
                                        <a:effectLst/>
                                        <a:latin typeface="Cambria Math" panose="02040503050406030204" pitchFamily="18" charset="0"/>
                                        <a:ea typeface="Verdana" charset="0"/>
                                        <a:cs typeface="Verdana" charset="0"/>
                                      </a:rPr>
                                      <m:t>2</m:t>
                                    </m:r>
                                  </m:sup>
                                </m:sSup>
                              </m:oMath>
                            </m:oMathPara>
                          </a14:m>
                          <a:endParaRPr lang="en-US" sz="2000" dirty="0">
                            <a:effectLst/>
                            <a:latin typeface="Verdana" charset="0"/>
                            <a:ea typeface="Verdana" charset="0"/>
                            <a:cs typeface="Verdana" charset="0"/>
                          </a:endParaRPr>
                        </a:p>
                        <a:p>
                          <a:pPr marL="0" marR="0">
                            <a:lnSpc>
                              <a:spcPct val="107000"/>
                            </a:lnSpc>
                            <a:spcBef>
                              <a:spcPts val="0"/>
                            </a:spcBef>
                            <a:spcAft>
                              <a:spcPts val="0"/>
                            </a:spcAft>
                          </a:pPr>
                          <a:r>
                            <a:rPr lang="en-US" sz="2000" dirty="0">
                              <a:effectLst/>
                              <a:latin typeface="Verdana" charset="0"/>
                              <a:ea typeface="Verdana" charset="0"/>
                              <a:cs typeface="Verdana"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25 ∙36</m:t>
                                </m:r>
                              </m:oMath>
                            </m:oMathPara>
                          </a14:m>
                          <a:endParaRPr lang="en-US" sz="2000" dirty="0">
                            <a:effectLst/>
                            <a:latin typeface="Verdana" charset="0"/>
                            <a:ea typeface="Verdana" charset="0"/>
                            <a:cs typeface="Verdana" charset="0"/>
                          </a:endParaRPr>
                        </a:p>
                        <a:p>
                          <a:pPr marL="0" marR="0">
                            <a:lnSpc>
                              <a:spcPct val="107000"/>
                            </a:lnSpc>
                            <a:spcBef>
                              <a:spcPts val="0"/>
                            </a:spcBef>
                            <a:spcAft>
                              <a:spcPts val="0"/>
                            </a:spcAft>
                          </a:pPr>
                          <a:r>
                            <a:rPr lang="en-US" sz="2000" dirty="0">
                              <a:effectLst/>
                              <a:latin typeface="Verdana" charset="0"/>
                              <a:ea typeface="Verdana" charset="0"/>
                              <a:cs typeface="Verdana" charset="0"/>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900</m:t>
                                </m:r>
                              </m:oMath>
                            </m:oMathPara>
                          </a14:m>
                          <a:endParaRPr lang="en-US" sz="2000" dirty="0">
                            <a:effectLst/>
                            <a:latin typeface="Verdana" charset="0"/>
                            <a:ea typeface="Verdana" charset="0"/>
                            <a:cs typeface="Verdana" charset="0"/>
                          </a:endParaRP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6441">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𝟔</m:t>
                                            </m:r>
                                          </m:e>
                                        </m:sPre>
                                        <m:r>
                                          <a:rPr lang="en-US" sz="2000" b="1" i="1">
                                            <a:effectLst/>
                                            <a:latin typeface="Cambria Math" panose="02040503050406030204" pitchFamily="18" charset="0"/>
                                            <a:ea typeface="Verdana" charset="0"/>
                                            <a:cs typeface="Verdana" charset="0"/>
                                          </a:rPr>
                                          <m:t> ∙</m:t>
                                        </m:r>
                                        <m:r>
                                          <a:rPr lang="en-US" sz="2000" b="1" i="1">
                                            <a:effectLst/>
                                            <a:latin typeface="Cambria Math" panose="02040503050406030204" pitchFamily="18" charset="0"/>
                                            <a:ea typeface="Verdana" charset="0"/>
                                            <a:cs typeface="Verdana" charset="0"/>
                                          </a:rPr>
                                          <m:t>𝟒</m:t>
                                        </m:r>
                                      </m:e>
                                    </m:d>
                                  </m:e>
                                  <m:sup>
                                    <m:r>
                                      <a:rPr lang="en-US" sz="2000" b="1" i="1">
                                        <a:effectLst/>
                                        <a:latin typeface="Cambria Math" panose="02040503050406030204" pitchFamily="18" charset="0"/>
                                        <a:ea typeface="Verdana" charset="0"/>
                                        <a:cs typeface="Verdana" charset="0"/>
                                      </a:rPr>
                                      <m:t>𝟓</m:t>
                                    </m:r>
                                  </m:sup>
                                </m:sSup>
                              </m:oMath>
                            </m:oMathPara>
                          </a14:m>
                          <a:endParaRPr lang="en-US" sz="2000">
                            <a:effectLst/>
                            <a:latin typeface="Verdana" charset="0"/>
                            <a:ea typeface="Verdana" charset="0"/>
                            <a:cs typeface="Verdana" charset="0"/>
                          </a:endParaRP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3"/>
                      </a:ext>
                    </a:extLst>
                  </a:tr>
                  <a:tr h="437680">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2388">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𝟑</m:t>
                                            </m:r>
                                          </m:e>
                                        </m:sPre>
                                        <m:r>
                                          <a:rPr lang="en-US" sz="2000" b="1" i="1">
                                            <a:effectLst/>
                                            <a:latin typeface="Cambria Math" panose="02040503050406030204" pitchFamily="18" charset="0"/>
                                            <a:ea typeface="Verdana" charset="0"/>
                                            <a:cs typeface="Verdana" charset="0"/>
                                          </a:rPr>
                                          <m:t> ∙</m:t>
                                        </m:r>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𝟐</m:t>
                                            </m:r>
                                          </m:e>
                                        </m:sPre>
                                      </m:e>
                                    </m:d>
                                  </m:e>
                                  <m:sup>
                                    <m:r>
                                      <a:rPr lang="en-US" sz="2000" b="1" i="1">
                                        <a:effectLst/>
                                        <a:latin typeface="Cambria Math" panose="02040503050406030204" pitchFamily="18" charset="0"/>
                                        <a:ea typeface="Verdana" charset="0"/>
                                        <a:cs typeface="Verdana" charset="0"/>
                                      </a:rPr>
                                      <m:t>𝟖</m:t>
                                    </m:r>
                                  </m:sup>
                                </m:sSup>
                              </m:oMath>
                            </m:oMathPara>
                          </a14:m>
                          <a:endParaRPr lang="en-US" sz="2000">
                            <a:effectLst/>
                            <a:latin typeface="Verdana" charset="0"/>
                            <a:ea typeface="Verdana" charset="0"/>
                            <a:cs typeface="Verdana" charset="0"/>
                          </a:endParaRP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5"/>
                      </a:ext>
                    </a:extLst>
                  </a:tr>
                  <a:tr h="437680">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8682236"/>
                  </p:ext>
                </p:extLst>
              </p:nvPr>
            </p:nvGraphicFramePr>
            <p:xfrm>
              <a:off x="746760" y="850399"/>
              <a:ext cx="8010816" cy="5208285"/>
            </p:xfrm>
            <a:graphic>
              <a:graphicData uri="http://schemas.openxmlformats.org/drawingml/2006/table">
                <a:tbl>
                  <a:tblPr firstRow="1" firstCol="1" bandRow="1"/>
                  <a:tblGrid>
                    <a:gridCol w="4005003"/>
                    <a:gridCol w="4005813"/>
                  </a:tblGrid>
                  <a:tr h="949516">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Evaluate inside the parentheses, then apply the exponent.</a:t>
                          </a:r>
                          <a:endParaRPr lang="en-US" sz="2000">
                            <a:effectLst/>
                            <a:latin typeface="Verdana" charset="0"/>
                            <a:ea typeface="Verdana" charset="0"/>
                            <a:cs typeface="Verdana" charset="0"/>
                          </a:endParaRPr>
                        </a:p>
                      </a:txBody>
                      <a:tcPr marL="49835" marR="498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Apply the power of a product exponent law, then evaluate the power.</a:t>
                          </a:r>
                          <a:endParaRPr lang="en-US" sz="2000">
                            <a:effectLst/>
                            <a:latin typeface="Verdana" charset="0"/>
                            <a:ea typeface="Verdana" charset="0"/>
                            <a:cs typeface="Verdana" charset="0"/>
                          </a:endParaRPr>
                        </a:p>
                      </a:txBody>
                      <a:tcPr marL="49835" marR="498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348171">
                    <a:tc gridSpan="2">
                      <a:txBody>
                        <a:bodyPr/>
                        <a:lstStyle/>
                        <a:p>
                          <a:endParaRPr lang="en-US"/>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76" t="-296491" r="-152" b="-1152632"/>
                          </a:stretch>
                        </a:blipFill>
                      </a:tcPr>
                    </a:tc>
                    <a:tc hMerge="1">
                      <a:txBody>
                        <a:bodyPr/>
                        <a:lstStyle/>
                        <a:p>
                          <a:endParaRPr lang="en-US"/>
                        </a:p>
                      </a:txBody>
                      <a:tcPr/>
                    </a:tc>
                  </a:tr>
                  <a:tr h="2334070">
                    <a:tc>
                      <a:txBody>
                        <a:bodyPr/>
                        <a:lstStyle/>
                        <a:p>
                          <a:endParaRPr lang="en-US"/>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52" t="-59008" r="-100457" b="-71540"/>
                          </a:stretch>
                        </a:blipFill>
                      </a:tcPr>
                    </a:tc>
                    <a:tc>
                      <a:txBody>
                        <a:bodyPr/>
                        <a:lstStyle/>
                        <a:p>
                          <a:endParaRPr lang="en-US"/>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00000" t="-59008" r="-304" b="-71540"/>
                          </a:stretch>
                        </a:blipFill>
                      </a:tcPr>
                    </a:tc>
                  </a:tr>
                  <a:tr h="352997">
                    <a:tc gridSpan="2">
                      <a:txBody>
                        <a:bodyPr/>
                        <a:lstStyle/>
                        <a:p>
                          <a:endParaRPr lang="en-US"/>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76" t="-1050000" r="-152" b="-372414"/>
                          </a:stretch>
                        </a:blipFill>
                      </a:tcPr>
                    </a:tc>
                    <a:tc hMerge="1">
                      <a:txBody>
                        <a:bodyPr/>
                        <a:lstStyle/>
                        <a:p>
                          <a:endParaRPr lang="en-US"/>
                        </a:p>
                      </a:txBody>
                      <a:tcPr/>
                    </a:tc>
                  </a:tr>
                  <a:tr h="437680">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171">
                    <a:tc gridSpan="2">
                      <a:txBody>
                        <a:bodyPr/>
                        <a:lstStyle/>
                        <a:p>
                          <a:endParaRPr lang="en-US"/>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76" t="-1296491" r="-152" b="-152632"/>
                          </a:stretch>
                        </a:blipFill>
                      </a:tcPr>
                    </a:tc>
                    <a:tc hMerge="1">
                      <a:txBody>
                        <a:bodyPr/>
                        <a:lstStyle/>
                        <a:p>
                          <a:endParaRPr lang="en-US"/>
                        </a:p>
                      </a:txBody>
                      <a:tcPr/>
                    </a:tc>
                  </a:tr>
                  <a:tr h="437680">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9835" marR="498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102</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46026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29390" y="374090"/>
                <a:ext cx="10483886" cy="3170099"/>
              </a:xfrm>
              <a:prstGeom prst="rect">
                <a:avLst/>
              </a:prstGeom>
              <a:noFill/>
            </p:spPr>
            <p:txBody>
              <a:bodyPr wrap="square" rtlCol="0">
                <a:spAutoFit/>
              </a:bodyPr>
              <a:lstStyle/>
              <a:p>
                <a:pPr marL="457200" indent="-457200">
                  <a:buFont typeface="+mj-lt"/>
                  <a:buAutoNum type="arabicPeriod" startAt="4"/>
                </a:pPr>
                <a:r>
                  <a:rPr lang="en-US" sz="2000" dirty="0" err="1">
                    <a:latin typeface="Verdana" charset="0"/>
                    <a:ea typeface="Verdana" charset="0"/>
                    <a:cs typeface="Verdana" charset="0"/>
                  </a:rPr>
                  <a:t>Aiyanna</a:t>
                </a:r>
                <a:r>
                  <a:rPr lang="en-US" sz="2000" dirty="0">
                    <a:latin typeface="Verdana" charset="0"/>
                    <a:ea typeface="Verdana" charset="0"/>
                    <a:cs typeface="Verdana" charset="0"/>
                  </a:rPr>
                  <a:t> says that she can evaluate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d>
                          <m:dPr>
                            <m:ctrlPr>
                              <a:rPr lang="en-US" sz="2000" i="1">
                                <a:latin typeface="Cambria Math" panose="02040503050406030204" pitchFamily="18" charset="0"/>
                                <a:ea typeface="Verdana" charset="0"/>
                                <a:cs typeface="Verdana" charset="0"/>
                              </a:rPr>
                            </m:ctrlPr>
                          </m:dPr>
                          <m:e>
                            <m:r>
                              <a:rPr lang="en-US" sz="2000" i="1">
                                <a:latin typeface="Cambria Math" panose="02040503050406030204" pitchFamily="18" charset="0"/>
                                <a:ea typeface="Verdana" charset="0"/>
                                <a:cs typeface="Verdana" charset="0"/>
                              </a:rPr>
                              <m:t>10+−</m:t>
                            </m:r>
                            <m:r>
                              <a:rPr lang="en-US" sz="2000">
                                <a:latin typeface="Cambria Math" panose="02040503050406030204" pitchFamily="18" charset="0"/>
                                <a:ea typeface="Verdana" charset="0"/>
                                <a:cs typeface="Verdana" charset="0"/>
                              </a:rPr>
                              <m:t>2</m:t>
                            </m:r>
                          </m:e>
                        </m:d>
                      </m:e>
                      <m:sup>
                        <m:r>
                          <a:rPr lang="en-US" sz="2000" i="1">
                            <a:latin typeface="Cambria Math" panose="02040503050406030204" pitchFamily="18" charset="0"/>
                            <a:ea typeface="Verdana" charset="0"/>
                            <a:cs typeface="Verdana" charset="0"/>
                          </a:rPr>
                          <m:t>3</m:t>
                        </m:r>
                      </m:sup>
                    </m:sSup>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using the power of a product exponent law. Explain to </a:t>
                </a:r>
                <a:r>
                  <a:rPr lang="en-US" sz="2000" dirty="0" err="1">
                    <a:latin typeface="Verdana" charset="0"/>
                    <a:ea typeface="Verdana" charset="0"/>
                    <a:cs typeface="Verdana" charset="0"/>
                  </a:rPr>
                  <a:t>Aiyanna</a:t>
                </a:r>
                <a:r>
                  <a:rPr lang="en-US" sz="2000" dirty="0">
                    <a:latin typeface="Verdana" charset="0"/>
                    <a:ea typeface="Verdana" charset="0"/>
                    <a:cs typeface="Verdana" charset="0"/>
                  </a:rPr>
                  <a:t> if she is correct.</a:t>
                </a: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r>
                  <a:rPr lang="en-US" sz="2000" dirty="0">
                    <a:latin typeface="Verdana" charset="0"/>
                    <a:ea typeface="Verdana" charset="0"/>
                    <a:cs typeface="Verdana" charset="0"/>
                  </a:rPr>
                  <a:t>Complete the statement about the power of a product exponent law.</a:t>
                </a:r>
              </a:p>
              <a:p>
                <a:pPr marL="457200" indent="-457200">
                  <a:buFont typeface="+mj-lt"/>
                  <a:buAutoNum type="arabicPeriod" startAt="4"/>
                </a:pPr>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When </a:t>
                </a:r>
                <a14:m>
                  <m:oMath xmlns:m="http://schemas.openxmlformats.org/officeDocument/2006/math">
                    <m:r>
                      <a:rPr lang="en-US" sz="2000" i="1">
                        <a:latin typeface="Cambria Math" panose="02040503050406030204" pitchFamily="18" charset="0"/>
                        <a:ea typeface="Verdana" charset="0"/>
                        <a:cs typeface="Verdana" charset="0"/>
                      </a:rPr>
                      <m:t>𝑎</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𝑏</m:t>
                    </m:r>
                  </m:oMath>
                </a14:m>
                <a:r>
                  <a:rPr lang="en-US" sz="2000" dirty="0">
                    <a:latin typeface="Verdana" charset="0"/>
                    <a:ea typeface="Verdana" charset="0"/>
                    <a:cs typeface="Verdana" charset="0"/>
                  </a:rPr>
                  <a:t> are nonzero real numbers, and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is an integer, the </a:t>
                </a:r>
              </a:p>
              <a:p>
                <a:pPr marL="468313"/>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exponential expression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d>
                          <m:dPr>
                            <m:ctrlPr>
                              <a:rPr lang="en-US" sz="2000" i="1">
                                <a:latin typeface="Cambria Math" panose="02040503050406030204" pitchFamily="18" charset="0"/>
                                <a:ea typeface="Verdana" charset="0"/>
                                <a:cs typeface="Verdana" charset="0"/>
                              </a:rPr>
                            </m:ctrlPr>
                          </m:dPr>
                          <m:e>
                            <m:r>
                              <a:rPr lang="en-US" sz="2000" i="1">
                                <a:latin typeface="Cambria Math" panose="02040503050406030204" pitchFamily="18" charset="0"/>
                                <a:ea typeface="Verdana" charset="0"/>
                                <a:cs typeface="Verdana" charset="0"/>
                              </a:rPr>
                              <m:t>𝑎</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𝑏</m:t>
                            </m:r>
                          </m:e>
                        </m:d>
                      </m:e>
                      <m:sup>
                        <m:r>
                          <a:rPr lang="en-US" sz="2000" i="1">
                            <a:latin typeface="Cambria Math" panose="02040503050406030204" pitchFamily="18" charset="0"/>
                            <a:ea typeface="Verdana" charset="0"/>
                            <a:cs typeface="Verdana" charset="0"/>
                          </a:rPr>
                          <m:t>𝑚</m:t>
                        </m:r>
                      </m:sup>
                    </m:sSup>
                  </m:oMath>
                </a14:m>
                <a:r>
                  <a:rPr lang="en-US" sz="2000" dirty="0">
                    <a:latin typeface="Verdana" charset="0"/>
                    <a:ea typeface="Verdana" charset="0"/>
                    <a:cs typeface="Verdana" charset="0"/>
                  </a:rPr>
                  <a:t> is equal to</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929390" y="374090"/>
                <a:ext cx="10483886" cy="3170099"/>
              </a:xfrm>
              <a:prstGeom prst="rect">
                <a:avLst/>
              </a:prstGeom>
              <a:blipFill rotWithShape="0">
                <a:blip r:embed="rId3"/>
                <a:stretch>
                  <a:fillRect l="-640" t="-12115" b="-250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928326" y="2924544"/>
            <a:ext cx="1955800" cy="1384300"/>
          </a:xfrm>
          <a:prstGeom prst="rect">
            <a:avLst/>
          </a:prstGeom>
        </p:spPr>
      </p:pic>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41844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3256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6385"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3.1.4 Exploration: Power of a Power Exponent Law</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0087"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1319134" y="1386025"/>
                <a:ext cx="9809764"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With your partner, complete the table. </a:t>
                </a:r>
              </a:p>
              <a:p>
                <a:r>
                  <a:rPr lang="en-US" sz="2000" dirty="0">
                    <a:latin typeface="Verdana" charset="0"/>
                    <a:ea typeface="Verdana" charset="0"/>
                    <a:cs typeface="Verdana" charset="0"/>
                  </a:rPr>
                  <a:t> </a:t>
                </a:r>
              </a:p>
              <a:p>
                <a:pPr marL="920750" indent="-498475">
                  <a:buFont typeface="+mj-lt"/>
                  <a:buAutoNum type="alphaLcPeriod"/>
                </a:pPr>
                <a:r>
                  <a:rPr lang="en-US" sz="2000" dirty="0">
                    <a:latin typeface="Verdana" charset="0"/>
                    <a:ea typeface="Verdana" charset="0"/>
                    <a:cs typeface="Verdana" charset="0"/>
                  </a:rPr>
                  <a:t>Write each power of a power as a repeated multiplication expression using the outer exponent. Then, using the Product of Powers Exponent Law, rewrite the multiplication expression in the form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𝑎</m:t>
                        </m:r>
                      </m:e>
                      <m:sup>
                        <m:r>
                          <a:rPr lang="en-US" sz="2000" i="1">
                            <a:latin typeface="Cambria Math" panose="02040503050406030204" pitchFamily="18" charset="0"/>
                            <a:ea typeface="Verdana" charset="0"/>
                            <a:cs typeface="Verdana" charset="0"/>
                          </a:rPr>
                          <m:t>𝑚</m:t>
                        </m:r>
                      </m:sup>
                    </m:sSup>
                  </m:oMath>
                </a14:m>
                <a:r>
                  <a:rPr lang="en-US" sz="2000" dirty="0">
                    <a:latin typeface="Verdana" charset="0"/>
                    <a:ea typeface="Verdana" charset="0"/>
                    <a:cs typeface="Verdana" charset="0"/>
                  </a:rPr>
                  <a:t>. </a:t>
                </a: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endParaRPr lang="en-US" sz="2000" dirty="0">
                  <a:latin typeface="Verdana" charset="0"/>
                  <a:ea typeface="Verdana" charset="0"/>
                  <a:cs typeface="Verdana" charset="0"/>
                </a:endParaRPr>
              </a:p>
              <a:p>
                <a:pPr marL="920750" indent="-498475">
                  <a:buFont typeface="+mj-lt"/>
                  <a:buAutoNum type="alphaLcPeriod"/>
                </a:pPr>
                <a:r>
                  <a:rPr lang="en-US" sz="2000" dirty="0">
                    <a:latin typeface="Verdana" charset="0"/>
                    <a:ea typeface="Verdana" charset="0"/>
                    <a:cs typeface="Verdana" charset="0"/>
                  </a:rPr>
                  <a:t>How do the exponents in the first column relate to the exponents in the last column?</a:t>
                </a: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1319134" y="1386025"/>
                <a:ext cx="9809764" cy="5016758"/>
              </a:xfrm>
              <a:prstGeom prst="rect">
                <a:avLst/>
              </a:prstGeom>
              <a:blipFill rotWithShape="0">
                <a:blip r:embed="rId4"/>
                <a:stretch>
                  <a:fillRect l="-683" t="-729" r="-1180" b="-1215"/>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6200F4BF-3C27-A748-A63E-5BC45D57275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346723654"/>
                  </p:ext>
                </p:extLst>
              </p:nvPr>
            </p:nvGraphicFramePr>
            <p:xfrm>
              <a:off x="2279865" y="3461951"/>
              <a:ext cx="7888302" cy="1860931"/>
            </p:xfrm>
            <a:graphic>
              <a:graphicData uri="http://schemas.openxmlformats.org/drawingml/2006/table">
                <a:tbl>
                  <a:tblPr firstRow="1" firstCol="1" bandRow="1"/>
                  <a:tblGrid>
                    <a:gridCol w="1842489">
                      <a:extLst>
                        <a:ext uri="{9D8B030D-6E8A-4147-A177-3AD203B41FA5}">
                          <a16:colId xmlns:a16="http://schemas.microsoft.com/office/drawing/2014/main" val="20000"/>
                        </a:ext>
                      </a:extLst>
                    </a:gridCol>
                    <a:gridCol w="3925302">
                      <a:extLst>
                        <a:ext uri="{9D8B030D-6E8A-4147-A177-3AD203B41FA5}">
                          <a16:colId xmlns:a16="http://schemas.microsoft.com/office/drawing/2014/main" val="20001"/>
                        </a:ext>
                      </a:extLst>
                    </a:gridCol>
                    <a:gridCol w="2120511">
                      <a:extLst>
                        <a:ext uri="{9D8B030D-6E8A-4147-A177-3AD203B41FA5}">
                          <a16:colId xmlns:a16="http://schemas.microsoft.com/office/drawing/2014/main" val="20002"/>
                        </a:ext>
                      </a:extLst>
                    </a:gridCol>
                  </a:tblGrid>
                  <a:tr h="233680">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Power of a Power</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Repeated Multiplication</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Power of the Form </a:t>
                          </a:r>
                          <a14:m>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panose="02040503050406030204" pitchFamily="18" charset="0"/>
                                      <a:ea typeface="Verdana" charset="0"/>
                                      <a:cs typeface="Verdana" charset="0"/>
                                    </a:rPr>
                                    <m:t>𝒂</m:t>
                                  </m:r>
                                </m:e>
                                <m:sup>
                                  <m:r>
                                    <a:rPr lang="en-US" sz="2000" b="1" i="1">
                                      <a:effectLst/>
                                      <a:latin typeface="Cambria Math" panose="02040503050406030204" pitchFamily="18" charset="0"/>
                                      <a:ea typeface="Verdana" charset="0"/>
                                      <a:cs typeface="Verdana" charset="0"/>
                                    </a:rPr>
                                    <m:t>𝒎</m:t>
                                  </m:r>
                                </m:sup>
                              </m:sSup>
                            </m:oMath>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114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4</m:t>
                                            </m:r>
                                          </m:e>
                                          <m:sup>
                                            <m:r>
                                              <a:rPr lang="en-US" sz="2000" i="1">
                                                <a:effectLst/>
                                                <a:latin typeface="Cambria Math" panose="02040503050406030204" pitchFamily="18" charset="0"/>
                                                <a:ea typeface="Verdana" charset="0"/>
                                                <a:cs typeface="Verdana" charset="0"/>
                                              </a:rPr>
                                              <m:t>2</m:t>
                                            </m:r>
                                          </m:sup>
                                        </m:sSup>
                                      </m:e>
                                    </m:d>
                                  </m:e>
                                  <m:sup>
                                    <m:r>
                                      <a:rPr lang="en-US" sz="2000" i="1">
                                        <a:effectLst/>
                                        <a:latin typeface="Cambria Math" panose="02040503050406030204" pitchFamily="18" charset="0"/>
                                        <a:ea typeface="Verdana" charset="0"/>
                                        <a:cs typeface="Verdana" charset="0"/>
                                      </a:rPr>
                                      <m:t>3</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4</m:t>
                                    </m:r>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4</m:t>
                                    </m:r>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4</m:t>
                                    </m:r>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 </m:t>
                                </m:r>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4</m:t>
                                    </m:r>
                                  </m:e>
                                  <m:sup>
                                    <m:r>
                                      <a:rPr lang="en-US" sz="2000" i="1">
                                        <a:effectLst/>
                                        <a:latin typeface="Cambria Math" panose="02040503050406030204" pitchFamily="18" charset="0"/>
                                        <a:ea typeface="Verdana" charset="0"/>
                                        <a:cs typeface="Verdana" charset="0"/>
                                      </a:rPr>
                                      <m:t>6</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10</m:t>
                                            </m:r>
                                          </m:e>
                                          <m:sup>
                                            <m:r>
                                              <a:rPr lang="en-US" sz="2000" i="1">
                                                <a:effectLst/>
                                                <a:latin typeface="Cambria Math" panose="02040503050406030204" pitchFamily="18" charset="0"/>
                                                <a:ea typeface="Verdana" charset="0"/>
                                                <a:cs typeface="Verdana" charset="0"/>
                                              </a:rPr>
                                              <m:t>4</m:t>
                                            </m:r>
                                          </m:sup>
                                        </m:sSup>
                                      </m:e>
                                    </m:d>
                                  </m:e>
                                  <m:sup>
                                    <m:r>
                                      <a:rPr lang="en-US" sz="2000" i="1">
                                        <a:effectLst/>
                                        <a:latin typeface="Cambria Math" panose="02040503050406030204" pitchFamily="18" charset="0"/>
                                        <a:ea typeface="Verdana" charset="0"/>
                                        <a:cs typeface="Verdana" charset="0"/>
                                      </a:rPr>
                                      <m:t>4</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3</m:t>
                                            </m:r>
                                          </m:e>
                                          <m:sup>
                                            <m:r>
                                              <a:rPr lang="en-US" sz="2000" i="1">
                                                <a:effectLst/>
                                                <a:latin typeface="Cambria Math" panose="02040503050406030204" pitchFamily="18" charset="0"/>
                                                <a:ea typeface="Verdana" charset="0"/>
                                                <a:cs typeface="Verdana" charset="0"/>
                                              </a:rPr>
                                              <m:t>1</m:t>
                                            </m:r>
                                          </m:sup>
                                        </m:sSup>
                                      </m:e>
                                    </m:d>
                                  </m:e>
                                  <m:sup>
                                    <m:r>
                                      <a:rPr lang="en-US" sz="2000" i="1">
                                        <a:effectLst/>
                                        <a:latin typeface="Cambria Math" panose="02040503050406030204" pitchFamily="18" charset="0"/>
                                        <a:ea typeface="Verdana" charset="0"/>
                                        <a:cs typeface="Verdana" charset="0"/>
                                      </a:rPr>
                                      <m:t>5</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346723654"/>
                  </p:ext>
                </p:extLst>
              </p:nvPr>
            </p:nvGraphicFramePr>
            <p:xfrm>
              <a:off x="755865" y="3461951"/>
              <a:ext cx="7888302" cy="1978852"/>
            </p:xfrm>
            <a:graphic>
              <a:graphicData uri="http://schemas.openxmlformats.org/drawingml/2006/table">
                <a:tbl>
                  <a:tblPr firstRow="1" firstCol="1" bandRow="1"/>
                  <a:tblGrid>
                    <a:gridCol w="1842489"/>
                    <a:gridCol w="3925302"/>
                    <a:gridCol w="2120511"/>
                  </a:tblGrid>
                  <a:tr h="652272">
                    <a:tc>
                      <a:txBody>
                        <a:bodyPr/>
                        <a:lstStyle/>
                        <a:p>
                          <a:pPr marL="0" marR="0" algn="ctr">
                            <a:lnSpc>
                              <a:spcPct val="107000"/>
                            </a:lnSpc>
                            <a:spcBef>
                              <a:spcPts val="0"/>
                            </a:spcBef>
                            <a:spcAft>
                              <a:spcPts val="0"/>
                            </a:spcAft>
                          </a:pPr>
                          <a:r>
                            <a:rPr lang="en-US" sz="2000" b="1" i="1" dirty="0">
                              <a:effectLst/>
                              <a:latin typeface="Verdana" charset="0"/>
                              <a:ea typeface="Verdana" charset="0"/>
                              <a:cs typeface="Verdana" charset="0"/>
                            </a:rPr>
                            <a:t>Power of a </a:t>
                          </a:r>
                          <a:r>
                            <a:rPr lang="en-US" sz="2000" b="1" i="1" dirty="0" smtClean="0">
                              <a:effectLst/>
                              <a:latin typeface="Verdana" charset="0"/>
                              <a:ea typeface="Verdana" charset="0"/>
                              <a:cs typeface="Verdana" charset="0"/>
                            </a:rPr>
                            <a:t>Power</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Repeated Multiplication</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6"/>
                          <a:stretch>
                            <a:fillRect l="-272701" t="-12150" r="-575" b="-206542"/>
                          </a:stretch>
                        </a:blipFill>
                      </a:tcPr>
                    </a:tc>
                  </a:tr>
                  <a:tr h="440881">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6"/>
                          <a:stretch>
                            <a:fillRect l="-330" t="-164384" r="-328383" b="-20274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6"/>
                          <a:stretch>
                            <a:fillRect l="-47132" t="-164384" r="-54264" b="-20274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6"/>
                          <a:stretch>
                            <a:fillRect l="-272701" t="-164384" r="-575" b="-202740"/>
                          </a:stretch>
                        </a:blipFill>
                      </a:tcPr>
                    </a:tc>
                  </a:tr>
                  <a:tr h="43999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6"/>
                          <a:stretch>
                            <a:fillRect l="-330" t="-264384" r="-328383" b="-102740"/>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707">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6"/>
                          <a:stretch>
                            <a:fillRect l="-330" t="-364384" r="-328383" b="-2740"/>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11"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pic>
        <p:nvPicPr>
          <p:cNvPr id="12"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18526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199213" y="374089"/>
            <a:ext cx="9944240"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Two different methods for evaluating expressions with exponents are illustrated in the table. With your partner, follow the steps.</a:t>
            </a:r>
          </a:p>
          <a:p>
            <a:r>
              <a:rPr lang="en-US" sz="2000" dirty="0">
                <a:latin typeface="Verdana" charset="0"/>
                <a:ea typeface="Verdana" charset="0"/>
                <a:cs typeface="Verdana" charset="0"/>
              </a:rPr>
              <a:t> </a:t>
            </a:r>
          </a:p>
          <a:p>
            <a:pPr marL="920750" indent="-452438">
              <a:buFont typeface="Arial" charset="0"/>
              <a:buChar char="•"/>
            </a:pPr>
            <a:r>
              <a:rPr lang="en-US" sz="2000" dirty="0">
                <a:latin typeface="Verdana" charset="0"/>
                <a:ea typeface="Verdana" charset="0"/>
                <a:cs typeface="Verdana" charset="0"/>
              </a:rPr>
              <a:t>Determine which column you will start in, and which column your partner will start in. </a:t>
            </a:r>
          </a:p>
          <a:p>
            <a:pPr marL="920750" indent="-452438">
              <a:buFont typeface="Arial" charset="0"/>
              <a:buChar char="•"/>
            </a:pPr>
            <a:r>
              <a:rPr lang="en-US" sz="2000" dirty="0">
                <a:latin typeface="Verdana" charset="0"/>
                <a:ea typeface="Verdana" charset="0"/>
                <a:cs typeface="Verdana" charset="0"/>
              </a:rPr>
              <a:t>Review Method 1 and Method 2. When you are working in each column, make sure to follow the same process as in the example for that column. </a:t>
            </a:r>
          </a:p>
          <a:p>
            <a:pPr marL="920750" indent="-452438">
              <a:buFont typeface="Arial" charset="0"/>
              <a:buChar char="•"/>
            </a:pPr>
            <a:r>
              <a:rPr lang="en-US" sz="2000" dirty="0">
                <a:latin typeface="Verdana" charset="0"/>
                <a:ea typeface="Verdana" charset="0"/>
                <a:cs typeface="Verdana" charset="0"/>
              </a:rPr>
              <a:t>After finding the value of each expression, verify your answers are the same. If not, find the error(s).</a:t>
            </a:r>
          </a:p>
          <a:p>
            <a:pPr marL="920750" indent="-452438">
              <a:buFont typeface="Arial" charset="0"/>
              <a:buChar char="•"/>
            </a:pPr>
            <a:r>
              <a:rPr lang="en-US" sz="2000" dirty="0">
                <a:latin typeface="Verdana" charset="0"/>
                <a:ea typeface="Verdana" charset="0"/>
                <a:cs typeface="Verdana" charset="0"/>
              </a:rPr>
              <a:t>After each problem, swap columns so that you and your partner are practicing both methods.</a:t>
            </a:r>
          </a:p>
        </p:txBody>
      </p:sp>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68047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B7C7682D-5C91-9243-8900-6899F3FEF344}"/>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01605590"/>
                  </p:ext>
                </p:extLst>
              </p:nvPr>
            </p:nvGraphicFramePr>
            <p:xfrm>
              <a:off x="2149248" y="469265"/>
              <a:ext cx="7903729" cy="5605158"/>
            </p:xfrm>
            <a:graphic>
              <a:graphicData uri="http://schemas.openxmlformats.org/drawingml/2006/table">
                <a:tbl>
                  <a:tblPr firstRow="1" firstCol="1" bandRow="1"/>
                  <a:tblGrid>
                    <a:gridCol w="1429799">
                      <a:extLst>
                        <a:ext uri="{9D8B030D-6E8A-4147-A177-3AD203B41FA5}">
                          <a16:colId xmlns:a16="http://schemas.microsoft.com/office/drawing/2014/main" val="20000"/>
                        </a:ext>
                      </a:extLst>
                    </a:gridCol>
                    <a:gridCol w="3318488">
                      <a:extLst>
                        <a:ext uri="{9D8B030D-6E8A-4147-A177-3AD203B41FA5}">
                          <a16:colId xmlns:a16="http://schemas.microsoft.com/office/drawing/2014/main" val="20001"/>
                        </a:ext>
                      </a:extLst>
                    </a:gridCol>
                    <a:gridCol w="3155442">
                      <a:extLst>
                        <a:ext uri="{9D8B030D-6E8A-4147-A177-3AD203B41FA5}">
                          <a16:colId xmlns:a16="http://schemas.microsoft.com/office/drawing/2014/main" val="20002"/>
                        </a:ext>
                      </a:extLst>
                    </a:gridCol>
                  </a:tblGrid>
                  <a:tr h="282302">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Example</a:t>
                          </a:r>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Method 1</a:t>
                          </a:r>
                          <a:endParaRPr lang="en-US" sz="2000">
                            <a:effectLst/>
                            <a:latin typeface="Verdana" charset="0"/>
                            <a:ea typeface="Verdana" charset="0"/>
                            <a:cs typeface="Verdana" charset="0"/>
                          </a:endParaRPr>
                        </a:p>
                      </a:txBody>
                      <a:tcPr marL="42396" marR="423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Method 2</a:t>
                          </a:r>
                          <a:endParaRPr lang="en-US" sz="2000">
                            <a:effectLst/>
                            <a:latin typeface="Verdana" charset="0"/>
                            <a:ea typeface="Verdana" charset="0"/>
                            <a:cs typeface="Verdana" charset="0"/>
                          </a:endParaRPr>
                        </a:p>
                      </a:txBody>
                      <a:tcPr marL="42396" marR="423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08746">
                    <a:tc>
                      <a:txBody>
                        <a:bodyPr/>
                        <a:lstStyle/>
                        <a:p>
                          <a:pPr marL="342900" marR="0" lvl="0" indent="-342900">
                            <a:lnSpc>
                              <a:spcPct val="107000"/>
                            </a:lnSpc>
                            <a:spcBef>
                              <a:spcPts val="0"/>
                            </a:spcBef>
                            <a:spcAft>
                              <a:spcPts val="0"/>
                            </a:spcAft>
                            <a:buFont typeface="+mj-lt"/>
                            <a:buAutoNum type="alphaLcPeriod"/>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begChr m:val="["/>
                                        <m:endChr m:val="]"/>
                                        <m:ctrlPr>
                                          <a:rPr lang="en-US" sz="2000" b="1" i="1">
                                            <a:effectLst/>
                                            <a:latin typeface="Cambria Math" panose="02040503050406030204" pitchFamily="18" charset="0"/>
                                            <a:ea typeface="Verdana" charset="0"/>
                                            <a:cs typeface="Verdana" charset="0"/>
                                          </a:rPr>
                                        </m:ctrlPr>
                                      </m:dPr>
                                      <m:e>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𝟐</m:t>
                                                    </m:r>
                                                  </m:e>
                                                </m:sPre>
                                              </m:e>
                                            </m:d>
                                          </m:e>
                                          <m:sup>
                                            <m:r>
                                              <a:rPr lang="en-US" sz="2000" b="1" i="1">
                                                <a:effectLst/>
                                                <a:latin typeface="Cambria Math" panose="02040503050406030204" pitchFamily="18" charset="0"/>
                                                <a:ea typeface="Verdana" charset="0"/>
                                                <a:cs typeface="Verdana" charset="0"/>
                                              </a:rPr>
                                              <m:t>𝟒</m:t>
                                            </m:r>
                                          </m:sup>
                                        </m:sSup>
                                      </m:e>
                                    </m:d>
                                  </m:e>
                                  <m:sup>
                                    <m:r>
                                      <a:rPr lang="en-US" sz="2000" b="1" i="1">
                                        <a:effectLst/>
                                        <a:latin typeface="Cambria Math" panose="02040503050406030204" pitchFamily="18" charset="0"/>
                                        <a:ea typeface="Verdana" charset="0"/>
                                        <a:cs typeface="Verdana" charset="0"/>
                                      </a:rPr>
                                      <m:t>𝟐</m:t>
                                    </m:r>
                                  </m:sup>
                                </m:sSup>
                              </m:oMath>
                            </m:oMathPara>
                          </a14:m>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1"/>
                      </a:ext>
                    </a:extLst>
                  </a:tr>
                  <a:tr h="1901907">
                    <a:tc>
                      <a:txBody>
                        <a:bodyPr/>
                        <a:lstStyle/>
                        <a:p>
                          <a:pPr marL="0" marR="0">
                            <a:lnSpc>
                              <a:spcPct val="107000"/>
                            </a:lnSpc>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begChr m:val="["/>
                                        <m:endChr m:val="]"/>
                                        <m:ctrlPr>
                                          <a:rPr lang="en-US" sz="2000" b="1" i="1">
                                            <a:effectLst/>
                                            <a:latin typeface="Cambria Math" panose="02040503050406030204" pitchFamily="18" charset="0"/>
                                            <a:ea typeface="Verdana" charset="0"/>
                                            <a:cs typeface="Verdana" charset="0"/>
                                          </a:rPr>
                                        </m:ctrlPr>
                                      </m:dPr>
                                      <m:e>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𝟐</m:t>
                                                    </m:r>
                                                  </m:e>
                                                </m:sPre>
                                              </m:e>
                                            </m:d>
                                          </m:e>
                                          <m:sup>
                                            <m:r>
                                              <a:rPr lang="en-US" sz="2000" b="1" i="1">
                                                <a:effectLst/>
                                                <a:latin typeface="Cambria Math" panose="02040503050406030204" pitchFamily="18" charset="0"/>
                                                <a:ea typeface="Verdana" charset="0"/>
                                                <a:cs typeface="Verdana" charset="0"/>
                                              </a:rPr>
                                              <m:t>𝟒</m:t>
                                            </m:r>
                                          </m:sup>
                                        </m:sSup>
                                      </m:e>
                                    </m:d>
                                  </m:e>
                                  <m:sup>
                                    <m:r>
                                      <a:rPr lang="en-US" sz="2000" b="1" i="1">
                                        <a:effectLst/>
                                        <a:latin typeface="Cambria Math" panose="02040503050406030204" pitchFamily="18" charset="0"/>
                                        <a:ea typeface="Verdana" charset="0"/>
                                        <a:cs typeface="Verdana" charset="0"/>
                                      </a:rPr>
                                      <m:t>𝟐</m:t>
                                    </m:r>
                                  </m:sup>
                                </m:sSup>
                              </m:oMath>
                            </m:oMathPara>
                          </a14:m>
                          <a:endParaRPr lang="en-US" sz="200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16</m:t>
                                        </m:r>
                                      </m:e>
                                    </m:d>
                                  </m:e>
                                  <m:sup>
                                    <m:r>
                                      <a:rPr lang="en-US" sz="2000" i="1">
                                        <a:effectLst/>
                                        <a:latin typeface="Cambria Math" panose="02040503050406030204" pitchFamily="18" charset="0"/>
                                        <a:ea typeface="Verdana" charset="0"/>
                                        <a:cs typeface="Verdana" charset="0"/>
                                      </a:rPr>
                                      <m:t>2</m:t>
                                    </m:r>
                                  </m:sup>
                                </m:sSup>
                              </m:oMath>
                            </m:oMathPara>
                          </a14:m>
                          <a:endParaRPr lang="en-US" sz="200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16∙16</m:t>
                                </m:r>
                              </m:oMath>
                            </m:oMathPara>
                          </a14:m>
                          <a:endParaRPr lang="en-US" sz="200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256</m:t>
                                </m:r>
                              </m:oMath>
                            </m:oMathPara>
                          </a14:m>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begChr m:val="["/>
                                        <m:endChr m:val="]"/>
                                        <m:ctrlPr>
                                          <a:rPr lang="en-US" sz="2000" b="1" i="1">
                                            <a:effectLst/>
                                            <a:latin typeface="Cambria Math" panose="02040503050406030204" pitchFamily="18" charset="0"/>
                                            <a:ea typeface="Verdana" charset="0"/>
                                            <a:cs typeface="Verdana" charset="0"/>
                                          </a:rPr>
                                        </m:ctrlPr>
                                      </m:dPr>
                                      <m:e>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𝟐</m:t>
                                                    </m:r>
                                                  </m:e>
                                                </m:sPre>
                                              </m:e>
                                            </m:d>
                                          </m:e>
                                          <m:sup>
                                            <m:r>
                                              <a:rPr lang="en-US" sz="2000" b="1" i="1">
                                                <a:effectLst/>
                                                <a:latin typeface="Cambria Math" panose="02040503050406030204" pitchFamily="18" charset="0"/>
                                                <a:ea typeface="Verdana" charset="0"/>
                                                <a:cs typeface="Verdana" charset="0"/>
                                              </a:rPr>
                                              <m:t>𝟒</m:t>
                                            </m:r>
                                          </m:sup>
                                        </m:sSup>
                                      </m:e>
                                    </m:d>
                                  </m:e>
                                  <m:sup>
                                    <m:r>
                                      <a:rPr lang="en-US" sz="2000" b="1" i="1">
                                        <a:effectLst/>
                                        <a:latin typeface="Cambria Math" panose="02040503050406030204" pitchFamily="18" charset="0"/>
                                        <a:ea typeface="Verdana" charset="0"/>
                                        <a:cs typeface="Verdana" charset="0"/>
                                      </a:rPr>
                                      <m:t>𝟐</m:t>
                                    </m:r>
                                  </m:sup>
                                </m:sSup>
                              </m:oMath>
                            </m:oMathPara>
                          </a14:m>
                          <a:endParaRPr lang="en-US" sz="200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2</m:t>
                                            </m:r>
                                          </m:e>
                                        </m:sPre>
                                      </m:e>
                                    </m:d>
                                  </m:e>
                                  <m:sup>
                                    <m:r>
                                      <a:rPr lang="en-US" sz="2000" i="1">
                                        <a:effectLst/>
                                        <a:latin typeface="Cambria Math" panose="02040503050406030204" pitchFamily="18" charset="0"/>
                                        <a:ea typeface="Verdana" charset="0"/>
                                        <a:cs typeface="Verdana" charset="0"/>
                                      </a:rPr>
                                      <m:t>4 ∙ 2</m:t>
                                    </m:r>
                                  </m:sup>
                                </m:sSup>
                              </m:oMath>
                            </m:oMathPara>
                          </a14:m>
                          <a:endParaRPr lang="en-US" sz="200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2</m:t>
                                            </m:r>
                                          </m:e>
                                        </m:sPre>
                                      </m:e>
                                    </m:d>
                                  </m:e>
                                  <m:sup>
                                    <m:r>
                                      <a:rPr lang="en-US" sz="2000" i="1">
                                        <a:effectLst/>
                                        <a:latin typeface="Cambria Math" panose="02040503050406030204" pitchFamily="18" charset="0"/>
                                        <a:ea typeface="Verdana" charset="0"/>
                                        <a:cs typeface="Verdana" charset="0"/>
                                      </a:rPr>
                                      <m:t>8</m:t>
                                    </m:r>
                                  </m:sup>
                                </m:sSup>
                              </m:oMath>
                            </m:oMathPara>
                          </a14:m>
                          <a:endParaRPr lang="en-US" sz="2000">
                            <a:effectLst/>
                            <a:latin typeface="Verdana" charset="0"/>
                            <a:ea typeface="Verdana" charset="0"/>
                            <a:cs typeface="Verdana" charset="0"/>
                          </a:endParaRPr>
                        </a:p>
                        <a:p>
                          <a:pPr marL="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256</m:t>
                                </m:r>
                              </m:oMath>
                            </m:oMathPara>
                          </a14:m>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8746">
                    <a:tc>
                      <a:txBody>
                        <a:bodyPr/>
                        <a:lstStyle/>
                        <a:p>
                          <a:pPr marL="457200" marR="0" lvl="0" indent="-457200">
                            <a:lnSpc>
                              <a:spcPct val="107000"/>
                            </a:lnSpc>
                            <a:spcBef>
                              <a:spcPts val="0"/>
                            </a:spcBef>
                            <a:spcAft>
                              <a:spcPts val="0"/>
                            </a:spcAft>
                            <a:buFont typeface="+mj-lt"/>
                            <a:buAutoNum type="alphaLcPeriod" startAt="2"/>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begChr m:val="["/>
                                        <m:endChr m:val="]"/>
                                        <m:ctrlPr>
                                          <a:rPr lang="en-US" sz="2000" b="1" i="1">
                                            <a:effectLst/>
                                            <a:latin typeface="Cambria Math" panose="02040503050406030204" pitchFamily="18" charset="0"/>
                                            <a:ea typeface="Verdana" charset="0"/>
                                            <a:cs typeface="Verdana" charset="0"/>
                                          </a:rPr>
                                        </m:ctrlPr>
                                      </m:dPr>
                                      <m:e>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𝟔</m:t>
                                                    </m:r>
                                                  </m:e>
                                                </m:sPre>
                                              </m:e>
                                            </m:d>
                                          </m:e>
                                          <m:sup>
                                            <m:r>
                                              <a:rPr lang="en-US" sz="2000" b="1" i="1">
                                                <a:effectLst/>
                                                <a:latin typeface="Cambria Math" panose="02040503050406030204" pitchFamily="18" charset="0"/>
                                                <a:ea typeface="Verdana" charset="0"/>
                                                <a:cs typeface="Verdana" charset="0"/>
                                              </a:rPr>
                                              <m:t>𝟏</m:t>
                                            </m:r>
                                          </m:sup>
                                        </m:sSup>
                                      </m:e>
                                    </m:d>
                                  </m:e>
                                  <m:sup>
                                    <m:r>
                                      <a:rPr lang="en-US" sz="2000" b="1" i="1">
                                        <a:effectLst/>
                                        <a:latin typeface="Cambria Math" panose="02040503050406030204" pitchFamily="18" charset="0"/>
                                        <a:ea typeface="Verdana" charset="0"/>
                                        <a:cs typeface="Verdana" charset="0"/>
                                      </a:rPr>
                                      <m:t>𝟖</m:t>
                                    </m:r>
                                  </m:sup>
                                </m:sSup>
                              </m:oMath>
                            </m:oMathPara>
                          </a14:m>
                          <a:endParaRPr lang="en-US" sz="2000" dirty="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3"/>
                      </a:ext>
                    </a:extLst>
                  </a:tr>
                  <a:tr h="978604">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8746">
                    <a:tc>
                      <a:txBody>
                        <a:bodyPr/>
                        <a:lstStyle/>
                        <a:p>
                          <a:pPr marL="457200" marR="0" lvl="0" indent="-457200">
                            <a:lnSpc>
                              <a:spcPct val="107000"/>
                            </a:lnSpc>
                            <a:spcBef>
                              <a:spcPts val="0"/>
                            </a:spcBef>
                            <a:spcAft>
                              <a:spcPts val="0"/>
                            </a:spcAft>
                            <a:buFont typeface="+mj-lt"/>
                            <a:buAutoNum type="alphaLcPeriod" startAt="3"/>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d>
                                      <m:dPr>
                                        <m:begChr m:val="["/>
                                        <m:endChr m:val="]"/>
                                        <m:ctrlPr>
                                          <a:rPr lang="en-US" sz="2000" b="1" i="1">
                                            <a:effectLst/>
                                            <a:latin typeface="Cambria Math" panose="02040503050406030204" pitchFamily="18" charset="0"/>
                                            <a:ea typeface="Verdana" charset="0"/>
                                            <a:cs typeface="Verdana" charset="0"/>
                                          </a:rPr>
                                        </m:ctrlPr>
                                      </m:dPr>
                                      <m:e>
                                        <m:sSup>
                                          <m:sSupPr>
                                            <m:ctrlPr>
                                              <a:rPr lang="en-US" sz="2000" b="1" i="1">
                                                <a:effectLst/>
                                                <a:latin typeface="Cambria Math" panose="02040503050406030204" pitchFamily="18" charset="0"/>
                                                <a:ea typeface="Verdana" charset="0"/>
                                                <a:cs typeface="Verdana" charset="0"/>
                                              </a:rPr>
                                            </m:ctrlPr>
                                          </m:sSupPr>
                                          <m:e>
                                            <m:d>
                                              <m:dPr>
                                                <m:ctrlPr>
                                                  <a:rPr lang="en-US" sz="2000" b="1" i="1">
                                                    <a:effectLst/>
                                                    <a:latin typeface="Cambria Math" panose="02040503050406030204" pitchFamily="18" charset="0"/>
                                                    <a:ea typeface="Verdana" charset="0"/>
                                                    <a:cs typeface="Verdana" charset="0"/>
                                                  </a:rPr>
                                                </m:ctrlPr>
                                              </m:dPr>
                                              <m:e>
                                                <m:sPre>
                                                  <m:sPrePr>
                                                    <m:ctrlPr>
                                                      <a:rPr lang="en-US" sz="2000" b="1" i="1">
                                                        <a:effectLst/>
                                                        <a:latin typeface="Cambria Math" panose="02040503050406030204" pitchFamily="18" charset="0"/>
                                                        <a:ea typeface="Verdana" charset="0"/>
                                                        <a:cs typeface="Verdana" charset="0"/>
                                                      </a:rPr>
                                                    </m:ctrlPr>
                                                  </m:sPrePr>
                                                  <m:sub/>
                                                  <m:sup>
                                                    <m:r>
                                                      <a:rPr lang="en-US" sz="2000" b="1" i="1">
                                                        <a:effectLst/>
                                                        <a:latin typeface="Cambria Math" panose="02040503050406030204" pitchFamily="18" charset="0"/>
                                                        <a:ea typeface="Verdana" charset="0"/>
                                                        <a:cs typeface="Verdana" charset="0"/>
                                                      </a:rPr>
                                                      <m:t>−</m:t>
                                                    </m:r>
                                                  </m:sup>
                                                  <m:e>
                                                    <m:r>
                                                      <a:rPr lang="en-US" sz="2000" b="1" i="1">
                                                        <a:effectLst/>
                                                        <a:latin typeface="Cambria Math" panose="02040503050406030204" pitchFamily="18" charset="0"/>
                                                        <a:ea typeface="Verdana" charset="0"/>
                                                        <a:cs typeface="Verdana" charset="0"/>
                                                      </a:rPr>
                                                      <m:t>𝟏𝟎</m:t>
                                                    </m:r>
                                                  </m:e>
                                                </m:sPre>
                                              </m:e>
                                            </m:d>
                                          </m:e>
                                          <m:sup>
                                            <m:r>
                                              <a:rPr lang="en-US" sz="2000" b="1" i="1">
                                                <a:effectLst/>
                                                <a:latin typeface="Cambria Math" panose="02040503050406030204" pitchFamily="18" charset="0"/>
                                                <a:ea typeface="Verdana" charset="0"/>
                                                <a:cs typeface="Verdana" charset="0"/>
                                              </a:rPr>
                                              <m:t>𝟐</m:t>
                                            </m:r>
                                          </m:sup>
                                        </m:sSup>
                                      </m:e>
                                    </m:d>
                                  </m:e>
                                  <m:sup>
                                    <m:r>
                                      <a:rPr lang="en-US" sz="2000" b="1" i="1">
                                        <a:effectLst/>
                                        <a:latin typeface="Cambria Math" panose="02040503050406030204" pitchFamily="18" charset="0"/>
                                        <a:ea typeface="Verdana" charset="0"/>
                                        <a:cs typeface="Verdana" charset="0"/>
                                      </a:rPr>
                                      <m:t>𝟔</m:t>
                                    </m:r>
                                  </m:sup>
                                </m:sSup>
                              </m:oMath>
                            </m:oMathPara>
                          </a14:m>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5"/>
                      </a:ext>
                    </a:extLst>
                  </a:tr>
                  <a:tr h="978604">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01605590"/>
                  </p:ext>
                </p:extLst>
              </p:nvPr>
            </p:nvGraphicFramePr>
            <p:xfrm>
              <a:off x="625247" y="469265"/>
              <a:ext cx="7903729" cy="5628526"/>
            </p:xfrm>
            <a:graphic>
              <a:graphicData uri="http://schemas.openxmlformats.org/drawingml/2006/table">
                <a:tbl>
                  <a:tblPr firstRow="1" firstCol="1" bandRow="1"/>
                  <a:tblGrid>
                    <a:gridCol w="1429799"/>
                    <a:gridCol w="3318488"/>
                    <a:gridCol w="3155442"/>
                  </a:tblGrid>
                  <a:tr h="297244">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Example</a:t>
                          </a:r>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Method 1</a:t>
                          </a:r>
                          <a:endParaRPr lang="en-US" sz="2000">
                            <a:effectLst/>
                            <a:latin typeface="Verdana" charset="0"/>
                            <a:ea typeface="Verdana" charset="0"/>
                            <a:cs typeface="Verdana" charset="0"/>
                          </a:endParaRPr>
                        </a:p>
                      </a:txBody>
                      <a:tcPr marL="42396" marR="423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effectLst/>
                              <a:latin typeface="Verdana" charset="0"/>
                              <a:ea typeface="Verdana" charset="0"/>
                              <a:cs typeface="Verdana" charset="0"/>
                            </a:rPr>
                            <a:t>Method 2</a:t>
                          </a:r>
                          <a:endParaRPr lang="en-US" sz="2000">
                            <a:effectLst/>
                            <a:latin typeface="Verdana" charset="0"/>
                            <a:ea typeface="Verdana" charset="0"/>
                            <a:cs typeface="Verdana" charset="0"/>
                          </a:endParaRPr>
                        </a:p>
                      </a:txBody>
                      <a:tcPr marL="42396" marR="423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440881">
                    <a:tc>
                      <a:txBody>
                        <a:bodyPr/>
                        <a:lstStyle/>
                        <a:p>
                          <a:pPr marL="342900" marR="0" lvl="0" indent="-342900">
                            <a:lnSpc>
                              <a:spcPct val="107000"/>
                            </a:lnSpc>
                            <a:spcBef>
                              <a:spcPts val="0"/>
                            </a:spcBef>
                            <a:spcAft>
                              <a:spcPts val="0"/>
                            </a:spcAft>
                            <a:buFont typeface="+mj-lt"/>
                            <a:buAutoNum type="alphaLcPeriod"/>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endParaRPr lang="en-US"/>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2201" t="-86111" r="-188" b="-1119444"/>
                          </a:stretch>
                        </a:blipFill>
                      </a:tcPr>
                    </a:tc>
                    <a:tc hMerge="1">
                      <a:txBody>
                        <a:bodyPr/>
                        <a:lstStyle/>
                        <a:p>
                          <a:endParaRPr lang="en-US"/>
                        </a:p>
                      </a:txBody>
                      <a:tcPr/>
                    </a:tc>
                  </a:tr>
                  <a:tr h="2051431">
                    <a:tc>
                      <a:txBody>
                        <a:bodyPr/>
                        <a:lstStyle/>
                        <a:p>
                          <a:pPr marL="0" marR="0">
                            <a:lnSpc>
                              <a:spcPct val="107000"/>
                            </a:lnSpc>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43303" t="-39763" r="-95413" b="-139169"/>
                          </a:stretch>
                        </a:blipFill>
                      </a:tcPr>
                    </a:tc>
                    <a:tc>
                      <a:txBody>
                        <a:bodyPr/>
                        <a:lstStyle/>
                        <a:p>
                          <a:endParaRPr lang="en-US"/>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50772" t="-39763" r="-386" b="-139169"/>
                          </a:stretch>
                        </a:blipFill>
                      </a:tcPr>
                    </a:tc>
                  </a:tr>
                  <a:tr h="440881">
                    <a:tc>
                      <a:txBody>
                        <a:bodyPr/>
                        <a:lstStyle/>
                        <a:p>
                          <a:pPr marL="457200" marR="0" lvl="0" indent="-457200">
                            <a:lnSpc>
                              <a:spcPct val="107000"/>
                            </a:lnSpc>
                            <a:spcBef>
                              <a:spcPts val="0"/>
                            </a:spcBef>
                            <a:spcAft>
                              <a:spcPts val="0"/>
                            </a:spcAft>
                            <a:buFont typeface="+mj-lt"/>
                            <a:buAutoNum type="alphaLcPeriod" startAt="2"/>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endParaRPr lang="en-US"/>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2201" t="-645205" r="-188" b="-542466"/>
                          </a:stretch>
                        </a:blipFill>
                      </a:tcPr>
                    </a:tc>
                    <a:tc hMerge="1">
                      <a:txBody>
                        <a:bodyPr/>
                        <a:lstStyle/>
                        <a:p>
                          <a:endParaRPr lang="en-US"/>
                        </a:p>
                      </a:txBody>
                      <a:tcPr/>
                    </a:tc>
                  </a:tr>
                  <a:tr h="978604">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881">
                    <a:tc>
                      <a:txBody>
                        <a:bodyPr/>
                        <a:lstStyle/>
                        <a:p>
                          <a:pPr marL="457200" marR="0" lvl="0" indent="-457200">
                            <a:lnSpc>
                              <a:spcPct val="107000"/>
                            </a:lnSpc>
                            <a:spcBef>
                              <a:spcPts val="0"/>
                            </a:spcBef>
                            <a:spcAft>
                              <a:spcPts val="0"/>
                            </a:spcAft>
                            <a:buFont typeface="+mj-lt"/>
                            <a:buAutoNum type="alphaLcPeriod" startAt="3"/>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endParaRPr lang="en-US"/>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22201" t="-979167" r="-188" b="-226389"/>
                          </a:stretch>
                        </a:blipFill>
                      </a:tcPr>
                    </a:tc>
                    <a:tc hMerge="1">
                      <a:txBody>
                        <a:bodyPr/>
                        <a:lstStyle/>
                        <a:p>
                          <a:endParaRPr lang="en-US"/>
                        </a:p>
                      </a:txBody>
                      <a:tcPr/>
                    </a:tc>
                  </a:tr>
                  <a:tr h="978604">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charset="0"/>
                              <a:ea typeface="Verdana" charset="0"/>
                              <a:cs typeface="Verdana" charset="0"/>
                            </a:rPr>
                            <a:t> </a:t>
                          </a:r>
                        </a:p>
                      </a:txBody>
                      <a:tcPr marL="42396" marR="423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7" name="Google Shape;282;g104476d1465_1_17"/>
          <p:cNvSpPr txBox="1"/>
          <p:nvPr/>
        </p:nvSpPr>
        <p:spPr>
          <a:xfrm>
            <a:off x="86788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7081"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0409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104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154243" y="374090"/>
                <a:ext cx="10034180" cy="163121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Complete the statement.</a:t>
                </a:r>
              </a:p>
              <a:p>
                <a:pPr lvl="0"/>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When </a:t>
                </a:r>
                <a14:m>
                  <m:oMath xmlns:m="http://schemas.openxmlformats.org/officeDocument/2006/math">
                    <m:r>
                      <a:rPr lang="en-US" sz="2000" i="1">
                        <a:latin typeface="Cambria Math" panose="02040503050406030204" pitchFamily="18" charset="0"/>
                        <a:ea typeface="Verdana" charset="0"/>
                        <a:cs typeface="Verdana" charset="0"/>
                      </a:rPr>
                      <m:t>𝑎</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is a nonzero real number, and </a:t>
                </a:r>
                <a14:m>
                  <m:oMath xmlns:m="http://schemas.openxmlformats.org/officeDocument/2006/math">
                    <m:r>
                      <a:rPr lang="en-US" sz="2000" i="1">
                        <a:latin typeface="Cambria Math" panose="02040503050406030204" pitchFamily="18" charset="0"/>
                        <a:ea typeface="Verdana" charset="0"/>
                        <a:cs typeface="Verdana" charset="0"/>
                      </a:rPr>
                      <m:t>𝑚</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𝑛</m:t>
                    </m:r>
                  </m:oMath>
                </a14:m>
                <a:r>
                  <a:rPr lang="en-US" sz="2000" dirty="0">
                    <a:latin typeface="Verdana" charset="0"/>
                    <a:ea typeface="Verdana" charset="0"/>
                    <a:cs typeface="Verdana" charset="0"/>
                  </a:rPr>
                  <a:t> are integers, the </a:t>
                </a:r>
              </a:p>
              <a:p>
                <a:pPr marL="468313"/>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exponential expression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d>
                          <m:dPr>
                            <m:ctrlPr>
                              <a:rPr lang="en-US" sz="2000" i="1">
                                <a:latin typeface="Cambria Math" panose="02040503050406030204" pitchFamily="18" charset="0"/>
                                <a:ea typeface="Verdana" charset="0"/>
                                <a:cs typeface="Verdana" charset="0"/>
                              </a:rPr>
                            </m:ctrlPr>
                          </m:dPr>
                          <m:e>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𝑎</m:t>
                                </m:r>
                              </m:e>
                              <m:sup>
                                <m:r>
                                  <a:rPr lang="en-US" sz="2000" i="1">
                                    <a:latin typeface="Cambria Math" panose="02040503050406030204" pitchFamily="18" charset="0"/>
                                    <a:ea typeface="Verdana" charset="0"/>
                                    <a:cs typeface="Verdana" charset="0"/>
                                  </a:rPr>
                                  <m:t>𝑚</m:t>
                                </m:r>
                              </m:sup>
                            </m:sSup>
                          </m:e>
                        </m:d>
                      </m:e>
                      <m:sup>
                        <m:r>
                          <a:rPr lang="en-US" sz="2000" i="1">
                            <a:latin typeface="Cambria Math" panose="02040503050406030204" pitchFamily="18" charset="0"/>
                            <a:ea typeface="Verdana" charset="0"/>
                            <a:cs typeface="Verdana" charset="0"/>
                          </a:rPr>
                          <m:t>𝑛</m:t>
                        </m:r>
                      </m:sup>
                    </m:sSup>
                  </m:oMath>
                </a14:m>
                <a:r>
                  <a:rPr lang="en-US" sz="2000" dirty="0">
                    <a:latin typeface="Verdana" charset="0"/>
                    <a:ea typeface="Verdana" charset="0"/>
                    <a:cs typeface="Verdana" charset="0"/>
                  </a:rPr>
                  <a:t> is equal to </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154243" y="374090"/>
                <a:ext cx="10034180" cy="1631216"/>
              </a:xfrm>
              <a:prstGeom prst="rect">
                <a:avLst/>
              </a:prstGeom>
              <a:blipFill rotWithShape="0">
                <a:blip r:embed="rId4"/>
                <a:stretch>
                  <a:fillRect l="-668" t="-2239" b="-559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B7C7682D-5C91-9243-8900-6899F3FEF344}"/>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859154" y="1466598"/>
            <a:ext cx="2095500" cy="1320800"/>
          </a:xfrm>
          <a:prstGeom prst="rect">
            <a:avLst/>
          </a:prstGeom>
        </p:spPr>
      </p:pic>
      <p:sp>
        <p:nvSpPr>
          <p:cNvPr id="7" name="Text Box 24"/>
          <p:cNvSpPr txBox="1"/>
          <p:nvPr/>
        </p:nvSpPr>
        <p:spPr>
          <a:xfrm>
            <a:off x="2878836" y="3569490"/>
            <a:ext cx="6629400" cy="1718791"/>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b="1" dirty="0">
                <a:solidFill>
                  <a:srgbClr val="417DBF"/>
                </a:solidFill>
                <a:latin typeface="Verdana" charset="0"/>
                <a:ea typeface="Verdana" charset="0"/>
                <a:cs typeface="Verdana" charset="0"/>
              </a:rPr>
              <a:t>Power of a Power Exponent Law</a:t>
            </a:r>
            <a:endParaRPr lang="en-US" sz="2000" dirty="0">
              <a:solidFill>
                <a:srgbClr val="417DBF"/>
              </a:solidFill>
              <a:latin typeface="Verdana" charset="0"/>
              <a:ea typeface="Verdana" charset="0"/>
              <a:cs typeface="Verdana" charset="0"/>
            </a:endParaRPr>
          </a:p>
          <a:p>
            <a:pPr marL="920750"/>
            <a:r>
              <a:rPr lang="en-US" sz="2000" dirty="0">
                <a:solidFill>
                  <a:srgbClr val="417DBF"/>
                </a:solidFill>
                <a:latin typeface="Verdana" charset="0"/>
                <a:ea typeface="Verdana" charset="0"/>
                <a:cs typeface="Verdana" charset="0"/>
              </a:rPr>
              <a:t>When raising a base with a power to another power, multiply the exponents and keep the same base.</a:t>
            </a:r>
          </a:p>
        </p:txBody>
      </p:sp>
      <p:pic>
        <p:nvPicPr>
          <p:cNvPr id="8" name="Picture 7"/>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135359" y="3755226"/>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704929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104</a:t>
            </a:r>
          </a:p>
        </p:txBody>
      </p:sp>
    </p:spTree>
    <p:extLst>
      <p:ext uri="{BB962C8B-B14F-4D97-AF65-F5344CB8AC3E}">
        <p14:creationId xmlns:p14="http://schemas.microsoft.com/office/powerpoint/2010/main" val="773343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3880"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3.1.5 Exploration: Identity Exponent Law</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7582" y="30845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334125" y="1386026"/>
            <a:ext cx="9779782"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With your partner, use the meaning of an exponent to complete the table. Write each product as a repeated multiplication expression, then write the value of each expression. </a:t>
            </a:r>
          </a:p>
        </p:txBody>
      </p:sp>
      <p:sp>
        <p:nvSpPr>
          <p:cNvPr id="9" name="Google Shape;278;g104476d1465_1_17">
            <a:extLst>
              <a:ext uri="{FF2B5EF4-FFF2-40B4-BE49-F238E27FC236}">
                <a16:creationId xmlns:a16="http://schemas.microsoft.com/office/drawing/2014/main" id="{6200F4BF-3C27-A748-A63E-5BC45D57275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12072701"/>
                  </p:ext>
                </p:extLst>
              </p:nvPr>
            </p:nvGraphicFramePr>
            <p:xfrm>
              <a:off x="2515806" y="3034786"/>
              <a:ext cx="7131114" cy="2099451"/>
            </p:xfrm>
            <a:graphic>
              <a:graphicData uri="http://schemas.openxmlformats.org/drawingml/2006/table">
                <a:tbl>
                  <a:tblPr firstRow="1" firstCol="1" bandRow="1"/>
                  <a:tblGrid>
                    <a:gridCol w="2219443">
                      <a:extLst>
                        <a:ext uri="{9D8B030D-6E8A-4147-A177-3AD203B41FA5}">
                          <a16:colId xmlns:a16="http://schemas.microsoft.com/office/drawing/2014/main" val="20000"/>
                        </a:ext>
                      </a:extLst>
                    </a:gridCol>
                    <a:gridCol w="3236830">
                      <a:extLst>
                        <a:ext uri="{9D8B030D-6E8A-4147-A177-3AD203B41FA5}">
                          <a16:colId xmlns:a16="http://schemas.microsoft.com/office/drawing/2014/main" val="20001"/>
                        </a:ext>
                      </a:extLst>
                    </a:gridCol>
                    <a:gridCol w="1674841">
                      <a:extLst>
                        <a:ext uri="{9D8B030D-6E8A-4147-A177-3AD203B41FA5}">
                          <a16:colId xmlns:a16="http://schemas.microsoft.com/office/drawing/2014/main" val="20002"/>
                        </a:ext>
                      </a:extLst>
                    </a:gridCol>
                  </a:tblGrid>
                  <a:tr h="734472">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Exponential Expression</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Repeated Multiplication</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Value</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262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10</m:t>
                                    </m:r>
                                  </m:e>
                                  <m:sup>
                                    <m:r>
                                      <a:rPr lang="en-US" sz="2000" i="1">
                                        <a:effectLst/>
                                        <a:latin typeface="Cambria Math" panose="02040503050406030204" pitchFamily="18" charset="0"/>
                                        <a:ea typeface="Verdana" charset="0"/>
                                        <a:cs typeface="Verdana" charset="0"/>
                                      </a:rPr>
                                      <m:t>1</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m:t>
                                </m:r>
                              </m:oMath>
                            </m:oMathPara>
                          </a14:m>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m:t>
                                </m:r>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973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100</m:t>
                                    </m:r>
                                  </m:e>
                                  <m:sup>
                                    <m:r>
                                      <a:rPr lang="en-US" sz="2000" i="1">
                                        <a:effectLst/>
                                        <a:latin typeface="Cambria Math" panose="02040503050406030204" pitchFamily="18" charset="0"/>
                                        <a:ea typeface="Verdana" charset="0"/>
                                        <a:cs typeface="Verdana" charset="0"/>
                                      </a:rPr>
                                      <m:t>1</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262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11</m:t>
                                    </m:r>
                                  </m:e>
                                  <m:sup>
                                    <m:r>
                                      <a:rPr lang="en-US" sz="2000" i="1">
                                        <a:effectLst/>
                                        <a:latin typeface="Cambria Math" panose="02040503050406030204" pitchFamily="18" charset="0"/>
                                        <a:ea typeface="Verdana" charset="0"/>
                                        <a:cs typeface="Verdana" charset="0"/>
                                      </a:rPr>
                                      <m:t>1</m:t>
                                    </m:r>
                                  </m:sup>
                                </m:sSup>
                              </m:oMath>
                            </m:oMathPara>
                          </a14:m>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12072701"/>
                  </p:ext>
                </p:extLst>
              </p:nvPr>
            </p:nvGraphicFramePr>
            <p:xfrm>
              <a:off x="991806" y="3034785"/>
              <a:ext cx="7131114" cy="2099451"/>
            </p:xfrm>
            <a:graphic>
              <a:graphicData uri="http://schemas.openxmlformats.org/drawingml/2006/table">
                <a:tbl>
                  <a:tblPr firstRow="1" firstCol="1" bandRow="1"/>
                  <a:tblGrid>
                    <a:gridCol w="2219443"/>
                    <a:gridCol w="3236830"/>
                    <a:gridCol w="1674841"/>
                  </a:tblGrid>
                  <a:tr h="734472">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Exponential Expression</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Repeated Multiplication</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Value</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46262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5" t="-164474" r="-222253" b="-198684"/>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68609" t="-164474" r="-52068" b="-198684"/>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326182" t="-164474" r="-727" b="-198684"/>
                          </a:stretch>
                        </a:blipFill>
                      </a:tcPr>
                    </a:tc>
                  </a:tr>
                  <a:tr h="43973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5" t="-275342" r="-222253" b="-106849"/>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62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5" t="-360526" r="-222253" b="-2632"/>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104</a:t>
            </a:r>
          </a:p>
        </p:txBody>
      </p:sp>
    </p:spTree>
    <p:extLst>
      <p:ext uri="{BB962C8B-B14F-4D97-AF65-F5344CB8AC3E}">
        <p14:creationId xmlns:p14="http://schemas.microsoft.com/office/powerpoint/2010/main" val="1650607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2007765" y="374089"/>
                <a:ext cx="8327136" cy="194598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Complete the statement about the identity exponent law.</a:t>
                </a:r>
              </a:p>
              <a:p>
                <a:pPr marL="457200" indent="-457200">
                  <a:buFont typeface="+mj-lt"/>
                  <a:buAutoNum type="arabicPeriod" startAt="2"/>
                </a:pPr>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When </a:t>
                </a:r>
                <a14:m>
                  <m:oMath xmlns:m="http://schemas.openxmlformats.org/officeDocument/2006/math">
                    <m:r>
                      <a:rPr lang="en-US" sz="2000" i="1">
                        <a:latin typeface="Cambria Math" panose="02040503050406030204" pitchFamily="18" charset="0"/>
                        <a:ea typeface="Verdana" charset="0"/>
                        <a:cs typeface="Verdana" charset="0"/>
                      </a:rPr>
                      <m:t>𝑎</m:t>
                    </m:r>
                    <m:r>
                      <a:rPr lang="en-US" sz="2000" i="1">
                        <a:latin typeface="Cambria Math" panose="02040503050406030204" pitchFamily="18" charset="0"/>
                        <a:ea typeface="Verdana" charset="0"/>
                        <a:cs typeface="Verdana" charset="0"/>
                      </a:rPr>
                      <m:t> </m:t>
                    </m:r>
                  </m:oMath>
                </a14:m>
                <a:r>
                  <a:rPr lang="en-US" sz="2000" dirty="0">
                    <a:latin typeface="Verdana" charset="0"/>
                    <a:ea typeface="Verdana" charset="0"/>
                    <a:cs typeface="Verdana" charset="0"/>
                  </a:rPr>
                  <a:t>is a nonzero real number, the exponential </a:t>
                </a:r>
              </a:p>
              <a:p>
                <a:pPr marL="468313"/>
                <a:endParaRPr lang="en-US" sz="2000" dirty="0">
                  <a:latin typeface="Verdana" charset="0"/>
                  <a:ea typeface="Verdana" charset="0"/>
                  <a:cs typeface="Verdana" charset="0"/>
                </a:endParaRPr>
              </a:p>
              <a:p>
                <a:pPr marL="468313"/>
                <a:r>
                  <a:rPr lang="en-US" sz="2000" dirty="0">
                    <a:latin typeface="Verdana" charset="0"/>
                    <a:ea typeface="Verdana" charset="0"/>
                    <a:cs typeface="Verdana" charset="0"/>
                  </a:rPr>
                  <a:t>expression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panose="02040503050406030204" pitchFamily="18" charset="0"/>
                            <a:ea typeface="Verdana" charset="0"/>
                            <a:cs typeface="Verdana" charset="0"/>
                          </a:rPr>
                          <m:t>𝑎</m:t>
                        </m:r>
                      </m:e>
                      <m:sup>
                        <m:r>
                          <a:rPr lang="en-US" sz="2000" i="1">
                            <a:latin typeface="Cambria Math" panose="02040503050406030204" pitchFamily="18" charset="0"/>
                            <a:ea typeface="Verdana" charset="0"/>
                            <a:cs typeface="Verdana" charset="0"/>
                          </a:rPr>
                          <m:t>1</m:t>
                        </m:r>
                      </m:sup>
                    </m:sSup>
                  </m:oMath>
                </a14:m>
                <a:r>
                  <a:rPr lang="en-US" sz="2000" dirty="0">
                    <a:latin typeface="Verdana" charset="0"/>
                    <a:ea typeface="Verdana" charset="0"/>
                    <a:cs typeface="Verdana" charset="0"/>
                  </a:rPr>
                  <a:t> is equal to </a:t>
                </a:r>
              </a:p>
              <a:p>
                <a:pPr marL="468313"/>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xmlns="" id="{B74EB5C6-2FDE-474B-866F-02AD6706D73C}"/>
                  </a:ext>
                </a:extLst>
              </p:cNvPr>
              <p:cNvSpPr txBox="1">
                <a:spLocks noRot="1" noChangeAspect="1" noMove="1" noResize="1" noEditPoints="1" noAdjustHandles="1" noChangeArrowheads="1" noChangeShapeType="1" noTextEdit="1"/>
              </p:cNvSpPr>
              <p:nvPr/>
            </p:nvSpPr>
            <p:spPr>
              <a:xfrm>
                <a:off x="483765" y="374089"/>
                <a:ext cx="8327136" cy="1945982"/>
              </a:xfrm>
              <a:prstGeom prst="rect">
                <a:avLst/>
              </a:prstGeom>
              <a:blipFill rotWithShape="0">
                <a:blip r:embed="rId4"/>
                <a:stretch>
                  <a:fillRect l="-805" t="-187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B7C7682D-5C91-9243-8900-6899F3FEF344}"/>
              </a:ext>
            </a:extLst>
          </p:cNvPr>
          <p:cNvSpPr/>
          <p:nvPr/>
        </p:nvSpPr>
        <p:spPr>
          <a:xfrm>
            <a:off x="4673" y="1632"/>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790750" y="1347080"/>
            <a:ext cx="1524000" cy="1308100"/>
          </a:xfrm>
          <a:prstGeom prst="rect">
            <a:avLst/>
          </a:prstGeom>
        </p:spPr>
      </p:pic>
      <mc:AlternateContent xmlns:mc="http://schemas.openxmlformats.org/markup-compatibility/2006" xmlns:a14="http://schemas.microsoft.com/office/drawing/2010/main">
        <mc:Choice Requires="a14">
          <p:sp>
            <p:nvSpPr>
              <p:cNvPr id="7" name="Text Box 24"/>
              <p:cNvSpPr txBox="1"/>
              <p:nvPr/>
            </p:nvSpPr>
            <p:spPr>
              <a:xfrm>
                <a:off x="2878836" y="3263634"/>
                <a:ext cx="6629400" cy="2206471"/>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b="1" dirty="0">
                    <a:solidFill>
                      <a:srgbClr val="417DBF"/>
                    </a:solidFill>
                    <a:latin typeface="Verdana" charset="0"/>
                    <a:ea typeface="Verdana" charset="0"/>
                    <a:cs typeface="Verdana" charset="0"/>
                  </a:rPr>
                  <a:t>Identity Exponent Law</a:t>
                </a:r>
                <a:endParaRPr lang="en-US" sz="2000" dirty="0">
                  <a:solidFill>
                    <a:srgbClr val="417DBF"/>
                  </a:solidFill>
                  <a:latin typeface="Verdana" charset="0"/>
                  <a:ea typeface="Verdana" charset="0"/>
                  <a:cs typeface="Verdana" charset="0"/>
                </a:endParaRPr>
              </a:p>
              <a:p>
                <a:pPr marL="920750"/>
                <a:r>
                  <a:rPr lang="en-US" sz="2000" dirty="0">
                    <a:solidFill>
                      <a:srgbClr val="417DBF"/>
                    </a:solidFill>
                    <a:latin typeface="Verdana" charset="0"/>
                    <a:ea typeface="Verdana" charset="0"/>
                    <a:cs typeface="Verdana" charset="0"/>
                  </a:rPr>
                  <a:t>When raising a base that is a nonzero real number to the power of </a:t>
                </a:r>
                <a14:m>
                  <m:oMath xmlns:m="http://schemas.openxmlformats.org/officeDocument/2006/math">
                    <m:r>
                      <a:rPr lang="en-US" sz="2000" i="1">
                        <a:solidFill>
                          <a:srgbClr val="417DBF"/>
                        </a:solidFill>
                        <a:latin typeface="Cambria Math" panose="02040503050406030204" pitchFamily="18" charset="0"/>
                        <a:ea typeface="Verdana" charset="0"/>
                        <a:cs typeface="Verdana" charset="0"/>
                      </a:rPr>
                      <m:t>1</m:t>
                    </m:r>
                  </m:oMath>
                </a14:m>
                <a:r>
                  <a:rPr lang="en-US" sz="2000" dirty="0">
                    <a:solidFill>
                      <a:srgbClr val="417DBF"/>
                    </a:solidFill>
                    <a:latin typeface="Verdana" charset="0"/>
                    <a:ea typeface="Verdana" charset="0"/>
                    <a:cs typeface="Verdana" charset="0"/>
                  </a:rPr>
                  <a:t>, the base is a factor one time, thus, has the same value as the base.</a:t>
                </a:r>
              </a:p>
            </p:txBody>
          </p:sp>
        </mc:Choice>
        <mc:Fallback xmlns="">
          <p:sp>
            <p:nvSpPr>
              <p:cNvPr id="7" name="Text Box 24"/>
              <p:cNvSpPr txBox="1">
                <a:spLocks noRot="1" noChangeAspect="1" noMove="1" noResize="1" noEditPoints="1" noAdjustHandles="1" noChangeArrowheads="1" noChangeShapeType="1" noTextEdit="1"/>
              </p:cNvSpPr>
              <p:nvPr/>
            </p:nvSpPr>
            <p:spPr>
              <a:xfrm>
                <a:off x="1354836" y="3263633"/>
                <a:ext cx="6629400" cy="2206471"/>
              </a:xfrm>
              <a:prstGeom prst="roundRect">
                <a:avLst/>
              </a:prstGeom>
              <a:blipFill rotWithShape="0">
                <a:blip r:embed="rId6"/>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8" name="Picture 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3135359" y="3449370"/>
            <a:ext cx="542544" cy="530352"/>
          </a:xfrm>
          <a:prstGeom prst="rect">
            <a:avLst/>
          </a:prstGeom>
          <a:effectLst>
            <a:outerShdw blurRad="50800" dist="76200" dir="2700000" algn="tl" rotWithShape="0">
              <a:prstClr val="black">
                <a:alpha val="40000"/>
              </a:prstClr>
            </a:outerShdw>
          </a:effectLst>
        </p:spPr>
      </p:pic>
      <p:pic>
        <p:nvPicPr>
          <p:cNvPr id="9"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104</a:t>
            </a:r>
          </a:p>
        </p:txBody>
      </p:sp>
    </p:spTree>
    <p:extLst>
      <p:ext uri="{BB962C8B-B14F-4D97-AF65-F5344CB8AC3E}">
        <p14:creationId xmlns:p14="http://schemas.microsoft.com/office/powerpoint/2010/main" val="284898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105</a:t>
            </a:r>
          </a:p>
        </p:txBody>
      </p:sp>
    </p:spTree>
    <p:extLst>
      <p:ext uri="{BB962C8B-B14F-4D97-AF65-F5344CB8AC3E}">
        <p14:creationId xmlns:p14="http://schemas.microsoft.com/office/powerpoint/2010/main" val="1790839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7545" y="92312"/>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3.1.6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90245" y="92312"/>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1437545" y="1386025"/>
            <a:ext cx="9572942" cy="163121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Complete the following steps for each expression.</a:t>
            </a:r>
          </a:p>
          <a:p>
            <a:r>
              <a:rPr lang="en-US" sz="2000" dirty="0">
                <a:latin typeface="Verdana" charset="0"/>
                <a:ea typeface="Verdana" charset="0"/>
                <a:cs typeface="Verdana" charset="0"/>
              </a:rPr>
              <a:t> </a:t>
            </a:r>
          </a:p>
          <a:p>
            <a:pPr marL="920750" indent="-452438">
              <a:buFont typeface="Arial" charset="0"/>
              <a:buChar char="•"/>
            </a:pPr>
            <a:r>
              <a:rPr lang="en-US" sz="2000" dirty="0">
                <a:latin typeface="Verdana" charset="0"/>
                <a:ea typeface="Verdana" charset="0"/>
                <a:cs typeface="Verdana" charset="0"/>
              </a:rPr>
              <a:t>Rewrite each expression shown by using the laws of exponents. </a:t>
            </a:r>
          </a:p>
          <a:p>
            <a:pPr marL="920750" indent="-452438">
              <a:buFont typeface="Arial" charset="0"/>
              <a:buChar char="•"/>
            </a:pPr>
            <a:r>
              <a:rPr lang="en-US" sz="2000" dirty="0">
                <a:latin typeface="Verdana" charset="0"/>
                <a:ea typeface="Verdana" charset="0"/>
                <a:cs typeface="Verdana" charset="0"/>
              </a:rPr>
              <a:t>Choose the exponent law you used from the list. </a:t>
            </a:r>
          </a:p>
          <a:p>
            <a:pPr marL="920750" indent="-452438">
              <a:buFont typeface="Arial" charset="0"/>
              <a:buChar char="•"/>
            </a:pPr>
            <a:r>
              <a:rPr lang="en-US" sz="2000" dirty="0">
                <a:latin typeface="Verdana" charset="0"/>
                <a:ea typeface="Verdana" charset="0"/>
                <a:cs typeface="Verdana" charset="0"/>
              </a:rPr>
              <a:t>Evaluate the exponential expression.</a:t>
            </a:r>
          </a:p>
        </p:txBody>
      </p:sp>
      <p:sp>
        <p:nvSpPr>
          <p:cNvPr id="8" name="Google Shape;278;g104476d1465_1_17">
            <a:extLst>
              <a:ext uri="{FF2B5EF4-FFF2-40B4-BE49-F238E27FC236}">
                <a16:creationId xmlns:a16="http://schemas.microsoft.com/office/drawing/2014/main" id="{B65A09A0-1E94-F34F-9AC7-848B14CF3F5C}"/>
              </a:ext>
            </a:extLst>
          </p:cNvPr>
          <p:cNvSpPr/>
          <p:nvPr/>
        </p:nvSpPr>
        <p:spPr>
          <a:xfrm>
            <a:off x="0" y="-810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27155737"/>
                  </p:ext>
                </p:extLst>
              </p:nvPr>
            </p:nvGraphicFramePr>
            <p:xfrm>
              <a:off x="2667000" y="3670544"/>
              <a:ext cx="6858000" cy="1902143"/>
            </p:xfrm>
            <a:graphic>
              <a:graphicData uri="http://schemas.openxmlformats.org/drawingml/2006/table">
                <a:tbl>
                  <a:tblPr firstRow="1" firstCol="1" bandRow="1"/>
                  <a:tblGrid>
                    <a:gridCol w="3246968">
                      <a:extLst>
                        <a:ext uri="{9D8B030D-6E8A-4147-A177-3AD203B41FA5}">
                          <a16:colId xmlns:a16="http://schemas.microsoft.com/office/drawing/2014/main" val="20000"/>
                        </a:ext>
                      </a:extLst>
                    </a:gridCol>
                    <a:gridCol w="3611032">
                      <a:extLst>
                        <a:ext uri="{9D8B030D-6E8A-4147-A177-3AD203B41FA5}">
                          <a16:colId xmlns:a16="http://schemas.microsoft.com/office/drawing/2014/main" val="20001"/>
                        </a:ext>
                      </a:extLst>
                    </a:gridCol>
                  </a:tblGrid>
                  <a:tr h="0">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2</m:t>
                                            </m:r>
                                          </m:e>
                                          <m:sup>
                                            <m:r>
                                              <a:rPr lang="en-US" sz="2000" i="1">
                                                <a:effectLst/>
                                                <a:latin typeface="Cambria Math" panose="02040503050406030204" pitchFamily="18" charset="0"/>
                                                <a:ea typeface="Verdana" charset="0"/>
                                                <a:cs typeface="Verdana" charset="0"/>
                                              </a:rPr>
                                              <m:t>3</m:t>
                                            </m:r>
                                          </m:sup>
                                        </m:sSup>
                                      </m:e>
                                    </m:d>
                                  </m:e>
                                  <m:sup>
                                    <m:r>
                                      <a:rPr lang="en-US" sz="2000" i="1">
                                        <a:effectLst/>
                                        <a:latin typeface="Cambria Math" panose="02040503050406030204" pitchFamily="18" charset="0"/>
                                        <a:ea typeface="Verdana" charset="0"/>
                                        <a:cs typeface="Verdana" charset="0"/>
                                      </a:rPr>
                                      <m:t>4</m:t>
                                    </m:r>
                                  </m:sup>
                                </m:sSup>
                              </m:oMath>
                            </m:oMathPara>
                          </a14:m>
                          <a:endParaRPr lang="en-US" sz="2000" i="1">
                            <a:effectLst/>
                            <a:latin typeface="Verdana" charset="0"/>
                            <a:ea typeface="Verdana" charset="0"/>
                            <a:cs typeface="Verdana" charset="0"/>
                          </a:endParaRPr>
                        </a:p>
                        <a:p>
                          <a:pPr marL="0" marR="0">
                            <a:lnSpc>
                              <a:spcPct val="107000"/>
                            </a:lnSpc>
                            <a:spcBef>
                              <a:spcPts val="0"/>
                            </a:spcBef>
                            <a:spcAft>
                              <a:spcPts val="0"/>
                            </a:spcAft>
                          </a:pPr>
                          <a:r>
                            <a:rPr lang="en-US" sz="2000" i="1">
                              <a:effectLst/>
                              <a:latin typeface="Verdana" charset="0"/>
                              <a:ea typeface="Verdana" charset="0"/>
                              <a:cs typeface="Verdana" charset="0"/>
                            </a:rPr>
                            <a:t> </a:t>
                          </a:r>
                        </a:p>
                        <a:p>
                          <a:pPr marL="0" marR="0">
                            <a:lnSpc>
                              <a:spcPct val="107000"/>
                            </a:lnSpc>
                            <a:spcBef>
                              <a:spcPts val="0"/>
                            </a:spcBef>
                            <a:spcAft>
                              <a:spcPts val="0"/>
                            </a:spcAft>
                          </a:pPr>
                          <a:r>
                            <a:rPr lang="en-US" sz="2000" i="1">
                              <a:effectLst/>
                              <a:latin typeface="Verdana" charset="0"/>
                              <a:ea typeface="Verdana" charset="0"/>
                              <a:cs typeface="Verdana" charset="0"/>
                            </a:rPr>
                            <a:t> </a:t>
                          </a:r>
                        </a:p>
                        <a:p>
                          <a:pPr marL="0" marR="0">
                            <a:lnSpc>
                              <a:spcPct val="107000"/>
                            </a:lnSpc>
                            <a:spcBef>
                              <a:spcPts val="0"/>
                            </a:spcBef>
                            <a:spcAft>
                              <a:spcPts val="0"/>
                            </a:spcAft>
                          </a:pPr>
                          <a:r>
                            <a:rPr lang="en-US" sz="2000" i="1">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Identity exponent law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gridSpan="2">
                      <a:txBody>
                        <a:bodyPr/>
                        <a:lstStyle/>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14:m>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2</m:t>
                                          </m:r>
                                        </m:e>
                                        <m:sup>
                                          <m:r>
                                            <a:rPr lang="en-US" sz="2000" i="1">
                                              <a:effectLst/>
                                              <a:latin typeface="Cambria Math" panose="02040503050406030204" pitchFamily="18" charset="0"/>
                                              <a:ea typeface="Verdana" charset="0"/>
                                              <a:cs typeface="Verdana" charset="0"/>
                                            </a:rPr>
                                            <m:t>3</m:t>
                                          </m:r>
                                        </m:sup>
                                      </m:sSup>
                                    </m:e>
                                  </m:d>
                                </m:e>
                                <m:sup>
                                  <m:r>
                                    <a:rPr lang="en-US" sz="2000" i="1">
                                      <a:effectLst/>
                                      <a:latin typeface="Cambria Math" panose="02040503050406030204" pitchFamily="18" charset="0"/>
                                      <a:ea typeface="Verdana" charset="0"/>
                                      <a:cs typeface="Verdana" charset="0"/>
                                    </a:rPr>
                                    <m:t>4</m:t>
                                  </m:r>
                                </m:sup>
                              </m:sSup>
                              <m:r>
                                <a:rPr lang="en-US" sz="2000" i="1">
                                  <a:effectLst/>
                                  <a:latin typeface="Cambria Math" panose="02040503050406030204" pitchFamily="18" charset="0"/>
                                  <a:ea typeface="Verdana" charset="0"/>
                                  <a:cs typeface="Verdana" charset="0"/>
                                </a:rPr>
                                <m:t>=</m:t>
                              </m:r>
                            </m:oMath>
                          </a14:m>
                          <a:r>
                            <a:rPr lang="en-US" sz="2000" i="1" dirty="0">
                              <a:effectLst/>
                              <a:latin typeface="Verdana" charset="0"/>
                              <a:ea typeface="Verdana" charset="0"/>
                              <a:cs typeface="Verdana" charset="0"/>
                            </a:rPr>
                            <a:t> ________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27155737"/>
                  </p:ext>
                </p:extLst>
              </p:nvPr>
            </p:nvGraphicFramePr>
            <p:xfrm>
              <a:off x="1143000" y="3670544"/>
              <a:ext cx="6858000" cy="2184528"/>
            </p:xfrm>
            <a:graphic>
              <a:graphicData uri="http://schemas.openxmlformats.org/drawingml/2006/table">
                <a:tbl>
                  <a:tblPr firstRow="1" firstCol="1" bandRow="1"/>
                  <a:tblGrid>
                    <a:gridCol w="3246968"/>
                    <a:gridCol w="3611032"/>
                  </a:tblGrid>
                  <a:tr h="14184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188" t="-6009" r="-111632" b="-60944"/>
                          </a:stretch>
                        </a:blipFill>
                      </a:tcPr>
                    </a:tc>
                    <a:tc>
                      <a:txBody>
                        <a:bodyPr/>
                        <a:lstStyle/>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Identity exponent law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6128">
                    <a:tc gridSpan="2">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89" t="-196032" r="-178" b="-12698"/>
                          </a:stretch>
                        </a:blipFill>
                      </a:tcPr>
                    </a:tc>
                    <a:tc hMerge="1">
                      <a:txBody>
                        <a:bodyPr/>
                        <a:lstStyle/>
                        <a:p>
                          <a:endParaRPr lang="en-US"/>
                        </a:p>
                      </a:txBody>
                      <a:tcPr/>
                    </a:tc>
                  </a:tr>
                </a:tbl>
              </a:graphicData>
            </a:graphic>
          </p:graphicFrame>
        </mc:Fallback>
      </mc:AlternateContent>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a:latin typeface="Calibri"/>
                <a:ea typeface="Calibri"/>
                <a:cs typeface="Calibri"/>
                <a:sym typeface="Calibri"/>
              </a:rPr>
              <a:t>. 105</a:t>
            </a:r>
            <a:endParaRPr lang="it-IT"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C20EB48B-0C2A-FF47-ACB6-866A7F95956C}"/>
              </a:ext>
            </a:extLst>
          </p:cNvPr>
          <p:cNvSpPr/>
          <p:nvPr/>
        </p:nvSpPr>
        <p:spPr>
          <a:xfrm>
            <a:off x="0" y="-810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923738020"/>
                  </p:ext>
                </p:extLst>
              </p:nvPr>
            </p:nvGraphicFramePr>
            <p:xfrm>
              <a:off x="2240280" y="606203"/>
              <a:ext cx="7741920" cy="1768936"/>
            </p:xfrm>
            <a:graphic>
              <a:graphicData uri="http://schemas.openxmlformats.org/drawingml/2006/table">
                <a:tbl>
                  <a:tblPr firstRow="1" firstCol="1" bandRow="1"/>
                  <a:tblGrid>
                    <a:gridCol w="3665466">
                      <a:extLst>
                        <a:ext uri="{9D8B030D-6E8A-4147-A177-3AD203B41FA5}">
                          <a16:colId xmlns:a16="http://schemas.microsoft.com/office/drawing/2014/main" val="20000"/>
                        </a:ext>
                      </a:extLst>
                    </a:gridCol>
                    <a:gridCol w="4076454">
                      <a:extLst>
                        <a:ext uri="{9D8B030D-6E8A-4147-A177-3AD203B41FA5}">
                          <a16:colId xmlns:a16="http://schemas.microsoft.com/office/drawing/2014/main" val="20001"/>
                        </a:ext>
                      </a:extLst>
                    </a:gridCol>
                  </a:tblGrid>
                  <a:tr h="1140793">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0.5</m:t>
                                    </m:r>
                                  </m:e>
                                  <m:sup>
                                    <m:r>
                                      <a:rPr lang="en-US" sz="2000" i="1">
                                        <a:effectLst/>
                                        <a:latin typeface="Cambria Math" panose="02040503050406030204" pitchFamily="18" charset="0"/>
                                        <a:ea typeface="Verdana" charset="0"/>
                                        <a:cs typeface="Verdana" charset="0"/>
                                      </a:rPr>
                                      <m:t>4</m:t>
                                    </m:r>
                                  </m:sup>
                                </m:sSup>
                                <m:r>
                                  <a:rPr lang="en-US" sz="2000" i="1">
                                    <a:effectLst/>
                                    <a:latin typeface="Cambria Math" panose="02040503050406030204" pitchFamily="18" charset="0"/>
                                    <a:ea typeface="Verdana" charset="0"/>
                                    <a:cs typeface="Verdana" charset="0"/>
                                  </a:rPr>
                                  <m:t> ∙ </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0.5</m:t>
                                    </m:r>
                                  </m:e>
                                  <m:sup>
                                    <m:r>
                                      <a:rPr lang="en-US" sz="2000" i="1">
                                        <a:effectLst/>
                                        <a:latin typeface="Cambria Math" panose="02040503050406030204" pitchFamily="18" charset="0"/>
                                        <a:ea typeface="Verdana" charset="0"/>
                                        <a:cs typeface="Verdana" charset="0"/>
                                      </a:rPr>
                                      <m:t>3</m:t>
                                    </m:r>
                                  </m:sup>
                                </m:sSup>
                              </m:oMath>
                            </m:oMathPara>
                          </a14:m>
                          <a:endParaRPr lang="en-US" sz="2000" i="1" dirty="0">
                            <a:effectLst/>
                            <a:latin typeface="Verdana" charset="0"/>
                            <a:ea typeface="Verdana" charset="0"/>
                            <a:cs typeface="Verdana" charset="0"/>
                          </a:endParaRPr>
                        </a:p>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Identity exponent law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3284">
                    <a:tc gridSpan="2">
                      <a:txBody>
                        <a:bodyPr/>
                        <a:lstStyle/>
                        <a:p>
                          <a:pPr marL="0" marR="0">
                            <a:lnSpc>
                              <a:spcPct val="107000"/>
                            </a:lnSpc>
                            <a:spcBef>
                              <a:spcPts val="0"/>
                            </a:spcBef>
                            <a:spcAft>
                              <a:spcPts val="0"/>
                            </a:spcAft>
                          </a:pPr>
                          <a14:m>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0.5</m:t>
                                  </m:r>
                                </m:e>
                                <m:sup>
                                  <m:r>
                                    <a:rPr lang="en-US" sz="2000" i="1">
                                      <a:effectLst/>
                                      <a:latin typeface="Cambria Math" panose="02040503050406030204" pitchFamily="18" charset="0"/>
                                      <a:ea typeface="Verdana" charset="0"/>
                                      <a:cs typeface="Verdana" charset="0"/>
                                    </a:rPr>
                                    <m:t>4</m:t>
                                  </m:r>
                                </m:sup>
                              </m:sSup>
                              <m:r>
                                <a:rPr lang="en-US" sz="2000" i="1">
                                  <a:effectLst/>
                                  <a:latin typeface="Cambria Math" panose="02040503050406030204" pitchFamily="18" charset="0"/>
                                  <a:ea typeface="Verdana" charset="0"/>
                                  <a:cs typeface="Verdana" charset="0"/>
                                </a:rPr>
                                <m:t> ∙ </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0.5</m:t>
                                  </m:r>
                                </m:e>
                                <m:sup>
                                  <m:r>
                                    <a:rPr lang="en-US" sz="2000" i="1">
                                      <a:effectLst/>
                                      <a:latin typeface="Cambria Math" panose="02040503050406030204" pitchFamily="18" charset="0"/>
                                      <a:ea typeface="Verdana" charset="0"/>
                                      <a:cs typeface="Verdana" charset="0"/>
                                    </a:rPr>
                                    <m:t>3</m:t>
                                  </m:r>
                                </m:sup>
                              </m:sSup>
                              <m:r>
                                <a:rPr lang="en-US" sz="2000" i="1">
                                  <a:effectLst/>
                                  <a:latin typeface="Cambria Math" panose="02040503050406030204" pitchFamily="18" charset="0"/>
                                  <a:ea typeface="Verdana" charset="0"/>
                                  <a:cs typeface="Verdana" charset="0"/>
                                </a:rPr>
                                <m:t>=</m:t>
                              </m:r>
                            </m:oMath>
                          </a14:m>
                          <a:r>
                            <a:rPr lang="en-US" sz="2000" i="1" dirty="0">
                              <a:effectLst/>
                              <a:latin typeface="Verdana" charset="0"/>
                              <a:ea typeface="Verdana" charset="0"/>
                              <a:cs typeface="Verdana" charset="0"/>
                            </a:rPr>
                            <a:t> ________</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923738020"/>
                  </p:ext>
                </p:extLst>
              </p:nvPr>
            </p:nvGraphicFramePr>
            <p:xfrm>
              <a:off x="716280" y="606203"/>
              <a:ext cx="7741920" cy="1776365"/>
            </p:xfrm>
            <a:graphic>
              <a:graphicData uri="http://schemas.openxmlformats.org/drawingml/2006/table">
                <a:tbl>
                  <a:tblPr firstRow="1" firstCol="1" bandRow="1"/>
                  <a:tblGrid>
                    <a:gridCol w="3665466"/>
                    <a:gridCol w="4076454"/>
                  </a:tblGrid>
                  <a:tr h="1283081">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66" t="-33175" r="-111462" b="-67299"/>
                          </a:stretch>
                        </a:blipFill>
                      </a:tcPr>
                    </a:tc>
                    <a:tc>
                      <a:txBody>
                        <a:bodyPr/>
                        <a:lstStyle/>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Identity exponent law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4">
                    <a:tc gridSpan="2">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79" t="-346914" r="-157" b="-75309"/>
                          </a:stretch>
                        </a:blipFill>
                      </a:tcPr>
                    </a:tc>
                    <a:tc hMerge="1">
                      <a:txBody>
                        <a:bodyPr/>
                        <a:lstStyle/>
                        <a:p>
                          <a:endParaRPr lang="en-US"/>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514711297"/>
                  </p:ext>
                </p:extLst>
              </p:nvPr>
            </p:nvGraphicFramePr>
            <p:xfrm>
              <a:off x="2240280" y="2723634"/>
              <a:ext cx="7711440" cy="2175638"/>
            </p:xfrm>
            <a:graphic>
              <a:graphicData uri="http://schemas.openxmlformats.org/drawingml/2006/table">
                <a:tbl>
                  <a:tblPr firstRow="1" firstCol="1" bandRow="1"/>
                  <a:tblGrid>
                    <a:gridCol w="3651035">
                      <a:extLst>
                        <a:ext uri="{9D8B030D-6E8A-4147-A177-3AD203B41FA5}">
                          <a16:colId xmlns:a16="http://schemas.microsoft.com/office/drawing/2014/main" val="20000"/>
                        </a:ext>
                      </a:extLst>
                    </a:gridCol>
                    <a:gridCol w="4060405">
                      <a:extLst>
                        <a:ext uri="{9D8B030D-6E8A-4147-A177-3AD203B41FA5}">
                          <a16:colId xmlns:a16="http://schemas.microsoft.com/office/drawing/2014/main" val="20001"/>
                        </a:ext>
                      </a:extLst>
                    </a:gridCol>
                  </a:tblGrid>
                  <a:tr h="1246560">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24</m:t>
                                            </m:r>
                                          </m:num>
                                          <m:den>
                                            <m:r>
                                              <a:rPr lang="en-US" sz="2000" i="1">
                                                <a:effectLst/>
                                                <a:latin typeface="Cambria Math" panose="02040503050406030204" pitchFamily="18" charset="0"/>
                                                <a:ea typeface="Verdana" charset="0"/>
                                                <a:cs typeface="Verdana" charset="0"/>
                                              </a:rPr>
                                              <m:t>8</m:t>
                                            </m:r>
                                          </m:den>
                                        </m:f>
                                      </m:e>
                                    </m:d>
                                  </m:e>
                                  <m:sup>
                                    <m:r>
                                      <a:rPr lang="en-US" sz="2000" i="1">
                                        <a:effectLst/>
                                        <a:latin typeface="Cambria Math" panose="02040503050406030204" pitchFamily="18" charset="0"/>
                                        <a:ea typeface="Verdana" charset="0"/>
                                        <a:cs typeface="Verdana" charset="0"/>
                                      </a:rPr>
                                      <m:t>1</m:t>
                                    </m:r>
                                  </m:sup>
                                </m:sSup>
                              </m:oMath>
                            </m:oMathPara>
                          </a14:m>
                          <a:endParaRPr lang="en-US" sz="2000" i="1" dirty="0">
                            <a:effectLst/>
                            <a:latin typeface="Verdana" charset="0"/>
                            <a:ea typeface="Verdana" charset="0"/>
                            <a:cs typeface="Verdana" charset="0"/>
                          </a:endParaRPr>
                        </a:p>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Identity exponent law</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8927">
                    <a:tc gridSpan="2">
                      <a:txBody>
                        <a:bodyPr/>
                        <a:lstStyle/>
                        <a:p>
                          <a:pPr marL="0" marR="0">
                            <a:lnSpc>
                              <a:spcPct val="107000"/>
                            </a:lnSpc>
                            <a:spcBef>
                              <a:spcPts val="0"/>
                            </a:spcBef>
                            <a:spcAft>
                              <a:spcPts val="0"/>
                            </a:spcAft>
                          </a:pPr>
                          <a:r>
                            <a:rPr lang="en-US" sz="2000" i="1" dirty="0">
                              <a:effectLst/>
                              <a:latin typeface="Verdana" charset="0"/>
                              <a:ea typeface="Verdana" charset="0"/>
                              <a:cs typeface="Verdana" charset="0"/>
                            </a:rPr>
                            <a:t> </a:t>
                          </a:r>
                          <a14:m>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24</m:t>
                                          </m:r>
                                        </m:num>
                                        <m:den>
                                          <m:r>
                                            <a:rPr lang="en-US" sz="2000" i="1">
                                              <a:effectLst/>
                                              <a:latin typeface="Cambria Math" panose="02040503050406030204" pitchFamily="18" charset="0"/>
                                              <a:ea typeface="Verdana" charset="0"/>
                                              <a:cs typeface="Verdana" charset="0"/>
                                            </a:rPr>
                                            <m:t>8</m:t>
                                          </m:r>
                                        </m:den>
                                      </m:f>
                                    </m:e>
                                  </m:d>
                                </m:e>
                                <m:sup>
                                  <m:r>
                                    <a:rPr lang="en-US" sz="2000" i="1">
                                      <a:effectLst/>
                                      <a:latin typeface="Cambria Math" panose="02040503050406030204" pitchFamily="18" charset="0"/>
                                      <a:ea typeface="Verdana" charset="0"/>
                                      <a:cs typeface="Verdana" charset="0"/>
                                    </a:rPr>
                                    <m:t>1</m:t>
                                  </m:r>
                                </m:sup>
                              </m:sSup>
                              <m:r>
                                <a:rPr lang="en-US" sz="2000" i="1">
                                  <a:effectLst/>
                                  <a:latin typeface="Cambria Math" panose="02040503050406030204" pitchFamily="18" charset="0"/>
                                  <a:ea typeface="Verdana" charset="0"/>
                                  <a:cs typeface="Verdana" charset="0"/>
                                </a:rPr>
                                <m:t>=</m:t>
                              </m:r>
                            </m:oMath>
                          </a14:m>
                          <a:r>
                            <a:rPr lang="en-US" sz="2000" i="1" dirty="0">
                              <a:effectLst/>
                              <a:latin typeface="Verdana" charset="0"/>
                              <a:ea typeface="Verdana" charset="0"/>
                              <a:cs typeface="Verdana" charset="0"/>
                            </a:rPr>
                            <a:t> ________</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514711297"/>
                  </p:ext>
                </p:extLst>
              </p:nvPr>
            </p:nvGraphicFramePr>
            <p:xfrm>
              <a:off x="716280" y="2723633"/>
              <a:ext cx="7711440" cy="2193545"/>
            </p:xfrm>
            <a:graphic>
              <a:graphicData uri="http://schemas.openxmlformats.org/drawingml/2006/table">
                <a:tbl>
                  <a:tblPr firstRow="1" firstCol="1" bandRow="1"/>
                  <a:tblGrid>
                    <a:gridCol w="3651035"/>
                    <a:gridCol w="4060405"/>
                  </a:tblGrid>
                  <a:tr h="1641793">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167" t="-370" r="-111686" b="-38148"/>
                          </a:stretch>
                        </a:blipFill>
                      </a:tcPr>
                    </a:tc>
                    <a:tc>
                      <a:txBody>
                        <a:bodyPr/>
                        <a:lstStyle/>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dirty="0">
                              <a:effectLst/>
                              <a:latin typeface="Verdana" charset="0"/>
                              <a:ea typeface="Verdana" charset="0"/>
                              <a:cs typeface="Verdana" charset="0"/>
                            </a:rPr>
                            <a:t>Identity exponent law</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1752">
                    <a:tc gridSpan="2">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79" t="-297802" r="-158" b="-13187"/>
                          </a:stretch>
                        </a:blipFill>
                      </a:tcPr>
                    </a:tc>
                    <a:tc hMerge="1">
                      <a:txBody>
                        <a:bodyPr/>
                        <a:lstStyle/>
                        <a:p>
                          <a:endParaRPr lang="en-US"/>
                        </a:p>
                      </a:txBody>
                      <a:tcPr/>
                    </a:tc>
                  </a:tr>
                </a:tbl>
              </a:graphicData>
            </a:graphic>
          </p:graphicFrame>
        </mc:Fallback>
      </mc:AlternateContent>
      <p:pic>
        <p:nvPicPr>
          <p:cNvPr id="7"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a:latin typeface="Calibri"/>
                <a:ea typeface="Calibri"/>
                <a:cs typeface="Calibri"/>
                <a:sym typeface="Calibri"/>
              </a:rPr>
              <a:t>. 105</a:t>
            </a:r>
            <a:endParaRPr lang="it-IT"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C20EB48B-0C2A-FF47-ACB6-866A7F9595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430112307"/>
                  </p:ext>
                </p:extLst>
              </p:nvPr>
            </p:nvGraphicFramePr>
            <p:xfrm>
              <a:off x="2341536" y="483035"/>
              <a:ext cx="7711440" cy="1939417"/>
            </p:xfrm>
            <a:graphic>
              <a:graphicData uri="http://schemas.openxmlformats.org/drawingml/2006/table">
                <a:tbl>
                  <a:tblPr firstRow="1" firstCol="1" bandRow="1"/>
                  <a:tblGrid>
                    <a:gridCol w="3651035">
                      <a:extLst>
                        <a:ext uri="{9D8B030D-6E8A-4147-A177-3AD203B41FA5}">
                          <a16:colId xmlns:a16="http://schemas.microsoft.com/office/drawing/2014/main" val="20000"/>
                        </a:ext>
                      </a:extLst>
                    </a:gridCol>
                    <a:gridCol w="4060405">
                      <a:extLst>
                        <a:ext uri="{9D8B030D-6E8A-4147-A177-3AD203B41FA5}">
                          <a16:colId xmlns:a16="http://schemas.microsoft.com/office/drawing/2014/main" val="20001"/>
                        </a:ext>
                      </a:extLst>
                    </a:gridCol>
                  </a:tblGrid>
                  <a:tr h="0">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0.5 ∙ </m:t>
                                        </m:r>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8</m:t>
                                            </m:r>
                                          </m:e>
                                        </m:sPre>
                                      </m:e>
                                    </m:d>
                                  </m:e>
                                  <m:sup>
                                    <m:r>
                                      <a:rPr lang="en-US" sz="2000" i="1">
                                        <a:effectLst/>
                                        <a:latin typeface="Cambria Math" panose="02040503050406030204" pitchFamily="18" charset="0"/>
                                        <a:ea typeface="Verdana" charset="0"/>
                                        <a:cs typeface="Verdana" charset="0"/>
                                      </a:rPr>
                                      <m:t>2</m:t>
                                    </m:r>
                                  </m:sup>
                                </m:sSup>
                              </m:oMath>
                            </m:oMathPara>
                          </a14:m>
                          <a:endParaRPr lang="en-US" sz="2000" i="1" dirty="0">
                            <a:effectLst/>
                            <a:latin typeface="Verdana" charset="0"/>
                            <a:ea typeface="Verdana" charset="0"/>
                            <a:cs typeface="Verdana" charset="0"/>
                          </a:endParaRPr>
                        </a:p>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r>
                            <a:rPr lang="en-US" sz="2000" i="1"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Identity exponent law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gridSpan="2">
                      <a:txBody>
                        <a:bodyPr/>
                        <a:lstStyle/>
                        <a:p>
                          <a:pPr marL="0" marR="0">
                            <a:lnSpc>
                              <a:spcPct val="107000"/>
                            </a:lnSpc>
                            <a:spcBef>
                              <a:spcPts val="0"/>
                            </a:spcBef>
                            <a:spcAft>
                              <a:spcPts val="0"/>
                            </a:spcAft>
                          </a:pPr>
                          <a:r>
                            <a:rPr lang="en-US" sz="2000" i="1" dirty="0">
                              <a:effectLst/>
                              <a:latin typeface="Verdana" charset="0"/>
                              <a:ea typeface="Verdana" charset="0"/>
                              <a:cs typeface="Verdana" charset="0"/>
                            </a:rPr>
                            <a:t> </a:t>
                          </a:r>
                        </a:p>
                        <a:p>
                          <a:pPr marL="0" marR="0">
                            <a:lnSpc>
                              <a:spcPct val="107000"/>
                            </a:lnSpc>
                            <a:spcBef>
                              <a:spcPts val="0"/>
                            </a:spcBef>
                            <a:spcAft>
                              <a:spcPts val="0"/>
                            </a:spcAft>
                          </a:pPr>
                          <a14:m>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0.5 ∙ </m:t>
                                      </m:r>
                                      <m:sPre>
                                        <m:sPrePr>
                                          <m:ctrlPr>
                                            <a:rPr lang="en-US" sz="2000" i="1">
                                              <a:effectLst/>
                                              <a:latin typeface="Cambria Math" panose="02040503050406030204" pitchFamily="18" charset="0"/>
                                              <a:ea typeface="Verdana" charset="0"/>
                                              <a:cs typeface="Verdana" charset="0"/>
                                            </a:rPr>
                                          </m:ctrlPr>
                                        </m:sPrePr>
                                        <m:sub/>
                                        <m:sup>
                                          <m:r>
                                            <a:rPr lang="en-US" sz="2000" i="1">
                                              <a:effectLst/>
                                              <a:latin typeface="Cambria Math" panose="02040503050406030204" pitchFamily="18" charset="0"/>
                                              <a:ea typeface="Verdana" charset="0"/>
                                              <a:cs typeface="Verdana" charset="0"/>
                                            </a:rPr>
                                            <m:t>−</m:t>
                                          </m:r>
                                        </m:sup>
                                        <m:e>
                                          <m:r>
                                            <a:rPr lang="en-US" sz="2000" i="1">
                                              <a:effectLst/>
                                              <a:latin typeface="Cambria Math" panose="02040503050406030204" pitchFamily="18" charset="0"/>
                                              <a:ea typeface="Verdana" charset="0"/>
                                              <a:cs typeface="Verdana" charset="0"/>
                                            </a:rPr>
                                            <m:t>8</m:t>
                                          </m:r>
                                        </m:e>
                                      </m:sPre>
                                    </m:e>
                                  </m:d>
                                </m:e>
                                <m:sup>
                                  <m:r>
                                    <a:rPr lang="en-US" sz="2000" i="1">
                                      <a:effectLst/>
                                      <a:latin typeface="Cambria Math" panose="02040503050406030204" pitchFamily="18" charset="0"/>
                                      <a:ea typeface="Verdana" charset="0"/>
                                      <a:cs typeface="Verdana" charset="0"/>
                                    </a:rPr>
                                    <m:t>2</m:t>
                                  </m:r>
                                </m:sup>
                              </m:sSup>
                              <m:r>
                                <a:rPr lang="en-US" sz="2000" i="1">
                                  <a:effectLst/>
                                  <a:latin typeface="Cambria Math" panose="02040503050406030204" pitchFamily="18" charset="0"/>
                                  <a:ea typeface="Verdana" charset="0"/>
                                  <a:cs typeface="Verdana" charset="0"/>
                                </a:rPr>
                                <m:t>=</m:t>
                              </m:r>
                            </m:oMath>
                          </a14:m>
                          <a:r>
                            <a:rPr lang="en-US" sz="2000" i="1" dirty="0">
                              <a:effectLst/>
                              <a:latin typeface="Verdana" charset="0"/>
                              <a:ea typeface="Verdana" charset="0"/>
                              <a:cs typeface="Verdana" charset="0"/>
                            </a:rPr>
                            <a:t> ________</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430112307"/>
                  </p:ext>
                </p:extLst>
              </p:nvPr>
            </p:nvGraphicFramePr>
            <p:xfrm>
              <a:off x="817536" y="483035"/>
              <a:ext cx="7711440" cy="2000886"/>
            </p:xfrm>
            <a:graphic>
              <a:graphicData uri="http://schemas.openxmlformats.org/drawingml/2006/table">
                <a:tbl>
                  <a:tblPr firstRow="1" firstCol="1" bandRow="1"/>
                  <a:tblGrid>
                    <a:gridCol w="3651035"/>
                    <a:gridCol w="4060405"/>
                  </a:tblGrid>
                  <a:tr h="1326579">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167" t="-31651" r="-111686" b="-90367"/>
                          </a:stretch>
                        </a:blipFill>
                      </a:tcPr>
                    </a:tc>
                    <a:tc>
                      <a:txBody>
                        <a:bodyPr/>
                        <a:lstStyle/>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Product of powers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product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Power of power law</a:t>
                          </a:r>
                        </a:p>
                        <a:p>
                          <a:pPr marL="342900" marR="0" lvl="0" indent="-342900">
                            <a:lnSpc>
                              <a:spcPct val="107000"/>
                            </a:lnSpc>
                            <a:spcBef>
                              <a:spcPts val="0"/>
                            </a:spcBef>
                            <a:spcAft>
                              <a:spcPts val="0"/>
                            </a:spcAft>
                            <a:buSzPts val="1800"/>
                            <a:buFont typeface="Courier New" charset="0"/>
                            <a:buChar char="o"/>
                          </a:pPr>
                          <a:r>
                            <a:rPr lang="en-US" sz="2000" i="1">
                              <a:effectLst/>
                              <a:latin typeface="Verdana" charset="0"/>
                              <a:ea typeface="Verdana" charset="0"/>
                              <a:cs typeface="Verdana" charset="0"/>
                            </a:rPr>
                            <a:t>Identity exponent law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4307">
                    <a:tc gridSpan="2">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79" t="-258559" r="-158" b="-77477"/>
                          </a:stretch>
                        </a:blipFill>
                      </a:tcPr>
                    </a:tc>
                    <a:tc hMerge="1">
                      <a:txBody>
                        <a:bodyPr/>
                        <a:lstStyle/>
                        <a:p>
                          <a:endParaRPr lang="en-US"/>
                        </a:p>
                      </a:txBody>
                      <a:tcPr/>
                    </a:tc>
                  </a:tr>
                </a:tbl>
              </a:graphicData>
            </a:graphic>
          </p:graphicFrame>
        </mc:Fallback>
      </mc:AlternateContent>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a:latin typeface="Calibri"/>
                <a:ea typeface="Calibri"/>
                <a:cs typeface="Calibri"/>
                <a:sym typeface="Calibri"/>
              </a:rPr>
              <a:t>. 105</a:t>
            </a:r>
            <a:endParaRPr lang="it-IT" i="1" dirty="0">
              <a:latin typeface="Calibri"/>
              <a:ea typeface="Calibri"/>
              <a:cs typeface="Calibri"/>
              <a:sym typeface="Calibri"/>
            </a:endParaRPr>
          </a:p>
        </p:txBody>
      </p:sp>
    </p:spTree>
    <p:extLst>
      <p:ext uri="{BB962C8B-B14F-4D97-AF65-F5344CB8AC3E}">
        <p14:creationId xmlns:p14="http://schemas.microsoft.com/office/powerpoint/2010/main" val="10970413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108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a:latin typeface="Calibri"/>
                <a:ea typeface="Calibri"/>
                <a:cs typeface="Calibri"/>
                <a:sym typeface="Calibri"/>
              </a:rPr>
              <a:t>. 105</a:t>
            </a:r>
            <a:endParaRPr lang="it-IT"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85409" y="-122863"/>
            <a:ext cx="936746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3.1.7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55960" y="13995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485409" y="1243129"/>
            <a:ext cx="9371848"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Rewrite the expressions using laws of exponents. State the exponent law used. </a:t>
            </a:r>
          </a:p>
        </p:txBody>
      </p:sp>
      <p:sp>
        <p:nvSpPr>
          <p:cNvPr id="8" name="Google Shape;278;g104476d1465_1_17">
            <a:extLst>
              <a:ext uri="{FF2B5EF4-FFF2-40B4-BE49-F238E27FC236}">
                <a16:creationId xmlns:a16="http://schemas.microsoft.com/office/drawing/2014/main" id="{31AAE36C-5822-464A-8B2B-DAD96F65814D}"/>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71406364"/>
                  </p:ext>
                </p:extLst>
              </p:nvPr>
            </p:nvGraphicFramePr>
            <p:xfrm>
              <a:off x="2295466" y="2067575"/>
              <a:ext cx="7488615" cy="4329140"/>
            </p:xfrm>
            <a:graphic>
              <a:graphicData uri="http://schemas.openxmlformats.org/drawingml/2006/table">
                <a:tbl>
                  <a:tblPr firstRow="1" firstCol="1" bandRow="1"/>
                  <a:tblGrid>
                    <a:gridCol w="2229840">
                      <a:extLst>
                        <a:ext uri="{9D8B030D-6E8A-4147-A177-3AD203B41FA5}">
                          <a16:colId xmlns:a16="http://schemas.microsoft.com/office/drawing/2014/main" val="20000"/>
                        </a:ext>
                      </a:extLst>
                    </a:gridCol>
                    <a:gridCol w="3210581">
                      <a:extLst>
                        <a:ext uri="{9D8B030D-6E8A-4147-A177-3AD203B41FA5}">
                          <a16:colId xmlns:a16="http://schemas.microsoft.com/office/drawing/2014/main" val="20001"/>
                        </a:ext>
                      </a:extLst>
                    </a:gridCol>
                    <a:gridCol w="2048194">
                      <a:extLst>
                        <a:ext uri="{9D8B030D-6E8A-4147-A177-3AD203B41FA5}">
                          <a16:colId xmlns:a16="http://schemas.microsoft.com/office/drawing/2014/main" val="20002"/>
                        </a:ext>
                      </a:extLst>
                    </a:gridCol>
                  </a:tblGrid>
                  <a:tr h="705574">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Expression</a:t>
                          </a:r>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Exponent Law</a:t>
                          </a:r>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Equivalent Expression</a:t>
                          </a:r>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0431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12.75</m:t>
                                    </m:r>
                                  </m:e>
                                  <m:sup>
                                    <m:r>
                                      <a:rPr lang="en-US" sz="2000" i="1">
                                        <a:effectLst/>
                                        <a:latin typeface="Cambria Math" panose="02040503050406030204" pitchFamily="18" charset="0"/>
                                        <a:ea typeface="Verdana" charset="0"/>
                                        <a:cs typeface="Verdana" charset="0"/>
                                      </a:rPr>
                                      <m:t>5</m:t>
                                    </m:r>
                                  </m:sup>
                                </m:sSup>
                                <m:r>
                                  <a:rPr lang="en-US" sz="2000" i="1">
                                    <a:effectLst/>
                                    <a:latin typeface="Cambria Math" panose="02040503050406030204" pitchFamily="18" charset="0"/>
                                    <a:ea typeface="Verdana" charset="0"/>
                                    <a:cs typeface="Verdana" charset="0"/>
                                  </a:rPr>
                                  <m:t> ∙ </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12.75</m:t>
                                    </m:r>
                                  </m:e>
                                  <m:sup>
                                    <m:r>
                                      <a:rPr lang="en-US" sz="2000" i="1">
                                        <a:effectLst/>
                                        <a:latin typeface="Cambria Math" panose="02040503050406030204" pitchFamily="18" charset="0"/>
                                        <a:ea typeface="Verdana" charset="0"/>
                                        <a:cs typeface="Verdana" charset="0"/>
                                      </a:rPr>
                                      <m:t>4</m:t>
                                    </m:r>
                                  </m:sup>
                                </m:sSup>
                              </m:oMath>
                            </m:oMathPara>
                          </a14:m>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8920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begChr m:val="["/>
                                        <m:endChr m:val="]"/>
                                        <m:ctrlPr>
                                          <a:rPr lang="en-US" sz="2000" i="1">
                                            <a:effectLst/>
                                            <a:latin typeface="Cambria Math" panose="02040503050406030204" pitchFamily="18" charset="0"/>
                                            <a:ea typeface="Verdana" charset="0"/>
                                            <a:cs typeface="Verdana" charset="0"/>
                                          </a:rPr>
                                        </m:ctrlPr>
                                      </m:dPr>
                                      <m:e>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4</m:t>
                                                    </m:r>
                                                  </m:den>
                                                </m:f>
                                              </m:e>
                                            </m:d>
                                          </m:e>
                                          <m:sup>
                                            <m:r>
                                              <a:rPr lang="en-US" sz="2000" i="1">
                                                <a:effectLst/>
                                                <a:latin typeface="Cambria Math" panose="02040503050406030204" pitchFamily="18" charset="0"/>
                                                <a:ea typeface="Verdana" charset="0"/>
                                                <a:cs typeface="Verdana" charset="0"/>
                                              </a:rPr>
                                              <m:t>7</m:t>
                                            </m:r>
                                          </m:sup>
                                        </m:sSup>
                                      </m:e>
                                    </m:d>
                                  </m:e>
                                  <m:sup>
                                    <m:r>
                                      <a:rPr lang="en-US" sz="2000" i="1">
                                        <a:effectLst/>
                                        <a:latin typeface="Cambria Math" panose="02040503050406030204" pitchFamily="18" charset="0"/>
                                        <a:ea typeface="Verdana" charset="0"/>
                                        <a:cs typeface="Verdana" charset="0"/>
                                      </a:rPr>
                                      <m:t>2</m:t>
                                    </m:r>
                                  </m:sup>
                                </m:sSup>
                              </m:oMath>
                            </m:oMathPara>
                          </a14:m>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396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12 ∙ 0.75</m:t>
                                        </m:r>
                                      </m:e>
                                    </m:d>
                                  </m:e>
                                  <m:sup>
                                    <m:r>
                                      <a:rPr lang="en-US" sz="2000" i="1">
                                        <a:effectLst/>
                                        <a:latin typeface="Cambria Math" panose="02040503050406030204" pitchFamily="18" charset="0"/>
                                        <a:ea typeface="Verdana" charset="0"/>
                                        <a:cs typeface="Verdana" charset="0"/>
                                      </a:rPr>
                                      <m:t>3</m:t>
                                    </m:r>
                                  </m:sup>
                                </m:sSup>
                              </m:oMath>
                            </m:oMathPara>
                          </a14:m>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431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285.6</m:t>
                                </m:r>
                              </m:oMath>
                            </m:oMathPara>
                          </a14:m>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7544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5</m:t>
                                            </m:r>
                                          </m:den>
                                        </m:f>
                                      </m:e>
                                    </m:d>
                                  </m:e>
                                  <m:sup>
                                    <m:r>
                                      <a:rPr lang="en-US" sz="2000" i="1">
                                        <a:effectLst/>
                                        <a:latin typeface="Cambria Math" panose="02040503050406030204" pitchFamily="18" charset="0"/>
                                        <a:ea typeface="Verdana" charset="0"/>
                                        <a:cs typeface="Verdana" charset="0"/>
                                      </a:rPr>
                                      <m:t>1</m:t>
                                    </m:r>
                                  </m:sup>
                                </m:sSup>
                              </m:oMath>
                            </m:oMathPara>
                          </a14:m>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5632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panose="02040503050406030204" pitchFamily="18" charset="0"/>
                                        <a:ea typeface="Verdana" charset="0"/>
                                        <a:cs typeface="Verdana" charset="0"/>
                                      </a:rPr>
                                      <m:t>10</m:t>
                                    </m:r>
                                  </m:e>
                                  <m:sup>
                                    <m:r>
                                      <a:rPr lang="en-US" sz="2000" i="1">
                                        <a:effectLst/>
                                        <a:latin typeface="Cambria Math" panose="02040503050406030204" pitchFamily="18" charset="0"/>
                                        <a:ea typeface="Verdana" charset="0"/>
                                        <a:cs typeface="Verdana" charset="0"/>
                                      </a:rPr>
                                      <m:t>6</m:t>
                                    </m:r>
                                  </m:sup>
                                </m:sSup>
                                <m:r>
                                  <a:rPr lang="en-US" sz="2000" i="1">
                                    <a:effectLst/>
                                    <a:latin typeface="Cambria Math" panose="02040503050406030204" pitchFamily="18" charset="0"/>
                                    <a:ea typeface="Verdana" charset="0"/>
                                    <a:cs typeface="Verdana" charset="0"/>
                                  </a:rPr>
                                  <m:t> ∙ </m:t>
                                </m:r>
                                <m:sSup>
                                  <m:sSupPr>
                                    <m:ctrlPr>
                                      <a:rPr lang="en-US" sz="2000" i="1">
                                        <a:effectLst/>
                                        <a:latin typeface="Cambria Math" panose="02040503050406030204" pitchFamily="18" charset="0"/>
                                        <a:ea typeface="Verdana" charset="0"/>
                                        <a:cs typeface="Verdana" charset="0"/>
                                      </a:rPr>
                                    </m:ctrlPr>
                                  </m:sSupPr>
                                  <m:e>
                                    <m:d>
                                      <m:dPr>
                                        <m:ctrlPr>
                                          <a:rPr lang="en-US" sz="2000" i="1">
                                            <a:effectLst/>
                                            <a:latin typeface="Cambria Math" panose="02040503050406030204" pitchFamily="18" charset="0"/>
                                            <a:ea typeface="Verdana" charset="0"/>
                                            <a:cs typeface="Verdana" charset="0"/>
                                          </a:rPr>
                                        </m:ctrlPr>
                                      </m:dPr>
                                      <m:e>
                                        <m:r>
                                          <a:rPr lang="en-US" sz="2000" i="1">
                                            <a:effectLst/>
                                            <a:latin typeface="Cambria Math" panose="02040503050406030204" pitchFamily="18" charset="0"/>
                                            <a:ea typeface="Verdana" charset="0"/>
                                            <a:cs typeface="Verdana" charset="0"/>
                                          </a:rPr>
                                          <m:t>−1.5</m:t>
                                        </m:r>
                                      </m:e>
                                    </m:d>
                                  </m:e>
                                  <m:sup>
                                    <m:r>
                                      <a:rPr lang="en-US" sz="2000" i="1">
                                        <a:effectLst/>
                                        <a:latin typeface="Cambria Math" panose="02040503050406030204" pitchFamily="18" charset="0"/>
                                        <a:ea typeface="Verdana" charset="0"/>
                                        <a:cs typeface="Verdana" charset="0"/>
                                      </a:rPr>
                                      <m:t>6</m:t>
                                    </m:r>
                                  </m:sup>
                                </m:sSup>
                              </m:oMath>
                            </m:oMathPara>
                          </a14:m>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171406364"/>
                  </p:ext>
                </p:extLst>
              </p:nvPr>
            </p:nvGraphicFramePr>
            <p:xfrm>
              <a:off x="771465" y="2067575"/>
              <a:ext cx="7488615" cy="4329140"/>
            </p:xfrm>
            <a:graphic>
              <a:graphicData uri="http://schemas.openxmlformats.org/drawingml/2006/table">
                <a:tbl>
                  <a:tblPr firstRow="1" firstCol="1" bandRow="1"/>
                  <a:tblGrid>
                    <a:gridCol w="2229840"/>
                    <a:gridCol w="3210581"/>
                    <a:gridCol w="2048194"/>
                  </a:tblGrid>
                  <a:tr h="705574">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Expression</a:t>
                          </a:r>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Exponent Law</a:t>
                          </a:r>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1">
                              <a:effectLst/>
                              <a:latin typeface="Verdana" charset="0"/>
                              <a:ea typeface="Verdana" charset="0"/>
                              <a:cs typeface="Verdana" charset="0"/>
                            </a:rPr>
                            <a:t>Equivalent Expression</a:t>
                          </a:r>
                          <a:endParaRPr lang="en-US" sz="2000" i="1">
                            <a:effectLst/>
                            <a:latin typeface="Verdana" charset="0"/>
                            <a:ea typeface="Verdana" charset="0"/>
                            <a:cs typeface="Verdana" charset="0"/>
                          </a:endParaRP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404310">
                    <a:tc>
                      <a:txBody>
                        <a:bodyPr/>
                        <a:lstStyle/>
                        <a:p>
                          <a:endParaRPr lang="en-US"/>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3" t="-186364" r="-236612" b="-918182"/>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89206">
                    <a:tc>
                      <a:txBody>
                        <a:bodyPr/>
                        <a:lstStyle/>
                        <a:p>
                          <a:endParaRPr lang="en-US"/>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3" t="-115951" r="-236612" b="-271779"/>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969">
                    <a:tc>
                      <a:txBody>
                        <a:bodyPr/>
                        <a:lstStyle/>
                        <a:p>
                          <a:endParaRPr lang="en-US"/>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3" t="-434568" r="-236612" b="-446914"/>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310">
                    <a:tc>
                      <a:txBody>
                        <a:bodyPr/>
                        <a:lstStyle/>
                        <a:p>
                          <a:endParaRPr lang="en-US"/>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3" t="-656061" r="-236612" b="-448485"/>
                          </a:stretch>
                        </a:blipFill>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5442">
                    <a:tc>
                      <a:txBody>
                        <a:bodyPr/>
                        <a:lstStyle/>
                        <a:p>
                          <a:endParaRPr lang="en-US"/>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3" t="-346528" r="-236612" b="-105556"/>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6329">
                    <a:tc>
                      <a:txBody>
                        <a:bodyPr/>
                        <a:lstStyle/>
                        <a:p>
                          <a:endParaRPr lang="en-US"/>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273" t="-857333" r="-236612" b="-102667"/>
                          </a:stretch>
                        </a:blipFill>
                      </a:tcPr>
                    </a:tc>
                    <a:tc>
                      <a:txBody>
                        <a:bodyPr/>
                        <a:lstStyle/>
                        <a:p>
                          <a:pPr marL="0" marR="0" algn="ctr">
                            <a:lnSpc>
                              <a:spcPct val="107000"/>
                            </a:lnSpc>
                            <a:spcBef>
                              <a:spcPts val="0"/>
                            </a:spcBef>
                            <a:spcAft>
                              <a:spcPts val="0"/>
                            </a:spcAft>
                          </a:pPr>
                          <a:r>
                            <a:rPr lang="en-US" sz="2000" i="1">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1" dirty="0">
                              <a:effectLst/>
                              <a:latin typeface="Verdana" charset="0"/>
                              <a:ea typeface="Verdana" charset="0"/>
                              <a:cs typeface="Verdana" charset="0"/>
                            </a:rPr>
                            <a:t> </a:t>
                          </a:r>
                        </a:p>
                      </a:txBody>
                      <a:tcPr marL="46710" marR="467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2071" y="6208824"/>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647643F2-AA27-F54D-9B18-929351C91D74}"/>
              </a:ext>
            </a:extLst>
          </p:cNvPr>
          <p:cNvSpPr txBox="1"/>
          <p:nvPr/>
        </p:nvSpPr>
        <p:spPr>
          <a:xfrm>
            <a:off x="869384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a:latin typeface="Calibri"/>
                <a:ea typeface="Calibri"/>
                <a:cs typeface="Calibri"/>
                <a:sym typeface="Calibri"/>
              </a:rPr>
              <a:t>. 105</a:t>
            </a:r>
            <a:endParaRPr lang="it-IT"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1329</TotalTime>
  <Words>1849</Words>
  <Application>Microsoft Macintosh PowerPoint</Application>
  <PresentationFormat>Widescreen</PresentationFormat>
  <Paragraphs>390</Paragraphs>
  <Slides>35</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Arial Black</vt:lpstr>
      <vt:lpstr>Calibri</vt:lpstr>
      <vt:lpstr>Cambria Math</vt:lpstr>
      <vt:lpstr>Century Gothic</vt:lpstr>
      <vt:lpstr>Courier New</vt:lpstr>
      <vt:lpstr>Verdana</vt:lpstr>
      <vt:lpstr>Wingdings</vt:lpstr>
      <vt:lpstr>1_Office Theme</vt:lpstr>
      <vt:lpstr>7th Grade Accelerated Math  Unit 3, Lesson 1  Product Laws of Exponents  Volume 1, pg. 99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Exploration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Diana Barnett</cp:lastModifiedBy>
  <cp:revision>29</cp:revision>
  <dcterms:created xsi:type="dcterms:W3CDTF">2015-03-17T18:51:18Z</dcterms:created>
  <dcterms:modified xsi:type="dcterms:W3CDTF">2023-01-30T18:41:24Z</dcterms:modified>
</cp:coreProperties>
</file>