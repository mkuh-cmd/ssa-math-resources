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94" r:id="rId14"/>
    <p:sldId id="293" r:id="rId15"/>
    <p:sldId id="284" r:id="rId16"/>
    <p:sldId id="285" r:id="rId17"/>
    <p:sldId id="286" r:id="rId18"/>
    <p:sldId id="295" r:id="rId19"/>
    <p:sldId id="278" r:id="rId20"/>
    <p:sldId id="279" r:id="rId21"/>
    <p:sldId id="289" r:id="rId22"/>
    <p:sldId id="296" r:id="rId23"/>
    <p:sldId id="297" r:id="rId24"/>
    <p:sldId id="298" r:id="rId25"/>
    <p:sldId id="301" r:id="rId26"/>
    <p:sldId id="300" r:id="rId27"/>
    <p:sldId id="299" r:id="rId28"/>
    <p:sldId id="290" r:id="rId29"/>
    <p:sldId id="291"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gmwbqYbtu5YpsP+R29NhyWnQlF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1" autoAdjust="0"/>
    <p:restoredTop sz="94695"/>
  </p:normalViewPr>
  <p:slideViewPr>
    <p:cSldViewPr snapToGrid="0">
      <p:cViewPr varScale="1">
        <p:scale>
          <a:sx n="59" d="100"/>
          <a:sy n="59" d="100"/>
        </p:scale>
        <p:origin x="27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5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1891201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1241611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03" name="Google Shape;403;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4276146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extLst>
      <p:ext uri="{BB962C8B-B14F-4D97-AF65-F5344CB8AC3E}">
        <p14:creationId xmlns:p14="http://schemas.microsoft.com/office/powerpoint/2010/main" val="2595088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extLst>
      <p:ext uri="{BB962C8B-B14F-4D97-AF65-F5344CB8AC3E}">
        <p14:creationId xmlns:p14="http://schemas.microsoft.com/office/powerpoint/2010/main" val="1232103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extLst>
      <p:ext uri="{BB962C8B-B14F-4D97-AF65-F5344CB8AC3E}">
        <p14:creationId xmlns:p14="http://schemas.microsoft.com/office/powerpoint/2010/main" val="21774674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6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0.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0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Negative Exponent Law</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117</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810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185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73650" y="1619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50150" y="3977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117</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282700" y="1600200"/>
            <a:ext cx="96266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500" dirty="0">
                <a:solidFill>
                  <a:schemeClr val="dk1"/>
                </a:solidFill>
                <a:latin typeface="Verdana"/>
                <a:ea typeface="Verdana"/>
                <a:cs typeface="Verdana"/>
                <a:sym typeface="Verdana"/>
              </a:rPr>
              <a:t>MA.8.NSO.1.3</a:t>
            </a:r>
          </a:p>
          <a:p>
            <a:pPr marL="457200">
              <a:lnSpc>
                <a:spcPct val="90000"/>
              </a:lnSpc>
              <a:spcBef>
                <a:spcPts val="750"/>
              </a:spcBef>
              <a:buClr>
                <a:schemeClr val="dk1"/>
              </a:buClr>
              <a:buSzPts val="2100"/>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a:t>
            </a:r>
          </a:p>
          <a:p>
            <a:pPr marL="457200">
              <a:lnSpc>
                <a:spcPct val="90000"/>
              </a:lnSpc>
              <a:spcBef>
                <a:spcPts val="750"/>
              </a:spcBef>
              <a:buClr>
                <a:schemeClr val="dk1"/>
              </a:buClr>
              <a:buSzPts val="2100"/>
            </a:pPr>
            <a:endParaRPr sz="21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64750" y="410400"/>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89400" y="1677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320800" y="1596390"/>
            <a:ext cx="10138160" cy="4205700"/>
          </a:xfrm>
          <a:prstGeom prst="rect">
            <a:avLst/>
          </a:prstGeom>
          <a:noFill/>
          <a:ln>
            <a:noFill/>
          </a:ln>
        </p:spPr>
        <p:txBody>
          <a:bodyPr spcFirstLastPara="1" wrap="square" lIns="91425" tIns="45700" rIns="91425" bIns="45700" anchor="t" anchorCtr="0">
            <a:noAutofit/>
          </a:bodyPr>
          <a:lstStyle/>
          <a:p>
            <a:r>
              <a:rPr lang="en-US" sz="1800" dirty="0">
                <a:solidFill>
                  <a:schemeClr val="dk1"/>
                </a:solidFill>
                <a:latin typeface="Verdana"/>
                <a:ea typeface="Verdana"/>
                <a:cs typeface="Verdana"/>
                <a:sym typeface="Verdana"/>
              </a:rPr>
              <a:t>MA.K12.MTR.1.1 Actively participate in effortful learning both individually and collectively.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MA.K12.MTR.2.1 Demonstrate understanding by representing problems in multiple ways.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MA.K12.MTR.3.1 Complete tasks with mathematical fluency.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MA.K12.MTR.5.1 Use patterns and structure to help understand and connect mathematical concepts.</a:t>
            </a:r>
            <a:endParaRPr dirty="0"/>
          </a:p>
        </p:txBody>
      </p:sp>
      <p:sp>
        <p:nvSpPr>
          <p:cNvPr id="138" name="Google Shape;138;p1"/>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501169" y="72001"/>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719007" y="361201"/>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282700" y="1600200"/>
            <a:ext cx="9626600"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I can apply the laws of exponents to evaluate numerical expressions with integer exponents.</a:t>
            </a:r>
            <a:endParaRPr sz="3200" dirty="0">
              <a:latin typeface="Verdana" panose="020B0604030504040204" pitchFamily="34" charset="0"/>
              <a:ea typeface="Verdana" panose="020B0604030504040204" pitchFamily="34" charset="0"/>
              <a:cs typeface="Verdana" panose="020B0604030504040204" pitchFamily="34" charset="0"/>
            </a:endParaRPr>
          </a:p>
          <a:p>
            <a:pPr marL="457200" indent="-450850">
              <a:buClr>
                <a:srgbClr val="434343"/>
              </a:buClr>
              <a:buSzPts val="3500"/>
              <a:buFont typeface="Verdana"/>
              <a:buChar char="❏"/>
            </a:pPr>
            <a:r>
              <a:rPr lang="en-US" sz="3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I can generate equivalent numerical expressions using the laws of exponents for the expressions with integer exponents.</a:t>
            </a:r>
            <a:endParaRPr sz="3200" dirty="0">
              <a:latin typeface="Verdana" panose="020B0604030504040204" pitchFamily="34" charset="0"/>
              <a:ea typeface="Verdana" panose="020B0604030504040204" pitchFamily="34" charset="0"/>
              <a:cs typeface="Verdana" panose="020B0604030504040204" pitchFamily="34" charset="0"/>
            </a:endParaRPr>
          </a:p>
        </p:txBody>
      </p:sp>
      <p:sp>
        <p:nvSpPr>
          <p:cNvPr id="149" name="Google Shape;149;p2"/>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3785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53288"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3.4.1 Warm-Up: Day at Work with a Fish Biologist</a:t>
            </a:r>
            <a:endParaRPr dirty="0"/>
          </a:p>
        </p:txBody>
      </p:sp>
      <p:pic>
        <p:nvPicPr>
          <p:cNvPr id="167" name="Google Shape;167;p4"/>
          <p:cNvPicPr preferRelativeResize="0"/>
          <p:nvPr/>
        </p:nvPicPr>
        <p:blipFill rotWithShape="1">
          <a:blip r:embed="rId3">
            <a:alphaModFix/>
          </a:blip>
          <a:srcRect/>
          <a:stretch/>
        </p:blipFill>
        <p:spPr>
          <a:xfrm>
            <a:off x="705988" y="299085"/>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244600" y="1386025"/>
            <a:ext cx="9958832" cy="3785611"/>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Moises, an ichthyologist, or fish biologist, says, “Try to be in touch with a system that you really want to study, with a system that really drives you crazy, because that’s how you nurture passion and passion is one of the most important things in becoming a researcher.”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is something that you are passionate about?</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Why do you think he says that passion is one of the most important things in becoming a researcher?</a:t>
            </a:r>
          </a:p>
        </p:txBody>
      </p:sp>
      <p:sp>
        <p:nvSpPr>
          <p:cNvPr id="170" name="Google Shape;170;p4"/>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52034"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3.4.2 Collaboration: Laws of Exponents</a:t>
            </a:r>
            <a:endParaRPr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02226" y="348272"/>
            <a:ext cx="749808" cy="749808"/>
          </a:xfrm>
          <a:prstGeom prst="rect">
            <a:avLst/>
          </a:prstGeom>
          <a:noFill/>
          <a:ln>
            <a:noFill/>
          </a:ln>
          <a:effectLst>
            <a:outerShdw blurRad="50800" dist="38100" dir="2700000" algn="tl" rotWithShape="0">
              <a:srgbClr val="000000">
                <a:alpha val="40000"/>
              </a:srgbClr>
            </a:outerShdw>
          </a:effectLst>
        </p:spPr>
      </p:pic>
      <p:sp>
        <p:nvSpPr>
          <p:cNvPr id="199" name="Google Shape;199;p7"/>
          <p:cNvSpPr txBox="1"/>
          <p:nvPr/>
        </p:nvSpPr>
        <p:spPr>
          <a:xfrm>
            <a:off x="1549400" y="1386026"/>
            <a:ext cx="9349232" cy="461665"/>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1. Complete the rule for each exponent law shown.</a:t>
            </a:r>
            <a:endParaRPr dirty="0"/>
          </a:p>
        </p:txBody>
      </p:sp>
      <p:sp>
        <p:nvSpPr>
          <p:cNvPr id="200" name="Google Shape;200;p7"/>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1FC1DD0-637D-2E4A-9A13-D6F56F3F9369}"/>
                  </a:ext>
                </a:extLst>
              </p:cNvPr>
              <p:cNvGraphicFramePr>
                <a:graphicFrameLocks noGrp="1"/>
              </p:cNvGraphicFramePr>
              <p:nvPr>
                <p:extLst>
                  <p:ext uri="{D42A27DB-BD31-4B8C-83A1-F6EECF244321}">
                    <p14:modId xmlns:p14="http://schemas.microsoft.com/office/powerpoint/2010/main" val="302600167"/>
                  </p:ext>
                </p:extLst>
              </p:nvPr>
            </p:nvGraphicFramePr>
            <p:xfrm>
              <a:off x="3152642" y="1977013"/>
              <a:ext cx="5886717" cy="4365582"/>
            </p:xfrm>
            <a:graphic>
              <a:graphicData uri="http://schemas.openxmlformats.org/drawingml/2006/table">
                <a:tbl>
                  <a:tblPr firstRow="1" firstCol="1" bandRow="1">
                    <a:tableStyleId>{F2DE63D5-997A-4646-A377-4702673A728D}</a:tableStyleId>
                  </a:tblPr>
                  <a:tblGrid>
                    <a:gridCol w="1790728">
                      <a:extLst>
                        <a:ext uri="{9D8B030D-6E8A-4147-A177-3AD203B41FA5}">
                          <a16:colId xmlns:a16="http://schemas.microsoft.com/office/drawing/2014/main" val="3749404429"/>
                        </a:ext>
                      </a:extLst>
                    </a:gridCol>
                    <a:gridCol w="2181422">
                      <a:extLst>
                        <a:ext uri="{9D8B030D-6E8A-4147-A177-3AD203B41FA5}">
                          <a16:colId xmlns:a16="http://schemas.microsoft.com/office/drawing/2014/main" val="3576384300"/>
                        </a:ext>
                      </a:extLst>
                    </a:gridCol>
                    <a:gridCol w="1914567">
                      <a:extLst>
                        <a:ext uri="{9D8B030D-6E8A-4147-A177-3AD203B41FA5}">
                          <a16:colId xmlns:a16="http://schemas.microsoft.com/office/drawing/2014/main" val="3296366912"/>
                        </a:ext>
                      </a:extLst>
                    </a:gridCol>
                  </a:tblGrid>
                  <a:tr h="473436">
                    <a:tc>
                      <a:txBody>
                        <a:bodyPr/>
                        <a:lstStyle/>
                        <a:p>
                          <a:pPr marL="0" marR="0" algn="ctr">
                            <a:spcBef>
                              <a:spcPts val="0"/>
                            </a:spcBef>
                            <a:spcAft>
                              <a:spcPts val="0"/>
                            </a:spcAft>
                          </a:pPr>
                          <a:r>
                            <a:rPr lang="en-US" sz="16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a:t>
                          </a:r>
                          <a:endParaRPr lang="en-US" sz="1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Numerical Example</a:t>
                          </a:r>
                          <a:endParaRPr lang="en-US" sz="1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Algebraic Rule</a:t>
                          </a:r>
                          <a:endParaRPr lang="en-US" sz="1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6847649"/>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Product of Powers</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2</m:t>
                                    </m:r>
                                  </m:e>
                                  <m:sup>
                                    <m:r>
                                      <a:rPr lang="en-US" sz="1600">
                                        <a:effectLst/>
                                        <a:latin typeface="Cambria Math" panose="02040503050406030204" pitchFamily="18" charset="0"/>
                                      </a:rPr>
                                      <m:t>3</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2</m:t>
                                    </m:r>
                                  </m:e>
                                  <m:sup>
                                    <m:r>
                                      <a:rPr lang="en-US" sz="1600">
                                        <a:effectLst/>
                                        <a:latin typeface="Cambria Math" panose="02040503050406030204" pitchFamily="18" charset="0"/>
                                      </a:rPr>
                                      <m:t>1</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2</m:t>
                                    </m:r>
                                  </m:e>
                                  <m:sup>
                                    <m:r>
                                      <a:rPr lang="en-US" sz="1600">
                                        <a:effectLst/>
                                        <a:latin typeface="Cambria Math" panose="02040503050406030204" pitchFamily="18" charset="0"/>
                                      </a:rPr>
                                      <m:t>4</m:t>
                                    </m:r>
                                  </m:sup>
                                </m:sSup>
                              </m:oMath>
                            </m:oMathPara>
                          </a14:m>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𝑎</m:t>
                                  </m:r>
                                </m:e>
                                <m:sup>
                                  <m:r>
                                    <a:rPr lang="en-US" sz="1600">
                                      <a:effectLst/>
                                      <a:latin typeface="Cambria Math" panose="02040503050406030204" pitchFamily="18" charset="0"/>
                                    </a:rPr>
                                    <m:t>𝑚</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𝑎</m:t>
                                  </m:r>
                                </m:e>
                                <m:sup>
                                  <m:r>
                                    <a:rPr lang="en-US" sz="1600">
                                      <a:effectLst/>
                                      <a:latin typeface="Cambria Math" panose="02040503050406030204" pitchFamily="18" charset="0"/>
                                    </a:rPr>
                                    <m:t>𝑛</m:t>
                                  </m:r>
                                </m:sup>
                              </m:sSup>
                              <m:r>
                                <a:rPr lang="en-US" sz="1600">
                                  <a:effectLst/>
                                  <a:latin typeface="Cambria Math" panose="02040503050406030204" pitchFamily="18" charset="0"/>
                                </a:rPr>
                                <m:t>=</m:t>
                              </m:r>
                            </m:oMath>
                          </a14:m>
                          <a:r>
                            <a:rPr lang="en-US" sz="1600" dirty="0">
                              <a:effectLst/>
                            </a:rPr>
                            <a:t>_______</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1974943"/>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Power of a Product</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(−7∙3)</m:t>
                                    </m:r>
                                  </m:e>
                                  <m:sup>
                                    <m:r>
                                      <a:rPr lang="en-US" sz="1600">
                                        <a:effectLst/>
                                        <a:latin typeface="Cambria Math" panose="02040503050406030204" pitchFamily="18" charset="0"/>
                                      </a:rPr>
                                      <m:t>2</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(−7)</m:t>
                                    </m:r>
                                  </m:e>
                                  <m:sup>
                                    <m:r>
                                      <a:rPr lang="en-US" sz="1600">
                                        <a:effectLst/>
                                        <a:latin typeface="Cambria Math" panose="02040503050406030204" pitchFamily="18" charset="0"/>
                                      </a:rPr>
                                      <m:t>2</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3</m:t>
                                    </m:r>
                                  </m:e>
                                  <m:sup>
                                    <m:r>
                                      <a:rPr lang="en-US" sz="1600">
                                        <a:effectLst/>
                                        <a:latin typeface="Cambria Math" panose="02040503050406030204" pitchFamily="18" charset="0"/>
                                      </a:rPr>
                                      <m:t>2</m:t>
                                    </m:r>
                                  </m:sup>
                                </m:sSup>
                              </m:oMath>
                            </m:oMathPara>
                          </a14:m>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m:t>
                                  </m:r>
                                  <m:r>
                                    <a:rPr lang="en-US" sz="1600">
                                      <a:effectLst/>
                                      <a:latin typeface="Cambria Math" panose="02040503050406030204" pitchFamily="18" charset="0"/>
                                    </a:rPr>
                                    <m:t>𝑎𝑏</m:t>
                                  </m:r>
                                  <m:r>
                                    <a:rPr lang="en-US" sz="1600">
                                      <a:effectLst/>
                                      <a:latin typeface="Cambria Math" panose="02040503050406030204" pitchFamily="18" charset="0"/>
                                    </a:rPr>
                                    <m:t>)</m:t>
                                  </m:r>
                                </m:e>
                                <m:sup>
                                  <m:r>
                                    <a:rPr lang="en-US" sz="1600">
                                      <a:effectLst/>
                                      <a:latin typeface="Cambria Math" panose="02040503050406030204" pitchFamily="18" charset="0"/>
                                    </a:rPr>
                                    <m:t>𝑚</m:t>
                                  </m:r>
                                </m:sup>
                              </m:sSup>
                              <m:r>
                                <a:rPr lang="en-US" sz="1600">
                                  <a:effectLst/>
                                  <a:latin typeface="Cambria Math" panose="02040503050406030204" pitchFamily="18" charset="0"/>
                                </a:rPr>
                                <m:t>=</m:t>
                              </m:r>
                            </m:oMath>
                          </a14:m>
                          <a:r>
                            <a:rPr lang="en-US" sz="1600">
                              <a:effectLst/>
                            </a:rPr>
                            <a:t>________</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1876667"/>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Power of a Power</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6</m:t>
                                        </m:r>
                                      </m:e>
                                      <m:sup>
                                        <m:r>
                                          <a:rPr lang="en-US" sz="1600">
                                            <a:effectLst/>
                                            <a:latin typeface="Cambria Math" panose="02040503050406030204" pitchFamily="18" charset="0"/>
                                          </a:rPr>
                                          <m:t>3</m:t>
                                        </m:r>
                                      </m:sup>
                                    </m:sSup>
                                    <m:r>
                                      <a:rPr lang="en-US" sz="1600">
                                        <a:effectLst/>
                                        <a:latin typeface="Cambria Math" panose="02040503050406030204" pitchFamily="18" charset="0"/>
                                      </a:rPr>
                                      <m:t>)</m:t>
                                    </m:r>
                                  </m:e>
                                  <m:sup>
                                    <m:r>
                                      <a:rPr lang="en-US" sz="1600">
                                        <a:effectLst/>
                                        <a:latin typeface="Cambria Math" panose="02040503050406030204" pitchFamily="18" charset="0"/>
                                      </a:rPr>
                                      <m:t>4</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6</m:t>
                                    </m:r>
                                  </m:e>
                                  <m:sup>
                                    <m:r>
                                      <a:rPr lang="en-US" sz="1600">
                                        <a:effectLst/>
                                        <a:latin typeface="Cambria Math" panose="02040503050406030204" pitchFamily="18" charset="0"/>
                                      </a:rPr>
                                      <m:t>12</m:t>
                                    </m:r>
                                  </m:sup>
                                </m:sSup>
                              </m:oMath>
                            </m:oMathPara>
                          </a14:m>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𝑎</m:t>
                                      </m:r>
                                    </m:e>
                                    <m:sup>
                                      <m:r>
                                        <a:rPr lang="en-US" sz="1600">
                                          <a:effectLst/>
                                          <a:latin typeface="Cambria Math" panose="02040503050406030204" pitchFamily="18" charset="0"/>
                                        </a:rPr>
                                        <m:t>𝑚</m:t>
                                      </m:r>
                                    </m:sup>
                                  </m:sSup>
                                  <m:r>
                                    <a:rPr lang="en-US" sz="1600">
                                      <a:effectLst/>
                                      <a:latin typeface="Cambria Math" panose="02040503050406030204" pitchFamily="18" charset="0"/>
                                    </a:rPr>
                                    <m:t>)</m:t>
                                  </m:r>
                                </m:e>
                                <m:sup>
                                  <m:r>
                                    <a:rPr lang="en-US" sz="1600">
                                      <a:effectLst/>
                                      <a:latin typeface="Cambria Math" panose="02040503050406030204" pitchFamily="18" charset="0"/>
                                    </a:rPr>
                                    <m:t>𝑛</m:t>
                                  </m:r>
                                </m:sup>
                              </m:sSup>
                              <m:r>
                                <a:rPr lang="en-US" sz="1600">
                                  <a:effectLst/>
                                  <a:latin typeface="Cambria Math" panose="02040503050406030204" pitchFamily="18" charset="0"/>
                                </a:rPr>
                                <m:t>=</m:t>
                              </m:r>
                            </m:oMath>
                          </a14:m>
                          <a:r>
                            <a:rPr lang="en-US" sz="1600">
                              <a:effectLst/>
                            </a:rPr>
                            <a:t>________</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8256347"/>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Quotient of Powers</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US" sz="1600" i="1">
                                      <a:effectLst/>
                                      <a:latin typeface="Cambria Math" panose="02040503050406030204" pitchFamily="18" charset="0"/>
                                    </a:rPr>
                                  </m:ctrlPr>
                                </m:fPr>
                                <m:num>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(−3)</m:t>
                                      </m:r>
                                    </m:e>
                                    <m:sup>
                                      <m:r>
                                        <a:rPr lang="en-US" sz="1600">
                                          <a:effectLst/>
                                          <a:latin typeface="Cambria Math" panose="02040503050406030204" pitchFamily="18" charset="0"/>
                                        </a:rPr>
                                        <m:t>7</m:t>
                                      </m:r>
                                    </m:sup>
                                  </m:sSup>
                                </m:num>
                                <m:den>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(−3)</m:t>
                                      </m:r>
                                    </m:e>
                                    <m:sup>
                                      <m:r>
                                        <a:rPr lang="en-US" sz="1600">
                                          <a:effectLst/>
                                          <a:latin typeface="Cambria Math" panose="02040503050406030204" pitchFamily="18" charset="0"/>
                                        </a:rPr>
                                        <m:t>2</m:t>
                                      </m:r>
                                    </m:sup>
                                  </m:sSup>
                                </m:den>
                              </m:f>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(−3)</m:t>
                                  </m:r>
                                </m:e>
                                <m:sup>
                                  <m:r>
                                    <a:rPr lang="en-US" sz="1600">
                                      <a:effectLst/>
                                      <a:latin typeface="Cambria Math" panose="02040503050406030204" pitchFamily="18" charset="0"/>
                                    </a:rPr>
                                    <m:t>5</m:t>
                                  </m:r>
                                </m:sup>
                              </m:sSup>
                            </m:oMath>
                          </a14:m>
                          <a:r>
                            <a:rPr lang="en-US" sz="1600">
                              <a:effectLst/>
                            </a:rPr>
                            <a:t> </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US" sz="1600" i="1">
                                      <a:effectLst/>
                                      <a:latin typeface="Cambria Math" panose="02040503050406030204" pitchFamily="18" charset="0"/>
                                    </a:rPr>
                                  </m:ctrlPr>
                                </m:fPr>
                                <m:num>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𝑎</m:t>
                                      </m:r>
                                    </m:e>
                                    <m:sup>
                                      <m:r>
                                        <a:rPr lang="en-US" sz="1600">
                                          <a:effectLst/>
                                          <a:latin typeface="Cambria Math" panose="02040503050406030204" pitchFamily="18" charset="0"/>
                                        </a:rPr>
                                        <m:t>𝑚</m:t>
                                      </m:r>
                                    </m:sup>
                                  </m:sSup>
                                </m:num>
                                <m:den>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𝑎</m:t>
                                      </m:r>
                                    </m:e>
                                    <m:sup>
                                      <m:r>
                                        <a:rPr lang="en-US" sz="1600">
                                          <a:effectLst/>
                                          <a:latin typeface="Cambria Math" panose="02040503050406030204" pitchFamily="18" charset="0"/>
                                        </a:rPr>
                                        <m:t>𝑛</m:t>
                                      </m:r>
                                    </m:sup>
                                  </m:sSup>
                                </m:den>
                              </m:f>
                              <m:r>
                                <a:rPr lang="en-US" sz="1600">
                                  <a:effectLst/>
                                  <a:latin typeface="Cambria Math" panose="02040503050406030204" pitchFamily="18" charset="0"/>
                                </a:rPr>
                                <m:t>=</m:t>
                              </m:r>
                            </m:oMath>
                          </a14:m>
                          <a:r>
                            <a:rPr lang="en-US" sz="1600">
                              <a:effectLst/>
                            </a:rPr>
                            <a:t>________</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6960326"/>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Power of a Quotient</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en-US" sz="1600" i="1">
                                      <a:effectLst/>
                                      <a:latin typeface="Cambria Math" panose="02040503050406030204" pitchFamily="18" charset="0"/>
                                    </a:rPr>
                                  </m:ctrlPr>
                                </m:sSupPr>
                                <m:e>
                                  <m:d>
                                    <m:dPr>
                                      <m:ctrlPr>
                                        <a:rPr lang="en-US" sz="1600" i="1">
                                          <a:effectLst/>
                                          <a:latin typeface="Cambria Math" panose="02040503050406030204" pitchFamily="18" charset="0"/>
                                        </a:rPr>
                                      </m:ctrlPr>
                                    </m:dPr>
                                    <m:e>
                                      <m:f>
                                        <m:fPr>
                                          <m:ctrlPr>
                                            <a:rPr lang="en-US" sz="1600" i="1">
                                              <a:effectLst/>
                                              <a:latin typeface="Cambria Math" panose="02040503050406030204" pitchFamily="18" charset="0"/>
                                            </a:rPr>
                                          </m:ctrlPr>
                                        </m:fPr>
                                        <m:num>
                                          <m:r>
                                            <a:rPr lang="en-US" sz="1600">
                                              <a:effectLst/>
                                              <a:latin typeface="Cambria Math" panose="02040503050406030204" pitchFamily="18" charset="0"/>
                                            </a:rPr>
                                            <m:t>13</m:t>
                                          </m:r>
                                        </m:num>
                                        <m:den>
                                          <m:r>
                                            <a:rPr lang="en-US" sz="1600">
                                              <a:effectLst/>
                                              <a:latin typeface="Cambria Math" panose="02040503050406030204" pitchFamily="18" charset="0"/>
                                            </a:rPr>
                                            <m:t>5</m:t>
                                          </m:r>
                                        </m:den>
                                      </m:f>
                                    </m:e>
                                  </m:d>
                                </m:e>
                                <m:sup>
                                  <m:r>
                                    <a:rPr lang="en-US" sz="1600">
                                      <a:effectLst/>
                                      <a:latin typeface="Cambria Math" panose="02040503050406030204" pitchFamily="18" charset="0"/>
                                    </a:rPr>
                                    <m:t>3</m:t>
                                  </m:r>
                                </m:sup>
                              </m:sSup>
                              <m:r>
                                <a:rPr lang="en-US" sz="1600">
                                  <a:effectLst/>
                                  <a:latin typeface="Cambria Math" panose="02040503050406030204" pitchFamily="18" charset="0"/>
                                </a:rPr>
                                <m:t>=</m:t>
                              </m:r>
                              <m:f>
                                <m:fPr>
                                  <m:ctrlPr>
                                    <a:rPr lang="en-US" sz="1600" i="1">
                                      <a:effectLst/>
                                      <a:latin typeface="Cambria Math" panose="02040503050406030204" pitchFamily="18" charset="0"/>
                                    </a:rPr>
                                  </m:ctrlPr>
                                </m:fPr>
                                <m:num>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13</m:t>
                                      </m:r>
                                    </m:e>
                                    <m:sup>
                                      <m:r>
                                        <a:rPr lang="en-US" sz="1600">
                                          <a:effectLst/>
                                          <a:latin typeface="Cambria Math" panose="02040503050406030204" pitchFamily="18" charset="0"/>
                                        </a:rPr>
                                        <m:t>3</m:t>
                                      </m:r>
                                    </m:sup>
                                  </m:sSup>
                                </m:num>
                                <m:den>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5</m:t>
                                      </m:r>
                                    </m:e>
                                    <m:sup>
                                      <m:r>
                                        <a:rPr lang="en-US" sz="1600">
                                          <a:effectLst/>
                                          <a:latin typeface="Cambria Math" panose="02040503050406030204" pitchFamily="18" charset="0"/>
                                        </a:rPr>
                                        <m:t>3</m:t>
                                      </m:r>
                                    </m:sup>
                                  </m:sSup>
                                </m:den>
                              </m:f>
                            </m:oMath>
                          </a14:m>
                          <a:r>
                            <a:rPr lang="en-US" sz="1600">
                              <a:effectLst/>
                            </a:rPr>
                            <a:t> </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en-US" sz="1600" i="1">
                                      <a:effectLst/>
                                      <a:latin typeface="Cambria Math" panose="02040503050406030204" pitchFamily="18" charset="0"/>
                                    </a:rPr>
                                  </m:ctrlPr>
                                </m:sSupPr>
                                <m:e>
                                  <m:d>
                                    <m:dPr>
                                      <m:ctrlPr>
                                        <a:rPr lang="en-US" sz="1600" i="1">
                                          <a:effectLst/>
                                          <a:latin typeface="Cambria Math" panose="02040503050406030204" pitchFamily="18" charset="0"/>
                                        </a:rPr>
                                      </m:ctrlPr>
                                    </m:dPr>
                                    <m:e>
                                      <m:f>
                                        <m:fPr>
                                          <m:ctrlPr>
                                            <a:rPr lang="en-US" sz="1600" i="1">
                                              <a:effectLst/>
                                              <a:latin typeface="Cambria Math" panose="02040503050406030204" pitchFamily="18" charset="0"/>
                                            </a:rPr>
                                          </m:ctrlPr>
                                        </m:fPr>
                                        <m:num>
                                          <m:r>
                                            <a:rPr lang="en-US" sz="1600">
                                              <a:effectLst/>
                                              <a:latin typeface="Cambria Math" panose="02040503050406030204" pitchFamily="18" charset="0"/>
                                            </a:rPr>
                                            <m:t>𝑎</m:t>
                                          </m:r>
                                        </m:num>
                                        <m:den>
                                          <m:r>
                                            <a:rPr lang="en-US" sz="1600">
                                              <a:effectLst/>
                                              <a:latin typeface="Cambria Math" panose="02040503050406030204" pitchFamily="18" charset="0"/>
                                            </a:rPr>
                                            <m:t>𝑏</m:t>
                                          </m:r>
                                        </m:den>
                                      </m:f>
                                    </m:e>
                                  </m:d>
                                </m:e>
                                <m:sup>
                                  <m:r>
                                    <a:rPr lang="en-US" sz="1600">
                                      <a:effectLst/>
                                      <a:latin typeface="Cambria Math" panose="02040503050406030204" pitchFamily="18" charset="0"/>
                                    </a:rPr>
                                    <m:t>𝑚</m:t>
                                  </m:r>
                                </m:sup>
                              </m:sSup>
                              <m:r>
                                <a:rPr lang="en-US" sz="1600">
                                  <a:effectLst/>
                                  <a:latin typeface="Cambria Math" panose="02040503050406030204" pitchFamily="18" charset="0"/>
                                </a:rPr>
                                <m:t>=</m:t>
                              </m:r>
                            </m:oMath>
                          </a14:m>
                          <a:r>
                            <a:rPr lang="en-US" sz="1600">
                              <a:effectLst/>
                            </a:rPr>
                            <a:t>________</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5995909"/>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Identity Exponent</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15</m:t>
                                    </m:r>
                                  </m:e>
                                  <m:sup>
                                    <m:r>
                                      <a:rPr lang="en-US" sz="1600">
                                        <a:effectLst/>
                                        <a:latin typeface="Cambria Math" panose="02040503050406030204" pitchFamily="18" charset="0"/>
                                      </a:rPr>
                                      <m:t>1</m:t>
                                    </m:r>
                                  </m:sup>
                                </m:sSup>
                                <m:r>
                                  <a:rPr lang="en-US" sz="1600">
                                    <a:effectLst/>
                                    <a:latin typeface="Cambria Math" panose="02040503050406030204" pitchFamily="18" charset="0"/>
                                  </a:rPr>
                                  <m:t>=15</m:t>
                                </m:r>
                              </m:oMath>
                            </m:oMathPara>
                          </a14:m>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𝑎</m:t>
                                  </m:r>
                                </m:e>
                                <m:sup>
                                  <m:r>
                                    <a:rPr lang="en-US" sz="1600">
                                      <a:effectLst/>
                                      <a:latin typeface="Cambria Math" panose="02040503050406030204" pitchFamily="18" charset="0"/>
                                    </a:rPr>
                                    <m:t>1</m:t>
                                  </m:r>
                                </m:sup>
                              </m:sSup>
                              <m:r>
                                <a:rPr lang="en-US" sz="1600">
                                  <a:effectLst/>
                                  <a:latin typeface="Cambria Math" panose="02040503050406030204" pitchFamily="18" charset="0"/>
                                </a:rPr>
                                <m:t>=</m:t>
                              </m:r>
                            </m:oMath>
                          </a14:m>
                          <a:r>
                            <a:rPr lang="en-US" sz="1600">
                              <a:effectLst/>
                            </a:rPr>
                            <a:t> ____</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5400875"/>
                      </a:ext>
                    </a:extLst>
                  </a:tr>
                  <a:tr h="553986">
                    <a:tc>
                      <a:txBody>
                        <a:bodyPr/>
                        <a:lstStyle/>
                        <a:p>
                          <a:pPr marL="0" marR="0" algn="ctr">
                            <a:spcBef>
                              <a:spcPts val="0"/>
                            </a:spcBef>
                            <a:spcAft>
                              <a:spcPts val="0"/>
                            </a:spcAft>
                          </a:pPr>
                          <a:r>
                            <a:rPr lang="en-US" sz="1600" b="0" dirty="0">
                              <a:effectLst/>
                              <a:latin typeface="Verdana" panose="020B0604030504040204" pitchFamily="34" charset="0"/>
                              <a:ea typeface="Verdana" panose="020B0604030504040204" pitchFamily="34" charset="0"/>
                              <a:cs typeface="Verdana" panose="020B0604030504040204" pitchFamily="34" charset="0"/>
                            </a:rPr>
                            <a:t>Zero Exponent</a:t>
                          </a:r>
                          <a:endParaRPr lang="en-US" sz="1000" b="0" dirty="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127</m:t>
                                    </m:r>
                                  </m:e>
                                  <m:sup>
                                    <m:r>
                                      <a:rPr lang="en-US" sz="1600">
                                        <a:effectLst/>
                                        <a:latin typeface="Cambria Math" panose="02040503050406030204" pitchFamily="18" charset="0"/>
                                      </a:rPr>
                                      <m:t>0</m:t>
                                    </m:r>
                                  </m:sup>
                                </m:sSup>
                                <m:r>
                                  <a:rPr lang="en-US" sz="1600">
                                    <a:effectLst/>
                                    <a:latin typeface="Cambria Math" panose="02040503050406030204" pitchFamily="18" charset="0"/>
                                  </a:rPr>
                                  <m:t>=1</m:t>
                                </m:r>
                              </m:oMath>
                            </m:oMathPara>
                          </a14:m>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𝑎</m:t>
                                  </m:r>
                                </m:e>
                                <m:sup>
                                  <m:r>
                                    <a:rPr lang="en-US" sz="1600">
                                      <a:effectLst/>
                                      <a:latin typeface="Cambria Math" panose="02040503050406030204" pitchFamily="18" charset="0"/>
                                    </a:rPr>
                                    <m:t>0</m:t>
                                  </m:r>
                                </m:sup>
                              </m:sSup>
                              <m:r>
                                <a:rPr lang="en-US" sz="1600">
                                  <a:effectLst/>
                                  <a:latin typeface="Cambria Math" panose="02040503050406030204" pitchFamily="18" charset="0"/>
                                </a:rPr>
                                <m:t>=</m:t>
                              </m:r>
                            </m:oMath>
                          </a14:m>
                          <a:r>
                            <a:rPr lang="en-US" sz="1600" dirty="0">
                              <a:effectLst/>
                            </a:rPr>
                            <a:t> ____</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026171"/>
                      </a:ext>
                    </a:extLst>
                  </a:tr>
                </a:tbl>
              </a:graphicData>
            </a:graphic>
          </p:graphicFrame>
        </mc:Choice>
        <mc:Fallback xmlns="">
          <p:graphicFrame>
            <p:nvGraphicFramePr>
              <p:cNvPr id="2" name="Table 1">
                <a:extLst>
                  <a:ext uri="{FF2B5EF4-FFF2-40B4-BE49-F238E27FC236}">
                    <a16:creationId xmlns:a16="http://schemas.microsoft.com/office/drawing/2014/main" id="{11FC1DD0-637D-2E4A-9A13-D6F56F3F9369}"/>
                  </a:ext>
                </a:extLst>
              </p:cNvPr>
              <p:cNvGraphicFramePr>
                <a:graphicFrameLocks noGrp="1"/>
              </p:cNvGraphicFramePr>
              <p:nvPr>
                <p:extLst>
                  <p:ext uri="{D42A27DB-BD31-4B8C-83A1-F6EECF244321}">
                    <p14:modId xmlns:p14="http://schemas.microsoft.com/office/powerpoint/2010/main" val="302600167"/>
                  </p:ext>
                </p:extLst>
              </p:nvPr>
            </p:nvGraphicFramePr>
            <p:xfrm>
              <a:off x="1628641" y="1977013"/>
              <a:ext cx="5886717" cy="4365582"/>
            </p:xfrm>
            <a:graphic>
              <a:graphicData uri="http://schemas.openxmlformats.org/drawingml/2006/table">
                <a:tbl>
                  <a:tblPr firstRow="1" firstCol="1" bandRow="1">
                    <a:tableStyleId>{F2DE63D5-997A-4646-A377-4702673A728D}</a:tableStyleId>
                  </a:tblPr>
                  <a:tblGrid>
                    <a:gridCol w="1790728">
                      <a:extLst>
                        <a:ext uri="{9D8B030D-6E8A-4147-A177-3AD203B41FA5}">
                          <a16:colId xmlns:a16="http://schemas.microsoft.com/office/drawing/2014/main" val="3749404429"/>
                        </a:ext>
                      </a:extLst>
                    </a:gridCol>
                    <a:gridCol w="2181422">
                      <a:extLst>
                        <a:ext uri="{9D8B030D-6E8A-4147-A177-3AD203B41FA5}">
                          <a16:colId xmlns:a16="http://schemas.microsoft.com/office/drawing/2014/main" val="3576384300"/>
                        </a:ext>
                      </a:extLst>
                    </a:gridCol>
                    <a:gridCol w="1914567">
                      <a:extLst>
                        <a:ext uri="{9D8B030D-6E8A-4147-A177-3AD203B41FA5}">
                          <a16:colId xmlns:a16="http://schemas.microsoft.com/office/drawing/2014/main" val="3296366912"/>
                        </a:ext>
                      </a:extLst>
                    </a:gridCol>
                  </a:tblGrid>
                  <a:tr h="487680">
                    <a:tc>
                      <a:txBody>
                        <a:bodyPr/>
                        <a:lstStyle/>
                        <a:p>
                          <a:pPr marL="0" marR="0" algn="ctr">
                            <a:spcBef>
                              <a:spcPts val="0"/>
                            </a:spcBef>
                            <a:spcAft>
                              <a:spcPts val="0"/>
                            </a:spcAft>
                          </a:pPr>
                          <a:r>
                            <a:rPr lang="en-US" sz="16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a:t>
                          </a:r>
                          <a:endParaRPr lang="en-US" sz="1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Numerical Example</a:t>
                          </a:r>
                          <a:endParaRPr lang="en-US" sz="1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Algebraic Rule</a:t>
                          </a:r>
                          <a:endParaRPr lang="en-US" sz="1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6847649"/>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Product of Powers</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2558" t="-102326" r="-88372" b="-613953"/>
                          </a:stretch>
                        </a:blipFill>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7947" t="-102326" r="-662" b="-613953"/>
                          </a:stretch>
                        </a:blipFill>
                      </a:tcPr>
                    </a:tc>
                    <a:extLst>
                      <a:ext uri="{0D108BD9-81ED-4DB2-BD59-A6C34878D82A}">
                        <a16:rowId xmlns:a16="http://schemas.microsoft.com/office/drawing/2014/main" val="3681974943"/>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Power of a Product</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2558" t="-197727" r="-88372" b="-500000"/>
                          </a:stretch>
                        </a:blipFill>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7947" t="-197727" r="-662" b="-500000"/>
                          </a:stretch>
                        </a:blipFill>
                      </a:tcPr>
                    </a:tc>
                    <a:extLst>
                      <a:ext uri="{0D108BD9-81ED-4DB2-BD59-A6C34878D82A}">
                        <a16:rowId xmlns:a16="http://schemas.microsoft.com/office/drawing/2014/main" val="2201876667"/>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Power of a Power</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2558" t="-297727" r="-88372" b="-400000"/>
                          </a:stretch>
                        </a:blipFill>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7947" t="-297727" r="-662" b="-400000"/>
                          </a:stretch>
                        </a:blipFill>
                      </a:tcPr>
                    </a:tc>
                    <a:extLst>
                      <a:ext uri="{0D108BD9-81ED-4DB2-BD59-A6C34878D82A}">
                        <a16:rowId xmlns:a16="http://schemas.microsoft.com/office/drawing/2014/main" val="3408256347"/>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Quotient of Powers</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2558" t="-397727" r="-88372" b="-300000"/>
                          </a:stretch>
                        </a:blipFill>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7947" t="-397727" r="-662" b="-300000"/>
                          </a:stretch>
                        </a:blipFill>
                      </a:tcPr>
                    </a:tc>
                    <a:extLst>
                      <a:ext uri="{0D108BD9-81ED-4DB2-BD59-A6C34878D82A}">
                        <a16:rowId xmlns:a16="http://schemas.microsoft.com/office/drawing/2014/main" val="946960326"/>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Power of a Quotient</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2558" t="-509302" r="-88372" b="-206977"/>
                          </a:stretch>
                        </a:blipFill>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7947" t="-509302" r="-662" b="-206977"/>
                          </a:stretch>
                        </a:blipFill>
                      </a:tcPr>
                    </a:tc>
                    <a:extLst>
                      <a:ext uri="{0D108BD9-81ED-4DB2-BD59-A6C34878D82A}">
                        <a16:rowId xmlns:a16="http://schemas.microsoft.com/office/drawing/2014/main" val="4205995909"/>
                      </a:ext>
                    </a:extLst>
                  </a:tr>
                  <a:tr h="553986">
                    <a:tc>
                      <a:txBody>
                        <a:bodyPr/>
                        <a:lstStyle/>
                        <a:p>
                          <a:pPr marL="0" marR="0" algn="ctr">
                            <a:spcBef>
                              <a:spcPts val="0"/>
                            </a:spcBef>
                            <a:spcAft>
                              <a:spcPts val="0"/>
                            </a:spcAft>
                          </a:pPr>
                          <a:r>
                            <a:rPr lang="en-US" sz="1600" b="0">
                              <a:effectLst/>
                              <a:latin typeface="Verdana" panose="020B0604030504040204" pitchFamily="34" charset="0"/>
                              <a:ea typeface="Verdana" panose="020B0604030504040204" pitchFamily="34" charset="0"/>
                              <a:cs typeface="Verdana" panose="020B0604030504040204" pitchFamily="34" charset="0"/>
                            </a:rPr>
                            <a:t>Identity Exponent</a:t>
                          </a:r>
                          <a:endParaRPr lang="en-US" sz="1000" b="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2558" t="-595455" r="-88372" b="-102273"/>
                          </a:stretch>
                        </a:blipFill>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7947" t="-595455" r="-662" b="-102273"/>
                          </a:stretch>
                        </a:blipFill>
                      </a:tcPr>
                    </a:tc>
                    <a:extLst>
                      <a:ext uri="{0D108BD9-81ED-4DB2-BD59-A6C34878D82A}">
                        <a16:rowId xmlns:a16="http://schemas.microsoft.com/office/drawing/2014/main" val="3185400875"/>
                      </a:ext>
                    </a:extLst>
                  </a:tr>
                  <a:tr h="553986">
                    <a:tc>
                      <a:txBody>
                        <a:bodyPr/>
                        <a:lstStyle/>
                        <a:p>
                          <a:pPr marL="0" marR="0" algn="ctr">
                            <a:spcBef>
                              <a:spcPts val="0"/>
                            </a:spcBef>
                            <a:spcAft>
                              <a:spcPts val="0"/>
                            </a:spcAft>
                          </a:pPr>
                          <a:r>
                            <a:rPr lang="en-US" sz="1600" b="0" dirty="0">
                              <a:effectLst/>
                              <a:latin typeface="Verdana" panose="020B0604030504040204" pitchFamily="34" charset="0"/>
                              <a:ea typeface="Verdana" panose="020B0604030504040204" pitchFamily="34" charset="0"/>
                              <a:cs typeface="Verdana" panose="020B0604030504040204" pitchFamily="34" charset="0"/>
                            </a:rPr>
                            <a:t>Zero Exponent</a:t>
                          </a:r>
                          <a:endParaRPr lang="en-US" sz="1000" b="0" dirty="0">
                            <a:effectLst/>
                            <a:latin typeface="Verdana" panose="020B0604030504040204" pitchFamily="34" charset="0"/>
                            <a:ea typeface="Verdana" panose="020B0604030504040204" pitchFamily="34" charset="0"/>
                            <a:cs typeface="Verdana" panose="020B0604030504040204" pitchFamily="34" charset="0"/>
                          </a:endParaRPr>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2558" t="-695455" r="-88372" b="-2273"/>
                          </a:stretch>
                        </a:blipFill>
                      </a:tcPr>
                    </a:tc>
                    <a:tc>
                      <a:txBody>
                        <a:bodyPr/>
                        <a:lstStyle/>
                        <a:p>
                          <a:endParaRPr lang="en-US"/>
                        </a:p>
                      </a:txBody>
                      <a:tcPr marL="59180" marR="591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7947" t="-695455" r="-662" b="-2273"/>
                          </a:stretch>
                        </a:blipFill>
                      </a:tcPr>
                    </a:tc>
                    <a:extLst>
                      <a:ext uri="{0D108BD9-81ED-4DB2-BD59-A6C34878D82A}">
                        <a16:rowId xmlns:a16="http://schemas.microsoft.com/office/drawing/2014/main" val="1533026171"/>
                      </a:ext>
                    </a:extLst>
                  </a:tr>
                </a:tbl>
              </a:graphicData>
            </a:graphic>
          </p:graphicFrame>
        </mc:Fallback>
      </mc:AlternateContent>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965200" y="410665"/>
            <a:ext cx="10412266" cy="1415732"/>
          </a:xfrm>
          <a:prstGeom prst="rect">
            <a:avLst/>
          </a:prstGeom>
          <a:noFill/>
          <a:ln>
            <a:noFill/>
          </a:ln>
        </p:spPr>
        <p:txBody>
          <a:bodyPr spcFirstLastPara="1" wrap="square" lIns="91425" tIns="45700" rIns="91425" bIns="45700" anchor="t" anchorCtr="0">
            <a:spAutoFit/>
          </a:bodyPr>
          <a:lstStyle/>
          <a:p>
            <a:pPr marL="465138" indent="-465138"/>
            <a:r>
              <a:rPr lang="en-US" sz="2400" dirty="0">
                <a:latin typeface="Verdana"/>
                <a:ea typeface="Verdana"/>
                <a:cs typeface="Verdana"/>
                <a:sym typeface="Verdana"/>
              </a:rPr>
              <a:t>2. Write an equivalent exponential expression by applying the laws of exponents.</a:t>
            </a:r>
          </a:p>
          <a:p>
            <a:endParaRPr lang="en-US" sz="2400" dirty="0">
              <a:latin typeface="Verdana"/>
              <a:ea typeface="Verdana"/>
              <a:cs typeface="Verdana"/>
              <a:sym typeface="Verdana"/>
            </a:endParaRPr>
          </a:p>
          <a:p>
            <a:endParaRPr dirty="0"/>
          </a:p>
        </p:txBody>
      </p:sp>
      <p:sp>
        <p:nvSpPr>
          <p:cNvPr id="209" name="Google Shape;209;p8"/>
          <p:cNvSpPr/>
          <p:nvPr/>
        </p:nvSpPr>
        <p:spPr>
          <a:xfrm>
            <a:off x="0" y="-8225"/>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 name="Picture 3" descr="A picture containing application&#10;&#10;Description automatically generated">
            <a:extLst>
              <a:ext uri="{FF2B5EF4-FFF2-40B4-BE49-F238E27FC236}">
                <a16:creationId xmlns:a16="http://schemas.microsoft.com/office/drawing/2014/main" id="{71BDC454-11CF-F345-B8CF-E0EF902CCB62}"/>
              </a:ext>
            </a:extLst>
          </p:cNvPr>
          <p:cNvPicPr>
            <a:picLocks noChangeAspect="1"/>
          </p:cNvPicPr>
          <p:nvPr/>
        </p:nvPicPr>
        <p:blipFill>
          <a:blip r:embed="rId3"/>
          <a:stretch>
            <a:fillRect/>
          </a:stretch>
        </p:blipFill>
        <p:spPr>
          <a:xfrm>
            <a:off x="2481986" y="1993789"/>
            <a:ext cx="7570991" cy="2862072"/>
          </a:xfrm>
          <a:prstGeom prst="rect">
            <a:avLst/>
          </a:prstGeom>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287950" y="0"/>
            <a:ext cx="946895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2800" b="1" dirty="0">
                <a:solidFill>
                  <a:srgbClr val="33BEA6"/>
                </a:solidFill>
                <a:latin typeface="Verdana"/>
                <a:ea typeface="Verdana"/>
                <a:cs typeface="Verdana"/>
                <a:sym typeface="Verdana"/>
              </a:rPr>
              <a:t>3.4.3 Exploration: Finding Patterns to Evaluate Numeric Expressions with Exponents</a:t>
            </a:r>
            <a:endParaRPr sz="1100"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31652" y="248125"/>
            <a:ext cx="752254" cy="752254"/>
          </a:xfrm>
          <a:prstGeom prst="rect">
            <a:avLst/>
          </a:prstGeom>
          <a:noFill/>
          <a:ln>
            <a:noFill/>
          </a:ln>
          <a:effectLst>
            <a:outerShdw blurRad="50800" dist="38100" dir="2700000" algn="tl" rotWithShape="0">
              <a:srgbClr val="000000">
                <a:alpha val="40000"/>
              </a:srgbClr>
            </a:outerShdw>
          </a:effectLst>
        </p:spPr>
      </p:pic>
      <p:sp>
        <p:nvSpPr>
          <p:cNvPr id="229" name="Google Shape;229;p10"/>
          <p:cNvSpPr txBox="1"/>
          <p:nvPr/>
        </p:nvSpPr>
        <p:spPr>
          <a:xfrm>
            <a:off x="1447800" y="1386025"/>
            <a:ext cx="8939784" cy="1785064"/>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Work with your partner to complete the following.</a:t>
            </a:r>
          </a:p>
          <a:p>
            <a:endParaRPr lang="en-US" sz="2400" dirty="0">
              <a:latin typeface="Verdana"/>
              <a:ea typeface="Verdana"/>
              <a:cs typeface="Verdana"/>
              <a:sym typeface="Verdana"/>
            </a:endParaRPr>
          </a:p>
          <a:p>
            <a:pPr marL="457200" indent="-457200">
              <a:buAutoNum type="arabicPeriod"/>
            </a:pPr>
            <a:r>
              <a:rPr lang="en-US" sz="2400" dirty="0">
                <a:latin typeface="Verdana"/>
                <a:ea typeface="Verdana"/>
                <a:cs typeface="Verdana"/>
                <a:sym typeface="Verdana"/>
              </a:rPr>
              <a:t>Complete the table.</a:t>
            </a:r>
          </a:p>
          <a:p>
            <a:pPr marL="342900" indent="-342900">
              <a:buAutoNum type="arabicPeriod"/>
            </a:pPr>
            <a:endParaRPr lang="en-US" sz="2400" dirty="0">
              <a:latin typeface="Verdana"/>
              <a:ea typeface="Verdana"/>
              <a:cs typeface="Verdana"/>
              <a:sym typeface="Verdana"/>
            </a:endParaRPr>
          </a:p>
          <a:p>
            <a:pPr marL="342900" indent="-342900">
              <a:buAutoNum type="arabicPeriod"/>
            </a:pPr>
            <a:endParaRPr dirty="0"/>
          </a:p>
        </p:txBody>
      </p:sp>
      <p:sp>
        <p:nvSpPr>
          <p:cNvPr id="230" name="Google Shape;230;p10"/>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E159080-1865-DF45-B4D8-8619913BB6DC}"/>
                  </a:ext>
                </a:extLst>
              </p:cNvPr>
              <p:cNvGraphicFramePr>
                <a:graphicFrameLocks noGrp="1"/>
              </p:cNvGraphicFramePr>
              <p:nvPr>
                <p:extLst>
                  <p:ext uri="{D42A27DB-BD31-4B8C-83A1-F6EECF244321}">
                    <p14:modId xmlns:p14="http://schemas.microsoft.com/office/powerpoint/2010/main" val="2275624365"/>
                  </p:ext>
                </p:extLst>
              </p:nvPr>
            </p:nvGraphicFramePr>
            <p:xfrm>
              <a:off x="4025011" y="2711725"/>
              <a:ext cx="4398010" cy="3341370"/>
            </p:xfrm>
            <a:graphic>
              <a:graphicData uri="http://schemas.openxmlformats.org/drawingml/2006/table">
                <a:tbl>
                  <a:tblPr firstRow="1" firstCol="1" bandRow="1">
                    <a:tableStyleId>{F2DE63D5-997A-4646-A377-4702673A728D}</a:tableStyleId>
                  </a:tblPr>
                  <a:tblGrid>
                    <a:gridCol w="2912110">
                      <a:extLst>
                        <a:ext uri="{9D8B030D-6E8A-4147-A177-3AD203B41FA5}">
                          <a16:colId xmlns:a16="http://schemas.microsoft.com/office/drawing/2014/main" val="2906094420"/>
                        </a:ext>
                      </a:extLst>
                    </a:gridCol>
                    <a:gridCol w="1485900">
                      <a:extLst>
                        <a:ext uri="{9D8B030D-6E8A-4147-A177-3AD203B41FA5}">
                          <a16:colId xmlns:a16="http://schemas.microsoft.com/office/drawing/2014/main" val="3232919190"/>
                        </a:ext>
                      </a:extLst>
                    </a:gridCol>
                  </a:tblGrid>
                  <a:tr h="598170">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Expression</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Value</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950367"/>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smtClean="0">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2</m:t>
                                    </m:r>
                                  </m:e>
                                  <m:sup>
                                    <m:r>
                                      <a:rPr lang="en-US" sz="1800">
                                        <a:solidFill>
                                          <a:schemeClr val="tx1"/>
                                        </a:solidFill>
                                        <a:effectLst/>
                                        <a:latin typeface="Cambria Math" panose="02040503050406030204" pitchFamily="18" charset="0"/>
                                      </a:rPr>
                                      <m:t>4</m:t>
                                    </m:r>
                                  </m:sup>
                                </m:sSup>
                              </m:oMath>
                            </m:oMathPara>
                          </a14:m>
                          <a:endParaRPr lang="en-US" sz="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smtClean="0">
                                    <a:solidFill>
                                      <a:schemeClr val="tx1"/>
                                    </a:solidFill>
                                    <a:effectLst/>
                                    <a:latin typeface="Cambria Math" panose="02040503050406030204" pitchFamily="18" charset="0"/>
                                  </a:rPr>
                                  <m:t>16</m:t>
                                </m:r>
                              </m:oMath>
                            </m:oMathPara>
                          </a14:m>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821832"/>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smtClean="0">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2</m:t>
                                    </m:r>
                                  </m:e>
                                  <m:sup>
                                    <m:r>
                                      <a:rPr lang="en-US" sz="1800">
                                        <a:solidFill>
                                          <a:schemeClr val="tx1"/>
                                        </a:solidFill>
                                        <a:effectLst/>
                                        <a:latin typeface="Cambria Math" panose="02040503050406030204" pitchFamily="18" charset="0"/>
                                      </a:rPr>
                                      <m:t>3</m:t>
                                    </m:r>
                                  </m:sup>
                                </m:sSup>
                              </m:oMath>
                            </m:oMathPara>
                          </a14:m>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solidFill>
                                <a:schemeClr val="tx1"/>
                              </a:solidFill>
                              <a:effectLst/>
                            </a:rPr>
                            <a:t> </a:t>
                          </a:r>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199449"/>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smtClean="0">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2</m:t>
                                    </m:r>
                                  </m:e>
                                  <m:sup>
                                    <m:r>
                                      <a:rPr lang="en-US" sz="1800">
                                        <a:solidFill>
                                          <a:schemeClr val="tx1"/>
                                        </a:solidFill>
                                        <a:effectLst/>
                                        <a:latin typeface="Cambria Math" panose="02040503050406030204" pitchFamily="18" charset="0"/>
                                      </a:rPr>
                                      <m:t>2</m:t>
                                    </m:r>
                                  </m:sup>
                                </m:sSup>
                              </m:oMath>
                            </m:oMathPara>
                          </a14:m>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solidFill>
                                <a:schemeClr val="tx1"/>
                              </a:solidFill>
                              <a:effectLst/>
                            </a:rPr>
                            <a:t> </a:t>
                          </a:r>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4025499"/>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smtClean="0">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2</m:t>
                                    </m:r>
                                  </m:e>
                                  <m:sup>
                                    <m:r>
                                      <a:rPr lang="en-US" sz="1800">
                                        <a:solidFill>
                                          <a:schemeClr val="tx1"/>
                                        </a:solidFill>
                                        <a:effectLst/>
                                        <a:latin typeface="Cambria Math" panose="02040503050406030204" pitchFamily="18" charset="0"/>
                                      </a:rPr>
                                      <m:t>1</m:t>
                                    </m:r>
                                  </m:sup>
                                </m:sSup>
                              </m:oMath>
                            </m:oMathPara>
                          </a14:m>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solidFill>
                                <a:schemeClr val="tx1"/>
                              </a:solidFill>
                              <a:effectLst/>
                            </a:rPr>
                            <a:t> </a:t>
                          </a:r>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895420"/>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smtClean="0">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2</m:t>
                                    </m:r>
                                  </m:e>
                                  <m:sup>
                                    <m:r>
                                      <a:rPr lang="en-US" sz="1800">
                                        <a:solidFill>
                                          <a:schemeClr val="tx1"/>
                                        </a:solidFill>
                                        <a:effectLst/>
                                        <a:latin typeface="Cambria Math" panose="02040503050406030204" pitchFamily="18" charset="0"/>
                                      </a:rPr>
                                      <m:t>0</m:t>
                                    </m:r>
                                  </m:sup>
                                </m:sSup>
                              </m:oMath>
                            </m:oMathPara>
                          </a14:m>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solidFill>
                                <a:schemeClr val="tx1"/>
                              </a:solidFill>
                              <a:effectLst/>
                            </a:rPr>
                            <a:t> </a:t>
                          </a:r>
                          <a:endParaRPr lang="en-US" sz="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3457683"/>
                      </a:ext>
                    </a:extLst>
                  </a:tr>
                </a:tbl>
              </a:graphicData>
            </a:graphic>
          </p:graphicFrame>
        </mc:Choice>
        <mc:Fallback xmlns="">
          <p:graphicFrame>
            <p:nvGraphicFramePr>
              <p:cNvPr id="2" name="Table 1">
                <a:extLst>
                  <a:ext uri="{FF2B5EF4-FFF2-40B4-BE49-F238E27FC236}">
                    <a16:creationId xmlns:a16="http://schemas.microsoft.com/office/drawing/2014/main" id="{BE159080-1865-DF45-B4D8-8619913BB6DC}"/>
                  </a:ext>
                </a:extLst>
              </p:cNvPr>
              <p:cNvGraphicFramePr>
                <a:graphicFrameLocks noGrp="1"/>
              </p:cNvGraphicFramePr>
              <p:nvPr>
                <p:extLst>
                  <p:ext uri="{D42A27DB-BD31-4B8C-83A1-F6EECF244321}">
                    <p14:modId xmlns:p14="http://schemas.microsoft.com/office/powerpoint/2010/main" val="2275624365"/>
                  </p:ext>
                </p:extLst>
              </p:nvPr>
            </p:nvGraphicFramePr>
            <p:xfrm>
              <a:off x="2501011" y="2711725"/>
              <a:ext cx="4398010" cy="3341370"/>
            </p:xfrm>
            <a:graphic>
              <a:graphicData uri="http://schemas.openxmlformats.org/drawingml/2006/table">
                <a:tbl>
                  <a:tblPr firstRow="1" firstCol="1" bandRow="1">
                    <a:tableStyleId>{F2DE63D5-997A-4646-A377-4702673A728D}</a:tableStyleId>
                  </a:tblPr>
                  <a:tblGrid>
                    <a:gridCol w="2912110">
                      <a:extLst>
                        <a:ext uri="{9D8B030D-6E8A-4147-A177-3AD203B41FA5}">
                          <a16:colId xmlns:a16="http://schemas.microsoft.com/office/drawing/2014/main" val="2906094420"/>
                        </a:ext>
                      </a:extLst>
                    </a:gridCol>
                    <a:gridCol w="1485900">
                      <a:extLst>
                        <a:ext uri="{9D8B030D-6E8A-4147-A177-3AD203B41FA5}">
                          <a16:colId xmlns:a16="http://schemas.microsoft.com/office/drawing/2014/main" val="3232919190"/>
                        </a:ext>
                      </a:extLst>
                    </a:gridCol>
                  </a:tblGrid>
                  <a:tr h="598170">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Expression</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Value</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950367"/>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09091" r="-51739" b="-39772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4915" t="-109091" r="-847" b="-397727"/>
                          </a:stretch>
                        </a:blipFill>
                      </a:tcPr>
                    </a:tc>
                    <a:extLst>
                      <a:ext uri="{0D108BD9-81ED-4DB2-BD59-A6C34878D82A}">
                        <a16:rowId xmlns:a16="http://schemas.microsoft.com/office/drawing/2014/main" val="801821832"/>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13953" r="-51739" b="-306977"/>
                          </a:stretch>
                        </a:blipFill>
                      </a:tcPr>
                    </a:tc>
                    <a:tc>
                      <a:txBody>
                        <a:bodyPr/>
                        <a:lstStyle/>
                        <a:p>
                          <a:pPr marL="0" marR="0" algn="ctr">
                            <a:spcBef>
                              <a:spcPts val="0"/>
                            </a:spcBef>
                            <a:spcAft>
                              <a:spcPts val="0"/>
                            </a:spcAft>
                          </a:pPr>
                          <a:r>
                            <a:rPr lang="en-US" sz="1800">
                              <a:solidFill>
                                <a:schemeClr val="tx1"/>
                              </a:solidFill>
                              <a:effectLst/>
                            </a:rPr>
                            <a:t> </a:t>
                          </a:r>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199449"/>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313953" r="-51739" b="-206977"/>
                          </a:stretch>
                        </a:blipFill>
                      </a:tcPr>
                    </a:tc>
                    <a:tc>
                      <a:txBody>
                        <a:bodyPr/>
                        <a:lstStyle/>
                        <a:p>
                          <a:pPr marL="0" marR="0" algn="ctr">
                            <a:spcBef>
                              <a:spcPts val="0"/>
                            </a:spcBef>
                            <a:spcAft>
                              <a:spcPts val="0"/>
                            </a:spcAft>
                          </a:pPr>
                          <a:r>
                            <a:rPr lang="en-US" sz="1800">
                              <a:solidFill>
                                <a:schemeClr val="tx1"/>
                              </a:solidFill>
                              <a:effectLst/>
                            </a:rPr>
                            <a:t> </a:t>
                          </a:r>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4025499"/>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404545" r="-51739" b="-102273"/>
                          </a:stretch>
                        </a:blipFill>
                      </a:tcPr>
                    </a:tc>
                    <a:tc>
                      <a:txBody>
                        <a:bodyPr/>
                        <a:lstStyle/>
                        <a:p>
                          <a:pPr marL="0" marR="0" algn="ctr">
                            <a:spcBef>
                              <a:spcPts val="0"/>
                            </a:spcBef>
                            <a:spcAft>
                              <a:spcPts val="0"/>
                            </a:spcAft>
                          </a:pPr>
                          <a:r>
                            <a:rPr lang="en-US" sz="1800">
                              <a:solidFill>
                                <a:schemeClr val="tx1"/>
                              </a:solidFill>
                              <a:effectLst/>
                            </a:rPr>
                            <a:t> </a:t>
                          </a:r>
                          <a:endParaRPr lang="en-US" sz="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895420"/>
                      </a:ext>
                    </a:extLst>
                  </a:tr>
                  <a:tr h="548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516279" r="-51739" b="-4651"/>
                          </a:stretch>
                        </a:blipFill>
                      </a:tcPr>
                    </a:tc>
                    <a:tc>
                      <a:txBody>
                        <a:bodyPr/>
                        <a:lstStyle/>
                        <a:p>
                          <a:pPr marL="0" marR="0" algn="ctr">
                            <a:spcBef>
                              <a:spcPts val="0"/>
                            </a:spcBef>
                            <a:spcAft>
                              <a:spcPts val="0"/>
                            </a:spcAft>
                          </a:pPr>
                          <a:r>
                            <a:rPr lang="en-US" sz="1800" dirty="0">
                              <a:solidFill>
                                <a:schemeClr val="tx1"/>
                              </a:solidFill>
                              <a:effectLst/>
                            </a:rPr>
                            <a:t> </a:t>
                          </a:r>
                          <a:endParaRPr lang="en-US" sz="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3457683"/>
                      </a:ext>
                    </a:extLst>
                  </a:tr>
                </a:tbl>
              </a:graphicData>
            </a:graphic>
          </p:graphicFrame>
        </mc:Fallback>
      </mc:AlternateContent>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2007765" y="374090"/>
            <a:ext cx="8327136" cy="4524275"/>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Describe any mathematical pattern(s) you notice regarding how the values of the expressions change as the exponent changes. </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indent="466725"/>
            <a:r>
              <a:rPr lang="en-US" sz="2400" dirty="0">
                <a:latin typeface="Verdana" panose="020B0604030504040204" pitchFamily="34" charset="0"/>
                <a:ea typeface="Verdana" panose="020B0604030504040204" pitchFamily="34" charset="0"/>
                <a:cs typeface="Verdana" panose="020B0604030504040204" pitchFamily="34" charset="0"/>
              </a:rPr>
              <a:t>As the exponent                       by 1, the value</a:t>
            </a:r>
          </a:p>
          <a:p>
            <a:pPr indent="466725"/>
            <a:endParaRPr lang="en-US" sz="2400" dirty="0">
              <a:latin typeface="Verdana" panose="020B0604030504040204" pitchFamily="34" charset="0"/>
              <a:ea typeface="Verdana" panose="020B0604030504040204" pitchFamily="34" charset="0"/>
              <a:cs typeface="Verdana" panose="020B0604030504040204" pitchFamily="34" charset="0"/>
            </a:endParaRPr>
          </a:p>
          <a:p>
            <a:pPr indent="466725"/>
            <a:r>
              <a:rPr lang="en-US" sz="2400" dirty="0">
                <a:latin typeface="Verdana" panose="020B0604030504040204" pitchFamily="34" charset="0"/>
                <a:ea typeface="Verdana" panose="020B0604030504040204" pitchFamily="34" charset="0"/>
                <a:cs typeface="Verdana" panose="020B0604030504040204" pitchFamily="34" charset="0"/>
              </a:rPr>
              <a:t>of the expression can be found by</a:t>
            </a:r>
          </a:p>
          <a:p>
            <a:pPr indent="466725"/>
            <a:endParaRPr lang="en-US" sz="2400" dirty="0">
              <a:latin typeface="Verdana" panose="020B0604030504040204" pitchFamily="34" charset="0"/>
              <a:ea typeface="Verdana" panose="020B0604030504040204" pitchFamily="34" charset="0"/>
              <a:cs typeface="Verdana" panose="020B0604030504040204" pitchFamily="34" charset="0"/>
            </a:endParaRPr>
          </a:p>
          <a:p>
            <a:pPr indent="466725"/>
            <a:r>
              <a:rPr lang="en-US" sz="2400" dirty="0">
                <a:latin typeface="Verdana" panose="020B0604030504040204" pitchFamily="34" charset="0"/>
                <a:ea typeface="Verdana" panose="020B0604030504040204" pitchFamily="34" charset="0"/>
                <a:cs typeface="Verdana" panose="020B0604030504040204" pitchFamily="34" charset="0"/>
              </a:rPr>
              <a:t>the previous value by  </a:t>
            </a:r>
          </a:p>
        </p:txBody>
      </p:sp>
      <p:sp>
        <p:nvSpPr>
          <p:cNvPr id="239" name="Google Shape;239;p11"/>
          <p:cNvSpPr/>
          <p:nvPr/>
        </p:nvSpPr>
        <p:spPr>
          <a:xfrm>
            <a:off x="7368"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7" name="Picture 6" descr="A picture containing diagram&#10;&#10;Description automatically generated">
            <a:extLst>
              <a:ext uri="{FF2B5EF4-FFF2-40B4-BE49-F238E27FC236}">
                <a16:creationId xmlns:a16="http://schemas.microsoft.com/office/drawing/2014/main" id="{31C56008-7A9D-B84D-80BA-0A87CF031900}"/>
              </a:ext>
            </a:extLst>
          </p:cNvPr>
          <p:cNvPicPr>
            <a:picLocks noChangeAspect="1"/>
          </p:cNvPicPr>
          <p:nvPr/>
        </p:nvPicPr>
        <p:blipFill>
          <a:blip r:embed="rId3"/>
          <a:stretch>
            <a:fillRect/>
          </a:stretch>
        </p:blipFill>
        <p:spPr>
          <a:xfrm>
            <a:off x="5159828" y="2687826"/>
            <a:ext cx="2242272" cy="948654"/>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79803773-5ADB-814C-BC50-8D374F910BE5}"/>
              </a:ext>
            </a:extLst>
          </p:cNvPr>
          <p:cNvPicPr>
            <a:picLocks noChangeAspect="1"/>
          </p:cNvPicPr>
          <p:nvPr/>
        </p:nvPicPr>
        <p:blipFill>
          <a:blip r:embed="rId4"/>
          <a:stretch>
            <a:fillRect/>
          </a:stretch>
        </p:blipFill>
        <p:spPr>
          <a:xfrm>
            <a:off x="7856361" y="3461041"/>
            <a:ext cx="2242274" cy="948654"/>
          </a:xfrm>
          <a:prstGeom prst="rect">
            <a:avLst/>
          </a:prstGeom>
        </p:spPr>
      </p:pic>
      <p:pic>
        <p:nvPicPr>
          <p:cNvPr id="13" name="Picture 12" descr="Shape&#10;&#10;Description automatically generated with low confidence">
            <a:extLst>
              <a:ext uri="{FF2B5EF4-FFF2-40B4-BE49-F238E27FC236}">
                <a16:creationId xmlns:a16="http://schemas.microsoft.com/office/drawing/2014/main" id="{E3F52F6D-706C-7A45-ABA5-7D232E9195DE}"/>
              </a:ext>
            </a:extLst>
          </p:cNvPr>
          <p:cNvPicPr>
            <a:picLocks noChangeAspect="1"/>
          </p:cNvPicPr>
          <p:nvPr/>
        </p:nvPicPr>
        <p:blipFill>
          <a:blip r:embed="rId5"/>
          <a:stretch>
            <a:fillRect/>
          </a:stretch>
        </p:blipFill>
        <p:spPr>
          <a:xfrm>
            <a:off x="5932169" y="4217519"/>
            <a:ext cx="1219200" cy="1460500"/>
          </a:xfrm>
          <a:prstGeom prst="rect">
            <a:avLst/>
          </a:prstGeom>
        </p:spPr>
      </p:pic>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119</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1066800" y="374090"/>
            <a:ext cx="9268101" cy="461665"/>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4. Continue the pattern to complete the table.</a:t>
            </a:r>
            <a:endParaRPr dirty="0"/>
          </a:p>
        </p:txBody>
      </p:sp>
      <p:sp>
        <p:nvSpPr>
          <p:cNvPr id="239" name="Google Shape;239;p11"/>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A picture containing table&#10;&#10;Description automatically generated">
            <a:extLst>
              <a:ext uri="{FF2B5EF4-FFF2-40B4-BE49-F238E27FC236}">
                <a16:creationId xmlns:a16="http://schemas.microsoft.com/office/drawing/2014/main" id="{41E918C2-508B-3E43-8EA3-3139168F5447}"/>
              </a:ext>
            </a:extLst>
          </p:cNvPr>
          <p:cNvPicPr>
            <a:picLocks noChangeAspect="1"/>
          </p:cNvPicPr>
          <p:nvPr/>
        </p:nvPicPr>
        <p:blipFill>
          <a:blip r:embed="rId3"/>
          <a:stretch>
            <a:fillRect/>
          </a:stretch>
        </p:blipFill>
        <p:spPr>
          <a:xfrm>
            <a:off x="3241421" y="992415"/>
            <a:ext cx="5709158" cy="4276271"/>
          </a:xfrm>
          <a:prstGeom prst="rect">
            <a:avLst/>
          </a:prstGeom>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086845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231900" y="374089"/>
                <a:ext cx="9878866" cy="4832052"/>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Compare the values of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What do you notice? </a:t>
                </a:r>
              </a:p>
              <a:p>
                <a:pPr marL="342900" indent="-3429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Compare the values of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1</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−1</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What do you notice?</a:t>
                </a:r>
              </a:p>
              <a:p>
                <a:pPr marL="342900" indent="-3429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With your partner, discuss how you can find the value of any number raised to a negative exponent. Summarize your discussion.</a:t>
                </a:r>
              </a:p>
              <a:p>
                <a:pPr marL="342900" indent="-3429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Based on the discussion with your partner, what is the value of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−4</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lvl="0"/>
                <a:endParaRPr lang="en-US" dirty="0"/>
              </a:p>
              <a:p>
                <a:pPr lvl="0"/>
                <a:endParaRPr dirty="0"/>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231900" y="374089"/>
                <a:ext cx="9878866" cy="4832052"/>
              </a:xfrm>
              <a:prstGeom prst="rect">
                <a:avLst/>
              </a:prstGeom>
              <a:blipFill rotWithShape="0">
                <a:blip r:embed="rId3"/>
                <a:stretch>
                  <a:fillRect l="-679" t="-757"/>
                </a:stretch>
              </a:blipFill>
              <a:ln>
                <a:noFill/>
              </a:ln>
            </p:spPr>
            <p:txBody>
              <a:bodyPr/>
              <a:lstStyle/>
              <a:p>
                <a:r>
                  <a:rPr lang="en-US">
                    <a:noFill/>
                  </a:rPr>
                  <a:t> </a:t>
                </a:r>
              </a:p>
            </p:txBody>
          </p:sp>
        </mc:Fallback>
      </mc:AlternateContent>
      <p:sp>
        <p:nvSpPr>
          <p:cNvPr id="239" name="Google Shape;239;p11"/>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119</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68431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7"/>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97" name="Google Shape;397;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399" name="Google Shape;399;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6" name="Google Shape;406;p28"/>
          <p:cNvSpPr txBox="1"/>
          <p:nvPr/>
        </p:nvSpPr>
        <p:spPr>
          <a:xfrm>
            <a:off x="1326050"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54B5D1"/>
                </a:solidFill>
                <a:latin typeface="Verdana"/>
                <a:ea typeface="Verdana"/>
                <a:cs typeface="Verdana"/>
                <a:sym typeface="Verdana"/>
              </a:rPr>
              <a:t>3.4.4 Bring It Together: Negative Exponents</a:t>
            </a:r>
            <a:endParaRPr dirty="0"/>
          </a:p>
        </p:txBody>
      </p:sp>
      <p:sp>
        <p:nvSpPr>
          <p:cNvPr id="408" name="Google Shape;408;p28"/>
          <p:cNvSpPr txBox="1"/>
          <p:nvPr/>
        </p:nvSpPr>
        <p:spPr>
          <a:xfrm>
            <a:off x="2060448" y="1386026"/>
            <a:ext cx="8327136" cy="4524275"/>
          </a:xfrm>
          <a:prstGeom prst="rect">
            <a:avLst/>
          </a:prstGeom>
          <a:noFill/>
          <a:ln>
            <a:noFill/>
          </a:ln>
        </p:spPr>
        <p:txBody>
          <a:bodyPr spcFirstLastPara="1" wrap="square" lIns="91425" tIns="45700" rIns="91425" bIns="45700" anchor="t" anchorCtr="0">
            <a:spAutoFit/>
          </a:bodyPr>
          <a:lstStyle/>
          <a:p>
            <a:endParaRPr lang="en-US" sz="2400" dirty="0">
              <a:latin typeface="Verdana"/>
              <a:ea typeface="Verdana"/>
              <a:cs typeface="Verdana"/>
              <a:sym typeface="Verdana"/>
            </a:endParaRPr>
          </a:p>
          <a:p>
            <a:endParaRPr lang="en-US" sz="2400" dirty="0">
              <a:latin typeface="Verdana"/>
              <a:ea typeface="Verdana"/>
              <a:cs typeface="Verdana"/>
              <a:sym typeface="Verdana"/>
            </a:endParaRPr>
          </a:p>
          <a:p>
            <a:endParaRPr lang="en-US" sz="2400" dirty="0">
              <a:latin typeface="Verdana"/>
              <a:ea typeface="Verdana"/>
              <a:cs typeface="Verdana"/>
              <a:sym typeface="Verdana"/>
            </a:endParaRPr>
          </a:p>
          <a:p>
            <a:endParaRPr lang="en-US" sz="2400" dirty="0">
              <a:latin typeface="Verdana"/>
              <a:ea typeface="Verdana"/>
              <a:cs typeface="Verdana"/>
              <a:sym typeface="Verdana"/>
            </a:endParaRPr>
          </a:p>
          <a:p>
            <a:pPr marL="342900" indent="-342900">
              <a:buFont typeface="+mj-lt"/>
              <a:buAutoNum type="arabicPeriod"/>
            </a:pPr>
            <a:r>
              <a:rPr lang="en-US" sz="2400" dirty="0">
                <a:latin typeface="Verdana"/>
                <a:ea typeface="Verdana"/>
                <a:cs typeface="Verdana"/>
                <a:sym typeface="Verdana"/>
              </a:rPr>
              <a:t>Complete the statement.</a:t>
            </a:r>
          </a:p>
          <a:p>
            <a:pPr marL="342900" indent="-342900">
              <a:buFont typeface="+mj-lt"/>
              <a:buAutoNum type="arabicPeriod"/>
            </a:pPr>
            <a:endParaRPr lang="en-US" sz="2400" dirty="0">
              <a:latin typeface="Verdana"/>
              <a:ea typeface="Verdana"/>
              <a:cs typeface="Verdana"/>
              <a:sym typeface="Verdana"/>
            </a:endParaRPr>
          </a:p>
          <a:p>
            <a:pPr indent="346075"/>
            <a:r>
              <a:rPr lang="en-US" sz="2400" dirty="0">
                <a:latin typeface="Verdana"/>
                <a:ea typeface="Verdana"/>
                <a:cs typeface="Verdana"/>
                <a:sym typeface="Verdana"/>
              </a:rPr>
              <a:t>A base with a negative exponent can be rewritten</a:t>
            </a:r>
          </a:p>
          <a:p>
            <a:pPr indent="346075"/>
            <a:endParaRPr lang="en-US" sz="2400" dirty="0">
              <a:latin typeface="Verdana"/>
              <a:ea typeface="Verdana"/>
              <a:cs typeface="Verdana"/>
              <a:sym typeface="Verdana"/>
            </a:endParaRPr>
          </a:p>
          <a:p>
            <a:pPr indent="346075"/>
            <a:r>
              <a:rPr lang="en-US" sz="2400" dirty="0">
                <a:latin typeface="Verdana"/>
                <a:ea typeface="Verdana"/>
                <a:cs typeface="Verdana"/>
                <a:sym typeface="Verdana"/>
              </a:rPr>
              <a:t>using the                    of the base with the</a:t>
            </a:r>
          </a:p>
          <a:p>
            <a:pPr indent="346075"/>
            <a:endParaRPr lang="en-US" sz="2400" dirty="0">
              <a:latin typeface="Verdana"/>
              <a:ea typeface="Verdana"/>
              <a:cs typeface="Verdana"/>
              <a:sym typeface="Verdana"/>
            </a:endParaRPr>
          </a:p>
          <a:p>
            <a:pPr indent="346075"/>
            <a:endParaRPr lang="en-US" sz="2400" dirty="0">
              <a:latin typeface="Verdana"/>
              <a:ea typeface="Verdana"/>
              <a:cs typeface="Verdana"/>
              <a:sym typeface="Verdana"/>
            </a:endParaRPr>
          </a:p>
          <a:p>
            <a:pPr indent="346075"/>
            <a:r>
              <a:rPr lang="en-US" dirty="0"/>
              <a:t>                                          </a:t>
            </a:r>
            <a:r>
              <a:rPr lang="en-US" sz="2400" dirty="0">
                <a:latin typeface="Verdana" panose="020B0604030504040204" pitchFamily="34" charset="0"/>
                <a:ea typeface="Verdana" panose="020B0604030504040204" pitchFamily="34" charset="0"/>
                <a:cs typeface="Verdana" panose="020B0604030504040204" pitchFamily="34" charset="0"/>
              </a:rPr>
              <a:t>exponent.</a:t>
            </a:r>
            <a:endParaRPr lang="en-US" dirty="0"/>
          </a:p>
        </p:txBody>
      </p:sp>
      <p:sp>
        <p:nvSpPr>
          <p:cNvPr id="409" name="Google Shape;409;p2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10" name="Google Shape;410;p2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74328" y="287530"/>
            <a:ext cx="749808" cy="749808"/>
          </a:xfrm>
          <a:prstGeom prst="rect">
            <a:avLst/>
          </a:prstGeom>
          <a:noFill/>
          <a:ln>
            <a:noFill/>
          </a:ln>
          <a:effectLst>
            <a:outerShdw blurRad="50800" dist="38100" dir="2700000" algn="tl" rotWithShape="0">
              <a:srgbClr val="000000">
                <a:alpha val="40000"/>
              </a:srgbClr>
            </a:outerShdw>
          </a:effectLst>
        </p:spPr>
      </p:pic>
      <p:grpSp>
        <p:nvGrpSpPr>
          <p:cNvPr id="8" name="Group 7">
            <a:extLst>
              <a:ext uri="{FF2B5EF4-FFF2-40B4-BE49-F238E27FC236}">
                <a16:creationId xmlns:a16="http://schemas.microsoft.com/office/drawing/2014/main" id="{3ED89F60-102D-D247-90CA-21613F6205F6}"/>
              </a:ext>
            </a:extLst>
          </p:cNvPr>
          <p:cNvGrpSpPr/>
          <p:nvPr/>
        </p:nvGrpSpPr>
        <p:grpSpPr>
          <a:xfrm>
            <a:off x="2517936" y="1658575"/>
            <a:ext cx="6629400" cy="1015365"/>
            <a:chOff x="2031300" y="3275735"/>
            <a:chExt cx="6629400" cy="1008525"/>
          </a:xfrm>
        </p:grpSpPr>
        <p:grpSp>
          <p:nvGrpSpPr>
            <p:cNvPr id="9" name="Group 8">
              <a:extLst>
                <a:ext uri="{FF2B5EF4-FFF2-40B4-BE49-F238E27FC236}">
                  <a16:creationId xmlns:a16="http://schemas.microsoft.com/office/drawing/2014/main" id="{70BB81A0-E1FF-2142-93F8-9B1A08061D28}"/>
                </a:ext>
              </a:extLst>
            </p:cNvPr>
            <p:cNvGrpSpPr/>
            <p:nvPr/>
          </p:nvGrpSpPr>
          <p:grpSpPr>
            <a:xfrm>
              <a:off x="2031300" y="3275735"/>
              <a:ext cx="6629400" cy="1008525"/>
              <a:chOff x="2031300" y="3275735"/>
              <a:chExt cx="6629400" cy="1008525"/>
            </a:xfrm>
          </p:grpSpPr>
          <p:sp>
            <p:nvSpPr>
              <p:cNvPr id="10" name="Rectangle 9">
                <a:extLst>
                  <a:ext uri="{FF2B5EF4-FFF2-40B4-BE49-F238E27FC236}">
                    <a16:creationId xmlns:a16="http://schemas.microsoft.com/office/drawing/2014/main" id="{5F253195-86A2-1A43-AD15-71FBFB2E7472}"/>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p:grpSp>
            <p:nvGrpSpPr>
              <p:cNvPr id="11" name="Group 10">
                <a:extLst>
                  <a:ext uri="{FF2B5EF4-FFF2-40B4-BE49-F238E27FC236}">
                    <a16:creationId xmlns:a16="http://schemas.microsoft.com/office/drawing/2014/main" id="{203BDAA6-B0C4-D94F-B29D-557DEE551207}"/>
                  </a:ext>
                </a:extLst>
              </p:cNvPr>
              <p:cNvGrpSpPr/>
              <p:nvPr/>
            </p:nvGrpSpPr>
            <p:grpSpPr>
              <a:xfrm>
                <a:off x="2031300" y="3275735"/>
                <a:ext cx="6629400" cy="1008525"/>
                <a:chOff x="2031300" y="3275735"/>
                <a:chExt cx="6629400" cy="1008525"/>
              </a:xfrm>
            </p:grpSpPr>
            <p:sp>
              <p:nvSpPr>
                <p:cNvPr id="12" name="Rectangle 11">
                  <a:extLst>
                    <a:ext uri="{FF2B5EF4-FFF2-40B4-BE49-F238E27FC236}">
                      <a16:creationId xmlns:a16="http://schemas.microsoft.com/office/drawing/2014/main" id="{EB550A6C-FE65-C346-8FC5-CC7A9E4FB589}"/>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p:grpSp>
              <p:nvGrpSpPr>
                <p:cNvPr id="13" name="Group 12">
                  <a:extLst>
                    <a:ext uri="{FF2B5EF4-FFF2-40B4-BE49-F238E27FC236}">
                      <a16:creationId xmlns:a16="http://schemas.microsoft.com/office/drawing/2014/main" id="{463C3F92-9089-694B-88F6-2AF375500B60}"/>
                    </a:ext>
                  </a:extLst>
                </p:cNvPr>
                <p:cNvGrpSpPr/>
                <p:nvPr/>
              </p:nvGrpSpPr>
              <p:grpSpPr>
                <a:xfrm>
                  <a:off x="2031300" y="3275735"/>
                  <a:ext cx="6629400" cy="1008525"/>
                  <a:chOff x="2031300" y="3275735"/>
                  <a:chExt cx="6629400" cy="1008525"/>
                </a:xfrm>
              </p:grpSpPr>
              <p:sp>
                <p:nvSpPr>
                  <p:cNvPr id="14" name="Rectangle 13">
                    <a:extLst>
                      <a:ext uri="{FF2B5EF4-FFF2-40B4-BE49-F238E27FC236}">
                        <a16:creationId xmlns:a16="http://schemas.microsoft.com/office/drawing/2014/main" id="{5A55735F-8A1F-594E-8D8B-E1B7DD3D3A38}"/>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0101EE33-5222-D84B-AD4C-CBCE503A1BAD}"/>
                      </a:ext>
                    </a:extLst>
                  </p:cNvPr>
                  <p:cNvGrpSpPr/>
                  <p:nvPr/>
                </p:nvGrpSpPr>
                <p:grpSpPr>
                  <a:xfrm>
                    <a:off x="2031300" y="3275735"/>
                    <a:ext cx="6629400" cy="1008525"/>
                    <a:chOff x="2031300" y="3275735"/>
                    <a:chExt cx="6629400" cy="1008525"/>
                  </a:xfrm>
                </p:grpSpPr>
                <p:sp>
                  <p:nvSpPr>
                    <p:cNvPr id="16" name="Rectangle 15">
                      <a:extLst>
                        <a:ext uri="{FF2B5EF4-FFF2-40B4-BE49-F238E27FC236}">
                          <a16:creationId xmlns:a16="http://schemas.microsoft.com/office/drawing/2014/main" id="{A5D2BB16-E8E5-B548-8035-FEA528BE759B}"/>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52E45B9D-5BD8-2D4A-84B4-5E2FD38EB522}"/>
                        </a:ext>
                      </a:extLst>
                    </p:cNvPr>
                    <p:cNvGrpSpPr/>
                    <p:nvPr/>
                  </p:nvGrpSpPr>
                  <p:grpSpPr>
                    <a:xfrm>
                      <a:off x="2031300" y="3275735"/>
                      <a:ext cx="6629400" cy="1008525"/>
                      <a:chOff x="0" y="0"/>
                      <a:chExt cx="6629400" cy="1008525"/>
                    </a:xfrm>
                  </p:grpSpPr>
                  <p:sp>
                    <p:nvSpPr>
                      <p:cNvPr id="18" name="Rectangle 17">
                        <a:extLst>
                          <a:ext uri="{FF2B5EF4-FFF2-40B4-BE49-F238E27FC236}">
                            <a16:creationId xmlns:a16="http://schemas.microsoft.com/office/drawing/2014/main" id="{3B7BD26C-453B-6049-9372-73EA2996159F}"/>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F5C378E4-9BE7-A540-B7F8-CA3B44ECA3A1}"/>
                          </a:ext>
                        </a:extLst>
                      </p:cNvPr>
                      <p:cNvGrpSpPr/>
                      <p:nvPr/>
                    </p:nvGrpSpPr>
                    <p:grpSpPr>
                      <a:xfrm>
                        <a:off x="0" y="0"/>
                        <a:ext cx="6629400" cy="882464"/>
                        <a:chOff x="0" y="0"/>
                        <a:chExt cx="6629400" cy="882464"/>
                      </a:xfrm>
                    </p:grpSpPr>
                    <p:sp>
                      <p:nvSpPr>
                        <p:cNvPr id="21" name="Rectangle 20">
                          <a:extLst>
                            <a:ext uri="{FF2B5EF4-FFF2-40B4-BE49-F238E27FC236}">
                              <a16:creationId xmlns:a16="http://schemas.microsoft.com/office/drawing/2014/main" id="{81A9EA3C-3635-EC44-8676-FCAD989937D9}"/>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p:sp>
                      <p:nvSpPr>
                        <p:cNvPr id="22" name="Rectangle 21">
                          <a:extLst>
                            <a:ext uri="{FF2B5EF4-FFF2-40B4-BE49-F238E27FC236}">
                              <a16:creationId xmlns:a16="http://schemas.microsoft.com/office/drawing/2014/main" id="{8F20C032-A977-1242-BDB7-701F87E18AD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3E28B311-881C-EF4E-A757-9454F5135AF0}"/>
                                </a:ext>
                              </a:extLst>
                            </p:cNvPr>
                            <p:cNvSpPr/>
                            <p:nvPr/>
                          </p:nvSpPr>
                          <p:spPr>
                            <a:xfrm>
                              <a:off x="0" y="0"/>
                              <a:ext cx="6629400" cy="882464"/>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Expressions with </a:t>
                              </a:r>
                              <a:r>
                                <a:rPr lang="en-US" sz="18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negative exponents</a:t>
                              </a: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can be expressed with positive exponents:</a:t>
                              </a:r>
                              <a:r>
                                <a:rPr lang="en-US" sz="18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𝑎</m:t>
                                      </m:r>
                                    </m:sup>
                                  </m:sSup>
                                  <m: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𝑎</m:t>
                                          </m:r>
                                        </m:sup>
                                      </m:sSup>
                                    </m:den>
                                  </m:f>
                                </m:oMath>
                              </a14:m>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p:txBody>
                        </p:sp>
                      </mc:Choice>
                      <mc:Fallback xmlns="">
                        <p:sp>
                          <p:nvSpPr>
                            <p:cNvPr id="23" name="Rounded Rectangle 22">
                              <a:extLst>
                                <a:ext uri="{FF2B5EF4-FFF2-40B4-BE49-F238E27FC236}">
                                  <a16:creationId xmlns:a16="http://schemas.microsoft.com/office/drawing/2014/main" id="{3E28B311-881C-EF4E-A757-9454F5135AF0}"/>
                                </a:ext>
                              </a:extLst>
                            </p:cNvPr>
                            <p:cNvSpPr>
                              <a:spLocks noRot="1" noChangeAspect="1" noMove="1" noResize="1" noEditPoints="1" noAdjustHandles="1" noChangeArrowheads="1" noChangeShapeType="1" noTextEdit="1"/>
                            </p:cNvSpPr>
                            <p:nvPr/>
                          </p:nvSpPr>
                          <p:spPr>
                            <a:xfrm>
                              <a:off x="0" y="0"/>
                              <a:ext cx="6629400" cy="882464"/>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grpSp>
                  <p:pic>
                    <p:nvPicPr>
                      <p:cNvPr id="20" name="Shape 31" descr="Icon&#10;&#10;Description automatically generated">
                        <a:extLst>
                          <a:ext uri="{FF2B5EF4-FFF2-40B4-BE49-F238E27FC236}">
                            <a16:creationId xmlns:a16="http://schemas.microsoft.com/office/drawing/2014/main" id="{DE3E4894-C036-7F49-B04B-5E3EEFF64AF9}"/>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83914" y="140504"/>
                        <a:ext cx="539750" cy="539750"/>
                      </a:xfrm>
                      <a:prstGeom prst="rect">
                        <a:avLst/>
                      </a:prstGeom>
                      <a:noFill/>
                      <a:ln>
                        <a:noFill/>
                      </a:ln>
                    </p:spPr>
                  </p:pic>
                </p:grpSp>
              </p:grpSp>
            </p:grpSp>
          </p:grpSp>
        </p:grpSp>
      </p:grpSp>
      <p:pic>
        <p:nvPicPr>
          <p:cNvPr id="3" name="Picture 2" descr="Shape&#10;&#10;Description automatically generated with low confidence">
            <a:extLst>
              <a:ext uri="{FF2B5EF4-FFF2-40B4-BE49-F238E27FC236}">
                <a16:creationId xmlns:a16="http://schemas.microsoft.com/office/drawing/2014/main" id="{4378ADB3-5715-B448-9BD9-D5B57925204B}"/>
              </a:ext>
            </a:extLst>
          </p:cNvPr>
          <p:cNvPicPr>
            <a:picLocks noChangeAspect="1"/>
          </p:cNvPicPr>
          <p:nvPr/>
        </p:nvPicPr>
        <p:blipFill>
          <a:blip r:embed="rId7"/>
          <a:stretch>
            <a:fillRect/>
          </a:stretch>
        </p:blipFill>
        <p:spPr>
          <a:xfrm>
            <a:off x="3970564" y="4147542"/>
            <a:ext cx="2038472" cy="902607"/>
          </a:xfrm>
          <a:prstGeom prst="rect">
            <a:avLst/>
          </a:prstGeom>
        </p:spPr>
      </p:pic>
      <p:pic>
        <p:nvPicPr>
          <p:cNvPr id="27" name="Picture 26" descr="Shape&#10;&#10;Description automatically generated with low confidence">
            <a:extLst>
              <a:ext uri="{FF2B5EF4-FFF2-40B4-BE49-F238E27FC236}">
                <a16:creationId xmlns:a16="http://schemas.microsoft.com/office/drawing/2014/main" id="{B71F805C-BF71-6D43-AF79-F91E7A40EA07}"/>
              </a:ext>
            </a:extLst>
          </p:cNvPr>
          <p:cNvPicPr>
            <a:picLocks noChangeAspect="1"/>
          </p:cNvPicPr>
          <p:nvPr/>
        </p:nvPicPr>
        <p:blipFill>
          <a:blip r:embed="rId7"/>
          <a:stretch>
            <a:fillRect/>
          </a:stretch>
        </p:blipFill>
        <p:spPr>
          <a:xfrm>
            <a:off x="2464103" y="5173874"/>
            <a:ext cx="2038472" cy="902607"/>
          </a:xfrm>
          <a:prstGeom prst="rect">
            <a:avLst/>
          </a:prstGeom>
        </p:spPr>
      </p:pic>
      <p:sp>
        <p:nvSpPr>
          <p:cNvPr id="26"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120</a:t>
            </a:r>
            <a:endParaRPr i="1" dirty="0">
              <a:latin typeface="Calibri"/>
              <a:ea typeface="Calibri"/>
              <a:cs typeface="Calibri"/>
              <a:sym typeface="Calibri"/>
            </a:endParaRPr>
          </a:p>
        </p:txBody>
      </p:sp>
      <p:pic>
        <p:nvPicPr>
          <p:cNvPr id="28"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8" name="Google Shape;418;p29"/>
          <p:cNvSpPr txBox="1"/>
          <p:nvPr/>
        </p:nvSpPr>
        <p:spPr>
          <a:xfrm>
            <a:off x="1193800" y="435049"/>
            <a:ext cx="9065768" cy="67706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a:ea typeface="Verdana"/>
                <a:cs typeface="Verdana"/>
                <a:sym typeface="Verdana"/>
              </a:rPr>
              <a:t>Complete the table.</a:t>
            </a:r>
          </a:p>
          <a:p>
            <a:pPr marL="457200" indent="-457200">
              <a:buFont typeface="+mj-lt"/>
              <a:buAutoNum type="arabicPeriod" startAt="2"/>
            </a:pPr>
            <a:endParaRPr dirty="0"/>
          </a:p>
        </p:txBody>
      </p:sp>
      <p:sp>
        <p:nvSpPr>
          <p:cNvPr id="419" name="Google Shape;419;p29"/>
          <p:cNvSpPr/>
          <p:nvPr/>
        </p:nvSpPr>
        <p:spPr>
          <a:xfrm>
            <a:off x="-6679"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 name="Picture 3" descr="Table&#10;&#10;Description automatically generated">
            <a:extLst>
              <a:ext uri="{FF2B5EF4-FFF2-40B4-BE49-F238E27FC236}">
                <a16:creationId xmlns:a16="http://schemas.microsoft.com/office/drawing/2014/main" id="{BB25CC13-9AC4-694A-9F83-D9B3609A0F50}"/>
              </a:ext>
            </a:extLst>
          </p:cNvPr>
          <p:cNvPicPr>
            <a:picLocks noChangeAspect="1"/>
          </p:cNvPicPr>
          <p:nvPr/>
        </p:nvPicPr>
        <p:blipFill>
          <a:blip r:embed="rId3"/>
          <a:stretch>
            <a:fillRect/>
          </a:stretch>
        </p:blipFill>
        <p:spPr>
          <a:xfrm>
            <a:off x="2822414" y="1076779"/>
            <a:ext cx="4646161" cy="4615543"/>
          </a:xfrm>
          <a:prstGeom prst="rect">
            <a:avLst/>
          </a:prstGeom>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9" name="Google Shape;419;p29"/>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7" name="Group 6">
            <a:extLst>
              <a:ext uri="{FF2B5EF4-FFF2-40B4-BE49-F238E27FC236}">
                <a16:creationId xmlns:a16="http://schemas.microsoft.com/office/drawing/2014/main" id="{AC4571B0-3105-2E4B-98A3-F8216F0D9902}"/>
              </a:ext>
            </a:extLst>
          </p:cNvPr>
          <p:cNvGrpSpPr/>
          <p:nvPr/>
        </p:nvGrpSpPr>
        <p:grpSpPr>
          <a:xfrm>
            <a:off x="2781300" y="1080242"/>
            <a:ext cx="6629400" cy="1663700"/>
            <a:chOff x="2031300" y="3373600"/>
            <a:chExt cx="6629400" cy="1663700"/>
          </a:xfrm>
        </p:grpSpPr>
        <p:sp>
          <p:nvSpPr>
            <p:cNvPr id="8" name="Rectangle 7">
              <a:extLst>
                <a:ext uri="{FF2B5EF4-FFF2-40B4-BE49-F238E27FC236}">
                  <a16:creationId xmlns:a16="http://schemas.microsoft.com/office/drawing/2014/main" id="{315BCBCF-79DB-5341-8BB2-058815D5CD0D}"/>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p:grpSp>
          <p:nvGrpSpPr>
            <p:cNvPr id="9" name="Group 8">
              <a:extLst>
                <a:ext uri="{FF2B5EF4-FFF2-40B4-BE49-F238E27FC236}">
                  <a16:creationId xmlns:a16="http://schemas.microsoft.com/office/drawing/2014/main" id="{C1C7DBD7-5608-1E4C-A392-BD5E1E61FBA7}"/>
                </a:ext>
              </a:extLst>
            </p:cNvPr>
            <p:cNvGrpSpPr/>
            <p:nvPr/>
          </p:nvGrpSpPr>
          <p:grpSpPr>
            <a:xfrm>
              <a:off x="2031300" y="3373600"/>
              <a:ext cx="6629400" cy="1663700"/>
              <a:chOff x="0" y="0"/>
              <a:chExt cx="6629400" cy="1663700"/>
            </a:xfrm>
          </p:grpSpPr>
          <p:sp>
            <p:nvSpPr>
              <p:cNvPr id="10" name="Rectangle 9">
                <a:extLst>
                  <a:ext uri="{FF2B5EF4-FFF2-40B4-BE49-F238E27FC236}">
                    <a16:creationId xmlns:a16="http://schemas.microsoft.com/office/drawing/2014/main" id="{47BDC64C-E1C6-3849-991C-237804ADD138}"/>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6DABE1F3-CDCB-F343-B7A0-5D7AFEE80982}"/>
                      </a:ext>
                    </a:extLst>
                  </p:cNvPr>
                  <p:cNvSpPr/>
                  <p:nvPr/>
                </p:nvSpPr>
                <p:spPr>
                  <a:xfrm>
                    <a:off x="0" y="0"/>
                    <a:ext cx="6629400" cy="166370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Negative Exponent Law</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marL="685800">
                      <a:spcAft>
                        <a:spcPts val="1000"/>
                      </a:spcAft>
                    </a:pPr>
                    <a14:m>
                      <m:oMath xmlns:m="http://schemas.openxmlformats.org/officeDocument/2006/math">
                        <m:sSup>
                          <m:sSupPr>
                            <m:ctrlP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ctrlPr>
                          </m:sSupPr>
                          <m:e>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e>
                          <m:sup>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−1</m:t>
                            </m:r>
                          </m:sup>
                        </m:sSup>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 </m:t>
                        </m:r>
                        <m:f>
                          <m:fPr>
                            <m:ctrlP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ctrlPr>
                          </m:fPr>
                          <m:num>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1</m:t>
                            </m:r>
                          </m:num>
                          <m:den>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den>
                        </m:f>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f>
                          <m:fPr>
                            <m:ctrlP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m:t>
                            </m:r>
                          </m:num>
                          <m:den>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den>
                        </m:f>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e>
                          <m:sup>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m:t>
                            </m:r>
                          </m:sup>
                        </m:sSup>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marL="685800">
                      <a:spcAft>
                        <a:spcPts val="1000"/>
                      </a:spcAft>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where </a:t>
                    </a:r>
                    <a14:m>
                      <m:oMath xmlns:m="http://schemas.openxmlformats.org/officeDocument/2006/math">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oMath>
                    </a14:m>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is any nonzero real number</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p:txBody>
              </p:sp>
            </mc:Choice>
            <mc:Fallback xmlns="">
              <p:sp>
                <p:nvSpPr>
                  <p:cNvPr id="11" name="Rounded Rectangle 10">
                    <a:extLst>
                      <a:ext uri="{FF2B5EF4-FFF2-40B4-BE49-F238E27FC236}">
                        <a16:creationId xmlns:a16="http://schemas.microsoft.com/office/drawing/2014/main" id="{6DABE1F3-CDCB-F343-B7A0-5D7AFEE80982}"/>
                      </a:ext>
                    </a:extLst>
                  </p:cNvPr>
                  <p:cNvSpPr>
                    <a:spLocks noRot="1" noChangeAspect="1" noMove="1" noResize="1" noEditPoints="1" noAdjustHandles="1" noChangeArrowheads="1" noChangeShapeType="1" noTextEdit="1"/>
                  </p:cNvSpPr>
                  <p:nvPr/>
                </p:nvSpPr>
                <p:spPr>
                  <a:xfrm>
                    <a:off x="0" y="0"/>
                    <a:ext cx="6629400" cy="1663700"/>
                  </a:xfrm>
                  <a:prstGeom prst="roundRect">
                    <a:avLst>
                      <a:gd name="adj" fmla="val 16667"/>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2" name="Shape 7" descr="Icon&#10;&#10;Description automatically generated">
                <a:extLst>
                  <a:ext uri="{FF2B5EF4-FFF2-40B4-BE49-F238E27FC236}">
                    <a16:creationId xmlns:a16="http://schemas.microsoft.com/office/drawing/2014/main" id="{EB538BD3-0645-5449-A98A-805EABFC65DC}"/>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92367"/>
                <a:ext cx="539750" cy="539750"/>
              </a:xfrm>
              <a:prstGeom prst="rect">
                <a:avLst/>
              </a:prstGeom>
              <a:noFill/>
              <a:ln>
                <a:noFill/>
              </a:ln>
            </p:spPr>
          </p:pic>
        </p:grpSp>
      </p:grpSp>
      <p:sp>
        <p:nvSpPr>
          <p:cNvPr id="13"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120</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17302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1"/>
          <p:cNvSpPr/>
          <p:nvPr/>
        </p:nvSpPr>
        <p:spPr>
          <a:xfrm>
            <a:off x="0" y="-4055"/>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7" name="Google Shape;33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39" name="Google Shape;33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2"/>
          <p:cNvSpPr txBox="1"/>
          <p:nvPr/>
        </p:nvSpPr>
        <p:spPr>
          <a:xfrm>
            <a:off x="1372960"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3.4.5 Guided Practice: Rewriting Negative Exponents</a:t>
            </a:r>
            <a:endParaRPr dirty="0"/>
          </a:p>
        </p:txBody>
      </p:sp>
      <p:pic>
        <p:nvPicPr>
          <p:cNvPr id="348" name="Google Shape;348;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23152" y="315252"/>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49" name="Google Shape;349;p22"/>
              <p:cNvSpPr txBox="1"/>
              <p:nvPr/>
            </p:nvSpPr>
            <p:spPr>
              <a:xfrm>
                <a:off x="1498600" y="1386026"/>
                <a:ext cx="8888984" cy="5072695"/>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Rewrite each expression as an equivalent exponential expression using positive exponents.</a:t>
                </a:r>
              </a:p>
              <a:p>
                <a:endParaRPr lang="en-US" sz="2400" dirty="0">
                  <a:latin typeface="Verdana"/>
                  <a:ea typeface="Verdana"/>
                  <a:cs typeface="Verdana"/>
                  <a:sym typeface="Verdana"/>
                </a:endParaRPr>
              </a:p>
              <a:p>
                <a:pPr marL="457200" indent="-457200">
                  <a:buFont typeface="+mj-lt"/>
                  <a:buAutoNum type="arabicPeriod"/>
                </a:pPr>
                <a:r>
                  <a:rPr lang="en-US" sz="2400" dirty="0">
                    <a:latin typeface="Verdana" panose="020B0604030504040204" pitchFamily="34" charset="0"/>
                    <a:ea typeface="Verdana" panose="020B0604030504040204" pitchFamily="34" charset="0"/>
                  </a:rPr>
                  <a:t> </a:t>
                </a:r>
                <a14:m>
                  <m:oMath xmlns:m="http://schemas.openxmlformats.org/officeDocument/2006/math">
                    <m:sSup>
                      <m:sSupPr>
                        <m:ctrlPr>
                          <a:rPr lang="en-US" sz="2400" i="1">
                            <a:latin typeface="Cambria Math" panose="02040503050406030204" pitchFamily="18" charset="0"/>
                          </a:rPr>
                        </m:ctrlPr>
                      </m:sSupPr>
                      <m:e>
                        <m:r>
                          <a:rPr lang="en-US" sz="2400">
                            <a:latin typeface="Cambria Math" panose="02040503050406030204" pitchFamily="18" charset="0"/>
                          </a:rPr>
                          <m:t>8</m:t>
                        </m:r>
                      </m:e>
                      <m:sup>
                        <m:r>
                          <a:rPr lang="en-US" sz="2400">
                            <a:latin typeface="Cambria Math" panose="02040503050406030204" pitchFamily="18" charset="0"/>
                          </a:rPr>
                          <m:t>−3</m:t>
                        </m:r>
                      </m:sup>
                    </m:sSup>
                    <m:r>
                      <a:rPr lang="en-US" sz="2400">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______</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rPr>
                  <a:t> </a:t>
                </a:r>
                <a14:m>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1</m:t>
                        </m:r>
                      </m:num>
                      <m:den>
                        <m:sSup>
                          <m:sSupPr>
                            <m:ctrlPr>
                              <a:rPr lang="en-US" sz="2400" i="1">
                                <a:latin typeface="Cambria Math" panose="02040503050406030204" pitchFamily="18" charset="0"/>
                              </a:rPr>
                            </m:ctrlPr>
                          </m:sSupPr>
                          <m:e>
                            <m:r>
                              <a:rPr lang="en-US" sz="2400">
                                <a:latin typeface="Cambria Math" panose="02040503050406030204" pitchFamily="18" charset="0"/>
                              </a:rPr>
                              <m:t>−4</m:t>
                            </m:r>
                          </m:e>
                          <m:sup>
                            <m:r>
                              <a:rPr lang="en-US" sz="2400">
                                <a:latin typeface="Cambria Math" panose="02040503050406030204" pitchFamily="18" charset="0"/>
                              </a:rPr>
                              <m:t>−5</m:t>
                            </m:r>
                          </m:sup>
                        </m:sSup>
                      </m:den>
                    </m:f>
                    <m:r>
                      <a:rPr lang="en-US" sz="2400">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______</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rPr>
                  <a:t> </a:t>
                </a:r>
                <a14:m>
                  <m:oMath xmlns:m="http://schemas.openxmlformats.org/officeDocument/2006/math">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−2</m:t>
                            </m:r>
                          </m:e>
                        </m:d>
                      </m:e>
                      <m:sup>
                        <m:r>
                          <a:rPr lang="en-US" sz="2400">
                            <a:latin typeface="Cambria Math" panose="02040503050406030204" pitchFamily="18" charset="0"/>
                          </a:rPr>
                          <m:t>−8</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 ______</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49" name="Google Shape;349;p22"/>
              <p:cNvSpPr txBox="1">
                <a:spLocks noRot="1" noChangeAspect="1" noMove="1" noResize="1" noEditPoints="1" noAdjustHandles="1" noChangeArrowheads="1" noChangeShapeType="1" noTextEdit="1"/>
              </p:cNvSpPr>
              <p:nvPr/>
            </p:nvSpPr>
            <p:spPr>
              <a:xfrm>
                <a:off x="1498600" y="1386026"/>
                <a:ext cx="8888984" cy="5072695"/>
              </a:xfrm>
              <a:prstGeom prst="rect">
                <a:avLst/>
              </a:prstGeom>
              <a:blipFill rotWithShape="0">
                <a:blip r:embed="rId4"/>
                <a:stretch>
                  <a:fillRect l="-1097" t="-960"/>
                </a:stretch>
              </a:blipFill>
              <a:ln>
                <a:noFill/>
              </a:ln>
            </p:spPr>
            <p:txBody>
              <a:bodyPr/>
              <a:lstStyle/>
              <a:p>
                <a:r>
                  <a:rPr lang="en-US">
                    <a:noFill/>
                  </a:rPr>
                  <a:t> </a:t>
                </a:r>
              </a:p>
            </p:txBody>
          </p:sp>
        </mc:Fallback>
      </mc:AlternateContent>
      <p:sp>
        <p:nvSpPr>
          <p:cNvPr id="350" name="Google Shape;350;p22"/>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8" name="Google Shape;448;p32"/>
              <p:cNvSpPr txBox="1"/>
              <p:nvPr/>
            </p:nvSpPr>
            <p:spPr>
              <a:xfrm>
                <a:off x="1932432" y="398473"/>
                <a:ext cx="8327136" cy="3992912"/>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−2</m:t>
                            </m:r>
                          </m:sup>
                        </m:sSup>
                      </m:den>
                    </m:f>
                    <m:r>
                      <a:rPr lang="en-US" sz="2400" i="1">
                        <a:latin typeface="Cambria Math" panose="02040503050406030204" pitchFamily="18" charset="0"/>
                      </a:rPr>
                      <m:t>=</m:t>
                    </m:r>
                    <m:r>
                      <a:rPr lang="en-US" sz="2400">
                        <a:latin typeface="Cambria Math" panose="02040503050406030204" pitchFamily="18" charset="0"/>
                      </a:rPr>
                      <m:t>_________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r>
                  <a:rPr lang="en-US" sz="2400" dirty="0">
                    <a:latin typeface="Verdana" panose="020B0604030504040204" pitchFamily="34" charset="0"/>
                    <a:ea typeface="Verdana" panose="020B0604030504040204" pitchFamily="34" charset="0"/>
                  </a:rPr>
                  <a:t> </a:t>
                </a:r>
                <a14:m>
                  <m:oMath xmlns:m="http://schemas.openxmlformats.org/officeDocument/2006/math">
                    <m:r>
                      <a:rPr lang="en-US" sz="2400" i="1">
                        <a:latin typeface="Cambria Math" panose="02040503050406030204" pitchFamily="18" charset="0"/>
                      </a:rPr>
                      <m:t>−5∙</m:t>
                    </m:r>
                    <m:sSup>
                      <m:sSupPr>
                        <m:ctrlPr>
                          <a:rPr lang="en-US" sz="2400" i="1">
                            <a:latin typeface="Cambria Math" panose="02040503050406030204" pitchFamily="18" charset="0"/>
                          </a:rPr>
                        </m:ctrlPr>
                      </m:sSupPr>
                      <m:e>
                        <m:r>
                          <a:rPr lang="en-US" sz="2400" i="1">
                            <a:latin typeface="Cambria Math" panose="02040503050406030204" pitchFamily="18" charset="0"/>
                          </a:rPr>
                          <m:t>6</m:t>
                        </m:r>
                      </m:e>
                      <m:sup>
                        <m:r>
                          <a:rPr lang="en-US" sz="2400" i="1">
                            <a:latin typeface="Cambria Math" panose="02040503050406030204" pitchFamily="18"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_______  </a:t>
                </a: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r>
                  <a:rPr lang="en-US" sz="2400" dirty="0">
                    <a:latin typeface="Verdana" panose="020B0604030504040204" pitchFamily="34" charset="0"/>
                    <a:ea typeface="Verdana" panose="020B0604030504040204" pitchFamily="34" charset="0"/>
                  </a:rPr>
                  <a:t> </a:t>
                </a:r>
                <a14:m>
                  <m:oMath xmlns:m="http://schemas.openxmlformats.org/officeDocument/2006/math">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−3</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9</m:t>
                            </m:r>
                          </m:e>
                          <m:sup>
                            <m:r>
                              <a:rPr lang="en-US" sz="2400" i="1">
                                <a:latin typeface="Cambria Math" panose="02040503050406030204" pitchFamily="18" charset="0"/>
                              </a:rPr>
                              <m:t>−2</m:t>
                            </m:r>
                          </m:sup>
                        </m:sSup>
                      </m:den>
                    </m:f>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______</a:t>
                </a:r>
              </a:p>
              <a:p>
                <a:endParaRPr lang="en-US" dirty="0"/>
              </a:p>
            </p:txBody>
          </p:sp>
        </mc:Choice>
        <mc:Fallback xmlns="">
          <p:sp>
            <p:nvSpPr>
              <p:cNvPr id="448" name="Google Shape;448;p32"/>
              <p:cNvSpPr txBox="1">
                <a:spLocks noRot="1" noChangeAspect="1" noMove="1" noResize="1" noEditPoints="1" noAdjustHandles="1" noChangeArrowheads="1" noChangeShapeType="1" noTextEdit="1"/>
              </p:cNvSpPr>
              <p:nvPr/>
            </p:nvSpPr>
            <p:spPr>
              <a:xfrm>
                <a:off x="1932432" y="398473"/>
                <a:ext cx="8327136" cy="3992912"/>
              </a:xfrm>
              <a:prstGeom prst="rect">
                <a:avLst/>
              </a:prstGeom>
              <a:blipFill rotWithShape="0">
                <a:blip r:embed="rId3"/>
                <a:stretch>
                  <a:fillRect l="-1171"/>
                </a:stretch>
              </a:blipFill>
              <a:ln>
                <a:noFill/>
              </a:ln>
            </p:spPr>
            <p:txBody>
              <a:bodyPr/>
              <a:lstStyle/>
              <a:p>
                <a:r>
                  <a:rPr lang="en-US">
                    <a:noFill/>
                  </a:rPr>
                  <a:t> </a:t>
                </a:r>
              </a:p>
            </p:txBody>
          </p:sp>
        </mc:Fallback>
      </mc:AlternateContent>
      <p:sp>
        <p:nvSpPr>
          <p:cNvPr id="449" name="Google Shape;449;p32"/>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121</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356498" y="60325"/>
            <a:ext cx="89301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2800" b="1" dirty="0">
                <a:solidFill>
                  <a:srgbClr val="33BEA6"/>
                </a:solidFill>
                <a:latin typeface="Verdana"/>
                <a:ea typeface="Verdana"/>
                <a:cs typeface="Verdana"/>
                <a:sym typeface="Verdana"/>
              </a:rPr>
              <a:t>3.4.6 Collaboration: Applying Other Exponent Laws with Negative Exponents</a:t>
            </a:r>
            <a:endParaRPr sz="1100"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06690" y="322871"/>
            <a:ext cx="749808" cy="749808"/>
          </a:xfrm>
          <a:prstGeom prst="rect">
            <a:avLst/>
          </a:prstGeom>
          <a:noFill/>
          <a:ln>
            <a:noFill/>
          </a:ln>
          <a:effectLst>
            <a:outerShdw blurRad="50800" dist="38100" dir="2700000" algn="tl" rotWithShape="0">
              <a:srgbClr val="000000">
                <a:alpha val="40000"/>
              </a:srgbClr>
            </a:outerShdw>
          </a:effectLst>
        </p:spPr>
      </p:pic>
      <p:sp>
        <p:nvSpPr>
          <p:cNvPr id="199" name="Google Shape;199;p7"/>
          <p:cNvSpPr txBox="1"/>
          <p:nvPr/>
        </p:nvSpPr>
        <p:spPr>
          <a:xfrm>
            <a:off x="1079500" y="1386025"/>
            <a:ext cx="9308084" cy="707846"/>
          </a:xfrm>
          <a:prstGeom prst="rect">
            <a:avLst/>
          </a:prstGeom>
          <a:noFill/>
          <a:ln>
            <a:noFill/>
          </a:ln>
        </p:spPr>
        <p:txBody>
          <a:bodyPr spcFirstLastPara="1" wrap="square" lIns="91425" tIns="45700" rIns="91425" bIns="45700" anchor="t" anchorCtr="0">
            <a:spAutoFit/>
          </a:bodyPr>
          <a:lstStyle/>
          <a:p>
            <a:r>
              <a:rPr lang="en-US" sz="2000" dirty="0">
                <a:latin typeface="Verdana"/>
                <a:ea typeface="Verdana"/>
                <a:cs typeface="Verdana"/>
                <a:sym typeface="Verdana"/>
              </a:rPr>
              <a:t>Work with your partner to complete the following.</a:t>
            </a:r>
          </a:p>
          <a:p>
            <a:endParaRPr lang="en-US" sz="2000" dirty="0">
              <a:latin typeface="Verdana"/>
              <a:ea typeface="Verdana"/>
              <a:cs typeface="Verdana"/>
              <a:sym typeface="Verdana"/>
            </a:endParaRPr>
          </a:p>
        </p:txBody>
      </p:sp>
      <p:sp>
        <p:nvSpPr>
          <p:cNvPr id="200" name="Google Shape;200;p7"/>
          <p:cNvSpPr/>
          <p:nvPr/>
        </p:nvSpPr>
        <p:spPr>
          <a:xfrm>
            <a:off x="-30053"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A881709-E66F-AD49-93F8-036E5F627F0E}"/>
                  </a:ext>
                </a:extLst>
              </p:cNvPr>
              <p:cNvGraphicFramePr>
                <a:graphicFrameLocks noGrp="1"/>
              </p:cNvGraphicFramePr>
              <p:nvPr>
                <p:extLst>
                  <p:ext uri="{D42A27DB-BD31-4B8C-83A1-F6EECF244321}">
                    <p14:modId xmlns:p14="http://schemas.microsoft.com/office/powerpoint/2010/main" val="1726648697"/>
                  </p:ext>
                </p:extLst>
              </p:nvPr>
            </p:nvGraphicFramePr>
            <p:xfrm>
              <a:off x="5795050" y="1892299"/>
              <a:ext cx="4809451" cy="4565501"/>
            </p:xfrm>
            <a:graphic>
              <a:graphicData uri="http://schemas.openxmlformats.org/drawingml/2006/table">
                <a:tbl>
                  <a:tblPr firstRow="1" firstCol="1" bandRow="1">
                    <a:tableStyleId>{F2DE63D5-997A-4646-A377-4702673A728D}</a:tableStyleId>
                  </a:tblPr>
                  <a:tblGrid>
                    <a:gridCol w="1160393">
                      <a:extLst>
                        <a:ext uri="{9D8B030D-6E8A-4147-A177-3AD203B41FA5}">
                          <a16:colId xmlns:a16="http://schemas.microsoft.com/office/drawing/2014/main" val="2986024335"/>
                        </a:ext>
                      </a:extLst>
                    </a:gridCol>
                    <a:gridCol w="1342598">
                      <a:extLst>
                        <a:ext uri="{9D8B030D-6E8A-4147-A177-3AD203B41FA5}">
                          <a16:colId xmlns:a16="http://schemas.microsoft.com/office/drawing/2014/main" val="4262707483"/>
                        </a:ext>
                      </a:extLst>
                    </a:gridCol>
                    <a:gridCol w="1537789">
                      <a:extLst>
                        <a:ext uri="{9D8B030D-6E8A-4147-A177-3AD203B41FA5}">
                          <a16:colId xmlns:a16="http://schemas.microsoft.com/office/drawing/2014/main" val="125711890"/>
                        </a:ext>
                      </a:extLst>
                    </a:gridCol>
                    <a:gridCol w="768671">
                      <a:extLst>
                        <a:ext uri="{9D8B030D-6E8A-4147-A177-3AD203B41FA5}">
                          <a16:colId xmlns:a16="http://schemas.microsoft.com/office/drawing/2014/main" val="3994791576"/>
                        </a:ext>
                      </a:extLst>
                    </a:gridCol>
                  </a:tblGrid>
                  <a:tr h="722597">
                    <a:tc>
                      <a:txBody>
                        <a:bodyPr/>
                        <a:lstStyle/>
                        <a:p>
                          <a:pPr marL="0" marR="0" algn="ctr">
                            <a:spcBef>
                              <a:spcPts val="0"/>
                            </a:spcBef>
                            <a:spcAft>
                              <a:spcPts val="0"/>
                            </a:spcAft>
                          </a:pPr>
                          <a:r>
                            <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Exponential Expression</a:t>
                          </a:r>
                          <a:endParaRPr lang="en-US" sz="6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Apply Negative Exponent Law</a:t>
                          </a:r>
                          <a:endParaRPr lang="en-US" sz="6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Expanded Form</a:t>
                          </a:r>
                          <a:endParaRPr lang="en-US" sz="6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Value</a:t>
                          </a:r>
                          <a:endParaRPr lang="en-US" sz="6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9901519"/>
                      </a:ext>
                    </a:extLst>
                  </a:tr>
                  <a:tr h="1280968">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300" i="1">
                                        <a:effectLst/>
                                        <a:latin typeface="Cambria Math" panose="02040503050406030204" pitchFamily="18" charset="0"/>
                                      </a:rPr>
                                    </m:ctrlPr>
                                  </m:sSupPr>
                                  <m:e>
                                    <m:r>
                                      <a:rPr lang="en-US" sz="1300">
                                        <a:effectLst/>
                                        <a:latin typeface="Cambria Math" panose="02040503050406030204" pitchFamily="18" charset="0"/>
                                      </a:rPr>
                                      <m:t>6</m:t>
                                    </m:r>
                                  </m:e>
                                  <m:sup>
                                    <m:r>
                                      <a:rPr lang="en-US" sz="1300">
                                        <a:effectLst/>
                                        <a:latin typeface="Cambria Math" panose="02040503050406030204" pitchFamily="18" charset="0"/>
                                      </a:rPr>
                                      <m:t>−2</m:t>
                                    </m:r>
                                  </m:sup>
                                </m:sSup>
                                <m:r>
                                  <a:rPr lang="en-US" sz="1300">
                                    <a:effectLst/>
                                    <a:latin typeface="Cambria Math" panose="02040503050406030204" pitchFamily="18" charset="0"/>
                                  </a:rPr>
                                  <m:t>∙</m:t>
                                </m:r>
                                <m:sSup>
                                  <m:sSupPr>
                                    <m:ctrlPr>
                                      <a:rPr lang="en-US" sz="1300" i="1">
                                        <a:effectLst/>
                                        <a:latin typeface="Cambria Math" panose="02040503050406030204" pitchFamily="18" charset="0"/>
                                      </a:rPr>
                                    </m:ctrlPr>
                                  </m:sSupPr>
                                  <m:e>
                                    <m:r>
                                      <a:rPr lang="en-US" sz="1300">
                                        <a:effectLst/>
                                        <a:latin typeface="Cambria Math" panose="02040503050406030204" pitchFamily="18" charset="0"/>
                                      </a:rPr>
                                      <m:t>6</m:t>
                                    </m:r>
                                  </m:e>
                                  <m:sup>
                                    <m:r>
                                      <a:rPr lang="en-US" sz="1300">
                                        <a:effectLst/>
                                        <a:latin typeface="Cambria Math" panose="02040503050406030204" pitchFamily="18" charset="0"/>
                                      </a:rPr>
                                      <m:t>5</m:t>
                                    </m:r>
                                  </m:sup>
                                </m:sSup>
                              </m:oMath>
                            </m:oMathPara>
                          </a14:m>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US" sz="1300" i="1">
                                      <a:effectLst/>
                                      <a:latin typeface="Cambria Math" panose="02040503050406030204" pitchFamily="18" charset="0"/>
                                    </a:rPr>
                                  </m:ctrlPr>
                                </m:fPr>
                                <m:num>
                                  <m:r>
                                    <a:rPr lang="en-US" sz="1300">
                                      <a:effectLst/>
                                      <a:latin typeface="Cambria Math" panose="02040503050406030204" pitchFamily="18" charset="0"/>
                                    </a:rPr>
                                    <m:t>1</m:t>
                                  </m:r>
                                </m:num>
                                <m:den>
                                  <m:sSup>
                                    <m:sSupPr>
                                      <m:ctrlPr>
                                        <a:rPr lang="en-US" sz="1300" i="1">
                                          <a:effectLst/>
                                          <a:latin typeface="Cambria Math" panose="02040503050406030204" pitchFamily="18" charset="0"/>
                                        </a:rPr>
                                      </m:ctrlPr>
                                    </m:sSupPr>
                                    <m:e>
                                      <m:r>
                                        <a:rPr lang="en-US" sz="1300">
                                          <a:effectLst/>
                                          <a:latin typeface="Cambria Math" panose="02040503050406030204" pitchFamily="18" charset="0"/>
                                        </a:rPr>
                                        <m:t>6</m:t>
                                      </m:r>
                                    </m:e>
                                    <m:sup>
                                      <m:r>
                                        <a:rPr lang="en-US" sz="1300">
                                          <a:effectLst/>
                                          <a:latin typeface="Cambria Math" panose="02040503050406030204" pitchFamily="18" charset="0"/>
                                        </a:rPr>
                                        <m:t>2</m:t>
                                      </m:r>
                                    </m:sup>
                                  </m:sSup>
                                </m:den>
                              </m:f>
                              <m:r>
                                <a:rPr lang="en-US" sz="1300">
                                  <a:effectLst/>
                                  <a:latin typeface="Cambria Math" panose="02040503050406030204" pitchFamily="18" charset="0"/>
                                </a:rPr>
                                <m:t>∙</m:t>
                              </m:r>
                              <m:sSup>
                                <m:sSupPr>
                                  <m:ctrlPr>
                                    <a:rPr lang="en-US" sz="1300" i="1">
                                      <a:effectLst/>
                                      <a:latin typeface="Cambria Math" panose="02040503050406030204" pitchFamily="18" charset="0"/>
                                    </a:rPr>
                                  </m:ctrlPr>
                                </m:sSupPr>
                                <m:e>
                                  <m:r>
                                    <a:rPr lang="en-US" sz="1300">
                                      <a:effectLst/>
                                      <a:latin typeface="Cambria Math" panose="02040503050406030204" pitchFamily="18" charset="0"/>
                                    </a:rPr>
                                    <m:t>6</m:t>
                                  </m:r>
                                </m:e>
                                <m:sup>
                                  <m:r>
                                    <a:rPr lang="en-US" sz="1300">
                                      <a:effectLst/>
                                      <a:latin typeface="Cambria Math" panose="02040503050406030204" pitchFamily="18" charset="0"/>
                                    </a:rPr>
                                    <m:t>5</m:t>
                                  </m:r>
                                </m:sup>
                              </m:sSup>
                            </m:oMath>
                          </a14:m>
                          <a:r>
                            <a:rPr lang="en-US" sz="1300" dirty="0">
                              <a:effectLst/>
                            </a:rPr>
                            <a:t> </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14:m>
                            <m:oMath xmlns:m="http://schemas.openxmlformats.org/officeDocument/2006/math">
                              <m:f>
                                <m:fPr>
                                  <m:ctrlPr>
                                    <a:rPr lang="en-US" sz="1300" i="1">
                                      <a:effectLst/>
                                      <a:latin typeface="Cambria Math" panose="02040503050406030204" pitchFamily="18" charset="0"/>
                                    </a:rPr>
                                  </m:ctrlPr>
                                </m:fPr>
                                <m:num>
                                  <m:r>
                                    <a:rPr lang="en-US" sz="1300">
                                      <a:effectLst/>
                                      <a:latin typeface="Cambria Math" panose="02040503050406030204" pitchFamily="18" charset="0"/>
                                    </a:rPr>
                                    <m:t>1</m:t>
                                  </m:r>
                                </m:num>
                                <m:den>
                                  <m:r>
                                    <a:rPr lang="en-US" sz="1300">
                                      <a:effectLst/>
                                      <a:latin typeface="Cambria Math" panose="02040503050406030204" pitchFamily="18" charset="0"/>
                                    </a:rPr>
                                    <m:t>6∙6</m:t>
                                  </m:r>
                                </m:den>
                              </m:f>
                              <m:r>
                                <a:rPr lang="en-US" sz="1300">
                                  <a:effectLst/>
                                  <a:latin typeface="Cambria Math" panose="02040503050406030204" pitchFamily="18" charset="0"/>
                                </a:rPr>
                                <m:t>∙6∙6∙6∙6∙6=</m:t>
                              </m:r>
                              <m:f>
                                <m:fPr>
                                  <m:ctrlPr>
                                    <a:rPr lang="en-US" sz="1300" i="1">
                                      <a:effectLst/>
                                      <a:latin typeface="Cambria Math" panose="02040503050406030204" pitchFamily="18" charset="0"/>
                                    </a:rPr>
                                  </m:ctrlPr>
                                </m:fPr>
                                <m:num>
                                  <m:r>
                                    <a:rPr lang="en-US" sz="1300">
                                      <a:effectLst/>
                                      <a:latin typeface="Cambria Math" panose="02040503050406030204" pitchFamily="18" charset="0"/>
                                    </a:rPr>
                                    <m:t>1</m:t>
                                  </m:r>
                                </m:num>
                                <m:den>
                                  <m:r>
                                    <a:rPr lang="en-US" sz="1300">
                                      <a:effectLst/>
                                      <a:latin typeface="Cambria Math" panose="02040503050406030204" pitchFamily="18" charset="0"/>
                                    </a:rPr>
                                    <m:t>6</m:t>
                                  </m:r>
                                </m:den>
                              </m:f>
                              <m:r>
                                <a:rPr lang="en-US" sz="1300">
                                  <a:effectLst/>
                                  <a:latin typeface="Cambria Math" panose="02040503050406030204" pitchFamily="18" charset="0"/>
                                </a:rPr>
                                <m:t>∙</m:t>
                              </m:r>
                              <m:f>
                                <m:fPr>
                                  <m:ctrlPr>
                                    <a:rPr lang="en-US" sz="1300" i="1">
                                      <a:effectLst/>
                                      <a:latin typeface="Cambria Math" panose="02040503050406030204" pitchFamily="18" charset="0"/>
                                    </a:rPr>
                                  </m:ctrlPr>
                                </m:fPr>
                                <m:num>
                                  <m:r>
                                    <a:rPr lang="en-US" sz="1300">
                                      <a:effectLst/>
                                      <a:latin typeface="Cambria Math" panose="02040503050406030204" pitchFamily="18" charset="0"/>
                                    </a:rPr>
                                    <m:t>1</m:t>
                                  </m:r>
                                </m:num>
                                <m:den>
                                  <m:r>
                                    <a:rPr lang="en-US" sz="1300">
                                      <a:effectLst/>
                                      <a:latin typeface="Cambria Math" panose="02040503050406030204" pitchFamily="18" charset="0"/>
                                    </a:rPr>
                                    <m:t>6</m:t>
                                  </m:r>
                                </m:den>
                              </m:f>
                              <m:r>
                                <a:rPr lang="en-US" sz="1300">
                                  <a:effectLst/>
                                  <a:latin typeface="Cambria Math" panose="02040503050406030204" pitchFamily="18" charset="0"/>
                                </a:rPr>
                                <m:t>∙6∙6∙6∙6∙6</m:t>
                              </m:r>
                            </m:oMath>
                          </a14:m>
                          <a:r>
                            <a:rPr lang="en-US" sz="1300">
                              <a:effectLst/>
                            </a:rPr>
                            <a:t> </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9575646"/>
                      </a:ext>
                    </a:extLst>
                  </a:tr>
                  <a:tr h="1280968">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300" i="1">
                                        <a:effectLst/>
                                        <a:latin typeface="Cambria Math" panose="02040503050406030204" pitchFamily="18" charset="0"/>
                                      </a:rPr>
                                    </m:ctrlPr>
                                  </m:sSupPr>
                                  <m:e>
                                    <m:r>
                                      <a:rPr lang="en-US" sz="1300">
                                        <a:effectLst/>
                                        <a:latin typeface="Cambria Math" panose="02040503050406030204" pitchFamily="18" charset="0"/>
                                      </a:rPr>
                                      <m:t>(−4)</m:t>
                                    </m:r>
                                  </m:e>
                                  <m:sup>
                                    <m:r>
                                      <a:rPr lang="en-US" sz="1300">
                                        <a:effectLst/>
                                        <a:latin typeface="Cambria Math" panose="02040503050406030204" pitchFamily="18" charset="0"/>
                                      </a:rPr>
                                      <m:t>3</m:t>
                                    </m:r>
                                  </m:sup>
                                </m:sSup>
                                <m:r>
                                  <a:rPr lang="en-US" sz="1300">
                                    <a:effectLst/>
                                    <a:latin typeface="Cambria Math" panose="02040503050406030204" pitchFamily="18" charset="0"/>
                                  </a:rPr>
                                  <m:t>∙</m:t>
                                </m:r>
                                <m:sSup>
                                  <m:sSupPr>
                                    <m:ctrlPr>
                                      <a:rPr lang="en-US" sz="1300" i="1">
                                        <a:effectLst/>
                                        <a:latin typeface="Cambria Math" panose="02040503050406030204" pitchFamily="18" charset="0"/>
                                      </a:rPr>
                                    </m:ctrlPr>
                                  </m:sSupPr>
                                  <m:e>
                                    <m:r>
                                      <a:rPr lang="en-US" sz="1300">
                                        <a:effectLst/>
                                        <a:latin typeface="Cambria Math" panose="02040503050406030204" pitchFamily="18" charset="0"/>
                                      </a:rPr>
                                      <m:t>(−4)</m:t>
                                    </m:r>
                                  </m:e>
                                  <m:sup>
                                    <m:r>
                                      <a:rPr lang="en-US" sz="1300">
                                        <a:effectLst/>
                                        <a:latin typeface="Cambria Math" panose="02040503050406030204" pitchFamily="18" charset="0"/>
                                      </a:rPr>
                                      <m:t>−7</m:t>
                                    </m:r>
                                  </m:sup>
                                </m:sSup>
                              </m:oMath>
                            </m:oMathPara>
                          </a14:m>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a:effectLst/>
                            </a:rPr>
                            <a:t> </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a:effectLst/>
                            </a:rPr>
                            <a:t> </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5703131"/>
                      </a:ext>
                    </a:extLst>
                  </a:tr>
                  <a:tr h="1280968">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300" i="1">
                                        <a:effectLst/>
                                        <a:latin typeface="Cambria Math" panose="02040503050406030204" pitchFamily="18" charset="0"/>
                                      </a:rPr>
                                    </m:ctrlPr>
                                  </m:sSupPr>
                                  <m:e>
                                    <m:r>
                                      <a:rPr lang="en-US" sz="1300">
                                        <a:effectLst/>
                                        <a:latin typeface="Cambria Math" panose="02040503050406030204" pitchFamily="18" charset="0"/>
                                      </a:rPr>
                                      <m:t>3</m:t>
                                    </m:r>
                                  </m:e>
                                  <m:sup>
                                    <m:r>
                                      <a:rPr lang="en-US" sz="1300">
                                        <a:effectLst/>
                                        <a:latin typeface="Cambria Math" panose="02040503050406030204" pitchFamily="18" charset="0"/>
                                      </a:rPr>
                                      <m:t>−4</m:t>
                                    </m:r>
                                  </m:sup>
                                </m:sSup>
                                <m:r>
                                  <a:rPr lang="en-US" sz="1300">
                                    <a:effectLst/>
                                    <a:latin typeface="Cambria Math" panose="02040503050406030204" pitchFamily="18" charset="0"/>
                                  </a:rPr>
                                  <m:t>∙</m:t>
                                </m:r>
                                <m:sSup>
                                  <m:sSupPr>
                                    <m:ctrlPr>
                                      <a:rPr lang="en-US" sz="1300" i="1">
                                        <a:effectLst/>
                                        <a:latin typeface="Cambria Math" panose="02040503050406030204" pitchFamily="18" charset="0"/>
                                      </a:rPr>
                                    </m:ctrlPr>
                                  </m:sSupPr>
                                  <m:e>
                                    <m:r>
                                      <a:rPr lang="en-US" sz="1300">
                                        <a:effectLst/>
                                        <a:latin typeface="Cambria Math" panose="02040503050406030204" pitchFamily="18" charset="0"/>
                                      </a:rPr>
                                      <m:t>3</m:t>
                                    </m:r>
                                  </m:e>
                                  <m:sup>
                                    <m:r>
                                      <a:rPr lang="en-US" sz="1300">
                                        <a:effectLst/>
                                        <a:latin typeface="Cambria Math" panose="02040503050406030204" pitchFamily="18" charset="0"/>
                                      </a:rPr>
                                      <m:t>4</m:t>
                                    </m:r>
                                  </m:sup>
                                </m:sSup>
                              </m:oMath>
                            </m:oMathPara>
                          </a14:m>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dirty="0">
                              <a:effectLst/>
                            </a:rPr>
                            <a:t> </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dirty="0">
                              <a:effectLst/>
                            </a:rPr>
                            <a:t> </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4533380"/>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4A881709-E66F-AD49-93F8-036E5F627F0E}"/>
                  </a:ext>
                </a:extLst>
              </p:cNvPr>
              <p:cNvGraphicFramePr>
                <a:graphicFrameLocks noGrp="1"/>
              </p:cNvGraphicFramePr>
              <p:nvPr>
                <p:extLst>
                  <p:ext uri="{D42A27DB-BD31-4B8C-83A1-F6EECF244321}">
                    <p14:modId xmlns:p14="http://schemas.microsoft.com/office/powerpoint/2010/main" val="1726648697"/>
                  </p:ext>
                </p:extLst>
              </p:nvPr>
            </p:nvGraphicFramePr>
            <p:xfrm>
              <a:off x="5795050" y="1892299"/>
              <a:ext cx="4809451" cy="4565501"/>
            </p:xfrm>
            <a:graphic>
              <a:graphicData uri="http://schemas.openxmlformats.org/drawingml/2006/table">
                <a:tbl>
                  <a:tblPr firstRow="1" firstCol="1" bandRow="1">
                    <a:tableStyleId>{F2DE63D5-997A-4646-A377-4702673A728D}</a:tableStyleId>
                  </a:tblPr>
                  <a:tblGrid>
                    <a:gridCol w="1160393">
                      <a:extLst>
                        <a:ext uri="{9D8B030D-6E8A-4147-A177-3AD203B41FA5}">
                          <a16:colId xmlns:a16="http://schemas.microsoft.com/office/drawing/2014/main" xmlns:a14="http://schemas.microsoft.com/office/drawing/2010/main" xmlns="" val="2986024335"/>
                        </a:ext>
                      </a:extLst>
                    </a:gridCol>
                    <a:gridCol w="1342598">
                      <a:extLst>
                        <a:ext uri="{9D8B030D-6E8A-4147-A177-3AD203B41FA5}">
                          <a16:colId xmlns:a16="http://schemas.microsoft.com/office/drawing/2014/main" xmlns:a14="http://schemas.microsoft.com/office/drawing/2010/main" xmlns="" val="4262707483"/>
                        </a:ext>
                      </a:extLst>
                    </a:gridCol>
                    <a:gridCol w="1537789">
                      <a:extLst>
                        <a:ext uri="{9D8B030D-6E8A-4147-A177-3AD203B41FA5}">
                          <a16:colId xmlns:a16="http://schemas.microsoft.com/office/drawing/2014/main" xmlns:a14="http://schemas.microsoft.com/office/drawing/2010/main" xmlns="" val="125711890"/>
                        </a:ext>
                      </a:extLst>
                    </a:gridCol>
                    <a:gridCol w="768671">
                      <a:extLst>
                        <a:ext uri="{9D8B030D-6E8A-4147-A177-3AD203B41FA5}">
                          <a16:colId xmlns:a16="http://schemas.microsoft.com/office/drawing/2014/main" xmlns:a14="http://schemas.microsoft.com/office/drawing/2010/main" xmlns="" val="3994791576"/>
                        </a:ext>
                      </a:extLst>
                    </a:gridCol>
                  </a:tblGrid>
                  <a:tr h="722597">
                    <a:tc>
                      <a:txBody>
                        <a:bodyPr/>
                        <a:lstStyle/>
                        <a:p>
                          <a:pPr marL="0" marR="0" algn="ctr">
                            <a:spcBef>
                              <a:spcPts val="0"/>
                            </a:spcBef>
                            <a:spcAft>
                              <a:spcPts val="0"/>
                            </a:spcAft>
                          </a:pPr>
                          <a:r>
                            <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Exponential Expression</a:t>
                          </a:r>
                          <a:endParaRPr lang="en-US" sz="6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Apply Negative Exponent Law</a:t>
                          </a:r>
                          <a:endParaRPr lang="en-US" sz="6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Expanded Form</a:t>
                          </a:r>
                          <a:endParaRPr lang="en-US" sz="6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Value</a:t>
                          </a:r>
                          <a:endParaRPr lang="en-US" sz="6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279901519"/>
                      </a:ext>
                    </a:extLst>
                  </a:tr>
                  <a:tr h="1280968">
                    <a:tc>
                      <a:txBody>
                        <a:bodyPr/>
                        <a:lstStyle/>
                        <a:p>
                          <a:endParaRPr lang="en-US"/>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524" t="-57143" r="-314660" b="-201429"/>
                          </a:stretch>
                        </a:blipFill>
                      </a:tcPr>
                    </a:tc>
                    <a:tc>
                      <a:txBody>
                        <a:bodyPr/>
                        <a:lstStyle/>
                        <a:p>
                          <a:endParaRPr lang="en-US"/>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87273" t="-57143" r="-173182" b="-201429"/>
                          </a:stretch>
                        </a:blipFill>
                      </a:tcPr>
                    </a:tc>
                    <a:tc>
                      <a:txBody>
                        <a:bodyPr/>
                        <a:lstStyle/>
                        <a:p>
                          <a:endParaRPr lang="en-US"/>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162846" t="-57143" r="-50593" b="-201429"/>
                          </a:stretch>
                        </a:blipFill>
                      </a:tcPr>
                    </a:tc>
                    <a:tc>
                      <a:txBody>
                        <a:bodyPr/>
                        <a:lstStyle/>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709575646"/>
                      </a:ext>
                    </a:extLst>
                  </a:tr>
                  <a:tr h="1280968">
                    <a:tc>
                      <a:txBody>
                        <a:bodyPr/>
                        <a:lstStyle/>
                        <a:p>
                          <a:endParaRPr lang="en-US"/>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524" t="-156398" r="-314660" b="-100474"/>
                          </a:stretch>
                        </a:blipFill>
                      </a:tcPr>
                    </a:tc>
                    <a:tc>
                      <a:txBody>
                        <a:bodyPr/>
                        <a:lstStyle/>
                        <a:p>
                          <a:pPr marL="0" marR="0" algn="ctr">
                            <a:spcBef>
                              <a:spcPts val="0"/>
                            </a:spcBef>
                            <a:spcAft>
                              <a:spcPts val="0"/>
                            </a:spcAft>
                          </a:pPr>
                          <a:r>
                            <a:rPr lang="en-US" sz="1300">
                              <a:effectLst/>
                            </a:rPr>
                            <a:t> </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a:effectLst/>
                            </a:rPr>
                            <a:t> </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endParaRPr>
                        </a:p>
                        <a:p>
                          <a:pPr marL="0" marR="0" algn="ctr">
                            <a:spcBef>
                              <a:spcPts val="0"/>
                            </a:spcBef>
                            <a:spcAft>
                              <a:spcPts val="0"/>
                            </a:spcAft>
                          </a:pPr>
                          <a:r>
                            <a:rPr lang="en-US" sz="1300">
                              <a:effectLst/>
                            </a:rPr>
                            <a:t> </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885703131"/>
                      </a:ext>
                    </a:extLst>
                  </a:tr>
                  <a:tr h="1280968">
                    <a:tc>
                      <a:txBody>
                        <a:bodyPr/>
                        <a:lstStyle/>
                        <a:p>
                          <a:endParaRPr lang="en-US"/>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524" t="-257619" r="-314660" b="-952"/>
                          </a:stretch>
                        </a:blipFill>
                      </a:tcPr>
                    </a:tc>
                    <a:tc>
                      <a:txBody>
                        <a:bodyPr/>
                        <a:lstStyle/>
                        <a:p>
                          <a:pPr marL="0" marR="0" algn="ctr">
                            <a:spcBef>
                              <a:spcPts val="0"/>
                            </a:spcBef>
                            <a:spcAft>
                              <a:spcPts val="0"/>
                            </a:spcAft>
                          </a:pPr>
                          <a:r>
                            <a:rPr lang="en-US" sz="1300" dirty="0">
                              <a:effectLst/>
                            </a:rPr>
                            <a:t> </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dirty="0">
                              <a:effectLst/>
                            </a:rPr>
                            <a:t> </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endParaRPr>
                        </a:p>
                        <a:p>
                          <a:pPr marL="0" marR="0" algn="ctr">
                            <a:spcBef>
                              <a:spcPts val="0"/>
                            </a:spcBef>
                            <a:spcAft>
                              <a:spcPts val="0"/>
                            </a:spcAft>
                          </a:pPr>
                          <a:r>
                            <a:rPr lang="en-US" sz="1300" dirty="0">
                              <a:effectLst/>
                            </a:rPr>
                            <a:t> </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642" marR="4764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684533380"/>
                      </a:ext>
                    </a:extLst>
                  </a:tr>
                </a:tbl>
              </a:graphicData>
            </a:graphic>
          </p:graphicFrame>
        </mc:Fallback>
      </mc:AlternateContent>
      <p:sp>
        <p:nvSpPr>
          <p:cNvPr id="3" name="TextBox 2">
            <a:extLst>
              <a:ext uri="{FF2B5EF4-FFF2-40B4-BE49-F238E27FC236}">
                <a16:creationId xmlns:a16="http://schemas.microsoft.com/office/drawing/2014/main" id="{222FDB10-C432-1D4C-9056-913BEC8EC6C1}"/>
              </a:ext>
            </a:extLst>
          </p:cNvPr>
          <p:cNvSpPr txBox="1"/>
          <p:nvPr/>
        </p:nvSpPr>
        <p:spPr>
          <a:xfrm>
            <a:off x="1079500" y="2006279"/>
            <a:ext cx="4777014" cy="3077766"/>
          </a:xfrm>
          <a:prstGeom prst="rect">
            <a:avLst/>
          </a:prstGeom>
          <a:noFill/>
        </p:spPr>
        <p:txBody>
          <a:bodyPr wrap="square" rtlCol="0">
            <a:spAutoFit/>
          </a:bodyPr>
          <a:lstStyle/>
          <a:p>
            <a:pPr marL="342900" indent="-342900">
              <a:buFont typeface="+mj-lt"/>
              <a:buAutoNum type="arabicPeriod"/>
            </a:pPr>
            <a:r>
              <a:rPr lang="en-US" sz="2000" dirty="0">
                <a:latin typeface="Verdana"/>
                <a:ea typeface="Verdana"/>
                <a:cs typeface="Verdana"/>
                <a:sym typeface="Verdana"/>
              </a:rPr>
              <a:t>Consider the exponential expressions in the table.</a:t>
            </a:r>
          </a:p>
          <a:p>
            <a:pPr lvl="3"/>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marL="922338" lvl="3" indent="-522288">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sym typeface="Verdana"/>
              </a:rPr>
              <a:t>For each expression, </a:t>
            </a:r>
            <a:r>
              <a:rPr lang="en-US" sz="2000" dirty="0">
                <a:latin typeface="Verdana" panose="020B0604030504040204" pitchFamily="34" charset="0"/>
                <a:ea typeface="Verdana" panose="020B0604030504040204" pitchFamily="34" charset="0"/>
                <a:cs typeface="Verdana" panose="020B0604030504040204" pitchFamily="34" charset="0"/>
              </a:rPr>
              <a:t>work with your partner to rewrite the exponential expression in expanded form and evaluate. The first row has been partially completed. </a:t>
            </a:r>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endParaRPr lang="en-US" dirty="0"/>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93800" y="410666"/>
            <a:ext cx="9141101" cy="6001603"/>
          </a:xfrm>
          <a:prstGeom prst="rect">
            <a:avLst/>
          </a:prstGeom>
          <a:noFill/>
          <a:ln>
            <a:noFill/>
          </a:ln>
        </p:spPr>
        <p:txBody>
          <a:bodyPr spcFirstLastPara="1" wrap="square" lIns="91425" tIns="45700" rIns="91425" bIns="45700" anchor="t" anchorCtr="0">
            <a:spAutoFit/>
          </a:bodyPr>
          <a:lstStyle/>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table to evaluate each expression by applying the product of powers law. </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With your partner, discuss your observations of the tables from Parts A and B.</a:t>
            </a:r>
          </a:p>
          <a:p>
            <a:pPr marL="457200" indent="-457200">
              <a:buFont typeface="+mj-lt"/>
              <a:buAutoNum type="alphaLcPeriod" startAt="3"/>
            </a:pPr>
            <a:endParaRPr sz="2400"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5" name="Picture 14" descr="Table&#10;&#10;Description automatically generated">
            <a:extLst>
              <a:ext uri="{FF2B5EF4-FFF2-40B4-BE49-F238E27FC236}">
                <a16:creationId xmlns:a16="http://schemas.microsoft.com/office/drawing/2014/main" id="{8AED0607-D335-574C-BB6E-578618249A6B}"/>
              </a:ext>
            </a:extLst>
          </p:cNvPr>
          <p:cNvPicPr>
            <a:picLocks noChangeAspect="1"/>
          </p:cNvPicPr>
          <p:nvPr/>
        </p:nvPicPr>
        <p:blipFill>
          <a:blip r:embed="rId3"/>
          <a:stretch>
            <a:fillRect/>
          </a:stretch>
        </p:blipFill>
        <p:spPr>
          <a:xfrm>
            <a:off x="3811548" y="1308099"/>
            <a:ext cx="4254767" cy="3714070"/>
          </a:xfrm>
          <a:prstGeom prst="rect">
            <a:avLst/>
          </a:prstGeom>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04900" y="410666"/>
            <a:ext cx="10132866" cy="3046948"/>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2. Consider the exponential expressions in the table.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5" indent="-576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For each expression, work with your partner to rewrite the exponential expression in expanded form and evaluate. The first row has been partially completed.</a:t>
            </a:r>
          </a:p>
          <a:p>
            <a:pPr marL="922338" lvl="5" indent="-576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5" indent="-576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30C1A8A-A3CB-2B4E-9C77-7B38DC04C796}"/>
                  </a:ext>
                </a:extLst>
              </p:cNvPr>
              <p:cNvGraphicFramePr>
                <a:graphicFrameLocks noGrp="1"/>
              </p:cNvGraphicFramePr>
              <p:nvPr>
                <p:extLst>
                  <p:ext uri="{D42A27DB-BD31-4B8C-83A1-F6EECF244321}">
                    <p14:modId xmlns:p14="http://schemas.microsoft.com/office/powerpoint/2010/main" val="2226151911"/>
                  </p:ext>
                </p:extLst>
              </p:nvPr>
            </p:nvGraphicFramePr>
            <p:xfrm>
              <a:off x="3007859" y="2821346"/>
              <a:ext cx="6201456" cy="3416279"/>
            </p:xfrm>
            <a:graphic>
              <a:graphicData uri="http://schemas.openxmlformats.org/drawingml/2006/table">
                <a:tbl>
                  <a:tblPr firstRow="1" firstCol="1" bandRow="1">
                    <a:tableStyleId>{F2DE63D5-997A-4646-A377-4702673A728D}</a:tableStyleId>
                  </a:tblPr>
                  <a:tblGrid>
                    <a:gridCol w="1692517">
                      <a:extLst>
                        <a:ext uri="{9D8B030D-6E8A-4147-A177-3AD203B41FA5}">
                          <a16:colId xmlns:a16="http://schemas.microsoft.com/office/drawing/2014/main" val="3406892968"/>
                        </a:ext>
                      </a:extLst>
                    </a:gridCol>
                    <a:gridCol w="1522860">
                      <a:extLst>
                        <a:ext uri="{9D8B030D-6E8A-4147-A177-3AD203B41FA5}">
                          <a16:colId xmlns:a16="http://schemas.microsoft.com/office/drawing/2014/main" val="4049545841"/>
                        </a:ext>
                      </a:extLst>
                    </a:gridCol>
                    <a:gridCol w="2054993">
                      <a:extLst>
                        <a:ext uri="{9D8B030D-6E8A-4147-A177-3AD203B41FA5}">
                          <a16:colId xmlns:a16="http://schemas.microsoft.com/office/drawing/2014/main" val="1968983609"/>
                        </a:ext>
                      </a:extLst>
                    </a:gridCol>
                    <a:gridCol w="931086">
                      <a:extLst>
                        <a:ext uri="{9D8B030D-6E8A-4147-A177-3AD203B41FA5}">
                          <a16:colId xmlns:a16="http://schemas.microsoft.com/office/drawing/2014/main" val="1457670748"/>
                        </a:ext>
                      </a:extLst>
                    </a:gridCol>
                  </a:tblGrid>
                  <a:tr h="1001117">
                    <a:tc>
                      <a:txBody>
                        <a:bodyPr/>
                        <a:lstStyle/>
                        <a:p>
                          <a:pPr marL="0" marR="0" algn="ctr">
                            <a:spcBef>
                              <a:spcPts val="0"/>
                            </a:spcBef>
                            <a:spcAft>
                              <a:spcPts val="0"/>
                            </a:spcAft>
                          </a:pPr>
                          <a:r>
                            <a:rPr lang="en-US" sz="160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Exponential 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latin typeface="Verdana" panose="020B0604030504040204" pitchFamily="34" charset="0"/>
                              <a:ea typeface="Verdana" panose="020B0604030504040204" pitchFamily="34" charset="0"/>
                              <a:cs typeface="Verdana" panose="020B0604030504040204" pitchFamily="34" charset="0"/>
                            </a:rPr>
                            <a:t>Apply Negative Exponent Law</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latin typeface="Verdana" panose="020B0604030504040204" pitchFamily="34" charset="0"/>
                              <a:ea typeface="Verdana" panose="020B0604030504040204" pitchFamily="34" charset="0"/>
                              <a:cs typeface="Verdana" panose="020B0604030504040204" pitchFamily="34" charset="0"/>
                            </a:rPr>
                            <a:t>Expanded Form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8586111"/>
                      </a:ext>
                    </a:extLst>
                  </a:tr>
                  <a:tr h="805054">
                    <a:tc>
                      <a:txBody>
                        <a:bodyPr/>
                        <a:lstStyle/>
                        <a:p>
                          <a:pPr marL="0" marR="0" algn="ctr">
                            <a:spcBef>
                              <a:spcPts val="0"/>
                            </a:spcBef>
                            <a:spcAft>
                              <a:spcPts val="0"/>
                            </a:spcAft>
                          </a:pPr>
                          <a14:m>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(−8)</m:t>
                                  </m:r>
                                </m:e>
                                <m:sup>
                                  <m:r>
                                    <a:rPr lang="en-US" sz="1600">
                                      <a:effectLst/>
                                      <a:latin typeface="Cambria Math" panose="02040503050406030204" pitchFamily="18" charset="0"/>
                                    </a:rPr>
                                    <m:t>−4</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(−8)</m:t>
                                  </m:r>
                                </m:e>
                                <m:sup>
                                  <m:r>
                                    <a:rPr lang="en-US" sz="1600">
                                      <a:effectLst/>
                                      <a:latin typeface="Cambria Math" panose="02040503050406030204" pitchFamily="18" charset="0"/>
                                    </a:rPr>
                                    <m:t>−6</m:t>
                                  </m:r>
                                </m:sup>
                              </m:sSup>
                            </m:oMath>
                          </a14:m>
                          <a:r>
                            <a:rPr lang="en-US" sz="1600" dirty="0">
                              <a:effectLst/>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US" sz="1600" i="1">
                                      <a:effectLst/>
                                      <a:latin typeface="Cambria Math" panose="02040503050406030204" pitchFamily="18" charset="0"/>
                                    </a:rPr>
                                  </m:ctrlPr>
                                </m:fPr>
                                <m:num>
                                  <m:r>
                                    <a:rPr lang="en-US" sz="1600">
                                      <a:effectLst/>
                                      <a:latin typeface="Cambria Math" panose="02040503050406030204" pitchFamily="18" charset="0"/>
                                    </a:rPr>
                                    <m:t>1</m:t>
                                  </m:r>
                                </m:num>
                                <m:den>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(−8)</m:t>
                                      </m:r>
                                    </m:e>
                                    <m:sup>
                                      <m:r>
                                        <a:rPr lang="en-US" sz="1600">
                                          <a:effectLst/>
                                          <a:latin typeface="Cambria Math" panose="02040503050406030204" pitchFamily="18" charset="0"/>
                                        </a:rPr>
                                        <m:t>4</m:t>
                                      </m:r>
                                    </m:sup>
                                  </m:sSup>
                                </m:den>
                              </m:f>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(−8)</m:t>
                                  </m:r>
                                </m:e>
                                <m:sup>
                                  <m:r>
                                    <a:rPr lang="en-US" sz="1600">
                                      <a:effectLst/>
                                      <a:latin typeface="Cambria Math" panose="02040503050406030204" pitchFamily="18" charset="0"/>
                                    </a:rPr>
                                    <m:t>6</m:t>
                                  </m:r>
                                </m:sup>
                              </m:sSup>
                            </m:oMath>
                          </a14:m>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US" sz="1600" i="1">
                                      <a:effectLst/>
                                      <a:latin typeface="Cambria Math" panose="02040503050406030204" pitchFamily="18" charset="0"/>
                                    </a:rPr>
                                  </m:ctrlPr>
                                </m:fPr>
                                <m:num>
                                  <m:r>
                                    <a:rPr lang="en-US" sz="1600">
                                      <a:effectLst/>
                                      <a:latin typeface="Cambria Math" panose="02040503050406030204" pitchFamily="18" charset="0"/>
                                    </a:rPr>
                                    <m:t>(−8)(−8)(−8)(−8)(−8)(−8)</m:t>
                                  </m:r>
                                </m:num>
                                <m:den>
                                  <m:r>
                                    <a:rPr lang="en-US" sz="1600">
                                      <a:effectLst/>
                                      <a:latin typeface="Cambria Math" panose="02040503050406030204" pitchFamily="18" charset="0"/>
                                    </a:rPr>
                                    <m:t>(−8)(−8)(−8)(−8)</m:t>
                                  </m:r>
                                </m:den>
                              </m:f>
                            </m:oMath>
                          </a14:m>
                          <a:r>
                            <a:rPr lang="en-US" sz="1600" dirty="0">
                              <a:effectLst/>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175674"/>
                      </a:ext>
                    </a:extLst>
                  </a:tr>
                  <a:tr h="805054">
                    <a:tc>
                      <a:txBody>
                        <a:bodyPr/>
                        <a:lstStyle/>
                        <a:p>
                          <a:pPr marL="0" marR="0" algn="ctr">
                            <a:spcBef>
                              <a:spcPts val="0"/>
                            </a:spcBef>
                            <a:spcAft>
                              <a:spcPts val="0"/>
                            </a:spcAft>
                          </a:pPr>
                          <a14:m>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7</m:t>
                                  </m:r>
                                </m:e>
                                <m:sup>
                                  <m:r>
                                    <a:rPr lang="en-US" sz="1600">
                                      <a:effectLst/>
                                      <a:latin typeface="Cambria Math" panose="02040503050406030204" pitchFamily="18" charset="0"/>
                                    </a:rPr>
                                    <m:t>0</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7</m:t>
                                  </m:r>
                                </m:e>
                                <m:sup>
                                  <m:r>
                                    <a:rPr lang="en-US" sz="1600">
                                      <a:effectLst/>
                                      <a:latin typeface="Cambria Math" panose="02040503050406030204" pitchFamily="18" charset="0"/>
                                    </a:rPr>
                                    <m:t>−4</m:t>
                                  </m:r>
                                </m:sup>
                              </m:sSup>
                            </m:oMath>
                          </a14:m>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5455114"/>
                      </a:ext>
                    </a:extLst>
                  </a:tr>
                  <a:tr h="80505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9</m:t>
                                    </m:r>
                                  </m:e>
                                  <m:sup>
                                    <m:r>
                                      <a:rPr lang="en-US" sz="1600">
                                        <a:effectLst/>
                                        <a:latin typeface="Cambria Math" panose="02040503050406030204" pitchFamily="18" charset="0"/>
                                      </a:rPr>
                                      <m:t>−5</m:t>
                                    </m:r>
                                  </m:sup>
                                </m:sSup>
                                <m:r>
                                  <a:rPr lang="en-US" sz="1600">
                                    <a:effectLst/>
                                    <a:latin typeface="Cambria Math" panose="02040503050406030204" pitchFamily="18" charset="0"/>
                                  </a:rPr>
                                  <m:t>÷</m:t>
                                </m:r>
                                <m:sSup>
                                  <m:sSupPr>
                                    <m:ctrlPr>
                                      <a:rPr lang="en-US" sz="1600" i="1">
                                        <a:effectLst/>
                                        <a:latin typeface="Cambria Math" panose="02040503050406030204" pitchFamily="18" charset="0"/>
                                      </a:rPr>
                                    </m:ctrlPr>
                                  </m:sSupPr>
                                  <m:e>
                                    <m:r>
                                      <a:rPr lang="en-US" sz="1600">
                                        <a:effectLst/>
                                        <a:latin typeface="Cambria Math" panose="02040503050406030204" pitchFamily="18" charset="0"/>
                                      </a:rPr>
                                      <m:t>9</m:t>
                                    </m:r>
                                  </m:e>
                                  <m:sup>
                                    <m:r>
                                      <a:rPr lang="en-US" sz="1600">
                                        <a:effectLst/>
                                        <a:latin typeface="Cambria Math" panose="02040503050406030204" pitchFamily="18" charset="0"/>
                                      </a:rPr>
                                      <m:t>3</m:t>
                                    </m:r>
                                  </m:sup>
                                </m:sSup>
                              </m:oMath>
                            </m:oMathPara>
                          </a14:m>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8966005"/>
                      </a:ext>
                    </a:extLst>
                  </a:tr>
                </a:tbl>
              </a:graphicData>
            </a:graphic>
          </p:graphicFrame>
        </mc:Choice>
        <mc:Fallback xmlns="">
          <p:graphicFrame>
            <p:nvGraphicFramePr>
              <p:cNvPr id="2" name="Table 1">
                <a:extLst>
                  <a:ext uri="{FF2B5EF4-FFF2-40B4-BE49-F238E27FC236}">
                    <a16:creationId xmlns:a16="http://schemas.microsoft.com/office/drawing/2014/main" id="{A30C1A8A-A3CB-2B4E-9C77-7B38DC04C796}"/>
                  </a:ext>
                </a:extLst>
              </p:cNvPr>
              <p:cNvGraphicFramePr>
                <a:graphicFrameLocks noGrp="1"/>
              </p:cNvGraphicFramePr>
              <p:nvPr>
                <p:extLst>
                  <p:ext uri="{D42A27DB-BD31-4B8C-83A1-F6EECF244321}">
                    <p14:modId xmlns:p14="http://schemas.microsoft.com/office/powerpoint/2010/main" val="2226151911"/>
                  </p:ext>
                </p:extLst>
              </p:nvPr>
            </p:nvGraphicFramePr>
            <p:xfrm>
              <a:off x="1483859" y="2821345"/>
              <a:ext cx="6201456" cy="3416279"/>
            </p:xfrm>
            <a:graphic>
              <a:graphicData uri="http://schemas.openxmlformats.org/drawingml/2006/table">
                <a:tbl>
                  <a:tblPr firstRow="1" firstCol="1" bandRow="1">
                    <a:tableStyleId>{F2DE63D5-997A-4646-A377-4702673A728D}</a:tableStyleId>
                  </a:tblPr>
                  <a:tblGrid>
                    <a:gridCol w="1692517">
                      <a:extLst>
                        <a:ext uri="{9D8B030D-6E8A-4147-A177-3AD203B41FA5}">
                          <a16:colId xmlns:a16="http://schemas.microsoft.com/office/drawing/2014/main" val="3406892968"/>
                        </a:ext>
                      </a:extLst>
                    </a:gridCol>
                    <a:gridCol w="1522860">
                      <a:extLst>
                        <a:ext uri="{9D8B030D-6E8A-4147-A177-3AD203B41FA5}">
                          <a16:colId xmlns:a16="http://schemas.microsoft.com/office/drawing/2014/main" val="4049545841"/>
                        </a:ext>
                      </a:extLst>
                    </a:gridCol>
                    <a:gridCol w="2054993">
                      <a:extLst>
                        <a:ext uri="{9D8B030D-6E8A-4147-A177-3AD203B41FA5}">
                          <a16:colId xmlns:a16="http://schemas.microsoft.com/office/drawing/2014/main" val="1968983609"/>
                        </a:ext>
                      </a:extLst>
                    </a:gridCol>
                    <a:gridCol w="931086">
                      <a:extLst>
                        <a:ext uri="{9D8B030D-6E8A-4147-A177-3AD203B41FA5}">
                          <a16:colId xmlns:a16="http://schemas.microsoft.com/office/drawing/2014/main" val="1457670748"/>
                        </a:ext>
                      </a:extLst>
                    </a:gridCol>
                  </a:tblGrid>
                  <a:tr h="1001117">
                    <a:tc>
                      <a:txBody>
                        <a:bodyPr/>
                        <a:lstStyle/>
                        <a:p>
                          <a:pPr marL="0" marR="0" algn="ctr">
                            <a:spcBef>
                              <a:spcPts val="0"/>
                            </a:spcBef>
                            <a:spcAft>
                              <a:spcPts val="0"/>
                            </a:spcAft>
                          </a:pPr>
                          <a:r>
                            <a:rPr lang="en-US" sz="160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Exponential 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latin typeface="Verdana" panose="020B0604030504040204" pitchFamily="34" charset="0"/>
                              <a:ea typeface="Verdana" panose="020B0604030504040204" pitchFamily="34" charset="0"/>
                              <a:cs typeface="Verdana" panose="020B0604030504040204" pitchFamily="34" charset="0"/>
                            </a:rPr>
                            <a:t>Apply Negative Exponent Law</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latin typeface="Verdana" panose="020B0604030504040204" pitchFamily="34" charset="0"/>
                              <a:ea typeface="Verdana" panose="020B0604030504040204" pitchFamily="34" charset="0"/>
                              <a:cs typeface="Verdana" panose="020B0604030504040204" pitchFamily="34" charset="0"/>
                            </a:rPr>
                            <a:t>Expanded Form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8586111"/>
                      </a:ext>
                    </a:extLst>
                  </a:tr>
                  <a:tr h="805054">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29688" r="-266418" b="-20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1667" t="-129688" r="-197500" b="-20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6790" t="-129688" r="-46296" b="-200000"/>
                          </a:stretch>
                        </a:blipFill>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175674"/>
                      </a:ext>
                    </a:extLst>
                  </a:tr>
                  <a:tr h="805054">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33333" r="-266418" b="-103175"/>
                          </a:stretch>
                        </a:blipFill>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5455114"/>
                      </a:ext>
                    </a:extLst>
                  </a:tr>
                  <a:tr h="805054">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328125" r="-266418" b="-1563"/>
                          </a:stretch>
                        </a:blipFill>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rPr>
                            <a: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8966005"/>
                      </a:ext>
                    </a:extLst>
                  </a:tr>
                </a:tbl>
              </a:graphicData>
            </a:graphic>
          </p:graphicFrame>
        </mc:Fallback>
      </mc:AlternateContent>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247475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43000" y="410665"/>
            <a:ext cx="10056666" cy="5478382"/>
          </a:xfrm>
          <a:prstGeom prst="rect">
            <a:avLst/>
          </a:prstGeom>
          <a:noFill/>
          <a:ln>
            <a:noFill/>
          </a:ln>
        </p:spPr>
        <p:txBody>
          <a:bodyPr spcFirstLastPara="1" wrap="square" lIns="91425" tIns="45700" rIns="91425" bIns="45700" anchor="t" anchorCtr="0">
            <a:spAutoFit/>
          </a:bodyPr>
          <a:lstStyle/>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table to evaluate each expression by applying quotient of powers law.</a:t>
            </a:r>
          </a:p>
          <a:p>
            <a:pPr marL="342900" indent="-3429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With your partner, discuss your observations of the tables after completing Parts A and B.</a:t>
            </a:r>
          </a:p>
          <a:p>
            <a:pPr marL="342900" indent="-342900">
              <a:buFont typeface="+mj-lt"/>
              <a:buAutoNum type="alphaLcPeriod" startAt="3"/>
            </a:pPr>
            <a:endParaRPr dirty="0"/>
          </a:p>
        </p:txBody>
      </p:sp>
      <p:sp>
        <p:nvSpPr>
          <p:cNvPr id="209" name="Google Shape;209;p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DFC25500-A58D-4F42-B518-638A3E2C055A}"/>
                  </a:ext>
                </a:extLst>
              </p:cNvPr>
              <p:cNvGraphicFramePr>
                <a:graphicFrameLocks noGrp="1"/>
              </p:cNvGraphicFramePr>
              <p:nvPr>
                <p:extLst>
                  <p:ext uri="{D42A27DB-BD31-4B8C-83A1-F6EECF244321}">
                    <p14:modId xmlns:p14="http://schemas.microsoft.com/office/powerpoint/2010/main" val="1391193812"/>
                  </p:ext>
                </p:extLst>
              </p:nvPr>
            </p:nvGraphicFramePr>
            <p:xfrm>
              <a:off x="2545740" y="1354858"/>
              <a:ext cx="6489403" cy="3228028"/>
            </p:xfrm>
            <a:graphic>
              <a:graphicData uri="http://schemas.openxmlformats.org/drawingml/2006/table">
                <a:tbl>
                  <a:tblPr firstRow="1" firstCol="1" bandRow="1">
                    <a:tableStyleId>{F2DE63D5-997A-4646-A377-4702673A728D}</a:tableStyleId>
                  </a:tblPr>
                  <a:tblGrid>
                    <a:gridCol w="2359783">
                      <a:extLst>
                        <a:ext uri="{9D8B030D-6E8A-4147-A177-3AD203B41FA5}">
                          <a16:colId xmlns:a16="http://schemas.microsoft.com/office/drawing/2014/main" val="2135552968"/>
                        </a:ext>
                      </a:extLst>
                    </a:gridCol>
                    <a:gridCol w="2949729">
                      <a:extLst>
                        <a:ext uri="{9D8B030D-6E8A-4147-A177-3AD203B41FA5}">
                          <a16:colId xmlns:a16="http://schemas.microsoft.com/office/drawing/2014/main" val="345007559"/>
                        </a:ext>
                      </a:extLst>
                    </a:gridCol>
                    <a:gridCol w="1179891">
                      <a:extLst>
                        <a:ext uri="{9D8B030D-6E8A-4147-A177-3AD203B41FA5}">
                          <a16:colId xmlns:a16="http://schemas.microsoft.com/office/drawing/2014/main" val="3387126651"/>
                        </a:ext>
                      </a:extLst>
                    </a:gridCol>
                  </a:tblGrid>
                  <a:tr h="679585">
                    <a:tc>
                      <a:txBody>
                        <a:bodyPr/>
                        <a:lstStyle/>
                        <a:p>
                          <a:pPr marL="0" marR="0" algn="ctr">
                            <a:spcBef>
                              <a:spcPts val="0"/>
                            </a:spcBef>
                            <a:spcAft>
                              <a:spcPts val="0"/>
                            </a:spcAft>
                          </a:pPr>
                          <a:r>
                            <a:rPr lang="en-US" sz="1600">
                              <a:solidFill>
                                <a:schemeClr val="tx1"/>
                              </a:solidFill>
                              <a:effectLst/>
                            </a:rPr>
                            <a:t>Exponential Expression</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rPr>
                            <a:t>Apply Quotient of Powers Exponent Law</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rPr>
                            <a:t>Value</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6371582"/>
                      </a:ext>
                    </a:extLst>
                  </a:tr>
                  <a:tr h="849481">
                    <a:tc>
                      <a:txBody>
                        <a:bodyPr/>
                        <a:lstStyle/>
                        <a:p>
                          <a:pPr marL="0" marR="0" algn="ctr">
                            <a:spcBef>
                              <a:spcPts val="0"/>
                            </a:spcBef>
                            <a:spcAft>
                              <a:spcPts val="0"/>
                            </a:spcAft>
                          </a:pPr>
                          <a14:m>
                            <m:oMath xmlns:m="http://schemas.openxmlformats.org/officeDocument/2006/math">
                              <m:sSup>
                                <m:sSupPr>
                                  <m:ctrlPr>
                                    <a:rPr lang="en-US" sz="1600" i="1" smtClean="0">
                                      <a:solidFill>
                                        <a:schemeClr val="tx1"/>
                                      </a:solidFill>
                                      <a:effectLst/>
                                      <a:latin typeface="Cambria Math" panose="02040503050406030204" pitchFamily="18" charset="0"/>
                                    </a:rPr>
                                  </m:ctrlPr>
                                </m:sSupPr>
                                <m:e>
                                  <m:r>
                                    <a:rPr lang="en-US" sz="1600">
                                      <a:solidFill>
                                        <a:schemeClr val="tx1"/>
                                      </a:solidFill>
                                      <a:effectLst/>
                                      <a:latin typeface="Cambria Math" panose="02040503050406030204" pitchFamily="18" charset="0"/>
                                    </a:rPr>
                                    <m:t>(−8)</m:t>
                                  </m:r>
                                </m:e>
                                <m:sup>
                                  <m:r>
                                    <a:rPr lang="en-US" sz="1600">
                                      <a:solidFill>
                                        <a:schemeClr val="tx1"/>
                                      </a:solidFill>
                                      <a:effectLst/>
                                      <a:latin typeface="Cambria Math" panose="02040503050406030204" pitchFamily="18" charset="0"/>
                                    </a:rPr>
                                    <m:t>−4</m:t>
                                  </m:r>
                                </m:sup>
                              </m:sSup>
                              <m:r>
                                <a:rPr lang="en-US" sz="1600">
                                  <a:solidFill>
                                    <a:schemeClr val="tx1"/>
                                  </a:solidFill>
                                  <a:effectLst/>
                                  <a:latin typeface="Cambria Math" panose="02040503050406030204" pitchFamily="18" charset="0"/>
                                </a:rPr>
                                <m:t>÷</m:t>
                              </m:r>
                              <m:sSup>
                                <m:sSupPr>
                                  <m:ctrlPr>
                                    <a:rPr lang="en-US" sz="1600" i="1">
                                      <a:solidFill>
                                        <a:schemeClr val="tx1"/>
                                      </a:solidFill>
                                      <a:effectLst/>
                                      <a:latin typeface="Cambria Math" panose="02040503050406030204" pitchFamily="18" charset="0"/>
                                    </a:rPr>
                                  </m:ctrlPr>
                                </m:sSupPr>
                                <m:e>
                                  <m:r>
                                    <a:rPr lang="en-US" sz="1600">
                                      <a:solidFill>
                                        <a:schemeClr val="tx1"/>
                                      </a:solidFill>
                                      <a:effectLst/>
                                      <a:latin typeface="Cambria Math" panose="02040503050406030204" pitchFamily="18" charset="0"/>
                                    </a:rPr>
                                    <m:t>(−8)</m:t>
                                  </m:r>
                                </m:e>
                                <m:sup>
                                  <m:r>
                                    <a:rPr lang="en-US" sz="1600">
                                      <a:solidFill>
                                        <a:schemeClr val="tx1"/>
                                      </a:solidFill>
                                      <a:effectLst/>
                                      <a:latin typeface="Cambria Math" panose="02040503050406030204" pitchFamily="18" charset="0"/>
                                    </a:rPr>
                                    <m:t>−6</m:t>
                                  </m:r>
                                </m:sup>
                              </m:sSup>
                            </m:oMath>
                          </a14:m>
                          <a:r>
                            <a:rPr lang="en-US" sz="1600">
                              <a:solidFill>
                                <a:schemeClr val="tx1"/>
                              </a:solidFill>
                              <a:effectLst/>
                            </a:rPr>
                            <a:t> </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800"/>
                            </a:spcBef>
                            <a:spcAft>
                              <a:spcPts val="0"/>
                            </a:spcAft>
                          </a:pPr>
                          <a14:m>
                            <m:oMath xmlns:m="http://schemas.openxmlformats.org/officeDocument/2006/math">
                              <m:sSup>
                                <m:sSupPr>
                                  <m:ctrlPr>
                                    <a:rPr lang="en-US" sz="1600" i="1" smtClean="0">
                                      <a:solidFill>
                                        <a:schemeClr val="tx1"/>
                                      </a:solidFill>
                                      <a:effectLst/>
                                      <a:latin typeface="Cambria Math" panose="02040503050406030204" pitchFamily="18" charset="0"/>
                                    </a:rPr>
                                  </m:ctrlPr>
                                </m:sSupPr>
                                <m:e>
                                  <m:r>
                                    <a:rPr lang="en-US" sz="1600">
                                      <a:solidFill>
                                        <a:schemeClr val="tx1"/>
                                      </a:solidFill>
                                      <a:effectLst/>
                                      <a:latin typeface="Cambria Math" panose="02040503050406030204" pitchFamily="18" charset="0"/>
                                    </a:rPr>
                                    <m:t>(−8)</m:t>
                                  </m:r>
                                </m:e>
                                <m:sup>
                                  <m:r>
                                    <a:rPr lang="en-US" sz="1600">
                                      <a:solidFill>
                                        <a:schemeClr val="tx1"/>
                                      </a:solidFill>
                                      <a:effectLst/>
                                      <a:latin typeface="Cambria Math" panose="02040503050406030204" pitchFamily="18" charset="0"/>
                                    </a:rPr>
                                    <m:t>−4−(−6)</m:t>
                                  </m:r>
                                </m:sup>
                              </m:sSup>
                              <m:r>
                                <a:rPr lang="en-US" sz="1600">
                                  <a:solidFill>
                                    <a:schemeClr val="tx1"/>
                                  </a:solidFill>
                                  <a:effectLst/>
                                  <a:latin typeface="Cambria Math" panose="02040503050406030204" pitchFamily="18" charset="0"/>
                                </a:rPr>
                                <m:t>=</m:t>
                              </m:r>
                              <m:sSup>
                                <m:sSupPr>
                                  <m:ctrlPr>
                                    <a:rPr lang="en-US" sz="1600" i="1">
                                      <a:solidFill>
                                        <a:schemeClr val="tx1"/>
                                      </a:solidFill>
                                      <a:effectLst/>
                                      <a:latin typeface="Cambria Math" panose="02040503050406030204" pitchFamily="18" charset="0"/>
                                    </a:rPr>
                                  </m:ctrlPr>
                                </m:sSupPr>
                                <m:e>
                                  <m:r>
                                    <a:rPr lang="en-US" sz="1600">
                                      <a:solidFill>
                                        <a:schemeClr val="tx1"/>
                                      </a:solidFill>
                                      <a:effectLst/>
                                      <a:latin typeface="Cambria Math" panose="02040503050406030204" pitchFamily="18" charset="0"/>
                                    </a:rPr>
                                    <m:t>(−8)</m:t>
                                  </m:r>
                                </m:e>
                                <m:sup>
                                  <m:r>
                                    <a:rPr lang="en-US" sz="1600">
                                      <a:solidFill>
                                        <a:schemeClr val="tx1"/>
                                      </a:solidFill>
                                      <a:effectLst/>
                                      <a:latin typeface="Cambria Math" panose="02040503050406030204" pitchFamily="18" charset="0"/>
                                    </a:rPr>
                                    <m:t>      </m:t>
                                  </m:r>
                                </m:sup>
                              </m:sSup>
                            </m:oMath>
                          </a14:m>
                          <a:r>
                            <a:rPr lang="en-US" sz="1600">
                              <a:solidFill>
                                <a:schemeClr val="tx1"/>
                              </a:solidFill>
                              <a:effectLst/>
                            </a:rPr>
                            <a:t> </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rPr>
                            <a:t> </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8874508"/>
                      </a:ext>
                    </a:extLst>
                  </a:tr>
                  <a:tr h="849481">
                    <a:tc>
                      <a:txBody>
                        <a:bodyPr/>
                        <a:lstStyle/>
                        <a:p>
                          <a:pPr marL="0" marR="0" algn="ctr">
                            <a:spcBef>
                              <a:spcPts val="0"/>
                            </a:spcBef>
                            <a:spcAft>
                              <a:spcPts val="0"/>
                            </a:spcAft>
                          </a:pPr>
                          <a14:m>
                            <m:oMath xmlns:m="http://schemas.openxmlformats.org/officeDocument/2006/math">
                              <m:sSup>
                                <m:sSupPr>
                                  <m:ctrlPr>
                                    <a:rPr lang="en-US" sz="1600" i="1" smtClean="0">
                                      <a:solidFill>
                                        <a:schemeClr val="tx1"/>
                                      </a:solidFill>
                                      <a:effectLst/>
                                      <a:latin typeface="Cambria Math" panose="02040503050406030204" pitchFamily="18" charset="0"/>
                                    </a:rPr>
                                  </m:ctrlPr>
                                </m:sSupPr>
                                <m:e>
                                  <m:r>
                                    <a:rPr lang="en-US" sz="1600">
                                      <a:solidFill>
                                        <a:schemeClr val="tx1"/>
                                      </a:solidFill>
                                      <a:effectLst/>
                                      <a:latin typeface="Cambria Math" panose="02040503050406030204" pitchFamily="18" charset="0"/>
                                    </a:rPr>
                                    <m:t>7</m:t>
                                  </m:r>
                                </m:e>
                                <m:sup>
                                  <m:r>
                                    <a:rPr lang="en-US" sz="1600">
                                      <a:solidFill>
                                        <a:schemeClr val="tx1"/>
                                      </a:solidFill>
                                      <a:effectLst/>
                                      <a:latin typeface="Cambria Math" panose="02040503050406030204" pitchFamily="18" charset="0"/>
                                    </a:rPr>
                                    <m:t>0</m:t>
                                  </m:r>
                                </m:sup>
                              </m:sSup>
                              <m:r>
                                <a:rPr lang="en-US" sz="1600">
                                  <a:solidFill>
                                    <a:schemeClr val="tx1"/>
                                  </a:solidFill>
                                  <a:effectLst/>
                                  <a:latin typeface="Cambria Math" panose="02040503050406030204" pitchFamily="18" charset="0"/>
                                </a:rPr>
                                <m:t>÷</m:t>
                              </m:r>
                              <m:sSup>
                                <m:sSupPr>
                                  <m:ctrlPr>
                                    <a:rPr lang="en-US" sz="1600" i="1">
                                      <a:solidFill>
                                        <a:schemeClr val="tx1"/>
                                      </a:solidFill>
                                      <a:effectLst/>
                                      <a:latin typeface="Cambria Math" panose="02040503050406030204" pitchFamily="18" charset="0"/>
                                    </a:rPr>
                                  </m:ctrlPr>
                                </m:sSupPr>
                                <m:e>
                                  <m:r>
                                    <a:rPr lang="en-US" sz="1600">
                                      <a:solidFill>
                                        <a:schemeClr val="tx1"/>
                                      </a:solidFill>
                                      <a:effectLst/>
                                      <a:latin typeface="Cambria Math" panose="02040503050406030204" pitchFamily="18" charset="0"/>
                                    </a:rPr>
                                    <m:t>7</m:t>
                                  </m:r>
                                </m:e>
                                <m:sup>
                                  <m:r>
                                    <a:rPr lang="en-US" sz="1600">
                                      <a:solidFill>
                                        <a:schemeClr val="tx1"/>
                                      </a:solidFill>
                                      <a:effectLst/>
                                      <a:latin typeface="Cambria Math" panose="02040503050406030204" pitchFamily="18" charset="0"/>
                                    </a:rPr>
                                    <m:t>−4</m:t>
                                  </m:r>
                                </m:sup>
                              </m:sSup>
                            </m:oMath>
                          </a14:m>
                          <a:r>
                            <a:rPr lang="en-US" sz="1600">
                              <a:solidFill>
                                <a:schemeClr val="tx1"/>
                              </a:solidFill>
                              <a:effectLst/>
                            </a:rPr>
                            <a:t> </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rPr>
                            <a:t> </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rPr>
                            <a:t> </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1380751"/>
                      </a:ext>
                    </a:extLst>
                  </a:tr>
                  <a:tr h="84948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smtClean="0">
                                        <a:solidFill>
                                          <a:schemeClr val="tx1"/>
                                        </a:solidFill>
                                        <a:effectLst/>
                                        <a:latin typeface="Cambria Math" panose="02040503050406030204" pitchFamily="18" charset="0"/>
                                      </a:rPr>
                                    </m:ctrlPr>
                                  </m:sSupPr>
                                  <m:e>
                                    <m:r>
                                      <a:rPr lang="en-US" sz="1600">
                                        <a:solidFill>
                                          <a:schemeClr val="tx1"/>
                                        </a:solidFill>
                                        <a:effectLst/>
                                        <a:latin typeface="Cambria Math" panose="02040503050406030204" pitchFamily="18" charset="0"/>
                                      </a:rPr>
                                      <m:t>9</m:t>
                                    </m:r>
                                  </m:e>
                                  <m:sup>
                                    <m:r>
                                      <a:rPr lang="en-US" sz="1600">
                                        <a:solidFill>
                                          <a:schemeClr val="tx1"/>
                                        </a:solidFill>
                                        <a:effectLst/>
                                        <a:latin typeface="Cambria Math" panose="02040503050406030204" pitchFamily="18" charset="0"/>
                                      </a:rPr>
                                      <m:t>−5</m:t>
                                    </m:r>
                                  </m:sup>
                                </m:sSup>
                                <m:r>
                                  <a:rPr lang="en-US" sz="1600">
                                    <a:solidFill>
                                      <a:schemeClr val="tx1"/>
                                    </a:solidFill>
                                    <a:effectLst/>
                                    <a:latin typeface="Cambria Math" panose="02040503050406030204" pitchFamily="18" charset="0"/>
                                  </a:rPr>
                                  <m:t>÷</m:t>
                                </m:r>
                                <m:sSup>
                                  <m:sSupPr>
                                    <m:ctrlPr>
                                      <a:rPr lang="en-US" sz="1600" i="1">
                                        <a:solidFill>
                                          <a:schemeClr val="tx1"/>
                                        </a:solidFill>
                                        <a:effectLst/>
                                        <a:latin typeface="Cambria Math" panose="02040503050406030204" pitchFamily="18" charset="0"/>
                                      </a:rPr>
                                    </m:ctrlPr>
                                  </m:sSupPr>
                                  <m:e>
                                    <m:r>
                                      <a:rPr lang="en-US" sz="1600">
                                        <a:solidFill>
                                          <a:schemeClr val="tx1"/>
                                        </a:solidFill>
                                        <a:effectLst/>
                                        <a:latin typeface="Cambria Math" panose="02040503050406030204" pitchFamily="18" charset="0"/>
                                      </a:rPr>
                                      <m:t>9</m:t>
                                    </m:r>
                                  </m:e>
                                  <m:sup>
                                    <m:r>
                                      <a:rPr lang="en-US" sz="1600">
                                        <a:solidFill>
                                          <a:schemeClr val="tx1"/>
                                        </a:solidFill>
                                        <a:effectLst/>
                                        <a:latin typeface="Cambria Math" panose="02040503050406030204" pitchFamily="18" charset="0"/>
                                      </a:rPr>
                                      <m:t>3</m:t>
                                    </m:r>
                                  </m:sup>
                                </m:sSup>
                              </m:oMath>
                            </m:oMathPara>
                          </a14:m>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solidFill>
                                <a:schemeClr val="tx1"/>
                              </a:solidFill>
                              <a:effectLst/>
                            </a:rPr>
                            <a:t> </a:t>
                          </a:r>
                          <a:endPar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solidFill>
                                <a:schemeClr val="tx1"/>
                              </a:solidFill>
                              <a:effectLst/>
                            </a:rPr>
                            <a:t> </a:t>
                          </a:r>
                          <a:endPar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6974647"/>
                      </a:ext>
                    </a:extLst>
                  </a:tr>
                </a:tbl>
              </a:graphicData>
            </a:graphic>
          </p:graphicFrame>
        </mc:Choice>
        <mc:Fallback xmlns="">
          <p:graphicFrame>
            <p:nvGraphicFramePr>
              <p:cNvPr id="2" name="Table 1">
                <a:extLst>
                  <a:ext uri="{FF2B5EF4-FFF2-40B4-BE49-F238E27FC236}">
                    <a16:creationId xmlns:a16="http://schemas.microsoft.com/office/drawing/2014/main" id="{DFC25500-A58D-4F42-B518-638A3E2C055A}"/>
                  </a:ext>
                </a:extLst>
              </p:cNvPr>
              <p:cNvGraphicFramePr>
                <a:graphicFrameLocks noGrp="1"/>
              </p:cNvGraphicFramePr>
              <p:nvPr>
                <p:extLst>
                  <p:ext uri="{D42A27DB-BD31-4B8C-83A1-F6EECF244321}">
                    <p14:modId xmlns:p14="http://schemas.microsoft.com/office/powerpoint/2010/main" val="1391193812"/>
                  </p:ext>
                </p:extLst>
              </p:nvPr>
            </p:nvGraphicFramePr>
            <p:xfrm>
              <a:off x="1021739" y="1354858"/>
              <a:ext cx="6489403" cy="3228028"/>
            </p:xfrm>
            <a:graphic>
              <a:graphicData uri="http://schemas.openxmlformats.org/drawingml/2006/table">
                <a:tbl>
                  <a:tblPr firstRow="1" firstCol="1" bandRow="1">
                    <a:tableStyleId>{F2DE63D5-997A-4646-A377-4702673A728D}</a:tableStyleId>
                  </a:tblPr>
                  <a:tblGrid>
                    <a:gridCol w="2359783">
                      <a:extLst>
                        <a:ext uri="{9D8B030D-6E8A-4147-A177-3AD203B41FA5}">
                          <a16:colId xmlns:a16="http://schemas.microsoft.com/office/drawing/2014/main" val="2135552968"/>
                        </a:ext>
                      </a:extLst>
                    </a:gridCol>
                    <a:gridCol w="2949729">
                      <a:extLst>
                        <a:ext uri="{9D8B030D-6E8A-4147-A177-3AD203B41FA5}">
                          <a16:colId xmlns:a16="http://schemas.microsoft.com/office/drawing/2014/main" val="345007559"/>
                        </a:ext>
                      </a:extLst>
                    </a:gridCol>
                    <a:gridCol w="1179891">
                      <a:extLst>
                        <a:ext uri="{9D8B030D-6E8A-4147-A177-3AD203B41FA5}">
                          <a16:colId xmlns:a16="http://schemas.microsoft.com/office/drawing/2014/main" val="3387126651"/>
                        </a:ext>
                      </a:extLst>
                    </a:gridCol>
                  </a:tblGrid>
                  <a:tr h="679585">
                    <a:tc>
                      <a:txBody>
                        <a:bodyPr/>
                        <a:lstStyle/>
                        <a:p>
                          <a:pPr marL="0" marR="0" algn="ctr">
                            <a:spcBef>
                              <a:spcPts val="0"/>
                            </a:spcBef>
                            <a:spcAft>
                              <a:spcPts val="0"/>
                            </a:spcAft>
                          </a:pPr>
                          <a:r>
                            <a:rPr lang="en-US" sz="1600">
                              <a:solidFill>
                                <a:schemeClr val="tx1"/>
                              </a:solidFill>
                              <a:effectLst/>
                            </a:rPr>
                            <a:t>Exponential Expression</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rPr>
                            <a:t>Apply Quotient of Powers Exponent Law</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rPr>
                            <a:t>Value</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6371582"/>
                      </a:ext>
                    </a:extLst>
                  </a:tr>
                  <a:tr h="84948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8" t="-80597" r="-175806" b="-20149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0258" t="-80597" r="-40343" b="-201493"/>
                          </a:stretch>
                        </a:blipFill>
                      </a:tcPr>
                    </a:tc>
                    <a:tc>
                      <a:txBody>
                        <a:bodyPr/>
                        <a:lstStyle/>
                        <a:p>
                          <a:pPr marL="0" marR="0" algn="ctr">
                            <a:spcBef>
                              <a:spcPts val="0"/>
                            </a:spcBef>
                            <a:spcAft>
                              <a:spcPts val="0"/>
                            </a:spcAft>
                          </a:pPr>
                          <a:r>
                            <a:rPr lang="en-US" sz="1600">
                              <a:solidFill>
                                <a:schemeClr val="tx1"/>
                              </a:solidFill>
                              <a:effectLst/>
                            </a:rPr>
                            <a:t> </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8874508"/>
                      </a:ext>
                    </a:extLst>
                  </a:tr>
                  <a:tr h="84948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8" t="-180597" r="-175806" b="-101493"/>
                          </a:stretch>
                        </a:blipFill>
                      </a:tcPr>
                    </a:tc>
                    <a:tc>
                      <a:txBody>
                        <a:bodyPr/>
                        <a:lstStyle/>
                        <a:p>
                          <a:pPr marL="0" marR="0" algn="ctr">
                            <a:spcBef>
                              <a:spcPts val="0"/>
                            </a:spcBef>
                            <a:spcAft>
                              <a:spcPts val="0"/>
                            </a:spcAft>
                          </a:pPr>
                          <a:r>
                            <a:rPr lang="en-US" sz="1600">
                              <a:solidFill>
                                <a:schemeClr val="tx1"/>
                              </a:solidFill>
                              <a:effectLst/>
                            </a:rPr>
                            <a:t> </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solidFill>
                                <a:schemeClr val="tx1"/>
                              </a:solidFill>
                              <a:effectLst/>
                            </a:rPr>
                            <a:t> </a:t>
                          </a:r>
                          <a:endParaRPr lang="en-US" sz="11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1380751"/>
                      </a:ext>
                    </a:extLst>
                  </a:tr>
                  <a:tr h="84948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8" t="-280597" r="-175806" b="-1493"/>
                          </a:stretch>
                        </a:blipFill>
                      </a:tcPr>
                    </a:tc>
                    <a:tc>
                      <a:txBody>
                        <a:bodyPr/>
                        <a:lstStyle/>
                        <a:p>
                          <a:pPr marL="0" marR="0" algn="ctr">
                            <a:spcBef>
                              <a:spcPts val="0"/>
                            </a:spcBef>
                            <a:spcAft>
                              <a:spcPts val="0"/>
                            </a:spcAft>
                          </a:pPr>
                          <a:r>
                            <a:rPr lang="en-US" sz="1600" dirty="0">
                              <a:solidFill>
                                <a:schemeClr val="tx1"/>
                              </a:solidFill>
                              <a:effectLst/>
                            </a:rPr>
                            <a:t> </a:t>
                          </a:r>
                          <a:endPar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solidFill>
                                <a:schemeClr val="tx1"/>
                              </a:solidFill>
                              <a:effectLst/>
                            </a:rPr>
                            <a:t> </a:t>
                          </a:r>
                          <a:endParaRPr lang="en-US" sz="11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6974647"/>
                      </a:ext>
                    </a:extLst>
                  </a:tr>
                </a:tbl>
              </a:graphicData>
            </a:graphic>
          </p:graphicFrame>
        </mc:Fallback>
      </mc:AlternateContent>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07178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2007766" y="410667"/>
                <a:ext cx="8045211" cy="5230366"/>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Several equivalent expressions are shown using the negative exponent law.</a:t>
                </a: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m:t>
                            </m:r>
                          </m:e>
                          <m:sup>
                            <m:r>
                              <a:rPr lang="en-US" sz="2000" i="1">
                                <a:latin typeface="Cambria Math" panose="02040503050406030204" pitchFamily="18" charset="0"/>
                              </a:rPr>
                              <m:t>−3</m:t>
                            </m:r>
                          </m:sup>
                        </m:sSup>
                        <m:r>
                          <a:rPr lang="en-US" sz="2000" i="1">
                            <a:latin typeface="Cambria Math" panose="02040503050406030204" pitchFamily="18" charset="0"/>
                          </a:rPr>
                          <m:t>)</m:t>
                        </m:r>
                      </m:e>
                      <m:sup>
                        <m:r>
                          <a:rPr lang="en-US" sz="2000" i="1">
                            <a:latin typeface="Cambria Math" panose="02040503050406030204" pitchFamily="18" charset="0"/>
                          </a:rPr>
                          <m:t>2</m:t>
                        </m:r>
                      </m:sup>
                    </m:sSup>
                    <m:r>
                      <a:rPr lang="en-US" sz="2000" i="1">
                        <a:latin typeface="Cambria Math" panose="02040503050406030204" pitchFamily="18" charset="0"/>
                      </a:rPr>
                      <m:t>= </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m:t>
                                </m:r>
                              </m:num>
                              <m:den>
                                <m:sSup>
                                  <m:sSupPr>
                                    <m:ctrlPr>
                                      <a:rPr lang="en-US" sz="2000" i="1">
                                        <a:latin typeface="Cambria Math" panose="02040503050406030204" pitchFamily="18" charset="0"/>
                                      </a:rPr>
                                    </m:ctrlPr>
                                  </m:sSupPr>
                                  <m:e>
                                    <m:r>
                                      <a:rPr lang="en-US" sz="2000" i="1">
                                        <a:latin typeface="Cambria Math" panose="02040503050406030204" pitchFamily="18" charset="0"/>
                                      </a:rPr>
                                      <m:t>5</m:t>
                                    </m:r>
                                  </m:e>
                                  <m:sup>
                                    <m:r>
                                      <a:rPr lang="en-US" sz="2000" i="1">
                                        <a:latin typeface="Cambria Math" panose="02040503050406030204" pitchFamily="18" charset="0"/>
                                      </a:rPr>
                                      <m:t>3</m:t>
                                    </m:r>
                                  </m:sup>
                                </m:sSup>
                              </m:den>
                            </m:f>
                          </m:e>
                        </m:d>
                      </m:e>
                      <m:sup>
                        <m:r>
                          <a:rPr lang="en-US" sz="2000" i="1">
                            <a:latin typeface="Cambria Math" panose="02040503050406030204" pitchFamily="18" charset="0"/>
                          </a:rPr>
                          <m:t>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 </a:t>
                </a:r>
                <a14:m>
                  <m:oMath xmlns:m="http://schemas.openxmlformats.org/officeDocument/2006/math">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5∙5∙5</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5∙5∙5</m:t>
                            </m:r>
                          </m:den>
                        </m:f>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5∙5∙5∙5∙5∙5</m:t>
                        </m:r>
                      </m:den>
                    </m:f>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m:t>
                        </m:r>
                      </m:e>
                      <m:sup>
                        <m:r>
                          <a:rPr lang="en-US" sz="2000" i="1">
                            <a:latin typeface="Cambria Math" panose="02040503050406030204" pitchFamily="18" charset="0"/>
                          </a:rPr>
                          <m:t>−6</m:t>
                        </m:r>
                      </m:sup>
                    </m:sSup>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6075"/>
                <a:r>
                  <a:rPr lang="en-US" sz="2000" dirty="0">
                    <a:latin typeface="Verdana" panose="020B0604030504040204" pitchFamily="34" charset="0"/>
                    <a:ea typeface="Verdana" panose="020B0604030504040204" pitchFamily="34" charset="0"/>
                    <a:cs typeface="Verdana" panose="020B0604030504040204" pitchFamily="34" charset="0"/>
                  </a:rPr>
                  <a:t>Which exponent law(s) can also be used to show </a:t>
                </a:r>
              </a:p>
              <a:p>
                <a:pPr marL="346075"/>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m:t>
                            </m:r>
                          </m:e>
                          <m:sup>
                            <m:r>
                              <a:rPr lang="en-US" sz="2000" i="1">
                                <a:latin typeface="Cambria Math" panose="02040503050406030204" pitchFamily="18" charset="0"/>
                              </a:rPr>
                              <m:t>−3</m:t>
                            </m:r>
                          </m:sup>
                        </m:sSup>
                        <m:r>
                          <a:rPr lang="en-US" sz="2000" i="1">
                            <a:latin typeface="Cambria Math" panose="02040503050406030204" pitchFamily="18" charset="0"/>
                          </a:rPr>
                          <m:t>)</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m:t>
                        </m:r>
                      </m:e>
                      <m:sup>
                        <m:r>
                          <a:rPr lang="en-US" sz="2000" i="1">
                            <a:latin typeface="Cambria Math" panose="02040503050406030204" pitchFamily="18" charset="0"/>
                          </a:rPr>
                          <m:t>−6</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342900" indent="-3429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indent="346075"/>
                <a:r>
                  <a:rPr lang="en-US" sz="2000" dirty="0">
                    <a:latin typeface="Verdana" panose="020B0604030504040204" pitchFamily="34" charset="0"/>
                    <a:ea typeface="Verdana" panose="020B0604030504040204" pitchFamily="34" charset="0"/>
                    <a:cs typeface="Verdana" panose="020B0604030504040204" pitchFamily="34" charset="0"/>
                  </a:rPr>
                  <a:t>The laws of exponents                   hold true for </a:t>
                </a:r>
              </a:p>
              <a:p>
                <a:pPr indent="346075"/>
                <a:endParaRPr lang="en-US" sz="2000" dirty="0">
                  <a:latin typeface="Verdana" panose="020B0604030504040204" pitchFamily="34" charset="0"/>
                  <a:ea typeface="Verdana" panose="020B0604030504040204" pitchFamily="34" charset="0"/>
                  <a:cs typeface="Verdana" panose="020B0604030504040204" pitchFamily="34" charset="0"/>
                </a:endParaRPr>
              </a:p>
              <a:p>
                <a:pPr marL="346075"/>
                <a:r>
                  <a:rPr lang="en-US" sz="2000" dirty="0">
                    <a:latin typeface="Verdana" panose="020B0604030504040204" pitchFamily="34" charset="0"/>
                    <a:ea typeface="Verdana" panose="020B0604030504040204" pitchFamily="34" charset="0"/>
                    <a:cs typeface="Verdana" panose="020B0604030504040204" pitchFamily="34" charset="0"/>
                  </a:rPr>
                  <a:t>numeric expressions with rational bases and</a:t>
                </a:r>
              </a:p>
              <a:p>
                <a:pPr marL="346075"/>
                <a:endParaRPr lang="en-US" sz="2000" dirty="0">
                  <a:latin typeface="Verdana" panose="020B0604030504040204" pitchFamily="34" charset="0"/>
                  <a:ea typeface="Verdana" panose="020B0604030504040204" pitchFamily="34" charset="0"/>
                  <a:cs typeface="Verdana" panose="020B0604030504040204" pitchFamily="34" charset="0"/>
                </a:endParaRPr>
              </a:p>
              <a:p>
                <a:pPr marL="346075"/>
                <a:r>
                  <a:rPr lang="en-US" sz="2000" dirty="0">
                    <a:latin typeface="Verdana" panose="020B0604030504040204" pitchFamily="34" charset="0"/>
                    <a:ea typeface="Verdana" panose="020B0604030504040204" pitchFamily="34" charset="0"/>
                    <a:cs typeface="Verdana" panose="020B0604030504040204" pitchFamily="34" charset="0"/>
                  </a:rPr>
                  <a:t>negative exponents.</a:t>
                </a:r>
              </a:p>
            </p:txBody>
          </p:sp>
        </mc:Choice>
        <mc:Fallback xmlns="">
          <p:sp>
            <p:nvSpPr>
              <p:cNvPr id="208" name="Google Shape;208;p8"/>
              <p:cNvSpPr txBox="1">
                <a:spLocks noRot="1" noChangeAspect="1" noMove="1" noResize="1" noEditPoints="1" noAdjustHandles="1" noChangeArrowheads="1" noChangeShapeType="1" noTextEdit="1"/>
              </p:cNvSpPr>
              <p:nvPr/>
            </p:nvSpPr>
            <p:spPr>
              <a:xfrm>
                <a:off x="2007766" y="410667"/>
                <a:ext cx="8045211" cy="5230366"/>
              </a:xfrm>
              <a:prstGeom prst="rect">
                <a:avLst/>
              </a:prstGeom>
              <a:blipFill rotWithShape="0">
                <a:blip r:embed="rId3"/>
                <a:stretch>
                  <a:fillRect l="-833" t="-699" b="-1166"/>
                </a:stretch>
              </a:blipFill>
              <a:ln>
                <a:noFill/>
              </a:ln>
            </p:spPr>
            <p:txBody>
              <a:bodyPr/>
              <a:lstStyle/>
              <a:p>
                <a:r>
                  <a:rPr lang="en-US">
                    <a:noFill/>
                  </a:rPr>
                  <a:t> </a:t>
                </a:r>
              </a:p>
            </p:txBody>
          </p:sp>
        </mc:Fallback>
      </mc:AlternateContent>
      <p:sp>
        <p:nvSpPr>
          <p:cNvPr id="209" name="Google Shape;209;p8"/>
          <p:cNvSpPr/>
          <p:nvPr/>
        </p:nvSpPr>
        <p:spPr>
          <a:xfrm>
            <a:off x="-5457"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A picture containing shape&#10;&#10;Description automatically generated">
            <a:extLst>
              <a:ext uri="{FF2B5EF4-FFF2-40B4-BE49-F238E27FC236}">
                <a16:creationId xmlns:a16="http://schemas.microsoft.com/office/drawing/2014/main" id="{A0713CBF-472B-944D-B64C-BF60445B2B81}"/>
              </a:ext>
            </a:extLst>
          </p:cNvPr>
          <p:cNvPicPr>
            <a:picLocks noChangeAspect="1"/>
          </p:cNvPicPr>
          <p:nvPr/>
        </p:nvPicPr>
        <p:blipFill>
          <a:blip r:embed="rId4"/>
          <a:stretch>
            <a:fillRect/>
          </a:stretch>
        </p:blipFill>
        <p:spPr>
          <a:xfrm>
            <a:off x="5313813" y="3716087"/>
            <a:ext cx="1564374" cy="890968"/>
          </a:xfrm>
          <a:prstGeom prst="rect">
            <a:avLst/>
          </a:prstGeom>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25835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94362" y="-41274"/>
            <a:ext cx="9376837"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3.4.7 Wrap-Up: Cool Down</a:t>
            </a:r>
            <a:endParaRPr dirty="0"/>
          </a:p>
        </p:txBody>
      </p:sp>
      <p:pic>
        <p:nvPicPr>
          <p:cNvPr id="468" name="Google Shape;468;p34"/>
          <p:cNvPicPr preferRelativeResize="0"/>
          <p:nvPr/>
        </p:nvPicPr>
        <p:blipFill rotWithShape="1">
          <a:blip r:embed="rId3">
            <a:alphaModFix/>
          </a:blip>
          <a:srcRect/>
          <a:stretch/>
        </p:blipFill>
        <p:spPr>
          <a:xfrm>
            <a:off x="664913" y="203222"/>
            <a:ext cx="747300" cy="747300"/>
          </a:xfrm>
          <a:prstGeom prst="rect">
            <a:avLst/>
          </a:prstGeom>
          <a:noFill/>
          <a:ln>
            <a:noFill/>
          </a:ln>
          <a:effectLst>
            <a:outerShdw blurRad="50800" dist="38100" dir="2700000" algn="tl" rotWithShape="0">
              <a:srgbClr val="000000">
                <a:alpha val="40000"/>
              </a:srgbClr>
            </a:outerShdw>
          </a:effectLst>
        </p:spPr>
      </p:pic>
      <p:sp>
        <p:nvSpPr>
          <p:cNvPr id="470" name="Google Shape;470;p34"/>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pic>
        <p:nvPicPr>
          <p:cNvPr id="3" name="Picture 2">
            <a:extLst>
              <a:ext uri="{FF2B5EF4-FFF2-40B4-BE49-F238E27FC236}">
                <a16:creationId xmlns:a16="http://schemas.microsoft.com/office/drawing/2014/main" id="{717891B3-1F78-D8F4-D7D1-9F6936E92CFC}"/>
              </a:ext>
            </a:extLst>
          </p:cNvPr>
          <p:cNvPicPr>
            <a:picLocks noChangeAspect="1"/>
          </p:cNvPicPr>
          <p:nvPr/>
        </p:nvPicPr>
        <p:blipFill>
          <a:blip r:embed="rId5"/>
          <a:stretch>
            <a:fillRect/>
          </a:stretch>
        </p:blipFill>
        <p:spPr>
          <a:xfrm>
            <a:off x="900040" y="1553189"/>
            <a:ext cx="8537874" cy="1742783"/>
          </a:xfrm>
          <a:prstGeom prst="rect">
            <a:avLst/>
          </a:prstGeom>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1197</Words>
  <Application>Microsoft Office PowerPoint</Application>
  <PresentationFormat>Widescreen</PresentationFormat>
  <Paragraphs>311</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Arial Black</vt:lpstr>
      <vt:lpstr>Calibri</vt:lpstr>
      <vt:lpstr>Cambria Math</vt:lpstr>
      <vt:lpstr>Century Gothic</vt:lpstr>
      <vt:lpstr>Verdana</vt:lpstr>
      <vt:lpstr>1_Office Theme</vt:lpstr>
      <vt:lpstr>7th Grade Accelerated Math  Unit 3, Lesson 4  Negative Exponent Law  Volume 1, pg. 117  </vt:lpstr>
      <vt:lpstr>Benchmark</vt:lpstr>
      <vt:lpstr>PowerPoint Presentation</vt:lpstr>
      <vt:lpstr>PowerPoint Presentation</vt:lpstr>
      <vt:lpstr>Warm-Up</vt:lpstr>
      <vt:lpstr>PowerPoint Presentation</vt:lpstr>
      <vt:lpstr>Collaboration</vt:lpstr>
      <vt:lpstr>PowerPoint Presentation</vt:lpstr>
      <vt:lpstr>PowerPoint Presentation</vt:lpstr>
      <vt:lpstr>Exploration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Accelerated Math  Unit 3, Lesson 4  Negative Exponent Law  Volume x, pg. #  </dc:title>
  <dc:creator>Karen McKenzie</dc:creator>
  <cp:lastModifiedBy>Cassie O'Connor</cp:lastModifiedBy>
  <cp:revision>8</cp:revision>
  <dcterms:created xsi:type="dcterms:W3CDTF">2015-03-17T18:51:18Z</dcterms:created>
  <dcterms:modified xsi:type="dcterms:W3CDTF">2022-07-27T02:11:44Z</dcterms:modified>
</cp:coreProperties>
</file>