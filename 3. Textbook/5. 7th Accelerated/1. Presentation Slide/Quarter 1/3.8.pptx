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93" r:id="rId9"/>
    <p:sldId id="294" r:id="rId10"/>
    <p:sldId id="295" r:id="rId11"/>
    <p:sldId id="296" r:id="rId12"/>
    <p:sldId id="297" r:id="rId13"/>
    <p:sldId id="298" r:id="rId14"/>
    <p:sldId id="275" r:id="rId15"/>
    <p:sldId id="276" r:id="rId16"/>
    <p:sldId id="277" r:id="rId17"/>
    <p:sldId id="299" r:id="rId18"/>
    <p:sldId id="300" r:id="rId19"/>
    <p:sldId id="301" r:id="rId20"/>
    <p:sldId id="263" r:id="rId21"/>
    <p:sldId id="264" r:id="rId22"/>
    <p:sldId id="265" r:id="rId23"/>
    <p:sldId id="302" r:id="rId24"/>
    <p:sldId id="303" r:id="rId25"/>
    <p:sldId id="304" r:id="rId26"/>
    <p:sldId id="305" r:id="rId27"/>
    <p:sldId id="290" r:id="rId28"/>
    <p:sldId id="291"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gmwbqYbtu5YpsP+R29NhyWnQlF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0"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extLst>
      <p:ext uri="{BB962C8B-B14F-4D97-AF65-F5344CB8AC3E}">
        <p14:creationId xmlns:p14="http://schemas.microsoft.com/office/powerpoint/2010/main" val="3256413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extLst>
      <p:ext uri="{BB962C8B-B14F-4D97-AF65-F5344CB8AC3E}">
        <p14:creationId xmlns:p14="http://schemas.microsoft.com/office/powerpoint/2010/main" val="1250899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extLst>
      <p:ext uri="{BB962C8B-B14F-4D97-AF65-F5344CB8AC3E}">
        <p14:creationId xmlns:p14="http://schemas.microsoft.com/office/powerpoint/2010/main" val="1405216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extLst>
      <p:ext uri="{BB962C8B-B14F-4D97-AF65-F5344CB8AC3E}">
        <p14:creationId xmlns:p14="http://schemas.microsoft.com/office/powerpoint/2010/main" val="3455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1177440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36043798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extLst>
      <p:ext uri="{BB962C8B-B14F-4D97-AF65-F5344CB8AC3E}">
        <p14:creationId xmlns:p14="http://schemas.microsoft.com/office/powerpoint/2010/main" val="2923622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27182320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extLst>
      <p:ext uri="{BB962C8B-B14F-4D97-AF65-F5344CB8AC3E}">
        <p14:creationId xmlns:p14="http://schemas.microsoft.com/office/powerpoint/2010/main" val="30981302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extLst>
      <p:ext uri="{BB962C8B-B14F-4D97-AF65-F5344CB8AC3E}">
        <p14:creationId xmlns:p14="http://schemas.microsoft.com/office/powerpoint/2010/main" val="3060397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29732767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extLst>
      <p:ext uri="{BB962C8B-B14F-4D97-AF65-F5344CB8AC3E}">
        <p14:creationId xmlns:p14="http://schemas.microsoft.com/office/powerpoint/2010/main" val="35767643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6966671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extLst>
      <p:ext uri="{BB962C8B-B14F-4D97-AF65-F5344CB8AC3E}">
        <p14:creationId xmlns:p14="http://schemas.microsoft.com/office/powerpoint/2010/main" val="29687840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extLst>
      <p:ext uri="{BB962C8B-B14F-4D97-AF65-F5344CB8AC3E}">
        <p14:creationId xmlns:p14="http://schemas.microsoft.com/office/powerpoint/2010/main" val="994380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extLst>
      <p:ext uri="{BB962C8B-B14F-4D97-AF65-F5344CB8AC3E}">
        <p14:creationId xmlns:p14="http://schemas.microsoft.com/office/powerpoint/2010/main" val="19410961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8</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Writing Large Numbers in Scientific Notation</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139</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266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1270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651450" y="1111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827950" y="346900"/>
            <a:ext cx="747300" cy="747300"/>
          </a:xfrm>
          <a:prstGeom prst="rect">
            <a:avLst/>
          </a:prstGeom>
          <a:noFill/>
          <a:ln>
            <a:noFill/>
          </a:ln>
          <a:effectLst>
            <a:outerShdw blurRad="57150" dist="19050" dir="5400000" algn="bl" rotWithShape="0">
              <a:srgbClr val="000000">
                <a:alpha val="49803"/>
              </a:srgbClr>
            </a:outerShdw>
          </a:effectLst>
        </p:spPr>
      </p:pic>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981200" y="1600200"/>
            <a:ext cx="8229600" cy="4767943"/>
          </a:xfrm>
          <a:prstGeom prst="rect">
            <a:avLst/>
          </a:prstGeom>
          <a:noFill/>
          <a:ln>
            <a:noFill/>
          </a:ln>
        </p:spPr>
        <p:txBody>
          <a:bodyPr spcFirstLastPara="1" wrap="square" lIns="91425" tIns="45700" rIns="91425" bIns="45700" anchor="t" anchorCtr="0">
            <a:normAutofit fontScale="92500" lnSpcReduction="20000"/>
          </a:bodyPr>
          <a:lstStyle/>
          <a:p>
            <a:pPr>
              <a:lnSpc>
                <a:spcPct val="110000"/>
              </a:lnSpc>
              <a:spcBef>
                <a:spcPts val="750"/>
              </a:spcBef>
              <a:buClr>
                <a:schemeClr val="dk1"/>
              </a:buClr>
              <a:buSzPts val="1100"/>
            </a:pPr>
            <a:r>
              <a:rPr lang="en-US" sz="2400" dirty="0">
                <a:latin typeface="Verdana" panose="020B0604030504040204" pitchFamily="34" charset="0"/>
                <a:ea typeface="Verdana" panose="020B0604030504040204" pitchFamily="34" charset="0"/>
                <a:cs typeface="Verdana" panose="020B0604030504040204" pitchFamily="34" charset="0"/>
              </a:rPr>
              <a:t>MA.8.NSO.1.3 </a:t>
            </a:r>
          </a:p>
          <a:p>
            <a:pPr>
              <a:lnSpc>
                <a:spcPct val="110000"/>
              </a:lnSpc>
              <a:spcBef>
                <a:spcPts val="750"/>
              </a:spcBef>
              <a:buClr>
                <a:schemeClr val="dk1"/>
              </a:buClr>
              <a:buSzPts val="1100"/>
            </a:pPr>
            <a:r>
              <a:rPr lang="en-US" sz="2400" dirty="0">
                <a:latin typeface="Verdana" panose="020B0604030504040204" pitchFamily="34" charset="0"/>
                <a:ea typeface="Verdana" panose="020B0604030504040204" pitchFamily="34" charset="0"/>
                <a:cs typeface="Verdana" panose="020B0604030504040204" pitchFamily="34" charset="0"/>
              </a:rPr>
              <a:t>	Extend previous understanding of the Laws of 	Exponents to include integer exponents. 	Apply the Laws of Exponents to evaluate 	numerical expressions and generate equivalent 	numerical expressions, limited to integer 	exponents and rational number bases, with 	procedural fluency.</a:t>
            </a:r>
          </a:p>
          <a:p>
            <a:pPr>
              <a:lnSpc>
                <a:spcPct val="110000"/>
              </a:lnSpc>
              <a:spcBef>
                <a:spcPts val="750"/>
              </a:spcBef>
              <a:buClr>
                <a:schemeClr val="dk1"/>
              </a:buClr>
              <a:buSzPts val="1100"/>
            </a:pPr>
            <a:r>
              <a:rPr lang="en-US" sz="2400" dirty="0">
                <a:latin typeface="Verdana" panose="020B0604030504040204" pitchFamily="34" charset="0"/>
                <a:ea typeface="Verdana" panose="020B0604030504040204" pitchFamily="34" charset="0"/>
                <a:cs typeface="Verdana" panose="020B0604030504040204" pitchFamily="34" charset="0"/>
              </a:rPr>
              <a:t>MA.8.NSO.1.4 </a:t>
            </a:r>
          </a:p>
          <a:p>
            <a:pPr>
              <a:lnSpc>
                <a:spcPct val="110000"/>
              </a:lnSpc>
              <a:spcBef>
                <a:spcPts val="750"/>
              </a:spcBef>
              <a:buClr>
                <a:schemeClr val="dk1"/>
              </a:buClr>
              <a:buSzPts val="1100"/>
            </a:pPr>
            <a:r>
              <a:rPr lang="en-US" sz="2400" dirty="0">
                <a:latin typeface="Verdana" panose="020B0604030504040204" pitchFamily="34" charset="0"/>
                <a:ea typeface="Verdana" panose="020B0604030504040204" pitchFamily="34" charset="0"/>
                <a:cs typeface="Verdana" panose="020B0604030504040204" pitchFamily="34" charset="0"/>
              </a:rPr>
              <a:t>	Express numbers in scientific notation to 	represent and approximate very large or very 	small quantities. Determine how many times 	larger or smaller one number is compared to 	a second number.</a:t>
            </a:r>
            <a:endParaRPr sz="2100" dirty="0">
              <a:solidFill>
                <a:schemeClr val="dk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
        <p:nvSpPr>
          <p:cNvPr id="8"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139</a:t>
            </a:r>
            <a:endParaRPr i="1"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853350" y="458609"/>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678000" y="215976"/>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866900" y="1596390"/>
            <a:ext cx="9045960" cy="4205700"/>
          </a:xfrm>
          <a:prstGeom prst="rect">
            <a:avLst/>
          </a:prstGeom>
          <a:noFill/>
          <a:ln>
            <a:noFill/>
          </a:ln>
        </p:spPr>
        <p:txBody>
          <a:bodyPr spcFirstLastPara="1" wrap="square" lIns="91425" tIns="45700" rIns="91425" bIns="45700" anchor="t" anchorCtr="0">
            <a:noAutofit/>
          </a:bodyPr>
          <a:lstStyle/>
          <a:p>
            <a:r>
              <a:rPr lang="en-US" sz="1800" dirty="0">
                <a:solidFill>
                  <a:schemeClr val="dk1"/>
                </a:solidFill>
                <a:latin typeface="Verdana"/>
                <a:ea typeface="Verdana"/>
                <a:cs typeface="Verdana"/>
                <a:sym typeface="Verdana"/>
              </a:rPr>
              <a:t>MA.K12.MTR.1.1 Actively participate in effortful learning both individually and collectively.</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MA.K12.MTR.2.1 Demonstrate understanding by representing problems in multiple ways.</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MA.K12.MTR.3.1 Complete tasks with mathematical fluency.</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MA.K12.MTR.4.1 Engage in discussions that reflect on the mathematical thinking of self and others.</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MA.K12.MTR.5.1 Use patterns and structure to help understand and connect mathematical concepts.</a:t>
            </a:r>
            <a:endParaRPr dirty="0"/>
          </a:p>
          <a:p>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MA.K12.MTR.7.1 Apply mathematics to real-world contexts.</a:t>
            </a:r>
            <a:endParaRPr sz="1800" dirty="0">
              <a:solidFill>
                <a:schemeClr val="dk1"/>
              </a:solidFill>
              <a:latin typeface="Verdana"/>
              <a:ea typeface="Verdana"/>
              <a:cs typeface="Verdana"/>
              <a:sym typeface="Verdana"/>
            </a:endParaRPr>
          </a:p>
        </p:txBody>
      </p:sp>
      <p:sp>
        <p:nvSpPr>
          <p:cNvPr id="138" name="Google Shape;138;p1"/>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10"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139</a:t>
            </a:r>
            <a:endParaRPr i="1" dirty="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501169"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719007" y="28920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600200" y="1600200"/>
            <a:ext cx="8991600"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2400" dirty="0">
                <a:latin typeface="Verdana" panose="020B0604030504040204" pitchFamily="34" charset="0"/>
                <a:ea typeface="Verdana" panose="020B0604030504040204" pitchFamily="34" charset="0"/>
                <a:cs typeface="Verdana" panose="020B0604030504040204" pitchFamily="34" charset="0"/>
              </a:rPr>
              <a:t>I can use the laws of exponents to evaluate numerical expressions with a base of 10 and exponents greater than or equal to 0. </a:t>
            </a:r>
          </a:p>
          <a:p>
            <a:pPr marL="457200" indent="-450850">
              <a:buClr>
                <a:srgbClr val="434343"/>
              </a:buClr>
              <a:buSzPts val="3500"/>
              <a:buFont typeface="Verdana"/>
              <a:buChar char="❏"/>
            </a:pPr>
            <a:r>
              <a:rPr lang="en-US" sz="2400" dirty="0">
                <a:latin typeface="Verdana" panose="020B0604030504040204" pitchFamily="34" charset="0"/>
                <a:ea typeface="Verdana" panose="020B0604030504040204" pitchFamily="34" charset="0"/>
                <a:cs typeface="Verdana" panose="020B0604030504040204" pitchFamily="34" charset="0"/>
              </a:rPr>
              <a:t>I can express large numbers using scientific notation. </a:t>
            </a:r>
          </a:p>
          <a:p>
            <a:pPr marL="457200" indent="-450850">
              <a:buClr>
                <a:srgbClr val="434343"/>
              </a:buClr>
              <a:buSzPts val="3500"/>
              <a:buFont typeface="Verdana"/>
              <a:buChar char="❏"/>
            </a:pPr>
            <a:r>
              <a:rPr lang="en-US" sz="2400" dirty="0">
                <a:latin typeface="Verdana" panose="020B0604030504040204" pitchFamily="34" charset="0"/>
                <a:ea typeface="Verdana" panose="020B0604030504040204" pitchFamily="34" charset="0"/>
                <a:cs typeface="Verdana" panose="020B0604030504040204" pitchFamily="34" charset="0"/>
              </a:rPr>
              <a:t>I can determine how many times larger or smaller a number is compared to another expressed in scientific notation.</a:t>
            </a:r>
            <a:endParaRPr sz="1050" dirty="0">
              <a:latin typeface="Verdana" panose="020B0604030504040204" pitchFamily="34" charset="0"/>
              <a:ea typeface="Verdana" panose="020B0604030504040204" pitchFamily="34" charset="0"/>
              <a:cs typeface="Verdana" panose="020B0604030504040204" pitchFamily="34" charset="0"/>
            </a:endParaRPr>
          </a:p>
        </p:txBody>
      </p:sp>
      <p:sp>
        <p:nvSpPr>
          <p:cNvPr id="149" name="Google Shape;149;p2"/>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10"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139</a:t>
            </a:r>
            <a:endParaRPr i="1" dirty="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140</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453288" y="-46810"/>
            <a:ext cx="9202012"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3.8.1 Warm-Up: Grains of Sand</a:t>
            </a:r>
            <a:endParaRPr dirty="0"/>
          </a:p>
        </p:txBody>
      </p:sp>
      <p:pic>
        <p:nvPicPr>
          <p:cNvPr id="167" name="Google Shape;167;p4"/>
          <p:cNvPicPr preferRelativeResize="0"/>
          <p:nvPr/>
        </p:nvPicPr>
        <p:blipFill rotWithShape="1">
          <a:blip r:embed="rId3">
            <a:alphaModFix/>
          </a:blip>
          <a:srcRect/>
          <a:stretch/>
        </p:blipFill>
        <p:spPr>
          <a:xfrm>
            <a:off x="705988" y="217350"/>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391191" y="1386026"/>
            <a:ext cx="5923559" cy="1015622"/>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The beaches on Siesta Key are 99% quartz, meaning that the beaches are made of some of the finest grains of sand. </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170" name="Google Shape;170;p4"/>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A picture containing text, sky, outdoor, beach&#10;&#10;Description automatically generated">
            <a:extLst>
              <a:ext uri="{FF2B5EF4-FFF2-40B4-BE49-F238E27FC236}">
                <a16:creationId xmlns:a16="http://schemas.microsoft.com/office/drawing/2014/main" id="{21221641-5E4F-1C4C-95AE-363C344B4A8D}"/>
              </a:ext>
            </a:extLst>
          </p:cNvPr>
          <p:cNvPicPr>
            <a:picLocks noChangeAspect="1"/>
          </p:cNvPicPr>
          <p:nvPr/>
        </p:nvPicPr>
        <p:blipFill>
          <a:blip r:embed="rId4"/>
          <a:stretch>
            <a:fillRect/>
          </a:stretch>
        </p:blipFill>
        <p:spPr>
          <a:xfrm>
            <a:off x="7187293" y="1273024"/>
            <a:ext cx="3238500" cy="1549400"/>
          </a:xfrm>
          <a:prstGeom prst="rect">
            <a:avLst/>
          </a:prstGeom>
        </p:spPr>
      </p:pic>
      <p:sp>
        <p:nvSpPr>
          <p:cNvPr id="10" name="Google Shape;169;p4">
            <a:extLst>
              <a:ext uri="{FF2B5EF4-FFF2-40B4-BE49-F238E27FC236}">
                <a16:creationId xmlns:a16="http://schemas.microsoft.com/office/drawing/2014/main" id="{34622674-AAC1-F24B-9BDF-E51C395BC7A9}"/>
              </a:ext>
            </a:extLst>
          </p:cNvPr>
          <p:cNvSpPr txBox="1"/>
          <p:nvPr/>
        </p:nvSpPr>
        <p:spPr>
          <a:xfrm>
            <a:off x="1117600" y="3130798"/>
            <a:ext cx="9104086" cy="101562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Suppose you have a teaspoon of the sand from Siesta Key. How could the teaspoon of sand be used to estimate the number of grains of sand in a bucket of sand?</a:t>
            </a:r>
            <a:endParaRPr sz="2000" dirty="0">
              <a:latin typeface="Verdana" panose="020B0604030504040204" pitchFamily="34" charset="0"/>
              <a:ea typeface="Verdana" panose="020B0604030504040204" pitchFamily="34" charset="0"/>
              <a:cs typeface="Verdana" panose="020B0604030504040204" pitchFamily="34" charset="0"/>
            </a:endParaRPr>
          </a:p>
        </p:txBody>
      </p:sp>
      <p:pic>
        <p:nvPicPr>
          <p:cNvPr id="12"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13"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140</a:t>
            </a:r>
            <a:endParaRPr i="1" dirty="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8" name="Google Shape;178;p5"/>
          <p:cNvSpPr txBox="1"/>
          <p:nvPr/>
        </p:nvSpPr>
        <p:spPr>
          <a:xfrm>
            <a:off x="1092200" y="520393"/>
            <a:ext cx="10158266" cy="2554505"/>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A group of researchers at the University of Hawaii used a teaspoon of sand to estimate the number of grains of sand on all of the beaches on the Earth. Their estimate was that there are roughly seven quintillion, five hundred quadrillion grains of sand. A quintillion is </a:t>
            </a:r>
            <a:r>
              <a:rPr lang="en-US" sz="2000" dirty="0">
                <a:latin typeface="Cambria Math" panose="02040503050406030204" pitchFamily="18" charset="0"/>
                <a:ea typeface="Cambria Math" panose="02040503050406030204" pitchFamily="18" charset="0"/>
                <a:cs typeface="Verdana" panose="020B0604030504040204" pitchFamily="34" charset="0"/>
              </a:rPr>
              <a:t>1,000,000,000,000,000,000</a:t>
            </a:r>
            <a:r>
              <a:rPr lang="en-US" sz="2000" dirty="0">
                <a:latin typeface="Verdana" panose="020B0604030504040204" pitchFamily="34" charset="0"/>
                <a:ea typeface="Verdana" panose="020B0604030504040204" pitchFamily="34" charset="0"/>
                <a:cs typeface="Verdana" panose="020B0604030504040204" pitchFamily="34" charset="0"/>
              </a:rPr>
              <a:t> and a quadrillion is </a:t>
            </a:r>
            <a:r>
              <a:rPr lang="en-US" sz="2000" dirty="0">
                <a:latin typeface="Cambria Math" panose="02040503050406030204" pitchFamily="18" charset="0"/>
                <a:ea typeface="Cambria Math" panose="02040503050406030204" pitchFamily="18" charset="0"/>
                <a:cs typeface="Verdana" panose="020B0604030504040204" pitchFamily="34" charset="0"/>
              </a:rPr>
              <a:t>1,000,000,000,000,000</a:t>
            </a:r>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2. Write seven quintillion, five hundred quadrillion.</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179" name="Google Shape;179;p5"/>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8"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140</a:t>
            </a:r>
            <a:endParaRPr i="1" dirty="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17" name="Google Shape;21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19" name="Google Shape;21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140</a:t>
            </a:r>
            <a:endParaRPr i="1" dirty="0">
              <a:latin typeface="Calibri"/>
              <a:ea typeface="Calibri"/>
              <a:cs typeface="Calibri"/>
              <a:sym typeface="Calibri"/>
            </a:endParaRPr>
          </a:p>
        </p:txBody>
      </p:sp>
    </p:spTree>
    <p:extLst>
      <p:ext uri="{BB962C8B-B14F-4D97-AF65-F5344CB8AC3E}">
        <p14:creationId xmlns:p14="http://schemas.microsoft.com/office/powerpoint/2010/main" val="4034010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6" name="Google Shape;226;p10"/>
          <p:cNvSpPr txBox="1"/>
          <p:nvPr/>
        </p:nvSpPr>
        <p:spPr>
          <a:xfrm>
            <a:off x="1275250" y="60325"/>
            <a:ext cx="916415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3.8.2 Exploration: Powers of Ten</a:t>
            </a:r>
            <a:endParaRPr dirty="0"/>
          </a:p>
        </p:txBody>
      </p:sp>
      <p:pic>
        <p:nvPicPr>
          <p:cNvPr id="228" name="Google Shape;228;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18952" y="308450"/>
            <a:ext cx="752254" cy="752254"/>
          </a:xfrm>
          <a:prstGeom prst="rect">
            <a:avLst/>
          </a:prstGeom>
          <a:noFill/>
          <a:ln>
            <a:noFill/>
          </a:ln>
          <a:effectLst>
            <a:outerShdw blurRad="50800" dist="38100" dir="2700000" algn="tl" rotWithShape="0">
              <a:srgbClr val="000000">
                <a:alpha val="40000"/>
              </a:srgbClr>
            </a:outerShdw>
          </a:effectLst>
        </p:spPr>
      </p:pic>
      <p:sp>
        <p:nvSpPr>
          <p:cNvPr id="229" name="Google Shape;229;p10"/>
          <p:cNvSpPr txBox="1"/>
          <p:nvPr/>
        </p:nvSpPr>
        <p:spPr>
          <a:xfrm>
            <a:off x="1271206" y="1386025"/>
            <a:ext cx="4246002" cy="2554505"/>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a scientific calculator to find the value of each power of </a:t>
            </a:r>
            <a:r>
              <a:rPr lang="en-US" sz="2000" dirty="0">
                <a:latin typeface="Cambria Math" panose="02040503050406030204" pitchFamily="18" charset="0"/>
                <a:ea typeface="Cambria Math" panose="02040503050406030204" pitchFamily="18" charset="0"/>
                <a:cs typeface="Verdana" panose="020B0604030504040204" pitchFamily="34" charset="0"/>
              </a:rPr>
              <a:t>10</a:t>
            </a:r>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relationship between the power of </a:t>
            </a:r>
            <a:r>
              <a:rPr lang="en-US" sz="2000" dirty="0">
                <a:latin typeface="Cambria Math" panose="02040503050406030204" pitchFamily="18" charset="0"/>
                <a:ea typeface="Cambria Math" panose="02040503050406030204" pitchFamily="18" charset="0"/>
                <a:cs typeface="Verdana" panose="020B0604030504040204" pitchFamily="34" charset="0"/>
              </a:rPr>
              <a:t>10</a:t>
            </a:r>
            <a:r>
              <a:rPr lang="en-US" sz="2000" dirty="0">
                <a:latin typeface="Verdana" panose="020B0604030504040204" pitchFamily="34" charset="0"/>
                <a:ea typeface="Verdana" panose="020B0604030504040204" pitchFamily="34" charset="0"/>
                <a:cs typeface="Verdana" panose="020B0604030504040204" pitchFamily="34" charset="0"/>
              </a:rPr>
              <a:t> and its value?</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230" name="Google Shape;230;p10"/>
          <p:cNvSpPr/>
          <p:nvPr/>
        </p:nvSpPr>
        <p:spPr>
          <a:xfrm>
            <a:off x="0" y="-8225"/>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9B5292F9-32CE-B543-8360-97C3CC8C6824}"/>
              </a:ext>
            </a:extLst>
          </p:cNvPr>
          <p:cNvPicPr>
            <a:picLocks noChangeAspect="1"/>
          </p:cNvPicPr>
          <p:nvPr/>
        </p:nvPicPr>
        <p:blipFill>
          <a:blip r:embed="rId4"/>
          <a:stretch>
            <a:fillRect/>
          </a:stretch>
        </p:blipFill>
        <p:spPr>
          <a:xfrm>
            <a:off x="5594884" y="1316557"/>
            <a:ext cx="5021942" cy="4216536"/>
          </a:xfrm>
          <a:prstGeom prst="rect">
            <a:avLst/>
          </a:prstGeom>
        </p:spPr>
      </p:pic>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11"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140</a:t>
            </a:r>
            <a:endParaRPr i="1" dirty="0">
              <a:latin typeface="Calibri"/>
              <a:ea typeface="Calibri"/>
              <a:cs typeface="Calibri"/>
              <a:sym typeface="Calibri"/>
            </a:endParaRPr>
          </a:p>
        </p:txBody>
      </p:sp>
    </p:spTree>
    <p:extLst>
      <p:ext uri="{BB962C8B-B14F-4D97-AF65-F5344CB8AC3E}">
        <p14:creationId xmlns:p14="http://schemas.microsoft.com/office/powerpoint/2010/main" val="1675931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1270000" y="374090"/>
                <a:ext cx="9802666" cy="4708941"/>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table</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describe how the exponent of the power of ten relates to place value. </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Based on the pattern in the table, what is the value of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10</m:t>
                        </m:r>
                      </m:e>
                      <m:sup>
                        <m:r>
                          <a:rPr lang="en-US" sz="2000" i="1">
                            <a:latin typeface="Cambria Math" panose="02040503050406030204" pitchFamily="18" charset="0"/>
                            <a:ea typeface="Verdana" panose="020B0604030504040204" pitchFamily="34" charset="0"/>
                            <a:cs typeface="Verdana" panose="020B0604030504040204" pitchFamily="34" charset="0"/>
                          </a:rPr>
                          <m:t>0</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t>
                </a:r>
                <a:endParaRPr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38" name="Google Shape;238;p11"/>
              <p:cNvSpPr txBox="1">
                <a:spLocks noRot="1" noChangeAspect="1" noMove="1" noResize="1" noEditPoints="1" noAdjustHandles="1" noChangeArrowheads="1" noChangeShapeType="1" noTextEdit="1"/>
              </p:cNvSpPr>
              <p:nvPr/>
            </p:nvSpPr>
            <p:spPr>
              <a:xfrm>
                <a:off x="1270000" y="374090"/>
                <a:ext cx="9802666" cy="4708941"/>
              </a:xfrm>
              <a:prstGeom prst="rect">
                <a:avLst/>
              </a:prstGeom>
              <a:blipFill rotWithShape="0">
                <a:blip r:embed="rId3"/>
                <a:stretch>
                  <a:fillRect l="-684" t="-776" b="-1423"/>
                </a:stretch>
              </a:blipFill>
              <a:ln>
                <a:noFill/>
              </a:ln>
            </p:spPr>
            <p:txBody>
              <a:bodyPr/>
              <a:lstStyle/>
              <a:p>
                <a:r>
                  <a:rPr lang="en-US">
                    <a:noFill/>
                  </a:rPr>
                  <a:t> </a:t>
                </a:r>
              </a:p>
            </p:txBody>
          </p:sp>
        </mc:Fallback>
      </mc:AlternateContent>
      <p:sp>
        <p:nvSpPr>
          <p:cNvPr id="239" name="Google Shape;239;p11"/>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24097F22-F3EF-B044-8FBF-8D54EF9B4310}"/>
              </a:ext>
            </a:extLst>
          </p:cNvPr>
          <p:cNvPicPr>
            <a:picLocks noChangeAspect="1"/>
          </p:cNvPicPr>
          <p:nvPr/>
        </p:nvPicPr>
        <p:blipFill>
          <a:blip r:embed="rId4"/>
          <a:stretch>
            <a:fillRect/>
          </a:stretch>
        </p:blipFill>
        <p:spPr>
          <a:xfrm>
            <a:off x="2983633" y="869950"/>
            <a:ext cx="6375400" cy="1917700"/>
          </a:xfrm>
          <a:prstGeom prst="rect">
            <a:avLst/>
          </a:prstGeom>
        </p:spPr>
      </p:pic>
      <p:pic>
        <p:nvPicPr>
          <p:cNvPr id="7"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140-141</a:t>
            </a:r>
            <a:endParaRPr i="1" dirty="0">
              <a:latin typeface="Calibri"/>
              <a:ea typeface="Calibri"/>
              <a:cs typeface="Calibri"/>
              <a:sym typeface="Calibri"/>
            </a:endParaRPr>
          </a:p>
        </p:txBody>
      </p:sp>
    </p:spTree>
    <p:extLst>
      <p:ext uri="{BB962C8B-B14F-4D97-AF65-F5344CB8AC3E}">
        <p14:creationId xmlns:p14="http://schemas.microsoft.com/office/powerpoint/2010/main" val="3509742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17" name="Google Shape;21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19" name="Google Shape;21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141</a:t>
            </a:r>
            <a:endParaRPr i="1" dirty="0">
              <a:latin typeface="Calibri"/>
              <a:ea typeface="Calibri"/>
              <a:cs typeface="Calibri"/>
              <a:sym typeface="Calibri"/>
            </a:endParaRPr>
          </a:p>
        </p:txBody>
      </p:sp>
    </p:spTree>
    <p:extLst>
      <p:ext uri="{BB962C8B-B14F-4D97-AF65-F5344CB8AC3E}">
        <p14:creationId xmlns:p14="http://schemas.microsoft.com/office/powerpoint/2010/main" val="1000608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6" name="Google Shape;226;p10"/>
          <p:cNvSpPr txBox="1"/>
          <p:nvPr/>
        </p:nvSpPr>
        <p:spPr>
          <a:xfrm>
            <a:off x="1452833" y="603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3.8.3 Exploration: Patterns on Scientific Notation</a:t>
            </a:r>
            <a:endParaRPr dirty="0"/>
          </a:p>
        </p:txBody>
      </p:sp>
      <p:pic>
        <p:nvPicPr>
          <p:cNvPr id="228" name="Google Shape;228;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6535" y="308451"/>
            <a:ext cx="752254" cy="752254"/>
          </a:xfrm>
          <a:prstGeom prst="rect">
            <a:avLst/>
          </a:prstGeom>
          <a:noFill/>
          <a:ln>
            <a:noFill/>
          </a:ln>
          <a:effectLst>
            <a:outerShdw blurRad="50800" dist="38100" dir="2700000" algn="tl" rotWithShape="0">
              <a:srgbClr val="000000">
                <a:alpha val="40000"/>
              </a:srgbClr>
            </a:outerShdw>
          </a:effectLst>
        </p:spPr>
      </p:pic>
      <p:sp>
        <p:nvSpPr>
          <p:cNvPr id="229" name="Google Shape;229;p10"/>
          <p:cNvSpPr txBox="1"/>
          <p:nvPr/>
        </p:nvSpPr>
        <p:spPr>
          <a:xfrm>
            <a:off x="1549400" y="1386026"/>
            <a:ext cx="9349232" cy="1631175"/>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Very large numbers can be written using powers of </a:t>
            </a:r>
            <a:r>
              <a:rPr lang="en-US" sz="2000" dirty="0">
                <a:latin typeface="Cambria Math" panose="02040503050406030204" pitchFamily="18" charset="0"/>
                <a:ea typeface="Cambria Math" panose="02040503050406030204" pitchFamily="18" charset="0"/>
                <a:cs typeface="Verdana" panose="020B0604030504040204" pitchFamily="34" charset="0"/>
              </a:rPr>
              <a:t>10</a:t>
            </a:r>
            <a:r>
              <a:rPr lang="en-US" sz="2000" dirty="0">
                <a:latin typeface="Verdana" panose="020B0604030504040204" pitchFamily="34" charset="0"/>
                <a:ea typeface="Verdana" panose="020B0604030504040204" pitchFamily="34" charset="0"/>
                <a:cs typeface="Verdana" panose="020B0604030504040204" pitchFamily="34" charset="0"/>
              </a:rPr>
              <a:t> in a shorthand method called scientific notation.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table.</a:t>
            </a:r>
          </a:p>
          <a:p>
            <a:pPr lvl="0"/>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230" name="Google Shape;230;p10"/>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AE3B3870-698F-3F49-AE56-F2B9B42F77BD}"/>
              </a:ext>
            </a:extLst>
          </p:cNvPr>
          <p:cNvPicPr>
            <a:picLocks noChangeAspect="1"/>
          </p:cNvPicPr>
          <p:nvPr/>
        </p:nvPicPr>
        <p:blipFill>
          <a:blip r:embed="rId4"/>
          <a:stretch>
            <a:fillRect/>
          </a:stretch>
        </p:blipFill>
        <p:spPr>
          <a:xfrm>
            <a:off x="3203575" y="2653782"/>
            <a:ext cx="5784850" cy="3910236"/>
          </a:xfrm>
          <a:prstGeom prst="rect">
            <a:avLst/>
          </a:prstGeom>
        </p:spPr>
      </p:pic>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11"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141</a:t>
            </a:r>
            <a:endParaRPr i="1" dirty="0">
              <a:latin typeface="Calibri"/>
              <a:ea typeface="Calibri"/>
              <a:cs typeface="Calibri"/>
              <a:sym typeface="Calibri"/>
            </a:endParaRPr>
          </a:p>
        </p:txBody>
      </p:sp>
    </p:spTree>
    <p:extLst>
      <p:ext uri="{BB962C8B-B14F-4D97-AF65-F5344CB8AC3E}">
        <p14:creationId xmlns:p14="http://schemas.microsoft.com/office/powerpoint/2010/main" val="3025434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8" name="Google Shape;238;p11"/>
          <p:cNvSpPr txBox="1"/>
          <p:nvPr/>
        </p:nvSpPr>
        <p:spPr>
          <a:xfrm>
            <a:off x="1397000" y="374090"/>
            <a:ext cx="9548666" cy="5632271"/>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Select two of the numbers. Work with your partner to name something in the world that is described by those numbers.</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describe at least two patterns in the relationships among the power of </a:t>
            </a:r>
            <a:r>
              <a:rPr lang="en-US" sz="2000" dirty="0">
                <a:latin typeface="Cambria Math" panose="02040503050406030204" pitchFamily="18" charset="0"/>
                <a:ea typeface="Cambria Math" panose="02040503050406030204" pitchFamily="18" charset="0"/>
                <a:cs typeface="Verdana" panose="020B0604030504040204" pitchFamily="34" charset="0"/>
              </a:rPr>
              <a:t>10</a:t>
            </a:r>
            <a:r>
              <a:rPr lang="en-US" sz="2000" dirty="0">
                <a:latin typeface="Verdana" panose="020B0604030504040204" pitchFamily="34" charset="0"/>
                <a:ea typeface="Verdana" panose="020B0604030504040204" pitchFamily="34" charset="0"/>
                <a:cs typeface="Verdana" panose="020B0604030504040204" pitchFamily="34" charset="0"/>
              </a:rPr>
              <a:t>, the numerical value, the scientific notation, and/or the word form.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lvl="0"/>
            <a:r>
              <a:rPr lang="en-US" sz="2000" dirty="0">
                <a:latin typeface="Verdana" panose="020B0604030504040204" pitchFamily="34" charset="0"/>
                <a:ea typeface="Verdana" panose="020B0604030504040204" pitchFamily="34" charset="0"/>
                <a:cs typeface="Verdana" panose="020B0604030504040204" pitchFamily="34" charset="0"/>
              </a:rPr>
              <a:t>a. </a:t>
            </a:r>
          </a:p>
          <a:p>
            <a:pPr marL="465138"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lvl="0"/>
            <a:r>
              <a:rPr lang="en-US" sz="2000" dirty="0">
                <a:latin typeface="Verdana" panose="020B0604030504040204" pitchFamily="34" charset="0"/>
                <a:ea typeface="Verdana" panose="020B0604030504040204" pitchFamily="34" charset="0"/>
                <a:cs typeface="Verdana" panose="020B0604030504040204" pitchFamily="34" charset="0"/>
              </a:rPr>
              <a:t>b. </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239" name="Google Shape;239;p11"/>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D6B33FDC-782B-0640-AB5B-0A171801B68C}"/>
              </a:ext>
            </a:extLst>
          </p:cNvPr>
          <p:cNvPicPr>
            <a:picLocks noChangeAspect="1"/>
          </p:cNvPicPr>
          <p:nvPr/>
        </p:nvPicPr>
        <p:blipFill>
          <a:blip r:embed="rId3"/>
          <a:stretch>
            <a:fillRect/>
          </a:stretch>
        </p:blipFill>
        <p:spPr>
          <a:xfrm>
            <a:off x="3467554" y="1137011"/>
            <a:ext cx="5256893" cy="1931314"/>
          </a:xfrm>
          <a:prstGeom prst="rect">
            <a:avLst/>
          </a:prstGeom>
        </p:spPr>
      </p:pic>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141-142</a:t>
            </a:r>
            <a:endParaRPr i="1" dirty="0">
              <a:latin typeface="Calibri"/>
              <a:ea typeface="Calibri"/>
              <a:cs typeface="Calibri"/>
              <a:sym typeface="Calibri"/>
            </a:endParaRPr>
          </a:p>
        </p:txBody>
      </p:sp>
    </p:spTree>
    <p:extLst>
      <p:ext uri="{BB962C8B-B14F-4D97-AF65-F5344CB8AC3E}">
        <p14:creationId xmlns:p14="http://schemas.microsoft.com/office/powerpoint/2010/main" val="2444321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810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142</a:t>
            </a:r>
            <a:endParaRPr i="1" dirty="0">
              <a:latin typeface="Calibri"/>
              <a:ea typeface="Calibri"/>
              <a:cs typeface="Calibri"/>
              <a:sym typeface="Calibri"/>
            </a:endParaRPr>
          </a:p>
        </p:txBody>
      </p:sp>
    </p:spTree>
    <p:extLst>
      <p:ext uri="{BB962C8B-B14F-4D97-AF65-F5344CB8AC3E}">
        <p14:creationId xmlns:p14="http://schemas.microsoft.com/office/powerpoint/2010/main" val="1642782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390575" y="-51598"/>
            <a:ext cx="89301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dirty="0">
                <a:solidFill>
                  <a:srgbClr val="54B5D1"/>
                </a:solidFill>
                <a:latin typeface="Verdana"/>
                <a:ea typeface="Verdana"/>
                <a:cs typeface="Verdana"/>
                <a:sym typeface="Verdana"/>
              </a:rPr>
              <a:t>3.8.4 Guided Instruction: Writing Large Numbers in Scientific Notation</a:t>
            </a:r>
            <a:endParaRPr sz="3000" dirty="0"/>
          </a:p>
        </p:txBody>
      </p:sp>
      <p:pic>
        <p:nvPicPr>
          <p:cNvPr id="317" name="Google Shape;317;p19"/>
          <p:cNvPicPr preferRelativeResize="0"/>
          <p:nvPr/>
        </p:nvPicPr>
        <p:blipFill rotWithShape="1">
          <a:blip r:embed="rId3">
            <a:alphaModFix/>
          </a:blip>
          <a:srcRect/>
          <a:stretch/>
        </p:blipFill>
        <p:spPr>
          <a:xfrm>
            <a:off x="605175" y="179512"/>
            <a:ext cx="747300" cy="747300"/>
          </a:xfrm>
          <a:prstGeom prst="rect">
            <a:avLst/>
          </a:prstGeom>
          <a:noFill/>
          <a:ln>
            <a:noFill/>
          </a:ln>
          <a:effectLst>
            <a:outerShdw blurRad="50800" dist="38100" dir="2700000" algn="tl" rotWithShape="0">
              <a:srgbClr val="000000">
                <a:alpha val="40000"/>
              </a:srgbClr>
            </a:outerShdw>
          </a:effectLst>
        </p:spPr>
      </p:pic>
      <p:sp>
        <p:nvSpPr>
          <p:cNvPr id="319" name="Google Shape;319;p19"/>
          <p:cNvSpPr txBox="1"/>
          <p:nvPr/>
        </p:nvSpPr>
        <p:spPr>
          <a:xfrm>
            <a:off x="1638300" y="1386025"/>
            <a:ext cx="8749284" cy="2862282"/>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Consider the number </a:t>
            </a:r>
            <a:r>
              <a:rPr lang="en-US" sz="2000" dirty="0">
                <a:latin typeface="Cambria Math" panose="02040503050406030204" pitchFamily="18" charset="0"/>
                <a:ea typeface="Cambria Math" panose="02040503050406030204" pitchFamily="18" charset="0"/>
                <a:cs typeface="Verdana" panose="020B0604030504040204" pitchFamily="34" charset="0"/>
              </a:rPr>
              <a:t>2,000,000</a:t>
            </a:r>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power of ten represents </a:t>
            </a:r>
            <a:r>
              <a:rPr lang="en-US" sz="2000" dirty="0">
                <a:latin typeface="Cambria Math" panose="02040503050406030204" pitchFamily="18" charset="0"/>
                <a:ea typeface="Cambria Math" panose="02040503050406030204" pitchFamily="18" charset="0"/>
                <a:cs typeface="Verdana" panose="020B0604030504040204" pitchFamily="34" charset="0"/>
              </a:rPr>
              <a:t>1 million</a:t>
            </a:r>
            <a:r>
              <a:rPr lang="en-US" sz="2000" dirty="0">
                <a:latin typeface="Verdana" panose="020B0604030504040204" pitchFamily="34" charset="0"/>
                <a:ea typeface="Verdana" panose="020B0604030504040204" pitchFamily="34" charset="0"/>
                <a:cs typeface="Verdana" panose="020B0604030504040204" pitchFamily="34" charset="0"/>
              </a:rPr>
              <a:t>? </a:t>
            </a: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multiplication sentence to express </a:t>
            </a:r>
            <a:r>
              <a:rPr lang="en-US" sz="2000" dirty="0">
                <a:latin typeface="Cambria Math" panose="02040503050406030204" pitchFamily="18" charset="0"/>
                <a:ea typeface="Cambria Math" panose="02040503050406030204" pitchFamily="18" charset="0"/>
                <a:cs typeface="Verdana" panose="020B0604030504040204" pitchFamily="34" charset="0"/>
              </a:rPr>
              <a:t>2,000,000</a:t>
            </a:r>
            <a:r>
              <a:rPr lang="en-US" sz="2000" dirty="0">
                <a:latin typeface="Verdana" panose="020B0604030504040204" pitchFamily="34" charset="0"/>
                <a:ea typeface="Verdana" panose="020B0604030504040204" pitchFamily="34" charset="0"/>
                <a:cs typeface="Verdana" panose="020B0604030504040204" pitchFamily="34" charset="0"/>
              </a:rPr>
              <a:t> using this power of </a:t>
            </a:r>
            <a:r>
              <a:rPr lang="en-US" sz="2000" dirty="0">
                <a:latin typeface="Cambria Math" panose="02040503050406030204" pitchFamily="18" charset="0"/>
                <a:ea typeface="Cambria Math" panose="02040503050406030204" pitchFamily="18" charset="0"/>
                <a:cs typeface="Verdana" panose="020B0604030504040204" pitchFamily="34" charset="0"/>
              </a:rPr>
              <a:t>10</a:t>
            </a:r>
            <a:r>
              <a:rPr lang="en-US" sz="2000" dirty="0">
                <a:latin typeface="Verdana" panose="020B0604030504040204" pitchFamily="34" charset="0"/>
                <a:ea typeface="Verdana" panose="020B0604030504040204" pitchFamily="34" charset="0"/>
                <a:cs typeface="Verdana" panose="020B0604030504040204" pitchFamily="34" charset="0"/>
              </a:rPr>
              <a:t>. </a:t>
            </a: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320" name="Google Shape;320;p19"/>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Shape&#10;&#10;Description automatically generated">
            <a:extLst>
              <a:ext uri="{FF2B5EF4-FFF2-40B4-BE49-F238E27FC236}">
                <a16:creationId xmlns:a16="http://schemas.microsoft.com/office/drawing/2014/main" id="{A9537859-10B8-EE4D-9F17-C26D57F7681D}"/>
              </a:ext>
            </a:extLst>
          </p:cNvPr>
          <p:cNvPicPr>
            <a:picLocks noChangeAspect="1"/>
          </p:cNvPicPr>
          <p:nvPr/>
        </p:nvPicPr>
        <p:blipFill>
          <a:blip r:embed="rId4"/>
          <a:stretch>
            <a:fillRect/>
          </a:stretch>
        </p:blipFill>
        <p:spPr>
          <a:xfrm>
            <a:off x="7755164" y="1890198"/>
            <a:ext cx="774700" cy="711200"/>
          </a:xfrm>
          <a:prstGeom prst="rect">
            <a:avLst/>
          </a:prstGeom>
        </p:spPr>
      </p:pic>
      <p:pic>
        <p:nvPicPr>
          <p:cNvPr id="5" name="Picture 4" descr="A picture containing shape&#10;&#10;Description automatically generated">
            <a:extLst>
              <a:ext uri="{FF2B5EF4-FFF2-40B4-BE49-F238E27FC236}">
                <a16:creationId xmlns:a16="http://schemas.microsoft.com/office/drawing/2014/main" id="{0F1185EB-2636-954B-B46A-B3F54632755E}"/>
              </a:ext>
            </a:extLst>
          </p:cNvPr>
          <p:cNvPicPr>
            <a:picLocks noChangeAspect="1"/>
          </p:cNvPicPr>
          <p:nvPr/>
        </p:nvPicPr>
        <p:blipFill>
          <a:blip r:embed="rId5"/>
          <a:stretch>
            <a:fillRect/>
          </a:stretch>
        </p:blipFill>
        <p:spPr>
          <a:xfrm>
            <a:off x="4477098" y="3562271"/>
            <a:ext cx="3493837" cy="754586"/>
          </a:xfrm>
          <a:prstGeom prst="rect">
            <a:avLst/>
          </a:prstGeom>
        </p:spPr>
      </p:pic>
      <p:pic>
        <p:nvPicPr>
          <p:cNvPr id="7" name="Picture 6" descr="Graphical user interface, text, application, chat or text message&#10;&#10;Description automatically generated">
            <a:extLst>
              <a:ext uri="{FF2B5EF4-FFF2-40B4-BE49-F238E27FC236}">
                <a16:creationId xmlns:a16="http://schemas.microsoft.com/office/drawing/2014/main" id="{93DEC183-8AE3-874B-B139-EDB4EFCBCE08}"/>
              </a:ext>
            </a:extLst>
          </p:cNvPr>
          <p:cNvPicPr>
            <a:picLocks noChangeAspect="1"/>
          </p:cNvPicPr>
          <p:nvPr/>
        </p:nvPicPr>
        <p:blipFill rotWithShape="1">
          <a:blip r:embed="rId6"/>
          <a:srcRect r="900" b="4658"/>
          <a:stretch/>
        </p:blipFill>
        <p:spPr>
          <a:xfrm>
            <a:off x="2593068" y="4422598"/>
            <a:ext cx="6942818" cy="1695174"/>
          </a:xfrm>
          <a:prstGeom prst="rect">
            <a:avLst/>
          </a:prstGeom>
          <a:effectLst>
            <a:outerShdw blurRad="50800" dist="50800" dir="5400000" sx="102000" sy="102000" algn="ctr" rotWithShape="0">
              <a:srgbClr val="000000">
                <a:alpha val="39752"/>
              </a:srgbClr>
            </a:outerShdw>
            <a:softEdge rad="72403"/>
          </a:effectLst>
        </p:spPr>
      </p:pic>
      <p:pic>
        <p:nvPicPr>
          <p:cNvPr id="11"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12"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142</a:t>
            </a:r>
            <a:endParaRPr i="1" dirty="0">
              <a:latin typeface="Calibri"/>
              <a:ea typeface="Calibri"/>
              <a:cs typeface="Calibri"/>
              <a:sym typeface="Calibri"/>
            </a:endParaRPr>
          </a:p>
        </p:txBody>
      </p:sp>
    </p:spTree>
    <p:extLst>
      <p:ext uri="{BB962C8B-B14F-4D97-AF65-F5344CB8AC3E}">
        <p14:creationId xmlns:p14="http://schemas.microsoft.com/office/powerpoint/2010/main" val="3689812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0"/>
          <p:cNvSpPr txBox="1"/>
          <p:nvPr/>
        </p:nvSpPr>
        <p:spPr>
          <a:xfrm>
            <a:off x="1932432" y="288746"/>
            <a:ext cx="8327136" cy="400069"/>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2. Complete the statement.</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329" name="Google Shape;329;p20"/>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 name="Picture 3" descr="Graphical user interface, text, application, chat or text message&#10;&#10;Description automatically generated">
            <a:extLst>
              <a:ext uri="{FF2B5EF4-FFF2-40B4-BE49-F238E27FC236}">
                <a16:creationId xmlns:a16="http://schemas.microsoft.com/office/drawing/2014/main" id="{F2ADF8C3-0E19-A949-92CD-A76DA5830884}"/>
              </a:ext>
            </a:extLst>
          </p:cNvPr>
          <p:cNvPicPr>
            <a:picLocks noChangeAspect="1"/>
          </p:cNvPicPr>
          <p:nvPr/>
        </p:nvPicPr>
        <p:blipFill>
          <a:blip r:embed="rId3"/>
          <a:stretch>
            <a:fillRect/>
          </a:stretch>
        </p:blipFill>
        <p:spPr>
          <a:xfrm>
            <a:off x="2211614" y="870857"/>
            <a:ext cx="7572922" cy="4645479"/>
          </a:xfrm>
          <a:prstGeom prst="rect">
            <a:avLst/>
          </a:prstGeom>
        </p:spPr>
      </p:pic>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8"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142</a:t>
            </a:r>
            <a:endParaRPr i="1" dirty="0">
              <a:latin typeface="Calibri"/>
              <a:ea typeface="Calibri"/>
              <a:cs typeface="Calibri"/>
              <a:sym typeface="Calibri"/>
            </a:endParaRPr>
          </a:p>
        </p:txBody>
      </p:sp>
    </p:spTree>
    <p:extLst>
      <p:ext uri="{BB962C8B-B14F-4D97-AF65-F5344CB8AC3E}">
        <p14:creationId xmlns:p14="http://schemas.microsoft.com/office/powerpoint/2010/main" val="2771855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2007765" y="410665"/>
                <a:ext cx="8327136" cy="348488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The expression </a:t>
                </a:r>
                <a:r>
                  <a:rPr lang="en-US" sz="2000" dirty="0">
                    <a:latin typeface="Cambria Math" panose="02040503050406030204" pitchFamily="18" charset="0"/>
                    <a:ea typeface="Cambria Math" panose="02040503050406030204" pitchFamily="18" charset="0"/>
                    <a:cs typeface="Verdana" panose="020B0604030504040204" pitchFamily="34" charset="0"/>
                  </a:rPr>
                  <a:t>20 ×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Verdana" panose="020B0604030504040204" pitchFamily="34" charset="0"/>
                          </a:rPr>
                        </m:ctrlPr>
                      </m:sSupPr>
                      <m:e>
                        <m:r>
                          <a:rPr lang="en-US" sz="2000" i="1">
                            <a:latin typeface="Cambria Math" panose="02040503050406030204" pitchFamily="18" charset="0"/>
                            <a:ea typeface="Cambria Math" panose="02040503050406030204" pitchFamily="18" charset="0"/>
                            <a:cs typeface="Verdana" panose="020B0604030504040204" pitchFamily="34" charset="0"/>
                          </a:rPr>
                          <m:t>10</m:t>
                        </m:r>
                      </m:e>
                      <m:sup>
                        <m:r>
                          <a:rPr lang="en-US" sz="2000" i="1">
                            <a:latin typeface="Cambria Math" panose="02040503050406030204" pitchFamily="18" charset="0"/>
                            <a:ea typeface="Cambria Math" panose="02040503050406030204" pitchFamily="18" charset="0"/>
                            <a:cs typeface="Verdana" panose="020B0604030504040204" pitchFamily="34" charset="0"/>
                          </a:rPr>
                          <m:t>5</m:t>
                        </m:r>
                      </m:sup>
                    </m:sSup>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is also equivalent to </a:t>
                </a:r>
                <a:r>
                  <a:rPr lang="en-US" sz="2000" dirty="0">
                    <a:latin typeface="Cambria Math" panose="02040503050406030204" pitchFamily="18" charset="0"/>
                    <a:ea typeface="Cambria Math" panose="02040503050406030204" pitchFamily="18" charset="0"/>
                    <a:cs typeface="Verdana" panose="020B0604030504040204" pitchFamily="34" charset="0"/>
                  </a:rPr>
                  <a:t>2,000,000</a:t>
                </a:r>
                <a:r>
                  <a:rPr lang="en-US" sz="2000" dirty="0">
                    <a:latin typeface="Verdana" panose="020B0604030504040204" pitchFamily="34" charset="0"/>
                    <a:ea typeface="Verdana" panose="020B0604030504040204" pitchFamily="34" charset="0"/>
                    <a:cs typeface="Verdana" panose="020B0604030504040204" pitchFamily="34" charset="0"/>
                  </a:rPr>
                  <a:t>. Use the definition of scientific notation to explain why </a:t>
                </a:r>
                <a:r>
                  <a:rPr lang="en-US" sz="2000" dirty="0">
                    <a:latin typeface="Cambria Math" panose="02040503050406030204" pitchFamily="18" charset="0"/>
                    <a:ea typeface="Cambria Math" panose="02040503050406030204" pitchFamily="18" charset="0"/>
                    <a:cs typeface="Verdana" panose="020B0604030504040204" pitchFamily="34" charset="0"/>
                  </a:rPr>
                  <a:t>20 ×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Verdana" panose="020B0604030504040204" pitchFamily="34" charset="0"/>
                          </a:rPr>
                        </m:ctrlPr>
                      </m:sSupPr>
                      <m:e>
                        <m:r>
                          <a:rPr lang="en-US" sz="2000" i="1">
                            <a:latin typeface="Cambria Math" panose="02040503050406030204" pitchFamily="18" charset="0"/>
                            <a:ea typeface="Cambria Math" panose="02040503050406030204" pitchFamily="18" charset="0"/>
                            <a:cs typeface="Verdana" panose="020B0604030504040204" pitchFamily="34" charset="0"/>
                          </a:rPr>
                          <m:t>10</m:t>
                        </m:r>
                      </m:e>
                      <m:sup>
                        <m:r>
                          <a:rPr lang="en-US" sz="2000" i="1">
                            <a:latin typeface="Cambria Math" panose="02040503050406030204" pitchFamily="18" charset="0"/>
                            <a:ea typeface="Cambria Math" panose="02040503050406030204" pitchFamily="18" charset="0"/>
                            <a:cs typeface="Verdana" panose="020B0604030504040204" pitchFamily="34" charset="0"/>
                          </a:rPr>
                          <m:t>5</m:t>
                        </m:r>
                      </m:sup>
                    </m:sSup>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is not the correct expression of </a:t>
                </a:r>
                <a:r>
                  <a:rPr lang="en-US" sz="2000" dirty="0">
                    <a:latin typeface="Cambria Math" panose="02040503050406030204" pitchFamily="18" charset="0"/>
                    <a:ea typeface="Cambria Math" panose="02040503050406030204" pitchFamily="18" charset="0"/>
                    <a:cs typeface="Verdana" panose="020B0604030504040204" pitchFamily="34" charset="0"/>
                  </a:rPr>
                  <a:t>2,000,000</a:t>
                </a:r>
                <a:r>
                  <a:rPr lang="en-US" sz="2000" dirty="0">
                    <a:latin typeface="Verdana" panose="020B0604030504040204" pitchFamily="34" charset="0"/>
                    <a:ea typeface="Verdana" panose="020B0604030504040204" pitchFamily="34" charset="0"/>
                    <a:cs typeface="Verdana" panose="020B0604030504040204" pitchFamily="34" charset="0"/>
                  </a:rPr>
                  <a:t> in scientific notation.</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Consider the standard form and scientific notation of the numbers shown in the table.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Describe the similarities and differences between the values expressed in scientific notation.</a:t>
                </a:r>
                <a:endParaRPr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483765" y="410665"/>
                <a:ext cx="8327136" cy="3484888"/>
              </a:xfrm>
              <a:prstGeom prst="rect">
                <a:avLst/>
              </a:prstGeom>
              <a:blipFill>
                <a:blip r:embed="rId3"/>
                <a:stretch>
                  <a:fillRect l="-805" t="-1049" r="-1098" b="-2273"/>
                </a:stretch>
              </a:blipFill>
              <a:ln>
                <a:noFill/>
              </a:ln>
            </p:spPr>
            <p:txBody>
              <a:bodyPr/>
              <a:lstStyle/>
              <a:p>
                <a:r>
                  <a:rPr lang="en-US">
                    <a:noFill/>
                  </a:rPr>
                  <a:t> </a:t>
                </a:r>
              </a:p>
            </p:txBody>
          </p:sp>
        </mc:Fallback>
      </mc:AlternateContent>
      <p:pic>
        <p:nvPicPr>
          <p:cNvPr id="3" name="Picture 2" descr="Table&#10;&#10;Description automatically generated">
            <a:extLst>
              <a:ext uri="{FF2B5EF4-FFF2-40B4-BE49-F238E27FC236}">
                <a16:creationId xmlns:a16="http://schemas.microsoft.com/office/drawing/2014/main" id="{A9D2A26C-9FF5-BB46-857B-99EC3D8FA4C3}"/>
              </a:ext>
            </a:extLst>
          </p:cNvPr>
          <p:cNvPicPr>
            <a:picLocks noChangeAspect="1"/>
          </p:cNvPicPr>
          <p:nvPr/>
        </p:nvPicPr>
        <p:blipFill>
          <a:blip r:embed="rId4"/>
          <a:stretch>
            <a:fillRect/>
          </a:stretch>
        </p:blipFill>
        <p:spPr>
          <a:xfrm>
            <a:off x="3510190" y="2310534"/>
            <a:ext cx="5171621" cy="936336"/>
          </a:xfrm>
          <a:prstGeom prst="rect">
            <a:avLst/>
          </a:prstGeom>
        </p:spPr>
      </p:pic>
      <p:sp>
        <p:nvSpPr>
          <p:cNvPr id="209" name="Google Shape;209;p8"/>
          <p:cNvSpPr/>
          <p:nvPr/>
        </p:nvSpPr>
        <p:spPr>
          <a:xfrm>
            <a:off x="2947"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 name="Picture 4" descr="Table&#10;&#10;Description automatically generated">
            <a:extLst>
              <a:ext uri="{FF2B5EF4-FFF2-40B4-BE49-F238E27FC236}">
                <a16:creationId xmlns:a16="http://schemas.microsoft.com/office/drawing/2014/main" id="{A2B8443A-E210-CC47-85FE-4EBD1630BD9C}"/>
              </a:ext>
            </a:extLst>
          </p:cNvPr>
          <p:cNvPicPr>
            <a:picLocks noChangeAspect="1"/>
          </p:cNvPicPr>
          <p:nvPr/>
        </p:nvPicPr>
        <p:blipFill>
          <a:blip r:embed="rId5"/>
          <a:stretch>
            <a:fillRect/>
          </a:stretch>
        </p:blipFill>
        <p:spPr>
          <a:xfrm>
            <a:off x="3381662" y="3796219"/>
            <a:ext cx="5171621" cy="2964352"/>
          </a:xfrm>
          <a:prstGeom prst="rect">
            <a:avLst/>
          </a:prstGeom>
        </p:spPr>
      </p:pic>
      <p:pic>
        <p:nvPicPr>
          <p:cNvPr id="8"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143</a:t>
            </a:r>
            <a:endParaRPr i="1" dirty="0">
              <a:latin typeface="Calibri"/>
              <a:ea typeface="Calibri"/>
              <a:cs typeface="Calibri"/>
              <a:sym typeface="Calibri"/>
            </a:endParaRPr>
          </a:p>
        </p:txBody>
      </p:sp>
    </p:spTree>
    <p:extLst>
      <p:ext uri="{BB962C8B-B14F-4D97-AF65-F5344CB8AC3E}">
        <p14:creationId xmlns:p14="http://schemas.microsoft.com/office/powerpoint/2010/main" val="2439159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2007765" y="410666"/>
            <a:ext cx="8327136" cy="6401712"/>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As explored in the previous lesson, the powers of 10 relate directly to place values.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5. The planet Venus is about 26,000,000 miles from earth.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value between 1 and 10 could be multiplied by a power of 10 to result in 26,000,000? </a:t>
            </a:r>
          </a:p>
          <a:p>
            <a:pPr marL="917575" indent="-452438">
              <a:lnSpc>
                <a:spcPct val="150000"/>
              </a:lnSpc>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lnSpc>
                <a:spcPct val="150000"/>
              </a:lnSpc>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Which digit is in the ones place of your answer to Part A?</a:t>
            </a:r>
          </a:p>
          <a:p>
            <a:pPr marL="917575" indent="-452438">
              <a:lnSpc>
                <a:spcPct val="150000"/>
              </a:lnSpc>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lnSpc>
                <a:spcPct val="150000"/>
              </a:lnSpc>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In which place value is that digit in 26,000,000? </a:t>
            </a:r>
          </a:p>
          <a:p>
            <a:pPr marL="917575" indent="-452438">
              <a:lnSpc>
                <a:spcPct val="150000"/>
              </a:lnSpc>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lnSpc>
                <a:spcPct val="150000"/>
              </a:lnSpc>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Which power of 10 relates to this place value? </a:t>
            </a:r>
          </a:p>
          <a:p>
            <a:pPr marL="917575" indent="-452438">
              <a:lnSpc>
                <a:spcPct val="150000"/>
              </a:lnSpc>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lnSpc>
                <a:spcPct val="150000"/>
              </a:lnSpc>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Express 26,000,000 in scientific notation.</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209" name="Google Shape;209;p8"/>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8"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143</a:t>
            </a:r>
            <a:endParaRPr i="1" dirty="0">
              <a:latin typeface="Calibri"/>
              <a:ea typeface="Calibri"/>
              <a:cs typeface="Calibri"/>
              <a:sym typeface="Calibri"/>
            </a:endParaRPr>
          </a:p>
        </p:txBody>
      </p:sp>
    </p:spTree>
    <p:extLst>
      <p:ext uri="{BB962C8B-B14F-4D97-AF65-F5344CB8AC3E}">
        <p14:creationId xmlns:p14="http://schemas.microsoft.com/office/powerpoint/2010/main" val="2593178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168400" y="410665"/>
            <a:ext cx="10005866" cy="70784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In 2018, funding for education in Florida totaled </a:t>
            </a:r>
            <a:r>
              <a:rPr lang="en-US" sz="2000" dirty="0">
                <a:latin typeface="Cambria Math" panose="02040503050406030204" pitchFamily="18" charset="0"/>
                <a:ea typeface="Cambria Math" panose="02040503050406030204" pitchFamily="18" charset="0"/>
                <a:cs typeface="Verdana" panose="020B0604030504040204" pitchFamily="34" charset="0"/>
              </a:rPr>
              <a:t>$30,100,000,000</a:t>
            </a:r>
            <a:r>
              <a:rPr lang="en-US" sz="2000" dirty="0">
                <a:latin typeface="Verdana" panose="020B0604030504040204" pitchFamily="34" charset="0"/>
                <a:ea typeface="Verdana" panose="020B0604030504040204" pitchFamily="34" charset="0"/>
                <a:cs typeface="Verdana" panose="020B0604030504040204" pitchFamily="34" charset="0"/>
              </a:rPr>
              <a:t>. Express this value in scientific notation.</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209" name="Google Shape;209;p8"/>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8"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143</a:t>
            </a:r>
            <a:endParaRPr i="1" dirty="0">
              <a:latin typeface="Calibri"/>
              <a:ea typeface="Calibri"/>
              <a:cs typeface="Calibri"/>
              <a:sym typeface="Calibri"/>
            </a:endParaRPr>
          </a:p>
        </p:txBody>
      </p:sp>
    </p:spTree>
    <p:extLst>
      <p:ext uri="{BB962C8B-B14F-4D97-AF65-F5344CB8AC3E}">
        <p14:creationId xmlns:p14="http://schemas.microsoft.com/office/powerpoint/2010/main" val="2531105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810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144</a:t>
            </a:r>
            <a:endParaRPr i="1" dirty="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375417" y="44094"/>
            <a:ext cx="967215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3BEA6"/>
                </a:solidFill>
                <a:latin typeface="Verdana"/>
                <a:ea typeface="Verdana"/>
                <a:cs typeface="Verdana"/>
                <a:sym typeface="Verdana"/>
              </a:rPr>
              <a:t>3.8.5 Collaboration: Comparing Large Numbers Written in Scientific Notation</a:t>
            </a:r>
            <a:endParaRPr sz="1200"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25609" y="332040"/>
            <a:ext cx="749808" cy="749808"/>
          </a:xfrm>
          <a:prstGeom prst="rect">
            <a:avLst/>
          </a:prstGeom>
          <a:noFill/>
          <a:ln>
            <a:noFill/>
          </a:ln>
          <a:effectLst>
            <a:outerShdw blurRad="50800" dist="38100" dir="2700000" algn="tl" rotWithShape="0">
              <a:srgbClr val="000000">
                <a:alpha val="40000"/>
              </a:srgbClr>
            </a:outerShdw>
          </a:effectLst>
        </p:spPr>
      </p:pic>
      <p:sp>
        <p:nvSpPr>
          <p:cNvPr id="199" name="Google Shape;199;p7"/>
          <p:cNvSpPr txBox="1"/>
          <p:nvPr/>
        </p:nvSpPr>
        <p:spPr>
          <a:xfrm>
            <a:off x="1270000" y="1673971"/>
            <a:ext cx="9064901" cy="1015622"/>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lvl="0"/>
            <a:r>
              <a:rPr lang="en-US" sz="2000" dirty="0">
                <a:latin typeface="Verdana" panose="020B0604030504040204" pitchFamily="34" charset="0"/>
                <a:ea typeface="Verdana" panose="020B0604030504040204" pitchFamily="34" charset="0"/>
                <a:cs typeface="Verdana" panose="020B0604030504040204" pitchFamily="34" charset="0"/>
              </a:rPr>
              <a:t>a. Complete the table.</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200" name="Google Shape;200;p7"/>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4FC25443-1C72-4C4E-9691-9004415EF3C2}"/>
              </a:ext>
            </a:extLst>
          </p:cNvPr>
          <p:cNvPicPr>
            <a:picLocks noChangeAspect="1"/>
          </p:cNvPicPr>
          <p:nvPr/>
        </p:nvPicPr>
        <p:blipFill>
          <a:blip r:embed="rId4"/>
          <a:stretch>
            <a:fillRect/>
          </a:stretch>
        </p:blipFill>
        <p:spPr>
          <a:xfrm>
            <a:off x="3307406" y="2878993"/>
            <a:ext cx="5577189" cy="2275114"/>
          </a:xfrm>
          <a:prstGeom prst="rect">
            <a:avLst/>
          </a:prstGeom>
        </p:spPr>
      </p:pic>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11"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144</a:t>
            </a:r>
            <a:endParaRPr i="1" dirty="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2007765" y="410665"/>
            <a:ext cx="8327136" cy="5016718"/>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b. Complete each statement.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288925" lvl="0" indent="-288925"/>
            <a:r>
              <a:rPr lang="en-US" sz="2000" dirty="0">
                <a:latin typeface="Verdana" panose="020B0604030504040204" pitchFamily="34" charset="0"/>
                <a:ea typeface="Verdana" panose="020B0604030504040204" pitchFamily="34" charset="0"/>
                <a:cs typeface="Verdana" panose="020B0604030504040204" pitchFamily="34" charset="0"/>
              </a:rPr>
              <a:t>c. Describe how to compare numbers written in scientific notation if the factors being multiplied by a power of </a:t>
            </a:r>
            <a:r>
              <a:rPr lang="en-US" sz="2000" dirty="0">
                <a:latin typeface="Cambria Math" panose="02040503050406030204" pitchFamily="18" charset="0"/>
                <a:ea typeface="Cambria Math" panose="02040503050406030204" pitchFamily="18" charset="0"/>
                <a:cs typeface="Verdana" panose="020B0604030504040204" pitchFamily="34" charset="0"/>
              </a:rPr>
              <a:t>10</a:t>
            </a:r>
            <a:r>
              <a:rPr lang="en-US" sz="2000" dirty="0">
                <a:latin typeface="Verdana" panose="020B0604030504040204" pitchFamily="34" charset="0"/>
                <a:ea typeface="Verdana" panose="020B0604030504040204" pitchFamily="34" charset="0"/>
                <a:cs typeface="Verdana" panose="020B0604030504040204" pitchFamily="34" charset="0"/>
              </a:rPr>
              <a:t> are the same.</a:t>
            </a:r>
          </a:p>
        </p:txBody>
      </p:sp>
      <p:sp>
        <p:nvSpPr>
          <p:cNvPr id="209" name="Google Shape;209;p8"/>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Graphical user interface, text, chat or text message&#10;&#10;Description automatically generated">
            <a:extLst>
              <a:ext uri="{FF2B5EF4-FFF2-40B4-BE49-F238E27FC236}">
                <a16:creationId xmlns:a16="http://schemas.microsoft.com/office/drawing/2014/main" id="{CE9D4679-A2DB-9847-AA0A-85AF5A4250A7}"/>
              </a:ext>
            </a:extLst>
          </p:cNvPr>
          <p:cNvPicPr>
            <a:picLocks noChangeAspect="1"/>
          </p:cNvPicPr>
          <p:nvPr/>
        </p:nvPicPr>
        <p:blipFill>
          <a:blip r:embed="rId3"/>
          <a:stretch>
            <a:fillRect/>
          </a:stretch>
        </p:blipFill>
        <p:spPr>
          <a:xfrm>
            <a:off x="3337379" y="867718"/>
            <a:ext cx="5392964" cy="3315599"/>
          </a:xfrm>
          <a:prstGeom prst="rect">
            <a:avLst/>
          </a:prstGeom>
        </p:spPr>
      </p:pic>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144</a:t>
            </a:r>
            <a:endParaRPr i="1" dirty="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854200" y="410666"/>
                <a:ext cx="8480701" cy="5091033"/>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2. Complete the table.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times larger is </a:t>
                </a:r>
                <a:r>
                  <a:rPr lang="en-US" sz="2000" dirty="0">
                    <a:latin typeface="Cambria Math" panose="02040503050406030204" pitchFamily="18" charset="0"/>
                    <a:ea typeface="Cambria Math" panose="02040503050406030204" pitchFamily="18" charset="0"/>
                    <a:cs typeface="Verdana" panose="020B0604030504040204" pitchFamily="34" charset="0"/>
                  </a:rPr>
                  <a:t>6.4 ×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Verdana" panose="020B0604030504040204" pitchFamily="34" charset="0"/>
                          </a:rPr>
                        </m:ctrlPr>
                      </m:sSupPr>
                      <m:e>
                        <m:r>
                          <a:rPr lang="en-US" sz="2000" i="1">
                            <a:latin typeface="Cambria Math" panose="02040503050406030204" pitchFamily="18" charset="0"/>
                            <a:ea typeface="Cambria Math" panose="02040503050406030204" pitchFamily="18" charset="0"/>
                            <a:cs typeface="Verdana" panose="020B0604030504040204" pitchFamily="34" charset="0"/>
                          </a:rPr>
                          <m:t>10</m:t>
                        </m:r>
                      </m:e>
                      <m:sup>
                        <m:r>
                          <a:rPr lang="en-US" sz="2000" i="1">
                            <a:latin typeface="Cambria Math" panose="02040503050406030204" pitchFamily="18" charset="0"/>
                            <a:ea typeface="Cambria Math" panose="02040503050406030204" pitchFamily="18" charset="0"/>
                            <a:cs typeface="Verdana" panose="020B0604030504040204" pitchFamily="34" charset="0"/>
                          </a:rPr>
                          <m:t>7 </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than </a:t>
                </a:r>
                <a:r>
                  <a:rPr lang="en-US" sz="2000" dirty="0">
                    <a:latin typeface="Cambria Math" panose="02040503050406030204" pitchFamily="18" charset="0"/>
                    <a:ea typeface="Cambria Math" panose="02040503050406030204" pitchFamily="18" charset="0"/>
                    <a:cs typeface="Verdana" panose="020B0604030504040204" pitchFamily="34" charset="0"/>
                  </a:rPr>
                  <a:t>3.2 ×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Verdana" panose="020B0604030504040204" pitchFamily="34" charset="0"/>
                          </a:rPr>
                        </m:ctrlPr>
                      </m:sSupPr>
                      <m:e>
                        <m:r>
                          <a:rPr lang="en-US" sz="2000" i="1">
                            <a:latin typeface="Cambria Math" panose="02040503050406030204" pitchFamily="18" charset="0"/>
                            <a:ea typeface="Cambria Math" panose="02040503050406030204" pitchFamily="18" charset="0"/>
                            <a:cs typeface="Verdana" panose="020B0604030504040204" pitchFamily="34" charset="0"/>
                          </a:rPr>
                          <m:t>10</m:t>
                        </m:r>
                      </m:e>
                      <m:sup>
                        <m:r>
                          <a:rPr lang="en-US" sz="2000" i="1">
                            <a:latin typeface="Cambria Math" panose="02040503050406030204" pitchFamily="18" charset="0"/>
                            <a:ea typeface="Cambria Math" panose="02040503050406030204" pitchFamily="18" charset="0"/>
                            <a:cs typeface="Verdana" panose="020B0604030504040204" pitchFamily="34" charset="0"/>
                          </a:rPr>
                          <m:t>7 </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times smaller is </a:t>
                </a:r>
                <a:r>
                  <a:rPr lang="en-US" sz="2000" dirty="0">
                    <a:latin typeface="Cambria Math" panose="02040503050406030204" pitchFamily="18" charset="0"/>
                    <a:ea typeface="Cambria Math" panose="02040503050406030204" pitchFamily="18" charset="0"/>
                    <a:cs typeface="Verdana" panose="020B0604030504040204" pitchFamily="34" charset="0"/>
                  </a:rPr>
                  <a:t>3.2 ×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Verdana" panose="020B0604030504040204" pitchFamily="34" charset="0"/>
                          </a:rPr>
                        </m:ctrlPr>
                      </m:sSupPr>
                      <m:e>
                        <m:r>
                          <a:rPr lang="en-US" sz="2000" i="1">
                            <a:latin typeface="Cambria Math" panose="02040503050406030204" pitchFamily="18" charset="0"/>
                            <a:ea typeface="Cambria Math" panose="02040503050406030204" pitchFamily="18" charset="0"/>
                            <a:cs typeface="Verdana" panose="020B0604030504040204" pitchFamily="34" charset="0"/>
                          </a:rPr>
                          <m:t>10</m:t>
                        </m:r>
                      </m:e>
                      <m:sup>
                        <m:r>
                          <a:rPr lang="en-US" sz="2000" i="1">
                            <a:latin typeface="Cambria Math" panose="02040503050406030204" pitchFamily="18" charset="0"/>
                            <a:ea typeface="Cambria Math" panose="02040503050406030204" pitchFamily="18" charset="0"/>
                            <a:cs typeface="Verdana" panose="020B0604030504040204" pitchFamily="34" charset="0"/>
                          </a:rPr>
                          <m:t>7 </m:t>
                        </m:r>
                      </m:sup>
                    </m:sSup>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than </a:t>
                </a:r>
                <a:r>
                  <a:rPr lang="en-US" sz="2000" dirty="0">
                    <a:latin typeface="Cambria Math" panose="02040503050406030204" pitchFamily="18" charset="0"/>
                    <a:ea typeface="Cambria Math" panose="02040503050406030204" pitchFamily="18" charset="0"/>
                    <a:cs typeface="Verdana" panose="020B0604030504040204" pitchFamily="34" charset="0"/>
                  </a:rPr>
                  <a:t>9.6 ×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Verdana" panose="020B0604030504040204" pitchFamily="34" charset="0"/>
                          </a:rPr>
                        </m:ctrlPr>
                      </m:sSupPr>
                      <m:e>
                        <m:r>
                          <a:rPr lang="en-US" sz="2000" i="1">
                            <a:latin typeface="Cambria Math" panose="02040503050406030204" pitchFamily="18" charset="0"/>
                            <a:ea typeface="Cambria Math" panose="02040503050406030204" pitchFamily="18" charset="0"/>
                            <a:cs typeface="Verdana" panose="020B0604030504040204" pitchFamily="34" charset="0"/>
                          </a:rPr>
                          <m:t>10</m:t>
                        </m:r>
                      </m:e>
                      <m:sup>
                        <m:r>
                          <a:rPr lang="en-US" sz="2000" i="1">
                            <a:latin typeface="Cambria Math" panose="02040503050406030204" pitchFamily="18" charset="0"/>
                            <a:ea typeface="Cambria Math" panose="02040503050406030204" pitchFamily="18" charset="0"/>
                            <a:cs typeface="Verdana" panose="020B0604030504040204" pitchFamily="34" charset="0"/>
                          </a:rPr>
                          <m:t>7 </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Describe how to compare numbers written in scientific notation if the powers of </a:t>
                </a:r>
                <a:r>
                  <a:rPr lang="en-US" sz="2000" dirty="0">
                    <a:latin typeface="Cambria Math" panose="02040503050406030204" pitchFamily="18" charset="0"/>
                    <a:ea typeface="Cambria Math" panose="02040503050406030204" pitchFamily="18" charset="0"/>
                    <a:cs typeface="Verdana" panose="020B0604030504040204" pitchFamily="34" charset="0"/>
                  </a:rPr>
                  <a:t>10 </a:t>
                </a:r>
                <a:r>
                  <a:rPr lang="en-US" sz="2000" dirty="0">
                    <a:latin typeface="Verdana" panose="020B0604030504040204" pitchFamily="34" charset="0"/>
                    <a:ea typeface="Verdana" panose="020B0604030504040204" pitchFamily="34" charset="0"/>
                    <a:cs typeface="Verdana" panose="020B0604030504040204" pitchFamily="34" charset="0"/>
                  </a:rPr>
                  <a:t>are the same.</a:t>
                </a:r>
                <a:endParaRPr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854200" y="410666"/>
                <a:ext cx="8480701" cy="5091033"/>
              </a:xfrm>
              <a:prstGeom prst="rect">
                <a:avLst/>
              </a:prstGeom>
              <a:blipFill rotWithShape="0">
                <a:blip r:embed="rId3"/>
                <a:stretch>
                  <a:fillRect l="-719" t="-598"/>
                </a:stretch>
              </a:blipFill>
              <a:ln>
                <a:noFill/>
              </a:ln>
            </p:spPr>
            <p:txBody>
              <a:bodyPr/>
              <a:lstStyle/>
              <a:p>
                <a:r>
                  <a:rPr lang="en-US">
                    <a:noFill/>
                  </a:rPr>
                  <a:t> </a:t>
                </a:r>
              </a:p>
            </p:txBody>
          </p:sp>
        </mc:Fallback>
      </mc:AlternateContent>
      <p:sp>
        <p:nvSpPr>
          <p:cNvPr id="209" name="Google Shape;209;p8"/>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A3202D5D-ABA7-714F-AC9E-0E01BF5B4CE1}"/>
              </a:ext>
            </a:extLst>
          </p:cNvPr>
          <p:cNvPicPr>
            <a:picLocks noChangeAspect="1"/>
          </p:cNvPicPr>
          <p:nvPr/>
        </p:nvPicPr>
        <p:blipFill>
          <a:blip r:embed="rId4"/>
          <a:stretch>
            <a:fillRect/>
          </a:stretch>
        </p:blipFill>
        <p:spPr>
          <a:xfrm>
            <a:off x="5280301" y="258536"/>
            <a:ext cx="5054600" cy="1638300"/>
          </a:xfrm>
          <a:prstGeom prst="rect">
            <a:avLst/>
          </a:prstGeom>
        </p:spPr>
      </p:pic>
      <p:pic>
        <p:nvPicPr>
          <p:cNvPr id="7"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144</a:t>
            </a:r>
            <a:endParaRPr i="1" dirty="0">
              <a:latin typeface="Calibri"/>
              <a:ea typeface="Calibri"/>
              <a:cs typeface="Calibri"/>
              <a:sym typeface="Calibri"/>
            </a:endParaRPr>
          </a:p>
        </p:txBody>
      </p:sp>
    </p:spTree>
    <p:extLst>
      <p:ext uri="{BB962C8B-B14F-4D97-AF65-F5344CB8AC3E}">
        <p14:creationId xmlns:p14="http://schemas.microsoft.com/office/powerpoint/2010/main" val="13494979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587500" y="410666"/>
            <a:ext cx="8747401" cy="400069"/>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3. Complete the table.</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209" name="Google Shape;209;p8"/>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F1A20E96-3025-F547-9623-D947D4F30F4E}"/>
              </a:ext>
            </a:extLst>
          </p:cNvPr>
          <p:cNvPicPr>
            <a:picLocks noChangeAspect="1"/>
          </p:cNvPicPr>
          <p:nvPr/>
        </p:nvPicPr>
        <p:blipFill>
          <a:blip r:embed="rId3"/>
          <a:stretch>
            <a:fillRect/>
          </a:stretch>
        </p:blipFill>
        <p:spPr>
          <a:xfrm>
            <a:off x="2990850" y="970642"/>
            <a:ext cx="6210300" cy="1955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662F7BB3-B635-834C-AA4F-BF55D2E5BE3D}"/>
              </a:ext>
            </a:extLst>
          </p:cNvPr>
          <p:cNvPicPr>
            <a:picLocks noChangeAspect="1"/>
          </p:cNvPicPr>
          <p:nvPr/>
        </p:nvPicPr>
        <p:blipFill>
          <a:blip r:embed="rId4"/>
          <a:stretch>
            <a:fillRect/>
          </a:stretch>
        </p:blipFill>
        <p:spPr>
          <a:xfrm>
            <a:off x="2007766" y="3086351"/>
            <a:ext cx="7785043" cy="2456505"/>
          </a:xfrm>
          <a:prstGeom prst="rect">
            <a:avLst/>
          </a:prstGeom>
        </p:spPr>
      </p:pic>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144</a:t>
            </a:r>
            <a:endParaRPr i="1" dirty="0">
              <a:latin typeface="Calibri"/>
              <a:ea typeface="Calibri"/>
              <a:cs typeface="Calibri"/>
              <a:sym typeface="Calibri"/>
            </a:endParaRPr>
          </a:p>
        </p:txBody>
      </p:sp>
    </p:spTree>
    <p:extLst>
      <p:ext uri="{BB962C8B-B14F-4D97-AF65-F5344CB8AC3E}">
        <p14:creationId xmlns:p14="http://schemas.microsoft.com/office/powerpoint/2010/main" val="1834795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2007765" y="410666"/>
            <a:ext cx="8327136" cy="400069"/>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d. Complete the statement.</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209" name="Google Shape;209;p8"/>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ext&#10;&#10;Description automatically generated with medium confidence">
            <a:extLst>
              <a:ext uri="{FF2B5EF4-FFF2-40B4-BE49-F238E27FC236}">
                <a16:creationId xmlns:a16="http://schemas.microsoft.com/office/drawing/2014/main" id="{F590793E-9FD0-DC42-B09B-0DFF0666A800}"/>
              </a:ext>
            </a:extLst>
          </p:cNvPr>
          <p:cNvPicPr>
            <a:picLocks noChangeAspect="1"/>
          </p:cNvPicPr>
          <p:nvPr/>
        </p:nvPicPr>
        <p:blipFill>
          <a:blip r:embed="rId3"/>
          <a:stretch>
            <a:fillRect/>
          </a:stretch>
        </p:blipFill>
        <p:spPr>
          <a:xfrm>
            <a:off x="2450237" y="895836"/>
            <a:ext cx="7352393" cy="4741150"/>
          </a:xfrm>
          <a:prstGeom prst="rect">
            <a:avLst/>
          </a:prstGeom>
        </p:spPr>
      </p:pic>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145</a:t>
            </a:r>
            <a:endParaRPr i="1" dirty="0">
              <a:latin typeface="Calibri"/>
              <a:ea typeface="Calibri"/>
              <a:cs typeface="Calibri"/>
              <a:sym typeface="Calibri"/>
            </a:endParaRPr>
          </a:p>
        </p:txBody>
      </p:sp>
    </p:spTree>
    <p:extLst>
      <p:ext uri="{BB962C8B-B14F-4D97-AF65-F5344CB8AC3E}">
        <p14:creationId xmlns:p14="http://schemas.microsoft.com/office/powerpoint/2010/main" val="2004507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257300" y="410665"/>
                <a:ext cx="9828066" cy="2865809"/>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If the factors being multiplied by the powers of 10 are different, but one is not a multiple of the other, the comparison of the two values can be </a:t>
                </a:r>
                <a:r>
                  <a:rPr lang="en-US" sz="2000" i="1" dirty="0">
                    <a:latin typeface="Verdana" panose="020B0604030504040204" pitchFamily="34" charset="0"/>
                    <a:ea typeface="Verdana" panose="020B0604030504040204" pitchFamily="34" charset="0"/>
                    <a:cs typeface="Verdana" panose="020B0604030504040204" pitchFamily="34" charset="0"/>
                  </a:rPr>
                  <a:t>approximated</a:t>
                </a:r>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690563" lvl="0" indent="-339725"/>
                <a:r>
                  <a:rPr lang="en-US" sz="2000" dirty="0">
                    <a:latin typeface="Verdana" panose="020B0604030504040204" pitchFamily="34" charset="0"/>
                    <a:ea typeface="Verdana" panose="020B0604030504040204" pitchFamily="34" charset="0"/>
                    <a:cs typeface="Verdana" panose="020B0604030504040204" pitchFamily="34" charset="0"/>
                  </a:rPr>
                  <a:t>4. The average distance from Earth to the moon is </a:t>
                </a:r>
                <a:r>
                  <a:rPr lang="en-US" sz="2000" dirty="0">
                    <a:latin typeface="Cambria Math" panose="02040503050406030204" pitchFamily="18" charset="0"/>
                    <a:ea typeface="Cambria Math" panose="02040503050406030204" pitchFamily="18" charset="0"/>
                    <a:cs typeface="Verdana" panose="020B0604030504040204" pitchFamily="34" charset="0"/>
                  </a:rPr>
                  <a:t>2.38855 ×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Verdana" panose="020B0604030504040204" pitchFamily="34" charset="0"/>
                          </a:rPr>
                        </m:ctrlPr>
                      </m:sSupPr>
                      <m:e>
                        <m:r>
                          <a:rPr lang="en-US" sz="2000" i="1">
                            <a:latin typeface="Cambria Math" panose="02040503050406030204" pitchFamily="18" charset="0"/>
                            <a:ea typeface="Cambria Math" panose="02040503050406030204" pitchFamily="18" charset="0"/>
                            <a:cs typeface="Verdana" panose="020B0604030504040204" pitchFamily="34" charset="0"/>
                          </a:rPr>
                          <m:t>10</m:t>
                        </m:r>
                      </m:e>
                      <m:sup>
                        <m:r>
                          <a:rPr lang="en-US" sz="2000" i="1">
                            <a:latin typeface="Cambria Math" panose="02040503050406030204" pitchFamily="18" charset="0"/>
                            <a:ea typeface="Cambria Math" panose="02040503050406030204" pitchFamily="18" charset="0"/>
                            <a:cs typeface="Verdana" panose="020B0604030504040204" pitchFamily="34" charset="0"/>
                          </a:rPr>
                          <m:t>5 </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miles. The average distance from Earth to the sun is about 9.3 ×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Verdana" panose="020B0604030504040204" pitchFamily="34" charset="0"/>
                          </a:rPr>
                        </m:ctrlPr>
                      </m:sSupPr>
                      <m:e>
                        <m:r>
                          <a:rPr lang="en-US" sz="2000" i="1">
                            <a:latin typeface="Cambria Math" panose="02040503050406030204" pitchFamily="18" charset="0"/>
                            <a:ea typeface="Cambria Math" panose="02040503050406030204" pitchFamily="18" charset="0"/>
                            <a:cs typeface="Verdana" panose="020B0604030504040204" pitchFamily="34" charset="0"/>
                          </a:rPr>
                          <m:t>10</m:t>
                        </m:r>
                      </m:e>
                      <m:sup>
                        <m:r>
                          <a:rPr lang="en-US" sz="2000" i="1">
                            <a:latin typeface="Cambria Math" panose="02040503050406030204" pitchFamily="18" charset="0"/>
                            <a:ea typeface="Cambria Math" panose="02040503050406030204" pitchFamily="18" charset="0"/>
                            <a:cs typeface="Verdana" panose="020B0604030504040204" pitchFamily="34" charset="0"/>
                          </a:rPr>
                          <m:t>7 </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690563" lvl="0"/>
                <a:r>
                  <a:rPr lang="en-US" sz="2000" dirty="0">
                    <a:latin typeface="Verdana" panose="020B0604030504040204" pitchFamily="34" charset="0"/>
                    <a:ea typeface="Verdana" panose="020B0604030504040204" pitchFamily="34" charset="0"/>
                    <a:cs typeface="Verdana" panose="020B0604030504040204" pitchFamily="34" charset="0"/>
                  </a:rPr>
                  <a:t>Complete the statements to approximate how many times farther the sun is from Earth than the moon.</a:t>
                </a:r>
                <a:endParaRPr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257300" y="410665"/>
                <a:ext cx="9828066" cy="2865809"/>
              </a:xfrm>
              <a:prstGeom prst="rect">
                <a:avLst/>
              </a:prstGeom>
              <a:blipFill>
                <a:blip r:embed="rId3"/>
                <a:stretch>
                  <a:fillRect l="-516" t="-1327" r="-1161" b="-2655"/>
                </a:stretch>
              </a:blipFill>
              <a:ln>
                <a:noFill/>
              </a:ln>
            </p:spPr>
            <p:txBody>
              <a:bodyPr/>
              <a:lstStyle/>
              <a:p>
                <a:r>
                  <a:rPr lang="en-US">
                    <a:noFill/>
                  </a:rPr>
                  <a:t> </a:t>
                </a:r>
              </a:p>
            </p:txBody>
          </p:sp>
        </mc:Fallback>
      </mc:AlternateContent>
      <p:sp>
        <p:nvSpPr>
          <p:cNvPr id="209" name="Google Shape;209;p8"/>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Diagram, text&#10;&#10;Description automatically generated">
            <a:extLst>
              <a:ext uri="{FF2B5EF4-FFF2-40B4-BE49-F238E27FC236}">
                <a16:creationId xmlns:a16="http://schemas.microsoft.com/office/drawing/2014/main" id="{FD3BC81B-3BBE-D040-9BA1-5A0EE9DB5B65}"/>
              </a:ext>
            </a:extLst>
          </p:cNvPr>
          <p:cNvPicPr>
            <a:picLocks noChangeAspect="1"/>
          </p:cNvPicPr>
          <p:nvPr/>
        </p:nvPicPr>
        <p:blipFill>
          <a:blip r:embed="rId4"/>
          <a:stretch>
            <a:fillRect/>
          </a:stretch>
        </p:blipFill>
        <p:spPr>
          <a:xfrm>
            <a:off x="2848923" y="3580723"/>
            <a:ext cx="6644821" cy="2762794"/>
          </a:xfrm>
          <a:prstGeom prst="rect">
            <a:avLst/>
          </a:prstGeom>
        </p:spPr>
      </p:pic>
      <p:pic>
        <p:nvPicPr>
          <p:cNvPr id="7"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145</a:t>
            </a:r>
            <a:endParaRPr i="1" dirty="0">
              <a:latin typeface="Calibri"/>
              <a:ea typeface="Calibri"/>
              <a:cs typeface="Calibri"/>
              <a:sym typeface="Calibri"/>
            </a:endParaRPr>
          </a:p>
        </p:txBody>
      </p:sp>
    </p:spTree>
    <p:extLst>
      <p:ext uri="{BB962C8B-B14F-4D97-AF65-F5344CB8AC3E}">
        <p14:creationId xmlns:p14="http://schemas.microsoft.com/office/powerpoint/2010/main" val="10809837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10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145</a:t>
            </a:r>
            <a:endParaRPr i="1" dirty="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494363" y="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3.8.6 Wrap-Up: Cool Down</a:t>
            </a:r>
            <a:endParaRPr dirty="0"/>
          </a:p>
        </p:txBody>
      </p:sp>
      <p:pic>
        <p:nvPicPr>
          <p:cNvPr id="468" name="Google Shape;468;p34"/>
          <p:cNvPicPr preferRelativeResize="0"/>
          <p:nvPr/>
        </p:nvPicPr>
        <p:blipFill rotWithShape="1">
          <a:blip r:embed="rId3">
            <a:alphaModFix/>
          </a:blip>
          <a:srcRect/>
          <a:stretch/>
        </p:blipFill>
        <p:spPr>
          <a:xfrm>
            <a:off x="664913" y="206396"/>
            <a:ext cx="747300" cy="747300"/>
          </a:xfrm>
          <a:prstGeom prst="rect">
            <a:avLst/>
          </a:prstGeom>
          <a:noFill/>
          <a:ln>
            <a:noFill/>
          </a:ln>
          <a:effectLst>
            <a:outerShdw blurRad="50800" dist="38100" dir="2700000" algn="tl" rotWithShape="0">
              <a:srgbClr val="000000">
                <a:alpha val="40000"/>
              </a:srgbClr>
            </a:outerShdw>
          </a:effectLst>
        </p:spPr>
      </p:pic>
      <p:sp>
        <p:nvSpPr>
          <p:cNvPr id="469" name="Google Shape;469;p34"/>
          <p:cNvSpPr txBox="1"/>
          <p:nvPr/>
        </p:nvSpPr>
        <p:spPr>
          <a:xfrm>
            <a:off x="1092200" y="1386026"/>
            <a:ext cx="10263632" cy="1015622"/>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how to express large numbers using scientific notation in your words.</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470" name="Google Shape;470;p34"/>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10" name="Google Shape;465;p34">
            <a:extLst>
              <a:ext uri="{FF2B5EF4-FFF2-40B4-BE49-F238E27FC236}">
                <a16:creationId xmlns:a16="http://schemas.microsoft.com/office/drawing/2014/main" id="{40130B1E-79E9-1C42-AFF7-73D55981B597}"/>
              </a:ext>
            </a:extLst>
          </p:cNvPr>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145</a:t>
            </a:r>
            <a:endParaRPr i="1" dirty="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1217</Words>
  <Application>Microsoft Macintosh PowerPoint</Application>
  <PresentationFormat>Widescreen</PresentationFormat>
  <Paragraphs>198</Paragraphs>
  <Slides>28</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Arial Black</vt:lpstr>
      <vt:lpstr>Calibri</vt:lpstr>
      <vt:lpstr>Cambria Math</vt:lpstr>
      <vt:lpstr>Verdana</vt:lpstr>
      <vt:lpstr>1_Office Theme</vt:lpstr>
      <vt:lpstr>7th Grade Accelerated Math  Unit 3, Lesson 8  Writing Large Numbers in Scientific Notation  Volume 1, pg. 139  </vt:lpstr>
      <vt:lpstr>Benchmarks</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Exploration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7th Grade Accelerated Math  Unit 3, Lesson 8  Writing Large Numbers in Scientific Notation  Volume 1, pg. 139  </dc:title>
  <dc:creator>Karen McKenzie</dc:creator>
  <cp:lastModifiedBy>Diana Barnett</cp:lastModifiedBy>
  <cp:revision>8</cp:revision>
  <dcterms:created xsi:type="dcterms:W3CDTF">2015-03-17T18:51:18Z</dcterms:created>
  <dcterms:modified xsi:type="dcterms:W3CDTF">2023-02-09T18:37:37Z</dcterms:modified>
</cp:coreProperties>
</file>