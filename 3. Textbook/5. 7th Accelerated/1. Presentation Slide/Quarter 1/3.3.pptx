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3" r:id="rId8"/>
    <p:sldId id="264" r:id="rId9"/>
    <p:sldId id="265" r:id="rId10"/>
    <p:sldId id="293" r:id="rId11"/>
    <p:sldId id="278" r:id="rId12"/>
    <p:sldId id="279" r:id="rId13"/>
    <p:sldId id="280" r:id="rId14"/>
    <p:sldId id="294" r:id="rId15"/>
    <p:sldId id="295" r:id="rId16"/>
    <p:sldId id="296" r:id="rId17"/>
    <p:sldId id="297" r:id="rId18"/>
    <p:sldId id="269" r:id="rId19"/>
    <p:sldId id="270" r:id="rId20"/>
    <p:sldId id="271" r:id="rId21"/>
    <p:sldId id="298" r:id="rId22"/>
    <p:sldId id="299" r:id="rId23"/>
    <p:sldId id="287" r:id="rId24"/>
    <p:sldId id="288" r:id="rId25"/>
    <p:sldId id="300" r:id="rId26"/>
    <p:sldId id="289" r:id="rId27"/>
    <p:sldId id="268" r:id="rId28"/>
    <p:sldId id="301" r:id="rId29"/>
    <p:sldId id="302" r:id="rId30"/>
    <p:sldId id="290" r:id="rId31"/>
    <p:sldId id="291" r:id="rId32"/>
    <p:sldId id="292"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gmwbqYbtu5YpsP+R29NhyWnQlF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63"/>
    <p:restoredTop sz="94767"/>
  </p:normalViewPr>
  <p:slideViewPr>
    <p:cSldViewPr snapToGrid="0">
      <p:cViewPr varScale="1">
        <p:scale>
          <a:sx n="59" d="100"/>
          <a:sy n="59" d="100"/>
        </p:scale>
        <p:origin x="240"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1262637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3950907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24056211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23063875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577516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26279985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22596994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extLst>
      <p:ext uri="{BB962C8B-B14F-4D97-AF65-F5344CB8AC3E}">
        <p14:creationId xmlns:p14="http://schemas.microsoft.com/office/powerpoint/2010/main" val="41425369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extLst>
      <p:ext uri="{BB962C8B-B14F-4D97-AF65-F5344CB8AC3E}">
        <p14:creationId xmlns:p14="http://schemas.microsoft.com/office/powerpoint/2010/main" val="9396767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extLst>
      <p:ext uri="{BB962C8B-B14F-4D97-AF65-F5344CB8AC3E}">
        <p14:creationId xmlns:p14="http://schemas.microsoft.com/office/powerpoint/2010/main" val="14587191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4" Type="http://schemas.openxmlformats.org/officeDocument/2006/relationships/image" Target="../media/image120.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6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4" Type="http://schemas.openxmlformats.org/officeDocument/2006/relationships/image" Target="../media/image19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7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3, Lesson 3</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rPr>
              <a:t>Exponential Expressions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112</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266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30892"/>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540925" y="9945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717425" y="33523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112</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464725" y="1600200"/>
            <a:ext cx="926255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4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a:t>
            </a:r>
            <a:r>
              <a:rPr lang="en-US" sz="2400" dirty="0">
                <a:latin typeface="Verdana" panose="020B0604030504040204" pitchFamily="34" charset="0"/>
                <a:ea typeface="Verdana" panose="020B0604030504040204" pitchFamily="34" charset="0"/>
                <a:cs typeface="Verdana" panose="020B0604030504040204" pitchFamily="34" charset="0"/>
              </a:rPr>
              <a:t>.7.NSO.1.1 </a:t>
            </a:r>
            <a:endParaRPr sz="24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pPr marL="457200">
              <a:lnSpc>
                <a:spcPct val="90000"/>
              </a:lnSpc>
              <a:spcBef>
                <a:spcPts val="750"/>
              </a:spcBef>
              <a:buClr>
                <a:schemeClr val="dk1"/>
              </a:buClr>
              <a:buSzPts val="2100"/>
            </a:pPr>
            <a:r>
              <a:rPr lang="en-US" sz="2400" dirty="0">
                <a:latin typeface="Verdana" panose="020B0604030504040204" pitchFamily="34" charset="0"/>
                <a:ea typeface="Verdana" panose="020B0604030504040204" pitchFamily="34" charset="0"/>
                <a:cs typeface="Verdana" panose="020B0604030504040204" pitchFamily="34" charset="0"/>
              </a:rPr>
              <a:t>Know and apply the Laws of Exponents to evaluate numerical expressions and generate equivalent numerical expressions, limited to whole-number exponents and rational number bases. </a:t>
            </a:r>
            <a:endParaRPr sz="2400" dirty="0">
              <a:solidFill>
                <a:schemeClr val="dk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52050" y="242633"/>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476700" y="0"/>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476700" y="1472822"/>
            <a:ext cx="9826360"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endParaRPr sz="2000" dirty="0">
              <a:latin typeface="Verdana" panose="020B0604030504040204" pitchFamily="34" charset="0"/>
              <a:ea typeface="Verdana" panose="020B0604030504040204" pitchFamily="34" charset="0"/>
              <a:cs typeface="Verdana" panose="020B0604030504040204" pitchFamily="34" charset="0"/>
            </a:endParaRPr>
          </a:p>
          <a:p>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138" name="Google Shape;138;p1"/>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488469" y="-51449"/>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706307" y="237751"/>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488469" y="1600200"/>
            <a:ext cx="9215062" cy="4205700"/>
          </a:xfrm>
          <a:prstGeom prst="rect">
            <a:avLst/>
          </a:prstGeom>
          <a:noFill/>
          <a:ln>
            <a:noFill/>
          </a:ln>
        </p:spPr>
        <p:txBody>
          <a:bodyPr spcFirstLastPara="1" wrap="square" lIns="91425" tIns="45700" rIns="91425" bIns="45700" anchor="t" anchorCtr="0">
            <a:noAutofit/>
          </a:bodyPr>
          <a:lstStyle/>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evaluate numeric expressions with the same base using the laws of exponents.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generate equivalent numeric expressions by applying the laws of exponents. </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149" name="Google Shape;149;p2"/>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40587" y="-51196"/>
            <a:ext cx="10236547"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3.3.1 Warm-Up: Make an Expression</a:t>
            </a:r>
            <a:endParaRPr dirty="0"/>
          </a:p>
        </p:txBody>
      </p:sp>
      <p:pic>
        <p:nvPicPr>
          <p:cNvPr id="167" name="Google Shape;167;p4"/>
          <p:cNvPicPr preferRelativeResize="0"/>
          <p:nvPr/>
        </p:nvPicPr>
        <p:blipFill rotWithShape="1">
          <a:blip r:embed="rId3">
            <a:alphaModFix/>
          </a:blip>
          <a:srcRect/>
          <a:stretch/>
        </p:blipFill>
        <p:spPr>
          <a:xfrm>
            <a:off x="693288" y="209534"/>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69" name="Google Shape;169;p4"/>
              <p:cNvSpPr txBox="1"/>
              <p:nvPr/>
            </p:nvSpPr>
            <p:spPr>
              <a:xfrm>
                <a:off x="1440587" y="1386025"/>
                <a:ext cx="9879763" cy="141573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rPr>
                  <a:t>Create an expression with the largest possible value by filling in the blue boxes with the digits </a:t>
                </a:r>
                <a14:m>
                  <m:oMath xmlns:m="http://schemas.openxmlformats.org/officeDocument/2006/math">
                    <m:r>
                      <a:rPr lang="en-US" sz="2400">
                        <a:latin typeface="Cambria Math" panose="02040503050406030204" pitchFamily="18" charset="0"/>
                        <a:ea typeface="Verdana"/>
                        <a:cs typeface="Verdana"/>
                      </a:rPr>
                      <m:t>1</m:t>
                    </m:r>
                  </m:oMath>
                </a14:m>
                <a:r>
                  <a:rPr lang="en-US" sz="2400" dirty="0">
                    <a:latin typeface="Verdana"/>
                    <a:ea typeface="Verdana"/>
                    <a:cs typeface="Verdana"/>
                  </a:rPr>
                  <a:t> through </a:t>
                </a:r>
                <a14:m>
                  <m:oMath xmlns:m="http://schemas.openxmlformats.org/officeDocument/2006/math">
                    <m:r>
                      <a:rPr lang="en-US" sz="2400">
                        <a:latin typeface="Cambria Math" panose="02040503050406030204" pitchFamily="18" charset="0"/>
                        <a:ea typeface="Verdana"/>
                        <a:cs typeface="Verdana"/>
                      </a:rPr>
                      <m:t>5</m:t>
                    </m:r>
                  </m:oMath>
                </a14:m>
                <a:r>
                  <a:rPr lang="en-US" sz="2400" dirty="0">
                    <a:latin typeface="Verdana"/>
                    <a:ea typeface="Verdana"/>
                    <a:cs typeface="Verdana"/>
                  </a:rPr>
                  <a:t>. You can only use each digit one time.</a:t>
                </a:r>
              </a:p>
              <a:p>
                <a:endParaRPr dirty="0"/>
              </a:p>
            </p:txBody>
          </p:sp>
        </mc:Choice>
        <mc:Fallback xmlns="">
          <p:sp>
            <p:nvSpPr>
              <p:cNvPr id="169" name="Google Shape;169;p4"/>
              <p:cNvSpPr txBox="1">
                <a:spLocks noRot="1" noChangeAspect="1" noMove="1" noResize="1" noEditPoints="1" noAdjustHandles="1" noChangeArrowheads="1" noChangeShapeType="1" noTextEdit="1"/>
              </p:cNvSpPr>
              <p:nvPr/>
            </p:nvSpPr>
            <p:spPr>
              <a:xfrm>
                <a:off x="1440587" y="1386025"/>
                <a:ext cx="9879763" cy="1415732"/>
              </a:xfrm>
              <a:prstGeom prst="rect">
                <a:avLst/>
              </a:prstGeom>
              <a:blipFill rotWithShape="0">
                <a:blip r:embed="rId4"/>
                <a:stretch>
                  <a:fillRect l="-925" t="-3433" r="-1419"/>
                </a:stretch>
              </a:blipFill>
              <a:ln>
                <a:noFill/>
              </a:ln>
            </p:spPr>
            <p:txBody>
              <a:bodyPr/>
              <a:lstStyle/>
              <a:p>
                <a:r>
                  <a:rPr lang="en-US">
                    <a:noFill/>
                  </a:rPr>
                  <a:t> </a:t>
                </a:r>
              </a:p>
            </p:txBody>
          </p:sp>
        </mc:Fallback>
      </mc:AlternateContent>
      <p:sp>
        <p:nvSpPr>
          <p:cNvPr id="170" name="Google Shape;170;p4"/>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8" name="Group 7">
            <a:extLst>
              <a:ext uri="{FF2B5EF4-FFF2-40B4-BE49-F238E27FC236}">
                <a16:creationId xmlns:a16="http://schemas.microsoft.com/office/drawing/2014/main" id="{3A2D69D8-D7FD-014A-A79F-C7F29DB4D2E6}"/>
              </a:ext>
            </a:extLst>
          </p:cNvPr>
          <p:cNvGrpSpPr/>
          <p:nvPr/>
        </p:nvGrpSpPr>
        <p:grpSpPr>
          <a:xfrm>
            <a:off x="3856355" y="2918557"/>
            <a:ext cx="4479290" cy="1560830"/>
            <a:chOff x="0" y="0"/>
            <a:chExt cx="4479402" cy="1561457"/>
          </a:xfrm>
        </p:grpSpPr>
        <p:sp>
          <p:nvSpPr>
            <p:cNvPr id="9" name="Rectangle 8">
              <a:extLst>
                <a:ext uri="{FF2B5EF4-FFF2-40B4-BE49-F238E27FC236}">
                  <a16:creationId xmlns:a16="http://schemas.microsoft.com/office/drawing/2014/main" id="{04C23CB2-651A-624E-BB6D-B95FB10617A7}"/>
                </a:ext>
              </a:extLst>
            </p:cNvPr>
            <p:cNvSpPr>
              <a:spLocks noChangeAspect="1"/>
            </p:cNvSpPr>
            <p:nvPr/>
          </p:nvSpPr>
          <p:spPr>
            <a:xfrm>
              <a:off x="0" y="289367"/>
              <a:ext cx="914400" cy="89515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id="{A58E217F-B7E4-D442-B4F9-EBA5EAA417CD}"/>
                </a:ext>
              </a:extLst>
            </p:cNvPr>
            <p:cNvSpPr>
              <a:spLocks noChangeAspect="1"/>
            </p:cNvSpPr>
            <p:nvPr/>
          </p:nvSpPr>
          <p:spPr>
            <a:xfrm>
              <a:off x="1886673" y="300942"/>
              <a:ext cx="914400" cy="89515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id="{465EB6F1-D4DA-9243-ABEF-F39235150E09}"/>
                </a:ext>
              </a:extLst>
            </p:cNvPr>
            <p:cNvSpPr>
              <a:spLocks noChangeAspect="1"/>
            </p:cNvSpPr>
            <p:nvPr/>
          </p:nvSpPr>
          <p:spPr>
            <a:xfrm>
              <a:off x="3565002" y="312516"/>
              <a:ext cx="914400" cy="89515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11">
              <a:extLst>
                <a:ext uri="{FF2B5EF4-FFF2-40B4-BE49-F238E27FC236}">
                  <a16:creationId xmlns:a16="http://schemas.microsoft.com/office/drawing/2014/main" id="{387FE723-43DD-AB42-A64B-49B9E4D411ED}"/>
                </a:ext>
              </a:extLst>
            </p:cNvPr>
            <p:cNvSpPr>
              <a:spLocks noChangeAspect="1"/>
            </p:cNvSpPr>
            <p:nvPr/>
          </p:nvSpPr>
          <p:spPr>
            <a:xfrm>
              <a:off x="1006997" y="0"/>
              <a:ext cx="401048" cy="392414"/>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13" name="Text Box 7">
                  <a:extLst>
                    <a:ext uri="{FF2B5EF4-FFF2-40B4-BE49-F238E27FC236}">
                      <a16:creationId xmlns:a16="http://schemas.microsoft.com/office/drawing/2014/main" id="{315196EC-7C8A-EF4A-9E6A-4340CFDEA02F}"/>
                    </a:ext>
                  </a:extLst>
                </p:cNvPr>
                <p:cNvSpPr txBox="1"/>
                <p:nvPr/>
              </p:nvSpPr>
              <p:spPr>
                <a:xfrm>
                  <a:off x="1005872" y="450287"/>
                  <a:ext cx="821803" cy="11111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3" name="Text Box 7">
                  <a:extLst>
                    <a:ext uri="{FF2B5EF4-FFF2-40B4-BE49-F238E27FC236}">
                      <a16:creationId xmlns:a16="http://schemas.microsoft.com/office/drawing/2014/main" id="{315196EC-7C8A-EF4A-9E6A-4340CFDEA02F}"/>
                    </a:ext>
                  </a:extLst>
                </p:cNvPr>
                <p:cNvSpPr txBox="1">
                  <a:spLocks noRot="1" noChangeAspect="1" noMove="1" noResize="1" noEditPoints="1" noAdjustHandles="1" noChangeArrowheads="1" noChangeShapeType="1" noTextEdit="1"/>
                </p:cNvSpPr>
                <p:nvPr/>
              </p:nvSpPr>
              <p:spPr>
                <a:xfrm>
                  <a:off x="1005872" y="450287"/>
                  <a:ext cx="821803" cy="1111170"/>
                </a:xfrm>
                <a:prstGeom prst="rect">
                  <a:avLst/>
                </a:prstGeom>
                <a:blipFill>
                  <a:blip r:embed="rId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 Box 8">
                  <a:extLst>
                    <a:ext uri="{FF2B5EF4-FFF2-40B4-BE49-F238E27FC236}">
                      <a16:creationId xmlns:a16="http://schemas.microsoft.com/office/drawing/2014/main" id="{99793AEB-2E80-894B-BA08-64918E880DB4}"/>
                    </a:ext>
                  </a:extLst>
                </p:cNvPr>
                <p:cNvSpPr txBox="1"/>
                <p:nvPr/>
              </p:nvSpPr>
              <p:spPr>
                <a:xfrm>
                  <a:off x="2742074" y="450287"/>
                  <a:ext cx="821803" cy="11111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4" name="Text Box 8">
                  <a:extLst>
                    <a:ext uri="{FF2B5EF4-FFF2-40B4-BE49-F238E27FC236}">
                      <a16:creationId xmlns:a16="http://schemas.microsoft.com/office/drawing/2014/main" id="{99793AEB-2E80-894B-BA08-64918E880DB4}"/>
                    </a:ext>
                  </a:extLst>
                </p:cNvPr>
                <p:cNvSpPr txBox="1">
                  <a:spLocks noRot="1" noChangeAspect="1" noMove="1" noResize="1" noEditPoints="1" noAdjustHandles="1" noChangeArrowheads="1" noChangeShapeType="1" noTextEdit="1"/>
                </p:cNvSpPr>
                <p:nvPr/>
              </p:nvSpPr>
              <p:spPr>
                <a:xfrm>
                  <a:off x="2742074" y="450287"/>
                  <a:ext cx="821803" cy="1111170"/>
                </a:xfrm>
                <a:prstGeom prst="rect">
                  <a:avLst/>
                </a:prstGeom>
                <a:blipFill>
                  <a:blip r:embed="rId7"/>
                  <a:stretch>
                    <a:fillRect/>
                  </a:stretch>
                </a:blipFill>
                <a:ln w="6350">
                  <a:noFill/>
                </a:ln>
              </p:spPr>
              <p:txBody>
                <a:bodyPr/>
                <a:lstStyle/>
                <a:p>
                  <a:r>
                    <a:rPr lang="en-US">
                      <a:noFill/>
                    </a:rPr>
                    <a:t> </a:t>
                  </a:r>
                </a:p>
              </p:txBody>
            </p:sp>
          </mc:Fallback>
        </mc:AlternateContent>
      </p:grpSp>
      <p:sp>
        <p:nvSpPr>
          <p:cNvPr id="16"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112</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439334" y="60326"/>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600" b="1" dirty="0">
                <a:solidFill>
                  <a:srgbClr val="33BEA6"/>
                </a:solidFill>
                <a:latin typeface="Verdana"/>
                <a:ea typeface="Verdana"/>
                <a:cs typeface="Verdana"/>
                <a:sym typeface="Verdana"/>
              </a:rPr>
              <a:t>3.3.2 Collaboration: </a:t>
            </a:r>
            <a:r>
              <a:rPr lang="en-US" sz="3600" b="1" dirty="0">
                <a:solidFill>
                  <a:srgbClr val="33BEA6"/>
                </a:solidFill>
                <a:latin typeface="Verdana"/>
                <a:ea typeface="Verdana"/>
                <a:cs typeface="Verdana"/>
              </a:rPr>
              <a:t>Applying More Than One Exponent Law</a:t>
            </a:r>
            <a:endParaRPr sz="3600" b="1" dirty="0">
              <a:solidFill>
                <a:srgbClr val="33BEA6"/>
              </a:solidFill>
              <a:latin typeface="Verdana"/>
              <a:ea typeface="Verdana"/>
              <a:cs typeface="Verdana"/>
            </a:endParaRPr>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89526" y="348272"/>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99" name="Google Shape;199;p7"/>
              <p:cNvSpPr txBox="1"/>
              <p:nvPr/>
            </p:nvSpPr>
            <p:spPr>
              <a:xfrm>
                <a:off x="1439334" y="1386026"/>
                <a:ext cx="9881016" cy="3573567"/>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rPr>
                  <a:t>An expression can be rewritten as an equivalent expression by applying one or more exponent laws. </a:t>
                </a:r>
              </a:p>
              <a:p>
                <a:r>
                  <a:rPr lang="en-US" sz="2400" dirty="0">
                    <a:latin typeface="Verdana"/>
                    <a:ea typeface="Verdana"/>
                    <a:cs typeface="Verdana"/>
                  </a:rPr>
                  <a:t> </a:t>
                </a:r>
              </a:p>
              <a:p>
                <a:r>
                  <a:rPr lang="en-US" sz="2400" dirty="0">
                    <a:latin typeface="Verdana"/>
                    <a:ea typeface="Verdana"/>
                    <a:cs typeface="Verdana"/>
                  </a:rPr>
                  <a:t>Winston and Yvette were assigned </a:t>
                </a:r>
                <a14:m>
                  <m:oMath xmlns:m="http://schemas.openxmlformats.org/officeDocument/2006/math">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a:latin typeface="Cambria Math" panose="02040503050406030204" pitchFamily="18" charset="0"/>
                                      </a:rPr>
                                      <m:t>2</m:t>
                                    </m:r>
                                  </m:e>
                                  <m:sup>
                                    <m:r>
                                      <a:rPr lang="en-US" sz="2400">
                                        <a:latin typeface="Cambria Math" panose="02040503050406030204" pitchFamily="18" charset="0"/>
                                      </a:rPr>
                                      <m:t>6</m:t>
                                    </m:r>
                                  </m:sup>
                                </m:sSup>
                              </m:num>
                              <m:den>
                                <m:sSup>
                                  <m:sSupPr>
                                    <m:ctrlPr>
                                      <a:rPr lang="en-US" sz="2400" i="1">
                                        <a:latin typeface="Cambria Math" panose="02040503050406030204" pitchFamily="18" charset="0"/>
                                      </a:rPr>
                                    </m:ctrlPr>
                                  </m:sSupPr>
                                  <m:e>
                                    <m:r>
                                      <a:rPr lang="en-US" sz="2400">
                                        <a:latin typeface="Cambria Math" panose="02040503050406030204" pitchFamily="18" charset="0"/>
                                      </a:rPr>
                                      <m:t>2</m:t>
                                    </m:r>
                                  </m:e>
                                  <m:sup>
                                    <m:r>
                                      <a:rPr lang="en-US" sz="2400">
                                        <a:latin typeface="Cambria Math" panose="02040503050406030204" pitchFamily="18" charset="0"/>
                                      </a:rPr>
                                      <m:t>4</m:t>
                                    </m:r>
                                  </m:sup>
                                </m:sSup>
                              </m:den>
                            </m:f>
                          </m:e>
                        </m:d>
                      </m:e>
                      <m:sup>
                        <m:r>
                          <a:rPr lang="en-US" sz="2400">
                            <a:latin typeface="Cambria Math" panose="02040503050406030204" pitchFamily="18" charset="0"/>
                          </a:rPr>
                          <m:t>3</m:t>
                        </m:r>
                      </m:sup>
                    </m:sSup>
                  </m:oMath>
                </a14:m>
                <a:r>
                  <a:rPr lang="en-US" sz="2400" dirty="0">
                    <a:latin typeface="Verdana"/>
                    <a:ea typeface="Verdana"/>
                    <a:cs typeface="Verdana"/>
                  </a:rPr>
                  <a:t>to rewrite as an equivalent expression using multiple exponent laws. Their teacher told them to first make a plan and then apply the laws to the expression. Complete Yvette’s work by following her plan.</a:t>
                </a:r>
              </a:p>
              <a:p>
                <a:endParaRPr dirty="0"/>
              </a:p>
            </p:txBody>
          </p:sp>
        </mc:Choice>
        <mc:Fallback xmlns="">
          <p:sp>
            <p:nvSpPr>
              <p:cNvPr id="199" name="Google Shape;199;p7"/>
              <p:cNvSpPr txBox="1">
                <a:spLocks noRot="1" noChangeAspect="1" noMove="1" noResize="1" noEditPoints="1" noAdjustHandles="1" noChangeArrowheads="1" noChangeShapeType="1" noTextEdit="1"/>
              </p:cNvSpPr>
              <p:nvPr/>
            </p:nvSpPr>
            <p:spPr>
              <a:xfrm>
                <a:off x="1439334" y="1386026"/>
                <a:ext cx="9881016" cy="3573567"/>
              </a:xfrm>
              <a:prstGeom prst="rect">
                <a:avLst/>
              </a:prstGeom>
              <a:blipFill rotWithShape="0">
                <a:blip r:embed="rId4"/>
                <a:stretch>
                  <a:fillRect l="-925" t="-1363" r="-1604"/>
                </a:stretch>
              </a:blipFill>
              <a:ln>
                <a:noFill/>
              </a:ln>
            </p:spPr>
            <p:txBody>
              <a:bodyPr/>
              <a:lstStyle/>
              <a:p>
                <a:r>
                  <a:rPr lang="en-US">
                    <a:noFill/>
                  </a:rPr>
                  <a:t> </a:t>
                </a:r>
              </a:p>
            </p:txBody>
          </p:sp>
        </mc:Fallback>
      </mc:AlternateContent>
      <p:sp>
        <p:nvSpPr>
          <p:cNvPr id="200" name="Google Shape;200;p7"/>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9" name="Google Shape;209;p8"/>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76DE516E-6EBC-4942-B4B0-FF50D0A2881B}"/>
                  </a:ext>
                </a:extLst>
              </p:cNvPr>
              <p:cNvGraphicFramePr>
                <a:graphicFrameLocks noGrp="1"/>
              </p:cNvGraphicFramePr>
              <p:nvPr>
                <p:extLst>
                  <p:ext uri="{D42A27DB-BD31-4B8C-83A1-F6EECF244321}">
                    <p14:modId xmlns:p14="http://schemas.microsoft.com/office/powerpoint/2010/main" val="1630366743"/>
                  </p:ext>
                </p:extLst>
              </p:nvPr>
            </p:nvGraphicFramePr>
            <p:xfrm>
              <a:off x="2726871" y="1287345"/>
              <a:ext cx="6863167" cy="3722244"/>
            </p:xfrm>
            <a:graphic>
              <a:graphicData uri="http://schemas.openxmlformats.org/drawingml/2006/table">
                <a:tbl>
                  <a:tblPr firstRow="1" firstCol="1" bandRow="1">
                    <a:tableStyleId>{5C22544A-7EE6-4342-B048-85BDC9FD1C3A}</a:tableStyleId>
                  </a:tblPr>
                  <a:tblGrid>
                    <a:gridCol w="3458763">
                      <a:extLst>
                        <a:ext uri="{9D8B030D-6E8A-4147-A177-3AD203B41FA5}">
                          <a16:colId xmlns:a16="http://schemas.microsoft.com/office/drawing/2014/main" val="361231864"/>
                        </a:ext>
                      </a:extLst>
                    </a:gridCol>
                    <a:gridCol w="3404404">
                      <a:extLst>
                        <a:ext uri="{9D8B030D-6E8A-4147-A177-3AD203B41FA5}">
                          <a16:colId xmlns:a16="http://schemas.microsoft.com/office/drawing/2014/main" val="877735973"/>
                        </a:ext>
                      </a:extLst>
                    </a:gridCol>
                  </a:tblGrid>
                  <a:tr h="219075">
                    <a:tc>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Winston</a:t>
                          </a:r>
                          <a:endParaRPr lang="en-US" sz="20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Yvette</a:t>
                          </a:r>
                          <a:endParaRPr lang="en-US" sz="20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008943749"/>
                      </a:ext>
                    </a:extLst>
                  </a:tr>
                  <a:tr h="924560">
                    <a:tc>
                      <a:txBody>
                        <a:bodyPr/>
                        <a:lstStyle/>
                        <a:p>
                          <a:pPr marL="0" marR="0">
                            <a:lnSpc>
                              <a:spcPct val="107000"/>
                            </a:lnSpc>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quotient of powers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and then apply the </a:t>
                          </a: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power of a power</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exponent law. </a:t>
                          </a:r>
                          <a:endParaRPr lang="en-US" sz="20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power of a quotient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then the </a:t>
                          </a: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power of a power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and finally the </a:t>
                          </a: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quotient of powers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a:t>
                          </a:r>
                          <a:endParaRPr lang="en-US" sz="20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6696410"/>
                      </a:ext>
                    </a:extLst>
                  </a:tr>
                  <a:tr h="117094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0" i="1">
                                        <a:solidFill>
                                          <a:schemeClr val="tx1"/>
                                        </a:solidFill>
                                        <a:effectLst/>
                                        <a:latin typeface="Cambria Math" panose="02040503050406030204" pitchFamily="18" charset="0"/>
                                      </a:rPr>
                                    </m:ctrlPr>
                                  </m:sSupPr>
                                  <m:e>
                                    <m:d>
                                      <m:dPr>
                                        <m:ctrlPr>
                                          <a:rPr lang="en-US" sz="2000" b="0" i="1">
                                            <a:solidFill>
                                              <a:schemeClr val="tx1"/>
                                            </a:solidFill>
                                            <a:effectLst/>
                                            <a:latin typeface="Cambria Math" panose="02040503050406030204" pitchFamily="18" charset="0"/>
                                          </a:rPr>
                                        </m:ctrlPr>
                                      </m:dPr>
                                      <m:e>
                                        <m:f>
                                          <m:fPr>
                                            <m:ctrlPr>
                                              <a:rPr lang="en-US" sz="2000" b="0" i="1">
                                                <a:solidFill>
                                                  <a:schemeClr val="tx1"/>
                                                </a:solidFill>
                                                <a:effectLst/>
                                                <a:latin typeface="Cambria Math" panose="02040503050406030204" pitchFamily="18" charset="0"/>
                                              </a:rPr>
                                            </m:ctrlPr>
                                          </m:fPr>
                                          <m:num>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2</m:t>
                                                </m:r>
                                              </m:e>
                                              <m:sup>
                                                <m:r>
                                                  <a:rPr lang="en-US" sz="2000" b="0" i="1" smtClean="0">
                                                    <a:solidFill>
                                                      <a:schemeClr val="tx1"/>
                                                    </a:solidFill>
                                                    <a:effectLst/>
                                                    <a:latin typeface="Cambria Math" panose="02040503050406030204" pitchFamily="18" charset="0"/>
                                                  </a:rPr>
                                                  <m:t>6</m:t>
                                                </m:r>
                                              </m:sup>
                                            </m:sSup>
                                          </m:num>
                                          <m:den>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2</m:t>
                                                </m:r>
                                              </m:e>
                                              <m:sup>
                                                <m:r>
                                                  <a:rPr lang="en-US" sz="2000" b="0" i="1" smtClean="0">
                                                    <a:solidFill>
                                                      <a:schemeClr val="tx1"/>
                                                    </a:solidFill>
                                                    <a:effectLst/>
                                                    <a:latin typeface="Cambria Math" panose="02040503050406030204" pitchFamily="18" charset="0"/>
                                                  </a:rPr>
                                                  <m:t>4</m:t>
                                                </m:r>
                                              </m:sup>
                                            </m:sSup>
                                          </m:den>
                                        </m:f>
                                      </m:e>
                                    </m:d>
                                  </m:e>
                                  <m:sup>
                                    <m:r>
                                      <a:rPr lang="en-US" sz="2000" b="0" i="1" smtClean="0">
                                        <a:solidFill>
                                          <a:schemeClr val="tx1"/>
                                        </a:solidFill>
                                        <a:effectLst/>
                                        <a:latin typeface="Cambria Math" panose="02040503050406030204" pitchFamily="18" charset="0"/>
                                      </a:rPr>
                                      <m:t>3</m:t>
                                    </m:r>
                                  </m:sup>
                                </m:sSup>
                                <m:r>
                                  <a:rPr lang="en-US" sz="2000" b="0" smtClean="0">
                                    <a:solidFill>
                                      <a:schemeClr val="tx1"/>
                                    </a:solidFill>
                                    <a:effectLst/>
                                    <a:latin typeface="Cambria Math" panose="02040503050406030204" pitchFamily="18" charset="0"/>
                                  </a:rPr>
                                  <m:t>=</m:t>
                                </m:r>
                                <m:sSup>
                                  <m:sSupPr>
                                    <m:ctrlPr>
                                      <a:rPr lang="en-US" sz="2000" b="0" i="1">
                                        <a:solidFill>
                                          <a:schemeClr val="tx1"/>
                                        </a:solidFill>
                                        <a:effectLst/>
                                        <a:latin typeface="Cambria Math" panose="02040503050406030204" pitchFamily="18" charset="0"/>
                                      </a:rPr>
                                    </m:ctrlPr>
                                  </m:sSupPr>
                                  <m:e>
                                    <m:d>
                                      <m:dPr>
                                        <m:ctrlPr>
                                          <a:rPr lang="en-US" sz="2000" b="0" i="1">
                                            <a:solidFill>
                                              <a:schemeClr val="tx1"/>
                                            </a:solidFill>
                                            <a:effectLst/>
                                            <a:latin typeface="Cambria Math" panose="02040503050406030204" pitchFamily="18" charset="0"/>
                                          </a:rPr>
                                        </m:ctrlPr>
                                      </m:dPr>
                                      <m:e>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2</m:t>
                                            </m:r>
                                          </m:e>
                                          <m:sup>
                                            <m:r>
                                              <a:rPr lang="en-US" sz="2000" b="0" i="1" smtClean="0">
                                                <a:solidFill>
                                                  <a:schemeClr val="tx1"/>
                                                </a:solidFill>
                                                <a:effectLst/>
                                                <a:latin typeface="Cambria Math" panose="02040503050406030204" pitchFamily="18" charset="0"/>
                                              </a:rPr>
                                              <m:t>2</m:t>
                                            </m:r>
                                          </m:sup>
                                        </m:sSup>
                                      </m:e>
                                    </m:d>
                                  </m:e>
                                  <m:sup>
                                    <m:r>
                                      <a:rPr lang="en-US" sz="2000" b="0" i="1" smtClean="0">
                                        <a:solidFill>
                                          <a:schemeClr val="tx1"/>
                                        </a:solidFill>
                                        <a:effectLst/>
                                        <a:latin typeface="Cambria Math" panose="02040503050406030204" pitchFamily="18" charset="0"/>
                                      </a:rPr>
                                      <m:t>3</m:t>
                                    </m:r>
                                  </m:sup>
                                </m:sSup>
                                <m:r>
                                  <a:rPr lang="en-US" sz="2000" b="0" smtClean="0">
                                    <a:solidFill>
                                      <a:schemeClr val="tx1"/>
                                    </a:solidFill>
                                    <a:effectLst/>
                                    <a:latin typeface="Cambria Math" panose="02040503050406030204" pitchFamily="18" charset="0"/>
                                  </a:rPr>
                                  <m:t>=</m:t>
                                </m:r>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2</m:t>
                                    </m:r>
                                  </m:e>
                                  <m:sup>
                                    <m:r>
                                      <a:rPr lang="en-US" sz="2000" b="0" i="1" smtClean="0">
                                        <a:solidFill>
                                          <a:schemeClr val="tx1"/>
                                        </a:solidFill>
                                        <a:effectLst/>
                                        <a:latin typeface="Cambria Math" panose="02040503050406030204" pitchFamily="18" charset="0"/>
                                      </a:rPr>
                                      <m:t>6</m:t>
                                    </m:r>
                                  </m:sup>
                                </m:sSup>
                                <m:r>
                                  <a:rPr lang="en-US" sz="2000" b="0" smtClean="0">
                                    <a:solidFill>
                                      <a:schemeClr val="tx1"/>
                                    </a:solidFill>
                                    <a:effectLst/>
                                    <a:latin typeface="Cambria Math" panose="02040503050406030204" pitchFamily="18" charset="0"/>
                                  </a:rPr>
                                  <m:t>=</m:t>
                                </m:r>
                                <m:r>
                                  <a:rPr lang="en-US" sz="2000" b="0" i="1" smtClean="0">
                                    <a:solidFill>
                                      <a:schemeClr val="tx1"/>
                                    </a:solidFill>
                                    <a:effectLst/>
                                    <a:latin typeface="Cambria Math" panose="02040503050406030204" pitchFamily="18" charset="0"/>
                                  </a:rPr>
                                  <m:t>64</m:t>
                                </m:r>
                              </m:oMath>
                            </m:oMathPara>
                          </a14:m>
                          <a:endParaRPr lang="en-US" sz="20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0" i="1">
                                        <a:solidFill>
                                          <a:schemeClr val="tx1"/>
                                        </a:solidFill>
                                        <a:effectLst/>
                                        <a:latin typeface="Cambria Math" panose="02040503050406030204" pitchFamily="18" charset="0"/>
                                      </a:rPr>
                                    </m:ctrlPr>
                                  </m:sSupPr>
                                  <m:e>
                                    <m:d>
                                      <m:dPr>
                                        <m:ctrlPr>
                                          <a:rPr lang="en-US" sz="2000" b="0" i="1">
                                            <a:solidFill>
                                              <a:schemeClr val="tx1"/>
                                            </a:solidFill>
                                            <a:effectLst/>
                                            <a:latin typeface="Cambria Math" panose="02040503050406030204" pitchFamily="18" charset="0"/>
                                          </a:rPr>
                                        </m:ctrlPr>
                                      </m:dPr>
                                      <m:e>
                                        <m:f>
                                          <m:fPr>
                                            <m:ctrlPr>
                                              <a:rPr lang="en-US" sz="2000" b="0" i="1">
                                                <a:solidFill>
                                                  <a:schemeClr val="tx1"/>
                                                </a:solidFill>
                                                <a:effectLst/>
                                                <a:latin typeface="Cambria Math" panose="02040503050406030204" pitchFamily="18" charset="0"/>
                                              </a:rPr>
                                            </m:ctrlPr>
                                          </m:fPr>
                                          <m:num>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2</m:t>
                                                </m:r>
                                              </m:e>
                                              <m:sup>
                                                <m:r>
                                                  <a:rPr lang="en-US" sz="2000" b="0" i="1" smtClean="0">
                                                    <a:solidFill>
                                                      <a:schemeClr val="tx1"/>
                                                    </a:solidFill>
                                                    <a:effectLst/>
                                                    <a:latin typeface="Cambria Math" panose="02040503050406030204" pitchFamily="18" charset="0"/>
                                                  </a:rPr>
                                                  <m:t>6</m:t>
                                                </m:r>
                                              </m:sup>
                                            </m:sSup>
                                          </m:num>
                                          <m:den>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2</m:t>
                                                </m:r>
                                              </m:e>
                                              <m:sup>
                                                <m:r>
                                                  <a:rPr lang="en-US" sz="2000" b="0" i="1" smtClean="0">
                                                    <a:solidFill>
                                                      <a:schemeClr val="tx1"/>
                                                    </a:solidFill>
                                                    <a:effectLst/>
                                                    <a:latin typeface="Cambria Math" panose="02040503050406030204" pitchFamily="18" charset="0"/>
                                                  </a:rPr>
                                                  <m:t>4</m:t>
                                                </m:r>
                                              </m:sup>
                                            </m:sSup>
                                          </m:den>
                                        </m:f>
                                      </m:e>
                                    </m:d>
                                  </m:e>
                                  <m:sup>
                                    <m:r>
                                      <a:rPr lang="en-US" sz="2000" b="0" i="1" smtClean="0">
                                        <a:solidFill>
                                          <a:schemeClr val="tx1"/>
                                        </a:solidFill>
                                        <a:effectLst/>
                                        <a:latin typeface="Cambria Math" panose="02040503050406030204" pitchFamily="18" charset="0"/>
                                      </a:rPr>
                                      <m:t>3</m:t>
                                    </m:r>
                                  </m:sup>
                                </m:sSup>
                                <m:r>
                                  <a:rPr lang="en-US" sz="2000" b="0" smtClean="0">
                                    <a:solidFill>
                                      <a:schemeClr val="tx1"/>
                                    </a:solidFill>
                                    <a:effectLst/>
                                    <a:latin typeface="Cambria Math" panose="02040503050406030204" pitchFamily="18" charset="0"/>
                                  </a:rPr>
                                  <m:t>=</m:t>
                                </m:r>
                                <m:f>
                                  <m:fPr>
                                    <m:ctrlPr>
                                      <a:rPr lang="en-US" sz="2000" b="0" i="1">
                                        <a:solidFill>
                                          <a:schemeClr val="tx1"/>
                                        </a:solidFill>
                                        <a:effectLst/>
                                        <a:latin typeface="Cambria Math" panose="02040503050406030204" pitchFamily="18" charset="0"/>
                                      </a:rPr>
                                    </m:ctrlPr>
                                  </m:fPr>
                                  <m:num>
                                    <m:sSup>
                                      <m:sSupPr>
                                        <m:ctrlPr>
                                          <a:rPr lang="en-US" sz="2000" b="0" i="1">
                                            <a:solidFill>
                                              <a:schemeClr val="tx1"/>
                                            </a:solidFill>
                                            <a:effectLst/>
                                            <a:latin typeface="Cambria Math" panose="02040503050406030204" pitchFamily="18" charset="0"/>
                                          </a:rPr>
                                        </m:ctrlPr>
                                      </m:sSupPr>
                                      <m:e>
                                        <m:d>
                                          <m:dPr>
                                            <m:ctrlPr>
                                              <a:rPr lang="en-US" sz="2000" b="0" i="1">
                                                <a:solidFill>
                                                  <a:schemeClr val="tx1"/>
                                                </a:solidFill>
                                                <a:effectLst/>
                                                <a:latin typeface="Cambria Math" panose="02040503050406030204" pitchFamily="18" charset="0"/>
                                              </a:rPr>
                                            </m:ctrlPr>
                                          </m:dPr>
                                          <m:e>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2</m:t>
                                                </m:r>
                                              </m:e>
                                              <m:sup>
                                                <m:r>
                                                  <a:rPr lang="en-US" sz="2000" b="0" i="1" smtClean="0">
                                                    <a:solidFill>
                                                      <a:schemeClr val="tx1"/>
                                                    </a:solidFill>
                                                    <a:effectLst/>
                                                    <a:latin typeface="Cambria Math" panose="02040503050406030204" pitchFamily="18" charset="0"/>
                                                  </a:rPr>
                                                  <m:t>6</m:t>
                                                </m:r>
                                              </m:sup>
                                            </m:sSup>
                                          </m:e>
                                        </m:d>
                                      </m:e>
                                      <m:sup>
                                        <m:r>
                                          <a:rPr lang="en-US" sz="2000" b="0" i="1" smtClean="0">
                                            <a:solidFill>
                                              <a:schemeClr val="tx1"/>
                                            </a:solidFill>
                                            <a:effectLst/>
                                            <a:latin typeface="Cambria Math" panose="02040503050406030204" pitchFamily="18" charset="0"/>
                                          </a:rPr>
                                          <m:t>3</m:t>
                                        </m:r>
                                      </m:sup>
                                    </m:sSup>
                                  </m:num>
                                  <m:den>
                                    <m:sSup>
                                      <m:sSupPr>
                                        <m:ctrlPr>
                                          <a:rPr lang="en-US" sz="2000" b="0" i="1">
                                            <a:solidFill>
                                              <a:schemeClr val="tx1"/>
                                            </a:solidFill>
                                            <a:effectLst/>
                                            <a:latin typeface="Cambria Math" panose="02040503050406030204" pitchFamily="18" charset="0"/>
                                          </a:rPr>
                                        </m:ctrlPr>
                                      </m:sSupPr>
                                      <m:e>
                                        <m:d>
                                          <m:dPr>
                                            <m:ctrlPr>
                                              <a:rPr lang="en-US" sz="2000" b="0" i="1">
                                                <a:solidFill>
                                                  <a:schemeClr val="tx1"/>
                                                </a:solidFill>
                                                <a:effectLst/>
                                                <a:latin typeface="Cambria Math" panose="02040503050406030204" pitchFamily="18" charset="0"/>
                                              </a:rPr>
                                            </m:ctrlPr>
                                          </m:dPr>
                                          <m:e>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2</m:t>
                                                </m:r>
                                              </m:e>
                                              <m:sup>
                                                <m:r>
                                                  <a:rPr lang="en-US" sz="2000" b="0" i="1" smtClean="0">
                                                    <a:solidFill>
                                                      <a:schemeClr val="tx1"/>
                                                    </a:solidFill>
                                                    <a:effectLst/>
                                                    <a:latin typeface="Cambria Math" panose="02040503050406030204" pitchFamily="18" charset="0"/>
                                                  </a:rPr>
                                                  <m:t>4</m:t>
                                                </m:r>
                                              </m:sup>
                                            </m:sSup>
                                          </m:e>
                                        </m:d>
                                      </m:e>
                                      <m:sup>
                                        <m:r>
                                          <a:rPr lang="en-US" sz="2000" b="0" i="1" smtClean="0">
                                            <a:solidFill>
                                              <a:schemeClr val="tx1"/>
                                            </a:solidFill>
                                            <a:effectLst/>
                                            <a:latin typeface="Cambria Math" panose="02040503050406030204" pitchFamily="18" charset="0"/>
                                          </a:rPr>
                                          <m:t>3</m:t>
                                        </m:r>
                                      </m:sup>
                                    </m:sSup>
                                  </m:den>
                                </m:f>
                                <m:r>
                                  <a:rPr lang="en-US" sz="2000" b="0" smtClean="0">
                                    <a:solidFill>
                                      <a:schemeClr val="tx1"/>
                                    </a:solidFill>
                                    <a:effectLst/>
                                    <a:latin typeface="Cambria Math" panose="02040503050406030204" pitchFamily="18" charset="0"/>
                                  </a:rPr>
                                  <m:t> =                        </m:t>
                                </m:r>
                              </m:oMath>
                            </m:oMathPara>
                          </a14:m>
                          <a:endParaRPr lang="en-US" sz="20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4266649"/>
                      </a:ext>
                    </a:extLst>
                  </a:tr>
                </a:tbl>
              </a:graphicData>
            </a:graphic>
          </p:graphicFrame>
        </mc:Choice>
        <mc:Fallback>
          <p:graphicFrame>
            <p:nvGraphicFramePr>
              <p:cNvPr id="2" name="Table 1">
                <a:extLst>
                  <a:ext uri="{FF2B5EF4-FFF2-40B4-BE49-F238E27FC236}">
                    <a16:creationId xmlns:a16="http://schemas.microsoft.com/office/drawing/2014/main" id="{76DE516E-6EBC-4942-B4B0-FF50D0A2881B}"/>
                  </a:ext>
                </a:extLst>
              </p:cNvPr>
              <p:cNvGraphicFramePr>
                <a:graphicFrameLocks noGrp="1"/>
              </p:cNvGraphicFramePr>
              <p:nvPr>
                <p:extLst>
                  <p:ext uri="{D42A27DB-BD31-4B8C-83A1-F6EECF244321}">
                    <p14:modId xmlns:p14="http://schemas.microsoft.com/office/powerpoint/2010/main" val="1630366743"/>
                  </p:ext>
                </p:extLst>
              </p:nvPr>
            </p:nvGraphicFramePr>
            <p:xfrm>
              <a:off x="2726871" y="1287345"/>
              <a:ext cx="6863167" cy="3722244"/>
            </p:xfrm>
            <a:graphic>
              <a:graphicData uri="http://schemas.openxmlformats.org/drawingml/2006/table">
                <a:tbl>
                  <a:tblPr firstRow="1" firstCol="1" bandRow="1">
                    <a:tableStyleId>{5C22544A-7EE6-4342-B048-85BDC9FD1C3A}</a:tableStyleId>
                  </a:tblPr>
                  <a:tblGrid>
                    <a:gridCol w="3458763">
                      <a:extLst>
                        <a:ext uri="{9D8B030D-6E8A-4147-A177-3AD203B41FA5}">
                          <a16:colId xmlns:a16="http://schemas.microsoft.com/office/drawing/2014/main" val="361231864"/>
                        </a:ext>
                      </a:extLst>
                    </a:gridCol>
                    <a:gridCol w="3404404">
                      <a:extLst>
                        <a:ext uri="{9D8B030D-6E8A-4147-A177-3AD203B41FA5}">
                          <a16:colId xmlns:a16="http://schemas.microsoft.com/office/drawing/2014/main" val="877735973"/>
                        </a:ext>
                      </a:extLst>
                    </a:gridCol>
                  </a:tblGrid>
                  <a:tr h="297244">
                    <a:tc>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Winston</a:t>
                          </a:r>
                          <a:endParaRPr lang="en-US" sz="20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Yvette</a:t>
                          </a:r>
                          <a:endParaRPr lang="en-US" sz="20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008943749"/>
                      </a:ext>
                    </a:extLst>
                  </a:tr>
                  <a:tr h="2254060">
                    <a:tc>
                      <a:txBody>
                        <a:bodyPr/>
                        <a:lstStyle/>
                        <a:p>
                          <a:pPr marL="0" marR="0">
                            <a:lnSpc>
                              <a:spcPct val="107000"/>
                            </a:lnSpc>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quotient of powers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and then apply the </a:t>
                          </a: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power of a power</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exponent law. </a:t>
                          </a:r>
                          <a:endParaRPr lang="en-US" sz="20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power of a quotient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then the </a:t>
                          </a: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power of a power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and finally the </a:t>
                          </a: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quotient of powers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a:t>
                          </a:r>
                          <a:endParaRPr lang="en-US" sz="20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6696410"/>
                      </a:ext>
                    </a:extLst>
                  </a:tr>
                  <a:tr h="11709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6" t="-225521" r="-98768" b="-104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1789" t="-225521" r="-358" b="-1042"/>
                          </a:stretch>
                        </a:blipFill>
                      </a:tcPr>
                    </a:tc>
                    <a:extLst>
                      <a:ext uri="{0D108BD9-81ED-4DB2-BD59-A6C34878D82A}">
                        <a16:rowId xmlns:a16="http://schemas.microsoft.com/office/drawing/2014/main" val="2114266649"/>
                      </a:ext>
                    </a:extLst>
                  </a:tr>
                </a:tbl>
              </a:graphicData>
            </a:graphic>
          </p:graphicFrame>
        </mc:Fallback>
      </mc:AlternateContent>
      <p:sp>
        <p:nvSpPr>
          <p:cNvPr id="6"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285103" y="410666"/>
            <a:ext cx="9772460" cy="341627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Explain which method you prefer.</a:t>
            </a:r>
          </a:p>
          <a:p>
            <a:pPr marL="457200" indent="-457200">
              <a:buFont typeface="+mj-lt"/>
              <a:buAutoNum type="arabi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Ask your partner which method they prefer. Write their explanation here.</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94918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1"/>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7" name="Google Shape;337;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39" name="Google Shape;339;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2"/>
          <p:cNvSpPr txBox="1"/>
          <p:nvPr/>
        </p:nvSpPr>
        <p:spPr>
          <a:xfrm>
            <a:off x="1259461" y="-8101"/>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54B5D1"/>
                </a:solidFill>
                <a:latin typeface="Verdana"/>
                <a:ea typeface="Verdana"/>
                <a:cs typeface="Verdana"/>
                <a:sym typeface="Verdana"/>
              </a:rPr>
              <a:t>3.3.3 Guided Practice: </a:t>
            </a:r>
            <a:r>
              <a:rPr lang="en-US" sz="2800" b="1" dirty="0">
                <a:solidFill>
                  <a:srgbClr val="54B5D1"/>
                </a:solidFill>
                <a:latin typeface="Verdana"/>
                <a:ea typeface="Verdana"/>
                <a:cs typeface="Verdana"/>
              </a:rPr>
              <a:t>Writing Equivalent Expressions to Evaluate</a:t>
            </a:r>
            <a:endParaRPr sz="2800" b="1" dirty="0">
              <a:solidFill>
                <a:srgbClr val="54B5D1"/>
              </a:solidFill>
              <a:latin typeface="Verdana"/>
              <a:ea typeface="Verdana"/>
              <a:cs typeface="Verdana"/>
            </a:endParaRPr>
          </a:p>
        </p:txBody>
      </p:sp>
      <p:pic>
        <p:nvPicPr>
          <p:cNvPr id="348" name="Google Shape;348;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09653" y="241655"/>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49" name="Google Shape;349;p22"/>
              <p:cNvSpPr txBox="1"/>
              <p:nvPr/>
            </p:nvSpPr>
            <p:spPr>
              <a:xfrm>
                <a:off x="1259461" y="1386025"/>
                <a:ext cx="9929110" cy="75882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a:ea typeface="Verdana"/>
                    <a:cs typeface="Verdana"/>
                  </a:rPr>
                  <a:t>Two students evaluated the expression </a:t>
                </a:r>
                <a14:m>
                  <m:oMath xmlns:m="http://schemas.openxmlformats.org/officeDocument/2006/math">
                    <m:f>
                      <m:fPr>
                        <m:ctrlPr>
                          <a:rPr lang="en-US" sz="2000" i="1">
                            <a:latin typeface="Cambria Math" panose="02040503050406030204" pitchFamily="18" charset="0"/>
                            <a:ea typeface="Verdana"/>
                            <a:cs typeface="Verdana"/>
                          </a:rPr>
                        </m:ctrlPr>
                      </m:fPr>
                      <m:num>
                        <m:sSup>
                          <m:sSupPr>
                            <m:ctrlPr>
                              <a:rPr lang="en-US" sz="2000" i="1">
                                <a:latin typeface="Cambria Math" panose="02040503050406030204" pitchFamily="18" charset="0"/>
                                <a:ea typeface="Verdana"/>
                                <a:cs typeface="Verdana"/>
                              </a:rPr>
                            </m:ctrlPr>
                          </m:sSupPr>
                          <m:e>
                            <m:r>
                              <a:rPr lang="en-US" sz="2000">
                                <a:latin typeface="Cambria Math" panose="02040503050406030204" pitchFamily="18" charset="0"/>
                                <a:ea typeface="Verdana"/>
                                <a:cs typeface="Verdana"/>
                              </a:rPr>
                              <m:t>4</m:t>
                            </m:r>
                          </m:e>
                          <m:sup>
                            <m:r>
                              <a:rPr lang="en-US" sz="2000">
                                <a:latin typeface="Cambria Math" panose="02040503050406030204" pitchFamily="18" charset="0"/>
                                <a:ea typeface="Verdana"/>
                                <a:cs typeface="Verdana"/>
                              </a:rPr>
                              <m:t>5</m:t>
                            </m:r>
                          </m:sup>
                        </m:sSup>
                        <m:r>
                          <a:rPr lang="en-US" sz="2000">
                            <a:latin typeface="Cambria Math" panose="02040503050406030204" pitchFamily="18" charset="0"/>
                            <a:ea typeface="Verdana"/>
                            <a:cs typeface="Verdana"/>
                          </a:rPr>
                          <m:t> ∙ </m:t>
                        </m:r>
                        <m:sSup>
                          <m:sSupPr>
                            <m:ctrlPr>
                              <a:rPr lang="en-US" sz="2000" i="1">
                                <a:latin typeface="Cambria Math" panose="02040503050406030204" pitchFamily="18" charset="0"/>
                                <a:ea typeface="Verdana"/>
                                <a:cs typeface="Verdana"/>
                              </a:rPr>
                            </m:ctrlPr>
                          </m:sSupPr>
                          <m:e>
                            <m:r>
                              <a:rPr lang="en-US" sz="2000">
                                <a:latin typeface="Cambria Math" panose="02040503050406030204" pitchFamily="18" charset="0"/>
                                <a:ea typeface="Verdana"/>
                                <a:cs typeface="Verdana"/>
                              </a:rPr>
                              <m:t>4</m:t>
                            </m:r>
                          </m:e>
                          <m:sup>
                            <m:r>
                              <a:rPr lang="en-US" sz="2000">
                                <a:latin typeface="Cambria Math" panose="02040503050406030204" pitchFamily="18" charset="0"/>
                                <a:ea typeface="Verdana"/>
                                <a:cs typeface="Verdana"/>
                              </a:rPr>
                              <m:t>0</m:t>
                            </m:r>
                          </m:sup>
                        </m:sSup>
                      </m:num>
                      <m:den>
                        <m:sSup>
                          <m:sSupPr>
                            <m:ctrlPr>
                              <a:rPr lang="en-US" sz="2000" i="1">
                                <a:latin typeface="Cambria Math" panose="02040503050406030204" pitchFamily="18" charset="0"/>
                                <a:ea typeface="Verdana"/>
                                <a:cs typeface="Verdana"/>
                              </a:rPr>
                            </m:ctrlPr>
                          </m:sSupPr>
                          <m:e>
                            <m:r>
                              <a:rPr lang="en-US" sz="2000">
                                <a:latin typeface="Cambria Math" panose="02040503050406030204" pitchFamily="18" charset="0"/>
                                <a:ea typeface="Verdana"/>
                                <a:cs typeface="Verdana"/>
                              </a:rPr>
                              <m:t>4</m:t>
                            </m:r>
                          </m:e>
                          <m:sup>
                            <m:r>
                              <a:rPr lang="en-US" sz="2000">
                                <a:latin typeface="Cambria Math" panose="02040503050406030204" pitchFamily="18" charset="0"/>
                                <a:ea typeface="Verdana"/>
                                <a:cs typeface="Verdana"/>
                              </a:rPr>
                              <m:t>2</m:t>
                            </m:r>
                          </m:sup>
                        </m:sSup>
                      </m:den>
                    </m:f>
                  </m:oMath>
                </a14:m>
                <a:r>
                  <a:rPr lang="en-US" sz="2000" dirty="0">
                    <a:latin typeface="Verdana"/>
                    <a:ea typeface="Verdana"/>
                    <a:cs typeface="Verdana"/>
                  </a:rPr>
                  <a:t>  and found its value. </a:t>
                </a:r>
              </a:p>
              <a:p>
                <a:endParaRPr sz="1200" dirty="0"/>
              </a:p>
            </p:txBody>
          </p:sp>
        </mc:Choice>
        <mc:Fallback xmlns="">
          <p:sp>
            <p:nvSpPr>
              <p:cNvPr id="349" name="Google Shape;349;p22"/>
              <p:cNvSpPr txBox="1">
                <a:spLocks noRot="1" noChangeAspect="1" noMove="1" noResize="1" noEditPoints="1" noAdjustHandles="1" noChangeArrowheads="1" noChangeShapeType="1" noTextEdit="1"/>
              </p:cNvSpPr>
              <p:nvPr/>
            </p:nvSpPr>
            <p:spPr>
              <a:xfrm>
                <a:off x="1259461" y="1386025"/>
                <a:ext cx="9929110" cy="758822"/>
              </a:xfrm>
              <a:prstGeom prst="rect">
                <a:avLst/>
              </a:prstGeom>
              <a:blipFill rotWithShape="0">
                <a:blip r:embed="rId4"/>
                <a:stretch>
                  <a:fillRect l="-676"/>
                </a:stretch>
              </a:blipFill>
              <a:ln>
                <a:noFill/>
              </a:ln>
            </p:spPr>
            <p:txBody>
              <a:bodyPr/>
              <a:lstStyle/>
              <a:p>
                <a:r>
                  <a:rPr lang="en-US">
                    <a:noFill/>
                  </a:rPr>
                  <a:t> </a:t>
                </a:r>
              </a:p>
            </p:txBody>
          </p:sp>
        </mc:Fallback>
      </mc:AlternateContent>
      <p:sp>
        <p:nvSpPr>
          <p:cNvPr id="350" name="Google Shape;350;p22"/>
          <p:cNvSpPr/>
          <p:nvPr/>
        </p:nvSpPr>
        <p:spPr>
          <a:xfrm>
            <a:off x="-46217"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CC57402-8077-EB4E-849F-D659A15EB150}"/>
                  </a:ext>
                </a:extLst>
              </p:cNvPr>
              <p:cNvGraphicFramePr>
                <a:graphicFrameLocks noGrp="1"/>
              </p:cNvGraphicFramePr>
              <p:nvPr>
                <p:extLst>
                  <p:ext uri="{D42A27DB-BD31-4B8C-83A1-F6EECF244321}">
                    <p14:modId xmlns:p14="http://schemas.microsoft.com/office/powerpoint/2010/main" val="893600810"/>
                  </p:ext>
                </p:extLst>
              </p:nvPr>
            </p:nvGraphicFramePr>
            <p:xfrm>
              <a:off x="3943913" y="2147453"/>
              <a:ext cx="4560206" cy="4410139"/>
            </p:xfrm>
            <a:graphic>
              <a:graphicData uri="http://schemas.openxmlformats.org/drawingml/2006/table">
                <a:tbl>
                  <a:tblPr firstRow="1" firstCol="1" bandRow="1">
                    <a:tableStyleId>{5C22544A-7EE6-4342-B048-85BDC9FD1C3A}</a:tableStyleId>
                  </a:tblPr>
                  <a:tblGrid>
                    <a:gridCol w="2280103">
                      <a:extLst>
                        <a:ext uri="{9D8B030D-6E8A-4147-A177-3AD203B41FA5}">
                          <a16:colId xmlns:a16="http://schemas.microsoft.com/office/drawing/2014/main" val="1689699741"/>
                        </a:ext>
                      </a:extLst>
                    </a:gridCol>
                    <a:gridCol w="2280103">
                      <a:extLst>
                        <a:ext uri="{9D8B030D-6E8A-4147-A177-3AD203B41FA5}">
                          <a16:colId xmlns:a16="http://schemas.microsoft.com/office/drawing/2014/main" val="556931105"/>
                        </a:ext>
                      </a:extLst>
                    </a:gridCol>
                  </a:tblGrid>
                  <a:tr h="229341">
                    <a:tc>
                      <a:txBody>
                        <a:bodyPr/>
                        <a:lstStyle/>
                        <a:p>
                          <a:pPr marL="0" marR="0" algn="ctr">
                            <a:lnSpc>
                              <a:spcPct val="107000"/>
                            </a:lnSpc>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Caroline’s Work</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7501" marR="67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Jamir’s Work</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7501" marR="67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297719255"/>
                      </a:ext>
                    </a:extLst>
                  </a:tr>
                  <a:tr h="3570151">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solidFill>
                                          <a:schemeClr val="tx1"/>
                                        </a:solidFill>
                                        <a:effectLst/>
                                        <a:latin typeface="Cambria Math" panose="02040503050406030204" pitchFamily="18" charset="0"/>
                                      </a:rPr>
                                    </m:ctrlPr>
                                  </m:fPr>
                                  <m:num>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5</m:t>
                                        </m:r>
                                      </m:sup>
                                    </m:sSup>
                                    <m:r>
                                      <a:rPr lang="en-US" sz="1800" b="0">
                                        <a:solidFill>
                                          <a:schemeClr val="tx1"/>
                                        </a:solidFill>
                                        <a:effectLst/>
                                        <a:latin typeface="Cambria Math" panose="02040503050406030204" pitchFamily="18" charset="0"/>
                                      </a:rPr>
                                      <m:t> ∙ </m:t>
                                    </m:r>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0</m:t>
                                        </m:r>
                                      </m:sup>
                                    </m:sSup>
                                  </m:num>
                                  <m:den>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2</m:t>
                                        </m:r>
                                      </m:sup>
                                    </m:sSup>
                                  </m:den>
                                </m:f>
                              </m:oMath>
                            </m:oMathPara>
                          </a14:m>
                          <a:endPar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a:solidFill>
                                          <a:schemeClr val="tx1"/>
                                        </a:solidFill>
                                        <a:effectLst/>
                                        <a:latin typeface="Cambria Math" panose="02040503050406030204" pitchFamily="18" charset="0"/>
                                      </a:rPr>
                                    </m:ctrlPr>
                                  </m:fPr>
                                  <m:num>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5</m:t>
                                        </m:r>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0</m:t>
                                        </m:r>
                                        <m:r>
                                          <a:rPr lang="en-US" sz="1800" b="0">
                                            <a:solidFill>
                                              <a:schemeClr val="tx1"/>
                                            </a:solidFill>
                                            <a:effectLst/>
                                            <a:latin typeface="Cambria Math" panose="02040503050406030204" pitchFamily="18" charset="0"/>
                                          </a:rPr>
                                          <m:t>)</m:t>
                                        </m:r>
                                      </m:sup>
                                    </m:sSup>
                                  </m:num>
                                  <m:den>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2</m:t>
                                        </m:r>
                                      </m:sup>
                                    </m:sSup>
                                  </m:den>
                                </m:f>
                              </m:oMath>
                            </m:oMathPara>
                          </a14:m>
                          <a:endPar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a:solidFill>
                                          <a:schemeClr val="tx1"/>
                                        </a:solidFill>
                                        <a:effectLst/>
                                        <a:latin typeface="Cambria Math" panose="02040503050406030204" pitchFamily="18" charset="0"/>
                                      </a:rPr>
                                    </m:ctrlPr>
                                  </m:fPr>
                                  <m:num>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5</m:t>
                                        </m:r>
                                      </m:sup>
                                    </m:sSup>
                                  </m:num>
                                  <m:den>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2</m:t>
                                        </m:r>
                                      </m:sup>
                                    </m:sSup>
                                  </m:den>
                                </m:f>
                              </m:oMath>
                            </m:oMathPara>
                          </a14:m>
                          <a:endPar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5</m:t>
                                    </m:r>
                                    <m:r>
                                      <a:rPr lang="en-US" sz="1800" b="0">
                                        <a:solidFill>
                                          <a:schemeClr val="tx1"/>
                                        </a:solidFill>
                                        <a:effectLst/>
                                        <a:latin typeface="Cambria Math" panose="02040503050406030204" pitchFamily="18" charset="0"/>
                                      </a:rPr>
                                      <m:t> −</m:t>
                                    </m:r>
                                    <m:r>
                                      <a:rPr lang="en-US" sz="1800" b="0" i="1">
                                        <a:solidFill>
                                          <a:schemeClr val="tx1"/>
                                        </a:solidFill>
                                        <a:effectLst/>
                                        <a:latin typeface="Cambria Math" panose="02040503050406030204" pitchFamily="18" charset="0"/>
                                      </a:rPr>
                                      <m:t>2</m:t>
                                    </m:r>
                                    <m:r>
                                      <a:rPr lang="en-US" sz="1800" b="0">
                                        <a:solidFill>
                                          <a:schemeClr val="tx1"/>
                                        </a:solidFill>
                                        <a:effectLst/>
                                        <a:latin typeface="Cambria Math" panose="02040503050406030204" pitchFamily="18" charset="0"/>
                                      </a:rPr>
                                      <m:t>)</m:t>
                                    </m:r>
                                  </m:sup>
                                </m:sSup>
                              </m:oMath>
                            </m:oMathPara>
                          </a14:m>
                          <a:endPar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3</m:t>
                                    </m:r>
                                  </m:sup>
                                </m:sSup>
                              </m:oMath>
                            </m:oMathPara>
                          </a14:m>
                          <a:endPar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a:solidFill>
                                      <a:schemeClr val="tx1"/>
                                    </a:solidFill>
                                    <a:effectLst/>
                                    <a:latin typeface="Cambria Math" panose="02040503050406030204" pitchFamily="18" charset="0"/>
                                  </a:rPr>
                                  <m:t>64</m:t>
                                </m:r>
                              </m:oMath>
                            </m:oMathPara>
                          </a14:m>
                          <a:endParaRPr lang="en-US" sz="1800" b="0" i="1">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7501" marR="67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solidFill>
                                          <a:schemeClr val="tx1"/>
                                        </a:solidFill>
                                        <a:effectLst/>
                                        <a:latin typeface="Cambria Math" panose="02040503050406030204" pitchFamily="18" charset="0"/>
                                      </a:rPr>
                                    </m:ctrlPr>
                                  </m:fPr>
                                  <m:num>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5</m:t>
                                        </m:r>
                                      </m:sup>
                                    </m:sSup>
                                    <m:r>
                                      <a:rPr lang="en-US" sz="1800" b="0">
                                        <a:solidFill>
                                          <a:schemeClr val="tx1"/>
                                        </a:solidFill>
                                        <a:effectLst/>
                                        <a:latin typeface="Cambria Math" panose="02040503050406030204" pitchFamily="18" charset="0"/>
                                      </a:rPr>
                                      <m:t> ∙ </m:t>
                                    </m:r>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0</m:t>
                                        </m:r>
                                      </m:sup>
                                    </m:sSup>
                                  </m:num>
                                  <m:den>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2</m:t>
                                        </m:r>
                                      </m:sup>
                                    </m:sSup>
                                  </m:den>
                                </m:f>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a:solidFill>
                                          <a:schemeClr val="tx1"/>
                                        </a:solidFill>
                                        <a:effectLst/>
                                        <a:latin typeface="Cambria Math" panose="02040503050406030204" pitchFamily="18" charset="0"/>
                                      </a:rPr>
                                    </m:ctrlPr>
                                  </m:fPr>
                                  <m:num>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5</m:t>
                                        </m:r>
                                      </m:sup>
                                    </m:sSup>
                                    <m:r>
                                      <a:rPr lang="en-US" sz="1800" b="0">
                                        <a:solidFill>
                                          <a:schemeClr val="tx1"/>
                                        </a:solidFill>
                                        <a:effectLst/>
                                        <a:latin typeface="Cambria Math" panose="02040503050406030204" pitchFamily="18" charset="0"/>
                                      </a:rPr>
                                      <m:t> ∙ </m:t>
                                    </m:r>
                                    <m:r>
                                      <a:rPr lang="en-US" sz="1800" b="0" i="1">
                                        <a:solidFill>
                                          <a:schemeClr val="tx1"/>
                                        </a:solidFill>
                                        <a:effectLst/>
                                        <a:latin typeface="Cambria Math" panose="02040503050406030204" pitchFamily="18" charset="0"/>
                                      </a:rPr>
                                      <m:t>1</m:t>
                                    </m:r>
                                  </m:num>
                                  <m:den>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2</m:t>
                                        </m:r>
                                      </m:sup>
                                    </m:sSup>
                                  </m:den>
                                </m:f>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a:solidFill>
                                          <a:schemeClr val="tx1"/>
                                        </a:solidFill>
                                        <a:effectLst/>
                                        <a:latin typeface="Cambria Math" panose="02040503050406030204" pitchFamily="18" charset="0"/>
                                      </a:rPr>
                                    </m:ctrlPr>
                                  </m:fPr>
                                  <m:num>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5</m:t>
                                        </m:r>
                                      </m:sup>
                                    </m:sSup>
                                    <m:r>
                                      <a:rPr lang="en-US" sz="1800" b="0">
                                        <a:solidFill>
                                          <a:schemeClr val="tx1"/>
                                        </a:solidFill>
                                        <a:effectLst/>
                                        <a:latin typeface="Cambria Math" panose="02040503050406030204" pitchFamily="18" charset="0"/>
                                      </a:rPr>
                                      <m:t> </m:t>
                                    </m:r>
                                  </m:num>
                                  <m:den>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2</m:t>
                                        </m:r>
                                      </m:sup>
                                    </m:sSup>
                                  </m:den>
                                </m:f>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5</m:t>
                                    </m:r>
                                    <m:r>
                                      <a:rPr lang="en-US" sz="1800" b="0">
                                        <a:solidFill>
                                          <a:schemeClr val="tx1"/>
                                        </a:solidFill>
                                        <a:effectLst/>
                                        <a:latin typeface="Cambria Math" panose="02040503050406030204" pitchFamily="18" charset="0"/>
                                      </a:rPr>
                                      <m:t> −</m:t>
                                    </m:r>
                                    <m:r>
                                      <a:rPr lang="en-US" sz="1800" b="0" i="1">
                                        <a:solidFill>
                                          <a:schemeClr val="tx1"/>
                                        </a:solidFill>
                                        <a:effectLst/>
                                        <a:latin typeface="Cambria Math" panose="02040503050406030204" pitchFamily="18" charset="0"/>
                                      </a:rPr>
                                      <m:t>2</m:t>
                                    </m:r>
                                    <m:r>
                                      <a:rPr lang="en-US" sz="1800" b="0">
                                        <a:solidFill>
                                          <a:schemeClr val="tx1"/>
                                        </a:solidFill>
                                        <a:effectLst/>
                                        <a:latin typeface="Cambria Math" panose="02040503050406030204" pitchFamily="18" charset="0"/>
                                      </a:rPr>
                                      <m:t>)</m:t>
                                    </m:r>
                                  </m:sup>
                                </m:sSup>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b="0" i="1">
                                        <a:solidFill>
                                          <a:schemeClr val="tx1"/>
                                        </a:solidFill>
                                        <a:effectLst/>
                                        <a:latin typeface="Cambria Math" panose="02040503050406030204" pitchFamily="18" charset="0"/>
                                      </a:rPr>
                                    </m:ctrlPr>
                                  </m:sSupPr>
                                  <m:e>
                                    <m:r>
                                      <a:rPr lang="en-US" sz="1800" b="0" i="1">
                                        <a:solidFill>
                                          <a:schemeClr val="tx1"/>
                                        </a:solidFill>
                                        <a:effectLst/>
                                        <a:latin typeface="Cambria Math" panose="02040503050406030204" pitchFamily="18" charset="0"/>
                                      </a:rPr>
                                      <m:t>4</m:t>
                                    </m:r>
                                  </m:e>
                                  <m:sup>
                                    <m:r>
                                      <a:rPr lang="en-US" sz="1800" b="0" i="1">
                                        <a:solidFill>
                                          <a:schemeClr val="tx1"/>
                                        </a:solidFill>
                                        <a:effectLst/>
                                        <a:latin typeface="Cambria Math" panose="02040503050406030204" pitchFamily="18" charset="0"/>
                                      </a:rPr>
                                      <m:t>3</m:t>
                                    </m:r>
                                  </m:sup>
                                </m:sSup>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a:solidFill>
                                      <a:schemeClr val="tx1"/>
                                    </a:solidFill>
                                    <a:effectLst/>
                                    <a:latin typeface="Cambria Math" panose="02040503050406030204" pitchFamily="18" charset="0"/>
                                  </a:rPr>
                                  <m:t>64</m:t>
                                </m:r>
                              </m:oMath>
                            </m:oMathPara>
                          </a14:m>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7501" marR="67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673878"/>
                      </a:ext>
                    </a:extLst>
                  </a:tr>
                </a:tbl>
              </a:graphicData>
            </a:graphic>
          </p:graphicFrame>
        </mc:Choice>
        <mc:Fallback xmlns="">
          <p:graphicFrame>
            <p:nvGraphicFramePr>
              <p:cNvPr id="2" name="Table 1">
                <a:extLst>
                  <a:ext uri="{FF2B5EF4-FFF2-40B4-BE49-F238E27FC236}">
                    <a16:creationId xmlns:a16="http://schemas.microsoft.com/office/drawing/2014/main" id="{FCC57402-8077-EB4E-849F-D659A15EB150}"/>
                  </a:ext>
                </a:extLst>
              </p:cNvPr>
              <p:cNvGraphicFramePr>
                <a:graphicFrameLocks noGrp="1"/>
              </p:cNvGraphicFramePr>
              <p:nvPr>
                <p:extLst>
                  <p:ext uri="{D42A27DB-BD31-4B8C-83A1-F6EECF244321}">
                    <p14:modId xmlns:p14="http://schemas.microsoft.com/office/powerpoint/2010/main" val="893600810"/>
                  </p:ext>
                </p:extLst>
              </p:nvPr>
            </p:nvGraphicFramePr>
            <p:xfrm>
              <a:off x="2419913" y="2147453"/>
              <a:ext cx="4560206" cy="4432110"/>
            </p:xfrm>
            <a:graphic>
              <a:graphicData uri="http://schemas.openxmlformats.org/drawingml/2006/table">
                <a:tbl>
                  <a:tblPr firstRow="1" firstCol="1" bandRow="1">
                    <a:tableStyleId>{5C22544A-7EE6-4342-B048-85BDC9FD1C3A}</a:tableStyleId>
                  </a:tblPr>
                  <a:tblGrid>
                    <a:gridCol w="2280103">
                      <a:extLst>
                        <a:ext uri="{9D8B030D-6E8A-4147-A177-3AD203B41FA5}">
                          <a16:colId xmlns:a16="http://schemas.microsoft.com/office/drawing/2014/main" val="1689699741"/>
                        </a:ext>
                      </a:extLst>
                    </a:gridCol>
                    <a:gridCol w="2280103">
                      <a:extLst>
                        <a:ext uri="{9D8B030D-6E8A-4147-A177-3AD203B41FA5}">
                          <a16:colId xmlns:a16="http://schemas.microsoft.com/office/drawing/2014/main" val="556931105"/>
                        </a:ext>
                      </a:extLst>
                    </a:gridCol>
                  </a:tblGrid>
                  <a:tr h="267526">
                    <a:tc>
                      <a:txBody>
                        <a:bodyPr/>
                        <a:lstStyle/>
                        <a:p>
                          <a:pPr marL="0" marR="0" algn="ctr">
                            <a:lnSpc>
                              <a:spcPct val="107000"/>
                            </a:lnSpc>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Caroline’s Work</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7501" marR="67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Jamir’s Work</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7501" marR="67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297719255"/>
                      </a:ext>
                    </a:extLst>
                  </a:tr>
                  <a:tr h="4164584">
                    <a:tc>
                      <a:txBody>
                        <a:bodyPr/>
                        <a:lstStyle/>
                        <a:p>
                          <a:endParaRPr lang="en-US"/>
                        </a:p>
                      </a:txBody>
                      <a:tcPr marL="67501" marR="67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56" t="-8511" r="-101111" b="-304"/>
                          </a:stretch>
                        </a:blipFill>
                      </a:tcPr>
                    </a:tc>
                    <a:tc>
                      <a:txBody>
                        <a:bodyPr/>
                        <a:lstStyle/>
                        <a:p>
                          <a:endParaRPr lang="en-US"/>
                        </a:p>
                      </a:txBody>
                      <a:tcPr marL="67501" marR="67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556" t="-8511" r="-1111" b="-304"/>
                          </a:stretch>
                        </a:blipFill>
                      </a:tcPr>
                    </a:tc>
                    <a:extLst>
                      <a:ext uri="{0D108BD9-81ED-4DB2-BD59-A6C34878D82A}">
                        <a16:rowId xmlns:a16="http://schemas.microsoft.com/office/drawing/2014/main" val="60673878"/>
                      </a:ext>
                    </a:extLst>
                  </a:tr>
                </a:tbl>
              </a:graphicData>
            </a:graphic>
          </p:graphicFrame>
        </mc:Fallback>
      </mc:AlternateContent>
      <p:sp>
        <p:nvSpPr>
          <p:cNvPr id="10"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113</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8" name="Google Shape;358;p23"/>
          <p:cNvSpPr txBox="1"/>
          <p:nvPr/>
        </p:nvSpPr>
        <p:spPr>
          <a:xfrm>
            <a:off x="1037968" y="386282"/>
            <a:ext cx="10116064" cy="923289"/>
          </a:xfrm>
          <a:prstGeom prst="rect">
            <a:avLst/>
          </a:prstGeom>
          <a:noFill/>
          <a:ln>
            <a:noFill/>
          </a:ln>
        </p:spPr>
        <p:txBody>
          <a:bodyPr spcFirstLastPara="1" wrap="square" lIns="91425" tIns="45700" rIns="91425" bIns="45700" anchor="t" anchorCtr="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Complete the statements explaining each student’s work by using the phrases from the word bank. </a:t>
            </a:r>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endParaRPr sz="1200" dirty="0"/>
          </a:p>
        </p:txBody>
      </p:sp>
      <p:sp>
        <p:nvSpPr>
          <p:cNvPr id="359" name="Google Shape;359;p23"/>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Text Box 4">
            <a:extLst>
              <a:ext uri="{FF2B5EF4-FFF2-40B4-BE49-F238E27FC236}">
                <a16:creationId xmlns:a16="http://schemas.microsoft.com/office/drawing/2014/main" id="{99FA5E99-0C7F-BB42-8175-EE9180521D48}"/>
              </a:ext>
            </a:extLst>
          </p:cNvPr>
          <p:cNvSpPr txBox="1"/>
          <p:nvPr/>
        </p:nvSpPr>
        <p:spPr>
          <a:xfrm>
            <a:off x="2155103" y="1889263"/>
            <a:ext cx="2913286" cy="2927985"/>
          </a:xfrm>
          <a:prstGeom prst="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zero</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identity</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power of a power</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product of powers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power of a product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quotient of powers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power of a quotient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AlternateContent xmlns:mc="http://schemas.openxmlformats.org/markup-compatibility/2006" xmlns:a14="http://schemas.microsoft.com/office/drawing/2010/main">
        <mc:Choice Requires="a14">
          <p:sp>
            <p:nvSpPr>
              <p:cNvPr id="7" name="Google Shape;358;p23">
                <a:extLst>
                  <a:ext uri="{FF2B5EF4-FFF2-40B4-BE49-F238E27FC236}">
                    <a16:creationId xmlns:a16="http://schemas.microsoft.com/office/drawing/2014/main" id="{6BF9901F-4359-A24D-AF57-C5F52EDD9D6F}"/>
                  </a:ext>
                </a:extLst>
              </p:cNvPr>
              <p:cNvSpPr txBox="1"/>
              <p:nvPr/>
            </p:nvSpPr>
            <p:spPr>
              <a:xfrm>
                <a:off x="5068389" y="386281"/>
                <a:ext cx="5191179" cy="5649583"/>
              </a:xfrm>
              <a:prstGeom prst="rect">
                <a:avLst/>
              </a:prstGeom>
              <a:noFill/>
              <a:ln>
                <a:noFill/>
              </a:ln>
            </p:spPr>
            <p:txBody>
              <a:bodyPr spcFirstLastPara="1" wrap="square" lIns="91425" tIns="45700" rIns="91425" bIns="45700" anchor="t" anchorCtr="0">
                <a:spAutoFit/>
              </a:bodyPr>
              <a:lstStyle/>
              <a:p>
                <a:pPr>
                  <a:lnSpc>
                    <a:spcPct val="150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50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lnSpc>
                    <a:spcPct val="150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Caroline used the __________ exponent law first by rewriting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4</m:t>
                        </m:r>
                      </m:e>
                      <m:sup>
                        <m:r>
                          <a:rPr lang="en-US" sz="2000" i="1">
                            <a:latin typeface="Cambria Math" panose="02040503050406030204" pitchFamily="18" charset="0"/>
                          </a:rPr>
                          <m:t>5</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4</m:t>
                        </m:r>
                      </m:e>
                      <m:sup>
                        <m:r>
                          <a:rPr lang="en-US" sz="2000" i="1">
                            <a:latin typeface="Cambria Math" panose="02040503050406030204" pitchFamily="18" charset="0"/>
                          </a:rPr>
                          <m:t>0</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4</m:t>
                        </m:r>
                      </m:e>
                      <m:sup>
                        <m:r>
                          <a:rPr lang="en-US" sz="2000" i="1">
                            <a:latin typeface="Cambria Math" panose="02040503050406030204" pitchFamily="18" charset="0"/>
                          </a:rPr>
                          <m:t>5</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by adding the exponents. Next, she used the ____________ exponent law by subtracting the exponents </a:t>
                </a:r>
                <a14:m>
                  <m:oMath xmlns:m="http://schemas.openxmlformats.org/officeDocument/2006/math">
                    <m:r>
                      <a:rPr lang="en-US" sz="2000" i="1">
                        <a:latin typeface="Cambria Math" panose="020405030504060302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Then, Caroline found the value of the exponential expression.</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50000"/>
                  </a:lnSpc>
                </a:pPr>
                <a:endParaRPr sz="2000" dirty="0"/>
              </a:p>
            </p:txBody>
          </p:sp>
        </mc:Choice>
        <mc:Fallback xmlns="">
          <p:sp>
            <p:nvSpPr>
              <p:cNvPr id="7" name="Google Shape;358;p23">
                <a:extLst>
                  <a:ext uri="{FF2B5EF4-FFF2-40B4-BE49-F238E27FC236}">
                    <a16:creationId xmlns:a16="http://schemas.microsoft.com/office/drawing/2014/main" id="{6BF9901F-4359-A24D-AF57-C5F52EDD9D6F}"/>
                  </a:ext>
                </a:extLst>
              </p:cNvPr>
              <p:cNvSpPr txBox="1">
                <a:spLocks noRot="1" noChangeAspect="1" noMove="1" noResize="1" noEditPoints="1" noAdjustHandles="1" noChangeArrowheads="1" noChangeShapeType="1" noTextEdit="1"/>
              </p:cNvSpPr>
              <p:nvPr/>
            </p:nvSpPr>
            <p:spPr>
              <a:xfrm>
                <a:off x="3544388" y="386280"/>
                <a:ext cx="5191179" cy="5649583"/>
              </a:xfrm>
              <a:prstGeom prst="rect">
                <a:avLst/>
              </a:prstGeom>
              <a:blipFill>
                <a:blip r:embed="rId4"/>
                <a:stretch>
                  <a:fillRect r="-1951"/>
                </a:stretch>
              </a:blipFill>
              <a:ln>
                <a:noFill/>
              </a:ln>
            </p:spPr>
            <p:txBody>
              <a:bodyPr/>
              <a:lstStyle/>
              <a:p>
                <a:r>
                  <a:rPr lang="en-US">
                    <a:noFill/>
                  </a:rPr>
                  <a:t> </a:t>
                </a:r>
              </a:p>
            </p:txBody>
          </p:sp>
        </mc:Fallback>
      </mc:AlternateContent>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9" name="Google Shape;359;p23"/>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Text Box 4">
            <a:extLst>
              <a:ext uri="{FF2B5EF4-FFF2-40B4-BE49-F238E27FC236}">
                <a16:creationId xmlns:a16="http://schemas.microsoft.com/office/drawing/2014/main" id="{99FA5E99-0C7F-BB42-8175-EE9180521D48}"/>
              </a:ext>
            </a:extLst>
          </p:cNvPr>
          <p:cNvSpPr txBox="1"/>
          <p:nvPr/>
        </p:nvSpPr>
        <p:spPr>
          <a:xfrm>
            <a:off x="2155102" y="966159"/>
            <a:ext cx="2913286" cy="2927985"/>
          </a:xfrm>
          <a:prstGeom prst="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zero</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identity</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power of a power</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product of powers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power of a product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quotient of powers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power of a quotient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AlternateContent xmlns:mc="http://schemas.openxmlformats.org/markup-compatibility/2006" xmlns:a14="http://schemas.microsoft.com/office/drawing/2010/main">
        <mc:Choice Requires="a14">
          <p:sp>
            <p:nvSpPr>
              <p:cNvPr id="7" name="Google Shape;358;p23">
                <a:extLst>
                  <a:ext uri="{FF2B5EF4-FFF2-40B4-BE49-F238E27FC236}">
                    <a16:creationId xmlns:a16="http://schemas.microsoft.com/office/drawing/2014/main" id="{6BF9901F-4359-A24D-AF57-C5F52EDD9D6F}"/>
                  </a:ext>
                </a:extLst>
              </p:cNvPr>
              <p:cNvSpPr txBox="1"/>
              <p:nvPr/>
            </p:nvSpPr>
            <p:spPr>
              <a:xfrm>
                <a:off x="5068389" y="386281"/>
                <a:ext cx="5191179" cy="4582881"/>
              </a:xfrm>
              <a:prstGeom prst="rect">
                <a:avLst/>
              </a:prstGeom>
              <a:noFill/>
              <a:ln>
                <a:noFill/>
              </a:ln>
            </p:spPr>
            <p:txBody>
              <a:bodyPr spcFirstLastPara="1" wrap="square" lIns="91425" tIns="45700" rIns="91425" bIns="45700" anchor="t" anchorCtr="0">
                <a:spAutoFit/>
              </a:bodyPr>
              <a:lstStyle/>
              <a:p>
                <a:pPr marL="914400" indent="-449263">
                  <a:lnSpc>
                    <a:spcPct val="150000"/>
                  </a:lnSpc>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Jamir used the ___________ exponent law first by writing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4</m:t>
                        </m:r>
                      </m:e>
                      <m:sup>
                        <m:r>
                          <a:rPr lang="en-US" sz="2000" i="1">
                            <a:latin typeface="Cambria Math" panose="02040503050406030204" pitchFamily="18" charset="0"/>
                          </a:rPr>
                          <m:t>0</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Then, he multiplied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4</m:t>
                        </m:r>
                      </m:e>
                      <m:sup>
                        <m:r>
                          <a:rPr lang="en-US" sz="2000" i="1">
                            <a:latin typeface="Cambria Math" panose="02040503050406030204" pitchFamily="18" charset="0"/>
                          </a:rPr>
                          <m:t>5</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by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Next, he used the __________ exponent law by subtracting the exponents </a:t>
                </a:r>
                <a14:m>
                  <m:oMath xmlns:m="http://schemas.openxmlformats.org/officeDocument/2006/math">
                    <m:r>
                      <a:rPr lang="en-US" sz="2000" i="1">
                        <a:latin typeface="Cambria Math" panose="020405030504060302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Finally, he found the value of the exponential expression.</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7" name="Google Shape;358;p23">
                <a:extLst>
                  <a:ext uri="{FF2B5EF4-FFF2-40B4-BE49-F238E27FC236}">
                    <a16:creationId xmlns:a16="http://schemas.microsoft.com/office/drawing/2014/main" id="{6BF9901F-4359-A24D-AF57-C5F52EDD9D6F}"/>
                  </a:ext>
                </a:extLst>
              </p:cNvPr>
              <p:cNvSpPr txBox="1">
                <a:spLocks noRot="1" noChangeAspect="1" noMove="1" noResize="1" noEditPoints="1" noAdjustHandles="1" noChangeArrowheads="1" noChangeShapeType="1" noTextEdit="1"/>
              </p:cNvSpPr>
              <p:nvPr/>
            </p:nvSpPr>
            <p:spPr>
              <a:xfrm>
                <a:off x="3544388" y="386280"/>
                <a:ext cx="5191179" cy="4582881"/>
              </a:xfrm>
              <a:prstGeom prst="rect">
                <a:avLst/>
              </a:prstGeom>
              <a:blipFill>
                <a:blip r:embed="rId4"/>
                <a:stretch>
                  <a:fillRect/>
                </a:stretch>
              </a:blipFill>
              <a:ln>
                <a:noFill/>
              </a:ln>
            </p:spPr>
            <p:txBody>
              <a:bodyPr/>
              <a:lstStyle/>
              <a:p>
                <a:r>
                  <a:rPr lang="en-US">
                    <a:noFill/>
                  </a:rPr>
                  <a:t> </a:t>
                </a:r>
              </a:p>
            </p:txBody>
          </p:sp>
        </mc:Fallback>
      </mc:AlternateContent>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72757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932432" y="386282"/>
                <a:ext cx="8327136" cy="2660881"/>
              </a:xfrm>
              <a:prstGeom prst="rect">
                <a:avLst/>
              </a:prstGeom>
              <a:noFill/>
              <a:ln>
                <a:noFill/>
              </a:ln>
            </p:spPr>
            <p:txBody>
              <a:bodyPr spcFirstLastPara="1" wrap="square" lIns="91425" tIns="45700" rIns="91425" bIns="45700" anchor="t" anchorCtr="0">
                <a:spAutoFit/>
              </a:bodyPr>
              <a:lstStyle/>
              <a:p>
                <a:pPr marL="914400" indent="-449263">
                  <a:lnSpc>
                    <a:spcPct val="107000"/>
                  </a:lnSpc>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The students used the laws differently, but </a:t>
                </a:r>
              </a:p>
              <a:p>
                <a:pPr marL="914400" indent="-449263">
                  <a:lnSpc>
                    <a:spcPct val="107000"/>
                  </a:lnSpc>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each expression they wrote is                         </a:t>
                </a:r>
              </a:p>
              <a:p>
                <a:pPr marL="914400">
                  <a:lnSpc>
                    <a:spcPct val="107000"/>
                  </a:lnSpc>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14400">
                  <a:lnSpc>
                    <a:spcPct val="107000"/>
                  </a:lnSpc>
                </a:pP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n-US" sz="2400" i="1">
                                <a:latin typeface="Cambria Math" panose="02040503050406030204" pitchFamily="18" charset="0"/>
                                <a:ea typeface="Verdana" panose="020B0604030504040204" pitchFamily="34" charset="0"/>
                                <a:cs typeface="Verdana" panose="020B0604030504040204" pitchFamily="34" charset="0"/>
                              </a:rPr>
                              <m:t>4</m:t>
                            </m:r>
                          </m:e>
                          <m:sup>
                            <m:r>
                              <a:rPr lang="en-US" sz="2400" i="1">
                                <a:latin typeface="Cambria Math" panose="02040503050406030204" pitchFamily="18" charset="0"/>
                                <a:ea typeface="Verdana" panose="020B0604030504040204" pitchFamily="34" charset="0"/>
                                <a:cs typeface="Verdana" panose="020B0604030504040204" pitchFamily="34" charset="0"/>
                              </a:rPr>
                              <m:t>5</m:t>
                            </m:r>
                          </m:sup>
                        </m:sSup>
                        <m:r>
                          <a:rPr lang="en-US" sz="2400" i="1">
                            <a:latin typeface="Cambria Math" panose="02040503050406030204" pitchFamily="18" charset="0"/>
                            <a:ea typeface="Verdana" panose="020B0604030504040204" pitchFamily="34" charset="0"/>
                            <a:cs typeface="Verdana" panose="020B0604030504040204" pitchFamily="34" charset="0"/>
                          </a:rPr>
                          <m:t> </m:t>
                        </m:r>
                        <m:r>
                          <a:rPr lang="en-US" sz="2400" i="1">
                            <a:latin typeface="Cambria Math" panose="02040503050406030204" pitchFamily="18" charset="0"/>
                            <a:ea typeface="Cambria Math" panose="02040503050406030204" pitchFamily="18" charset="0"/>
                            <a:cs typeface="Cambria Math" panose="02040503050406030204" pitchFamily="18" charset="0"/>
                          </a:rPr>
                          <m:t>∙ </m:t>
                        </m:r>
                        <m:sSup>
                          <m:sSupPr>
                            <m:ctrlPr>
                              <a:rPr lang="en-US" sz="2400" i="1">
                                <a:latin typeface="Cambria Math" panose="02040503050406030204" pitchFamily="18" charset="0"/>
                                <a:ea typeface="Cambria Math" panose="02040503050406030204" pitchFamily="18" charset="0"/>
                                <a:cs typeface="Cambria Math" panose="02040503050406030204" pitchFamily="18" charset="0"/>
                              </a:rPr>
                            </m:ctrlPr>
                          </m:sSupPr>
                          <m:e>
                            <m:r>
                              <a:rPr lang="en-US" sz="2400" i="1">
                                <a:latin typeface="Cambria Math" panose="02040503050406030204" pitchFamily="18" charset="0"/>
                                <a:ea typeface="Cambria Math" panose="02040503050406030204" pitchFamily="18" charset="0"/>
                                <a:cs typeface="Cambria Math" panose="02040503050406030204" pitchFamily="18" charset="0"/>
                              </a:rPr>
                              <m:t>4</m:t>
                            </m:r>
                          </m:e>
                          <m:sup>
                            <m:r>
                              <a:rPr lang="en-US" sz="2400" i="1">
                                <a:latin typeface="Cambria Math" panose="02040503050406030204" pitchFamily="18" charset="0"/>
                                <a:ea typeface="Cambria Math" panose="02040503050406030204" pitchFamily="18" charset="0"/>
                                <a:cs typeface="Cambria Math" panose="02040503050406030204" pitchFamily="18" charset="0"/>
                              </a:rPr>
                              <m:t>0</m:t>
                            </m:r>
                          </m:sup>
                        </m:sSup>
                      </m:num>
                      <m:den>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n-US" sz="2400" i="1">
                                <a:latin typeface="Cambria Math" panose="02040503050406030204" pitchFamily="18" charset="0"/>
                                <a:ea typeface="Verdana" panose="020B0604030504040204" pitchFamily="34" charset="0"/>
                                <a:cs typeface="Verdana" panose="020B0604030504040204" pitchFamily="34" charset="0"/>
                              </a:rPr>
                              <m:t>4</m:t>
                            </m:r>
                          </m:e>
                          <m:sup>
                            <m:r>
                              <a:rPr lang="en-US" sz="2400" i="1">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400" dirty="0">
                    <a:latin typeface="Cambria Math" panose="02040503050406030204" pitchFamily="18" charset="0"/>
                    <a:ea typeface="Verdana" panose="020B0604030504040204" pitchFamily="34" charset="0"/>
                    <a:cs typeface="Verdana" panose="020B0604030504040204" pitchFamily="34" charset="0"/>
                  </a:rPr>
                  <a:t>.</a:t>
                </a: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i="1" dirty="0">
                  <a:latin typeface="Cambria Math" panose="02040503050406030204" pitchFamily="18" charset="0"/>
                  <a:ea typeface="Cambria Math" panose="02040503050406030204" pitchFamily="18" charset="0"/>
                  <a:cs typeface="Cambria Math" panose="02040503050406030204" pitchFamily="18" charset="0"/>
                </a:endParaRPr>
              </a:p>
              <a:p>
                <a:endParaRPr sz="2400" dirty="0"/>
              </a:p>
            </p:txBody>
          </p:sp>
        </mc:Choice>
        <mc:Fallback xmlns="">
          <p:sp>
            <p:nvSpPr>
              <p:cNvPr id="358" name="Google Shape;358;p23"/>
              <p:cNvSpPr txBox="1">
                <a:spLocks noRot="1" noChangeAspect="1" noMove="1" noResize="1" noEditPoints="1" noAdjustHandles="1" noChangeArrowheads="1" noChangeShapeType="1" noTextEdit="1"/>
              </p:cNvSpPr>
              <p:nvPr/>
            </p:nvSpPr>
            <p:spPr>
              <a:xfrm>
                <a:off x="408432" y="386281"/>
                <a:ext cx="8327136" cy="2660881"/>
              </a:xfrm>
              <a:prstGeom prst="rect">
                <a:avLst/>
              </a:prstGeom>
              <a:blipFill>
                <a:blip r:embed="rId4"/>
                <a:stretch>
                  <a:fillRect t="-2370"/>
                </a:stretch>
              </a:blipFill>
              <a:ln>
                <a:noFill/>
              </a:ln>
            </p:spPr>
            <p:txBody>
              <a:bodyPr/>
              <a:lstStyle/>
              <a:p>
                <a:r>
                  <a:rPr lang="en-US">
                    <a:noFill/>
                  </a:rPr>
                  <a:t> </a:t>
                </a:r>
              </a:p>
            </p:txBody>
          </p:sp>
        </mc:Fallback>
      </mc:AlternateContent>
      <p:sp>
        <p:nvSpPr>
          <p:cNvPr id="359" name="Google Shape;359;p23"/>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Rectangle: Rounded Corners 20">
            <a:extLst>
              <a:ext uri="{FF2B5EF4-FFF2-40B4-BE49-F238E27FC236}">
                <a16:creationId xmlns:a16="http://schemas.microsoft.com/office/drawing/2014/main" id="{0A1BDBF1-9239-1646-8DEA-C1A2A754272B}"/>
              </a:ext>
            </a:extLst>
          </p:cNvPr>
          <p:cNvSpPr/>
          <p:nvPr/>
        </p:nvSpPr>
        <p:spPr>
          <a:xfrm>
            <a:off x="7595260" y="866683"/>
            <a:ext cx="2388326" cy="1038225"/>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Cambria Math" panose="02040503050406030204" pitchFamily="18" charset="0"/>
                <a:cs typeface="Cambria Math" panose="02040503050406030204" pitchFamily="18" charset="0"/>
              </a:rPr>
              <a:t>less than</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Cambria Math" panose="02040503050406030204" pitchFamily="18" charset="0"/>
                <a:cs typeface="Cambria Math" panose="02040503050406030204" pitchFamily="18" charset="0"/>
              </a:rPr>
              <a:t>equivalent to</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Cambria Math" panose="02040503050406030204" pitchFamily="18" charset="0"/>
                <a:cs typeface="Cambria Math" panose="02040503050406030204" pitchFamily="18" charset="0"/>
              </a:rPr>
              <a:t>greater than</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97455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124465" y="386282"/>
                <a:ext cx="9943070" cy="3047845"/>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rPr>
                  <a:t>Ruth was given the following problem to evaluate.</a:t>
                </a:r>
                <a:endParaRPr lang="en-US" sz="2400" i="1" dirty="0">
                  <a:latin typeface="Verdana" panose="020B0604030504040204" pitchFamily="34" charset="0"/>
                  <a:ea typeface="Verdana" panose="020B0604030504040204" pitchFamily="34" charset="0"/>
                </a:endParaRPr>
              </a:p>
              <a:p>
                <a:r>
                  <a:rPr lang="en-US" sz="2400" dirty="0">
                    <a:latin typeface="Verdana" panose="020B0604030504040204" pitchFamily="34" charset="0"/>
                    <a:ea typeface="Verdana" panose="020B0604030504040204" pitchFamily="34" charset="0"/>
                  </a:rPr>
                  <a:t> </a:t>
                </a:r>
                <a:endParaRPr lang="en-US" sz="2400" i="1" dirty="0">
                  <a:latin typeface="Verdana" panose="020B0604030504040204" pitchFamily="34" charset="0"/>
                  <a:ea typeface="Verdana" panose="020B0604030504040204" pitchFamily="34" charset="0"/>
                </a:endParaRPr>
              </a:p>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11.6</m:t>
                          </m:r>
                        </m:e>
                        <m:sup>
                          <m:r>
                            <a:rPr lang="en-US" sz="2400" i="1">
                              <a:latin typeface="Cambria Math" panose="02040503050406030204" pitchFamily="18" charset="0"/>
                            </a:rPr>
                            <m:t>0</m:t>
                          </m:r>
                        </m:sup>
                      </m:sSup>
                      <m:r>
                        <a:rPr lang="en-US" sz="2400" i="1">
                          <a:latin typeface="Cambria Math" panose="02040503050406030204" pitchFamily="18" charset="0"/>
                        </a:rPr>
                        <m:t>∙ </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1">
                                      <a:latin typeface="Cambria Math" panose="02040503050406030204" pitchFamily="18" charset="0"/>
                                    </a:rPr>
                                    <m:t>−15</m:t>
                                  </m:r>
                                </m:e>
                              </m:d>
                            </m:e>
                            <m:sup>
                              <m:r>
                                <a:rPr lang="en-US" sz="2400" i="1">
                                  <a:latin typeface="Cambria Math" panose="02040503050406030204" pitchFamily="18" charset="0"/>
                                </a:rPr>
                                <m:t>4</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1.5</m:t>
                              </m:r>
                            </m:e>
                            <m:sup>
                              <m:r>
                                <a:rPr lang="en-US" sz="2400" i="1">
                                  <a:latin typeface="Cambria Math" panose="02040503050406030204" pitchFamily="18" charset="0"/>
                                </a:rPr>
                                <m:t>4</m:t>
                              </m:r>
                            </m:sup>
                          </m:sSup>
                        </m:den>
                      </m:f>
                    </m:oMath>
                  </m:oMathPara>
                </a14:m>
                <a:endParaRPr lang="en-US" sz="2400" i="1" dirty="0">
                  <a:latin typeface="Verdana" panose="020B0604030504040204" pitchFamily="34" charset="0"/>
                  <a:ea typeface="Verdana" panose="020B0604030504040204" pitchFamily="34" charset="0"/>
                </a:endParaRPr>
              </a:p>
              <a:p>
                <a:r>
                  <a:rPr lang="en-US" sz="2400" dirty="0">
                    <a:latin typeface="Verdana" panose="020B0604030504040204" pitchFamily="34" charset="0"/>
                    <a:ea typeface="Verdana" panose="020B0604030504040204" pitchFamily="34" charset="0"/>
                  </a:rPr>
                  <a:t> </a:t>
                </a:r>
                <a:endParaRPr lang="en-US" sz="2400" i="1" dirty="0">
                  <a:latin typeface="Verdana" panose="020B0604030504040204" pitchFamily="34" charset="0"/>
                  <a:ea typeface="Verdana" panose="020B0604030504040204" pitchFamily="34" charset="0"/>
                </a:endParaRPr>
              </a:p>
              <a:p>
                <a:pPr marL="914400" indent="-449263">
                  <a:buFont typeface="+mj-lt"/>
                  <a:buAutoNum type="alphaLcPeriod"/>
                </a:pPr>
                <a:r>
                  <a:rPr lang="en-US" sz="2400" dirty="0">
                    <a:latin typeface="Verdana" panose="020B0604030504040204" pitchFamily="34" charset="0"/>
                    <a:ea typeface="Verdana" panose="020B0604030504040204" pitchFamily="34" charset="0"/>
                  </a:rPr>
                  <a:t>Why would rewriting the following expression using laws of exponents be useful to Ruth before evaluating the expression?</a:t>
                </a:r>
                <a:endParaRPr lang="en-US" sz="2400" i="1" dirty="0">
                  <a:latin typeface="Verdana" panose="020B0604030504040204" pitchFamily="34" charset="0"/>
                  <a:ea typeface="Verdana" panose="020B0604030504040204" pitchFamily="34" charset="0"/>
                </a:endParaRPr>
              </a:p>
            </p:txBody>
          </p:sp>
        </mc:Choice>
        <mc:Fallback xmlns="">
          <p:sp>
            <p:nvSpPr>
              <p:cNvPr id="358" name="Google Shape;358;p23"/>
              <p:cNvSpPr txBox="1">
                <a:spLocks noRot="1" noChangeAspect="1" noMove="1" noResize="1" noEditPoints="1" noAdjustHandles="1" noChangeArrowheads="1" noChangeShapeType="1" noTextEdit="1"/>
              </p:cNvSpPr>
              <p:nvPr/>
            </p:nvSpPr>
            <p:spPr>
              <a:xfrm>
                <a:off x="1124465" y="386282"/>
                <a:ext cx="9943070" cy="3047845"/>
              </a:xfrm>
              <a:prstGeom prst="rect">
                <a:avLst/>
              </a:prstGeom>
              <a:blipFill rotWithShape="0">
                <a:blip r:embed="rId3"/>
                <a:stretch>
                  <a:fillRect l="-919" t="-1600" r="-551" b="-3600"/>
                </a:stretch>
              </a:blipFill>
              <a:ln>
                <a:noFill/>
              </a:ln>
            </p:spPr>
            <p:txBody>
              <a:bodyPr/>
              <a:lstStyle/>
              <a:p>
                <a:r>
                  <a:rPr lang="en-US">
                    <a:noFill/>
                  </a:rPr>
                  <a:t> </a:t>
                </a:r>
              </a:p>
            </p:txBody>
          </p:sp>
        </mc:Fallback>
      </mc:AlternateContent>
      <p:sp>
        <p:nvSpPr>
          <p:cNvPr id="359" name="Google Shape;359;p23"/>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075159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223319" y="386281"/>
                <a:ext cx="9745362" cy="1570518"/>
              </a:xfrm>
              <a:prstGeom prst="rect">
                <a:avLst/>
              </a:prstGeom>
              <a:noFill/>
              <a:ln>
                <a:noFill/>
              </a:ln>
            </p:spPr>
            <p:txBody>
              <a:bodyPr spcFirstLastPara="1" wrap="square" lIns="91425" tIns="45700" rIns="91425" bIns="45700" anchor="t" anchorCtr="0">
                <a:spAutoFit/>
              </a:bodyPr>
              <a:lstStyle/>
              <a:p>
                <a:pPr marL="914400" indent="-449263">
                  <a:buFont typeface="+mj-lt"/>
                  <a:buAutoNum type="alphaLcPeriod" startAt="2"/>
                </a:pPr>
                <a:r>
                  <a:rPr lang="en-US" sz="2400" dirty="0">
                    <a:latin typeface="Verdana" panose="020B0604030504040204" pitchFamily="34" charset="0"/>
                    <a:ea typeface="Verdana" panose="020B0604030504040204" pitchFamily="34" charset="0"/>
                  </a:rPr>
                  <a:t>Rewrite the expression using as many laws of exponents as possible. Then, evaluate the expression.</a:t>
                </a:r>
              </a:p>
              <a:p>
                <a:pPr lvl="0"/>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11.6</m:t>
                          </m:r>
                        </m:e>
                        <m:sup>
                          <m:r>
                            <a:rPr lang="en-US" sz="2400" i="1">
                              <a:latin typeface="Cambria Math" panose="02040503050406030204" pitchFamily="18" charset="0"/>
                            </a:rPr>
                            <m:t>0</m:t>
                          </m:r>
                        </m:sup>
                      </m:sSup>
                      <m:r>
                        <a:rPr lang="en-US" sz="2400" i="1">
                          <a:latin typeface="Cambria Math" panose="02040503050406030204" pitchFamily="18" charset="0"/>
                        </a:rPr>
                        <m:t> ∙ </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1">
                                      <a:latin typeface="Cambria Math" panose="02040503050406030204" pitchFamily="18" charset="0"/>
                                    </a:rPr>
                                    <m:t>−15</m:t>
                                  </m:r>
                                </m:e>
                              </m:d>
                            </m:e>
                            <m:sup>
                              <m:r>
                                <a:rPr lang="en-US" sz="2400" i="1">
                                  <a:latin typeface="Cambria Math" panose="02040503050406030204" pitchFamily="18" charset="0"/>
                                </a:rPr>
                                <m:t>4</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1.5</m:t>
                              </m:r>
                            </m:e>
                            <m:sup>
                              <m:r>
                                <a:rPr lang="en-US" sz="2400" i="1">
                                  <a:latin typeface="Cambria Math" panose="02040503050406030204" pitchFamily="18" charset="0"/>
                                </a:rPr>
                                <m:t>4</m:t>
                              </m:r>
                            </m:sup>
                          </m:sSup>
                        </m:den>
                      </m:f>
                    </m:oMath>
                  </m:oMathPara>
                </a14:m>
                <a:endParaRPr lang="en-US" sz="2400" i="1" dirty="0"/>
              </a:p>
            </p:txBody>
          </p:sp>
        </mc:Choice>
        <mc:Fallback xmlns="">
          <p:sp>
            <p:nvSpPr>
              <p:cNvPr id="358" name="Google Shape;358;p23"/>
              <p:cNvSpPr txBox="1">
                <a:spLocks noRot="1" noChangeAspect="1" noMove="1" noResize="1" noEditPoints="1" noAdjustHandles="1" noChangeArrowheads="1" noChangeShapeType="1" noTextEdit="1"/>
              </p:cNvSpPr>
              <p:nvPr/>
            </p:nvSpPr>
            <p:spPr>
              <a:xfrm>
                <a:off x="1223319" y="386281"/>
                <a:ext cx="9745362" cy="1570518"/>
              </a:xfrm>
              <a:prstGeom prst="rect">
                <a:avLst/>
              </a:prstGeom>
              <a:blipFill rotWithShape="0">
                <a:blip r:embed="rId3"/>
                <a:stretch>
                  <a:fillRect t="-3101"/>
                </a:stretch>
              </a:blipFill>
              <a:ln>
                <a:noFill/>
              </a:ln>
            </p:spPr>
            <p:txBody>
              <a:bodyPr/>
              <a:lstStyle/>
              <a:p>
                <a:r>
                  <a:rPr lang="en-US">
                    <a:noFill/>
                  </a:rPr>
                  <a:t> </a:t>
                </a:r>
              </a:p>
            </p:txBody>
          </p:sp>
        </mc:Fallback>
      </mc:AlternateContent>
      <p:sp>
        <p:nvSpPr>
          <p:cNvPr id="359" name="Google Shape;359;p23"/>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31668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2"/>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47" name="Google Shape;247;p12"/>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Activity</a:t>
            </a:r>
            <a:endParaRPr sz="5100" b="1">
              <a:solidFill>
                <a:srgbClr val="33BEA6"/>
              </a:solidFill>
              <a:latin typeface="Verdana"/>
              <a:ea typeface="Verdana"/>
              <a:cs typeface="Verdana"/>
              <a:sym typeface="Verdana"/>
            </a:endParaRPr>
          </a:p>
        </p:txBody>
      </p:sp>
      <p:pic>
        <p:nvPicPr>
          <p:cNvPr id="249" name="Google Shape;249;p12" descr="Icon&#10;&#10;Description automatically generated"/>
          <p:cNvPicPr preferRelativeResize="0"/>
          <p:nvPr/>
        </p:nvPicPr>
        <p:blipFill rotWithShape="1">
          <a:blip r:embed="rId3">
            <a:alphaModFix/>
          </a:blip>
          <a:srcRect/>
          <a:stretch/>
        </p:blipFill>
        <p:spPr>
          <a:xfrm>
            <a:off x="5208903"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6" name="Google Shape;256;p13"/>
          <p:cNvSpPr txBox="1"/>
          <p:nvPr/>
        </p:nvSpPr>
        <p:spPr>
          <a:xfrm>
            <a:off x="1439334"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3.3.4 Activity: Roundtable</a:t>
            </a:r>
            <a:endParaRPr dirty="0"/>
          </a:p>
        </p:txBody>
      </p:sp>
      <p:pic>
        <p:nvPicPr>
          <p:cNvPr id="258" name="Google Shape;258;p13"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89526" y="348272"/>
            <a:ext cx="749808" cy="749808"/>
          </a:xfrm>
          <a:prstGeom prst="rect">
            <a:avLst/>
          </a:prstGeom>
          <a:noFill/>
          <a:ln>
            <a:noFill/>
          </a:ln>
          <a:effectLst>
            <a:outerShdw blurRad="50800" dist="38100" dir="2700000" algn="tl" rotWithShape="0">
              <a:srgbClr val="000000">
                <a:alpha val="40000"/>
              </a:srgbClr>
            </a:outerShdw>
          </a:effectLst>
        </p:spPr>
      </p:pic>
      <p:sp>
        <p:nvSpPr>
          <p:cNvPr id="259" name="Google Shape;259;p13"/>
          <p:cNvSpPr txBox="1"/>
          <p:nvPr/>
        </p:nvSpPr>
        <p:spPr>
          <a:xfrm>
            <a:off x="1439334" y="1386026"/>
            <a:ext cx="9569364" cy="2893059"/>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rPr>
              <a:t>In teams of three, assign a number to each team member. Each student completes the </a:t>
            </a:r>
            <a:r>
              <a:rPr lang="en-US" sz="2400" b="1" dirty="0">
                <a:latin typeface="Verdana"/>
                <a:ea typeface="Verdana"/>
                <a:cs typeface="Verdana"/>
              </a:rPr>
              <a:t>first</a:t>
            </a:r>
            <a:r>
              <a:rPr lang="en-US" sz="2400" dirty="0">
                <a:latin typeface="Verdana"/>
                <a:ea typeface="Verdana"/>
                <a:cs typeface="Verdana"/>
              </a:rPr>
              <a:t> step of their problem and writes the exponent law used. Then, pass your problem to the student on your right to check your work and write the next step to the problem. For each new step, continue passing the problems to the student on your right until all three problems are evaluated.</a:t>
            </a:r>
          </a:p>
          <a:p>
            <a:endParaRPr dirty="0"/>
          </a:p>
        </p:txBody>
      </p:sp>
      <p:sp>
        <p:nvSpPr>
          <p:cNvPr id="260" name="Google Shape;260;p13"/>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9" name="Google Shape;269;p14"/>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4E0BD7E-309C-B84E-B1A8-17599165208C}"/>
                  </a:ext>
                </a:extLst>
              </p:cNvPr>
              <p:cNvGraphicFramePr>
                <a:graphicFrameLocks noGrp="1"/>
              </p:cNvGraphicFramePr>
              <p:nvPr>
                <p:extLst>
                  <p:ext uri="{D42A27DB-BD31-4B8C-83A1-F6EECF244321}">
                    <p14:modId xmlns:p14="http://schemas.microsoft.com/office/powerpoint/2010/main" val="2062842056"/>
                  </p:ext>
                </p:extLst>
              </p:nvPr>
            </p:nvGraphicFramePr>
            <p:xfrm>
              <a:off x="2999241" y="758756"/>
              <a:ext cx="6379891" cy="4771187"/>
            </p:xfrm>
            <a:graphic>
              <a:graphicData uri="http://schemas.openxmlformats.org/drawingml/2006/table">
                <a:tbl>
                  <a:tblPr firstRow="1" firstCol="1" bandRow="1">
                    <a:tableStyleId>{5C22544A-7EE6-4342-B048-85BDC9FD1C3A}</a:tableStyleId>
                  </a:tblPr>
                  <a:tblGrid>
                    <a:gridCol w="3189626">
                      <a:extLst>
                        <a:ext uri="{9D8B030D-6E8A-4147-A177-3AD203B41FA5}">
                          <a16:colId xmlns:a16="http://schemas.microsoft.com/office/drawing/2014/main" val="4055583356"/>
                        </a:ext>
                      </a:extLst>
                    </a:gridCol>
                    <a:gridCol w="3190265">
                      <a:extLst>
                        <a:ext uri="{9D8B030D-6E8A-4147-A177-3AD203B41FA5}">
                          <a16:colId xmlns:a16="http://schemas.microsoft.com/office/drawing/2014/main" val="2048454737"/>
                        </a:ext>
                      </a:extLst>
                    </a:gridCol>
                  </a:tblGrid>
                  <a:tr h="421998">
                    <a:tc gridSpan="2">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Team member 1: _________________</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915647802"/>
                      </a:ext>
                    </a:extLst>
                  </a:tr>
                  <a:tr h="4349189">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0" i="1" smtClean="0">
                                        <a:solidFill>
                                          <a:schemeClr val="tx1"/>
                                        </a:solidFill>
                                        <a:effectLst/>
                                        <a:latin typeface="Cambria Math" panose="02040503050406030204" pitchFamily="18" charset="0"/>
                                      </a:rPr>
                                    </m:ctrlPr>
                                  </m:sSupPr>
                                  <m:e>
                                    <m:d>
                                      <m:dPr>
                                        <m:ctrlPr>
                                          <a:rPr lang="en-US" sz="2000" b="0" i="1">
                                            <a:solidFill>
                                              <a:schemeClr val="tx1"/>
                                            </a:solidFill>
                                            <a:effectLst/>
                                            <a:latin typeface="Cambria Math" panose="02040503050406030204" pitchFamily="18" charset="0"/>
                                          </a:rPr>
                                        </m:ctrlPr>
                                      </m:dPr>
                                      <m:e>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3</m:t>
                                            </m:r>
                                          </m:e>
                                          <m:sup>
                                            <m:r>
                                              <a:rPr lang="en-US" sz="2000" b="0" i="1" smtClean="0">
                                                <a:solidFill>
                                                  <a:schemeClr val="tx1"/>
                                                </a:solidFill>
                                                <a:effectLst/>
                                                <a:latin typeface="Cambria Math" panose="02040503050406030204" pitchFamily="18" charset="0"/>
                                              </a:rPr>
                                              <m:t>0</m:t>
                                            </m:r>
                                          </m:sup>
                                        </m:sSup>
                                        <m:r>
                                          <a:rPr lang="en-US" sz="2000" b="0" smtClean="0">
                                            <a:solidFill>
                                              <a:schemeClr val="tx1"/>
                                            </a:solidFill>
                                            <a:effectLst/>
                                            <a:latin typeface="Cambria Math" panose="02040503050406030204" pitchFamily="18" charset="0"/>
                                          </a:rPr>
                                          <m:t> ∙ </m:t>
                                        </m:r>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3</m:t>
                                            </m:r>
                                          </m:e>
                                          <m:sup>
                                            <m:r>
                                              <a:rPr lang="en-US" sz="2000" b="0" i="1" smtClean="0">
                                                <a:solidFill>
                                                  <a:schemeClr val="tx1"/>
                                                </a:solidFill>
                                                <a:effectLst/>
                                                <a:latin typeface="Cambria Math" panose="02040503050406030204" pitchFamily="18" charset="0"/>
                                              </a:rPr>
                                              <m:t>2</m:t>
                                            </m:r>
                                          </m:sup>
                                        </m:sSup>
                                      </m:e>
                                    </m:d>
                                  </m:e>
                                  <m:sup>
                                    <m:r>
                                      <a:rPr lang="en-US" sz="2000" b="0" i="1" smtClean="0">
                                        <a:solidFill>
                                          <a:schemeClr val="tx1"/>
                                        </a:solidFill>
                                        <a:effectLst/>
                                        <a:latin typeface="Cambria Math" panose="02040503050406030204" pitchFamily="18" charset="0"/>
                                      </a:rPr>
                                      <m:t>3</m:t>
                                    </m:r>
                                  </m:sup>
                                </m:sSup>
                              </m:oMath>
                            </m:oMathPara>
                          </a14:m>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used</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131785"/>
                      </a:ext>
                    </a:extLst>
                  </a:tr>
                </a:tbl>
              </a:graphicData>
            </a:graphic>
          </p:graphicFrame>
        </mc:Choice>
        <mc:Fallback xmlns="">
          <p:graphicFrame>
            <p:nvGraphicFramePr>
              <p:cNvPr id="2" name="Table 1">
                <a:extLst>
                  <a:ext uri="{FF2B5EF4-FFF2-40B4-BE49-F238E27FC236}">
                    <a16:creationId xmlns:a16="http://schemas.microsoft.com/office/drawing/2014/main" id="{F4E0BD7E-309C-B84E-B1A8-17599165208C}"/>
                  </a:ext>
                </a:extLst>
              </p:cNvPr>
              <p:cNvGraphicFramePr>
                <a:graphicFrameLocks noGrp="1"/>
              </p:cNvGraphicFramePr>
              <p:nvPr>
                <p:extLst>
                  <p:ext uri="{D42A27DB-BD31-4B8C-83A1-F6EECF244321}">
                    <p14:modId xmlns:p14="http://schemas.microsoft.com/office/powerpoint/2010/main" val="2062842056"/>
                  </p:ext>
                </p:extLst>
              </p:nvPr>
            </p:nvGraphicFramePr>
            <p:xfrm>
              <a:off x="1475240" y="758755"/>
              <a:ext cx="6379891" cy="4771187"/>
            </p:xfrm>
            <a:graphic>
              <a:graphicData uri="http://schemas.openxmlformats.org/drawingml/2006/table">
                <a:tbl>
                  <a:tblPr firstRow="1" firstCol="1" bandRow="1">
                    <a:tableStyleId>{5C22544A-7EE6-4342-B048-85BDC9FD1C3A}</a:tableStyleId>
                  </a:tblPr>
                  <a:tblGrid>
                    <a:gridCol w="3189626">
                      <a:extLst>
                        <a:ext uri="{9D8B030D-6E8A-4147-A177-3AD203B41FA5}">
                          <a16:colId xmlns:a16="http://schemas.microsoft.com/office/drawing/2014/main" val="4055583356"/>
                        </a:ext>
                      </a:extLst>
                    </a:gridCol>
                    <a:gridCol w="3190265">
                      <a:extLst>
                        <a:ext uri="{9D8B030D-6E8A-4147-A177-3AD203B41FA5}">
                          <a16:colId xmlns:a16="http://schemas.microsoft.com/office/drawing/2014/main" val="2048454737"/>
                        </a:ext>
                      </a:extLst>
                    </a:gridCol>
                  </a:tblGrid>
                  <a:tr h="421998">
                    <a:tc gridSpan="2">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Team member 1: _________________</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915647802"/>
                      </a:ext>
                    </a:extLst>
                  </a:tr>
                  <a:tr h="4349189">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98" t="-10174" r="-100797" b="-291"/>
                          </a:stretch>
                        </a:blipFill>
                      </a:tcPr>
                    </a:tc>
                    <a:tc>
                      <a:txBody>
                        <a:bodyPr/>
                        <a:lstStyle/>
                        <a:p>
                          <a:pPr marL="0" marR="0" algn="ctr">
                            <a:lnSpc>
                              <a:spcPct val="107000"/>
                            </a:lnSpc>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used</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131785"/>
                      </a:ext>
                    </a:extLst>
                  </a:tr>
                </a:tbl>
              </a:graphicData>
            </a:graphic>
          </p:graphicFrame>
        </mc:Fallback>
      </mc:AlternateContent>
      <p:sp>
        <p:nvSpPr>
          <p:cNvPr id="6"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9" name="Google Shape;269;p14"/>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4E0BD7E-309C-B84E-B1A8-17599165208C}"/>
                  </a:ext>
                </a:extLst>
              </p:cNvPr>
              <p:cNvGraphicFramePr>
                <a:graphicFrameLocks noGrp="1"/>
              </p:cNvGraphicFramePr>
              <p:nvPr>
                <p:extLst>
                  <p:ext uri="{D42A27DB-BD31-4B8C-83A1-F6EECF244321}">
                    <p14:modId xmlns:p14="http://schemas.microsoft.com/office/powerpoint/2010/main" val="557909368"/>
                  </p:ext>
                </p:extLst>
              </p:nvPr>
            </p:nvGraphicFramePr>
            <p:xfrm>
              <a:off x="2999241" y="758756"/>
              <a:ext cx="6379891" cy="4771187"/>
            </p:xfrm>
            <a:graphic>
              <a:graphicData uri="http://schemas.openxmlformats.org/drawingml/2006/table">
                <a:tbl>
                  <a:tblPr firstRow="1" firstCol="1" bandRow="1">
                    <a:tableStyleId>{5C22544A-7EE6-4342-B048-85BDC9FD1C3A}</a:tableStyleId>
                  </a:tblPr>
                  <a:tblGrid>
                    <a:gridCol w="3189626">
                      <a:extLst>
                        <a:ext uri="{9D8B030D-6E8A-4147-A177-3AD203B41FA5}">
                          <a16:colId xmlns:a16="http://schemas.microsoft.com/office/drawing/2014/main" val="4055583356"/>
                        </a:ext>
                      </a:extLst>
                    </a:gridCol>
                    <a:gridCol w="3190265">
                      <a:extLst>
                        <a:ext uri="{9D8B030D-6E8A-4147-A177-3AD203B41FA5}">
                          <a16:colId xmlns:a16="http://schemas.microsoft.com/office/drawing/2014/main" val="2048454737"/>
                        </a:ext>
                      </a:extLst>
                    </a:gridCol>
                  </a:tblGrid>
                  <a:tr h="421998">
                    <a:tc gridSpan="2">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Team member 2: _________________</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915647802"/>
                      </a:ext>
                    </a:extLst>
                  </a:tr>
                  <a:tr h="4349189">
                    <a:tc>
                      <a:txBody>
                        <a:bodyPr/>
                        <a:lstStyle/>
                        <a:p>
                          <a:pPr marL="0" marR="0" algn="ctr">
                            <a:lnSpc>
                              <a:spcPct val="107000"/>
                            </a:lnSpc>
                            <a:spcBef>
                              <a:spcPts val="0"/>
                            </a:spcBef>
                            <a:spcAft>
                              <a:spcPts val="0"/>
                            </a:spcAft>
                          </a:pPr>
                          <a14:m>
                            <m:oMath xmlns:m="http://schemas.openxmlformats.org/officeDocument/2006/math">
                              <m:f>
                                <m:fPr>
                                  <m:ctrlPr>
                                    <a:rPr lang="en-US" sz="2800" b="1" i="1" u="none" strike="noStrike" cap="none" smtClean="0">
                                      <a:solidFill>
                                        <a:schemeClr val="tx1"/>
                                      </a:solidFill>
                                      <a:effectLst/>
                                      <a:latin typeface="Cambria Math" panose="02040503050406030204" pitchFamily="18" charset="0"/>
                                      <a:ea typeface="+mn-ea"/>
                                      <a:cs typeface="+mn-cs"/>
                                      <a:sym typeface="Arial"/>
                                    </a:rPr>
                                  </m:ctrlPr>
                                </m:fPr>
                                <m:num>
                                  <m:sSup>
                                    <m:sSupPr>
                                      <m:ctrlPr>
                                        <a:rPr lang="en-US" sz="2800" b="1" i="1" u="none" strike="noStrike" cap="none">
                                          <a:solidFill>
                                            <a:schemeClr val="tx1"/>
                                          </a:solidFill>
                                          <a:effectLst/>
                                          <a:latin typeface="Cambria Math" panose="02040503050406030204" pitchFamily="18" charset="0"/>
                                          <a:ea typeface="+mn-ea"/>
                                          <a:cs typeface="+mn-cs"/>
                                          <a:sym typeface="Arial"/>
                                        </a:rPr>
                                      </m:ctrlPr>
                                    </m:sSupPr>
                                    <m:e>
                                      <m:r>
                                        <a:rPr lang="en-US" sz="2800" b="1" i="0" u="none" strike="noStrike" cap="none">
                                          <a:solidFill>
                                            <a:schemeClr val="tx1"/>
                                          </a:solidFill>
                                          <a:effectLst/>
                                          <a:latin typeface="Cambria Math" panose="02040503050406030204" pitchFamily="18" charset="0"/>
                                          <a:ea typeface="+mn-ea"/>
                                          <a:cs typeface="+mn-cs"/>
                                          <a:sym typeface="Arial"/>
                                        </a:rPr>
                                        <m:t>(</m:t>
                                      </m:r>
                                      <m:sSup>
                                        <m:sSupPr>
                                          <m:ctrlPr>
                                            <a:rPr lang="en-US" sz="2800" b="1" i="1" u="none" strike="noStrike" cap="none">
                                              <a:solidFill>
                                                <a:schemeClr val="tx1"/>
                                              </a:solidFill>
                                              <a:effectLst/>
                                              <a:latin typeface="Cambria Math" panose="02040503050406030204" pitchFamily="18" charset="0"/>
                                              <a:ea typeface="+mn-ea"/>
                                              <a:cs typeface="+mn-cs"/>
                                              <a:sym typeface="Arial"/>
                                            </a:rPr>
                                          </m:ctrlPr>
                                        </m:sSupPr>
                                        <m:e>
                                          <m:r>
                                            <a:rPr lang="en-US" sz="2800" b="1" i="0" u="none" strike="noStrike" cap="none">
                                              <a:solidFill>
                                                <a:schemeClr val="tx1"/>
                                              </a:solidFill>
                                              <a:effectLst/>
                                              <a:latin typeface="Cambria Math" panose="02040503050406030204" pitchFamily="18" charset="0"/>
                                              <a:ea typeface="+mn-ea"/>
                                              <a:cs typeface="+mn-cs"/>
                                              <a:sym typeface="Arial"/>
                                            </a:rPr>
                                            <m:t>0.5</m:t>
                                          </m:r>
                                        </m:e>
                                        <m:sup>
                                          <m:r>
                                            <a:rPr lang="en-US" sz="2800" b="1" i="0" u="none" strike="noStrike" cap="none">
                                              <a:solidFill>
                                                <a:schemeClr val="tx1"/>
                                              </a:solidFill>
                                              <a:effectLst/>
                                              <a:latin typeface="Cambria Math" panose="02040503050406030204" pitchFamily="18" charset="0"/>
                                              <a:ea typeface="+mn-ea"/>
                                              <a:cs typeface="+mn-cs"/>
                                              <a:sym typeface="Arial"/>
                                            </a:rPr>
                                            <m:t>3</m:t>
                                          </m:r>
                                        </m:sup>
                                      </m:sSup>
                                      <m:r>
                                        <a:rPr lang="en-US" sz="2800" b="1" i="0" u="none" strike="noStrike" cap="none">
                                          <a:solidFill>
                                            <a:schemeClr val="tx1"/>
                                          </a:solidFill>
                                          <a:effectLst/>
                                          <a:latin typeface="Cambria Math" panose="02040503050406030204" pitchFamily="18" charset="0"/>
                                          <a:ea typeface="+mn-ea"/>
                                          <a:cs typeface="+mn-cs"/>
                                          <a:sym typeface="Arial"/>
                                        </a:rPr>
                                        <m:t>)</m:t>
                                      </m:r>
                                    </m:e>
                                    <m:sup>
                                      <m:r>
                                        <a:rPr lang="en-US" sz="2800" b="1" i="0" u="none" strike="noStrike" cap="none">
                                          <a:solidFill>
                                            <a:schemeClr val="tx1"/>
                                          </a:solidFill>
                                          <a:effectLst/>
                                          <a:latin typeface="Cambria Math" panose="02040503050406030204" pitchFamily="18" charset="0"/>
                                          <a:ea typeface="+mn-ea"/>
                                          <a:cs typeface="+mn-cs"/>
                                          <a:sym typeface="Arial"/>
                                        </a:rPr>
                                        <m:t>2</m:t>
                                      </m:r>
                                    </m:sup>
                                  </m:sSup>
                                </m:num>
                                <m:den>
                                  <m:sSup>
                                    <m:sSupPr>
                                      <m:ctrlPr>
                                        <a:rPr lang="en-US" sz="2800" b="1" i="1" u="none" strike="noStrike" cap="none">
                                          <a:solidFill>
                                            <a:schemeClr val="tx1"/>
                                          </a:solidFill>
                                          <a:effectLst/>
                                          <a:latin typeface="Cambria Math" panose="02040503050406030204" pitchFamily="18" charset="0"/>
                                          <a:ea typeface="+mn-ea"/>
                                          <a:cs typeface="+mn-cs"/>
                                          <a:sym typeface="Arial"/>
                                        </a:rPr>
                                      </m:ctrlPr>
                                    </m:sSupPr>
                                    <m:e>
                                      <m:r>
                                        <a:rPr lang="en-US" sz="2800" b="1" i="0" u="none" strike="noStrike" cap="none">
                                          <a:solidFill>
                                            <a:schemeClr val="tx1"/>
                                          </a:solidFill>
                                          <a:effectLst/>
                                          <a:latin typeface="Cambria Math" panose="02040503050406030204" pitchFamily="18" charset="0"/>
                                          <a:ea typeface="+mn-ea"/>
                                          <a:cs typeface="+mn-cs"/>
                                          <a:sym typeface="Arial"/>
                                        </a:rPr>
                                        <m:t>(</m:t>
                                      </m:r>
                                      <m:sSup>
                                        <m:sSupPr>
                                          <m:ctrlPr>
                                            <a:rPr lang="en-US" sz="2800" b="1" i="1" u="none" strike="noStrike" cap="none">
                                              <a:solidFill>
                                                <a:schemeClr val="tx1"/>
                                              </a:solidFill>
                                              <a:effectLst/>
                                              <a:latin typeface="Cambria Math" panose="02040503050406030204" pitchFamily="18" charset="0"/>
                                              <a:ea typeface="+mn-ea"/>
                                              <a:cs typeface="+mn-cs"/>
                                              <a:sym typeface="Arial"/>
                                            </a:rPr>
                                          </m:ctrlPr>
                                        </m:sSupPr>
                                        <m:e>
                                          <m:r>
                                            <a:rPr lang="en-US" sz="2800" b="1" i="0" u="none" strike="noStrike" cap="none">
                                              <a:solidFill>
                                                <a:schemeClr val="tx1"/>
                                              </a:solidFill>
                                              <a:effectLst/>
                                              <a:latin typeface="Cambria Math" panose="02040503050406030204" pitchFamily="18" charset="0"/>
                                              <a:ea typeface="+mn-ea"/>
                                              <a:cs typeface="+mn-cs"/>
                                              <a:sym typeface="Arial"/>
                                            </a:rPr>
                                            <m:t>0.5</m:t>
                                          </m:r>
                                        </m:e>
                                        <m:sup>
                                          <m:r>
                                            <a:rPr lang="en-US" sz="2800" b="1" i="0" u="none" strike="noStrike" cap="none">
                                              <a:solidFill>
                                                <a:schemeClr val="tx1"/>
                                              </a:solidFill>
                                              <a:effectLst/>
                                              <a:latin typeface="Cambria Math" panose="02040503050406030204" pitchFamily="18" charset="0"/>
                                              <a:ea typeface="+mn-ea"/>
                                              <a:cs typeface="+mn-cs"/>
                                              <a:sym typeface="Arial"/>
                                            </a:rPr>
                                            <m:t>1</m:t>
                                          </m:r>
                                        </m:sup>
                                      </m:sSup>
                                      <m:r>
                                        <a:rPr lang="en-US" sz="2800" b="1" i="0" u="none" strike="noStrike" cap="none">
                                          <a:solidFill>
                                            <a:schemeClr val="tx1"/>
                                          </a:solidFill>
                                          <a:effectLst/>
                                          <a:latin typeface="Cambria Math" panose="02040503050406030204" pitchFamily="18" charset="0"/>
                                          <a:ea typeface="+mn-ea"/>
                                          <a:cs typeface="+mn-cs"/>
                                          <a:sym typeface="Arial"/>
                                        </a:rPr>
                                        <m:t>)</m:t>
                                      </m:r>
                                    </m:e>
                                    <m:sup>
                                      <m:r>
                                        <a:rPr lang="en-US" sz="2800" b="1" i="0" u="none" strike="noStrike" cap="none">
                                          <a:solidFill>
                                            <a:schemeClr val="tx1"/>
                                          </a:solidFill>
                                          <a:effectLst/>
                                          <a:latin typeface="Cambria Math" panose="02040503050406030204" pitchFamily="18" charset="0"/>
                                          <a:ea typeface="+mn-ea"/>
                                          <a:cs typeface="+mn-cs"/>
                                          <a:sym typeface="Arial"/>
                                        </a:rPr>
                                        <m:t>2</m:t>
                                      </m:r>
                                    </m:sup>
                                  </m:sSup>
                                </m:den>
                              </m:f>
                            </m:oMath>
                          </a14:m>
                          <a:r>
                            <a:rPr lang="en-US" sz="2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24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used</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131785"/>
                      </a:ext>
                    </a:extLst>
                  </a:tr>
                </a:tbl>
              </a:graphicData>
            </a:graphic>
          </p:graphicFrame>
        </mc:Choice>
        <mc:Fallback xmlns="">
          <p:graphicFrame>
            <p:nvGraphicFramePr>
              <p:cNvPr id="2" name="Table 1">
                <a:extLst>
                  <a:ext uri="{FF2B5EF4-FFF2-40B4-BE49-F238E27FC236}">
                    <a16:creationId xmlns:a16="http://schemas.microsoft.com/office/drawing/2014/main" id="{F4E0BD7E-309C-B84E-B1A8-17599165208C}"/>
                  </a:ext>
                </a:extLst>
              </p:cNvPr>
              <p:cNvGraphicFramePr>
                <a:graphicFrameLocks noGrp="1"/>
              </p:cNvGraphicFramePr>
              <p:nvPr>
                <p:extLst>
                  <p:ext uri="{D42A27DB-BD31-4B8C-83A1-F6EECF244321}">
                    <p14:modId xmlns:p14="http://schemas.microsoft.com/office/powerpoint/2010/main" val="557909368"/>
                  </p:ext>
                </p:extLst>
              </p:nvPr>
            </p:nvGraphicFramePr>
            <p:xfrm>
              <a:off x="1475240" y="758755"/>
              <a:ext cx="6379891" cy="4771187"/>
            </p:xfrm>
            <a:graphic>
              <a:graphicData uri="http://schemas.openxmlformats.org/drawingml/2006/table">
                <a:tbl>
                  <a:tblPr firstRow="1" firstCol="1" bandRow="1">
                    <a:tableStyleId>{5C22544A-7EE6-4342-B048-85BDC9FD1C3A}</a:tableStyleId>
                  </a:tblPr>
                  <a:tblGrid>
                    <a:gridCol w="3189626">
                      <a:extLst>
                        <a:ext uri="{9D8B030D-6E8A-4147-A177-3AD203B41FA5}">
                          <a16:colId xmlns:a16="http://schemas.microsoft.com/office/drawing/2014/main" val="4055583356"/>
                        </a:ext>
                      </a:extLst>
                    </a:gridCol>
                    <a:gridCol w="3190265">
                      <a:extLst>
                        <a:ext uri="{9D8B030D-6E8A-4147-A177-3AD203B41FA5}">
                          <a16:colId xmlns:a16="http://schemas.microsoft.com/office/drawing/2014/main" val="2048454737"/>
                        </a:ext>
                      </a:extLst>
                    </a:gridCol>
                  </a:tblGrid>
                  <a:tr h="421998">
                    <a:tc gridSpan="2">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Team member 2: _________________</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915647802"/>
                      </a:ext>
                    </a:extLst>
                  </a:tr>
                  <a:tr h="4349189">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98" t="-10174" r="-100797" b="-291"/>
                          </a:stretch>
                        </a:blipFill>
                      </a:tcPr>
                    </a:tc>
                    <a:tc>
                      <a:txBody>
                        <a:bodyPr/>
                        <a:lstStyle/>
                        <a:p>
                          <a:pPr marL="0" marR="0" algn="ctr">
                            <a:lnSpc>
                              <a:spcPct val="107000"/>
                            </a:lnSpc>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used</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131785"/>
                      </a:ext>
                    </a:extLst>
                  </a:tr>
                </a:tbl>
              </a:graphicData>
            </a:graphic>
          </p:graphicFrame>
        </mc:Fallback>
      </mc:AlternateContent>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640777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9" name="Google Shape;269;p14"/>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4E0BD7E-309C-B84E-B1A8-17599165208C}"/>
                  </a:ext>
                </a:extLst>
              </p:cNvPr>
              <p:cNvGraphicFramePr>
                <a:graphicFrameLocks noGrp="1"/>
              </p:cNvGraphicFramePr>
              <p:nvPr>
                <p:extLst>
                  <p:ext uri="{D42A27DB-BD31-4B8C-83A1-F6EECF244321}">
                    <p14:modId xmlns:p14="http://schemas.microsoft.com/office/powerpoint/2010/main" val="258778958"/>
                  </p:ext>
                </p:extLst>
              </p:nvPr>
            </p:nvGraphicFramePr>
            <p:xfrm>
              <a:off x="2999241" y="758756"/>
              <a:ext cx="6379891" cy="4771187"/>
            </p:xfrm>
            <a:graphic>
              <a:graphicData uri="http://schemas.openxmlformats.org/drawingml/2006/table">
                <a:tbl>
                  <a:tblPr firstRow="1" firstCol="1" bandRow="1">
                    <a:tableStyleId>{5C22544A-7EE6-4342-B048-85BDC9FD1C3A}</a:tableStyleId>
                  </a:tblPr>
                  <a:tblGrid>
                    <a:gridCol w="3189626">
                      <a:extLst>
                        <a:ext uri="{9D8B030D-6E8A-4147-A177-3AD203B41FA5}">
                          <a16:colId xmlns:a16="http://schemas.microsoft.com/office/drawing/2014/main" val="4055583356"/>
                        </a:ext>
                      </a:extLst>
                    </a:gridCol>
                    <a:gridCol w="3190265">
                      <a:extLst>
                        <a:ext uri="{9D8B030D-6E8A-4147-A177-3AD203B41FA5}">
                          <a16:colId xmlns:a16="http://schemas.microsoft.com/office/drawing/2014/main" val="2048454737"/>
                        </a:ext>
                      </a:extLst>
                    </a:gridCol>
                  </a:tblGrid>
                  <a:tr h="421998">
                    <a:tc gridSpan="2">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Team member 3: _________________</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915647802"/>
                      </a:ext>
                    </a:extLst>
                  </a:tr>
                  <a:tr h="4349189">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u="none" strike="noStrike" cap="none" smtClean="0">
                                        <a:solidFill>
                                          <a:schemeClr val="tx1"/>
                                        </a:solidFill>
                                        <a:effectLst/>
                                        <a:latin typeface="Cambria Math" panose="02040503050406030204" pitchFamily="18" charset="0"/>
                                        <a:ea typeface="+mn-ea"/>
                                        <a:cs typeface="+mn-cs"/>
                                        <a:sym typeface="Arial"/>
                                      </a:rPr>
                                    </m:ctrlPr>
                                  </m:sSupPr>
                                  <m:e>
                                    <m:d>
                                      <m:dPr>
                                        <m:ctrlPr>
                                          <a:rPr lang="en-US" sz="2000" b="1" i="1" u="none" strike="noStrike" cap="none">
                                            <a:solidFill>
                                              <a:schemeClr val="tx1"/>
                                            </a:solidFill>
                                            <a:effectLst/>
                                            <a:latin typeface="Cambria Math" panose="02040503050406030204" pitchFamily="18" charset="0"/>
                                            <a:ea typeface="+mn-ea"/>
                                            <a:cs typeface="+mn-cs"/>
                                            <a:sym typeface="Arial"/>
                                          </a:rPr>
                                        </m:ctrlPr>
                                      </m:dPr>
                                      <m:e>
                                        <m:f>
                                          <m:fPr>
                                            <m:ctrlPr>
                                              <a:rPr lang="en-US" sz="2000" b="1" i="1" u="none" strike="noStrike" cap="none">
                                                <a:solidFill>
                                                  <a:schemeClr val="tx1"/>
                                                </a:solidFill>
                                                <a:effectLst/>
                                                <a:latin typeface="Cambria Math" panose="02040503050406030204" pitchFamily="18" charset="0"/>
                                                <a:ea typeface="+mn-ea"/>
                                                <a:cs typeface="+mn-cs"/>
                                                <a:sym typeface="Arial"/>
                                              </a:rPr>
                                            </m:ctrlPr>
                                          </m:fPr>
                                          <m:num>
                                            <m:sSup>
                                              <m:sSupPr>
                                                <m:ctrlPr>
                                                  <a:rPr lang="en-US" sz="2000" b="1" i="1" u="none" strike="noStrike" cap="none">
                                                    <a:solidFill>
                                                      <a:schemeClr val="tx1"/>
                                                    </a:solidFill>
                                                    <a:effectLst/>
                                                    <a:latin typeface="Cambria Math" panose="02040503050406030204" pitchFamily="18" charset="0"/>
                                                    <a:ea typeface="+mn-ea"/>
                                                    <a:cs typeface="+mn-cs"/>
                                                    <a:sym typeface="Arial"/>
                                                  </a:rPr>
                                                </m:ctrlPr>
                                              </m:sSupPr>
                                              <m:e>
                                                <m:r>
                                                  <a:rPr lang="en-US" sz="2000" b="1" i="0" u="none" strike="noStrike" cap="none">
                                                    <a:solidFill>
                                                      <a:schemeClr val="tx1"/>
                                                    </a:solidFill>
                                                    <a:effectLst/>
                                                    <a:latin typeface="Cambria Math" panose="02040503050406030204" pitchFamily="18" charset="0"/>
                                                    <a:ea typeface="+mn-ea"/>
                                                    <a:cs typeface="+mn-cs"/>
                                                    <a:sym typeface="Arial"/>
                                                  </a:rPr>
                                                  <m:t>4</m:t>
                                                </m:r>
                                              </m:e>
                                              <m:sup>
                                                <m:r>
                                                  <a:rPr lang="en-US" sz="2000" b="1" i="0" u="none" strike="noStrike" cap="none">
                                                    <a:solidFill>
                                                      <a:schemeClr val="tx1"/>
                                                    </a:solidFill>
                                                    <a:effectLst/>
                                                    <a:latin typeface="Cambria Math" panose="02040503050406030204" pitchFamily="18" charset="0"/>
                                                    <a:ea typeface="+mn-ea"/>
                                                    <a:cs typeface="+mn-cs"/>
                                                    <a:sym typeface="Arial"/>
                                                  </a:rPr>
                                                  <m:t>0</m:t>
                                                </m:r>
                                              </m:sup>
                                            </m:sSup>
                                          </m:num>
                                          <m:den>
                                            <m:sSup>
                                              <m:sSupPr>
                                                <m:ctrlPr>
                                                  <a:rPr lang="en-US" sz="2000" b="1" i="1" u="none" strike="noStrike" cap="none">
                                                    <a:solidFill>
                                                      <a:schemeClr val="tx1"/>
                                                    </a:solidFill>
                                                    <a:effectLst/>
                                                    <a:latin typeface="Cambria Math" panose="02040503050406030204" pitchFamily="18" charset="0"/>
                                                    <a:ea typeface="+mn-ea"/>
                                                    <a:cs typeface="+mn-cs"/>
                                                    <a:sym typeface="Arial"/>
                                                  </a:rPr>
                                                </m:ctrlPr>
                                              </m:sSupPr>
                                              <m:e>
                                                <m:r>
                                                  <a:rPr lang="en-US" sz="2000" b="1" i="0" u="none" strike="noStrike" cap="none">
                                                    <a:solidFill>
                                                      <a:schemeClr val="tx1"/>
                                                    </a:solidFill>
                                                    <a:effectLst/>
                                                    <a:latin typeface="Cambria Math" panose="02040503050406030204" pitchFamily="18" charset="0"/>
                                                    <a:ea typeface="+mn-ea"/>
                                                    <a:cs typeface="+mn-cs"/>
                                                    <a:sym typeface="Arial"/>
                                                  </a:rPr>
                                                  <m:t>4</m:t>
                                                </m:r>
                                              </m:e>
                                              <m:sup>
                                                <m:r>
                                                  <a:rPr lang="en-US" sz="2000" b="1" i="0" u="none" strike="noStrike" cap="none">
                                                    <a:solidFill>
                                                      <a:schemeClr val="tx1"/>
                                                    </a:solidFill>
                                                    <a:effectLst/>
                                                    <a:latin typeface="Cambria Math" panose="02040503050406030204" pitchFamily="18" charset="0"/>
                                                    <a:ea typeface="+mn-ea"/>
                                                    <a:cs typeface="+mn-cs"/>
                                                    <a:sym typeface="Arial"/>
                                                  </a:rPr>
                                                  <m:t>2</m:t>
                                                </m:r>
                                              </m:sup>
                                            </m:sSup>
                                          </m:den>
                                        </m:f>
                                        <m:r>
                                          <a:rPr lang="en-US" sz="2000" b="1" i="0" u="none" strike="noStrike" cap="none">
                                            <a:solidFill>
                                              <a:schemeClr val="tx1"/>
                                            </a:solidFill>
                                            <a:effectLst/>
                                            <a:latin typeface="Cambria Math" panose="02040503050406030204" pitchFamily="18" charset="0"/>
                                            <a:ea typeface="+mn-ea"/>
                                            <a:cs typeface="+mn-cs"/>
                                            <a:sym typeface="Arial"/>
                                          </a:rPr>
                                          <m:t>∙</m:t>
                                        </m:r>
                                        <m:sSup>
                                          <m:sSupPr>
                                            <m:ctrlPr>
                                              <a:rPr lang="en-US" sz="2000" b="1" i="1" u="none" strike="noStrike" cap="none">
                                                <a:solidFill>
                                                  <a:schemeClr val="tx1"/>
                                                </a:solidFill>
                                                <a:effectLst/>
                                                <a:latin typeface="Cambria Math" panose="02040503050406030204" pitchFamily="18" charset="0"/>
                                                <a:ea typeface="+mn-ea"/>
                                                <a:cs typeface="+mn-cs"/>
                                                <a:sym typeface="Arial"/>
                                              </a:rPr>
                                            </m:ctrlPr>
                                          </m:sSupPr>
                                          <m:e>
                                            <m:r>
                                              <a:rPr lang="en-US" sz="2000" b="1" i="0" u="none" strike="noStrike" cap="none">
                                                <a:solidFill>
                                                  <a:schemeClr val="tx1"/>
                                                </a:solidFill>
                                                <a:effectLst/>
                                                <a:latin typeface="Cambria Math" panose="02040503050406030204" pitchFamily="18" charset="0"/>
                                                <a:ea typeface="+mn-ea"/>
                                                <a:cs typeface="+mn-cs"/>
                                                <a:sym typeface="Arial"/>
                                              </a:rPr>
                                              <m:t>4</m:t>
                                            </m:r>
                                          </m:e>
                                          <m:sup>
                                            <m:r>
                                              <a:rPr lang="en-US" sz="2000" b="1" i="0" u="none" strike="noStrike" cap="none">
                                                <a:solidFill>
                                                  <a:schemeClr val="tx1"/>
                                                </a:solidFill>
                                                <a:effectLst/>
                                                <a:latin typeface="Cambria Math" panose="02040503050406030204" pitchFamily="18" charset="0"/>
                                                <a:ea typeface="+mn-ea"/>
                                                <a:cs typeface="+mn-cs"/>
                                                <a:sym typeface="Arial"/>
                                              </a:rPr>
                                              <m:t>4</m:t>
                                            </m:r>
                                          </m:sup>
                                        </m:sSup>
                                      </m:e>
                                    </m:d>
                                  </m:e>
                                  <m:sup>
                                    <m:r>
                                      <a:rPr lang="en-US" sz="2000" b="1" i="0" u="none" strike="noStrike" cap="none">
                                        <a:solidFill>
                                          <a:schemeClr val="tx1"/>
                                        </a:solidFill>
                                        <a:effectLst/>
                                        <a:latin typeface="Cambria Math" panose="02040503050406030204" pitchFamily="18" charset="0"/>
                                        <a:ea typeface="+mn-ea"/>
                                        <a:cs typeface="+mn-cs"/>
                                        <a:sym typeface="Arial"/>
                                      </a:rPr>
                                      <m:t>3</m:t>
                                    </m:r>
                                  </m:sup>
                                </m:sSup>
                              </m:oMath>
                            </m:oMathPara>
                          </a14:m>
                          <a:endParaRPr lang="en-US" sz="20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used</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131785"/>
                      </a:ext>
                    </a:extLst>
                  </a:tr>
                </a:tbl>
              </a:graphicData>
            </a:graphic>
          </p:graphicFrame>
        </mc:Choice>
        <mc:Fallback xmlns="">
          <p:graphicFrame>
            <p:nvGraphicFramePr>
              <p:cNvPr id="2" name="Table 1">
                <a:extLst>
                  <a:ext uri="{FF2B5EF4-FFF2-40B4-BE49-F238E27FC236}">
                    <a16:creationId xmlns:a16="http://schemas.microsoft.com/office/drawing/2014/main" id="{F4E0BD7E-309C-B84E-B1A8-17599165208C}"/>
                  </a:ext>
                </a:extLst>
              </p:cNvPr>
              <p:cNvGraphicFramePr>
                <a:graphicFrameLocks noGrp="1"/>
              </p:cNvGraphicFramePr>
              <p:nvPr>
                <p:extLst>
                  <p:ext uri="{D42A27DB-BD31-4B8C-83A1-F6EECF244321}">
                    <p14:modId xmlns:p14="http://schemas.microsoft.com/office/powerpoint/2010/main" val="258778958"/>
                  </p:ext>
                </p:extLst>
              </p:nvPr>
            </p:nvGraphicFramePr>
            <p:xfrm>
              <a:off x="1475240" y="758755"/>
              <a:ext cx="6379891" cy="4771187"/>
            </p:xfrm>
            <a:graphic>
              <a:graphicData uri="http://schemas.openxmlformats.org/drawingml/2006/table">
                <a:tbl>
                  <a:tblPr firstRow="1" firstCol="1" bandRow="1">
                    <a:tableStyleId>{5C22544A-7EE6-4342-B048-85BDC9FD1C3A}</a:tableStyleId>
                  </a:tblPr>
                  <a:tblGrid>
                    <a:gridCol w="3189626">
                      <a:extLst>
                        <a:ext uri="{9D8B030D-6E8A-4147-A177-3AD203B41FA5}">
                          <a16:colId xmlns:a16="http://schemas.microsoft.com/office/drawing/2014/main" val="4055583356"/>
                        </a:ext>
                      </a:extLst>
                    </a:gridCol>
                    <a:gridCol w="3190265">
                      <a:extLst>
                        <a:ext uri="{9D8B030D-6E8A-4147-A177-3AD203B41FA5}">
                          <a16:colId xmlns:a16="http://schemas.microsoft.com/office/drawing/2014/main" val="2048454737"/>
                        </a:ext>
                      </a:extLst>
                    </a:gridCol>
                  </a:tblGrid>
                  <a:tr h="421998">
                    <a:tc gridSpan="2">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Team member 3: _________________</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915647802"/>
                      </a:ext>
                    </a:extLst>
                  </a:tr>
                  <a:tr h="4349189">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98" t="-10174" r="-100797" b="-291"/>
                          </a:stretch>
                        </a:blipFill>
                      </a:tcPr>
                    </a:tc>
                    <a:tc>
                      <a:txBody>
                        <a:bodyPr/>
                        <a:lstStyle/>
                        <a:p>
                          <a:pPr marL="0" marR="0" algn="ctr">
                            <a:lnSpc>
                              <a:spcPct val="107000"/>
                            </a:lnSpc>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used</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131785"/>
                      </a:ext>
                    </a:extLst>
                  </a:tr>
                </a:tbl>
              </a:graphicData>
            </a:graphic>
          </p:graphicFrame>
        </mc:Fallback>
      </mc:AlternateContent>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115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22541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31"/>
          <p:cNvSpPr txBox="1"/>
          <p:nvPr/>
        </p:nvSpPr>
        <p:spPr>
          <a:xfrm>
            <a:off x="1440588" y="137236"/>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3.3.5 Your Turn!</a:t>
            </a:r>
            <a:endParaRPr dirty="0"/>
          </a:p>
        </p:txBody>
      </p:sp>
      <p:pic>
        <p:nvPicPr>
          <p:cNvPr id="437" name="Google Shape;437;p31"/>
          <p:cNvPicPr preferRelativeResize="0"/>
          <p:nvPr/>
        </p:nvPicPr>
        <p:blipFill rotWithShape="1">
          <a:blip r:embed="rId3">
            <a:alphaModFix/>
          </a:blip>
          <a:srcRect/>
          <a:stretch/>
        </p:blipFill>
        <p:spPr>
          <a:xfrm>
            <a:off x="693288" y="137236"/>
            <a:ext cx="747300" cy="747300"/>
          </a:xfrm>
          <a:prstGeom prst="rect">
            <a:avLst/>
          </a:prstGeom>
          <a:noFill/>
          <a:ln>
            <a:noFill/>
          </a:ln>
        </p:spPr>
      </p:pic>
      <p:sp>
        <p:nvSpPr>
          <p:cNvPr id="439" name="Google Shape;439;p31"/>
          <p:cNvSpPr txBox="1"/>
          <p:nvPr/>
        </p:nvSpPr>
        <p:spPr>
          <a:xfrm>
            <a:off x="1285103" y="1386025"/>
            <a:ext cx="9877826" cy="83095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rPr>
              <a:t>Use the laws of exponents to evaluate the expressions. Record the law used at each step.</a:t>
            </a:r>
          </a:p>
        </p:txBody>
      </p:sp>
      <p:sp>
        <p:nvSpPr>
          <p:cNvPr id="440" name="Google Shape;440;p31"/>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C31A0F65-E434-CF4F-A625-BFD7CCF5C845}"/>
                  </a:ext>
                </a:extLst>
              </p:cNvPr>
              <p:cNvGraphicFramePr>
                <a:graphicFrameLocks noGrp="1"/>
              </p:cNvGraphicFramePr>
              <p:nvPr>
                <p:extLst>
                  <p:ext uri="{D42A27DB-BD31-4B8C-83A1-F6EECF244321}">
                    <p14:modId xmlns:p14="http://schemas.microsoft.com/office/powerpoint/2010/main" val="2451102028"/>
                  </p:ext>
                </p:extLst>
              </p:nvPr>
            </p:nvGraphicFramePr>
            <p:xfrm>
              <a:off x="2901950" y="2461270"/>
              <a:ext cx="6388100" cy="3495040"/>
            </p:xfrm>
            <a:graphic>
              <a:graphicData uri="http://schemas.openxmlformats.org/drawingml/2006/table">
                <a:tbl>
                  <a:tblPr firstRow="1" firstCol="1" bandRow="1">
                    <a:tableStyleId>{5C22544A-7EE6-4342-B048-85BDC9FD1C3A}</a:tableStyleId>
                  </a:tblPr>
                  <a:tblGrid>
                    <a:gridCol w="3131185">
                      <a:extLst>
                        <a:ext uri="{9D8B030D-6E8A-4147-A177-3AD203B41FA5}">
                          <a16:colId xmlns:a16="http://schemas.microsoft.com/office/drawing/2014/main" val="1388492821"/>
                        </a:ext>
                      </a:extLst>
                    </a:gridCol>
                    <a:gridCol w="3256915">
                      <a:extLst>
                        <a:ext uri="{9D8B030D-6E8A-4147-A177-3AD203B41FA5}">
                          <a16:colId xmlns:a16="http://schemas.microsoft.com/office/drawing/2014/main" val="306801718"/>
                        </a:ext>
                      </a:extLst>
                    </a:gridCol>
                  </a:tblGrid>
                  <a:tr h="614680">
                    <a:tc>
                      <a:txBody>
                        <a:bodyPr/>
                        <a:lstStyle/>
                        <a:p>
                          <a:pPr marL="0" marR="0" algn="ctr">
                            <a:lnSpc>
                              <a:spcPct val="107000"/>
                            </a:lnSpc>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Expressions</a:t>
                          </a:r>
                          <a:endParaRPr lang="en-US" sz="1800" b="1" i="1">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Laws of Exponents</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15435375"/>
                      </a:ext>
                    </a:extLst>
                  </a:tr>
                  <a:tr h="288036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0" i="1" smtClean="0">
                                        <a:solidFill>
                                          <a:schemeClr val="tx1"/>
                                        </a:solidFill>
                                        <a:effectLst/>
                                        <a:latin typeface="Cambria Math" panose="02040503050406030204" pitchFamily="18" charset="0"/>
                                      </a:rPr>
                                    </m:ctrlPr>
                                  </m:sSupPr>
                                  <m:e>
                                    <m:d>
                                      <m:dPr>
                                        <m:ctrlPr>
                                          <a:rPr lang="en-US" sz="2000" b="0" i="1">
                                            <a:solidFill>
                                              <a:schemeClr val="tx1"/>
                                            </a:solidFill>
                                            <a:effectLst/>
                                            <a:latin typeface="Cambria Math" panose="02040503050406030204" pitchFamily="18" charset="0"/>
                                          </a:rPr>
                                        </m:ctrlPr>
                                      </m:dPr>
                                      <m:e>
                                        <m:f>
                                          <m:fPr>
                                            <m:ctrlPr>
                                              <a:rPr lang="en-US" sz="2000" b="0" i="1">
                                                <a:solidFill>
                                                  <a:schemeClr val="tx1"/>
                                                </a:solidFill>
                                                <a:effectLst/>
                                                <a:latin typeface="Cambria Math" panose="02040503050406030204" pitchFamily="18" charset="0"/>
                                              </a:rPr>
                                            </m:ctrlPr>
                                          </m:fPr>
                                          <m:num>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2</m:t>
                                                </m:r>
                                                <m:r>
                                                  <a:rPr lang="en-US" sz="2000" b="0" smtClean="0">
                                                    <a:solidFill>
                                                      <a:schemeClr val="tx1"/>
                                                    </a:solidFill>
                                                    <a:effectLst/>
                                                    <a:latin typeface="Cambria Math" panose="02040503050406030204" pitchFamily="18" charset="0"/>
                                                  </a:rPr>
                                                  <m:t>.</m:t>
                                                </m:r>
                                                <m:r>
                                                  <a:rPr lang="en-US" sz="2000" b="0" i="1" smtClean="0">
                                                    <a:solidFill>
                                                      <a:schemeClr val="tx1"/>
                                                    </a:solidFill>
                                                    <a:effectLst/>
                                                    <a:latin typeface="Cambria Math" panose="02040503050406030204" pitchFamily="18" charset="0"/>
                                                  </a:rPr>
                                                  <m:t>5</m:t>
                                                </m:r>
                                              </m:e>
                                              <m:sup>
                                                <m:r>
                                                  <a:rPr lang="en-US" sz="2000" b="0" i="1" smtClean="0">
                                                    <a:solidFill>
                                                      <a:schemeClr val="tx1"/>
                                                    </a:solidFill>
                                                    <a:effectLst/>
                                                    <a:latin typeface="Cambria Math" panose="02040503050406030204" pitchFamily="18" charset="0"/>
                                                  </a:rPr>
                                                  <m:t>5</m:t>
                                                </m:r>
                                              </m:sup>
                                            </m:sSup>
                                          </m:num>
                                          <m:den>
                                            <m:sSup>
                                              <m:sSupPr>
                                                <m:ctrlPr>
                                                  <a:rPr lang="en-US" sz="2000" b="0" i="1">
                                                    <a:solidFill>
                                                      <a:schemeClr val="tx1"/>
                                                    </a:solidFill>
                                                    <a:effectLst/>
                                                    <a:latin typeface="Cambria Math" panose="02040503050406030204" pitchFamily="18" charset="0"/>
                                                  </a:rPr>
                                                </m:ctrlPr>
                                              </m:sSupPr>
                                              <m:e>
                                                <m:r>
                                                  <a:rPr lang="en-US" sz="2000" b="0" i="1" smtClean="0">
                                                    <a:solidFill>
                                                      <a:schemeClr val="tx1"/>
                                                    </a:solidFill>
                                                    <a:effectLst/>
                                                    <a:latin typeface="Cambria Math" panose="02040503050406030204" pitchFamily="18" charset="0"/>
                                                  </a:rPr>
                                                  <m:t>2</m:t>
                                                </m:r>
                                                <m:r>
                                                  <a:rPr lang="en-US" sz="2000" b="0" smtClean="0">
                                                    <a:solidFill>
                                                      <a:schemeClr val="tx1"/>
                                                    </a:solidFill>
                                                    <a:effectLst/>
                                                    <a:latin typeface="Cambria Math" panose="02040503050406030204" pitchFamily="18" charset="0"/>
                                                  </a:rPr>
                                                  <m:t>.</m:t>
                                                </m:r>
                                                <m:r>
                                                  <a:rPr lang="en-US" sz="2000" b="0" i="1" smtClean="0">
                                                    <a:solidFill>
                                                      <a:schemeClr val="tx1"/>
                                                    </a:solidFill>
                                                    <a:effectLst/>
                                                    <a:latin typeface="Cambria Math" panose="02040503050406030204" pitchFamily="18" charset="0"/>
                                                  </a:rPr>
                                                  <m:t>5</m:t>
                                                </m:r>
                                              </m:e>
                                              <m:sup>
                                                <m:r>
                                                  <a:rPr lang="en-US" sz="2000" b="0" i="1" smtClean="0">
                                                    <a:solidFill>
                                                      <a:schemeClr val="tx1"/>
                                                    </a:solidFill>
                                                    <a:effectLst/>
                                                    <a:latin typeface="Cambria Math" panose="02040503050406030204" pitchFamily="18" charset="0"/>
                                                  </a:rPr>
                                                  <m:t>3</m:t>
                                                </m:r>
                                              </m:sup>
                                            </m:sSup>
                                          </m:den>
                                        </m:f>
                                      </m:e>
                                    </m:d>
                                  </m:e>
                                  <m:sup>
                                    <m:r>
                                      <a:rPr lang="en-US" sz="2000" b="0" i="1" smtClean="0">
                                        <a:solidFill>
                                          <a:schemeClr val="tx1"/>
                                        </a:solidFill>
                                        <a:effectLst/>
                                        <a:latin typeface="Cambria Math" panose="02040503050406030204" pitchFamily="18" charset="0"/>
                                      </a:rPr>
                                      <m:t>1</m:t>
                                    </m:r>
                                  </m:sup>
                                </m:sSup>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5345178"/>
                      </a:ext>
                    </a:extLst>
                  </a:tr>
                </a:tbl>
              </a:graphicData>
            </a:graphic>
          </p:graphicFrame>
        </mc:Choice>
        <mc:Fallback xmlns="">
          <p:graphicFrame>
            <p:nvGraphicFramePr>
              <p:cNvPr id="2" name="Table 1">
                <a:extLst>
                  <a:ext uri="{FF2B5EF4-FFF2-40B4-BE49-F238E27FC236}">
                    <a16:creationId xmlns:a16="http://schemas.microsoft.com/office/drawing/2014/main" id="{C31A0F65-E434-CF4F-A625-BFD7CCF5C845}"/>
                  </a:ext>
                </a:extLst>
              </p:cNvPr>
              <p:cNvGraphicFramePr>
                <a:graphicFrameLocks noGrp="1"/>
              </p:cNvGraphicFramePr>
              <p:nvPr>
                <p:extLst>
                  <p:ext uri="{D42A27DB-BD31-4B8C-83A1-F6EECF244321}">
                    <p14:modId xmlns:p14="http://schemas.microsoft.com/office/powerpoint/2010/main" val="2451102028"/>
                  </p:ext>
                </p:extLst>
              </p:nvPr>
            </p:nvGraphicFramePr>
            <p:xfrm>
              <a:off x="1377950" y="2461270"/>
              <a:ext cx="6388100" cy="3495040"/>
            </p:xfrm>
            <a:graphic>
              <a:graphicData uri="http://schemas.openxmlformats.org/drawingml/2006/table">
                <a:tbl>
                  <a:tblPr firstRow="1" firstCol="1" bandRow="1">
                    <a:tableStyleId>{5C22544A-7EE6-4342-B048-85BDC9FD1C3A}</a:tableStyleId>
                  </a:tblPr>
                  <a:tblGrid>
                    <a:gridCol w="3131185">
                      <a:extLst>
                        <a:ext uri="{9D8B030D-6E8A-4147-A177-3AD203B41FA5}">
                          <a16:colId xmlns:a16="http://schemas.microsoft.com/office/drawing/2014/main" val="1388492821"/>
                        </a:ext>
                      </a:extLst>
                    </a:gridCol>
                    <a:gridCol w="3256915">
                      <a:extLst>
                        <a:ext uri="{9D8B030D-6E8A-4147-A177-3AD203B41FA5}">
                          <a16:colId xmlns:a16="http://schemas.microsoft.com/office/drawing/2014/main" val="306801718"/>
                        </a:ext>
                      </a:extLst>
                    </a:gridCol>
                  </a:tblGrid>
                  <a:tr h="614680">
                    <a:tc>
                      <a:txBody>
                        <a:bodyPr/>
                        <a:lstStyle/>
                        <a:p>
                          <a:pPr marL="0" marR="0" algn="ctr">
                            <a:lnSpc>
                              <a:spcPct val="107000"/>
                            </a:lnSpc>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Expressions</a:t>
                          </a:r>
                          <a:endParaRPr lang="en-US" sz="1800" b="1" i="1">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Laws of Exponents</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15435375"/>
                      </a:ext>
                    </a:extLst>
                  </a:tr>
                  <a:tr h="288036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1930" r="-104453" b="-439"/>
                          </a:stretch>
                        </a:blipFill>
                      </a:tcPr>
                    </a:tc>
                    <a:tc>
                      <a:txBody>
                        <a:bodyPr/>
                        <a:lstStyle/>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5345178"/>
                      </a:ext>
                    </a:extLst>
                  </a:tr>
                </a:tbl>
              </a:graphicData>
            </a:graphic>
          </p:graphicFrame>
        </mc:Fallback>
      </mc:AlternateContent>
      <p:sp>
        <p:nvSpPr>
          <p:cNvPr id="10"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116</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8" name="Google Shape;448;p32"/>
          <p:cNvSpPr txBox="1"/>
          <p:nvPr/>
        </p:nvSpPr>
        <p:spPr>
          <a:xfrm>
            <a:off x="1932432" y="398473"/>
            <a:ext cx="8327136" cy="307736"/>
          </a:xfrm>
          <a:prstGeom prst="rect">
            <a:avLst/>
          </a:prstGeom>
          <a:noFill/>
          <a:ln>
            <a:noFill/>
          </a:ln>
        </p:spPr>
        <p:txBody>
          <a:bodyPr spcFirstLastPara="1" wrap="square" lIns="91425" tIns="45700" rIns="91425" bIns="45700" anchor="t" anchorCtr="0">
            <a:spAutoFit/>
          </a:bodyPr>
          <a:lstStyle/>
          <a:p>
            <a:endParaRPr dirty="0"/>
          </a:p>
        </p:txBody>
      </p:sp>
      <p:sp>
        <p:nvSpPr>
          <p:cNvPr id="449" name="Google Shape;449;p32"/>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6F9065C2-6B5F-9340-A323-FA0872CB797A}"/>
                  </a:ext>
                </a:extLst>
              </p:cNvPr>
              <p:cNvGraphicFramePr>
                <a:graphicFrameLocks noGrp="1"/>
              </p:cNvGraphicFramePr>
              <p:nvPr>
                <p:extLst>
                  <p:ext uri="{D42A27DB-BD31-4B8C-83A1-F6EECF244321}">
                    <p14:modId xmlns:p14="http://schemas.microsoft.com/office/powerpoint/2010/main" val="3920277983"/>
                  </p:ext>
                </p:extLst>
              </p:nvPr>
            </p:nvGraphicFramePr>
            <p:xfrm>
              <a:off x="2901950" y="1442366"/>
              <a:ext cx="6388100" cy="3495040"/>
            </p:xfrm>
            <a:graphic>
              <a:graphicData uri="http://schemas.openxmlformats.org/drawingml/2006/table">
                <a:tbl>
                  <a:tblPr firstRow="1" firstCol="1" bandRow="1">
                    <a:tableStyleId>{5C22544A-7EE6-4342-B048-85BDC9FD1C3A}</a:tableStyleId>
                  </a:tblPr>
                  <a:tblGrid>
                    <a:gridCol w="3131185">
                      <a:extLst>
                        <a:ext uri="{9D8B030D-6E8A-4147-A177-3AD203B41FA5}">
                          <a16:colId xmlns:a16="http://schemas.microsoft.com/office/drawing/2014/main" val="1388492821"/>
                        </a:ext>
                      </a:extLst>
                    </a:gridCol>
                    <a:gridCol w="3256915">
                      <a:extLst>
                        <a:ext uri="{9D8B030D-6E8A-4147-A177-3AD203B41FA5}">
                          <a16:colId xmlns:a16="http://schemas.microsoft.com/office/drawing/2014/main" val="306801718"/>
                        </a:ext>
                      </a:extLst>
                    </a:gridCol>
                  </a:tblGrid>
                  <a:tr h="614680">
                    <a:tc>
                      <a:txBody>
                        <a:bodyPr/>
                        <a:lstStyle/>
                        <a:p>
                          <a:pPr marL="0" marR="0" algn="ctr">
                            <a:lnSpc>
                              <a:spcPct val="107000"/>
                            </a:lnSpc>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Expressions</a:t>
                          </a:r>
                          <a:endParaRPr lang="en-US" sz="1800" b="1" i="1">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Laws of Exponents</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15435375"/>
                      </a:ext>
                    </a:extLst>
                  </a:tr>
                  <a:tr h="2880360">
                    <a:tc>
                      <a:txBody>
                        <a:bodyPr/>
                        <a:lstStyle/>
                        <a:p>
                          <a:pPr marL="0" marR="0" lvl="0" indent="0" algn="ctr" defTabSz="914400" rtl="0" eaLnBrk="1" fontAlgn="auto" latinLnBrk="0" hangingPunct="1">
                            <a:lnSpc>
                              <a:spcPct val="107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n-US" sz="2000" b="1" i="1" u="none" strike="noStrike" cap="none" smtClean="0">
                                        <a:solidFill>
                                          <a:schemeClr val="tx1"/>
                                        </a:solidFill>
                                        <a:effectLst/>
                                        <a:latin typeface="Cambria Math" panose="02040503050406030204" pitchFamily="18" charset="0"/>
                                        <a:ea typeface="+mn-ea"/>
                                        <a:cs typeface="+mn-cs"/>
                                        <a:sym typeface="Arial"/>
                                      </a:rPr>
                                    </m:ctrlPr>
                                  </m:sSupPr>
                                  <m:e>
                                    <m:d>
                                      <m:dPr>
                                        <m:begChr m:val="["/>
                                        <m:endChr m:val="]"/>
                                        <m:ctrlPr>
                                          <a:rPr lang="en-US" sz="2000" b="1" i="1" u="none" strike="noStrike" cap="none">
                                            <a:solidFill>
                                              <a:schemeClr val="tx1"/>
                                            </a:solidFill>
                                            <a:effectLst/>
                                            <a:latin typeface="Cambria Math" panose="02040503050406030204" pitchFamily="18" charset="0"/>
                                            <a:ea typeface="+mn-ea"/>
                                            <a:cs typeface="+mn-cs"/>
                                            <a:sym typeface="Arial"/>
                                          </a:rPr>
                                        </m:ctrlPr>
                                      </m:dPr>
                                      <m:e>
                                        <m:sSup>
                                          <m:sSupPr>
                                            <m:ctrlPr>
                                              <a:rPr lang="en-US" sz="2000" b="1" i="1" u="none" strike="noStrike" cap="none">
                                                <a:solidFill>
                                                  <a:schemeClr val="tx1"/>
                                                </a:solidFill>
                                                <a:effectLst/>
                                                <a:latin typeface="Cambria Math" panose="02040503050406030204" pitchFamily="18" charset="0"/>
                                                <a:ea typeface="+mn-ea"/>
                                                <a:cs typeface="+mn-cs"/>
                                                <a:sym typeface="Arial"/>
                                              </a:rPr>
                                            </m:ctrlPr>
                                          </m:sSupPr>
                                          <m:e>
                                            <m:d>
                                              <m:dPr>
                                                <m:ctrlPr>
                                                  <a:rPr lang="en-US" sz="2000" b="1" i="1" u="none" strike="noStrike" cap="none">
                                                    <a:solidFill>
                                                      <a:schemeClr val="tx1"/>
                                                    </a:solidFill>
                                                    <a:effectLst/>
                                                    <a:latin typeface="Cambria Math" panose="02040503050406030204" pitchFamily="18" charset="0"/>
                                                    <a:ea typeface="+mn-ea"/>
                                                    <a:cs typeface="+mn-cs"/>
                                                    <a:sym typeface="Arial"/>
                                                  </a:rPr>
                                                </m:ctrlPr>
                                              </m:dPr>
                                              <m:e>
                                                <m:f>
                                                  <m:fPr>
                                                    <m:ctrlPr>
                                                      <a:rPr lang="en-US" sz="2000" b="1" i="1" u="none" strike="noStrike" cap="none">
                                                        <a:solidFill>
                                                          <a:schemeClr val="tx1"/>
                                                        </a:solidFill>
                                                        <a:effectLst/>
                                                        <a:latin typeface="Cambria Math" panose="02040503050406030204" pitchFamily="18" charset="0"/>
                                                        <a:ea typeface="+mn-ea"/>
                                                        <a:cs typeface="+mn-cs"/>
                                                        <a:sym typeface="Arial"/>
                                                      </a:rPr>
                                                    </m:ctrlPr>
                                                  </m:fPr>
                                                  <m:num>
                                                    <m:r>
                                                      <a:rPr lang="en-US" sz="2000" b="1" i="1" u="none" strike="noStrike" cap="none">
                                                        <a:solidFill>
                                                          <a:schemeClr val="tx1"/>
                                                        </a:solidFill>
                                                        <a:effectLst/>
                                                        <a:latin typeface="Cambria Math" panose="02040503050406030204" pitchFamily="18" charset="0"/>
                                                        <a:ea typeface="+mn-ea"/>
                                                        <a:cs typeface="+mn-cs"/>
                                                        <a:sym typeface="Arial"/>
                                                      </a:rPr>
                                                      <m:t>2</m:t>
                                                    </m:r>
                                                  </m:num>
                                                  <m:den>
                                                    <m:r>
                                                      <a:rPr lang="en-US" sz="2000" b="1" i="1" u="none" strike="noStrike" cap="none">
                                                        <a:solidFill>
                                                          <a:schemeClr val="tx1"/>
                                                        </a:solidFill>
                                                        <a:effectLst/>
                                                        <a:latin typeface="Cambria Math" panose="02040503050406030204" pitchFamily="18" charset="0"/>
                                                        <a:ea typeface="+mn-ea"/>
                                                        <a:cs typeface="+mn-cs"/>
                                                        <a:sym typeface="Arial"/>
                                                      </a:rPr>
                                                      <m:t>3</m:t>
                                                    </m:r>
                                                  </m:den>
                                                </m:f>
                                              </m:e>
                                            </m:d>
                                          </m:e>
                                          <m:sup>
                                            <m:r>
                                              <a:rPr lang="en-US" sz="2000" b="1" i="1" u="none" strike="noStrike" cap="none">
                                                <a:solidFill>
                                                  <a:schemeClr val="tx1"/>
                                                </a:solidFill>
                                                <a:effectLst/>
                                                <a:latin typeface="Cambria Math" panose="02040503050406030204" pitchFamily="18" charset="0"/>
                                                <a:ea typeface="+mn-ea"/>
                                                <a:cs typeface="+mn-cs"/>
                                                <a:sym typeface="Arial"/>
                                              </a:rPr>
                                              <m:t>0</m:t>
                                            </m:r>
                                          </m:sup>
                                        </m:sSup>
                                        <m:r>
                                          <a:rPr lang="en-US" sz="2000" b="1" i="1" u="none" strike="noStrike" cap="none">
                                            <a:solidFill>
                                              <a:schemeClr val="tx1"/>
                                            </a:solidFill>
                                            <a:effectLst/>
                                            <a:latin typeface="Cambria Math" panose="02040503050406030204" pitchFamily="18" charset="0"/>
                                            <a:ea typeface="+mn-ea"/>
                                            <a:cs typeface="+mn-cs"/>
                                            <a:sym typeface="Arial"/>
                                          </a:rPr>
                                          <m:t> ∙ </m:t>
                                        </m:r>
                                        <m:sSup>
                                          <m:sSupPr>
                                            <m:ctrlPr>
                                              <a:rPr lang="en-US" sz="2000" b="1" i="1" u="none" strike="noStrike" cap="none">
                                                <a:solidFill>
                                                  <a:schemeClr val="tx1"/>
                                                </a:solidFill>
                                                <a:effectLst/>
                                                <a:latin typeface="Cambria Math" panose="02040503050406030204" pitchFamily="18" charset="0"/>
                                                <a:ea typeface="+mn-ea"/>
                                                <a:cs typeface="+mn-cs"/>
                                                <a:sym typeface="Arial"/>
                                              </a:rPr>
                                            </m:ctrlPr>
                                          </m:sSupPr>
                                          <m:e>
                                            <m:d>
                                              <m:dPr>
                                                <m:ctrlPr>
                                                  <a:rPr lang="en-US" sz="2000" b="1" i="1" u="none" strike="noStrike" cap="none">
                                                    <a:solidFill>
                                                      <a:schemeClr val="tx1"/>
                                                    </a:solidFill>
                                                    <a:effectLst/>
                                                    <a:latin typeface="Cambria Math" panose="02040503050406030204" pitchFamily="18" charset="0"/>
                                                    <a:ea typeface="+mn-ea"/>
                                                    <a:cs typeface="+mn-cs"/>
                                                    <a:sym typeface="Arial"/>
                                                  </a:rPr>
                                                </m:ctrlPr>
                                              </m:dPr>
                                              <m:e>
                                                <m:f>
                                                  <m:fPr>
                                                    <m:ctrlPr>
                                                      <a:rPr lang="en-US" sz="2000" b="1" i="1" u="none" strike="noStrike" cap="none">
                                                        <a:solidFill>
                                                          <a:schemeClr val="tx1"/>
                                                        </a:solidFill>
                                                        <a:effectLst/>
                                                        <a:latin typeface="Cambria Math" panose="02040503050406030204" pitchFamily="18" charset="0"/>
                                                        <a:ea typeface="+mn-ea"/>
                                                        <a:cs typeface="+mn-cs"/>
                                                        <a:sym typeface="Arial"/>
                                                      </a:rPr>
                                                    </m:ctrlPr>
                                                  </m:fPr>
                                                  <m:num>
                                                    <m:r>
                                                      <a:rPr lang="en-US" sz="2000" b="1" i="1" u="none" strike="noStrike" cap="none">
                                                        <a:solidFill>
                                                          <a:schemeClr val="tx1"/>
                                                        </a:solidFill>
                                                        <a:effectLst/>
                                                        <a:latin typeface="Cambria Math" panose="02040503050406030204" pitchFamily="18" charset="0"/>
                                                        <a:ea typeface="+mn-ea"/>
                                                        <a:cs typeface="+mn-cs"/>
                                                        <a:sym typeface="Arial"/>
                                                      </a:rPr>
                                                      <m:t>2</m:t>
                                                    </m:r>
                                                  </m:num>
                                                  <m:den>
                                                    <m:r>
                                                      <a:rPr lang="en-US" sz="2000" b="1" i="1" u="none" strike="noStrike" cap="none">
                                                        <a:solidFill>
                                                          <a:schemeClr val="tx1"/>
                                                        </a:solidFill>
                                                        <a:effectLst/>
                                                        <a:latin typeface="Cambria Math" panose="02040503050406030204" pitchFamily="18" charset="0"/>
                                                        <a:ea typeface="+mn-ea"/>
                                                        <a:cs typeface="+mn-cs"/>
                                                        <a:sym typeface="Arial"/>
                                                      </a:rPr>
                                                      <m:t>3</m:t>
                                                    </m:r>
                                                  </m:den>
                                                </m:f>
                                              </m:e>
                                            </m:d>
                                          </m:e>
                                          <m:sup>
                                            <m:r>
                                              <a:rPr lang="en-US" sz="2000" b="1" i="1" u="none" strike="noStrike" cap="none">
                                                <a:solidFill>
                                                  <a:schemeClr val="tx1"/>
                                                </a:solidFill>
                                                <a:effectLst/>
                                                <a:latin typeface="Cambria Math" panose="02040503050406030204" pitchFamily="18" charset="0"/>
                                                <a:ea typeface="+mn-ea"/>
                                                <a:cs typeface="+mn-cs"/>
                                                <a:sym typeface="Arial"/>
                                              </a:rPr>
                                              <m:t>2</m:t>
                                            </m:r>
                                          </m:sup>
                                        </m:sSup>
                                      </m:e>
                                    </m:d>
                                  </m:e>
                                  <m:sup>
                                    <m:r>
                                      <a:rPr lang="en-US" sz="2000" b="1" i="1" u="none" strike="noStrike" cap="none">
                                        <a:solidFill>
                                          <a:schemeClr val="tx1"/>
                                        </a:solidFill>
                                        <a:effectLst/>
                                        <a:latin typeface="Cambria Math" panose="02040503050406030204" pitchFamily="18" charset="0"/>
                                        <a:ea typeface="+mn-ea"/>
                                        <a:cs typeface="+mn-cs"/>
                                        <a:sym typeface="Arial"/>
                                      </a:rPr>
                                      <m:t>3</m:t>
                                    </m:r>
                                  </m:sup>
                                </m:sSup>
                              </m:oMath>
                            </m:oMathPara>
                          </a14:m>
                          <a:endParaRPr lang="en-US" sz="1800" b="1" i="1" u="none" strike="noStrike" cap="none" dirty="0">
                            <a:solidFill>
                              <a:schemeClr val="lt1"/>
                            </a:solidFill>
                            <a:effectLst/>
                            <a:latin typeface="Verdana" panose="020B0604030504040204" pitchFamily="34" charset="0"/>
                            <a:ea typeface="Verdana" panose="020B0604030504040204" pitchFamily="34" charset="0"/>
                            <a:cs typeface="Verdana" panose="020B0604030504040204" pitchFamily="34" charset="0"/>
                            <a:sym typeface="Arial"/>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5345178"/>
                      </a:ext>
                    </a:extLst>
                  </a:tr>
                </a:tbl>
              </a:graphicData>
            </a:graphic>
          </p:graphicFrame>
        </mc:Choice>
        <mc:Fallback xmlns="">
          <p:graphicFrame>
            <p:nvGraphicFramePr>
              <p:cNvPr id="6" name="Table 5">
                <a:extLst>
                  <a:ext uri="{FF2B5EF4-FFF2-40B4-BE49-F238E27FC236}">
                    <a16:creationId xmlns:a16="http://schemas.microsoft.com/office/drawing/2014/main" id="{6F9065C2-6B5F-9340-A323-FA0872CB797A}"/>
                  </a:ext>
                </a:extLst>
              </p:cNvPr>
              <p:cNvGraphicFramePr>
                <a:graphicFrameLocks noGrp="1"/>
              </p:cNvGraphicFramePr>
              <p:nvPr>
                <p:extLst>
                  <p:ext uri="{D42A27DB-BD31-4B8C-83A1-F6EECF244321}">
                    <p14:modId xmlns:p14="http://schemas.microsoft.com/office/powerpoint/2010/main" val="3920277983"/>
                  </p:ext>
                </p:extLst>
              </p:nvPr>
            </p:nvGraphicFramePr>
            <p:xfrm>
              <a:off x="1377950" y="1442366"/>
              <a:ext cx="6388100" cy="3495040"/>
            </p:xfrm>
            <a:graphic>
              <a:graphicData uri="http://schemas.openxmlformats.org/drawingml/2006/table">
                <a:tbl>
                  <a:tblPr firstRow="1" firstCol="1" bandRow="1">
                    <a:tableStyleId>{5C22544A-7EE6-4342-B048-85BDC9FD1C3A}</a:tableStyleId>
                  </a:tblPr>
                  <a:tblGrid>
                    <a:gridCol w="3131185">
                      <a:extLst>
                        <a:ext uri="{9D8B030D-6E8A-4147-A177-3AD203B41FA5}">
                          <a16:colId xmlns:a16="http://schemas.microsoft.com/office/drawing/2014/main" val="1388492821"/>
                        </a:ext>
                      </a:extLst>
                    </a:gridCol>
                    <a:gridCol w="3256915">
                      <a:extLst>
                        <a:ext uri="{9D8B030D-6E8A-4147-A177-3AD203B41FA5}">
                          <a16:colId xmlns:a16="http://schemas.microsoft.com/office/drawing/2014/main" val="306801718"/>
                        </a:ext>
                      </a:extLst>
                    </a:gridCol>
                  </a:tblGrid>
                  <a:tr h="614680">
                    <a:tc>
                      <a:txBody>
                        <a:bodyPr/>
                        <a:lstStyle/>
                        <a:p>
                          <a:pPr marL="0" marR="0" algn="ctr">
                            <a:lnSpc>
                              <a:spcPct val="107000"/>
                            </a:lnSpc>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Expressions</a:t>
                          </a:r>
                          <a:endParaRPr lang="en-US" sz="1800" b="1" i="1">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Laws of Exponents</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15435375"/>
                      </a:ext>
                    </a:extLst>
                  </a:tr>
                  <a:tr h="288036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22026" r="-104453" b="-881"/>
                          </a:stretch>
                        </a:blipFill>
                      </a:tcPr>
                    </a:tc>
                    <a:tc>
                      <a:txBody>
                        <a:bodyPr/>
                        <a:lstStyle/>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5345178"/>
                      </a:ext>
                    </a:extLst>
                  </a:tr>
                </a:tbl>
              </a:graphicData>
            </a:graphic>
          </p:graphicFrame>
        </mc:Fallback>
      </mc:AlternateContent>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863508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9" name="Google Shape;449;p32"/>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6F9065C2-6B5F-9340-A323-FA0872CB797A}"/>
                  </a:ext>
                </a:extLst>
              </p:cNvPr>
              <p:cNvGraphicFramePr>
                <a:graphicFrameLocks noGrp="1"/>
              </p:cNvGraphicFramePr>
              <p:nvPr>
                <p:extLst>
                  <p:ext uri="{D42A27DB-BD31-4B8C-83A1-F6EECF244321}">
                    <p14:modId xmlns:p14="http://schemas.microsoft.com/office/powerpoint/2010/main" val="3580538091"/>
                  </p:ext>
                </p:extLst>
              </p:nvPr>
            </p:nvGraphicFramePr>
            <p:xfrm>
              <a:off x="2901950" y="1442366"/>
              <a:ext cx="6388100" cy="3495040"/>
            </p:xfrm>
            <a:graphic>
              <a:graphicData uri="http://schemas.openxmlformats.org/drawingml/2006/table">
                <a:tbl>
                  <a:tblPr firstRow="1" firstCol="1" bandRow="1">
                    <a:tableStyleId>{5C22544A-7EE6-4342-B048-85BDC9FD1C3A}</a:tableStyleId>
                  </a:tblPr>
                  <a:tblGrid>
                    <a:gridCol w="3131185">
                      <a:extLst>
                        <a:ext uri="{9D8B030D-6E8A-4147-A177-3AD203B41FA5}">
                          <a16:colId xmlns:a16="http://schemas.microsoft.com/office/drawing/2014/main" val="1388492821"/>
                        </a:ext>
                      </a:extLst>
                    </a:gridCol>
                    <a:gridCol w="3256915">
                      <a:extLst>
                        <a:ext uri="{9D8B030D-6E8A-4147-A177-3AD203B41FA5}">
                          <a16:colId xmlns:a16="http://schemas.microsoft.com/office/drawing/2014/main" val="306801718"/>
                        </a:ext>
                      </a:extLst>
                    </a:gridCol>
                  </a:tblGrid>
                  <a:tr h="614680">
                    <a:tc>
                      <a:txBody>
                        <a:bodyPr/>
                        <a:lstStyle/>
                        <a:p>
                          <a:pPr marL="0" marR="0" algn="ctr">
                            <a:lnSpc>
                              <a:spcPct val="107000"/>
                            </a:lnSpc>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Expressions</a:t>
                          </a:r>
                          <a:endParaRPr lang="en-US" sz="1800" b="1" i="1">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Laws of Exponents</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15435375"/>
                      </a:ext>
                    </a:extLst>
                  </a:tr>
                  <a:tr h="288036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b="1" i="1" u="none" strike="noStrike" cap="none" smtClean="0">
                                        <a:solidFill>
                                          <a:schemeClr val="tx1"/>
                                        </a:solidFill>
                                        <a:effectLst/>
                                        <a:latin typeface="Cambria Math" panose="02040503050406030204" pitchFamily="18" charset="0"/>
                                        <a:ea typeface="+mn-ea"/>
                                        <a:cs typeface="+mn-cs"/>
                                        <a:sym typeface="Arial"/>
                                      </a:rPr>
                                    </m:ctrlPr>
                                  </m:fPr>
                                  <m:num>
                                    <m:sSup>
                                      <m:sSupPr>
                                        <m:ctrlPr>
                                          <a:rPr lang="en-US" sz="2000" b="1" i="1" u="none" strike="noStrike" cap="none">
                                            <a:solidFill>
                                              <a:schemeClr val="tx1"/>
                                            </a:solidFill>
                                            <a:effectLst/>
                                            <a:latin typeface="Cambria Math" panose="02040503050406030204" pitchFamily="18" charset="0"/>
                                            <a:ea typeface="+mn-ea"/>
                                            <a:cs typeface="+mn-cs"/>
                                            <a:sym typeface="Arial"/>
                                          </a:rPr>
                                        </m:ctrlPr>
                                      </m:sSupPr>
                                      <m:e>
                                        <m:r>
                                          <a:rPr lang="en-US" sz="2000" b="1" i="0" u="none" strike="noStrike" cap="none">
                                            <a:solidFill>
                                              <a:schemeClr val="tx1"/>
                                            </a:solidFill>
                                            <a:effectLst/>
                                            <a:latin typeface="Cambria Math" panose="02040503050406030204" pitchFamily="18" charset="0"/>
                                            <a:ea typeface="+mn-ea"/>
                                            <a:cs typeface="+mn-cs"/>
                                            <a:sym typeface="Arial"/>
                                          </a:rPr>
                                          <m:t>0.5</m:t>
                                        </m:r>
                                      </m:e>
                                      <m:sup>
                                        <m:r>
                                          <a:rPr lang="en-US" sz="2000" b="1" i="0" u="none" strike="noStrike" cap="none">
                                            <a:solidFill>
                                              <a:schemeClr val="tx1"/>
                                            </a:solidFill>
                                            <a:effectLst/>
                                            <a:latin typeface="Cambria Math" panose="02040503050406030204" pitchFamily="18" charset="0"/>
                                            <a:ea typeface="+mn-ea"/>
                                            <a:cs typeface="+mn-cs"/>
                                            <a:sym typeface="Arial"/>
                                          </a:rPr>
                                          <m:t>3</m:t>
                                        </m:r>
                                      </m:sup>
                                    </m:sSup>
                                  </m:num>
                                  <m:den>
                                    <m:sSup>
                                      <m:sSupPr>
                                        <m:ctrlPr>
                                          <a:rPr lang="en-US" sz="2000" b="1" i="1" u="none" strike="noStrike" cap="none">
                                            <a:solidFill>
                                              <a:schemeClr val="tx1"/>
                                            </a:solidFill>
                                            <a:effectLst/>
                                            <a:latin typeface="Cambria Math" panose="02040503050406030204" pitchFamily="18" charset="0"/>
                                            <a:ea typeface="+mn-ea"/>
                                            <a:cs typeface="+mn-cs"/>
                                            <a:sym typeface="Arial"/>
                                          </a:rPr>
                                        </m:ctrlPr>
                                      </m:sSupPr>
                                      <m:e>
                                        <m:r>
                                          <a:rPr lang="en-US" sz="2000" b="1" i="0" u="none" strike="noStrike" cap="none">
                                            <a:solidFill>
                                              <a:schemeClr val="tx1"/>
                                            </a:solidFill>
                                            <a:effectLst/>
                                            <a:latin typeface="Cambria Math" panose="02040503050406030204" pitchFamily="18" charset="0"/>
                                            <a:ea typeface="+mn-ea"/>
                                            <a:cs typeface="+mn-cs"/>
                                            <a:sym typeface="Arial"/>
                                          </a:rPr>
                                          <m:t>2.5</m:t>
                                        </m:r>
                                      </m:e>
                                      <m:sup>
                                        <m:r>
                                          <a:rPr lang="en-US" sz="2000" b="1" i="0" u="none" strike="noStrike" cap="none">
                                            <a:solidFill>
                                              <a:schemeClr val="tx1"/>
                                            </a:solidFill>
                                            <a:effectLst/>
                                            <a:latin typeface="Cambria Math" panose="02040503050406030204" pitchFamily="18" charset="0"/>
                                            <a:ea typeface="+mn-ea"/>
                                            <a:cs typeface="+mn-cs"/>
                                            <a:sym typeface="Arial"/>
                                          </a:rPr>
                                          <m:t>3</m:t>
                                        </m:r>
                                      </m:sup>
                                    </m:sSup>
                                  </m:den>
                                </m:f>
                                <m:r>
                                  <a:rPr lang="en-US" sz="2000" b="1" i="0" u="none" strike="noStrike" cap="none">
                                    <a:solidFill>
                                      <a:schemeClr val="tx1"/>
                                    </a:solidFill>
                                    <a:effectLst/>
                                    <a:latin typeface="Cambria Math" panose="02040503050406030204" pitchFamily="18" charset="0"/>
                                    <a:ea typeface="+mn-ea"/>
                                    <a:cs typeface="+mn-cs"/>
                                    <a:sym typeface="Arial"/>
                                  </a:rPr>
                                  <m:t> ∙ </m:t>
                                </m:r>
                                <m:sSup>
                                  <m:sSupPr>
                                    <m:ctrlPr>
                                      <a:rPr lang="en-US" sz="2000" b="1" i="1" u="none" strike="noStrike" cap="none">
                                        <a:solidFill>
                                          <a:schemeClr val="tx1"/>
                                        </a:solidFill>
                                        <a:effectLst/>
                                        <a:latin typeface="Cambria Math" panose="02040503050406030204" pitchFamily="18" charset="0"/>
                                        <a:ea typeface="+mn-ea"/>
                                        <a:cs typeface="+mn-cs"/>
                                        <a:sym typeface="Arial"/>
                                      </a:rPr>
                                    </m:ctrlPr>
                                  </m:sSupPr>
                                  <m:e>
                                    <m:d>
                                      <m:dPr>
                                        <m:ctrlPr>
                                          <a:rPr lang="en-US" sz="2000" b="1" i="1" u="none" strike="noStrike" cap="none">
                                            <a:solidFill>
                                              <a:schemeClr val="tx1"/>
                                            </a:solidFill>
                                            <a:effectLst/>
                                            <a:latin typeface="Cambria Math" panose="02040503050406030204" pitchFamily="18" charset="0"/>
                                            <a:ea typeface="+mn-ea"/>
                                            <a:cs typeface="+mn-cs"/>
                                            <a:sym typeface="Arial"/>
                                          </a:rPr>
                                        </m:ctrlPr>
                                      </m:dPr>
                                      <m:e>
                                        <m:f>
                                          <m:fPr>
                                            <m:ctrlPr>
                                              <a:rPr lang="en-US" sz="2000" b="1" i="1" u="none" strike="noStrike" cap="none">
                                                <a:solidFill>
                                                  <a:schemeClr val="tx1"/>
                                                </a:solidFill>
                                                <a:effectLst/>
                                                <a:latin typeface="Cambria Math" panose="02040503050406030204" pitchFamily="18" charset="0"/>
                                                <a:ea typeface="+mn-ea"/>
                                                <a:cs typeface="+mn-cs"/>
                                                <a:sym typeface="Arial"/>
                                              </a:rPr>
                                            </m:ctrlPr>
                                          </m:fPr>
                                          <m:num>
                                            <m:r>
                                              <a:rPr lang="en-US" sz="2000" b="1" i="0" u="none" strike="noStrike" cap="none">
                                                <a:solidFill>
                                                  <a:schemeClr val="tx1"/>
                                                </a:solidFill>
                                                <a:effectLst/>
                                                <a:latin typeface="Cambria Math" panose="02040503050406030204" pitchFamily="18" charset="0"/>
                                                <a:ea typeface="+mn-ea"/>
                                                <a:cs typeface="+mn-cs"/>
                                                <a:sym typeface="Arial"/>
                                              </a:rPr>
                                              <m:t>0.5</m:t>
                                            </m:r>
                                          </m:num>
                                          <m:den>
                                            <m:r>
                                              <a:rPr lang="en-US" sz="2000" b="1" i="0" u="none" strike="noStrike" cap="none">
                                                <a:solidFill>
                                                  <a:schemeClr val="tx1"/>
                                                </a:solidFill>
                                                <a:effectLst/>
                                                <a:latin typeface="Cambria Math" panose="02040503050406030204" pitchFamily="18" charset="0"/>
                                                <a:ea typeface="+mn-ea"/>
                                                <a:cs typeface="+mn-cs"/>
                                                <a:sym typeface="Arial"/>
                                              </a:rPr>
                                              <m:t>2.5</m:t>
                                            </m:r>
                                          </m:den>
                                        </m:f>
                                      </m:e>
                                    </m:d>
                                  </m:e>
                                  <m:sup>
                                    <m:r>
                                      <a:rPr lang="en-US" sz="2000" b="1" i="0" u="none" strike="noStrike" cap="none">
                                        <a:solidFill>
                                          <a:schemeClr val="tx1"/>
                                        </a:solidFill>
                                        <a:effectLst/>
                                        <a:latin typeface="Cambria Math" panose="02040503050406030204" pitchFamily="18" charset="0"/>
                                        <a:ea typeface="+mn-ea"/>
                                        <a:cs typeface="+mn-cs"/>
                                        <a:sym typeface="Arial"/>
                                      </a:rPr>
                                      <m:t>2</m:t>
                                    </m:r>
                                  </m:sup>
                                </m:sSup>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5345178"/>
                      </a:ext>
                    </a:extLst>
                  </a:tr>
                </a:tbl>
              </a:graphicData>
            </a:graphic>
          </p:graphicFrame>
        </mc:Choice>
        <mc:Fallback xmlns="">
          <p:graphicFrame>
            <p:nvGraphicFramePr>
              <p:cNvPr id="6" name="Table 5">
                <a:extLst>
                  <a:ext uri="{FF2B5EF4-FFF2-40B4-BE49-F238E27FC236}">
                    <a16:creationId xmlns:a16="http://schemas.microsoft.com/office/drawing/2014/main" id="{6F9065C2-6B5F-9340-A323-FA0872CB797A}"/>
                  </a:ext>
                </a:extLst>
              </p:cNvPr>
              <p:cNvGraphicFramePr>
                <a:graphicFrameLocks noGrp="1"/>
              </p:cNvGraphicFramePr>
              <p:nvPr>
                <p:extLst>
                  <p:ext uri="{D42A27DB-BD31-4B8C-83A1-F6EECF244321}">
                    <p14:modId xmlns:p14="http://schemas.microsoft.com/office/powerpoint/2010/main" val="3580538091"/>
                  </p:ext>
                </p:extLst>
              </p:nvPr>
            </p:nvGraphicFramePr>
            <p:xfrm>
              <a:off x="1377950" y="1442366"/>
              <a:ext cx="6388100" cy="3495040"/>
            </p:xfrm>
            <a:graphic>
              <a:graphicData uri="http://schemas.openxmlformats.org/drawingml/2006/table">
                <a:tbl>
                  <a:tblPr firstRow="1" firstCol="1" bandRow="1">
                    <a:tableStyleId>{5C22544A-7EE6-4342-B048-85BDC9FD1C3A}</a:tableStyleId>
                  </a:tblPr>
                  <a:tblGrid>
                    <a:gridCol w="3131185">
                      <a:extLst>
                        <a:ext uri="{9D8B030D-6E8A-4147-A177-3AD203B41FA5}">
                          <a16:colId xmlns:a16="http://schemas.microsoft.com/office/drawing/2014/main" val="1388492821"/>
                        </a:ext>
                      </a:extLst>
                    </a:gridCol>
                    <a:gridCol w="3256915">
                      <a:extLst>
                        <a:ext uri="{9D8B030D-6E8A-4147-A177-3AD203B41FA5}">
                          <a16:colId xmlns:a16="http://schemas.microsoft.com/office/drawing/2014/main" val="306801718"/>
                        </a:ext>
                      </a:extLst>
                    </a:gridCol>
                  </a:tblGrid>
                  <a:tr h="614680">
                    <a:tc>
                      <a:txBody>
                        <a:bodyPr/>
                        <a:lstStyle/>
                        <a:p>
                          <a:pPr marL="0" marR="0" algn="ctr">
                            <a:lnSpc>
                              <a:spcPct val="107000"/>
                            </a:lnSpc>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Expressions</a:t>
                          </a:r>
                          <a:endParaRPr lang="en-US" sz="1800" b="1" i="1">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Laws of Exponents</a:t>
                          </a:r>
                          <a:endParaRPr lang="en-US" sz="18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15435375"/>
                      </a:ext>
                    </a:extLst>
                  </a:tr>
                  <a:tr h="288036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22026" r="-104453" b="-881"/>
                          </a:stretch>
                        </a:blipFill>
                      </a:tcPr>
                    </a:tc>
                    <a:tc>
                      <a:txBody>
                        <a:bodyPr/>
                        <a:lstStyle/>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18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5345178"/>
                      </a:ext>
                    </a:extLst>
                  </a:tr>
                </a:tbl>
              </a:graphicData>
            </a:graphic>
          </p:graphicFrame>
        </mc:Fallback>
      </mc:AlternateContent>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186249" y="374089"/>
                <a:ext cx="9970168" cy="3551253"/>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a:ea typeface="Verdana"/>
                    <a:cs typeface="Verdana"/>
                  </a:rPr>
                  <a:t>Evaluate each expression showing each step of your work. Use a calculator to verify your solutions. </a:t>
                </a:r>
              </a:p>
              <a:p>
                <a:r>
                  <a:rPr lang="en-US" sz="2400" dirty="0">
                    <a:latin typeface="Verdana"/>
                    <a:ea typeface="Verdana"/>
                    <a:cs typeface="Verdana"/>
                  </a:rPr>
                  <a:t> </a:t>
                </a:r>
              </a:p>
              <a:p>
                <a:pPr marL="914400" indent="-449263">
                  <a:buFont typeface="+mj-lt"/>
                  <a:buAutoNum type="alphaLcPeriod"/>
                </a:pPr>
                <a:r>
                  <a:rPr lang="en-US" sz="2400" dirty="0">
                    <a:latin typeface="Verdana" panose="020B0604030504040204" pitchFamily="34" charset="0"/>
                    <a:ea typeface="Verdana" panose="020B0604030504040204" pitchFamily="34" charset="0"/>
                  </a:rPr>
                  <a:t> </a:t>
                </a:r>
                <a14:m>
                  <m:oMath xmlns:m="http://schemas.openxmlformats.org/officeDocument/2006/math">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a:latin typeface="Cambria Math" panose="02040503050406030204" pitchFamily="18" charset="0"/>
                                      </a:rPr>
                                      <m:t>0.4</m:t>
                                    </m:r>
                                  </m:e>
                                  <m:sup>
                                    <m:r>
                                      <a:rPr lang="en-US" sz="2400">
                                        <a:latin typeface="Cambria Math" panose="02040503050406030204" pitchFamily="18" charset="0"/>
                                      </a:rPr>
                                      <m:t>2</m:t>
                                    </m:r>
                                  </m:sup>
                                </m:sSup>
                              </m:num>
                              <m:den>
                                <m:sSup>
                                  <m:sSupPr>
                                    <m:ctrlPr>
                                      <a:rPr lang="en-US" sz="2400" i="1">
                                        <a:latin typeface="Cambria Math" panose="02040503050406030204" pitchFamily="18" charset="0"/>
                                      </a:rPr>
                                    </m:ctrlPr>
                                  </m:sSupPr>
                                  <m:e>
                                    <m:r>
                                      <a:rPr lang="en-US" sz="2400">
                                        <a:latin typeface="Cambria Math" panose="02040503050406030204" pitchFamily="18" charset="0"/>
                                      </a:rPr>
                                      <m:t>0.4</m:t>
                                    </m:r>
                                  </m:e>
                                  <m:sup>
                                    <m:r>
                                      <a:rPr lang="en-US" sz="2400">
                                        <a:latin typeface="Cambria Math" panose="02040503050406030204" pitchFamily="18" charset="0"/>
                                      </a:rPr>
                                      <m:t>1</m:t>
                                    </m:r>
                                  </m:sup>
                                </m:sSup>
                              </m:den>
                            </m:f>
                          </m:e>
                        </m:d>
                      </m:e>
                      <m:sup>
                        <m:r>
                          <a:rPr lang="en-US" sz="2400">
                            <a:latin typeface="Cambria Math" panose="02040503050406030204" pitchFamily="18" charset="0"/>
                          </a:rPr>
                          <m:t>2</m:t>
                        </m:r>
                      </m:sup>
                    </m:sSup>
                  </m:oMath>
                </a14:m>
                <a:r>
                  <a:rPr lang="en-US" sz="2400" dirty="0">
                    <a:latin typeface="Verdana"/>
                    <a:ea typeface="Verdana"/>
                    <a:cs typeface="Verdana"/>
                  </a:rPr>
                  <a:t> </a:t>
                </a:r>
              </a:p>
              <a:p>
                <a:pPr marL="914400" indent="-449263">
                  <a:buFont typeface="+mj-lt"/>
                  <a:buAutoNum type="alphaLcPeriod"/>
                </a:pPr>
                <a:endParaRPr lang="en-US" sz="2400" dirty="0">
                  <a:latin typeface="Verdana"/>
                  <a:ea typeface="Verdana"/>
                  <a:cs typeface="Verdana"/>
                </a:endParaRPr>
              </a:p>
              <a:p>
                <a:pPr marL="914400" indent="-449263">
                  <a:buFont typeface="+mj-lt"/>
                  <a:buAutoNum type="alphaLcPeriod"/>
                </a:pPr>
                <a:endParaRPr lang="en-US" sz="2400" dirty="0">
                  <a:latin typeface="Verdana"/>
                  <a:ea typeface="Verdana"/>
                  <a:cs typeface="Verdana"/>
                </a:endParaRPr>
              </a:p>
              <a:p>
                <a:pPr marL="914400" indent="-449263">
                  <a:buFont typeface="+mj-lt"/>
                  <a:buAutoNum type="alphaLcPeriod"/>
                </a:pPr>
                <a:endParaRPr lang="en-US" sz="2400" dirty="0">
                  <a:latin typeface="Verdana"/>
                  <a:ea typeface="Verdana"/>
                  <a:cs typeface="Verdana"/>
                </a:endParaRPr>
              </a:p>
              <a:p>
                <a:pPr marL="914400" indent="-449263">
                  <a:buFont typeface="+mj-lt"/>
                  <a:buAutoNum type="alphaLcPeriod"/>
                </a:pPr>
                <a:endParaRPr lang="en-US" sz="2400" dirty="0">
                  <a:latin typeface="Verdana"/>
                  <a:ea typeface="Verdana"/>
                  <a:cs typeface="Verdana"/>
                </a:endParaRPr>
              </a:p>
              <a:p>
                <a:endParaRPr dirty="0"/>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186249" y="374089"/>
                <a:ext cx="9970168" cy="3551253"/>
              </a:xfrm>
              <a:prstGeom prst="rect">
                <a:avLst/>
              </a:prstGeom>
              <a:blipFill rotWithShape="0">
                <a:blip r:embed="rId3"/>
                <a:stretch>
                  <a:fillRect l="-979" t="-1372"/>
                </a:stretch>
              </a:blipFill>
              <a:ln>
                <a:noFill/>
              </a:ln>
            </p:spPr>
            <p:txBody>
              <a:bodyPr/>
              <a:lstStyle/>
              <a:p>
                <a:r>
                  <a:rPr lang="en-US">
                    <a:noFill/>
                  </a:rPr>
                  <a:t> </a:t>
                </a:r>
              </a:p>
            </p:txBody>
          </p:sp>
        </mc:Fallback>
      </mc:AlternateContent>
      <p:sp>
        <p:nvSpPr>
          <p:cNvPr id="239" name="Google Shape;239;p11"/>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272746" y="374090"/>
                <a:ext cx="9062155" cy="3585621"/>
              </a:xfrm>
              <a:prstGeom prst="rect">
                <a:avLst/>
              </a:prstGeom>
              <a:noFill/>
              <a:ln>
                <a:noFill/>
              </a:ln>
            </p:spPr>
            <p:txBody>
              <a:bodyPr spcFirstLastPara="1" wrap="square" lIns="91425" tIns="45700" rIns="91425" bIns="45700" anchor="t" anchorCtr="0">
                <a:spAutoFit/>
              </a:bodyPr>
              <a:lstStyle/>
              <a:p>
                <a:pPr marL="914400" indent="-449263">
                  <a:buFont typeface="+mj-lt"/>
                  <a:buAutoNum type="alphaLcPeriod" startAt="2"/>
                </a:pPr>
                <a:r>
                  <a:rPr lang="en-US" sz="2400" dirty="0">
                    <a:latin typeface="Verdana" panose="020B0604030504040204" pitchFamily="34" charset="0"/>
                    <a:ea typeface="Verdana" panose="020B0604030504040204" pitchFamily="34" charset="0"/>
                  </a:rPr>
                  <a:t> </a:t>
                </a:r>
                <a14:m>
                  <m:oMath xmlns:m="http://schemas.openxmlformats.org/officeDocument/2006/math">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a:latin typeface="Cambria Math" panose="02040503050406030204" pitchFamily="18" charset="0"/>
                                      </a:rPr>
                                      <m:t>2</m:t>
                                    </m:r>
                                  </m:e>
                                  <m:sup>
                                    <m:r>
                                      <a:rPr lang="en-US" sz="2400">
                                        <a:latin typeface="Cambria Math" panose="02040503050406030204" pitchFamily="18" charset="0"/>
                                      </a:rPr>
                                      <m:t>2</m:t>
                                    </m:r>
                                  </m:sup>
                                </m:sSup>
                                <m:r>
                                  <a:rPr lang="en-US" sz="2400">
                                    <a:latin typeface="Cambria Math" panose="02040503050406030204" pitchFamily="18" charset="0"/>
                                  </a:rPr>
                                  <m:t> ∙ </m:t>
                                </m:r>
                                <m:sSup>
                                  <m:sSupPr>
                                    <m:ctrlPr>
                                      <a:rPr lang="en-US" sz="2400" i="1">
                                        <a:latin typeface="Cambria Math" panose="02040503050406030204" pitchFamily="18" charset="0"/>
                                      </a:rPr>
                                    </m:ctrlPr>
                                  </m:sSupPr>
                                  <m:e>
                                    <m:r>
                                      <a:rPr lang="en-US" sz="2400">
                                        <a:latin typeface="Cambria Math" panose="02040503050406030204" pitchFamily="18" charset="0"/>
                                      </a:rPr>
                                      <m:t>3.2</m:t>
                                    </m:r>
                                  </m:e>
                                  <m:sup>
                                    <m:r>
                                      <a:rPr lang="en-US" sz="2400">
                                        <a:latin typeface="Cambria Math" panose="02040503050406030204" pitchFamily="18" charset="0"/>
                                      </a:rPr>
                                      <m:t>0</m:t>
                                    </m:r>
                                  </m:sup>
                                </m:sSup>
                              </m:e>
                            </m:d>
                          </m:e>
                          <m:sup>
                            <m:r>
                              <a:rPr lang="en-US" sz="2400">
                                <a:latin typeface="Cambria Math" panose="02040503050406030204" pitchFamily="18" charset="0"/>
                              </a:rPr>
                              <m:t>6</m:t>
                            </m:r>
                          </m:sup>
                        </m:sSup>
                      </m:num>
                      <m:den>
                        <m:sSup>
                          <m:sSupPr>
                            <m:ctrlPr>
                              <a:rPr lang="en-US" sz="2400" i="1">
                                <a:latin typeface="Cambria Math" panose="02040503050406030204" pitchFamily="18" charset="0"/>
                              </a:rPr>
                            </m:ctrlPr>
                          </m:sSupPr>
                          <m:e>
                            <m:r>
                              <a:rPr lang="en-US" sz="2400">
                                <a:latin typeface="Cambria Math" panose="02040503050406030204" pitchFamily="18" charset="0"/>
                              </a:rPr>
                              <m:t>2</m:t>
                            </m:r>
                          </m:e>
                          <m:sup>
                            <m:r>
                              <a:rPr lang="en-US" sz="2400">
                                <a:latin typeface="Cambria Math" panose="02040503050406030204" pitchFamily="18" charset="0"/>
                              </a:rPr>
                              <m:t>10</m:t>
                            </m:r>
                          </m:sup>
                        </m:sSup>
                      </m:den>
                    </m:f>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r>
                  <a:rPr lang="en-US" sz="2400" dirty="0">
                    <a:latin typeface="Verdana" panose="020B0604030504040204" pitchFamily="34" charset="0"/>
                    <a:ea typeface="Verdana" panose="020B0604030504040204" pitchFamily="34" charset="0"/>
                  </a:rPr>
                  <a:t> </a:t>
                </a:r>
                <a14:m>
                  <m:oMath xmlns:m="http://schemas.openxmlformats.org/officeDocument/2006/math">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−4</m:t>
                                </m:r>
                              </m:e>
                            </m:d>
                          </m:e>
                          <m:sup>
                            <m:r>
                              <a:rPr lang="en-US" sz="2400">
                                <a:latin typeface="Cambria Math" panose="02040503050406030204" pitchFamily="18" charset="0"/>
                              </a:rPr>
                              <m:t>2</m:t>
                            </m:r>
                          </m:sup>
                        </m:sSup>
                        <m:r>
                          <a:rPr lang="en-US" sz="2400">
                            <a:latin typeface="Cambria Math" panose="02040503050406030204" pitchFamily="18" charset="0"/>
                          </a:rPr>
                          <m:t> ∙ </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−4</m:t>
                                </m:r>
                              </m:e>
                            </m:d>
                          </m:e>
                          <m:sup>
                            <m:r>
                              <a:rPr lang="en-US" sz="2400">
                                <a:latin typeface="Cambria Math" panose="02040503050406030204" pitchFamily="18" charset="0"/>
                              </a:rPr>
                              <m:t>1</m:t>
                            </m:r>
                          </m:sup>
                        </m:sSup>
                      </m:num>
                      <m:den>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−4</m:t>
                                </m:r>
                              </m:e>
                            </m:d>
                          </m:e>
                          <m:sup>
                            <m:r>
                              <a:rPr lang="en-US" sz="2400">
                                <a:latin typeface="Cambria Math" panose="02040503050406030204" pitchFamily="18" charset="0"/>
                              </a:rPr>
                              <m:t>0</m:t>
                            </m:r>
                          </m:sup>
                        </m:sSup>
                      </m:den>
                    </m:f>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272746" y="374090"/>
                <a:ext cx="9062155" cy="3585621"/>
              </a:xfrm>
              <a:prstGeom prst="rect">
                <a:avLst/>
              </a:prstGeom>
              <a:blipFill rotWithShape="0">
                <a:blip r:embed="rId3"/>
                <a:stretch>
                  <a:fillRect/>
                </a:stretch>
              </a:blipFill>
              <a:ln>
                <a:noFill/>
              </a:ln>
            </p:spPr>
            <p:txBody>
              <a:bodyPr/>
              <a:lstStyle/>
              <a:p>
                <a:r>
                  <a:rPr lang="en-US">
                    <a:noFill/>
                  </a:rPr>
                  <a:t> </a:t>
                </a:r>
              </a:p>
            </p:txBody>
          </p:sp>
        </mc:Fallback>
      </mc:AlternateContent>
      <p:sp>
        <p:nvSpPr>
          <p:cNvPr id="239" name="Google Shape;239;p11"/>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822329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235676" y="374089"/>
                <a:ext cx="9099225" cy="3201798"/>
              </a:xfrm>
              <a:prstGeom prst="rect">
                <a:avLst/>
              </a:prstGeom>
              <a:noFill/>
              <a:ln>
                <a:noFill/>
              </a:ln>
            </p:spPr>
            <p:txBody>
              <a:bodyPr spcFirstLastPara="1" wrap="square" lIns="91425" tIns="45700" rIns="91425" bIns="45700" anchor="t" anchorCtr="0">
                <a:spAutoFit/>
              </a:bodyPr>
              <a:lstStyle/>
              <a:p>
                <a:pPr marL="914400" indent="-449263">
                  <a:buFont typeface="+mj-lt"/>
                  <a:buAutoNum type="alphaLcPeriod" startAt="4"/>
                </a:pPr>
                <a:r>
                  <a:rPr lang="en-US" sz="2400" dirty="0">
                    <a:latin typeface="Verdana" panose="020B0604030504040204" pitchFamily="34" charset="0"/>
                    <a:ea typeface="Verdana" panose="020B0604030504040204" pitchFamily="34" charset="0"/>
                  </a:rPr>
                  <a:t> </a:t>
                </a:r>
                <a14:m>
                  <m:oMath xmlns:m="http://schemas.openxmlformats.org/officeDocument/2006/math">
                    <m:sSup>
                      <m:sSupPr>
                        <m:ctrlPr>
                          <a:rPr lang="en-US" sz="2400" i="1">
                            <a:latin typeface="Cambria Math" panose="02040503050406030204" pitchFamily="18" charset="0"/>
                          </a:rPr>
                        </m:ctrlPr>
                      </m:sSupPr>
                      <m:e>
                        <m:r>
                          <a:rPr lang="en-US" sz="2400">
                            <a:latin typeface="Cambria Math" panose="02040503050406030204" pitchFamily="18" charset="0"/>
                          </a:rPr>
                          <m:t>0.1</m:t>
                        </m:r>
                      </m:e>
                      <m:sup>
                        <m:r>
                          <a:rPr lang="en-US" sz="2400">
                            <a:latin typeface="Cambria Math" panose="02040503050406030204" pitchFamily="18" charset="0"/>
                          </a:rPr>
                          <m:t>2</m:t>
                        </m:r>
                      </m:sup>
                    </m:sSup>
                    <m:r>
                      <a:rPr lang="en-US" sz="2400">
                        <a:latin typeface="Cambria Math" panose="02040503050406030204" pitchFamily="18" charset="0"/>
                      </a:rPr>
                      <m:t> ∙ </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a:latin typeface="Cambria Math" panose="02040503050406030204" pitchFamily="18" charset="0"/>
                                  </a:rPr>
                                  <m:t>0.1</m:t>
                                </m:r>
                              </m:e>
                              <m:sup>
                                <m:r>
                                  <a:rPr lang="en-US" sz="2400">
                                    <a:latin typeface="Cambria Math" panose="02040503050406030204" pitchFamily="18" charset="0"/>
                                  </a:rPr>
                                  <m:t>1</m:t>
                                </m:r>
                              </m:sup>
                            </m:sSup>
                          </m:e>
                        </m:d>
                      </m:e>
                      <m:sup>
                        <m:r>
                          <a:rPr lang="en-US" sz="2400">
                            <a:latin typeface="Cambria Math" panose="02040503050406030204" pitchFamily="18" charset="0"/>
                          </a:rPr>
                          <m:t>2</m:t>
                        </m:r>
                      </m:sup>
                    </m:sSup>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4"/>
                </a:pPr>
                <a:r>
                  <a:rPr lang="en-US" sz="2400" dirty="0">
                    <a:latin typeface="Verdana" panose="020B0604030504040204" pitchFamily="34" charset="0"/>
                    <a:ea typeface="Verdana" panose="020B0604030504040204" pitchFamily="34" charset="0"/>
                  </a:rPr>
                  <a:t> </a:t>
                </a:r>
                <a14:m>
                  <m:oMath xmlns:m="http://schemas.openxmlformats.org/officeDocument/2006/math">
                    <m:f>
                      <m:fPr>
                        <m:ctrlPr>
                          <a:rPr lang="en-US" sz="2400" i="1">
                            <a:latin typeface="Cambria Math" panose="02040503050406030204" pitchFamily="18" charset="0"/>
                          </a:rPr>
                        </m:ctrlPr>
                      </m:fPr>
                      <m:num>
                        <m:r>
                          <a:rPr lang="en-US" sz="2400">
                            <a:latin typeface="Cambria Math" panose="02040503050406030204" pitchFamily="18" charset="0"/>
                          </a:rPr>
                          <m:t>2.1</m:t>
                        </m:r>
                      </m:num>
                      <m:den>
                        <m:sSup>
                          <m:sSupPr>
                            <m:ctrlPr>
                              <a:rPr lang="en-US" sz="2400" i="1">
                                <a:latin typeface="Cambria Math" panose="02040503050406030204" pitchFamily="18" charset="0"/>
                              </a:rPr>
                            </m:ctrlPr>
                          </m:sSupPr>
                          <m:e>
                            <m:r>
                              <a:rPr lang="en-US" sz="2400">
                                <a:latin typeface="Cambria Math" panose="02040503050406030204" pitchFamily="18" charset="0"/>
                              </a:rPr>
                              <m:t>3.2</m:t>
                            </m:r>
                          </m:e>
                          <m:sup>
                            <m:r>
                              <a:rPr lang="en-US" sz="2400">
                                <a:latin typeface="Cambria Math" panose="02040503050406030204" pitchFamily="18" charset="0"/>
                              </a:rPr>
                              <m:t>0</m:t>
                            </m:r>
                          </m:sup>
                        </m:sSup>
                      </m:den>
                    </m:f>
                    <m:r>
                      <a:rPr lang="en-US" sz="2400">
                        <a:latin typeface="Cambria Math" panose="02040503050406030204" pitchFamily="18" charset="0"/>
                      </a:rPr>
                      <m:t> ∙ </m:t>
                    </m:r>
                    <m:sSup>
                      <m:sSupPr>
                        <m:ctrlPr>
                          <a:rPr lang="en-US" sz="2400" i="1">
                            <a:latin typeface="Cambria Math" panose="02040503050406030204" pitchFamily="18" charset="0"/>
                          </a:rPr>
                        </m:ctrlPr>
                      </m:sSupPr>
                      <m:e>
                        <m:r>
                          <a:rPr lang="en-US" sz="2400">
                            <a:latin typeface="Cambria Math" panose="02040503050406030204" pitchFamily="18" charset="0"/>
                          </a:rPr>
                          <m:t>2.1</m:t>
                        </m:r>
                      </m:e>
                      <m:sup>
                        <m:r>
                          <a:rPr lang="en-US" sz="2400">
                            <a:latin typeface="Cambria Math" panose="02040503050406030204" pitchFamily="18" charset="0"/>
                          </a:rPr>
                          <m:t>2</m:t>
                        </m:r>
                      </m:sup>
                    </m:sSup>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235676" y="374089"/>
                <a:ext cx="9099225" cy="3201798"/>
              </a:xfrm>
              <a:prstGeom prst="rect">
                <a:avLst/>
              </a:prstGeom>
              <a:blipFill rotWithShape="0">
                <a:blip r:embed="rId3"/>
                <a:stretch>
                  <a:fillRect t="-14449" b="-380"/>
                </a:stretch>
              </a:blipFill>
              <a:ln>
                <a:noFill/>
              </a:ln>
            </p:spPr>
            <p:txBody>
              <a:bodyPr/>
              <a:lstStyle/>
              <a:p>
                <a:r>
                  <a:rPr lang="en-US">
                    <a:noFill/>
                  </a:rPr>
                  <a:t> </a:t>
                </a:r>
              </a:p>
            </p:txBody>
          </p:sp>
        </mc:Fallback>
      </mc:AlternateContent>
      <p:sp>
        <p:nvSpPr>
          <p:cNvPr id="239" name="Google Shape;239;p11"/>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144855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117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481662" y="-50888"/>
            <a:ext cx="9838687"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600" b="1" dirty="0">
                <a:solidFill>
                  <a:srgbClr val="3F2A67"/>
                </a:solidFill>
                <a:latin typeface="Verdana"/>
                <a:ea typeface="Verdana"/>
                <a:cs typeface="Verdana"/>
                <a:sym typeface="Verdana"/>
              </a:rPr>
              <a:t>3.3.6 Wrap-Up: </a:t>
            </a:r>
            <a:r>
              <a:rPr lang="en-US" sz="3600" b="1" dirty="0">
                <a:solidFill>
                  <a:srgbClr val="3F2A67"/>
                </a:solidFill>
                <a:latin typeface="Verdana"/>
                <a:ea typeface="Verdana"/>
                <a:cs typeface="Verdana"/>
              </a:rPr>
              <a:t>Ticket Out the Door </a:t>
            </a:r>
            <a:endParaRPr sz="3600" b="1" dirty="0">
              <a:solidFill>
                <a:srgbClr val="3F2A67"/>
              </a:solidFill>
              <a:latin typeface="Verdana"/>
              <a:ea typeface="Verdana"/>
              <a:cs typeface="Verdana"/>
            </a:endParaRPr>
          </a:p>
        </p:txBody>
      </p:sp>
      <p:pic>
        <p:nvPicPr>
          <p:cNvPr id="468" name="Google Shape;468;p34"/>
          <p:cNvPicPr preferRelativeResize="0"/>
          <p:nvPr/>
        </p:nvPicPr>
        <p:blipFill rotWithShape="1">
          <a:blip r:embed="rId3">
            <a:alphaModFix/>
          </a:blip>
          <a:srcRect/>
          <a:stretch/>
        </p:blipFill>
        <p:spPr>
          <a:xfrm>
            <a:off x="652213" y="203221"/>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469" name="Google Shape;469;p34"/>
              <p:cNvSpPr txBox="1"/>
              <p:nvPr/>
            </p:nvSpPr>
            <p:spPr>
              <a:xfrm>
                <a:off x="1481662" y="1386025"/>
                <a:ext cx="9484708" cy="1264024"/>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rPr>
                  <a:t>Use the laws of exponents to evaluate </a:t>
                </a:r>
                <a14:m>
                  <m:oMath xmlns:m="http://schemas.openxmlformats.org/officeDocument/2006/math">
                    <m:f>
                      <m:fPr>
                        <m:ctrlPr>
                          <a:rPr lang="en-US" sz="2400" i="1">
                            <a:latin typeface="Cambria Math" panose="02040503050406030204" pitchFamily="18" charset="0"/>
                            <a:ea typeface="Verdana"/>
                            <a:cs typeface="Verdana"/>
                          </a:rPr>
                        </m:ctrlPr>
                      </m:fPr>
                      <m:num>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0.2</m:t>
                            </m:r>
                          </m:e>
                          <m:sup>
                            <m:r>
                              <a:rPr lang="en-US" sz="2400">
                                <a:latin typeface="Cambria Math" panose="02040503050406030204" pitchFamily="18" charset="0"/>
                                <a:ea typeface="Verdana"/>
                                <a:cs typeface="Verdana"/>
                              </a:rPr>
                              <m:t>3</m:t>
                            </m:r>
                          </m:sup>
                        </m:sSup>
                      </m:num>
                      <m:den>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2</m:t>
                            </m:r>
                          </m:e>
                          <m:sup>
                            <m:r>
                              <a:rPr lang="en-US" sz="2400">
                                <a:latin typeface="Cambria Math" panose="02040503050406030204" pitchFamily="18" charset="0"/>
                                <a:ea typeface="Verdana"/>
                                <a:cs typeface="Verdana"/>
                              </a:rPr>
                              <m:t>3</m:t>
                            </m:r>
                          </m:sup>
                        </m:sSup>
                      </m:den>
                    </m:f>
                    <m:r>
                      <a:rPr lang="en-US" sz="2400">
                        <a:latin typeface="Cambria Math" panose="02040503050406030204" pitchFamily="18" charset="0"/>
                        <a:ea typeface="Verdana"/>
                        <a:cs typeface="Verdana"/>
                      </a:rPr>
                      <m:t> ∙ </m:t>
                    </m:r>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0.1</m:t>
                        </m:r>
                      </m:e>
                      <m:sup>
                        <m:r>
                          <a:rPr lang="en-US" sz="2400">
                            <a:latin typeface="Cambria Math" panose="02040503050406030204" pitchFamily="18" charset="0"/>
                            <a:ea typeface="Verdana"/>
                            <a:cs typeface="Verdana"/>
                          </a:rPr>
                          <m:t>2</m:t>
                        </m:r>
                      </m:sup>
                    </m:sSup>
                  </m:oMath>
                </a14:m>
                <a:r>
                  <a:rPr lang="en-US" sz="2400" dirty="0">
                    <a:latin typeface="Verdana"/>
                    <a:ea typeface="Verdana"/>
                    <a:cs typeface="Verdana"/>
                  </a:rPr>
                  <a:t>. Show your work.</a:t>
                </a:r>
              </a:p>
              <a:p>
                <a:endParaRPr dirty="0"/>
              </a:p>
            </p:txBody>
          </p:sp>
        </mc:Choice>
        <mc:Fallback xmlns="">
          <p:sp>
            <p:nvSpPr>
              <p:cNvPr id="469" name="Google Shape;469;p34"/>
              <p:cNvSpPr txBox="1">
                <a:spLocks noRot="1" noChangeAspect="1" noMove="1" noResize="1" noEditPoints="1" noAdjustHandles="1" noChangeArrowheads="1" noChangeShapeType="1" noTextEdit="1"/>
              </p:cNvSpPr>
              <p:nvPr/>
            </p:nvSpPr>
            <p:spPr>
              <a:xfrm>
                <a:off x="1481662" y="1386025"/>
                <a:ext cx="9484708" cy="1264024"/>
              </a:xfrm>
              <a:prstGeom prst="rect">
                <a:avLst/>
              </a:prstGeom>
              <a:blipFill rotWithShape="0">
                <a:blip r:embed="rId4"/>
                <a:stretch>
                  <a:fillRect l="-964"/>
                </a:stretch>
              </a:blipFill>
              <a:ln>
                <a:noFill/>
              </a:ln>
            </p:spPr>
            <p:txBody>
              <a:bodyPr/>
              <a:lstStyle/>
              <a:p>
                <a:r>
                  <a:rPr lang="en-US">
                    <a:noFill/>
                  </a:rPr>
                  <a:t> </a:t>
                </a:r>
              </a:p>
            </p:txBody>
          </p:sp>
        </mc:Fallback>
      </mc:AlternateContent>
      <p:sp>
        <p:nvSpPr>
          <p:cNvPr id="470" name="Google Shape;470;p34"/>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78" name="Google Shape;478;p35"/>
              <p:cNvSpPr txBox="1"/>
              <p:nvPr/>
            </p:nvSpPr>
            <p:spPr>
              <a:xfrm>
                <a:off x="1025611" y="422857"/>
                <a:ext cx="10140778" cy="394289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a:ea typeface="Verdana"/>
                    <a:cs typeface="Verdana"/>
                  </a:rPr>
                  <a:t>Select all of the expressions equivalent to </a:t>
                </a:r>
                <a14:m>
                  <m:oMath xmlns:m="http://schemas.openxmlformats.org/officeDocument/2006/math">
                    <m:f>
                      <m:fPr>
                        <m:ctrlPr>
                          <a:rPr lang="en-US" sz="2400" i="1">
                            <a:latin typeface="Cambria Math" panose="02040503050406030204" pitchFamily="18" charset="0"/>
                            <a:ea typeface="Verdana"/>
                            <a:cs typeface="Verdana"/>
                          </a:rPr>
                        </m:ctrlPr>
                      </m:fPr>
                      <m:num>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0.2</m:t>
                            </m:r>
                          </m:e>
                          <m:sup>
                            <m:r>
                              <a:rPr lang="en-US" sz="2400">
                                <a:latin typeface="Cambria Math" panose="02040503050406030204" pitchFamily="18" charset="0"/>
                                <a:ea typeface="Verdana"/>
                                <a:cs typeface="Verdana"/>
                              </a:rPr>
                              <m:t>3</m:t>
                            </m:r>
                          </m:sup>
                        </m:sSup>
                      </m:num>
                      <m:den>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2</m:t>
                            </m:r>
                          </m:e>
                          <m:sup>
                            <m:r>
                              <a:rPr lang="en-US" sz="2400">
                                <a:latin typeface="Cambria Math" panose="02040503050406030204" pitchFamily="18" charset="0"/>
                                <a:ea typeface="Verdana"/>
                                <a:cs typeface="Verdana"/>
                              </a:rPr>
                              <m:t>3</m:t>
                            </m:r>
                          </m:sup>
                        </m:sSup>
                      </m:den>
                    </m:f>
                    <m:r>
                      <a:rPr lang="en-US" sz="2400">
                        <a:latin typeface="Cambria Math" panose="02040503050406030204" pitchFamily="18" charset="0"/>
                        <a:ea typeface="Verdana"/>
                        <a:cs typeface="Verdana"/>
                      </a:rPr>
                      <m:t> ∙ </m:t>
                    </m:r>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0.1</m:t>
                        </m:r>
                      </m:e>
                      <m:sup>
                        <m:r>
                          <a:rPr lang="en-US" sz="2400">
                            <a:latin typeface="Cambria Math" panose="02040503050406030204" pitchFamily="18" charset="0"/>
                            <a:ea typeface="Verdana"/>
                            <a:cs typeface="Verdana"/>
                          </a:rPr>
                          <m:t>2</m:t>
                        </m:r>
                      </m:sup>
                    </m:sSup>
                  </m:oMath>
                </a14:m>
                <a:r>
                  <a:rPr lang="en-US" sz="2400" dirty="0">
                    <a:latin typeface="Verdana"/>
                    <a:ea typeface="Verdana"/>
                    <a:cs typeface="Verdana"/>
                  </a:rPr>
                  <a:t>. </a:t>
                </a:r>
              </a:p>
              <a:p>
                <a:r>
                  <a:rPr lang="en-US" sz="2400" dirty="0">
                    <a:latin typeface="Verdana"/>
                    <a:ea typeface="Verdana"/>
                    <a:cs typeface="Verdana"/>
                  </a:rPr>
                  <a:t> </a:t>
                </a:r>
              </a:p>
              <a:p>
                <a:pPr marL="914400" indent="-449263">
                  <a:buFont typeface="Wingdings" pitchFamily="2" charset="2"/>
                  <a:buChar char="q"/>
                </a:pPr>
                <a14:m>
                  <m:oMath xmlns:m="http://schemas.openxmlformats.org/officeDocument/2006/math">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0.1</m:t>
                        </m:r>
                      </m:e>
                      <m:sup>
                        <m:r>
                          <a:rPr lang="en-US" sz="2400">
                            <a:latin typeface="Cambria Math" panose="02040503050406030204" pitchFamily="18" charset="0"/>
                            <a:ea typeface="Verdana"/>
                            <a:cs typeface="Verdana"/>
                          </a:rPr>
                          <m:t>5</m:t>
                        </m:r>
                      </m:sup>
                    </m:sSup>
                  </m:oMath>
                </a14:m>
                <a:endParaRPr lang="en-US" sz="2400" dirty="0">
                  <a:latin typeface="Verdana"/>
                  <a:ea typeface="Verdana"/>
                  <a:cs typeface="Verdana"/>
                </a:endParaRPr>
              </a:p>
              <a:p>
                <a:pPr marL="914400" indent="-449263">
                  <a:buFont typeface="Wingdings" pitchFamily="2" charset="2"/>
                  <a:buChar char="q"/>
                </a:pPr>
                <a14:m>
                  <m:oMath xmlns:m="http://schemas.openxmlformats.org/officeDocument/2006/math">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0.2</m:t>
                        </m:r>
                      </m:e>
                      <m:sup>
                        <m:r>
                          <a:rPr lang="en-US" sz="2400">
                            <a:latin typeface="Cambria Math" panose="02040503050406030204" pitchFamily="18" charset="0"/>
                            <a:ea typeface="Verdana"/>
                            <a:cs typeface="Verdana"/>
                          </a:rPr>
                          <m:t>0</m:t>
                        </m:r>
                      </m:sup>
                    </m:sSup>
                    <m:r>
                      <a:rPr lang="en-US" sz="2400">
                        <a:latin typeface="Cambria Math" panose="02040503050406030204" pitchFamily="18" charset="0"/>
                        <a:ea typeface="Verdana"/>
                        <a:cs typeface="Verdana"/>
                      </a:rPr>
                      <m:t> ∙ </m:t>
                    </m:r>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0.1</m:t>
                        </m:r>
                      </m:e>
                      <m:sup>
                        <m:r>
                          <a:rPr lang="en-US" sz="2400">
                            <a:latin typeface="Cambria Math" panose="02040503050406030204" pitchFamily="18" charset="0"/>
                            <a:ea typeface="Verdana"/>
                            <a:cs typeface="Verdana"/>
                          </a:rPr>
                          <m:t>2</m:t>
                        </m:r>
                      </m:sup>
                    </m:sSup>
                  </m:oMath>
                </a14:m>
                <a:endParaRPr lang="en-US" sz="2400" dirty="0">
                  <a:latin typeface="Verdana"/>
                  <a:ea typeface="Verdana"/>
                  <a:cs typeface="Verdana"/>
                </a:endParaRPr>
              </a:p>
              <a:p>
                <a:pPr marL="914400" indent="-449263">
                  <a:buFont typeface="Wingdings" pitchFamily="2" charset="2"/>
                  <a:buChar char="q"/>
                </a:pPr>
                <a14:m>
                  <m:oMath xmlns:m="http://schemas.openxmlformats.org/officeDocument/2006/math">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0.1</m:t>
                        </m:r>
                      </m:e>
                      <m:sup>
                        <m:r>
                          <a:rPr lang="en-US" sz="2400">
                            <a:latin typeface="Cambria Math" panose="02040503050406030204" pitchFamily="18" charset="0"/>
                            <a:ea typeface="Verdana"/>
                            <a:cs typeface="Verdana"/>
                          </a:rPr>
                          <m:t>3</m:t>
                        </m:r>
                      </m:sup>
                    </m:sSup>
                    <m:r>
                      <a:rPr lang="en-US" sz="2400">
                        <a:latin typeface="Cambria Math" panose="02040503050406030204" pitchFamily="18" charset="0"/>
                        <a:ea typeface="Verdana"/>
                        <a:cs typeface="Verdana"/>
                      </a:rPr>
                      <m:t> ∙ </m:t>
                    </m:r>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0.1</m:t>
                        </m:r>
                      </m:e>
                      <m:sup>
                        <m:r>
                          <a:rPr lang="en-US" sz="2400">
                            <a:latin typeface="Cambria Math" panose="02040503050406030204" pitchFamily="18" charset="0"/>
                            <a:ea typeface="Verdana"/>
                            <a:cs typeface="Verdana"/>
                          </a:rPr>
                          <m:t>2</m:t>
                        </m:r>
                      </m:sup>
                    </m:sSup>
                  </m:oMath>
                </a14:m>
                <a:endParaRPr lang="en-US" sz="2400" dirty="0">
                  <a:latin typeface="Verdana"/>
                  <a:ea typeface="Verdana"/>
                  <a:cs typeface="Verdana"/>
                </a:endParaRPr>
              </a:p>
              <a:p>
                <a:pPr marL="914400" indent="-449263">
                  <a:buFont typeface="Wingdings" pitchFamily="2" charset="2"/>
                  <a:buChar char="q"/>
                </a:pPr>
                <a14:m>
                  <m:oMath xmlns:m="http://schemas.openxmlformats.org/officeDocument/2006/math">
                    <m:f>
                      <m:fPr>
                        <m:ctrlPr>
                          <a:rPr lang="en-US" sz="2400" i="1">
                            <a:latin typeface="Cambria Math" panose="02040503050406030204" pitchFamily="18" charset="0"/>
                            <a:ea typeface="Verdana"/>
                            <a:cs typeface="Verdana"/>
                          </a:rPr>
                        </m:ctrlPr>
                      </m:fPr>
                      <m:num>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0.2</m:t>
                            </m:r>
                          </m:e>
                          <m:sup>
                            <m:r>
                              <a:rPr lang="en-US" sz="2400">
                                <a:latin typeface="Cambria Math" panose="02040503050406030204" pitchFamily="18" charset="0"/>
                                <a:ea typeface="Verdana"/>
                                <a:cs typeface="Verdana"/>
                              </a:rPr>
                              <m:t>5</m:t>
                            </m:r>
                          </m:sup>
                        </m:sSup>
                      </m:num>
                      <m:den>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0.2</m:t>
                            </m:r>
                          </m:e>
                          <m:sup>
                            <m:r>
                              <a:rPr lang="en-US" sz="2400">
                                <a:latin typeface="Cambria Math" panose="02040503050406030204" pitchFamily="18" charset="0"/>
                                <a:ea typeface="Verdana"/>
                                <a:cs typeface="Verdana"/>
                              </a:rPr>
                              <m:t>3</m:t>
                            </m:r>
                          </m:sup>
                        </m:sSup>
                      </m:den>
                    </m:f>
                  </m:oMath>
                </a14:m>
                <a:endParaRPr lang="en-US" sz="2400" dirty="0">
                  <a:latin typeface="Verdana"/>
                  <a:ea typeface="Verdana"/>
                  <a:cs typeface="Verdana"/>
                </a:endParaRPr>
              </a:p>
              <a:p>
                <a:pPr marL="914400" indent="-449263">
                  <a:buFont typeface="Wingdings" pitchFamily="2" charset="2"/>
                  <a:buChar char="q"/>
                </a:pPr>
                <a14:m>
                  <m:oMath xmlns:m="http://schemas.openxmlformats.org/officeDocument/2006/math">
                    <m:sSup>
                      <m:sSupPr>
                        <m:ctrlPr>
                          <a:rPr lang="en-US" sz="2400" i="1">
                            <a:latin typeface="Cambria Math" panose="02040503050406030204" pitchFamily="18" charset="0"/>
                            <a:ea typeface="Verdana"/>
                            <a:cs typeface="Verdana"/>
                          </a:rPr>
                        </m:ctrlPr>
                      </m:sSupPr>
                      <m:e>
                        <m:d>
                          <m:dPr>
                            <m:ctrlPr>
                              <a:rPr lang="en-US" sz="2400" i="1">
                                <a:latin typeface="Cambria Math" panose="02040503050406030204" pitchFamily="18" charset="0"/>
                                <a:ea typeface="Verdana"/>
                                <a:cs typeface="Verdana"/>
                              </a:rPr>
                            </m:ctrlPr>
                          </m:dPr>
                          <m:e>
                            <m:f>
                              <m:fPr>
                                <m:ctrlPr>
                                  <a:rPr lang="en-US" sz="2400" i="1">
                                    <a:latin typeface="Cambria Math" panose="02040503050406030204" pitchFamily="18" charset="0"/>
                                    <a:ea typeface="Verdana"/>
                                    <a:cs typeface="Verdana"/>
                                  </a:rPr>
                                </m:ctrlPr>
                              </m:fPr>
                              <m:num>
                                <m:r>
                                  <a:rPr lang="en-US" sz="2400">
                                    <a:latin typeface="Cambria Math" panose="02040503050406030204" pitchFamily="18" charset="0"/>
                                    <a:ea typeface="Verdana"/>
                                    <a:cs typeface="Verdana"/>
                                  </a:rPr>
                                  <m:t>0.2</m:t>
                                </m:r>
                              </m:num>
                              <m:den>
                                <m:r>
                                  <a:rPr lang="en-US" sz="2400">
                                    <a:latin typeface="Cambria Math" panose="02040503050406030204" pitchFamily="18" charset="0"/>
                                    <a:ea typeface="Verdana"/>
                                    <a:cs typeface="Verdana"/>
                                  </a:rPr>
                                  <m:t>2</m:t>
                                </m:r>
                              </m:den>
                            </m:f>
                          </m:e>
                        </m:d>
                      </m:e>
                      <m:sup>
                        <m:r>
                          <a:rPr lang="en-US" sz="2400">
                            <a:latin typeface="Cambria Math" panose="02040503050406030204" pitchFamily="18" charset="0"/>
                            <a:ea typeface="Verdana"/>
                            <a:cs typeface="Verdana"/>
                          </a:rPr>
                          <m:t>3</m:t>
                        </m:r>
                      </m:sup>
                    </m:sSup>
                    <m:r>
                      <a:rPr lang="en-US" sz="2400">
                        <a:latin typeface="Cambria Math" panose="02040503050406030204" pitchFamily="18" charset="0"/>
                        <a:ea typeface="Verdana"/>
                        <a:cs typeface="Verdana"/>
                      </a:rPr>
                      <m:t>∙ </m:t>
                    </m:r>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0.1</m:t>
                        </m:r>
                      </m:e>
                      <m:sup>
                        <m:r>
                          <a:rPr lang="en-US" sz="2400">
                            <a:latin typeface="Cambria Math" panose="02040503050406030204" pitchFamily="18" charset="0"/>
                            <a:ea typeface="Verdana"/>
                            <a:cs typeface="Verdana"/>
                          </a:rPr>
                          <m:t>2</m:t>
                        </m:r>
                      </m:sup>
                    </m:sSup>
                  </m:oMath>
                </a14:m>
                <a:endParaRPr lang="en-US" sz="2400" dirty="0">
                  <a:latin typeface="Verdana"/>
                  <a:ea typeface="Verdana"/>
                  <a:cs typeface="Verdana"/>
                </a:endParaRPr>
              </a:p>
              <a:p>
                <a:pPr marL="914400" indent="-449263">
                  <a:buFont typeface="Wingdings" pitchFamily="2" charset="2"/>
                  <a:buChar char="q"/>
                </a:pPr>
                <a14:m>
                  <m:oMath xmlns:m="http://schemas.openxmlformats.org/officeDocument/2006/math">
                    <m:sSup>
                      <m:sSupPr>
                        <m:ctrlPr>
                          <a:rPr lang="en-US" sz="2400" i="1">
                            <a:latin typeface="Cambria Math" panose="02040503050406030204" pitchFamily="18" charset="0"/>
                            <a:ea typeface="Verdana"/>
                            <a:cs typeface="Verdana"/>
                          </a:rPr>
                        </m:ctrlPr>
                      </m:sSupPr>
                      <m:e>
                        <m:r>
                          <a:rPr lang="en-US" sz="2400">
                            <a:latin typeface="Cambria Math" panose="02040503050406030204" pitchFamily="18" charset="0"/>
                            <a:ea typeface="Verdana"/>
                            <a:cs typeface="Verdana"/>
                          </a:rPr>
                          <m:t>0.2</m:t>
                        </m:r>
                      </m:e>
                      <m:sup>
                        <m:r>
                          <a:rPr lang="en-US" sz="2400">
                            <a:latin typeface="Cambria Math" panose="02040503050406030204" pitchFamily="18" charset="0"/>
                            <a:ea typeface="Verdana"/>
                            <a:cs typeface="Verdana"/>
                          </a:rPr>
                          <m:t>5</m:t>
                        </m:r>
                      </m:sup>
                    </m:sSup>
                  </m:oMath>
                </a14:m>
                <a:endParaRPr lang="en-US" sz="2400" dirty="0">
                  <a:latin typeface="Verdana"/>
                  <a:ea typeface="Verdana"/>
                  <a:cs typeface="Verdana"/>
                </a:endParaRPr>
              </a:p>
              <a:p>
                <a:endParaRPr dirty="0"/>
              </a:p>
            </p:txBody>
          </p:sp>
        </mc:Choice>
        <mc:Fallback xmlns="">
          <p:sp>
            <p:nvSpPr>
              <p:cNvPr id="478" name="Google Shape;478;p35"/>
              <p:cNvSpPr txBox="1">
                <a:spLocks noRot="1" noChangeAspect="1" noMove="1" noResize="1" noEditPoints="1" noAdjustHandles="1" noChangeArrowheads="1" noChangeShapeType="1" noTextEdit="1"/>
              </p:cNvSpPr>
              <p:nvPr/>
            </p:nvSpPr>
            <p:spPr>
              <a:xfrm>
                <a:off x="1025611" y="422857"/>
                <a:ext cx="10140778" cy="3942898"/>
              </a:xfrm>
              <a:prstGeom prst="rect">
                <a:avLst/>
              </a:prstGeom>
              <a:blipFill rotWithShape="0">
                <a:blip r:embed="rId3"/>
                <a:stretch>
                  <a:fillRect l="-901"/>
                </a:stretch>
              </a:blipFill>
              <a:ln>
                <a:noFill/>
              </a:ln>
            </p:spPr>
            <p:txBody>
              <a:bodyPr/>
              <a:lstStyle/>
              <a:p>
                <a:r>
                  <a:rPr lang="en-US">
                    <a:noFill/>
                  </a:rPr>
                  <a:t> </a:t>
                </a:r>
              </a:p>
            </p:txBody>
          </p:sp>
        </mc:Fallback>
      </mc:AlternateContent>
      <p:sp>
        <p:nvSpPr>
          <p:cNvPr id="479" name="Google Shape;479;p35"/>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117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1102</Words>
  <Application>Microsoft Office PowerPoint</Application>
  <PresentationFormat>Widescreen</PresentationFormat>
  <Paragraphs>235</Paragraphs>
  <Slides>32</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Arial Black</vt:lpstr>
      <vt:lpstr>Calibri</vt:lpstr>
      <vt:lpstr>Cambria Math</vt:lpstr>
      <vt:lpstr>Courier New</vt:lpstr>
      <vt:lpstr>Verdana</vt:lpstr>
      <vt:lpstr>Wingdings</vt:lpstr>
      <vt:lpstr>1_Office Theme</vt:lpstr>
      <vt:lpstr>7th Grade Accelerated Math  Unit 3, Lesson 3  Exponential Expressions  Volume 1, pg. 112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Unit 3, Lesson 3  Lesson Name  Volume x, pg. #  </dc:title>
  <dc:creator>Karen McKenzie</dc:creator>
  <cp:lastModifiedBy>Cassie O'Connor</cp:lastModifiedBy>
  <cp:revision>9</cp:revision>
  <dcterms:created xsi:type="dcterms:W3CDTF">2015-03-17T18:51:18Z</dcterms:created>
  <dcterms:modified xsi:type="dcterms:W3CDTF">2022-07-27T01:42:59Z</dcterms:modified>
</cp:coreProperties>
</file>