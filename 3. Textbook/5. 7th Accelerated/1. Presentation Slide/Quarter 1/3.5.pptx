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93" r:id="rId8"/>
    <p:sldId id="294" r:id="rId9"/>
    <p:sldId id="295" r:id="rId10"/>
    <p:sldId id="305" r:id="rId11"/>
    <p:sldId id="297" r:id="rId12"/>
    <p:sldId id="296" r:id="rId13"/>
    <p:sldId id="306" r:id="rId14"/>
    <p:sldId id="263" r:id="rId15"/>
    <p:sldId id="264" r:id="rId16"/>
    <p:sldId id="265" r:id="rId17"/>
    <p:sldId id="298" r:id="rId18"/>
    <p:sldId id="299" r:id="rId19"/>
    <p:sldId id="301" r:id="rId20"/>
    <p:sldId id="302" r:id="rId21"/>
    <p:sldId id="303" r:id="rId22"/>
    <p:sldId id="304" r:id="rId23"/>
    <p:sldId id="290" r:id="rId24"/>
    <p:sldId id="291"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mwbqYbtu5YpsP+R29NhyWnQlF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51"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50"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4</a:t>
            </a:r>
            <a:endParaRPr dirty="0"/>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523481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1404236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1324611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1020126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1587317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1203439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2547986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extLst>
      <p:ext uri="{BB962C8B-B14F-4D97-AF65-F5344CB8AC3E}">
        <p14:creationId xmlns:p14="http://schemas.microsoft.com/office/powerpoint/2010/main" val="1672377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2769441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2831545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1499333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1789361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1024078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24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Exponent Laws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124</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611477"/>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99050" y="984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75550" y="3342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270000" y="1600200"/>
            <a:ext cx="96520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800" dirty="0">
                <a:solidFill>
                  <a:schemeClr val="dk1"/>
                </a:solidFill>
                <a:latin typeface="Verdana"/>
                <a:ea typeface="Verdana"/>
                <a:cs typeface="Verdana"/>
                <a:sym typeface="Verdana"/>
              </a:rPr>
              <a:t>MA.8.NSO.1.3</a:t>
            </a:r>
            <a:endParaRPr sz="28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8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endParaRPr sz="28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751750" y="3469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576400" y="1042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765300" y="1596390"/>
            <a:ext cx="9249160" cy="4205700"/>
          </a:xfrm>
          <a:prstGeom prst="rect">
            <a:avLst/>
          </a:prstGeom>
          <a:noFill/>
          <a:ln>
            <a:noFill/>
          </a:ln>
        </p:spPr>
        <p:txBody>
          <a:bodyPr spcFirstLastPara="1" wrap="square" lIns="91425" tIns="45700" rIns="91425" bIns="45700" anchor="t" anchorCtr="0">
            <a:noAutofit/>
          </a:bodyPr>
          <a:lstStyle/>
          <a:p>
            <a:r>
              <a:rPr lang="en-US" sz="2400" dirty="0">
                <a:solidFill>
                  <a:schemeClr val="dk1"/>
                </a:solidFill>
                <a:latin typeface="Verdana"/>
                <a:ea typeface="Verdana"/>
                <a:cs typeface="Verdana"/>
                <a:sym typeface="Verdana"/>
              </a:rPr>
              <a:t>MA.K12.MTR.3.1 Complete tasks with mathematical fluency.</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MA.K12.MTR.4.1 Engage in discussions that reflect on the mathematical thinking of self and others.</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MA.K12.MTR.5.1 Use patterns and structure to help understand and connect mathematical concepts.</a:t>
            </a:r>
            <a:endParaRPr sz="2400" dirty="0"/>
          </a:p>
        </p:txBody>
      </p:sp>
      <p:sp>
        <p:nvSpPr>
          <p:cNvPr id="138" name="Google Shape;138;p1"/>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640775"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6" name="Google Shape;146;p2"/>
          <p:cNvPicPr preferRelativeResize="0"/>
          <p:nvPr/>
        </p:nvPicPr>
        <p:blipFill rotWithShape="1">
          <a:blip r:embed="rId3">
            <a:alphaModFix/>
          </a:blip>
          <a:srcRect/>
          <a:stretch/>
        </p:blipFill>
        <p:spPr>
          <a:xfrm>
            <a:off x="858613"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640775" y="1600200"/>
            <a:ext cx="8570025"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apply the laws of exponents to generate equivalent numerical expressions.</a:t>
            </a:r>
            <a:endParaRPr dirty="0"/>
          </a:p>
        </p:txBody>
      </p:sp>
      <p:sp>
        <p:nvSpPr>
          <p:cNvPr id="149" name="Google Shape;149;p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65750" y="33699"/>
            <a:ext cx="90752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3.5.1 Warm-Up: Math Argument</a:t>
            </a:r>
            <a:endParaRPr dirty="0"/>
          </a:p>
        </p:txBody>
      </p:sp>
      <p:pic>
        <p:nvPicPr>
          <p:cNvPr id="167" name="Google Shape;167;p4"/>
          <p:cNvPicPr preferRelativeResize="0"/>
          <p:nvPr/>
        </p:nvPicPr>
        <p:blipFill rotWithShape="1">
          <a:blip r:embed="rId3">
            <a:alphaModFix/>
          </a:blip>
          <a:srcRect/>
          <a:stretch/>
        </p:blipFill>
        <p:spPr>
          <a:xfrm>
            <a:off x="667650" y="323259"/>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414950" y="1386026"/>
            <a:ext cx="9618132" cy="3416279"/>
          </a:xfrm>
          <a:prstGeom prst="rect">
            <a:avLst/>
          </a:prstGeom>
          <a:noFill/>
          <a:ln>
            <a:noFill/>
          </a:ln>
        </p:spPr>
        <p:txBody>
          <a:bodyPr spcFirstLastPara="1" wrap="square" lIns="91425" tIns="45700" rIns="91425" bIns="45700" anchor="t" anchorCtr="0">
            <a:spAutoFit/>
          </a:bodyPr>
          <a:lstStyle/>
          <a:p>
            <a:pPr marL="465138" indent="-465138">
              <a:buFont typeface="+mj-lt"/>
              <a:buAutoNum type="arabicPeriod"/>
            </a:pPr>
            <a:r>
              <a:rPr lang="en-US" sz="2400" dirty="0">
                <a:latin typeface="Verdana"/>
                <a:ea typeface="Verdana"/>
                <a:cs typeface="Verdana"/>
                <a:sym typeface="Verdana"/>
              </a:rPr>
              <a:t>Without performing any calculations, circle the expression you think has the greater value.</a:t>
            </a:r>
          </a:p>
          <a:p>
            <a:pPr marL="342900" indent="-342900">
              <a:buFont typeface="+mj-lt"/>
              <a:buAutoNum type="arabicPeriod"/>
            </a:pPr>
            <a:endParaRPr lang="en-US" sz="2400" dirty="0">
              <a:latin typeface="Verdana"/>
              <a:ea typeface="Verdana"/>
              <a:cs typeface="Verdana"/>
              <a:sym typeface="Verdana"/>
            </a:endParaRPr>
          </a:p>
          <a:p>
            <a:pPr marL="342900" indent="-342900">
              <a:buFont typeface="+mj-lt"/>
              <a:buAutoNum type="arabicPeriod"/>
            </a:pPr>
            <a:endParaRPr lang="en-US" sz="2400" dirty="0">
              <a:latin typeface="Verdana"/>
              <a:ea typeface="Verdana"/>
              <a:cs typeface="Verdana"/>
              <a:sym typeface="Verdana"/>
            </a:endParaRPr>
          </a:p>
          <a:p>
            <a:pPr marL="342900" indent="-342900">
              <a:buFont typeface="+mj-lt"/>
              <a:buAutoNum type="arabicPeriod"/>
            </a:pPr>
            <a:endParaRPr lang="en-US" sz="2400" dirty="0">
              <a:latin typeface="Verdana"/>
              <a:ea typeface="Verdana"/>
              <a:cs typeface="Verdana"/>
              <a:sym typeface="Verdana"/>
            </a:endParaRPr>
          </a:p>
          <a:p>
            <a:pPr marL="342900" indent="-342900">
              <a:buFont typeface="+mj-lt"/>
              <a:buAutoNum type="arabicPeriod"/>
            </a:pPr>
            <a:endParaRPr lang="en-US" sz="2400" dirty="0">
              <a:latin typeface="Verdana"/>
              <a:ea typeface="Verdana"/>
              <a:cs typeface="Verdana"/>
              <a:sym typeface="Verdana"/>
            </a:endParaRPr>
          </a:p>
          <a:p>
            <a:pPr marL="342900" indent="-342900">
              <a:buFont typeface="+mj-lt"/>
              <a:buAutoNum type="arabicPeriod"/>
            </a:pPr>
            <a:endParaRPr lang="en-US" sz="2400" dirty="0">
              <a:latin typeface="Verdana"/>
              <a:ea typeface="Verdana"/>
              <a:cs typeface="Verdana"/>
              <a:sym typeface="Verdana"/>
            </a:endParaRPr>
          </a:p>
          <a:p>
            <a:pPr marL="342900" indent="-342900">
              <a:buFont typeface="+mj-lt"/>
              <a:buAutoNum type="arabicPeriod"/>
            </a:pPr>
            <a:endParaRPr lang="en-US" sz="2400" dirty="0">
              <a:latin typeface="Verdana"/>
              <a:ea typeface="Verdana"/>
              <a:cs typeface="Verdana"/>
              <a:sym typeface="Verdana"/>
            </a:endParaRPr>
          </a:p>
          <a:p>
            <a:pPr marL="342900" indent="-342900">
              <a:buFont typeface="+mj-lt"/>
              <a:buAutoNum type="arabicPeriod"/>
            </a:pPr>
            <a:r>
              <a:rPr lang="en-US" sz="2400" dirty="0">
                <a:latin typeface="Verdana"/>
                <a:ea typeface="Verdana"/>
                <a:cs typeface="Verdana"/>
                <a:sym typeface="Verdana"/>
              </a:rPr>
              <a:t>  Justify why you selected that expression.</a:t>
            </a:r>
            <a:endParaRPr dirty="0"/>
          </a:p>
        </p:txBody>
      </p:sp>
      <p:sp>
        <p:nvSpPr>
          <p:cNvPr id="170" name="Google Shape;170;p4"/>
          <p:cNvSpPr/>
          <p:nvPr/>
        </p:nvSpPr>
        <p:spPr>
          <a:xfrm>
            <a:off x="0" y="-9702"/>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Background pattern&#10;&#10;Description automatically generated with low confidence">
            <a:extLst>
              <a:ext uri="{FF2B5EF4-FFF2-40B4-BE49-F238E27FC236}">
                <a16:creationId xmlns:a16="http://schemas.microsoft.com/office/drawing/2014/main" id="{C3607E1C-CF24-C94D-8073-A85F1797A39B}"/>
              </a:ext>
            </a:extLst>
          </p:cNvPr>
          <p:cNvPicPr>
            <a:picLocks noChangeAspect="1"/>
          </p:cNvPicPr>
          <p:nvPr/>
        </p:nvPicPr>
        <p:blipFill>
          <a:blip r:embed="rId4"/>
          <a:stretch>
            <a:fillRect/>
          </a:stretch>
        </p:blipFill>
        <p:spPr>
          <a:xfrm>
            <a:off x="3701695" y="2764980"/>
            <a:ext cx="4303360" cy="664020"/>
          </a:xfrm>
          <a:prstGeom prst="rect">
            <a:avLst/>
          </a:prstGeom>
        </p:spPr>
      </p:pic>
      <p:sp>
        <p:nvSpPr>
          <p:cNvPr id="9"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40837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427888" y="-30758"/>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3.5.2 Guided Instruction: Rational Number Bases</a:t>
            </a:r>
            <a:endParaRPr dirty="0"/>
          </a:p>
        </p:txBody>
      </p:sp>
      <p:pic>
        <p:nvPicPr>
          <p:cNvPr id="317" name="Google Shape;317;p19"/>
          <p:cNvPicPr preferRelativeResize="0"/>
          <p:nvPr/>
        </p:nvPicPr>
        <p:blipFill rotWithShape="1">
          <a:blip r:embed="rId3">
            <a:alphaModFix/>
          </a:blip>
          <a:srcRect/>
          <a:stretch/>
        </p:blipFill>
        <p:spPr>
          <a:xfrm>
            <a:off x="680588" y="176506"/>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1562100" y="1386025"/>
            <a:ext cx="8825484" cy="1046400"/>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sym typeface="Verdana"/>
              </a:rPr>
              <a:t>Consider the table shown.</a:t>
            </a:r>
          </a:p>
          <a:p>
            <a:pPr marL="457200" indent="-457200">
              <a:buFont typeface="+mj-lt"/>
              <a:buAutoNum type="arabicPeriod"/>
            </a:pPr>
            <a:endParaRPr lang="en-US" sz="2400" dirty="0">
              <a:latin typeface="Verdana"/>
              <a:ea typeface="Verdana"/>
              <a:cs typeface="Verdana"/>
              <a:sym typeface="Verdana"/>
            </a:endParaRPr>
          </a:p>
          <a:p>
            <a:pPr marL="457200" indent="-457200">
              <a:buFont typeface="+mj-lt"/>
              <a:buAutoNum type="arabicPeriod"/>
            </a:pPr>
            <a:endParaRPr dirty="0"/>
          </a:p>
        </p:txBody>
      </p:sp>
      <p:sp>
        <p:nvSpPr>
          <p:cNvPr id="320" name="Google Shape;320;p19"/>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31656336-71BA-2443-8FEC-349C59CED653}"/>
              </a:ext>
            </a:extLst>
          </p:cNvPr>
          <p:cNvPicPr>
            <a:picLocks noChangeAspect="1"/>
          </p:cNvPicPr>
          <p:nvPr/>
        </p:nvPicPr>
        <p:blipFill>
          <a:blip r:embed="rId4"/>
          <a:stretch>
            <a:fillRect/>
          </a:stretch>
        </p:blipFill>
        <p:spPr>
          <a:xfrm>
            <a:off x="2519850" y="1985425"/>
            <a:ext cx="6538344" cy="3674836"/>
          </a:xfrm>
          <a:prstGeom prst="rect">
            <a:avLst/>
          </a:prstGeom>
        </p:spPr>
      </p:pic>
      <p:sp>
        <p:nvSpPr>
          <p:cNvPr id="9"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349191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1932432" y="288746"/>
            <a:ext cx="8327136" cy="4154943"/>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Complete the statement to describe the pattern in the table.</a:t>
            </a:r>
          </a:p>
          <a:p>
            <a:endParaRPr lang="en-US" sz="2400" dirty="0">
              <a:latin typeface="Verdana"/>
              <a:ea typeface="Verdana"/>
              <a:cs typeface="Verdana"/>
              <a:sym typeface="Verdana"/>
            </a:endParaRPr>
          </a:p>
          <a:p>
            <a:endParaRPr lang="en-US" sz="2400" dirty="0">
              <a:latin typeface="Verdana"/>
              <a:ea typeface="Verdana"/>
              <a:cs typeface="Verdana"/>
              <a:sym typeface="Verdana"/>
            </a:endParaRPr>
          </a:p>
          <a:p>
            <a:r>
              <a:rPr lang="en-US" sz="2400" dirty="0">
                <a:latin typeface="Verdana"/>
                <a:ea typeface="Verdana"/>
                <a:cs typeface="Verdana"/>
                <a:sym typeface="Verdana"/>
              </a:rPr>
              <a:t>As the value of the exponent                       by 1 in </a:t>
            </a:r>
          </a:p>
          <a:p>
            <a:endParaRPr lang="en-US" sz="2400" dirty="0">
              <a:latin typeface="Verdana"/>
              <a:ea typeface="Verdana"/>
              <a:cs typeface="Verdana"/>
              <a:sym typeface="Verdana"/>
            </a:endParaRPr>
          </a:p>
          <a:p>
            <a:r>
              <a:rPr lang="en-US" sz="2400" dirty="0">
                <a:latin typeface="Verdana"/>
                <a:ea typeface="Verdana"/>
                <a:cs typeface="Verdana"/>
                <a:sym typeface="Verdana"/>
              </a:rPr>
              <a:t>the column on the left, the equivalent expression in </a:t>
            </a:r>
          </a:p>
          <a:p>
            <a:endParaRPr lang="en-US" sz="2400" dirty="0">
              <a:latin typeface="Verdana"/>
              <a:ea typeface="Verdana"/>
              <a:cs typeface="Verdana"/>
              <a:sym typeface="Verdana"/>
            </a:endParaRPr>
          </a:p>
          <a:p>
            <a:r>
              <a:rPr lang="en-US" sz="2400" dirty="0">
                <a:latin typeface="Verdana"/>
                <a:ea typeface="Verdana"/>
                <a:cs typeface="Verdana"/>
                <a:sym typeface="Verdana"/>
              </a:rPr>
              <a:t>the column on the right can be found by.     </a:t>
            </a:r>
          </a:p>
          <a:p>
            <a:endParaRPr lang="en-US" sz="2400" dirty="0">
              <a:latin typeface="Verdana"/>
              <a:ea typeface="Verdana"/>
              <a:cs typeface="Verdana"/>
              <a:sym typeface="Verdana"/>
            </a:endParaRPr>
          </a:p>
          <a:p>
            <a:r>
              <a:rPr lang="en-US" sz="2400" dirty="0">
                <a:latin typeface="Verdana"/>
                <a:ea typeface="Verdana"/>
                <a:cs typeface="Verdana"/>
                <a:sym typeface="Verdana"/>
              </a:rPr>
              <a:t>the previous value by the  </a:t>
            </a:r>
            <a:endParaRPr dirty="0"/>
          </a:p>
        </p:txBody>
      </p:sp>
      <p:sp>
        <p:nvSpPr>
          <p:cNvPr id="329" name="Google Shape;329;p20"/>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picture containing text&#10;&#10;Description automatically generated">
            <a:extLst>
              <a:ext uri="{FF2B5EF4-FFF2-40B4-BE49-F238E27FC236}">
                <a16:creationId xmlns:a16="http://schemas.microsoft.com/office/drawing/2014/main" id="{7F6B24E9-A295-9A40-929A-19AC569E5917}"/>
              </a:ext>
            </a:extLst>
          </p:cNvPr>
          <p:cNvPicPr>
            <a:picLocks noChangeAspect="1"/>
          </p:cNvPicPr>
          <p:nvPr/>
        </p:nvPicPr>
        <p:blipFill>
          <a:blip r:embed="rId3"/>
          <a:stretch>
            <a:fillRect/>
          </a:stretch>
        </p:blipFill>
        <p:spPr>
          <a:xfrm>
            <a:off x="6522358" y="1469572"/>
            <a:ext cx="2279447" cy="990601"/>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2D736DA6-8B2F-5548-A9D8-55A7112FB691}"/>
              </a:ext>
            </a:extLst>
          </p:cNvPr>
          <p:cNvPicPr>
            <a:picLocks noChangeAspect="1"/>
          </p:cNvPicPr>
          <p:nvPr/>
        </p:nvPicPr>
        <p:blipFill>
          <a:blip r:embed="rId4"/>
          <a:stretch>
            <a:fillRect/>
          </a:stretch>
        </p:blipFill>
        <p:spPr>
          <a:xfrm>
            <a:off x="8233036" y="2929524"/>
            <a:ext cx="2279450" cy="990602"/>
          </a:xfrm>
          <a:prstGeom prst="rect">
            <a:avLst/>
          </a:prstGeom>
        </p:spPr>
      </p:pic>
      <p:pic>
        <p:nvPicPr>
          <p:cNvPr id="7" name="Picture 6" descr="A picture containing diagram&#10;&#10;Description automatically generated">
            <a:extLst>
              <a:ext uri="{FF2B5EF4-FFF2-40B4-BE49-F238E27FC236}">
                <a16:creationId xmlns:a16="http://schemas.microsoft.com/office/drawing/2014/main" id="{B135EFA0-E419-E04C-B703-2CAE718217CD}"/>
              </a:ext>
            </a:extLst>
          </p:cNvPr>
          <p:cNvPicPr>
            <a:picLocks noChangeAspect="1"/>
          </p:cNvPicPr>
          <p:nvPr/>
        </p:nvPicPr>
        <p:blipFill>
          <a:blip r:embed="rId5"/>
          <a:stretch>
            <a:fillRect/>
          </a:stretch>
        </p:blipFill>
        <p:spPr>
          <a:xfrm>
            <a:off x="5997561" y="3731768"/>
            <a:ext cx="2300751" cy="990601"/>
          </a:xfrm>
          <a:prstGeom prst="rect">
            <a:avLst/>
          </a:prstGeom>
        </p:spPr>
      </p:pic>
      <p:sp>
        <p:nvSpPr>
          <p:cNvPr id="9"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1665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838200" y="288746"/>
                <a:ext cx="10515600" cy="5118733"/>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Continuing the pattern, the next row in the table would begin with the expression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5</m:t>
                                </m:r>
                              </m:den>
                            </m:f>
                          </m:e>
                        </m:d>
                      </m:e>
                      <m:sup>
                        <m:r>
                          <a:rPr lang="en-US" sz="2000" i="1">
                            <a:latin typeface="Cambria Math" panose="02040503050406030204" pitchFamily="18"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To continue the pattern, find the value of </a:t>
                </a:r>
                <a14:m>
                  <m:oMath xmlns:m="http://schemas.openxmlformats.org/officeDocument/2006/math">
                    <m:r>
                      <a:rPr lang="en-US" sz="2000" i="1">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Since dividing by a fraction is equivalent to multiplying by the fraction’s reciprocal, the result is as follows.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5</m:t>
                        </m:r>
                      </m:den>
                    </m:f>
                    <m:r>
                      <a:rPr lang="en-US" sz="2000" i="1">
                        <a:latin typeface="Cambria Math" panose="02040503050406030204" pitchFamily="18" charset="0"/>
                      </a:rPr>
                      <m:t> = 1∙</m:t>
                    </m:r>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2</m:t>
                        </m:r>
                      </m:den>
                    </m:f>
                    <m:r>
                      <a:rPr lang="en-US" sz="2000" i="1">
                        <a:latin typeface="Cambria Math" panose="02040503050406030204" pitchFamily="18" charset="0"/>
                      </a:rPr>
                      <m:t> = </m:t>
                    </m:r>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Since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5</m:t>
                                </m:r>
                              </m:den>
                            </m:f>
                          </m:e>
                        </m:d>
                      </m:e>
                      <m:sup>
                        <m:r>
                          <a:rPr lang="en-US" sz="2000" i="1">
                            <a:latin typeface="Cambria Math" panose="02040503050406030204" pitchFamily="18" charset="0"/>
                          </a:rPr>
                          <m:t>−1</m:t>
                        </m:r>
                      </m:sup>
                    </m:s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and the identity exponent law states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2</m:t>
                        </m:r>
                      </m:den>
                    </m:f>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2</m:t>
                                </m:r>
                              </m:den>
                            </m:f>
                          </m:e>
                        </m:d>
                      </m:e>
                      <m:sup>
                        <m:r>
                          <a:rPr lang="en-US" sz="2000" i="1">
                            <a:latin typeface="Cambria Math" panose="02040503050406030204" pitchFamily="18"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it can be concluded that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5</m:t>
                                </m:r>
                              </m:den>
                            </m:f>
                          </m:e>
                        </m:d>
                      </m:e>
                      <m:sup>
                        <m:r>
                          <a:rPr lang="en-US" sz="2000" i="1">
                            <a:latin typeface="Cambria Math" panose="02040503050406030204" pitchFamily="18" charset="0"/>
                          </a:rPr>
                          <m:t>−1</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2</m:t>
                                </m:r>
                              </m:den>
                            </m:f>
                          </m:e>
                        </m:d>
                      </m:e>
                      <m:sup>
                        <m:r>
                          <a:rPr lang="en-US" sz="2000" i="1">
                            <a:latin typeface="Cambria Math" panose="02040503050406030204" pitchFamily="18"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dirty="0"/>
              </a:p>
              <a:p>
                <a:endParaRPr lang="en-US"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838200" y="288746"/>
                <a:ext cx="10515600" cy="5118733"/>
              </a:xfrm>
              <a:prstGeom prst="rect">
                <a:avLst/>
              </a:prstGeom>
              <a:blipFill rotWithShape="0">
                <a:blip r:embed="rId3"/>
                <a:stretch>
                  <a:fillRect l="-638" t="-595" r="-406"/>
                </a:stretch>
              </a:blipFill>
              <a:ln>
                <a:noFill/>
              </a:ln>
            </p:spPr>
            <p:txBody>
              <a:bodyPr/>
              <a:lstStyle/>
              <a:p>
                <a:r>
                  <a:rPr lang="en-US">
                    <a:noFill/>
                  </a:rPr>
                  <a:t> </a:t>
                </a:r>
              </a:p>
            </p:txBody>
          </p:sp>
        </mc:Fallback>
      </mc:AlternateContent>
      <p:sp>
        <p:nvSpPr>
          <p:cNvPr id="329" name="Google Shape;329;p20"/>
          <p:cNvSpPr/>
          <p:nvPr/>
        </p:nvSpPr>
        <p:spPr>
          <a:xfrm>
            <a:off x="0" y="-97125"/>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361604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698500" y="288745"/>
            <a:ext cx="9561068" cy="461624"/>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  Continue the pattern.</a:t>
            </a:r>
            <a:endParaRPr sz="2400" dirty="0">
              <a:latin typeface="Verdana" panose="020B0604030504040204" pitchFamily="34" charset="0"/>
              <a:ea typeface="Verdana" panose="020B0604030504040204" pitchFamily="34" charset="0"/>
              <a:cs typeface="Verdana" panose="020B0604030504040204" pitchFamily="34" charset="0"/>
            </a:endParaRPr>
          </a:p>
        </p:txBody>
      </p:sp>
      <p:sp>
        <p:nvSpPr>
          <p:cNvPr id="329" name="Google Shape;329;p20"/>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descr="Table&#10;&#10;Description automatically generated">
            <a:extLst>
              <a:ext uri="{FF2B5EF4-FFF2-40B4-BE49-F238E27FC236}">
                <a16:creationId xmlns:a16="http://schemas.microsoft.com/office/drawing/2014/main" id="{53C3263B-5444-494C-A8D3-B71FCCE55B66}"/>
              </a:ext>
            </a:extLst>
          </p:cNvPr>
          <p:cNvPicPr>
            <a:picLocks noChangeAspect="1"/>
          </p:cNvPicPr>
          <p:nvPr/>
        </p:nvPicPr>
        <p:blipFill>
          <a:blip r:embed="rId3"/>
          <a:stretch>
            <a:fillRect/>
          </a:stretch>
        </p:blipFill>
        <p:spPr>
          <a:xfrm>
            <a:off x="2256428" y="1072713"/>
            <a:ext cx="7497173" cy="4535735"/>
          </a:xfrm>
          <a:prstGeom prst="rect">
            <a:avLst/>
          </a:prstGeom>
        </p:spPr>
      </p:pic>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2420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932432" y="288745"/>
                <a:ext cx="8327136" cy="363730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400" dirty="0">
                    <a:latin typeface="Verdana"/>
                    <a:ea typeface="Verdana"/>
                    <a:cs typeface="Verdana"/>
                    <a:sym typeface="Verdana"/>
                  </a:rPr>
                  <a:t>Complete the statement.</a:t>
                </a:r>
              </a:p>
              <a:p>
                <a:pPr marL="457200" indent="-457200">
                  <a:buFont typeface="+mj-lt"/>
                  <a:buAutoNum type="arabicPeriod" startAt="3"/>
                </a:pPr>
                <a:endParaRPr lang="en-US" sz="2400" dirty="0">
                  <a:latin typeface="Verdana"/>
                  <a:ea typeface="Verdana"/>
                  <a:cs typeface="Verdana"/>
                  <a:sym typeface="Verdana"/>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sym typeface="Verdana"/>
                  </a:rPr>
                  <a:t>A rational base with a negative exponent, </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𝑎</m:t>
                                </m:r>
                              </m:num>
                              <m:den>
                                <m:r>
                                  <a:rPr lang="en-US" sz="2400" i="1">
                                    <a:latin typeface="Cambria Math" panose="02040503050406030204" pitchFamily="18" charset="0"/>
                                  </a:rPr>
                                  <m:t>𝑏</m:t>
                                </m:r>
                              </m:den>
                            </m:f>
                          </m:e>
                        </m:d>
                      </m:e>
                      <m:sup>
                        <m:r>
                          <a:rPr lang="en-US" sz="2400" i="1">
                            <a:latin typeface="Cambria Math" panose="02040503050406030204" pitchFamily="18" charset="0"/>
                          </a:rPr>
                          <m:t>−</m:t>
                        </m:r>
                        <m:r>
                          <a:rPr lang="en-US" sz="2400" i="1">
                            <a:latin typeface="Cambria Math" panose="02040503050406030204" pitchFamily="18" charset="0"/>
                          </a:rPr>
                          <m:t>𝑚</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can be rewritten using the                       of the</a:t>
                </a: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base with the                      exponent. </a:t>
                </a:r>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408432" y="288745"/>
                <a:ext cx="8327136" cy="3637302"/>
              </a:xfrm>
              <a:prstGeom prst="rect">
                <a:avLst/>
              </a:prstGeom>
              <a:blipFill>
                <a:blip r:embed="rId4"/>
                <a:stretch>
                  <a:fillRect l="-1220" t="-1389" b="-2778"/>
                </a:stretch>
              </a:blipFill>
              <a:ln>
                <a:noFill/>
              </a:ln>
            </p:spPr>
            <p:txBody>
              <a:bodyPr/>
              <a:lstStyle/>
              <a:p>
                <a:r>
                  <a:rPr lang="en-US">
                    <a:noFill/>
                  </a:rPr>
                  <a:t> </a:t>
                </a:r>
              </a:p>
            </p:txBody>
          </p:sp>
        </mc:Fallback>
      </mc:AlternateContent>
      <p:sp>
        <p:nvSpPr>
          <p:cNvPr id="329" name="Google Shape;329;p20"/>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picture containing shape&#10;&#10;Description automatically generated">
            <a:extLst>
              <a:ext uri="{FF2B5EF4-FFF2-40B4-BE49-F238E27FC236}">
                <a16:creationId xmlns:a16="http://schemas.microsoft.com/office/drawing/2014/main" id="{A4263D78-C3BC-F942-BCB7-A8A259839263}"/>
              </a:ext>
            </a:extLst>
          </p:cNvPr>
          <p:cNvPicPr>
            <a:picLocks noChangeAspect="1"/>
          </p:cNvPicPr>
          <p:nvPr/>
        </p:nvPicPr>
        <p:blipFill>
          <a:blip r:embed="rId5"/>
          <a:stretch>
            <a:fillRect/>
          </a:stretch>
        </p:blipFill>
        <p:spPr>
          <a:xfrm>
            <a:off x="6585860" y="2107397"/>
            <a:ext cx="2351312" cy="1008905"/>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61C8E18D-E789-CF4C-9999-9642C4D311CC}"/>
              </a:ext>
            </a:extLst>
          </p:cNvPr>
          <p:cNvPicPr>
            <a:picLocks noChangeAspect="1"/>
          </p:cNvPicPr>
          <p:nvPr/>
        </p:nvPicPr>
        <p:blipFill>
          <a:blip r:embed="rId5"/>
          <a:stretch>
            <a:fillRect/>
          </a:stretch>
        </p:blipFill>
        <p:spPr>
          <a:xfrm>
            <a:off x="4623187" y="3207387"/>
            <a:ext cx="2223931" cy="1008905"/>
          </a:xfrm>
          <a:prstGeom prst="rect">
            <a:avLst/>
          </a:prstGeom>
        </p:spPr>
      </p:pic>
      <p:sp>
        <p:nvSpPr>
          <p:cNvPr id="11"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81770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320800" y="288745"/>
                <a:ext cx="8938768" cy="6152798"/>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Rewrite each expression as an equivalent exponential expression with positive exponents.</a:t>
                </a: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r>
                      <a:rPr lang="en-US" sz="2000" i="1">
                        <a:latin typeface="Cambria Math" panose="02040503050406030204" pitchFamily="18" charset="0"/>
                      </a:rPr>
                      <m:t> </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2</m:t>
                                </m:r>
                              </m:num>
                              <m:den>
                                <m:r>
                                  <a:rPr lang="en-US" sz="2000">
                                    <a:latin typeface="Cambria Math" panose="02040503050406030204" pitchFamily="18" charset="0"/>
                                  </a:rPr>
                                  <m:t>3</m:t>
                                </m:r>
                              </m:den>
                            </m:f>
                          </m:e>
                        </m:d>
                      </m:e>
                      <m:sup>
                        <m:r>
                          <a:rPr lang="en-US" sz="2000">
                            <a:latin typeface="Cambria Math" panose="02040503050406030204" pitchFamily="18" charset="0"/>
                          </a:rPr>
                          <m:t>−4</m:t>
                        </m:r>
                      </m:sup>
                    </m:sSup>
                    <m:r>
                      <a:rPr lang="en-US" sz="2000">
                        <a:latin typeface="Cambria Math" panose="02040503050406030204" pitchFamily="18" charset="0"/>
                      </a:rPr>
                      <m:t>=______________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3</m:t>
                                </m:r>
                              </m:num>
                              <m:den>
                                <m:r>
                                  <a:rPr lang="en-US" sz="2000">
                                    <a:latin typeface="Cambria Math" panose="02040503050406030204" pitchFamily="18" charset="0"/>
                                  </a:rPr>
                                  <m:t>−5</m:t>
                                </m:r>
                              </m:den>
                            </m:f>
                          </m:e>
                        </m:d>
                      </m:e>
                      <m:sup>
                        <m:r>
                          <a:rPr lang="en-US" sz="2000">
                            <a:latin typeface="Cambria Math" panose="02040503050406030204" pitchFamily="18" charset="0"/>
                          </a:rPr>
                          <m:t>−9</m:t>
                        </m:r>
                      </m:sup>
                    </m:sSup>
                    <m:r>
                      <a:rPr lang="en-US" sz="2000">
                        <a:latin typeface="Cambria Math" panose="02040503050406030204" pitchFamily="18" charset="0"/>
                      </a:rPr>
                      <m:t>=______________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a:latin typeface="Cambria Math" panose="02040503050406030204" pitchFamily="18" charset="0"/>
                                  </a:rPr>
                                  <m:t>8</m:t>
                                </m:r>
                              </m:num>
                              <m:den>
                                <m:r>
                                  <a:rPr lang="en-US" sz="2000">
                                    <a:latin typeface="Cambria Math" panose="02040503050406030204" pitchFamily="18" charset="0"/>
                                  </a:rPr>
                                  <m:t>9</m:t>
                                </m:r>
                              </m:den>
                            </m:f>
                          </m:e>
                        </m:d>
                      </m:e>
                      <m:sup>
                        <m:r>
                          <a:rPr lang="en-US" sz="2000">
                            <a:latin typeface="Cambria Math" panose="02040503050406030204" pitchFamily="18" charset="0"/>
                          </a:rPr>
                          <m:t>−2</m:t>
                        </m:r>
                      </m:sup>
                    </m:sSup>
                    <m:r>
                      <a:rPr lang="en-US" sz="2000">
                        <a:latin typeface="Cambria Math" panose="02040503050406030204" pitchFamily="18" charset="0"/>
                      </a:rPr>
                      <m:t>=______________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21</m:t>
                                </m:r>
                              </m:num>
                              <m:den>
                                <m:r>
                                  <a:rPr lang="en-US" sz="2000">
                                    <a:latin typeface="Cambria Math" panose="02040503050406030204" pitchFamily="18" charset="0"/>
                                  </a:rPr>
                                  <m:t>4</m:t>
                                </m:r>
                              </m:den>
                            </m:f>
                          </m:e>
                        </m:d>
                      </m:e>
                      <m:sup>
                        <m:r>
                          <a:rPr lang="en-US" sz="2000">
                            <a:latin typeface="Cambria Math" panose="02040503050406030204" pitchFamily="18" charset="0"/>
                          </a:rPr>
                          <m:t>−5</m:t>
                        </m:r>
                      </m:sup>
                    </m:sSup>
                    <m:r>
                      <a:rPr lang="en-US" sz="2000">
                        <a:latin typeface="Cambria Math" panose="02040503050406030204" pitchFamily="18" charset="0"/>
                      </a:rPr>
                      <m:t>=______________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857250" indent="-457200">
                  <a:buFont typeface="+mj-lt"/>
                  <a:buAutoNum type="alphaLcPeriod"/>
                </a:pPr>
                <a:endParaRPr lang="en-US" dirty="0"/>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dirty="0"/>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320800" y="288745"/>
                <a:ext cx="8938768" cy="6152798"/>
              </a:xfrm>
              <a:prstGeom prst="rect">
                <a:avLst/>
              </a:prstGeom>
              <a:blipFill rotWithShape="0">
                <a:blip r:embed="rId3"/>
                <a:stretch>
                  <a:fillRect l="-750" t="-594" r="-546"/>
                </a:stretch>
              </a:blipFill>
              <a:ln>
                <a:noFill/>
              </a:ln>
            </p:spPr>
            <p:txBody>
              <a:bodyPr/>
              <a:lstStyle/>
              <a:p>
                <a:r>
                  <a:rPr lang="en-US">
                    <a:noFill/>
                  </a:rPr>
                  <a:t> </a:t>
                </a:r>
              </a:p>
            </p:txBody>
          </p:sp>
        </mc:Fallback>
      </mc:AlternateContent>
      <p:sp>
        <p:nvSpPr>
          <p:cNvPr id="329" name="Google Shape;329;p20"/>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88671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618150" y="1639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3.5.3 Collaboration: Applying More Than One Exponent Law</a:t>
            </a:r>
            <a:endParaRPr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68342" y="304343"/>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99" name="Google Shape;199;p7"/>
              <p:cNvSpPr txBox="1"/>
              <p:nvPr/>
            </p:nvSpPr>
            <p:spPr>
              <a:xfrm>
                <a:off x="1618150" y="1386025"/>
                <a:ext cx="4477850" cy="3628966"/>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Fernanda and Junior were asked to write an equivalent expression of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2.5</m:t>
                                    </m:r>
                                  </m:e>
                                  <m:sup>
                                    <m:r>
                                      <a:rPr lang="en-US" sz="2000" i="1">
                                        <a:latin typeface="Cambria Math" panose="02040503050406030204" pitchFamily="18" charset="0"/>
                                      </a:rPr>
                                      <m:t>5</m:t>
                                    </m:r>
                                  </m:sup>
                                </m:sSup>
                              </m:num>
                              <m:den>
                                <m:sSup>
                                  <m:sSupPr>
                                    <m:ctrlPr>
                                      <a:rPr lang="en-US" sz="2000" i="1">
                                        <a:latin typeface="Cambria Math" panose="02040503050406030204" pitchFamily="18" charset="0"/>
                                      </a:rPr>
                                    </m:ctrlPr>
                                  </m:sSupPr>
                                  <m:e>
                                    <m:r>
                                      <a:rPr lang="en-US" sz="2000" i="1">
                                        <a:latin typeface="Cambria Math" panose="02040503050406030204" pitchFamily="18" charset="0"/>
                                      </a:rPr>
                                      <m:t>2.5</m:t>
                                    </m:r>
                                  </m:e>
                                  <m:sup>
                                    <m:r>
                                      <a:rPr lang="en-US" sz="2000" i="1">
                                        <a:latin typeface="Cambria Math" panose="02040503050406030204" pitchFamily="18" charset="0"/>
                                      </a:rPr>
                                      <m:t>3</m:t>
                                    </m:r>
                                  </m:sup>
                                </m:sSup>
                              </m:den>
                            </m:f>
                          </m:e>
                        </m:d>
                      </m:e>
                      <m:sup>
                        <m:r>
                          <a:rPr lang="en-US" sz="2000" i="1">
                            <a:latin typeface="Cambria Math" panose="02040503050406030204" pitchFamily="18"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by applying multiple exponent laws. Each student first described their plan.</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576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student’s work based on the description of their plan.</a:t>
                </a:r>
              </a:p>
              <a:p>
                <a:pPr marL="342900" indent="-342900">
                  <a:buFont typeface="+mj-lt"/>
                  <a:buAutoNum type="alphaLcPeriod"/>
                </a:pPr>
                <a:endParaRPr dirty="0"/>
              </a:p>
            </p:txBody>
          </p:sp>
        </mc:Choice>
        <mc:Fallback xmlns="">
          <p:sp>
            <p:nvSpPr>
              <p:cNvPr id="199" name="Google Shape;199;p7"/>
              <p:cNvSpPr txBox="1">
                <a:spLocks noRot="1" noChangeAspect="1" noMove="1" noResize="1" noEditPoints="1" noAdjustHandles="1" noChangeArrowheads="1" noChangeShapeType="1" noTextEdit="1"/>
              </p:cNvSpPr>
              <p:nvPr/>
            </p:nvSpPr>
            <p:spPr>
              <a:xfrm>
                <a:off x="1618150" y="1386025"/>
                <a:ext cx="4477850" cy="3628966"/>
              </a:xfrm>
              <a:prstGeom prst="rect">
                <a:avLst/>
              </a:prstGeom>
              <a:blipFill rotWithShape="0">
                <a:blip r:embed="rId4"/>
                <a:stretch>
                  <a:fillRect l="-1497" t="-1007"/>
                </a:stretch>
              </a:blipFill>
              <a:ln>
                <a:noFill/>
              </a:ln>
            </p:spPr>
            <p:txBody>
              <a:bodyPr/>
              <a:lstStyle/>
              <a:p>
                <a:r>
                  <a:rPr lang="en-US">
                    <a:noFill/>
                  </a:rPr>
                  <a:t> </a:t>
                </a:r>
              </a:p>
            </p:txBody>
          </p:sp>
        </mc:Fallback>
      </mc:AlternateContent>
      <p:sp>
        <p:nvSpPr>
          <p:cNvPr id="200" name="Google Shape;200;p7"/>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28E300F-7CD5-0345-B061-054B7D77277D}"/>
                  </a:ext>
                </a:extLst>
              </p:cNvPr>
              <p:cNvGraphicFramePr>
                <a:graphicFrameLocks noGrp="1"/>
              </p:cNvGraphicFramePr>
              <p:nvPr>
                <p:extLst>
                  <p:ext uri="{D42A27DB-BD31-4B8C-83A1-F6EECF244321}">
                    <p14:modId xmlns:p14="http://schemas.microsoft.com/office/powerpoint/2010/main" val="1492056299"/>
                  </p:ext>
                </p:extLst>
              </p:nvPr>
            </p:nvGraphicFramePr>
            <p:xfrm>
              <a:off x="5957124" y="1386025"/>
              <a:ext cx="4850576" cy="5071774"/>
            </p:xfrm>
            <a:graphic>
              <a:graphicData uri="http://schemas.openxmlformats.org/drawingml/2006/table">
                <a:tbl>
                  <a:tblPr firstRow="1" firstCol="1" bandRow="1">
                    <a:tableStyleId>{F2DE63D5-997A-4646-A377-4702673A728D}</a:tableStyleId>
                  </a:tblPr>
                  <a:tblGrid>
                    <a:gridCol w="2425288">
                      <a:extLst>
                        <a:ext uri="{9D8B030D-6E8A-4147-A177-3AD203B41FA5}">
                          <a16:colId xmlns:a16="http://schemas.microsoft.com/office/drawing/2014/main" val="2442575806"/>
                        </a:ext>
                      </a:extLst>
                    </a:gridCol>
                    <a:gridCol w="2425288">
                      <a:extLst>
                        <a:ext uri="{9D8B030D-6E8A-4147-A177-3AD203B41FA5}">
                          <a16:colId xmlns:a16="http://schemas.microsoft.com/office/drawing/2014/main" val="1471561682"/>
                        </a:ext>
                      </a:extLst>
                    </a:gridCol>
                  </a:tblGrid>
                  <a:tr h="272402">
                    <a:tc>
                      <a:txBody>
                        <a:bodyPr/>
                        <a:lstStyle/>
                        <a:p>
                          <a:pPr marL="0" marR="0" algn="ctr">
                            <a:spcBef>
                              <a:spcPts val="0"/>
                            </a:spcBef>
                            <a:spcAft>
                              <a:spcPts val="0"/>
                            </a:spcAft>
                          </a:pPr>
                          <a:r>
                            <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rPr>
                            <a:t>Fernanda</a:t>
                          </a:r>
                          <a:endParaRPr lang="en-US" sz="8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rPr>
                            <a:t>Junior</a:t>
                          </a:r>
                          <a:endParaRPr lang="en-US" sz="8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69741"/>
                      </a:ext>
                    </a:extLst>
                  </a:tr>
                  <a:tr h="1879207">
                    <a:tc>
                      <a:txBody>
                        <a:bodyPr/>
                        <a:lstStyle/>
                        <a:p>
                          <a:pPr marL="0" marR="0">
                            <a:spcBef>
                              <a:spcPts val="0"/>
                            </a:spcBef>
                            <a:spcAft>
                              <a:spcPts val="0"/>
                            </a:spcAft>
                          </a:pP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 </a:t>
                          </a: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power</a:t>
                          </a: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Finally, I will re-write the decimal as a fraction and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negative</a:t>
                          </a: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a:t>
                          </a:r>
                          <a:endParaRPr lang="en-US" sz="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quotient </a:t>
                          </a: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a:t>
                          </a: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Finally, I will re-write the decimal as a fraction and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negative</a:t>
                          </a: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a:t>
                          </a:r>
                          <a:endParaRPr lang="en-US" sz="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0965376"/>
                      </a:ext>
                    </a:extLst>
                  </a:tr>
                  <a:tr h="2920165">
                    <a:tc>
                      <a:txBody>
                        <a:bodyPr/>
                        <a:lstStyle/>
                        <a:p>
                          <a:pPr marL="0" marR="0" algn="ctr">
                            <a:spcBef>
                              <a:spcPts val="600"/>
                            </a:spcBef>
                            <a:spcAft>
                              <a:spcPts val="0"/>
                            </a:spcAft>
                          </a:pPr>
                          <a14:m>
                            <m:oMath xmlns:m="http://schemas.openxmlformats.org/officeDocument/2006/math">
                              <m:sSup>
                                <m:sSupPr>
                                  <m:ctrlPr>
                                    <a:rPr lang="en-US" sz="1200" i="1" smtClean="0">
                                      <a:solidFill>
                                        <a:schemeClr val="tx1"/>
                                      </a:solidFill>
                                      <a:effectLst/>
                                      <a:latin typeface="Cambria Math" panose="02040503050406030204" pitchFamily="18" charset="0"/>
                                    </a:rPr>
                                  </m:ctrlPr>
                                </m:sSupPr>
                                <m:e>
                                  <m:d>
                                    <m:dPr>
                                      <m:ctrlPr>
                                        <a:rPr lang="en-US" sz="1200" i="1">
                                          <a:solidFill>
                                            <a:schemeClr val="tx1"/>
                                          </a:solidFill>
                                          <a:effectLst/>
                                          <a:latin typeface="Cambria Math" panose="02040503050406030204" pitchFamily="18" charset="0"/>
                                        </a:rPr>
                                      </m:ctrlPr>
                                    </m:dPr>
                                    <m:e>
                                      <m:f>
                                        <m:fPr>
                                          <m:ctrlPr>
                                            <a:rPr lang="en-US" sz="1200" i="1">
                                              <a:solidFill>
                                                <a:schemeClr val="tx1"/>
                                              </a:solidFill>
                                              <a:effectLst/>
                                              <a:latin typeface="Cambria Math" panose="02040503050406030204" pitchFamily="18" charset="0"/>
                                            </a:rPr>
                                          </m:ctrlPr>
                                        </m:fPr>
                                        <m:num>
                                          <m:sSup>
                                            <m:sSupPr>
                                              <m:ctrlPr>
                                                <a:rPr lang="en-US" sz="1200" i="1">
                                                  <a:solidFill>
                                                    <a:schemeClr val="tx1"/>
                                                  </a:solidFill>
                                                  <a:effectLst/>
                                                  <a:latin typeface="Cambria Math" panose="02040503050406030204" pitchFamily="18" charset="0"/>
                                                </a:rPr>
                                              </m:ctrlPr>
                                            </m:sSupPr>
                                            <m:e>
                                              <m:r>
                                                <a:rPr lang="en-US" sz="1200">
                                                  <a:solidFill>
                                                    <a:schemeClr val="tx1"/>
                                                  </a:solidFill>
                                                  <a:effectLst/>
                                                  <a:latin typeface="Cambria Math" panose="02040503050406030204" pitchFamily="18" charset="0"/>
                                                </a:rPr>
                                                <m:t>2.5</m:t>
                                              </m:r>
                                            </m:e>
                                            <m:sup>
                                              <m:r>
                                                <a:rPr lang="en-US" sz="1200">
                                                  <a:solidFill>
                                                    <a:schemeClr val="tx1"/>
                                                  </a:solidFill>
                                                  <a:effectLst/>
                                                  <a:latin typeface="Cambria Math" panose="02040503050406030204" pitchFamily="18" charset="0"/>
                                                </a:rPr>
                                                <m:t>5</m:t>
                                              </m:r>
                                            </m:sup>
                                          </m:sSup>
                                        </m:num>
                                        <m:den>
                                          <m:sSup>
                                            <m:sSupPr>
                                              <m:ctrlPr>
                                                <a:rPr lang="en-US" sz="1200" i="1">
                                                  <a:solidFill>
                                                    <a:schemeClr val="tx1"/>
                                                  </a:solidFill>
                                                  <a:effectLst/>
                                                  <a:latin typeface="Cambria Math" panose="02040503050406030204" pitchFamily="18" charset="0"/>
                                                </a:rPr>
                                              </m:ctrlPr>
                                            </m:sSupPr>
                                            <m:e>
                                              <m:r>
                                                <a:rPr lang="en-US" sz="1200">
                                                  <a:solidFill>
                                                    <a:schemeClr val="tx1"/>
                                                  </a:solidFill>
                                                  <a:effectLst/>
                                                  <a:latin typeface="Cambria Math" panose="02040503050406030204" pitchFamily="18" charset="0"/>
                                                </a:rPr>
                                                <m:t>2.5</m:t>
                                              </m:r>
                                            </m:e>
                                            <m:sup>
                                              <m:r>
                                                <a:rPr lang="en-US" sz="1200">
                                                  <a:solidFill>
                                                    <a:schemeClr val="tx1"/>
                                                  </a:solidFill>
                                                  <a:effectLst/>
                                                  <a:latin typeface="Cambria Math" panose="02040503050406030204" pitchFamily="18" charset="0"/>
                                                </a:rPr>
                                                <m:t>3</m:t>
                                              </m:r>
                                            </m:sup>
                                          </m:sSup>
                                        </m:den>
                                      </m:f>
                                    </m:e>
                                  </m:d>
                                </m:e>
                                <m:sup>
                                  <m:r>
                                    <a:rPr lang="en-US" sz="1200">
                                      <a:solidFill>
                                        <a:schemeClr val="tx1"/>
                                      </a:solidFill>
                                      <a:effectLst/>
                                      <a:latin typeface="Cambria Math" panose="02040503050406030204" pitchFamily="18" charset="0"/>
                                    </a:rPr>
                                    <m:t>−1</m:t>
                                  </m:r>
                                </m:sup>
                              </m:sSup>
                            </m:oMath>
                          </a14:m>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895350" marR="0">
                            <a:spcBef>
                              <a:spcPts val="0"/>
                            </a:spcBef>
                            <a:spcAft>
                              <a:spcPts val="0"/>
                            </a:spcAft>
                          </a:pPr>
                          <a14:m>
                            <m:oMathPara xmlns:m="http://schemas.openxmlformats.org/officeDocument/2006/math">
                              <m:oMathParaPr>
                                <m:jc m:val="centerGroup"/>
                              </m:oMathParaPr>
                              <m:oMath xmlns:m="http://schemas.openxmlformats.org/officeDocument/2006/math">
                                <m:r>
                                  <a:rPr lang="en-US" sz="1200">
                                    <a:solidFill>
                                      <a:schemeClr val="tx1"/>
                                    </a:solidFill>
                                    <a:effectLst/>
                                    <a:latin typeface="Cambria Math" panose="02040503050406030204" pitchFamily="18" charset="0"/>
                                  </a:rPr>
                                  <m:t>=</m:t>
                                </m:r>
                                <m:sSup>
                                  <m:sSupPr>
                                    <m:ctrlPr>
                                      <a:rPr lang="en-US" sz="1200" i="1">
                                        <a:solidFill>
                                          <a:schemeClr val="tx1"/>
                                        </a:solidFill>
                                        <a:effectLst/>
                                        <a:latin typeface="Cambria Math" panose="02040503050406030204" pitchFamily="18" charset="0"/>
                                      </a:rPr>
                                    </m:ctrlPr>
                                  </m:sSupPr>
                                  <m:e>
                                    <m:sSup>
                                      <m:sSupPr>
                                        <m:ctrlPr>
                                          <a:rPr lang="en-US" sz="1200" i="1">
                                            <a:solidFill>
                                              <a:schemeClr val="tx1"/>
                                            </a:solidFill>
                                            <a:effectLst/>
                                            <a:latin typeface="Cambria Math" panose="02040503050406030204" pitchFamily="18" charset="0"/>
                                          </a:rPr>
                                        </m:ctrlPr>
                                      </m:sSupPr>
                                      <m:e>
                                        <m:r>
                                          <a:rPr lang="en-US" sz="1200">
                                            <a:solidFill>
                                              <a:schemeClr val="tx1"/>
                                            </a:solidFill>
                                            <a:effectLst/>
                                            <a:latin typeface="Cambria Math" panose="02040503050406030204" pitchFamily="18" charset="0"/>
                                          </a:rPr>
                                          <m:t>(2.5</m:t>
                                        </m:r>
                                      </m:e>
                                      <m:sup>
                                        <m:r>
                                          <a:rPr lang="en-US" sz="1200">
                                            <a:solidFill>
                                              <a:schemeClr val="tx1"/>
                                            </a:solidFill>
                                            <a:effectLst/>
                                            <a:latin typeface="Cambria Math" panose="02040503050406030204" pitchFamily="18" charset="0"/>
                                          </a:rPr>
                                          <m:t>2</m:t>
                                        </m:r>
                                      </m:sup>
                                    </m:sSup>
                                    <m:r>
                                      <a:rPr lang="en-US" sz="1200">
                                        <a:solidFill>
                                          <a:schemeClr val="tx1"/>
                                        </a:solidFill>
                                        <a:effectLst/>
                                        <a:latin typeface="Cambria Math" panose="02040503050406030204" pitchFamily="18" charset="0"/>
                                      </a:rPr>
                                      <m:t>)</m:t>
                                    </m:r>
                                  </m:e>
                                  <m:sup>
                                    <m:r>
                                      <a:rPr lang="en-US" sz="1200">
                                        <a:solidFill>
                                          <a:schemeClr val="tx1"/>
                                        </a:solidFill>
                                        <a:effectLst/>
                                        <a:latin typeface="Cambria Math" panose="02040503050406030204" pitchFamily="18" charset="0"/>
                                      </a:rPr>
                                      <m:t>−1 </m:t>
                                    </m:r>
                                  </m:sup>
                                </m:sSup>
                              </m:oMath>
                            </m:oMathPara>
                          </a14:m>
                          <a:endParaRPr lang="en-US" sz="800" dirty="0">
                            <a:solidFill>
                              <a:schemeClr val="tx1"/>
                            </a:solidFill>
                            <a:effectLst/>
                          </a:endParaRPr>
                        </a:p>
                        <a:p>
                          <a:pPr marL="895350" marR="0">
                            <a:spcBef>
                              <a:spcPts val="0"/>
                            </a:spcBef>
                            <a:spcAft>
                              <a:spcPts val="0"/>
                            </a:spcAft>
                          </a:pPr>
                          <a:r>
                            <a:rPr lang="en-US" sz="1200" dirty="0">
                              <a:solidFill>
                                <a:schemeClr val="tx1"/>
                              </a:solidFill>
                              <a:effectLst/>
                            </a:rPr>
                            <a:t> </a:t>
                          </a:r>
                          <a:endParaRPr lang="en-US" sz="800" dirty="0">
                            <a:solidFill>
                              <a:schemeClr val="tx1"/>
                            </a:solidFill>
                            <a:effectLst/>
                          </a:endParaRPr>
                        </a:p>
                        <a:p>
                          <a:pPr marL="895350" marR="0">
                            <a:spcBef>
                              <a:spcPts val="0"/>
                            </a:spcBef>
                            <a:spcAft>
                              <a:spcPts val="0"/>
                            </a:spcAft>
                          </a:pPr>
                          <a:r>
                            <a:rPr lang="en-US" sz="1200" dirty="0">
                              <a:solidFill>
                                <a:schemeClr val="tx1"/>
                              </a:solidFill>
                              <a:effectLst/>
                            </a:rPr>
                            <a:t> </a:t>
                          </a:r>
                          <a:endParaRPr lang="en-US" sz="800" dirty="0">
                            <a:solidFill>
                              <a:schemeClr val="tx1"/>
                            </a:solidFill>
                            <a:effectLst/>
                          </a:endParaRPr>
                        </a:p>
                        <a:p>
                          <a:pPr marL="895350" marR="0">
                            <a:spcBef>
                              <a:spcPts val="0"/>
                            </a:spcBef>
                            <a:spcAft>
                              <a:spcPts val="0"/>
                            </a:spcAft>
                          </a:pPr>
                          <a14:m>
                            <m:oMathPara xmlns:m="http://schemas.openxmlformats.org/officeDocument/2006/math">
                              <m:oMathParaPr>
                                <m:jc m:val="centerGroup"/>
                              </m:oMathParaPr>
                              <m:oMath xmlns:m="http://schemas.openxmlformats.org/officeDocument/2006/math">
                                <m:r>
                                  <a:rPr lang="en-US" sz="1200">
                                    <a:solidFill>
                                      <a:schemeClr val="tx1"/>
                                    </a:solidFill>
                                    <a:effectLst/>
                                    <a:latin typeface="Cambria Math" panose="02040503050406030204" pitchFamily="18" charset="0"/>
                                  </a:rPr>
                                  <m:t>=</m:t>
                                </m:r>
                                <m:sSup>
                                  <m:sSupPr>
                                    <m:ctrlPr>
                                      <a:rPr lang="en-US" sz="1200" i="1">
                                        <a:solidFill>
                                          <a:schemeClr val="tx1"/>
                                        </a:solidFill>
                                        <a:effectLst/>
                                        <a:latin typeface="Cambria Math" panose="02040503050406030204" pitchFamily="18" charset="0"/>
                                      </a:rPr>
                                    </m:ctrlPr>
                                  </m:sSupPr>
                                  <m:e>
                                    <m:d>
                                      <m:dPr>
                                        <m:ctrlPr>
                                          <a:rPr lang="en-US" sz="1200" i="1">
                                            <a:solidFill>
                                              <a:schemeClr val="tx1"/>
                                            </a:solidFill>
                                            <a:effectLst/>
                                            <a:latin typeface="Cambria Math" panose="02040503050406030204" pitchFamily="18" charset="0"/>
                                          </a:rPr>
                                        </m:ctrlPr>
                                      </m:dPr>
                                      <m:e>
                                        <m:r>
                                          <a:rPr lang="en-US" sz="1200">
                                            <a:solidFill>
                                              <a:schemeClr val="tx1"/>
                                            </a:solidFill>
                                            <a:effectLst/>
                                            <a:latin typeface="Cambria Math" panose="02040503050406030204" pitchFamily="18" charset="0"/>
                                          </a:rPr>
                                          <m:t>2.5</m:t>
                                        </m:r>
                                      </m:e>
                                    </m:d>
                                  </m:e>
                                  <m:sup>
                                    <m:r>
                                      <a:rPr lang="en-US" sz="1200">
                                        <a:solidFill>
                                          <a:schemeClr val="tx1"/>
                                        </a:solidFill>
                                        <a:effectLst/>
                                        <a:latin typeface="Cambria Math" panose="02040503050406030204" pitchFamily="18" charset="0"/>
                                      </a:rPr>
                                      <m:t>−2</m:t>
                                    </m:r>
                                  </m:sup>
                                </m:sSup>
                              </m:oMath>
                            </m:oMathPara>
                          </a14:m>
                          <a:endParaRPr lang="en-US" sz="800" dirty="0">
                            <a:solidFill>
                              <a:schemeClr val="tx1"/>
                            </a:solidFill>
                            <a:effectLst/>
                          </a:endParaRPr>
                        </a:p>
                        <a:p>
                          <a:pPr marL="895350" marR="0">
                            <a:spcBef>
                              <a:spcPts val="0"/>
                            </a:spcBef>
                            <a:spcAft>
                              <a:spcPts val="0"/>
                            </a:spcAft>
                          </a:pPr>
                          <a:r>
                            <a:rPr lang="en-US" sz="1200" dirty="0">
                              <a:solidFill>
                                <a:schemeClr val="tx1"/>
                              </a:solidFill>
                              <a:effectLst/>
                            </a:rPr>
                            <a:t> </a:t>
                          </a:r>
                          <a:endParaRPr lang="en-US" sz="800" dirty="0">
                            <a:solidFill>
                              <a:schemeClr val="tx1"/>
                            </a:solidFill>
                            <a:effectLst/>
                          </a:endParaRPr>
                        </a:p>
                        <a:p>
                          <a:pPr marL="895350" marR="0">
                            <a:spcBef>
                              <a:spcPts val="0"/>
                            </a:spcBef>
                            <a:spcAft>
                              <a:spcPts val="0"/>
                            </a:spcAft>
                          </a:pPr>
                          <a14:m>
                            <m:oMath xmlns:m="http://schemas.openxmlformats.org/officeDocument/2006/math">
                              <m:r>
                                <a:rPr lang="en-US" sz="1200">
                                  <a:solidFill>
                                    <a:schemeClr val="tx1"/>
                                  </a:solidFill>
                                  <a:effectLst/>
                                  <a:latin typeface="Cambria Math" panose="02040503050406030204" pitchFamily="18" charset="0"/>
                                </a:rPr>
                                <m:t>=</m:t>
                              </m:r>
                              <m:sSup>
                                <m:sSupPr>
                                  <m:ctrlPr>
                                    <a:rPr lang="en-US" sz="1200" i="1">
                                      <a:solidFill>
                                        <a:schemeClr val="tx1"/>
                                      </a:solidFill>
                                      <a:effectLst/>
                                      <a:latin typeface="Cambria Math" panose="02040503050406030204" pitchFamily="18" charset="0"/>
                                    </a:rPr>
                                  </m:ctrlPr>
                                </m:sSupPr>
                                <m:e>
                                  <m:d>
                                    <m:dPr>
                                      <m:ctrlPr>
                                        <a:rPr lang="en-US" sz="1200" i="1">
                                          <a:solidFill>
                                            <a:schemeClr val="tx1"/>
                                          </a:solidFill>
                                          <a:effectLst/>
                                          <a:latin typeface="Cambria Math" panose="02040503050406030204" pitchFamily="18" charset="0"/>
                                        </a:rPr>
                                      </m:ctrlPr>
                                    </m:dPr>
                                    <m:e>
                                      <m:f>
                                        <m:fPr>
                                          <m:ctrlPr>
                                            <a:rPr lang="en-US" sz="1200" i="1">
                                              <a:solidFill>
                                                <a:schemeClr val="tx1"/>
                                              </a:solidFill>
                                              <a:effectLst/>
                                              <a:latin typeface="Cambria Math" panose="02040503050406030204" pitchFamily="18" charset="0"/>
                                            </a:rPr>
                                          </m:ctrlPr>
                                        </m:fPr>
                                        <m:num>
                                          <m:r>
                                            <a:rPr lang="en-US" sz="1200">
                                              <a:solidFill>
                                                <a:schemeClr val="tx1"/>
                                              </a:solidFill>
                                              <a:effectLst/>
                                              <a:latin typeface="Cambria Math" panose="02040503050406030204" pitchFamily="18" charset="0"/>
                                            </a:rPr>
                                            <m:t>5</m:t>
                                          </m:r>
                                        </m:num>
                                        <m:den>
                                          <m:r>
                                            <a:rPr lang="en-US" sz="1200">
                                              <a:solidFill>
                                                <a:schemeClr val="tx1"/>
                                              </a:solidFill>
                                              <a:effectLst/>
                                              <a:latin typeface="Cambria Math" panose="02040503050406030204" pitchFamily="18" charset="0"/>
                                            </a:rPr>
                                            <m:t>2</m:t>
                                          </m:r>
                                        </m:den>
                                      </m:f>
                                    </m:e>
                                  </m:d>
                                </m:e>
                                <m:sup>
                                  <m:r>
                                    <a:rPr lang="en-US" sz="1200">
                                      <a:solidFill>
                                        <a:schemeClr val="tx1"/>
                                      </a:solidFill>
                                      <a:effectLst/>
                                      <a:latin typeface="Cambria Math" panose="02040503050406030204" pitchFamily="18" charset="0"/>
                                    </a:rPr>
                                    <m:t>−2</m:t>
                                  </m:r>
                                </m:sup>
                              </m:sSup>
                            </m:oMath>
                          </a14:m>
                          <a:r>
                            <a:rPr lang="en-US" sz="1200" dirty="0">
                              <a:solidFill>
                                <a:schemeClr val="tx1"/>
                              </a:solidFill>
                              <a:effectLst/>
                            </a:rPr>
                            <a:t> </a:t>
                          </a:r>
                          <a:endParaRPr lang="en-US" sz="800" dirty="0">
                            <a:solidFill>
                              <a:schemeClr val="tx1"/>
                            </a:solidFill>
                            <a:effectLst/>
                          </a:endParaRPr>
                        </a:p>
                        <a:p>
                          <a:pPr marL="895350" marR="0">
                            <a:lnSpc>
                              <a:spcPct val="150000"/>
                            </a:lnSpc>
                            <a:spcBef>
                              <a:spcPts val="0"/>
                            </a:spcBef>
                            <a:spcAft>
                              <a:spcPts val="0"/>
                            </a:spcAft>
                          </a:pPr>
                          <a:r>
                            <a:rPr lang="en-US" sz="1200" dirty="0">
                              <a:solidFill>
                                <a:schemeClr val="tx1"/>
                              </a:solidFill>
                              <a:effectLst/>
                            </a:rPr>
                            <a:t> </a:t>
                          </a:r>
                          <a:endParaRPr lang="en-US" sz="800" dirty="0">
                            <a:solidFill>
                              <a:schemeClr val="tx1"/>
                            </a:solidFill>
                            <a:effectLst/>
                          </a:endParaRPr>
                        </a:p>
                        <a:p>
                          <a:pPr marL="895350" marR="0">
                            <a:spcBef>
                              <a:spcPts val="0"/>
                            </a:spcBef>
                            <a:spcAft>
                              <a:spcPts val="0"/>
                            </a:spcAft>
                          </a:pPr>
                          <a14:m>
                            <m:oMathPara xmlns:m="http://schemas.openxmlformats.org/officeDocument/2006/math">
                              <m:oMathParaPr>
                                <m:jc m:val="centerGroup"/>
                              </m:oMathParaPr>
                              <m:oMath xmlns:m="http://schemas.openxmlformats.org/officeDocument/2006/math">
                                <m:r>
                                  <a:rPr lang="en-US" sz="1200">
                                    <a:solidFill>
                                      <a:schemeClr val="tx1"/>
                                    </a:solidFill>
                                    <a:effectLst/>
                                    <a:latin typeface="Cambria Math" panose="02040503050406030204" pitchFamily="18" charset="0"/>
                                  </a:rPr>
                                  <m:t>=</m:t>
                                </m:r>
                              </m:oMath>
                            </m:oMathPara>
                          </a14:m>
                          <a:endParaRPr lang="en-US" sz="800" dirty="0">
                            <a:solidFill>
                              <a:schemeClr val="tx1"/>
                            </a:solidFill>
                            <a:effectLst/>
                          </a:endParaRPr>
                        </a:p>
                        <a:p>
                          <a:pPr marL="895350" marR="0">
                            <a:spcBef>
                              <a:spcPts val="0"/>
                            </a:spcBef>
                            <a:spcAft>
                              <a:spcPts val="0"/>
                            </a:spcAft>
                          </a:pPr>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00"/>
                            </a:spcBef>
                            <a:spcAft>
                              <a:spcPts val="0"/>
                            </a:spcAft>
                          </a:pPr>
                          <a14:m>
                            <m:oMath xmlns:m="http://schemas.openxmlformats.org/officeDocument/2006/math">
                              <m:sSup>
                                <m:sSupPr>
                                  <m:ctrlPr>
                                    <a:rPr lang="en-US" sz="1200" i="1" smtClean="0">
                                      <a:solidFill>
                                        <a:schemeClr val="tx1"/>
                                      </a:solidFill>
                                      <a:effectLst/>
                                      <a:latin typeface="Cambria Math" panose="02040503050406030204" pitchFamily="18" charset="0"/>
                                    </a:rPr>
                                  </m:ctrlPr>
                                </m:sSupPr>
                                <m:e>
                                  <m:d>
                                    <m:dPr>
                                      <m:ctrlPr>
                                        <a:rPr lang="en-US" sz="1200" i="1">
                                          <a:solidFill>
                                            <a:schemeClr val="tx1"/>
                                          </a:solidFill>
                                          <a:effectLst/>
                                          <a:latin typeface="Cambria Math" panose="02040503050406030204" pitchFamily="18" charset="0"/>
                                        </a:rPr>
                                      </m:ctrlPr>
                                    </m:dPr>
                                    <m:e>
                                      <m:f>
                                        <m:fPr>
                                          <m:ctrlPr>
                                            <a:rPr lang="en-US" sz="1200" i="1">
                                              <a:solidFill>
                                                <a:schemeClr val="tx1"/>
                                              </a:solidFill>
                                              <a:effectLst/>
                                              <a:latin typeface="Cambria Math" panose="02040503050406030204" pitchFamily="18" charset="0"/>
                                            </a:rPr>
                                          </m:ctrlPr>
                                        </m:fPr>
                                        <m:num>
                                          <m:sSup>
                                            <m:sSupPr>
                                              <m:ctrlPr>
                                                <a:rPr lang="en-US" sz="1200" i="1">
                                                  <a:solidFill>
                                                    <a:schemeClr val="tx1"/>
                                                  </a:solidFill>
                                                  <a:effectLst/>
                                                  <a:latin typeface="Cambria Math" panose="02040503050406030204" pitchFamily="18" charset="0"/>
                                                </a:rPr>
                                              </m:ctrlPr>
                                            </m:sSupPr>
                                            <m:e>
                                              <m:r>
                                                <a:rPr lang="en-US" sz="1200">
                                                  <a:solidFill>
                                                    <a:schemeClr val="tx1"/>
                                                  </a:solidFill>
                                                  <a:effectLst/>
                                                  <a:latin typeface="Cambria Math" panose="02040503050406030204" pitchFamily="18" charset="0"/>
                                                </a:rPr>
                                                <m:t>2.5</m:t>
                                              </m:r>
                                            </m:e>
                                            <m:sup>
                                              <m:r>
                                                <a:rPr lang="en-US" sz="1200">
                                                  <a:solidFill>
                                                    <a:schemeClr val="tx1"/>
                                                  </a:solidFill>
                                                  <a:effectLst/>
                                                  <a:latin typeface="Cambria Math" panose="02040503050406030204" pitchFamily="18" charset="0"/>
                                                </a:rPr>
                                                <m:t>5</m:t>
                                              </m:r>
                                            </m:sup>
                                          </m:sSup>
                                        </m:num>
                                        <m:den>
                                          <m:sSup>
                                            <m:sSupPr>
                                              <m:ctrlPr>
                                                <a:rPr lang="en-US" sz="1200" i="1">
                                                  <a:solidFill>
                                                    <a:schemeClr val="tx1"/>
                                                  </a:solidFill>
                                                  <a:effectLst/>
                                                  <a:latin typeface="Cambria Math" panose="02040503050406030204" pitchFamily="18" charset="0"/>
                                                </a:rPr>
                                              </m:ctrlPr>
                                            </m:sSupPr>
                                            <m:e>
                                              <m:r>
                                                <a:rPr lang="en-US" sz="1200">
                                                  <a:solidFill>
                                                    <a:schemeClr val="tx1"/>
                                                  </a:solidFill>
                                                  <a:effectLst/>
                                                  <a:latin typeface="Cambria Math" panose="02040503050406030204" pitchFamily="18" charset="0"/>
                                                </a:rPr>
                                                <m:t>2.5</m:t>
                                              </m:r>
                                            </m:e>
                                            <m:sup>
                                              <m:r>
                                                <a:rPr lang="en-US" sz="1200">
                                                  <a:solidFill>
                                                    <a:schemeClr val="tx1"/>
                                                  </a:solidFill>
                                                  <a:effectLst/>
                                                  <a:latin typeface="Cambria Math" panose="02040503050406030204" pitchFamily="18" charset="0"/>
                                                </a:rPr>
                                                <m:t>3</m:t>
                                              </m:r>
                                            </m:sup>
                                          </m:sSup>
                                        </m:den>
                                      </m:f>
                                    </m:e>
                                  </m:d>
                                </m:e>
                                <m:sup>
                                  <m:r>
                                    <a:rPr lang="en-US" sz="1200">
                                      <a:solidFill>
                                        <a:schemeClr val="tx1"/>
                                      </a:solidFill>
                                      <a:effectLst/>
                                      <a:latin typeface="Cambria Math" panose="02040503050406030204" pitchFamily="18" charset="0"/>
                                    </a:rPr>
                                    <m:t>−1</m:t>
                                  </m:r>
                                </m:sup>
                              </m:sSup>
                            </m:oMath>
                          </a14:m>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1022350" marR="0">
                            <a:spcBef>
                              <a:spcPts val="0"/>
                            </a:spcBef>
                            <a:spcAft>
                              <a:spcPts val="0"/>
                            </a:spcAft>
                          </a:pPr>
                          <a14:m>
                            <m:oMath xmlns:m="http://schemas.openxmlformats.org/officeDocument/2006/math">
                              <m:r>
                                <a:rPr lang="en-US" sz="1200">
                                  <a:solidFill>
                                    <a:schemeClr val="tx1"/>
                                  </a:solidFill>
                                  <a:effectLst/>
                                  <a:latin typeface="Cambria Math" panose="02040503050406030204" pitchFamily="18" charset="0"/>
                                </a:rPr>
                                <m:t>=</m:t>
                              </m:r>
                              <m:f>
                                <m:fPr>
                                  <m:ctrlPr>
                                    <a:rPr lang="en-US" sz="1200" i="1">
                                      <a:solidFill>
                                        <a:schemeClr val="tx1"/>
                                      </a:solidFill>
                                      <a:effectLst/>
                                      <a:latin typeface="Cambria Math" panose="02040503050406030204" pitchFamily="18" charset="0"/>
                                    </a:rPr>
                                  </m:ctrlPr>
                                </m:fPr>
                                <m:num>
                                  <m:sSup>
                                    <m:sSupPr>
                                      <m:ctrlPr>
                                        <a:rPr lang="en-US" sz="1200" i="1">
                                          <a:solidFill>
                                            <a:schemeClr val="tx1"/>
                                          </a:solidFill>
                                          <a:effectLst/>
                                          <a:latin typeface="Cambria Math" panose="02040503050406030204" pitchFamily="18" charset="0"/>
                                        </a:rPr>
                                      </m:ctrlPr>
                                    </m:sSupPr>
                                    <m:e>
                                      <m:r>
                                        <a:rPr lang="en-US" sz="1200">
                                          <a:solidFill>
                                            <a:schemeClr val="tx1"/>
                                          </a:solidFill>
                                          <a:effectLst/>
                                          <a:latin typeface="Cambria Math" panose="02040503050406030204" pitchFamily="18" charset="0"/>
                                        </a:rPr>
                                        <m:t>(2.5)</m:t>
                                      </m:r>
                                    </m:e>
                                    <m:sup>
                                      <m:r>
                                        <a:rPr lang="en-US" sz="1200">
                                          <a:solidFill>
                                            <a:schemeClr val="tx1"/>
                                          </a:solidFill>
                                          <a:effectLst/>
                                          <a:latin typeface="Cambria Math" panose="02040503050406030204" pitchFamily="18" charset="0"/>
                                        </a:rPr>
                                        <m:t>−5</m:t>
                                      </m:r>
                                    </m:sup>
                                  </m:sSup>
                                </m:num>
                                <m:den>
                                  <m:sSup>
                                    <m:sSupPr>
                                      <m:ctrlPr>
                                        <a:rPr lang="en-US" sz="1200" i="1">
                                          <a:solidFill>
                                            <a:schemeClr val="tx1"/>
                                          </a:solidFill>
                                          <a:effectLst/>
                                          <a:latin typeface="Cambria Math" panose="02040503050406030204" pitchFamily="18" charset="0"/>
                                        </a:rPr>
                                      </m:ctrlPr>
                                    </m:sSupPr>
                                    <m:e>
                                      <m:r>
                                        <a:rPr lang="en-US" sz="1200">
                                          <a:solidFill>
                                            <a:schemeClr val="tx1"/>
                                          </a:solidFill>
                                          <a:effectLst/>
                                          <a:latin typeface="Cambria Math" panose="02040503050406030204" pitchFamily="18" charset="0"/>
                                        </a:rPr>
                                        <m:t>(2.5)</m:t>
                                      </m:r>
                                    </m:e>
                                    <m:sup>
                                      <m:r>
                                        <a:rPr lang="en-US" sz="1200">
                                          <a:solidFill>
                                            <a:schemeClr val="tx1"/>
                                          </a:solidFill>
                                          <a:effectLst/>
                                          <a:latin typeface="Cambria Math" panose="02040503050406030204" pitchFamily="18" charset="0"/>
                                        </a:rPr>
                                        <m:t>−3</m:t>
                                      </m:r>
                                    </m:sup>
                                  </m:sSup>
                                </m:den>
                              </m:f>
                            </m:oMath>
                          </a14:m>
                          <a:r>
                            <a:rPr lang="en-US" sz="1200" dirty="0">
                              <a:solidFill>
                                <a:schemeClr val="tx1"/>
                              </a:solidFill>
                              <a:effectLst/>
                            </a:rPr>
                            <a:t> </a:t>
                          </a:r>
                          <a:endParaRPr lang="en-US" sz="800" dirty="0">
                            <a:solidFill>
                              <a:schemeClr val="tx1"/>
                            </a:solidFill>
                            <a:effectLst/>
                          </a:endParaRPr>
                        </a:p>
                        <a:p>
                          <a:pPr marL="1022350" marR="0">
                            <a:spcBef>
                              <a:spcPts val="0"/>
                            </a:spcBef>
                            <a:spcAft>
                              <a:spcPts val="0"/>
                            </a:spcAft>
                          </a:pPr>
                          <a:r>
                            <a:rPr lang="en-US" sz="1200" dirty="0">
                              <a:solidFill>
                                <a:schemeClr val="tx1"/>
                              </a:solidFill>
                              <a:effectLst/>
                            </a:rPr>
                            <a:t> </a:t>
                          </a:r>
                          <a:endParaRPr lang="en-US" sz="800" dirty="0">
                            <a:solidFill>
                              <a:schemeClr val="tx1"/>
                            </a:solidFill>
                            <a:effectLst/>
                          </a:endParaRPr>
                        </a:p>
                        <a:p>
                          <a:pPr marL="1022350" marR="0">
                            <a:spcBef>
                              <a:spcPts val="0"/>
                            </a:spcBef>
                            <a:spcAft>
                              <a:spcPts val="0"/>
                            </a:spcAft>
                          </a:pPr>
                          <a14:m>
                            <m:oMathPara xmlns:m="http://schemas.openxmlformats.org/officeDocument/2006/math">
                              <m:oMathParaPr>
                                <m:jc m:val="centerGroup"/>
                              </m:oMathParaPr>
                              <m:oMath xmlns:m="http://schemas.openxmlformats.org/officeDocument/2006/math">
                                <m:r>
                                  <a:rPr lang="en-US" sz="1200">
                                    <a:solidFill>
                                      <a:schemeClr val="tx1"/>
                                    </a:solidFill>
                                    <a:effectLst/>
                                    <a:latin typeface="Cambria Math" panose="02040503050406030204" pitchFamily="18" charset="0"/>
                                  </a:rPr>
                                  <m:t>=</m:t>
                                </m:r>
                              </m:oMath>
                            </m:oMathPara>
                          </a14:m>
                          <a:endParaRPr lang="en-US" sz="800" dirty="0">
                            <a:solidFill>
                              <a:schemeClr val="tx1"/>
                            </a:solidFill>
                            <a:effectLst/>
                          </a:endParaRPr>
                        </a:p>
                        <a:p>
                          <a:pPr marL="1022350" marR="0">
                            <a:lnSpc>
                              <a:spcPct val="150000"/>
                            </a:lnSpc>
                            <a:spcBef>
                              <a:spcPts val="0"/>
                            </a:spcBef>
                            <a:spcAft>
                              <a:spcPts val="0"/>
                            </a:spcAft>
                          </a:pPr>
                          <a:r>
                            <a:rPr lang="en-US" sz="1200" dirty="0">
                              <a:solidFill>
                                <a:schemeClr val="tx1"/>
                              </a:solidFill>
                              <a:effectLst/>
                            </a:rPr>
                            <a:t> </a:t>
                          </a:r>
                          <a:endParaRPr lang="en-US" sz="800" dirty="0">
                            <a:solidFill>
                              <a:schemeClr val="tx1"/>
                            </a:solidFill>
                            <a:effectLst/>
                          </a:endParaRPr>
                        </a:p>
                        <a:p>
                          <a:pPr marL="1022350" marR="0">
                            <a:spcBef>
                              <a:spcPts val="0"/>
                            </a:spcBef>
                            <a:spcAft>
                              <a:spcPts val="0"/>
                            </a:spcAft>
                          </a:pPr>
                          <a14:m>
                            <m:oMathPara xmlns:m="http://schemas.openxmlformats.org/officeDocument/2006/math">
                              <m:oMathParaPr>
                                <m:jc m:val="centerGroup"/>
                              </m:oMathParaPr>
                              <m:oMath xmlns:m="http://schemas.openxmlformats.org/officeDocument/2006/math">
                                <m:r>
                                  <a:rPr lang="en-US" sz="1200">
                                    <a:solidFill>
                                      <a:schemeClr val="tx1"/>
                                    </a:solidFill>
                                    <a:effectLst/>
                                    <a:latin typeface="Cambria Math" panose="02040503050406030204" pitchFamily="18" charset="0"/>
                                  </a:rPr>
                                  <m:t>= </m:t>
                                </m:r>
                              </m:oMath>
                            </m:oMathPara>
                          </a14:m>
                          <a:endParaRPr lang="en-US" sz="800" dirty="0">
                            <a:solidFill>
                              <a:schemeClr val="tx1"/>
                            </a:solidFill>
                            <a:effectLst/>
                          </a:endParaRPr>
                        </a:p>
                        <a:p>
                          <a:pPr marL="0" marR="0">
                            <a:lnSpc>
                              <a:spcPct val="150000"/>
                            </a:lnSpc>
                            <a:spcBef>
                              <a:spcPts val="0"/>
                            </a:spcBef>
                            <a:spcAft>
                              <a:spcPts val="0"/>
                            </a:spcAft>
                          </a:pPr>
                          <a:r>
                            <a:rPr lang="en-US" sz="1200" dirty="0">
                              <a:solidFill>
                                <a:schemeClr val="tx1"/>
                              </a:solidFill>
                              <a:effectLst/>
                            </a:rPr>
                            <a:t> </a:t>
                          </a:r>
                          <a:endParaRPr lang="en-US" sz="800" dirty="0">
                            <a:solidFill>
                              <a:schemeClr val="tx1"/>
                            </a:solidFill>
                            <a:effectLst/>
                          </a:endParaRPr>
                        </a:p>
                        <a:p>
                          <a:pPr marL="1022350" marR="0">
                            <a:spcBef>
                              <a:spcPts val="0"/>
                            </a:spcBef>
                            <a:spcAft>
                              <a:spcPts val="0"/>
                            </a:spcAft>
                          </a:pPr>
                          <a14:m>
                            <m:oMathPara xmlns:m="http://schemas.openxmlformats.org/officeDocument/2006/math">
                              <m:oMathParaPr>
                                <m:jc m:val="centerGroup"/>
                              </m:oMathParaPr>
                              <m:oMath xmlns:m="http://schemas.openxmlformats.org/officeDocument/2006/math">
                                <m:r>
                                  <a:rPr lang="en-US" sz="1200">
                                    <a:solidFill>
                                      <a:schemeClr val="tx1"/>
                                    </a:solidFill>
                                    <a:effectLst/>
                                    <a:latin typeface="Cambria Math" panose="02040503050406030204" pitchFamily="18" charset="0"/>
                                  </a:rPr>
                                  <m:t>=</m:t>
                                </m:r>
                              </m:oMath>
                            </m:oMathPara>
                          </a14:m>
                          <a:endParaRPr lang="en-US" sz="8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140384"/>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A28E300F-7CD5-0345-B061-054B7D77277D}"/>
                  </a:ext>
                </a:extLst>
              </p:cNvPr>
              <p:cNvGraphicFramePr>
                <a:graphicFrameLocks noGrp="1"/>
              </p:cNvGraphicFramePr>
              <p:nvPr>
                <p:extLst>
                  <p:ext uri="{D42A27DB-BD31-4B8C-83A1-F6EECF244321}">
                    <p14:modId xmlns:p14="http://schemas.microsoft.com/office/powerpoint/2010/main" val="1492056299"/>
                  </p:ext>
                </p:extLst>
              </p:nvPr>
            </p:nvGraphicFramePr>
            <p:xfrm>
              <a:off x="5957124" y="1386025"/>
              <a:ext cx="4850576" cy="5071774"/>
            </p:xfrm>
            <a:graphic>
              <a:graphicData uri="http://schemas.openxmlformats.org/drawingml/2006/table">
                <a:tbl>
                  <a:tblPr firstRow="1" firstCol="1" bandRow="1">
                    <a:tableStyleId>{F2DE63D5-997A-4646-A377-4702673A728D}</a:tableStyleId>
                  </a:tblPr>
                  <a:tblGrid>
                    <a:gridCol w="2425288">
                      <a:extLst>
                        <a:ext uri="{9D8B030D-6E8A-4147-A177-3AD203B41FA5}">
                          <a16:colId xmlns:a16="http://schemas.microsoft.com/office/drawing/2014/main" xmlns:a14="http://schemas.microsoft.com/office/drawing/2010/main" xmlns="" val="2442575806"/>
                        </a:ext>
                      </a:extLst>
                    </a:gridCol>
                    <a:gridCol w="2425288">
                      <a:extLst>
                        <a:ext uri="{9D8B030D-6E8A-4147-A177-3AD203B41FA5}">
                          <a16:colId xmlns:a16="http://schemas.microsoft.com/office/drawing/2014/main" xmlns:a14="http://schemas.microsoft.com/office/drawing/2010/main" xmlns="" val="1471561682"/>
                        </a:ext>
                      </a:extLst>
                    </a:gridCol>
                  </a:tblGrid>
                  <a:tr h="272402">
                    <a:tc>
                      <a:txBody>
                        <a:bodyPr/>
                        <a:lstStyle/>
                        <a:p>
                          <a:pPr marL="0" marR="0" algn="ctr">
                            <a:spcBef>
                              <a:spcPts val="0"/>
                            </a:spcBef>
                            <a:spcAft>
                              <a:spcPts val="0"/>
                            </a:spcAft>
                          </a:pPr>
                          <a:r>
                            <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rPr>
                            <a:t>Fernanda</a:t>
                          </a:r>
                          <a:endParaRPr lang="en-US" sz="8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rPr>
                            <a:t>Junior</a:t>
                          </a:r>
                          <a:endParaRPr lang="en-US" sz="8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4569741"/>
                      </a:ext>
                    </a:extLst>
                  </a:tr>
                  <a:tr h="1879207">
                    <a:tc>
                      <a:txBody>
                        <a:bodyPr/>
                        <a:lstStyle/>
                        <a:p>
                          <a:pPr marL="0" marR="0">
                            <a:spcBef>
                              <a:spcPts val="0"/>
                            </a:spcBef>
                            <a:spcAft>
                              <a:spcPts val="0"/>
                            </a:spcAft>
                          </a:pP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 </a:t>
                          </a: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power</a:t>
                          </a: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Finally, I will re-write the decimal as a fraction and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negative</a:t>
                          </a:r>
                          <a:r>
                            <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a:t>
                          </a:r>
                          <a:endParaRPr lang="en-US" sz="8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power of a quotient </a:t>
                          </a: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quotient of powers</a:t>
                          </a: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Finally, I will re-write the decimal as a fraction and apply the </a:t>
                          </a:r>
                          <a:r>
                            <a:rPr lang="en-US" sz="12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negative</a:t>
                          </a: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exponent law. </a:t>
                          </a:r>
                          <a:endParaRPr lang="en-US" sz="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90965376"/>
                      </a:ext>
                    </a:extLst>
                  </a:tr>
                  <a:tr h="2920165">
                    <a:tc>
                      <a:txBody>
                        <a:bodyPr/>
                        <a:lstStyle/>
                        <a:p>
                          <a:endParaRPr lang="en-US"/>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251" t="-73750" r="-100503" b="-417"/>
                          </a:stretch>
                        </a:blipFill>
                      </a:tcPr>
                    </a:tc>
                    <a:tc>
                      <a:txBody>
                        <a:bodyPr/>
                        <a:lstStyle/>
                        <a:p>
                          <a:endParaRPr lang="en-US"/>
                        </a:p>
                      </a:txBody>
                      <a:tcPr marL="44735" marR="447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100251" t="-73750" r="-503" b="-417"/>
                          </a:stretch>
                        </a:blipFill>
                      </a:tcPr>
                    </a:tc>
                    <a:extLst>
                      <a:ext uri="{0D108BD9-81ED-4DB2-BD59-A6C34878D82A}">
                        <a16:rowId xmlns:a16="http://schemas.microsoft.com/office/drawing/2014/main" xmlns:a14="http://schemas.microsoft.com/office/drawing/2010/main" xmlns="" val="3420140384"/>
                      </a:ext>
                    </a:extLst>
                  </a:tr>
                </a:tbl>
              </a:graphicData>
            </a:graphic>
          </p:graphicFrame>
        </mc:Fallback>
      </mc:AlternateContent>
      <p:sp>
        <p:nvSpPr>
          <p:cNvPr id="9"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126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447800" y="410665"/>
            <a:ext cx="9588500" cy="3754834"/>
          </a:xfrm>
          <a:prstGeom prst="rect">
            <a:avLst/>
          </a:prstGeom>
          <a:noFill/>
          <a:ln>
            <a:noFill/>
          </a:ln>
        </p:spPr>
        <p:txBody>
          <a:bodyPr spcFirstLastPara="1" wrap="square" lIns="91425" tIns="45700" rIns="91425" bIns="45700" anchor="t" anchorCtr="0">
            <a:spAutoFit/>
          </a:bodyPr>
          <a:lstStyle/>
          <a:p>
            <a:pPr marL="922338" indent="-630238">
              <a:buFont typeface="+mj-lt"/>
              <a:buAutoNum type="alphaLcPeriod" startAt="2"/>
            </a:pPr>
            <a:r>
              <a:rPr lang="en-US" sz="2800" dirty="0">
                <a:latin typeface="Verdana" panose="020B0604030504040204" pitchFamily="34" charset="0"/>
                <a:ea typeface="Verdana" panose="020B0604030504040204" pitchFamily="34" charset="0"/>
                <a:cs typeface="Verdana" panose="020B0604030504040204" pitchFamily="34" charset="0"/>
              </a:rPr>
              <a:t>Explain which method you prefer.</a:t>
            </a:r>
          </a:p>
          <a:p>
            <a:pPr marL="342900" indent="-342900">
              <a:buFont typeface="+mj-lt"/>
              <a:buAutoNum type="alphaLcPeriod" startAt="2"/>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976313" indent="-630238">
              <a:buFont typeface="+mj-lt"/>
              <a:buAutoNum type="alphaLcPeriod" startAt="2"/>
              <a:tabLst>
                <a:tab pos="334963" algn="l"/>
              </a:tabLst>
            </a:pPr>
            <a:r>
              <a:rPr lang="en-US" sz="2800" dirty="0">
                <a:latin typeface="Verdana" panose="020B0604030504040204" pitchFamily="34" charset="0"/>
                <a:ea typeface="Verdana" panose="020B0604030504040204" pitchFamily="34" charset="0"/>
                <a:cs typeface="Verdana" panose="020B0604030504040204" pitchFamily="34" charset="0"/>
              </a:rPr>
              <a:t>Ask your partner which method they prefer. Summarize your partner’s explanation.</a:t>
            </a:r>
          </a:p>
          <a:p>
            <a:pPr marL="342900" indent="-342900">
              <a:buFont typeface="+mj-lt"/>
              <a:buAutoNum type="alphaLcPeriod" startAt="2"/>
            </a:pPr>
            <a:endParaRPr dirty="0"/>
          </a:p>
        </p:txBody>
      </p:sp>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127</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698206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26634"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3.5.4 Collaboration: Equivalent Expressions</a:t>
            </a:r>
            <a:endParaRPr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6826" y="348271"/>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99" name="Google Shape;199;p7"/>
              <p:cNvSpPr txBox="1"/>
              <p:nvPr/>
            </p:nvSpPr>
            <p:spPr>
              <a:xfrm>
                <a:off x="1426635" y="1386025"/>
                <a:ext cx="4608896" cy="3715336"/>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m:t>
                                    </m:r>
                                  </m:den>
                                </m:f>
                              </m:e>
                            </m:d>
                          </m:e>
                          <m:sup>
                            <m:r>
                              <a:rPr lang="en-US" sz="2000" i="1">
                                <a:latin typeface="Cambria Math" panose="02040503050406030204" pitchFamily="18" charset="0"/>
                              </a:rPr>
                              <m:t>3</m:t>
                            </m:r>
                          </m:sup>
                        </m:sSup>
                      </m:num>
                      <m:den>
                        <m:sSup>
                          <m:sSupPr>
                            <m:ctrlPr>
                              <a:rPr lang="en-US" sz="2000" i="1">
                                <a:latin typeface="Cambria Math" panose="02040503050406030204" pitchFamily="18" charset="0"/>
                              </a:rPr>
                            </m:ctrlPr>
                          </m:sSupPr>
                          <m:e>
                            <m:r>
                              <a:rPr lang="en-US" sz="2000" i="1">
                                <a:latin typeface="Cambria Math" panose="02040503050406030204" pitchFamily="18" charset="0"/>
                              </a:rPr>
                              <m:t>6</m:t>
                            </m:r>
                          </m:e>
                          <m:sup>
                            <m:r>
                              <a:rPr lang="en-US" sz="2000" i="1">
                                <a:latin typeface="Cambria Math" panose="02040503050406030204" pitchFamily="18" charset="0"/>
                              </a:rPr>
                              <m:t>−5</m:t>
                            </m:r>
                          </m:sup>
                        </m:sSup>
                      </m:den>
                    </m:f>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6</m:t>
                        </m:r>
                      </m:e>
                      <m:sup>
                        <m:r>
                          <a:rPr lang="en-US" sz="2000" i="1">
                            <a:latin typeface="Cambria Math" panose="02040503050406030204" pitchFamily="18" charset="0"/>
                          </a:rPr>
                          <m:t>4</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6075"/>
                <a:r>
                  <a:rPr lang="en-US" sz="2000" dirty="0">
                    <a:latin typeface="Verdana" panose="020B0604030504040204" pitchFamily="34" charset="0"/>
                    <a:ea typeface="Verdana" panose="020B0604030504040204" pitchFamily="34" charset="0"/>
                    <a:cs typeface="Verdana" panose="020B0604030504040204" pitchFamily="34" charset="0"/>
                  </a:rPr>
                  <a:t>For each expression, work with your partner to determine if it is equivalent to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m:t>
                                    </m:r>
                                  </m:den>
                                </m:f>
                              </m:e>
                            </m:d>
                          </m:e>
                          <m:sup>
                            <m:r>
                              <a:rPr lang="en-US" sz="2000" i="1">
                                <a:latin typeface="Cambria Math" panose="02040503050406030204" pitchFamily="18" charset="0"/>
                              </a:rPr>
                              <m:t>3</m:t>
                            </m:r>
                          </m:sup>
                        </m:sSup>
                      </m:num>
                      <m:den>
                        <m:sSup>
                          <m:sSupPr>
                            <m:ctrlPr>
                              <a:rPr lang="en-US" sz="2000" i="1">
                                <a:latin typeface="Cambria Math" panose="02040503050406030204" pitchFamily="18" charset="0"/>
                              </a:rPr>
                            </m:ctrlPr>
                          </m:sSupPr>
                          <m:e>
                            <m:r>
                              <a:rPr lang="en-US" sz="2000" i="1">
                                <a:latin typeface="Cambria Math" panose="02040503050406030204" pitchFamily="18" charset="0"/>
                              </a:rPr>
                              <m:t>6</m:t>
                            </m:r>
                          </m:e>
                          <m:sup>
                            <m:r>
                              <a:rPr lang="en-US" sz="2000" i="1">
                                <a:latin typeface="Cambria Math" panose="02040503050406030204" pitchFamily="18" charset="0"/>
                              </a:rPr>
                              <m:t>−5</m:t>
                            </m:r>
                          </m:sup>
                        </m:sSup>
                      </m:den>
                    </m:f>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6</m:t>
                        </m:r>
                      </m:e>
                      <m:sup>
                        <m:r>
                          <a:rPr lang="en-US" sz="2000" i="1">
                            <a:latin typeface="Cambria Math" panose="02040503050406030204" pitchFamily="18" charset="0"/>
                          </a:rPr>
                          <m:t>4</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Then, justify your choice by explaining using laws of exponents or showing your work.</a:t>
                </a:r>
              </a:p>
              <a:p>
                <a:pPr lvl="0"/>
                <a:r>
                  <a:rPr lang="en-US" dirty="0"/>
                  <a:t>  </a:t>
                </a:r>
                <a:endParaRPr dirty="0"/>
              </a:p>
            </p:txBody>
          </p:sp>
        </mc:Choice>
        <mc:Fallback xmlns="">
          <p:sp>
            <p:nvSpPr>
              <p:cNvPr id="199" name="Google Shape;199;p7"/>
              <p:cNvSpPr txBox="1">
                <a:spLocks noRot="1" noChangeAspect="1" noMove="1" noResize="1" noEditPoints="1" noAdjustHandles="1" noChangeArrowheads="1" noChangeShapeType="1" noTextEdit="1"/>
              </p:cNvSpPr>
              <p:nvPr/>
            </p:nvSpPr>
            <p:spPr>
              <a:xfrm>
                <a:off x="1426635" y="1386025"/>
                <a:ext cx="4608896" cy="3715336"/>
              </a:xfrm>
              <a:prstGeom prst="rect">
                <a:avLst/>
              </a:prstGeom>
              <a:blipFill rotWithShape="0">
                <a:blip r:embed="rId4"/>
                <a:stretch>
                  <a:fillRect l="-1455" r="-2910"/>
                </a:stretch>
              </a:blipFill>
              <a:ln>
                <a:noFill/>
              </a:ln>
            </p:spPr>
            <p:txBody>
              <a:bodyPr/>
              <a:lstStyle/>
              <a:p>
                <a:r>
                  <a:rPr lang="en-US">
                    <a:noFill/>
                  </a:rPr>
                  <a:t> </a:t>
                </a:r>
              </a:p>
            </p:txBody>
          </p:sp>
        </mc:Fallback>
      </mc:AlternateContent>
      <p:sp>
        <p:nvSpPr>
          <p:cNvPr id="200" name="Google Shape;200;p7"/>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6F88A431-A210-CF4E-AAC4-3250C68F1217}"/>
              </a:ext>
            </a:extLst>
          </p:cNvPr>
          <p:cNvPicPr>
            <a:picLocks noChangeAspect="1"/>
          </p:cNvPicPr>
          <p:nvPr/>
        </p:nvPicPr>
        <p:blipFill>
          <a:blip r:embed="rId5"/>
          <a:stretch>
            <a:fillRect/>
          </a:stretch>
        </p:blipFill>
        <p:spPr>
          <a:xfrm>
            <a:off x="6096001" y="1386026"/>
            <a:ext cx="4696331" cy="5071773"/>
          </a:xfrm>
          <a:prstGeom prst="rect">
            <a:avLst/>
          </a:prstGeom>
        </p:spPr>
      </p:pic>
      <p:sp>
        <p:nvSpPr>
          <p:cNvPr id="9"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079987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101"/>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90684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567350" y="279822"/>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3.5.5 Your Turn!</a:t>
            </a:r>
            <a:endParaRPr dirty="0"/>
          </a:p>
        </p:txBody>
      </p:sp>
      <p:pic>
        <p:nvPicPr>
          <p:cNvPr id="437" name="Google Shape;437;p31"/>
          <p:cNvPicPr preferRelativeResize="0"/>
          <p:nvPr/>
        </p:nvPicPr>
        <p:blipFill rotWithShape="1">
          <a:blip r:embed="rId3">
            <a:alphaModFix/>
          </a:blip>
          <a:srcRect/>
          <a:stretch/>
        </p:blipFill>
        <p:spPr>
          <a:xfrm>
            <a:off x="820050" y="279822"/>
            <a:ext cx="747300" cy="747300"/>
          </a:xfrm>
          <a:prstGeom prst="rect">
            <a:avLst/>
          </a:prstGeom>
          <a:noFill/>
          <a:ln>
            <a:noFill/>
          </a:ln>
        </p:spPr>
      </p:pic>
      <p:sp>
        <p:nvSpPr>
          <p:cNvPr id="439" name="Google Shape;439;p31"/>
          <p:cNvSpPr txBox="1"/>
          <p:nvPr/>
        </p:nvSpPr>
        <p:spPr>
          <a:xfrm>
            <a:off x="1447800" y="1386025"/>
            <a:ext cx="8939784" cy="707846"/>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Match each expression in Column A to an equivalent expression in Column B by drawing arrows.</a:t>
            </a:r>
          </a:p>
        </p:txBody>
      </p:sp>
      <p:sp>
        <p:nvSpPr>
          <p:cNvPr id="440" name="Google Shape;440;p31"/>
          <p:cNvSpPr/>
          <p:nvPr/>
        </p:nvSpPr>
        <p:spPr>
          <a:xfrm>
            <a:off x="0" y="-23675"/>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363691B-72F0-AC46-8073-1FA1556FB916}"/>
                  </a:ext>
                </a:extLst>
              </p:cNvPr>
              <p:cNvGraphicFramePr>
                <a:graphicFrameLocks noGrp="1"/>
              </p:cNvGraphicFramePr>
              <p:nvPr>
                <p:extLst>
                  <p:ext uri="{D42A27DB-BD31-4B8C-83A1-F6EECF244321}">
                    <p14:modId xmlns:p14="http://schemas.microsoft.com/office/powerpoint/2010/main" val="2417236549"/>
                  </p:ext>
                </p:extLst>
              </p:nvPr>
            </p:nvGraphicFramePr>
            <p:xfrm>
              <a:off x="3265079" y="2452774"/>
              <a:ext cx="5030470" cy="3349752"/>
            </p:xfrm>
            <a:graphic>
              <a:graphicData uri="http://schemas.openxmlformats.org/drawingml/2006/table">
                <a:tbl>
                  <a:tblPr firstRow="1" firstCol="1" bandRow="1">
                    <a:tableStyleId>{F2DE63D5-997A-4646-A377-4702673A728D}</a:tableStyleId>
                  </a:tblPr>
                  <a:tblGrid>
                    <a:gridCol w="2515235">
                      <a:extLst>
                        <a:ext uri="{9D8B030D-6E8A-4147-A177-3AD203B41FA5}">
                          <a16:colId xmlns:a16="http://schemas.microsoft.com/office/drawing/2014/main" val="676334283"/>
                        </a:ext>
                      </a:extLst>
                    </a:gridCol>
                    <a:gridCol w="2515235">
                      <a:extLst>
                        <a:ext uri="{9D8B030D-6E8A-4147-A177-3AD203B41FA5}">
                          <a16:colId xmlns:a16="http://schemas.microsoft.com/office/drawing/2014/main" val="2557568072"/>
                        </a:ext>
                      </a:extLst>
                    </a:gridCol>
                  </a:tblGrid>
                  <a:tr h="393700">
                    <a:tc>
                      <a:txBody>
                        <a:bodyPr/>
                        <a:lstStyle/>
                        <a:p>
                          <a:pPr marL="0" marR="0" algn="ctr">
                            <a:spcBef>
                              <a:spcPts val="0"/>
                            </a:spcBef>
                            <a:spcAft>
                              <a:spcPts val="0"/>
                            </a:spcAft>
                          </a:pPr>
                          <a:r>
                            <a:rPr lang="en-US" sz="1800" dirty="0">
                              <a:solidFill>
                                <a:schemeClr val="tx1"/>
                              </a:solidFill>
                              <a:effectLst/>
                            </a:rPr>
                            <a:t>Column A</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rPr>
                            <a:t>Column B</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755485"/>
                      </a:ext>
                    </a:extLst>
                  </a:tr>
                  <a:tr h="556895">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7</m:t>
                                          </m:r>
                                        </m:num>
                                        <m:den>
                                          <m:r>
                                            <a:rPr lang="en-US" sz="1800">
                                              <a:solidFill>
                                                <a:schemeClr val="tx1"/>
                                              </a:solidFill>
                                              <a:effectLst/>
                                              <a:latin typeface="Cambria Math" panose="02040503050406030204" pitchFamily="18" charset="0"/>
                                            </a:rPr>
                                            <m:t>8</m:t>
                                          </m:r>
                                        </m:den>
                                      </m:f>
                                    </m:e>
                                  </m:d>
                                </m:e>
                                <m:sup>
                                  <m:r>
                                    <a:rPr lang="en-US" sz="1800">
                                      <a:solidFill>
                                        <a:schemeClr val="tx1"/>
                                      </a:solidFill>
                                      <a:effectLst/>
                                      <a:latin typeface="Cambria Math" panose="02040503050406030204" pitchFamily="18" charset="0"/>
                                    </a:rPr>
                                    <m:t>−2</m:t>
                                  </m:r>
                                </m:sup>
                              </m:sSup>
                            </m:oMath>
                          </a14:m>
                          <a:r>
                            <a:rPr lang="en-US" sz="1800">
                              <a:solidFill>
                                <a:schemeClr val="tx1"/>
                              </a:solidFill>
                              <a:effectLst/>
                            </a:rPr>
                            <a:t> </a:t>
                          </a:r>
                          <a:endParaRPr lang="en-US" sz="1200">
                            <a:solidFill>
                              <a:schemeClr val="tx1"/>
                            </a:solidFill>
                            <a:effectLst/>
                          </a:endParaRPr>
                        </a:p>
                        <a:p>
                          <a:pPr marL="0" marR="0" algn="ctr">
                            <a:spcBef>
                              <a:spcPts val="0"/>
                            </a:spcBef>
                            <a:spcAft>
                              <a:spcPts val="0"/>
                            </a:spcAft>
                          </a:pPr>
                          <a:r>
                            <a:rPr lang="en-US" sz="1800">
                              <a:solidFill>
                                <a:schemeClr val="tx1"/>
                              </a:solidFill>
                              <a:effectLst/>
                            </a:rPr>
                            <a:t> </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7</m:t>
                                          </m:r>
                                        </m:num>
                                        <m:den>
                                          <m:r>
                                            <a:rPr lang="en-US" sz="1800">
                                              <a:solidFill>
                                                <a:schemeClr val="tx1"/>
                                              </a:solidFill>
                                              <a:effectLst/>
                                              <a:latin typeface="Cambria Math" panose="02040503050406030204" pitchFamily="18" charset="0"/>
                                            </a:rPr>
                                            <m:t>8</m:t>
                                          </m:r>
                                        </m:den>
                                      </m:f>
                                    </m:e>
                                  </m:d>
                                </m:e>
                                <m:sup>
                                  <m:r>
                                    <a:rPr lang="en-US" sz="1800">
                                      <a:solidFill>
                                        <a:schemeClr val="tx1"/>
                                      </a:solidFill>
                                      <a:effectLst/>
                                      <a:latin typeface="Cambria Math" panose="02040503050406030204" pitchFamily="18" charset="0"/>
                                    </a:rPr>
                                    <m:t>2</m:t>
                                  </m:r>
                                </m:sup>
                              </m:sSup>
                            </m:oMath>
                          </a14:m>
                          <a:r>
                            <a:rPr lang="en-US" sz="1800" dirty="0">
                              <a:solidFill>
                                <a:schemeClr val="tx1"/>
                              </a:solidFill>
                              <a:effectLst/>
                            </a:rPr>
                            <a:t> </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38704888"/>
                      </a:ext>
                    </a:extLst>
                  </a:tr>
                  <a:tr h="537845">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8</m:t>
                                          </m:r>
                                        </m:num>
                                        <m:den>
                                          <m:r>
                                            <a:rPr lang="en-US" sz="1800">
                                              <a:solidFill>
                                                <a:schemeClr val="tx1"/>
                                              </a:solidFill>
                                              <a:effectLst/>
                                              <a:latin typeface="Cambria Math" panose="02040503050406030204" pitchFamily="18" charset="0"/>
                                            </a:rPr>
                                            <m:t>7</m:t>
                                          </m:r>
                                        </m:den>
                                      </m:f>
                                    </m:e>
                                  </m:d>
                                </m:e>
                                <m:sup>
                                  <m:r>
                                    <a:rPr lang="en-US" sz="1800">
                                      <a:solidFill>
                                        <a:schemeClr val="tx1"/>
                                      </a:solidFill>
                                      <a:effectLst/>
                                      <a:latin typeface="Cambria Math" panose="02040503050406030204" pitchFamily="18" charset="0"/>
                                    </a:rPr>
                                    <m:t>−2</m:t>
                                  </m:r>
                                </m:sup>
                              </m:sSup>
                            </m:oMath>
                          </a14:m>
                          <a:r>
                            <a:rPr lang="en-US" sz="1800">
                              <a:solidFill>
                                <a:schemeClr val="tx1"/>
                              </a:solidFill>
                              <a:effectLst/>
                            </a:rPr>
                            <a:t> </a:t>
                          </a:r>
                          <a:endParaRPr lang="en-US" sz="1200">
                            <a:solidFill>
                              <a:schemeClr val="tx1"/>
                            </a:solidFill>
                            <a:effectLst/>
                          </a:endParaRPr>
                        </a:p>
                        <a:p>
                          <a:pPr marL="0" marR="0" algn="ctr">
                            <a:spcBef>
                              <a:spcPts val="0"/>
                            </a:spcBef>
                            <a:spcAft>
                              <a:spcPts val="0"/>
                            </a:spcAft>
                          </a:pPr>
                          <a:r>
                            <a:rPr lang="en-US" sz="1800">
                              <a:solidFill>
                                <a:schemeClr val="tx1"/>
                              </a:solidFill>
                              <a:effectLst/>
                            </a:rPr>
                            <a:t> </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8</m:t>
                                          </m:r>
                                        </m:num>
                                        <m:den>
                                          <m:r>
                                            <a:rPr lang="en-US" sz="1800">
                                              <a:solidFill>
                                                <a:schemeClr val="tx1"/>
                                              </a:solidFill>
                                              <a:effectLst/>
                                              <a:latin typeface="Cambria Math" panose="02040503050406030204" pitchFamily="18" charset="0"/>
                                            </a:rPr>
                                            <m:t>7</m:t>
                                          </m:r>
                                        </m:den>
                                      </m:f>
                                    </m:e>
                                  </m:d>
                                </m:e>
                                <m:sup>
                                  <m:r>
                                    <a:rPr lang="en-US" sz="1800">
                                      <a:solidFill>
                                        <a:schemeClr val="tx1"/>
                                      </a:solidFill>
                                      <a:effectLst/>
                                      <a:latin typeface="Cambria Math" panose="02040503050406030204" pitchFamily="18" charset="0"/>
                                    </a:rPr>
                                    <m:t>2</m:t>
                                  </m:r>
                                </m:sup>
                              </m:sSup>
                            </m:oMath>
                          </a14:m>
                          <a:r>
                            <a:rPr lang="en-US" sz="1800">
                              <a:solidFill>
                                <a:schemeClr val="tx1"/>
                              </a:solidFill>
                              <a:effectLst/>
                            </a:rPr>
                            <a:t> </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218985067"/>
                      </a:ext>
                    </a:extLst>
                  </a:tr>
                  <a:tr h="556895">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7</m:t>
                                          </m:r>
                                        </m:num>
                                        <m:den>
                                          <m:r>
                                            <a:rPr lang="en-US" sz="1800">
                                              <a:solidFill>
                                                <a:schemeClr val="tx1"/>
                                              </a:solidFill>
                                              <a:effectLst/>
                                              <a:latin typeface="Cambria Math" panose="02040503050406030204" pitchFamily="18" charset="0"/>
                                            </a:rPr>
                                            <m:t>8</m:t>
                                          </m:r>
                                        </m:den>
                                      </m:f>
                                    </m:e>
                                  </m:d>
                                </m:e>
                                <m:sup>
                                  <m:r>
                                    <a:rPr lang="en-US" sz="1800">
                                      <a:solidFill>
                                        <a:schemeClr val="tx1"/>
                                      </a:solidFill>
                                      <a:effectLst/>
                                      <a:latin typeface="Cambria Math" panose="02040503050406030204" pitchFamily="18" charset="0"/>
                                    </a:rPr>
                                    <m:t>−2</m:t>
                                  </m:r>
                                </m:sup>
                              </m:sSup>
                            </m:oMath>
                          </a14:m>
                          <a:r>
                            <a:rPr lang="en-US" sz="1800">
                              <a:solidFill>
                                <a:schemeClr val="tx1"/>
                              </a:solidFill>
                              <a:effectLst/>
                            </a:rPr>
                            <a:t> </a:t>
                          </a:r>
                          <a:endParaRPr lang="en-US" sz="1200">
                            <a:solidFill>
                              <a:schemeClr val="tx1"/>
                            </a:solidFill>
                            <a:effectLst/>
                          </a:endParaRPr>
                        </a:p>
                        <a:p>
                          <a:pPr marL="0" marR="0" algn="ctr">
                            <a:spcBef>
                              <a:spcPts val="0"/>
                            </a:spcBef>
                            <a:spcAft>
                              <a:spcPts val="0"/>
                            </a:spcAft>
                          </a:pPr>
                          <a:r>
                            <a:rPr lang="en-US" sz="1800">
                              <a:solidFill>
                                <a:schemeClr val="tx1"/>
                              </a:solidFill>
                              <a:effectLst/>
                            </a:rPr>
                            <a:t> </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8</m:t>
                                          </m:r>
                                        </m:num>
                                        <m:den>
                                          <m:r>
                                            <a:rPr lang="en-US" sz="1800">
                                              <a:solidFill>
                                                <a:schemeClr val="tx1"/>
                                              </a:solidFill>
                                              <a:effectLst/>
                                              <a:latin typeface="Cambria Math" panose="02040503050406030204" pitchFamily="18" charset="0"/>
                                            </a:rPr>
                                            <m:t>7</m:t>
                                          </m:r>
                                        </m:den>
                                      </m:f>
                                    </m:e>
                                  </m:d>
                                </m:e>
                                <m:sup>
                                  <m:r>
                                    <a:rPr lang="en-US" sz="1800">
                                      <a:solidFill>
                                        <a:schemeClr val="tx1"/>
                                      </a:solidFill>
                                      <a:effectLst/>
                                      <a:latin typeface="Cambria Math" panose="02040503050406030204" pitchFamily="18" charset="0"/>
                                    </a:rPr>
                                    <m:t>2</m:t>
                                  </m:r>
                                </m:sup>
                              </m:sSup>
                            </m:oMath>
                          </a14:m>
                          <a:r>
                            <a:rPr lang="en-US" sz="1800" dirty="0">
                              <a:solidFill>
                                <a:schemeClr val="tx1"/>
                              </a:solidFill>
                              <a:effectLst/>
                            </a:rPr>
                            <a:t> </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91787545"/>
                      </a:ext>
                    </a:extLst>
                  </a:tr>
                  <a:tr h="556895">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8</m:t>
                                          </m:r>
                                        </m:num>
                                        <m:den>
                                          <m:r>
                                            <a:rPr lang="en-US" sz="1800">
                                              <a:solidFill>
                                                <a:schemeClr val="tx1"/>
                                              </a:solidFill>
                                              <a:effectLst/>
                                              <a:latin typeface="Cambria Math" panose="02040503050406030204" pitchFamily="18" charset="0"/>
                                            </a:rPr>
                                            <m:t>7</m:t>
                                          </m:r>
                                        </m:den>
                                      </m:f>
                                    </m:e>
                                  </m:d>
                                </m:e>
                                <m:sup>
                                  <m:r>
                                    <a:rPr lang="en-US" sz="1800">
                                      <a:solidFill>
                                        <a:schemeClr val="tx1"/>
                                      </a:solidFill>
                                      <a:effectLst/>
                                      <a:latin typeface="Cambria Math" panose="02040503050406030204" pitchFamily="18" charset="0"/>
                                    </a:rPr>
                                    <m:t>−2</m:t>
                                  </m:r>
                                </m:sup>
                              </m:sSup>
                            </m:oMath>
                          </a14:m>
                          <a:r>
                            <a:rPr lang="en-US" sz="1800">
                              <a:solidFill>
                                <a:schemeClr val="tx1"/>
                              </a:solidFill>
                              <a:effectLst/>
                            </a:rPr>
                            <a:t> </a:t>
                          </a:r>
                          <a:endParaRPr lang="en-US" sz="1200">
                            <a:solidFill>
                              <a:schemeClr val="tx1"/>
                            </a:solidFill>
                            <a:effectLst/>
                          </a:endParaRPr>
                        </a:p>
                        <a:p>
                          <a:pPr marL="0" marR="0" algn="ctr">
                            <a:spcBef>
                              <a:spcPts val="0"/>
                            </a:spcBef>
                            <a:spcAft>
                              <a:spcPts val="0"/>
                            </a:spcAft>
                          </a:pPr>
                          <a:r>
                            <a:rPr lang="en-US" sz="1800">
                              <a:solidFill>
                                <a:schemeClr val="tx1"/>
                              </a:solidFill>
                              <a:effectLst/>
                            </a:rPr>
                            <a:t> </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a:noFill/>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sSup>
                                <m:sSupPr>
                                  <m:ctrlPr>
                                    <a:rPr lang="en-US" sz="1800" i="1" smtClean="0">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7</m:t>
                                          </m:r>
                                        </m:num>
                                        <m:den>
                                          <m:r>
                                            <a:rPr lang="en-US" sz="1800">
                                              <a:solidFill>
                                                <a:schemeClr val="tx1"/>
                                              </a:solidFill>
                                              <a:effectLst/>
                                              <a:latin typeface="Cambria Math" panose="02040503050406030204" pitchFamily="18" charset="0"/>
                                            </a:rPr>
                                            <m:t>8</m:t>
                                          </m:r>
                                        </m:den>
                                      </m:f>
                                    </m:e>
                                  </m:d>
                                </m:e>
                                <m:sup>
                                  <m:r>
                                    <a:rPr lang="en-US" sz="1800">
                                      <a:solidFill>
                                        <a:schemeClr val="tx1"/>
                                      </a:solidFill>
                                      <a:effectLst/>
                                      <a:latin typeface="Cambria Math" panose="02040503050406030204" pitchFamily="18" charset="0"/>
                                    </a:rPr>
                                    <m:t>2</m:t>
                                  </m:r>
                                </m:sup>
                              </m:sSup>
                            </m:oMath>
                          </a14:m>
                          <a:r>
                            <a:rPr lang="en-US" sz="1800" dirty="0">
                              <a:solidFill>
                                <a:schemeClr val="tx1"/>
                              </a:solidFill>
                              <a:effectLst/>
                            </a:rPr>
                            <a:t> </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w="12700" cap="flat" cmpd="sng" algn="ctr">
                          <a:solidFill>
                            <a:schemeClr val="tx1"/>
                          </a:solid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4048364"/>
                      </a:ext>
                    </a:extLst>
                  </a:tr>
                </a:tbl>
              </a:graphicData>
            </a:graphic>
          </p:graphicFrame>
        </mc:Choice>
        <mc:Fallback xmlns="">
          <p:graphicFrame>
            <p:nvGraphicFramePr>
              <p:cNvPr id="2" name="Table 1">
                <a:extLst>
                  <a:ext uri="{FF2B5EF4-FFF2-40B4-BE49-F238E27FC236}">
                    <a16:creationId xmlns:a16="http://schemas.microsoft.com/office/drawing/2014/main" id="{5363691B-72F0-AC46-8073-1FA1556FB916}"/>
                  </a:ext>
                </a:extLst>
              </p:cNvPr>
              <p:cNvGraphicFramePr>
                <a:graphicFrameLocks noGrp="1"/>
              </p:cNvGraphicFramePr>
              <p:nvPr>
                <p:extLst>
                  <p:ext uri="{D42A27DB-BD31-4B8C-83A1-F6EECF244321}">
                    <p14:modId xmlns:p14="http://schemas.microsoft.com/office/powerpoint/2010/main" val="2417236549"/>
                  </p:ext>
                </p:extLst>
              </p:nvPr>
            </p:nvGraphicFramePr>
            <p:xfrm>
              <a:off x="1741079" y="2452774"/>
              <a:ext cx="5030470" cy="3377692"/>
            </p:xfrm>
            <a:graphic>
              <a:graphicData uri="http://schemas.openxmlformats.org/drawingml/2006/table">
                <a:tbl>
                  <a:tblPr firstRow="1" firstCol="1" bandRow="1">
                    <a:tableStyleId>{F2DE63D5-997A-4646-A377-4702673A728D}</a:tableStyleId>
                  </a:tblPr>
                  <a:tblGrid>
                    <a:gridCol w="2515235">
                      <a:extLst>
                        <a:ext uri="{9D8B030D-6E8A-4147-A177-3AD203B41FA5}">
                          <a16:colId xmlns:a16="http://schemas.microsoft.com/office/drawing/2014/main" val="676334283"/>
                        </a:ext>
                      </a:extLst>
                    </a:gridCol>
                    <a:gridCol w="2515235">
                      <a:extLst>
                        <a:ext uri="{9D8B030D-6E8A-4147-A177-3AD203B41FA5}">
                          <a16:colId xmlns:a16="http://schemas.microsoft.com/office/drawing/2014/main" val="2557568072"/>
                        </a:ext>
                      </a:extLst>
                    </a:gridCol>
                  </a:tblGrid>
                  <a:tr h="393700">
                    <a:tc>
                      <a:txBody>
                        <a:bodyPr/>
                        <a:lstStyle/>
                        <a:p>
                          <a:pPr marL="0" marR="0" algn="ctr">
                            <a:spcBef>
                              <a:spcPts val="0"/>
                            </a:spcBef>
                            <a:spcAft>
                              <a:spcPts val="0"/>
                            </a:spcAft>
                          </a:pPr>
                          <a:r>
                            <a:rPr lang="en-US" sz="1800" dirty="0">
                              <a:solidFill>
                                <a:schemeClr val="tx1"/>
                              </a:solidFill>
                              <a:effectLst/>
                            </a:rPr>
                            <a:t>Column A</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rPr>
                            <a:t>Column B</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755485"/>
                      </a:ext>
                    </a:extLst>
                  </a:tr>
                  <a:tr h="745998">
                    <a:tc>
                      <a:txBody>
                        <a:bodyPr/>
                        <a:lstStyle/>
                        <a:p>
                          <a:endParaRPr lang="en-US"/>
                        </a:p>
                      </a:txBody>
                      <a:tcPr marL="68580" marR="68580" marT="0" marB="0">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blipFill>
                          <a:blip r:embed="rId5"/>
                          <a:stretch>
                            <a:fillRect l="-503" t="-62712" r="-100000" b="-301695"/>
                          </a:stretch>
                        </a:blipFill>
                      </a:tcPr>
                    </a:tc>
                    <a:tc>
                      <a:txBody>
                        <a:bodyPr/>
                        <a:lstStyle/>
                        <a:p>
                          <a:endParaRPr lang="en-US"/>
                        </a:p>
                      </a:txBody>
                      <a:tcPr marL="68580" marR="68580" marT="0"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blipFill>
                          <a:blip r:embed="rId5"/>
                          <a:stretch>
                            <a:fillRect l="-101010" t="-62712" r="-505" b="-301695"/>
                          </a:stretch>
                        </a:blipFill>
                      </a:tcPr>
                    </a:tc>
                    <a:extLst>
                      <a:ext uri="{0D108BD9-81ED-4DB2-BD59-A6C34878D82A}">
                        <a16:rowId xmlns:a16="http://schemas.microsoft.com/office/drawing/2014/main" val="2838704888"/>
                      </a:ext>
                    </a:extLst>
                  </a:tr>
                  <a:tr h="745998">
                    <a:tc>
                      <a:txBody>
                        <a:bodyPr/>
                        <a:lstStyle/>
                        <a:p>
                          <a:endParaRPr lang="en-US"/>
                        </a:p>
                      </a:txBody>
                      <a:tcPr marL="68580" marR="68580" marT="0" marB="0">
                        <a:lnL w="12700" cap="flat" cmpd="sng" algn="ctr">
                          <a:solidFill>
                            <a:schemeClr val="tx1"/>
                          </a:solidFill>
                          <a:prstDash val="solid"/>
                          <a:round/>
                          <a:headEnd type="none" w="med" len="med"/>
                          <a:tailEnd type="none" w="med" len="me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blipFill>
                          <a:blip r:embed="rId5"/>
                          <a:stretch>
                            <a:fillRect l="-503" t="-162712" r="-100000" b="-201695"/>
                          </a:stretch>
                        </a:blipFill>
                      </a:tcPr>
                    </a:tc>
                    <a:tc>
                      <a:txBody>
                        <a:bodyPr/>
                        <a:lstStyle/>
                        <a:p>
                          <a:endParaRPr lang="en-US"/>
                        </a:p>
                      </a:txBody>
                      <a:tcPr marL="68580" marR="68580" marT="0" marB="0">
                        <a:lnL>
                          <a:noFill/>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blipFill>
                          <a:blip r:embed="rId5"/>
                          <a:stretch>
                            <a:fillRect l="-101010" t="-162712" r="-505" b="-201695"/>
                          </a:stretch>
                        </a:blipFill>
                      </a:tcPr>
                    </a:tc>
                    <a:extLst>
                      <a:ext uri="{0D108BD9-81ED-4DB2-BD59-A6C34878D82A}">
                        <a16:rowId xmlns:a16="http://schemas.microsoft.com/office/drawing/2014/main" val="3218985067"/>
                      </a:ext>
                    </a:extLst>
                  </a:tr>
                  <a:tr h="745998">
                    <a:tc>
                      <a:txBody>
                        <a:bodyPr/>
                        <a:lstStyle/>
                        <a:p>
                          <a:endParaRPr lang="en-US"/>
                        </a:p>
                      </a:txBody>
                      <a:tcPr marL="68580" marR="68580" marT="0" marB="0">
                        <a:lnL w="12700" cap="flat" cmpd="sng" algn="ctr">
                          <a:solidFill>
                            <a:schemeClr val="tx1"/>
                          </a:solidFill>
                          <a:prstDash val="solid"/>
                          <a:round/>
                          <a:headEnd type="none" w="med" len="med"/>
                          <a:tailEnd type="none" w="med" len="me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blipFill>
                          <a:blip r:embed="rId5"/>
                          <a:stretch>
                            <a:fillRect l="-503" t="-262712" r="-100000" b="-101695"/>
                          </a:stretch>
                        </a:blipFill>
                      </a:tcPr>
                    </a:tc>
                    <a:tc>
                      <a:txBody>
                        <a:bodyPr/>
                        <a:lstStyle/>
                        <a:p>
                          <a:endParaRPr lang="en-US"/>
                        </a:p>
                      </a:txBody>
                      <a:tcPr marL="68580" marR="68580" marT="0" marB="0">
                        <a:lnL>
                          <a:noFill/>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blipFill>
                          <a:blip r:embed="rId5"/>
                          <a:stretch>
                            <a:fillRect l="-101010" t="-262712" r="-505" b="-101695"/>
                          </a:stretch>
                        </a:blipFill>
                      </a:tcPr>
                    </a:tc>
                    <a:extLst>
                      <a:ext uri="{0D108BD9-81ED-4DB2-BD59-A6C34878D82A}">
                        <a16:rowId xmlns:a16="http://schemas.microsoft.com/office/drawing/2014/main" val="91787545"/>
                      </a:ext>
                    </a:extLst>
                  </a:tr>
                  <a:tr h="745998">
                    <a:tc>
                      <a:txBody>
                        <a:bodyPr/>
                        <a:lstStyle/>
                        <a:p>
                          <a:endParaRPr lang="en-US"/>
                        </a:p>
                      </a:txBody>
                      <a:tcPr marL="68580" marR="68580" marT="0" marB="0">
                        <a:lnL w="12700" cap="flat" cmpd="sng" algn="ctr">
                          <a:solidFill>
                            <a:schemeClr val="tx1"/>
                          </a:solidFill>
                          <a:prstDash val="solid"/>
                          <a:round/>
                          <a:headEnd type="none" w="med" len="med"/>
                          <a:tailEnd type="none" w="med" len="med"/>
                        </a:lnL>
                        <a:lnR>
                          <a:noFill/>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503" t="-362712" r="-100000" b="-1695"/>
                          </a:stretch>
                        </a:blipFill>
                      </a:tcPr>
                    </a:tc>
                    <a:tc>
                      <a:txBody>
                        <a:bodyPr/>
                        <a:lstStyle/>
                        <a:p>
                          <a:endParaRPr lang="en-US"/>
                        </a:p>
                      </a:txBody>
                      <a:tcPr marL="68580" marR="68580" marT="0" marB="0">
                        <a:lnL>
                          <a:noFill/>
                        </a:lnL>
                        <a:lnR w="12700" cap="flat" cmpd="sng" algn="ctr">
                          <a:solidFill>
                            <a:schemeClr val="tx1"/>
                          </a:solid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1010" t="-362712" r="-505" b="-1695"/>
                          </a:stretch>
                        </a:blipFill>
                      </a:tcPr>
                    </a:tc>
                    <a:extLst>
                      <a:ext uri="{0D108BD9-81ED-4DB2-BD59-A6C34878D82A}">
                        <a16:rowId xmlns:a16="http://schemas.microsoft.com/office/drawing/2014/main" val="1254048364"/>
                      </a:ext>
                    </a:extLst>
                  </a:tr>
                </a:tbl>
              </a:graphicData>
            </a:graphic>
          </p:graphicFrame>
        </mc:Fallback>
      </mc:AlternateContent>
      <p:sp>
        <p:nvSpPr>
          <p:cNvPr id="9"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814009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8" name="Google Shape;448;p32"/>
          <p:cNvSpPr txBox="1"/>
          <p:nvPr/>
        </p:nvSpPr>
        <p:spPr>
          <a:xfrm>
            <a:off x="1358900" y="398474"/>
            <a:ext cx="9936050" cy="236983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Three expressions are shown. Circle the two expressions that are equivalent. </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449" name="Google Shape;449;p3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Diagram&#10;&#10;Description automatically generated">
            <a:extLst>
              <a:ext uri="{FF2B5EF4-FFF2-40B4-BE49-F238E27FC236}">
                <a16:creationId xmlns:a16="http://schemas.microsoft.com/office/drawing/2014/main" id="{32E9F0B9-35BA-A14A-9FA0-5A93771745E7}"/>
              </a:ext>
            </a:extLst>
          </p:cNvPr>
          <p:cNvPicPr>
            <a:picLocks noChangeAspect="1"/>
          </p:cNvPicPr>
          <p:nvPr/>
        </p:nvPicPr>
        <p:blipFill>
          <a:blip r:embed="rId3"/>
          <a:stretch>
            <a:fillRect/>
          </a:stretch>
        </p:blipFill>
        <p:spPr>
          <a:xfrm>
            <a:off x="2922135" y="1490106"/>
            <a:ext cx="6347730" cy="1155096"/>
          </a:xfrm>
          <a:prstGeom prst="rect">
            <a:avLst/>
          </a:prstGeom>
        </p:spPr>
      </p:pic>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296643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48" name="Google Shape;448;p32"/>
              <p:cNvSpPr txBox="1"/>
              <p:nvPr/>
            </p:nvSpPr>
            <p:spPr>
              <a:xfrm>
                <a:off x="1054100" y="398473"/>
                <a:ext cx="10083800" cy="247371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Apply the laws of exponents to write an equivalent numerical expression with one base and one positive exponent. Show your steps in the column on the left and identify the law of exponents used in each step in the column on the right.</a:t>
                </a:r>
                <a:endParaRPr lang="en-US" sz="24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d>
                            <m:dPr>
                              <m:begChr m:val="["/>
                              <m:endChr m:val="]"/>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e>
                                  </m:d>
                                </m:e>
                                <m:sup>
                                  <m:r>
                                    <a:rPr lang="en-US" sz="2000" i="1">
                                      <a:latin typeface="Cambria Math" panose="02040503050406030204" pitchFamily="18" charset="0"/>
                                    </a:rPr>
                                    <m:t>5</m:t>
                                  </m:r>
                                </m:sup>
                              </m:sSup>
                              <m:r>
                                <a:rPr lang="en-US" sz="2000" i="1">
                                  <a:latin typeface="Cambria Math" panose="02040503050406030204" pitchFamily="18" charset="0"/>
                                </a:rPr>
                                <m:t> ∙ </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e>
                                  </m:d>
                                </m:e>
                                <m:sup>
                                  <m:r>
                                    <a:rPr lang="en-US" sz="2000" i="1">
                                      <a:latin typeface="Cambria Math" panose="02040503050406030204" pitchFamily="18" charset="0"/>
                                    </a:rPr>
                                    <m:t>−2</m:t>
                                  </m:r>
                                </m:sup>
                              </m:sSup>
                            </m:e>
                          </m:d>
                        </m:e>
                        <m:sup>
                          <m:r>
                            <a:rPr lang="en-US" sz="2000" i="1">
                              <a:latin typeface="Cambria Math" panose="02040503050406030204" pitchFamily="18" charset="0"/>
                            </a:rPr>
                            <m:t>3</m:t>
                          </m:r>
                        </m:sup>
                      </m:sSup>
                    </m:oMath>
                  </m:oMathPara>
                </a14:m>
                <a:endParaRPr lang="en-US"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448" name="Google Shape;448;p32"/>
              <p:cNvSpPr txBox="1">
                <a:spLocks noRot="1" noChangeAspect="1" noMove="1" noResize="1" noEditPoints="1" noAdjustHandles="1" noChangeArrowheads="1" noChangeShapeType="1" noTextEdit="1"/>
              </p:cNvSpPr>
              <p:nvPr/>
            </p:nvSpPr>
            <p:spPr>
              <a:xfrm>
                <a:off x="1054100" y="398473"/>
                <a:ext cx="10083800" cy="2473714"/>
              </a:xfrm>
              <a:prstGeom prst="rect">
                <a:avLst/>
              </a:prstGeom>
              <a:blipFill>
                <a:blip r:embed="rId3"/>
                <a:stretch>
                  <a:fillRect l="-756" t="-1531" r="-882"/>
                </a:stretch>
              </a:blipFill>
              <a:ln>
                <a:noFill/>
              </a:ln>
            </p:spPr>
            <p:txBody>
              <a:bodyPr/>
              <a:lstStyle/>
              <a:p>
                <a:r>
                  <a:rPr lang="en-US">
                    <a:noFill/>
                  </a:rPr>
                  <a:t> </a:t>
                </a:r>
              </a:p>
            </p:txBody>
          </p:sp>
        </mc:Fallback>
      </mc:AlternateContent>
      <p:sp>
        <p:nvSpPr>
          <p:cNvPr id="449" name="Google Shape;449;p32"/>
          <p:cNvSpPr/>
          <p:nvPr/>
        </p:nvSpPr>
        <p:spPr>
          <a:xfrm>
            <a:off x="0" y="-810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4" name="Table 3">
            <a:extLst>
              <a:ext uri="{FF2B5EF4-FFF2-40B4-BE49-F238E27FC236}">
                <a16:creationId xmlns:a16="http://schemas.microsoft.com/office/drawing/2014/main" id="{D5710984-A46C-FD44-BF2F-556A8360BFEC}"/>
              </a:ext>
            </a:extLst>
          </p:cNvPr>
          <p:cNvGraphicFramePr>
            <a:graphicFrameLocks noGrp="1"/>
          </p:cNvGraphicFramePr>
          <p:nvPr>
            <p:extLst>
              <p:ext uri="{D42A27DB-BD31-4B8C-83A1-F6EECF244321}">
                <p14:modId xmlns:p14="http://schemas.microsoft.com/office/powerpoint/2010/main" val="2902221992"/>
              </p:ext>
            </p:extLst>
          </p:nvPr>
        </p:nvGraphicFramePr>
        <p:xfrm>
          <a:off x="2675573" y="2954480"/>
          <a:ext cx="6840855" cy="3246120"/>
        </p:xfrm>
        <a:graphic>
          <a:graphicData uri="http://schemas.openxmlformats.org/drawingml/2006/table">
            <a:tbl>
              <a:tblPr firstRow="1" firstCol="1" bandRow="1">
                <a:tableStyleId>{F2DE63D5-997A-4646-A377-4702673A728D}</a:tableStyleId>
              </a:tblPr>
              <a:tblGrid>
                <a:gridCol w="3470275">
                  <a:extLst>
                    <a:ext uri="{9D8B030D-6E8A-4147-A177-3AD203B41FA5}">
                      <a16:colId xmlns:a16="http://schemas.microsoft.com/office/drawing/2014/main" val="201079150"/>
                    </a:ext>
                  </a:extLst>
                </a:gridCol>
                <a:gridCol w="3370580">
                  <a:extLst>
                    <a:ext uri="{9D8B030D-6E8A-4147-A177-3AD203B41FA5}">
                      <a16:colId xmlns:a16="http://schemas.microsoft.com/office/drawing/2014/main" val="455477036"/>
                    </a:ext>
                  </a:extLst>
                </a:gridCol>
              </a:tblGrid>
              <a:tr h="0">
                <a:tc>
                  <a:txBody>
                    <a:bodyPr/>
                    <a:lstStyle/>
                    <a:p>
                      <a:pPr marL="0" marR="0" algn="ctr">
                        <a:spcBef>
                          <a:spcPts val="0"/>
                        </a:spcBef>
                        <a:spcAft>
                          <a:spcPts val="0"/>
                        </a:spcAft>
                      </a:pPr>
                      <a:r>
                        <a:rPr lang="en-US" sz="1800">
                          <a:solidFill>
                            <a:schemeClr val="tx1"/>
                          </a:solidFill>
                          <a:effectLst/>
                        </a:rPr>
                        <a:t>Steps</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rPr>
                        <a:t>Laws of Exponents</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288226"/>
                  </a:ext>
                </a:extLst>
              </a:tr>
              <a:tr h="2971800">
                <a:tc>
                  <a:txBody>
                    <a:bodyPr/>
                    <a:lstStyle/>
                    <a:p>
                      <a:pPr marL="0" marR="0">
                        <a:spcBef>
                          <a:spcPts val="0"/>
                        </a:spcBef>
                        <a:spcAft>
                          <a:spcPts val="0"/>
                        </a:spcAft>
                      </a:pPr>
                      <a:r>
                        <a:rPr lang="en-US" sz="1800">
                          <a:effectLst/>
                        </a:rPr>
                        <a:t> </a:t>
                      </a:r>
                      <a:endParaRPr lang="en-US" sz="1200">
                        <a:effectLst/>
                      </a:endParaRPr>
                    </a:p>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235248"/>
                  </a:ext>
                </a:extLst>
              </a:tr>
            </a:tbl>
          </a:graphicData>
        </a:graphic>
      </p:graphicFrame>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17955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24892"/>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504656" y="-53975"/>
            <a:ext cx="10103144"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3.5.6 Wrap-Up: Ticket Out the Door</a:t>
            </a:r>
            <a:endParaRPr dirty="0"/>
          </a:p>
        </p:txBody>
      </p:sp>
      <p:pic>
        <p:nvPicPr>
          <p:cNvPr id="468" name="Google Shape;468;p34"/>
          <p:cNvPicPr preferRelativeResize="0"/>
          <p:nvPr/>
        </p:nvPicPr>
        <p:blipFill rotWithShape="1">
          <a:blip r:embed="rId3">
            <a:alphaModFix/>
          </a:blip>
          <a:srcRect/>
          <a:stretch/>
        </p:blipFill>
        <p:spPr>
          <a:xfrm>
            <a:off x="675206" y="203221"/>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469" name="Google Shape;469;p34"/>
              <p:cNvSpPr txBox="1"/>
              <p:nvPr/>
            </p:nvSpPr>
            <p:spPr>
              <a:xfrm>
                <a:off x="1422506" y="1386025"/>
                <a:ext cx="9603020" cy="528121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Rewrite each expression as an equivalent exponential expression with positive exponents.</a:t>
                </a:r>
              </a:p>
              <a:p>
                <a:pPr marL="922338" lvl="1" indent="-455613">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−13</m:t>
                                </m:r>
                              </m:num>
                              <m:den>
                                <m:r>
                                  <a:rPr lang="en-US" sz="2000">
                                    <a:latin typeface="Cambria Math" panose="02040503050406030204" pitchFamily="18" charset="0"/>
                                  </a:rPr>
                                  <m:t>2</m:t>
                                </m:r>
                              </m:den>
                            </m:f>
                          </m:e>
                        </m:d>
                      </m:e>
                      <m:sup>
                        <m:r>
                          <a:rPr lang="en-US" sz="2000">
                            <a:latin typeface="Cambria Math" panose="02040503050406030204" pitchFamily="18" charset="0"/>
                          </a:rPr>
                          <m:t>−3</m:t>
                        </m:r>
                      </m:sup>
                    </m:sSup>
                    <m:r>
                      <a:rPr lang="en-US" sz="2000">
                        <a:latin typeface="Cambria Math" panose="02040503050406030204" pitchFamily="18" charset="0"/>
                      </a:rPr>
                      <m:t>=________________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1" indent="-45561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1" indent="-45561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1" indent="-455613">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1</m:t>
                                </m:r>
                              </m:num>
                              <m:den>
                                <m:r>
                                  <a:rPr lang="en-US" sz="2000">
                                    <a:latin typeface="Cambria Math" panose="02040503050406030204" pitchFamily="18" charset="0"/>
                                  </a:rPr>
                                  <m:t>5</m:t>
                                </m:r>
                              </m:den>
                            </m:f>
                          </m:e>
                        </m:d>
                      </m:e>
                      <m:sup>
                        <m:r>
                          <a:rPr lang="en-US" sz="2000">
                            <a:latin typeface="Cambria Math" panose="02040503050406030204" pitchFamily="18" charset="0"/>
                          </a:rPr>
                          <m:t>−8</m:t>
                        </m:r>
                      </m:sup>
                    </m:sSup>
                    <m:r>
                      <a:rPr lang="en-US" sz="2000">
                        <a:latin typeface="Cambria Math" panose="02040503050406030204" pitchFamily="18" charset="0"/>
                      </a:rPr>
                      <m:t>=________________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Generate an equivalent expression using the laws of exponents. Express your answer with positive exponents.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a:latin typeface="Cambria Math" panose="02040503050406030204" pitchFamily="18" charset="0"/>
                                  </a:rPr>
                                  <m:t>5</m:t>
                                </m:r>
                              </m:num>
                              <m:den>
                                <m:r>
                                  <a:rPr lang="en-US" sz="2000">
                                    <a:latin typeface="Cambria Math" panose="02040503050406030204" pitchFamily="18" charset="0"/>
                                  </a:rPr>
                                  <m:t>4</m:t>
                                </m:r>
                              </m:den>
                            </m:f>
                          </m:e>
                        </m:d>
                      </m:e>
                      <m:sup>
                        <m:r>
                          <a:rPr lang="en-US" sz="2000" i="1">
                            <a:latin typeface="Cambria Math" panose="02040503050406030204" pitchFamily="18" charset="0"/>
                          </a:rPr>
                          <m:t>−</m:t>
                        </m:r>
                        <m:r>
                          <a:rPr lang="en-US" sz="2000">
                            <a:latin typeface="Cambria Math" panose="02040503050406030204" pitchFamily="18" charset="0"/>
                          </a:rPr>
                          <m:t>7</m:t>
                        </m:r>
                      </m:sup>
                    </m:sSup>
                    <m:r>
                      <a:rPr lang="en-US" sz="2000">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a:latin typeface="Cambria Math" panose="02040503050406030204" pitchFamily="18" charset="0"/>
                                  </a:rPr>
                                  <m:t>5</m:t>
                                </m:r>
                              </m:num>
                              <m:den>
                                <m:r>
                                  <a:rPr lang="en-US" sz="2000">
                                    <a:latin typeface="Cambria Math" panose="02040503050406030204" pitchFamily="18" charset="0"/>
                                  </a:rPr>
                                  <m:t>4</m:t>
                                </m:r>
                              </m:den>
                            </m:f>
                          </m:e>
                        </m:d>
                      </m:e>
                      <m:sup>
                        <m:r>
                          <a:rPr lang="en-US" sz="2000" i="1">
                            <a:latin typeface="Cambria Math" panose="02040503050406030204" pitchFamily="18" charset="0"/>
                          </a:rPr>
                          <m:t>−</m:t>
                        </m:r>
                        <m:r>
                          <a:rPr lang="en-US" sz="2000">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dirty="0"/>
              </a:p>
            </p:txBody>
          </p:sp>
        </mc:Choice>
        <mc:Fallback xmlns="">
          <p:sp>
            <p:nvSpPr>
              <p:cNvPr id="469" name="Google Shape;469;p34"/>
              <p:cNvSpPr txBox="1">
                <a:spLocks noRot="1" noChangeAspect="1" noMove="1" noResize="1" noEditPoints="1" noAdjustHandles="1" noChangeArrowheads="1" noChangeShapeType="1" noTextEdit="1"/>
              </p:cNvSpPr>
              <p:nvPr/>
            </p:nvSpPr>
            <p:spPr>
              <a:xfrm>
                <a:off x="1422506" y="1386025"/>
                <a:ext cx="9603020" cy="5281214"/>
              </a:xfrm>
              <a:prstGeom prst="rect">
                <a:avLst/>
              </a:prstGeom>
              <a:blipFill rotWithShape="0">
                <a:blip r:embed="rId4"/>
                <a:stretch>
                  <a:fillRect l="-698" t="-692" r="-1332"/>
                </a:stretch>
              </a:blipFill>
              <a:ln>
                <a:noFill/>
              </a:ln>
            </p:spPr>
            <p:txBody>
              <a:bodyPr/>
              <a:lstStyle/>
              <a:p>
                <a:r>
                  <a:rPr lang="en-US">
                    <a:noFill/>
                  </a:rPr>
                  <a:t> </a:t>
                </a:r>
              </a:p>
            </p:txBody>
          </p:sp>
        </mc:Fallback>
      </mc:AlternateContent>
      <p:sp>
        <p:nvSpPr>
          <p:cNvPr id="470" name="Google Shape;470;p34"/>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6609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991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914</Words>
  <Application>Microsoft Macintosh PowerPoint</Application>
  <PresentationFormat>Widescreen</PresentationFormat>
  <Paragraphs>200</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Black</vt:lpstr>
      <vt:lpstr>Calibri</vt:lpstr>
      <vt:lpstr>Cambria</vt:lpstr>
      <vt:lpstr>Cambria Math</vt:lpstr>
      <vt:lpstr>Verdana</vt:lpstr>
      <vt:lpstr>1_Office Theme</vt:lpstr>
      <vt:lpstr>7th Grade Accelerated Math  Unit 3, Lesson 5  Applying Exponent Laws  Volume 1, pg. 124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Collaboration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Math  Unit 3, Lesson 5  Applying Exponent Laws  Volume 1, pg. 124  </dc:title>
  <dc:creator>Karen McKenzie</dc:creator>
  <cp:lastModifiedBy>Diana Barnett</cp:lastModifiedBy>
  <cp:revision>6</cp:revision>
  <dcterms:created xsi:type="dcterms:W3CDTF">2015-03-17T18:51:18Z</dcterms:created>
  <dcterms:modified xsi:type="dcterms:W3CDTF">2023-02-06T18:58:57Z</dcterms:modified>
</cp:coreProperties>
</file>