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6"/>
  </p:notesMasterIdLst>
  <p:sldIdLst>
    <p:sldId id="256" r:id="rId2"/>
    <p:sldId id="257" r:id="rId3"/>
    <p:sldId id="285" r:id="rId4"/>
    <p:sldId id="286" r:id="rId5"/>
    <p:sldId id="261" r:id="rId6"/>
    <p:sldId id="287" r:id="rId7"/>
    <p:sldId id="311" r:id="rId8"/>
    <p:sldId id="312" r:id="rId9"/>
    <p:sldId id="333" r:id="rId10"/>
    <p:sldId id="342" r:id="rId11"/>
    <p:sldId id="343" r:id="rId12"/>
    <p:sldId id="344" r:id="rId13"/>
    <p:sldId id="329" r:id="rId14"/>
    <p:sldId id="330" r:id="rId15"/>
    <p:sldId id="339" r:id="rId16"/>
    <p:sldId id="345" r:id="rId17"/>
    <p:sldId id="289" r:id="rId18"/>
    <p:sldId id="290" r:id="rId19"/>
    <p:sldId id="336" r:id="rId20"/>
    <p:sldId id="346" r:id="rId21"/>
    <p:sldId id="347" r:id="rId22"/>
    <p:sldId id="348" r:id="rId23"/>
    <p:sldId id="349" r:id="rId24"/>
    <p:sldId id="350" r:id="rId25"/>
    <p:sldId id="323" r:id="rId26"/>
    <p:sldId id="324" r:id="rId27"/>
    <p:sldId id="337" r:id="rId28"/>
    <p:sldId id="314" r:id="rId29"/>
    <p:sldId id="315" r:id="rId30"/>
    <p:sldId id="332" r:id="rId31"/>
    <p:sldId id="351" r:id="rId32"/>
    <p:sldId id="352" r:id="rId33"/>
    <p:sldId id="306" r:id="rId34"/>
    <p:sldId id="307"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7"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FAC"/>
    <a:srgbClr val="B399C8"/>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51"/>
    <p:restoredTop sz="94664"/>
  </p:normalViewPr>
  <p:slideViewPr>
    <p:cSldViewPr snapToGrid="0">
      <p:cViewPr varScale="1">
        <p:scale>
          <a:sx n="79" d="100"/>
          <a:sy n="79" d="100"/>
        </p:scale>
        <p:origin x="797"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919909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0605475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999550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879294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813529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2890805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0230391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4658973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7121398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42863317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2281357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35547382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60.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40.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40.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7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6" name="Google Shape;115;g104476d1465_0_0">
            <a:extLst>
              <a:ext uri="{FF2B5EF4-FFF2-40B4-BE49-F238E27FC236}">
                <a16:creationId xmlns:a16="http://schemas.microsoft.com/office/drawing/2014/main" id="{CBF7CF97-3BCD-3C4E-896D-6BCF1EDD9D5C}"/>
              </a:ext>
            </a:extLst>
          </p:cNvPr>
          <p:cNvSpPr/>
          <p:nvPr/>
        </p:nvSpPr>
        <p:spPr>
          <a:xfrm>
            <a:off x="0" y="0"/>
            <a:ext cx="4094106"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a:t>
            </a:r>
            <a:r>
              <a:rPr lang="en-US" sz="3800" b="1">
                <a:solidFill>
                  <a:srgbClr val="417DBF"/>
                </a:solidFill>
                <a:latin typeface="Verdana"/>
                <a:ea typeface="Verdana"/>
                <a:cs typeface="Verdana"/>
                <a:sym typeface="Verdana"/>
              </a:rPr>
              <a:t>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3, Lesson 9</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rPr>
              <a:t>Writing Small Numbers in Scientific Notation</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146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9" name="Google Shape;279;g104476d1465_1_17"/>
          <p:cNvSpPr txBox="1">
            <a:spLocks noGrp="1"/>
          </p:cNvSpPr>
          <p:nvPr>
            <p:ph type="title" idx="4294967295"/>
          </p:nvPr>
        </p:nvSpPr>
        <p:spPr>
          <a:xfrm>
            <a:off x="1562550" y="34026"/>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77150" y="30776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62550" y="1600200"/>
            <a:ext cx="90669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000" dirty="0">
                <a:latin typeface="Verdana" panose="020B0604030504040204" pitchFamily="34" charset="0"/>
                <a:ea typeface="Verdana" panose="020B0604030504040204" pitchFamily="34" charset="0"/>
                <a:cs typeface="Verdana" panose="020B0604030504040204" pitchFamily="34" charset="0"/>
              </a:rPr>
              <a:t>MA.8.NSO.1.3 </a:t>
            </a:r>
          </a:p>
          <a:p>
            <a:pPr marL="552450" lvl="1" indent="0">
              <a:buNone/>
            </a:pPr>
            <a:r>
              <a:rPr lang="en-US" sz="2000" dirty="0">
                <a:latin typeface="Verdana" panose="020B0604030504040204" pitchFamily="34" charset="0"/>
                <a:ea typeface="Verdana" panose="020B0604030504040204" pitchFamily="34" charset="0"/>
                <a:cs typeface="Verdana" panose="020B0604030504040204" pitchFamily="34" charset="0"/>
              </a:rPr>
              <a:t>Extend previous understanding of the Laws of Exponents to include integer exponents. Apply the Laws of Exponents to evaluate numerical expressions and generate equivalent numerical expressions, limited to integer exponents and rational number bases, with procedural fluency.</a:t>
            </a:r>
          </a:p>
          <a:p>
            <a:pPr marL="95250" indent="0">
              <a:buNone/>
            </a:pPr>
            <a:r>
              <a:rPr lang="en-US" sz="2000" dirty="0">
                <a:latin typeface="Verdana" panose="020B0604030504040204" pitchFamily="34" charset="0"/>
                <a:ea typeface="Verdana" panose="020B0604030504040204" pitchFamily="34" charset="0"/>
                <a:cs typeface="Verdana" panose="020B0604030504040204" pitchFamily="34" charset="0"/>
              </a:rPr>
              <a:t> </a:t>
            </a:r>
          </a:p>
          <a:p>
            <a:pPr marL="95250" indent="0">
              <a:buNone/>
            </a:pPr>
            <a:r>
              <a:rPr lang="en-US" sz="2000" dirty="0">
                <a:latin typeface="Verdana" panose="020B0604030504040204" pitchFamily="34" charset="0"/>
                <a:ea typeface="Verdana" panose="020B0604030504040204" pitchFamily="34" charset="0"/>
                <a:cs typeface="Verdana" panose="020B0604030504040204" pitchFamily="34" charset="0"/>
              </a:rPr>
              <a:t>MA.8.NSO.1.4 </a:t>
            </a:r>
          </a:p>
          <a:p>
            <a:pPr marL="552450" lvl="1" indent="0">
              <a:buNone/>
            </a:pPr>
            <a:r>
              <a:rPr lang="en-US" sz="2000" dirty="0">
                <a:latin typeface="Verdana" panose="020B0604030504040204" pitchFamily="34" charset="0"/>
                <a:ea typeface="Verdana" panose="020B0604030504040204" pitchFamily="34" charset="0"/>
                <a:cs typeface="Verdana" panose="020B0604030504040204" pitchFamily="34" charset="0"/>
              </a:rPr>
              <a:t>Express numbers in scientific notation to represent and approximate very large or very small quantities. Determine how many times larger or smaller one number is compared to a second number.</a:t>
            </a:r>
          </a:p>
          <a:p>
            <a:pPr indent="0">
              <a:buNone/>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122;g104476d1465_1_17">
            <a:extLst>
              <a:ext uri="{FF2B5EF4-FFF2-40B4-BE49-F238E27FC236}">
                <a16:creationId xmlns:a16="http://schemas.microsoft.com/office/drawing/2014/main" id="{19F12918-E38F-AC45-B562-183B6F056FEC}"/>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929550" y="3850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754200" y="1423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754200" y="1596390"/>
            <a:ext cx="927136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122;g104476d1465_1_17">
            <a:extLst>
              <a:ext uri="{FF2B5EF4-FFF2-40B4-BE49-F238E27FC236}">
                <a16:creationId xmlns:a16="http://schemas.microsoft.com/office/drawing/2014/main" id="{EBD4C72E-21EF-0147-8A50-11DBE6E96428}"/>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0"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146</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82119"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699957" y="28920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702738" y="1600200"/>
                <a:ext cx="87865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use the laws of exponents to evaluate numerical expressions with a base of </a:t>
                </a:r>
                <a14:m>
                  <m:oMath xmlns:m="http://schemas.openxmlformats.org/officeDocument/2006/math">
                    <m:r>
                      <a:rPr lang="en-US" sz="2400" i="1">
                        <a:latin typeface="Cambria Math" panose="02040503050406030204" pitchFamily="18"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and exponents less than </a:t>
                </a:r>
                <a14:m>
                  <m:oMath xmlns:m="http://schemas.openxmlformats.org/officeDocument/2006/math">
                    <m:r>
                      <a:rPr lang="en-US" sz="2400" i="1">
                        <a:latin typeface="Cambria Math" panose="02040503050406030204" pitchFamily="18"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342900" indent="-3429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express small numbers in scientific notation.</a:t>
                </a:r>
              </a:p>
              <a:p>
                <a:pPr marL="342900" indent="-3429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determine how many times larger or smaller a number is compared to another expressed in scientific notation.</a:t>
                </a:r>
              </a:p>
            </p:txBody>
          </p:sp>
        </mc:Choice>
        <mc:Fallback xmlns="">
          <p:sp>
            <p:nvSpPr>
              <p:cNvPr id="14" name="Google Shape;302;g103996e1364_0_16">
                <a:extLst>
                  <a:ext uri="{FF2B5EF4-FFF2-40B4-BE49-F238E27FC236}">
                    <a16:creationId xmlns:a16="http://schemas.microsoft.com/office/drawing/2014/main" xmlns:a14="http://schemas.microsoft.com/office/drawing/2010/main" xmlns="" id="{9B7C98EC-F13C-9146-B728-D7044DB4247D}"/>
                  </a:ext>
                </a:extLst>
              </p:cNvPr>
              <p:cNvSpPr txBox="1">
                <a:spLocks noRot="1" noChangeAspect="1" noMove="1" noResize="1" noEditPoints="1" noAdjustHandles="1" noChangeArrowheads="1" noChangeShapeType="1" noTextEdit="1"/>
              </p:cNvSpPr>
              <p:nvPr/>
            </p:nvSpPr>
            <p:spPr>
              <a:xfrm>
                <a:off x="1702738" y="1600200"/>
                <a:ext cx="8786524" cy="4205700"/>
              </a:xfrm>
              <a:prstGeom prst="rect">
                <a:avLst/>
              </a:prstGeom>
              <a:blipFill rotWithShape="0">
                <a:blip r:embed="rId4"/>
                <a:stretch>
                  <a:fillRect l="-902" t="-1306"/>
                </a:stretch>
              </a:blipFill>
              <a:ln>
                <a:noFill/>
              </a:ln>
            </p:spPr>
            <p:txBody>
              <a:bodyPr/>
              <a:lstStyle/>
              <a:p>
                <a:r>
                  <a:rPr lang="en-US">
                    <a:noFill/>
                  </a:rPr>
                  <a:t> </a:t>
                </a:r>
              </a:p>
            </p:txBody>
          </p:sp>
        </mc:Fallback>
      </mc:AlternateContent>
      <p:sp>
        <p:nvSpPr>
          <p:cNvPr id="8" name="Google Shape;122;g104476d1465_1_17">
            <a:extLst>
              <a:ext uri="{FF2B5EF4-FFF2-40B4-BE49-F238E27FC236}">
                <a16:creationId xmlns:a16="http://schemas.microsoft.com/office/drawing/2014/main" id="{FDF91296-F199-4141-97CD-9A7426145306}"/>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1"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146</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155;g104476d1465_1_39">
            <a:extLst>
              <a:ext uri="{FF2B5EF4-FFF2-40B4-BE49-F238E27FC236}">
                <a16:creationId xmlns:a16="http://schemas.microsoft.com/office/drawing/2014/main" id="{2E6315A6-F9EB-DB48-B8DF-5704B10EEF96}"/>
              </a:ext>
            </a:extLst>
          </p:cNvPr>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7"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38750" y="-53975"/>
            <a:ext cx="97483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3.9.1 Warm-Up: </a:t>
            </a:r>
            <a:r>
              <a:rPr lang="en-US" sz="3600" b="1" dirty="0">
                <a:solidFill>
                  <a:srgbClr val="3F2A67"/>
                </a:solidFill>
                <a:latin typeface="Verdana"/>
                <a:ea typeface="Verdana"/>
                <a:cs typeface="Verdana"/>
              </a:rPr>
              <a:t>Googol, not Google</a:t>
            </a:r>
            <a:endParaRPr lang="en-US" sz="3600" b="1" dirty="0">
              <a:solidFill>
                <a:srgbClr val="3F2A67"/>
              </a:solidFill>
              <a:latin typeface="Verdana"/>
              <a:ea typeface="Verdana"/>
              <a:cs typeface="Verdana"/>
              <a:sym typeface="Verdana"/>
            </a:endParaRP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591450" y="2101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244600" y="1386025"/>
                <a:ext cx="9958832" cy="230832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 “googol” is a name for a really big number: a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followed by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100</m:t>
                    </m:r>
                  </m:oMath>
                </a14:m>
                <a:r>
                  <a:rPr lang="en-US" sz="2400" dirty="0">
                    <a:latin typeface="Verdana" panose="020B0604030504040204" pitchFamily="34" charset="0"/>
                    <a:ea typeface="Verdana" panose="020B0604030504040204" pitchFamily="34" charset="0"/>
                    <a:cs typeface="Verdana" panose="020B0604030504040204" pitchFamily="34" charset="0"/>
                  </a:rPr>
                  <a:t> zeros.</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fontAlgn="base">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If you square a googol, how many zeros will the answer have? Show your reasoning.</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1244600" y="1386025"/>
                <a:ext cx="9958832" cy="2308324"/>
              </a:xfrm>
              <a:prstGeom prst="rect">
                <a:avLst/>
              </a:prstGeom>
              <a:blipFill rotWithShape="0">
                <a:blip r:embed="rId4"/>
                <a:stretch>
                  <a:fillRect l="-918" t="-2375"/>
                </a:stretch>
              </a:blipFill>
            </p:spPr>
            <p:txBody>
              <a:bodyPr/>
              <a:lstStyle/>
              <a:p>
                <a:r>
                  <a:rPr lang="en-US">
                    <a:noFill/>
                  </a:rPr>
                  <a:t> </a:t>
                </a:r>
              </a:p>
            </p:txBody>
          </p:sp>
        </mc:Fallback>
      </mc:AlternateContent>
      <p:sp>
        <p:nvSpPr>
          <p:cNvPr id="10" name="Google Shape;122;g104476d1465_1_17">
            <a:extLst>
              <a:ext uri="{FF2B5EF4-FFF2-40B4-BE49-F238E27FC236}">
                <a16:creationId xmlns:a16="http://schemas.microsoft.com/office/drawing/2014/main" id="{41567675-61EA-B443-94F2-5EFA2179D70E}"/>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146</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155;g104476d1465_1_39">
            <a:extLst>
              <a:ext uri="{FF2B5EF4-FFF2-40B4-BE49-F238E27FC236}">
                <a16:creationId xmlns:a16="http://schemas.microsoft.com/office/drawing/2014/main" id="{99E45B2D-C16E-0340-A659-AEF424D1CC8A}"/>
              </a:ext>
            </a:extLst>
          </p:cNvPr>
          <p:cNvSpPr/>
          <p:nvPr/>
        </p:nvSpPr>
        <p:spPr>
          <a:xfrm>
            <a:off x="0" y="-40631"/>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1"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147</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02834" y="0"/>
            <a:ext cx="88847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3.9.2 Exploration: </a:t>
            </a:r>
            <a:r>
              <a:rPr lang="en-US" sz="3600" b="1" dirty="0">
                <a:solidFill>
                  <a:srgbClr val="33BEA6"/>
                </a:solidFill>
                <a:latin typeface="Verdana"/>
                <a:ea typeface="Verdana"/>
                <a:cs typeface="Verdana"/>
              </a:rPr>
              <a:t>Powers of Ten</a:t>
            </a:r>
            <a:endParaRPr lang="en-US" sz="3600" b="1" dirty="0">
              <a:solidFill>
                <a:srgbClr val="33BEA6"/>
              </a:solidFill>
              <a:latin typeface="Verdana"/>
              <a:ea typeface="Verdana"/>
              <a:cs typeface="Verdana"/>
              <a:sym typeface="Verdana"/>
            </a:endParaRP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67305" y="286723"/>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1502834" y="1386026"/>
            <a:ext cx="9442364"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Use a scientific calculator to find the decimal value of each. Then, write the equivalent fractional value.</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ADFA4A4-BB38-594C-9010-F51C57B71D81}"/>
                  </a:ext>
                </a:extLst>
              </p:cNvPr>
              <p:cNvGraphicFramePr>
                <a:graphicFrameLocks noGrp="1"/>
              </p:cNvGraphicFramePr>
              <p:nvPr>
                <p:extLst>
                  <p:ext uri="{D42A27DB-BD31-4B8C-83A1-F6EECF244321}">
                    <p14:modId xmlns:p14="http://schemas.microsoft.com/office/powerpoint/2010/main" val="3805034910"/>
                  </p:ext>
                </p:extLst>
              </p:nvPr>
            </p:nvGraphicFramePr>
            <p:xfrm>
              <a:off x="2937891" y="3045807"/>
              <a:ext cx="6572250" cy="2941320"/>
            </p:xfrm>
            <a:graphic>
              <a:graphicData uri="http://schemas.openxmlformats.org/drawingml/2006/table">
                <a:tbl>
                  <a:tblPr firstRow="1" firstCol="1" bandRow="1">
                    <a:tableStyleId>{A91F0D33-8C57-4600-99A7-42BC86742BE1}</a:tableStyleId>
                  </a:tblPr>
                  <a:tblGrid>
                    <a:gridCol w="1657350">
                      <a:extLst>
                        <a:ext uri="{9D8B030D-6E8A-4147-A177-3AD203B41FA5}">
                          <a16:colId xmlns:a16="http://schemas.microsoft.com/office/drawing/2014/main" val="3587258029"/>
                        </a:ext>
                      </a:extLst>
                    </a:gridCol>
                    <a:gridCol w="2457450">
                      <a:extLst>
                        <a:ext uri="{9D8B030D-6E8A-4147-A177-3AD203B41FA5}">
                          <a16:colId xmlns:a16="http://schemas.microsoft.com/office/drawing/2014/main" val="3627464215"/>
                        </a:ext>
                      </a:extLst>
                    </a:gridCol>
                    <a:gridCol w="2457450">
                      <a:extLst>
                        <a:ext uri="{9D8B030D-6E8A-4147-A177-3AD203B41FA5}">
                          <a16:colId xmlns:a16="http://schemas.microsoft.com/office/drawing/2014/main" val="1348415265"/>
                        </a:ext>
                      </a:extLst>
                    </a:gridCol>
                  </a:tblGrid>
                  <a:tr h="42227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Power of </a:t>
                          </a:r>
                          <a14:m>
                            <m:oMath xmlns:m="http://schemas.openxmlformats.org/officeDocument/2006/math">
                              <m:r>
                                <a:rPr lang="en-US" sz="1800" b="1" smtClean="0">
                                  <a:effectLst/>
                                  <a:latin typeface="Cambria Math" panose="02040503050406030204" pitchFamily="18" charset="0"/>
                                </a:rPr>
                                <m:t>𝟏𝟎</m:t>
                              </m:r>
                            </m:oMath>
                          </a14:m>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Decimal Value</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Fractional Value</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557177752"/>
                      </a:ext>
                    </a:extLst>
                  </a:tr>
                  <a:tr h="42227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panose="02040503050406030204" pitchFamily="18" charset="0"/>
                                      </a:rPr>
                                      <m:t>10</m:t>
                                    </m:r>
                                  </m:e>
                                  <m:sup>
                                    <m:r>
                                      <a:rPr lang="en-US" sz="1800">
                                        <a:effectLst/>
                                        <a:latin typeface="Cambria Math" panose="02040503050406030204" pitchFamily="18" charset="0"/>
                                      </a:rPr>
                                      <m:t>0</m:t>
                                    </m:r>
                                  </m:sup>
                                </m:sSup>
                              </m:oMath>
                            </m:oMathPara>
                          </a14:m>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7964492"/>
                      </a:ext>
                    </a:extLst>
                  </a:tr>
                  <a:tr h="42227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panose="02040503050406030204" pitchFamily="18" charset="0"/>
                                      </a:rPr>
                                      <m:t>10</m:t>
                                    </m:r>
                                  </m:e>
                                  <m:sup>
                                    <m:r>
                                      <a:rPr lang="en-US" sz="1800">
                                        <a:effectLst/>
                                        <a:latin typeface="Cambria Math" panose="02040503050406030204" pitchFamily="18" charset="0"/>
                                      </a:rPr>
                                      <m:t>−1</m:t>
                                    </m:r>
                                  </m:sup>
                                </m:sSup>
                              </m:oMath>
                            </m:oMathPara>
                          </a14:m>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0844006"/>
                      </a:ext>
                    </a:extLst>
                  </a:tr>
                  <a:tr h="42227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panose="02040503050406030204" pitchFamily="18" charset="0"/>
                                      </a:rPr>
                                      <m:t>10</m:t>
                                    </m:r>
                                  </m:e>
                                  <m:sup>
                                    <m:r>
                                      <a:rPr lang="en-US" sz="1800">
                                        <a:effectLst/>
                                        <a:latin typeface="Cambria Math" panose="02040503050406030204" pitchFamily="18" charset="0"/>
                                      </a:rPr>
                                      <m:t>−2</m:t>
                                    </m:r>
                                  </m:sup>
                                </m:sSup>
                              </m:oMath>
                            </m:oMathPara>
                          </a14:m>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6438952"/>
                      </a:ext>
                    </a:extLst>
                  </a:tr>
                  <a:tr h="40767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panose="02040503050406030204" pitchFamily="18" charset="0"/>
                                      </a:rPr>
                                      <m:t>10</m:t>
                                    </m:r>
                                  </m:e>
                                  <m:sup>
                                    <m:r>
                                      <a:rPr lang="en-US" sz="1800">
                                        <a:effectLst/>
                                        <a:latin typeface="Cambria Math" panose="02040503050406030204" pitchFamily="18" charset="0"/>
                                      </a:rPr>
                                      <m:t>−3</m:t>
                                    </m:r>
                                  </m:sup>
                                </m:sSup>
                              </m:oMath>
                            </m:oMathPara>
                          </a14:m>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3699353"/>
                      </a:ext>
                    </a:extLst>
                  </a:tr>
                  <a:tr h="42227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panose="02040503050406030204" pitchFamily="18" charset="0"/>
                                      </a:rPr>
                                      <m:t>10</m:t>
                                    </m:r>
                                  </m:e>
                                  <m:sup>
                                    <m:r>
                                      <a:rPr lang="en-US" sz="1800">
                                        <a:effectLst/>
                                        <a:latin typeface="Cambria Math" panose="02040503050406030204" pitchFamily="18" charset="0"/>
                                      </a:rPr>
                                      <m:t>−4</m:t>
                                    </m:r>
                                  </m:sup>
                                </m:sSup>
                              </m:oMath>
                            </m:oMathPara>
                          </a14:m>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8834698"/>
                      </a:ext>
                    </a:extLst>
                  </a:tr>
                  <a:tr h="42227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panose="02040503050406030204" pitchFamily="18" charset="0"/>
                                      </a:rPr>
                                      <m:t>10</m:t>
                                    </m:r>
                                  </m:e>
                                  <m:sup>
                                    <m:r>
                                      <a:rPr lang="en-US" sz="1800">
                                        <a:effectLst/>
                                        <a:latin typeface="Cambria Math" panose="02040503050406030204" pitchFamily="18" charset="0"/>
                                      </a:rPr>
                                      <m:t>−5</m:t>
                                    </m:r>
                                  </m:sup>
                                </m:sSup>
                              </m:oMath>
                            </m:oMathPara>
                          </a14:m>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223400"/>
                      </a:ext>
                    </a:extLst>
                  </a:tr>
                </a:tbl>
              </a:graphicData>
            </a:graphic>
          </p:graphicFrame>
        </mc:Choice>
        <mc:Fallback xmlns="">
          <p:graphicFrame>
            <p:nvGraphicFramePr>
              <p:cNvPr id="2" name="Table 1">
                <a:extLst>
                  <a:ext uri="{FF2B5EF4-FFF2-40B4-BE49-F238E27FC236}">
                    <a16:creationId xmlns:a16="http://schemas.microsoft.com/office/drawing/2014/main" id="{FADFA4A4-BB38-594C-9010-F51C57B71D81}"/>
                  </a:ext>
                </a:extLst>
              </p:cNvPr>
              <p:cNvGraphicFramePr>
                <a:graphicFrameLocks noGrp="1"/>
              </p:cNvGraphicFramePr>
              <p:nvPr>
                <p:extLst>
                  <p:ext uri="{D42A27DB-BD31-4B8C-83A1-F6EECF244321}">
                    <p14:modId xmlns:p14="http://schemas.microsoft.com/office/powerpoint/2010/main" val="3805034910"/>
                  </p:ext>
                </p:extLst>
              </p:nvPr>
            </p:nvGraphicFramePr>
            <p:xfrm>
              <a:off x="1413891" y="3045807"/>
              <a:ext cx="6572250" cy="2941320"/>
            </p:xfrm>
            <a:graphic>
              <a:graphicData uri="http://schemas.openxmlformats.org/drawingml/2006/table">
                <a:tbl>
                  <a:tblPr firstRow="1" firstCol="1" bandRow="1">
                    <a:tableStyleId>{A91F0D33-8C57-4600-99A7-42BC86742BE1}</a:tableStyleId>
                  </a:tblPr>
                  <a:tblGrid>
                    <a:gridCol w="1657350">
                      <a:extLst>
                        <a:ext uri="{9D8B030D-6E8A-4147-A177-3AD203B41FA5}">
                          <a16:colId xmlns:a16="http://schemas.microsoft.com/office/drawing/2014/main" val="3587258029"/>
                        </a:ext>
                      </a:extLst>
                    </a:gridCol>
                    <a:gridCol w="2457450">
                      <a:extLst>
                        <a:ext uri="{9D8B030D-6E8A-4147-A177-3AD203B41FA5}">
                          <a16:colId xmlns:a16="http://schemas.microsoft.com/office/drawing/2014/main" val="3627464215"/>
                        </a:ext>
                      </a:extLst>
                    </a:gridCol>
                    <a:gridCol w="2457450">
                      <a:extLst>
                        <a:ext uri="{9D8B030D-6E8A-4147-A177-3AD203B41FA5}">
                          <a16:colId xmlns:a16="http://schemas.microsoft.com/office/drawing/2014/main" val="1348415265"/>
                        </a:ext>
                      </a:extLst>
                    </a:gridCol>
                  </a:tblGrid>
                  <a:tr h="42227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63" r="-296947" b="-609091"/>
                          </a:stretch>
                        </a:blip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Decimal Value</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Fractional Value</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557177752"/>
                      </a:ext>
                    </a:extLst>
                  </a:tr>
                  <a:tr h="42227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63" t="-97059" r="-296947" b="-491176"/>
                          </a:stretch>
                        </a:blipFill>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7964492"/>
                      </a:ext>
                    </a:extLst>
                  </a:tr>
                  <a:tr h="42227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63" t="-203030" r="-296947" b="-406061"/>
                          </a:stretch>
                        </a:blipFill>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0844006"/>
                      </a:ext>
                    </a:extLst>
                  </a:tr>
                  <a:tr h="42227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63" t="-294118" r="-296947" b="-294118"/>
                          </a:stretch>
                        </a:blipFill>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6438952"/>
                      </a:ext>
                    </a:extLst>
                  </a:tr>
                  <a:tr h="40767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63" t="-418750" r="-296947" b="-212500"/>
                          </a:stretch>
                        </a:blipFill>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3699353"/>
                      </a:ext>
                    </a:extLst>
                  </a:tr>
                  <a:tr h="42227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63" t="-488235" r="-296947" b="-100000"/>
                          </a:stretch>
                        </a:blipFill>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8834698"/>
                      </a:ext>
                    </a:extLst>
                  </a:tr>
                  <a:tr h="42227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63" t="-606061" r="-296947" b="-3030"/>
                          </a:stretch>
                        </a:blipFill>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223400"/>
                      </a:ext>
                    </a:extLst>
                  </a:tr>
                </a:tbl>
              </a:graphicData>
            </a:graphic>
          </p:graphicFrame>
        </mc:Fallback>
      </mc:AlternateContent>
      <p:sp>
        <p:nvSpPr>
          <p:cNvPr id="11" name="Google Shape;122;g104476d1465_1_17">
            <a:extLst>
              <a:ext uri="{FF2B5EF4-FFF2-40B4-BE49-F238E27FC236}">
                <a16:creationId xmlns:a16="http://schemas.microsoft.com/office/drawing/2014/main" id="{BAFFF59B-C4BD-FD4B-99E1-B8BDFB7E737B}"/>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4"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147</a:t>
            </a:r>
            <a:endParaRPr i="1" dirty="0">
              <a:latin typeface="Calibri"/>
              <a:ea typeface="Calibri"/>
              <a:cs typeface="Calibri"/>
              <a:sym typeface="Calibri"/>
            </a:endParaRPr>
          </a:p>
        </p:txBody>
      </p:sp>
      <p:pic>
        <p:nvPicPr>
          <p:cNvPr id="15"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333500" y="520394"/>
                <a:ext cx="9675666" cy="1200329"/>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relationship between the power of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and its value?</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333500" y="520394"/>
                <a:ext cx="9675666" cy="1200329"/>
              </a:xfrm>
              <a:prstGeom prst="rect">
                <a:avLst/>
              </a:prstGeom>
              <a:blipFill rotWithShape="0">
                <a:blip r:embed="rId3"/>
                <a:stretch>
                  <a:fillRect l="-1008" t="-4061"/>
                </a:stretch>
              </a:blipFill>
            </p:spPr>
            <p:txBody>
              <a:bodyPr/>
              <a:lstStyle/>
              <a:p>
                <a:r>
                  <a:rPr lang="en-US">
                    <a:noFill/>
                  </a:rPr>
                  <a:t> </a:t>
                </a:r>
              </a:p>
            </p:txBody>
          </p:sp>
        </mc:Fallback>
      </mc:AlternateContent>
      <p:sp>
        <p:nvSpPr>
          <p:cNvPr id="7" name="Google Shape;122;g104476d1465_1_17">
            <a:extLst>
              <a:ext uri="{FF2B5EF4-FFF2-40B4-BE49-F238E27FC236}">
                <a16:creationId xmlns:a16="http://schemas.microsoft.com/office/drawing/2014/main" id="{52AFF1AC-DA29-A44E-9DA4-E75F58ED86F4}"/>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0"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147</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5251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219200" y="520394"/>
            <a:ext cx="9115701" cy="461665"/>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table. </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8CBF5FF-8C07-1342-B89D-3453F24B417C}"/>
                  </a:ext>
                </a:extLst>
              </p:cNvPr>
              <p:cNvGraphicFramePr>
                <a:graphicFrameLocks noGrp="1"/>
              </p:cNvGraphicFramePr>
              <p:nvPr>
                <p:extLst>
                  <p:ext uri="{D42A27DB-BD31-4B8C-83A1-F6EECF244321}">
                    <p14:modId xmlns:p14="http://schemas.microsoft.com/office/powerpoint/2010/main" val="2429374775"/>
                  </p:ext>
                </p:extLst>
              </p:nvPr>
            </p:nvGraphicFramePr>
            <p:xfrm>
              <a:off x="2668588" y="1641745"/>
              <a:ext cx="6854825" cy="3566160"/>
            </p:xfrm>
            <a:graphic>
              <a:graphicData uri="http://schemas.openxmlformats.org/drawingml/2006/table">
                <a:tbl>
                  <a:tblPr firstRow="1" firstCol="1" bandRow="1">
                    <a:tableStyleId>{A91F0D33-8C57-4600-99A7-42BC86742BE1}</a:tableStyleId>
                  </a:tblPr>
                  <a:tblGrid>
                    <a:gridCol w="2313305">
                      <a:extLst>
                        <a:ext uri="{9D8B030D-6E8A-4147-A177-3AD203B41FA5}">
                          <a16:colId xmlns:a16="http://schemas.microsoft.com/office/drawing/2014/main" val="1359988978"/>
                        </a:ext>
                      </a:extLst>
                    </a:gridCol>
                    <a:gridCol w="2313305">
                      <a:extLst>
                        <a:ext uri="{9D8B030D-6E8A-4147-A177-3AD203B41FA5}">
                          <a16:colId xmlns:a16="http://schemas.microsoft.com/office/drawing/2014/main" val="3798534766"/>
                        </a:ext>
                      </a:extLst>
                    </a:gridCol>
                    <a:gridCol w="2228215">
                      <a:extLst>
                        <a:ext uri="{9D8B030D-6E8A-4147-A177-3AD203B41FA5}">
                          <a16:colId xmlns:a16="http://schemas.microsoft.com/office/drawing/2014/main" val="1712209879"/>
                        </a:ext>
                      </a:extLst>
                    </a:gridCol>
                  </a:tblGrid>
                  <a:tr h="0">
                    <a:tc>
                      <a:txBody>
                        <a:bodyPr/>
                        <a:lstStyle/>
                        <a:p>
                          <a:pPr marL="0" marR="0" algn="ctr">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Power of </a:t>
                          </a:r>
                          <a14:m>
                            <m:oMath xmlns:m="http://schemas.openxmlformats.org/officeDocument/2006/math">
                              <m:r>
                                <a:rPr lang="en-US" sz="1800" b="1">
                                  <a:effectLst/>
                                  <a:latin typeface="Cambria Math" panose="02040503050406030204" pitchFamily="18" charset="0"/>
                                </a:rPr>
                                <m:t>𝟏𝟎</m:t>
                              </m:r>
                            </m:oMath>
                          </a14:m>
                          <a:endParaRPr lang="en-US" sz="12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Fractional Value</a:t>
                          </a:r>
                          <a:endParaRPr lang="en-US" sz="12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Place Value of </a:t>
                          </a:r>
                          <a14:m>
                            <m:oMath xmlns:m="http://schemas.openxmlformats.org/officeDocument/2006/math">
                              <m:r>
                                <a:rPr lang="en-US" sz="1800" b="1">
                                  <a:effectLst/>
                                  <a:latin typeface="Cambria Math" panose="02040503050406030204" pitchFamily="18" charset="0"/>
                                </a:rPr>
                                <m:t>𝟏</m:t>
                              </m:r>
                            </m:oMath>
                          </a14:m>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28563579"/>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panose="02040503050406030204" pitchFamily="18" charset="0"/>
                                      </a:rPr>
                                      <m:t>10</m:t>
                                    </m:r>
                                  </m:e>
                                  <m:sup>
                                    <m:r>
                                      <a:rPr lang="en-US" sz="1800">
                                        <a:effectLst/>
                                        <a:latin typeface="Cambria Math" panose="02040503050406030204" pitchFamily="18" charset="0"/>
                                      </a:rPr>
                                      <m:t>0</m:t>
                                    </m:r>
                                  </m:sup>
                                </m:sSup>
                              </m:oMath>
                            </m:oMathPara>
                          </a14:m>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m:t>
                                </m:r>
                              </m:oMath>
                            </m:oMathPara>
                          </a14:m>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Ones</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2695556"/>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panose="02040503050406030204" pitchFamily="18" charset="0"/>
                                      </a:rPr>
                                      <m:t>10</m:t>
                                    </m:r>
                                  </m:e>
                                  <m:sup>
                                    <m:r>
                                      <a:rPr lang="en-US" sz="1800">
                                        <a:effectLst/>
                                        <a:latin typeface="Cambria Math" panose="02040503050406030204" pitchFamily="18" charset="0"/>
                                      </a:rPr>
                                      <m:t>−1</m:t>
                                    </m:r>
                                  </m:sup>
                                </m:sSup>
                              </m:oMath>
                            </m:oMathPara>
                          </a14:m>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Tenths</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0905782"/>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panose="02040503050406030204" pitchFamily="18" charset="0"/>
                                      </a:rPr>
                                      <m:t>10</m:t>
                                    </m:r>
                                  </m:e>
                                  <m:sup>
                                    <m:r>
                                      <a:rPr lang="en-US" sz="1800">
                                        <a:effectLst/>
                                        <a:latin typeface="Cambria Math" panose="02040503050406030204" pitchFamily="18" charset="0"/>
                                      </a:rPr>
                                      <m:t>−2</m:t>
                                    </m:r>
                                  </m:sup>
                                </m:sSup>
                              </m:oMath>
                            </m:oMathPara>
                          </a14:m>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8387898"/>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panose="02040503050406030204" pitchFamily="18" charset="0"/>
                                      </a:rPr>
                                      <m:t>10</m:t>
                                    </m:r>
                                  </m:e>
                                  <m:sup>
                                    <m:r>
                                      <a:rPr lang="en-US" sz="1800">
                                        <a:effectLst/>
                                        <a:latin typeface="Cambria Math" panose="02040503050406030204" pitchFamily="18" charset="0"/>
                                      </a:rPr>
                                      <m:t>−3</m:t>
                                    </m:r>
                                  </m:sup>
                                </m:sSup>
                              </m:oMath>
                            </m:oMathPara>
                          </a14:m>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7212227"/>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panose="02040503050406030204" pitchFamily="18" charset="0"/>
                                      </a:rPr>
                                      <m:t>10</m:t>
                                    </m:r>
                                  </m:e>
                                  <m:sup>
                                    <m:r>
                                      <a:rPr lang="en-US" sz="1800">
                                        <a:effectLst/>
                                        <a:latin typeface="Cambria Math" panose="02040503050406030204" pitchFamily="18" charset="0"/>
                                      </a:rPr>
                                      <m:t>−4</m:t>
                                    </m:r>
                                  </m:sup>
                                </m:sSup>
                              </m:oMath>
                            </m:oMathPara>
                          </a14:m>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3933315"/>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panose="02040503050406030204" pitchFamily="18" charset="0"/>
                                      </a:rPr>
                                      <m:t>10</m:t>
                                    </m:r>
                                  </m:e>
                                  <m:sup>
                                    <m:r>
                                      <a:rPr lang="en-US" sz="1800">
                                        <a:effectLst/>
                                        <a:latin typeface="Cambria Math" panose="02040503050406030204" pitchFamily="18" charset="0"/>
                                      </a:rPr>
                                      <m:t>−5</m:t>
                                    </m:r>
                                  </m:sup>
                                </m:sSup>
                              </m:oMath>
                            </m:oMathPara>
                          </a14:m>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514540"/>
                      </a:ext>
                    </a:extLst>
                  </a:tr>
                </a:tbl>
              </a:graphicData>
            </a:graphic>
          </p:graphicFrame>
        </mc:Choice>
        <mc:Fallback xmlns="">
          <p:graphicFrame>
            <p:nvGraphicFramePr>
              <p:cNvPr id="2" name="Table 1">
                <a:extLst>
                  <a:ext uri="{FF2B5EF4-FFF2-40B4-BE49-F238E27FC236}">
                    <a16:creationId xmlns:a16="http://schemas.microsoft.com/office/drawing/2014/main" id="{F8CBF5FF-8C07-1342-B89D-3453F24B417C}"/>
                  </a:ext>
                </a:extLst>
              </p:cNvPr>
              <p:cNvGraphicFramePr>
                <a:graphicFrameLocks noGrp="1"/>
              </p:cNvGraphicFramePr>
              <p:nvPr>
                <p:extLst>
                  <p:ext uri="{D42A27DB-BD31-4B8C-83A1-F6EECF244321}">
                    <p14:modId xmlns:p14="http://schemas.microsoft.com/office/powerpoint/2010/main" val="2429374775"/>
                  </p:ext>
                </p:extLst>
              </p:nvPr>
            </p:nvGraphicFramePr>
            <p:xfrm>
              <a:off x="1144587" y="1641745"/>
              <a:ext cx="6854825" cy="3566160"/>
            </p:xfrm>
            <a:graphic>
              <a:graphicData uri="http://schemas.openxmlformats.org/drawingml/2006/table">
                <a:tbl>
                  <a:tblPr firstRow="1" firstCol="1" bandRow="1">
                    <a:tableStyleId>{A91F0D33-8C57-4600-99A7-42BC86742BE1}</a:tableStyleId>
                  </a:tblPr>
                  <a:tblGrid>
                    <a:gridCol w="2313305">
                      <a:extLst>
                        <a:ext uri="{9D8B030D-6E8A-4147-A177-3AD203B41FA5}">
                          <a16:colId xmlns:a16="http://schemas.microsoft.com/office/drawing/2014/main" val="1359988978"/>
                        </a:ext>
                      </a:extLst>
                    </a:gridCol>
                    <a:gridCol w="2313305">
                      <a:extLst>
                        <a:ext uri="{9D8B030D-6E8A-4147-A177-3AD203B41FA5}">
                          <a16:colId xmlns:a16="http://schemas.microsoft.com/office/drawing/2014/main" val="3798534766"/>
                        </a:ext>
                      </a:extLst>
                    </a:gridCol>
                    <a:gridCol w="2228215">
                      <a:extLst>
                        <a:ext uri="{9D8B030D-6E8A-4147-A177-3AD203B41FA5}">
                          <a16:colId xmlns:a16="http://schemas.microsoft.com/office/drawing/2014/main" val="1712209879"/>
                        </a:ext>
                      </a:extLst>
                    </a:gridCol>
                  </a:tblGrid>
                  <a:tr h="27432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49" t="-27273" r="-197802" b="-1186364"/>
                          </a:stretch>
                        </a:blipFill>
                      </a:tcPr>
                    </a:tc>
                    <a:tc>
                      <a:txBody>
                        <a:bodyPr/>
                        <a:lstStyle/>
                        <a:p>
                          <a:pPr marL="0" marR="0" algn="ctr">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Fractional Value</a:t>
                          </a:r>
                          <a:endParaRPr lang="en-US" sz="12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7386" t="-27273" r="-1136" b="-1186364"/>
                          </a:stretch>
                        </a:blipFill>
                      </a:tcPr>
                    </a:tc>
                    <a:extLst>
                      <a:ext uri="{0D108BD9-81ED-4DB2-BD59-A6C34878D82A}">
                        <a16:rowId xmlns:a16="http://schemas.microsoft.com/office/drawing/2014/main" val="3928563579"/>
                      </a:ext>
                    </a:extLst>
                  </a:tr>
                  <a:tr h="54864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49" t="-65116" r="-197802" b="-50697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549" t="-65116" r="-97802" b="-506977"/>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Ones</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2695556"/>
                      </a:ext>
                    </a:extLst>
                  </a:tr>
                  <a:tr h="54864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49" t="-165116" r="-197802" b="-406977"/>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Tenths</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0905782"/>
                      </a:ext>
                    </a:extLst>
                  </a:tr>
                  <a:tr h="54864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49" t="-259091" r="-197802" b="-297727"/>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8387898"/>
                      </a:ext>
                    </a:extLst>
                  </a:tr>
                  <a:tr h="54864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49" t="-367442" r="-197802" b="-204651"/>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7212227"/>
                      </a:ext>
                    </a:extLst>
                  </a:tr>
                  <a:tr h="54864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49" t="-456818" r="-197802" b="-100000"/>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3933315"/>
                      </a:ext>
                    </a:extLst>
                  </a:tr>
                  <a:tr h="54864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49" t="-569767" r="-197802" b="-2326"/>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514540"/>
                      </a:ext>
                    </a:extLst>
                  </a:tr>
                </a:tbl>
              </a:graphicData>
            </a:graphic>
          </p:graphicFrame>
        </mc:Fallback>
      </mc:AlternateContent>
      <p:sp>
        <p:nvSpPr>
          <p:cNvPr id="7" name="Google Shape;122;g104476d1465_1_17">
            <a:extLst>
              <a:ext uri="{FF2B5EF4-FFF2-40B4-BE49-F238E27FC236}">
                <a16:creationId xmlns:a16="http://schemas.microsoft.com/office/drawing/2014/main" id="{0707787A-2C0F-5C48-8DB4-D3B1E30D1A28}"/>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1"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147</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73753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231900" y="520394"/>
                <a:ext cx="9878866" cy="3416320"/>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describe how the exponent of the power of ten relates to place value. </a:t>
                </a: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Based on the pattern in the table, what is the value of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10</m:t>
                        </m:r>
                      </m:e>
                      <m:sup>
                        <m:r>
                          <a:rPr lang="en-US" sz="2400" i="1">
                            <a:latin typeface="Cambria Math" panose="02040503050406030204" pitchFamily="18" charset="0"/>
                          </a:rPr>
                          <m:t>−12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written as a fraction?</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231900" y="520394"/>
                <a:ext cx="9878866" cy="3416320"/>
              </a:xfrm>
              <a:prstGeom prst="rect">
                <a:avLst/>
              </a:prstGeom>
              <a:blipFill rotWithShape="0">
                <a:blip r:embed="rId3"/>
                <a:stretch>
                  <a:fillRect l="-925" t="-1426" b="-2852"/>
                </a:stretch>
              </a:blipFill>
            </p:spPr>
            <p:txBody>
              <a:bodyPr/>
              <a:lstStyle/>
              <a:p>
                <a:r>
                  <a:rPr lang="en-US">
                    <a:noFill/>
                  </a:rPr>
                  <a:t> </a:t>
                </a:r>
              </a:p>
            </p:txBody>
          </p:sp>
        </mc:Fallback>
      </mc:AlternateContent>
      <p:sp>
        <p:nvSpPr>
          <p:cNvPr id="7" name="Google Shape;122;g104476d1465_1_17">
            <a:extLst>
              <a:ext uri="{FF2B5EF4-FFF2-40B4-BE49-F238E27FC236}">
                <a16:creationId xmlns:a16="http://schemas.microsoft.com/office/drawing/2014/main" id="{7375E46B-65CB-D24E-A047-E387666B6F0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0"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147</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56487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pSp>
        <p:nvGrpSpPr>
          <p:cNvPr id="7" name="Group 6">
            <a:extLst>
              <a:ext uri="{FF2B5EF4-FFF2-40B4-BE49-F238E27FC236}">
                <a16:creationId xmlns:a16="http://schemas.microsoft.com/office/drawing/2014/main" id="{3C20DEC2-0A03-9D49-843D-23D4983070D2}"/>
              </a:ext>
            </a:extLst>
          </p:cNvPr>
          <p:cNvGrpSpPr/>
          <p:nvPr/>
        </p:nvGrpSpPr>
        <p:grpSpPr>
          <a:xfrm>
            <a:off x="2781300" y="1438184"/>
            <a:ext cx="6629400" cy="3489417"/>
            <a:chOff x="0" y="-492217"/>
            <a:chExt cx="6629400" cy="3489417"/>
          </a:xfrm>
        </p:grpSpPr>
        <p:grpSp>
          <p:nvGrpSpPr>
            <p:cNvPr id="8" name="Group 7">
              <a:extLst>
                <a:ext uri="{FF2B5EF4-FFF2-40B4-BE49-F238E27FC236}">
                  <a16:creationId xmlns:a16="http://schemas.microsoft.com/office/drawing/2014/main" id="{B2A0BA29-2567-F942-B8A9-3C2C379C2275}"/>
                </a:ext>
              </a:extLst>
            </p:cNvPr>
            <p:cNvGrpSpPr/>
            <p:nvPr/>
          </p:nvGrpSpPr>
          <p:grpSpPr>
            <a:xfrm>
              <a:off x="0" y="-492217"/>
              <a:ext cx="6629400" cy="3489417"/>
              <a:chOff x="2031300" y="2894591"/>
              <a:chExt cx="6629400" cy="3489417"/>
            </a:xfrm>
          </p:grpSpPr>
          <p:grpSp>
            <p:nvGrpSpPr>
              <p:cNvPr id="10" name="Group 9">
                <a:extLst>
                  <a:ext uri="{FF2B5EF4-FFF2-40B4-BE49-F238E27FC236}">
                    <a16:creationId xmlns:a16="http://schemas.microsoft.com/office/drawing/2014/main" id="{EF5A1370-07B2-F84C-B682-16279F4A7724}"/>
                  </a:ext>
                </a:extLst>
              </p:cNvPr>
              <p:cNvGrpSpPr/>
              <p:nvPr/>
            </p:nvGrpSpPr>
            <p:grpSpPr>
              <a:xfrm>
                <a:off x="2031300" y="2894591"/>
                <a:ext cx="6629400" cy="3489417"/>
                <a:chOff x="0" y="-492217"/>
                <a:chExt cx="6629400" cy="3489417"/>
              </a:xfrm>
            </p:grpSpPr>
            <p:sp>
              <p:nvSpPr>
                <p:cNvPr id="11" name="Rectangle 10">
                  <a:extLst>
                    <a:ext uri="{FF2B5EF4-FFF2-40B4-BE49-F238E27FC236}">
                      <a16:creationId xmlns:a16="http://schemas.microsoft.com/office/drawing/2014/main" id="{471405F1-B117-0A46-A346-B71FECF453EA}"/>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3" name="Rectangle 12">
                  <a:extLst>
                    <a:ext uri="{FF2B5EF4-FFF2-40B4-BE49-F238E27FC236}">
                      <a16:creationId xmlns:a16="http://schemas.microsoft.com/office/drawing/2014/main" id="{4ADAA1F0-38D6-444E-87D6-73A7F7D42181}"/>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5" name="Rounded Rectangle 14">
                      <a:extLst>
                        <a:ext uri="{FF2B5EF4-FFF2-40B4-BE49-F238E27FC236}">
                          <a16:creationId xmlns:a16="http://schemas.microsoft.com/office/drawing/2014/main" id="{9776EEE2-7CCA-6545-9251-4B513B2F5C81}"/>
                        </a:ext>
                      </a:extLst>
                    </p:cNvPr>
                    <p:cNvSpPr/>
                    <p:nvPr/>
                  </p:nvSpPr>
                  <p:spPr>
                    <a:xfrm>
                      <a:off x="0" y="-492217"/>
                      <a:ext cx="6629400" cy="3489417"/>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spcAft>
                          <a:spcPts val="1000"/>
                        </a:spcAft>
                      </a:pPr>
                      <a:r>
                        <a:rPr lang="en-US" sz="2000" b="1" i="1" dirty="0">
                          <a:solidFill>
                            <a:srgbClr val="0075BF"/>
                          </a:solidFill>
                          <a:latin typeface="Verdana" panose="020B0604030504040204" pitchFamily="34" charset="0"/>
                          <a:ea typeface="Verdana" panose="020B0604030504040204" pitchFamily="34" charset="0"/>
                          <a:cs typeface="Verdana" panose="020B0604030504040204" pitchFamily="34" charset="0"/>
                        </a:rPr>
                        <a:t>Negative Powers of </a:t>
                      </a:r>
                      <a14:m>
                        <m:oMath xmlns:m="http://schemas.openxmlformats.org/officeDocument/2006/math">
                          <m:r>
                            <a:rPr lang="en-US" sz="2000" b="1" i="1">
                              <a:solidFill>
                                <a:srgbClr val="0075BF"/>
                              </a:solidFill>
                              <a:latin typeface="Cambria Math" panose="02040503050406030204" pitchFamily="18" charset="0"/>
                              <a:ea typeface="Verdana" panose="020B0604030504040204" pitchFamily="34" charset="0"/>
                              <a:cs typeface="Verdana" panose="020B0604030504040204" pitchFamily="34" charset="0"/>
                            </a:rPr>
                            <m:t>𝟏𝟎</m:t>
                          </m:r>
                        </m:oMath>
                      </a14:m>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742950">
                        <a:spcAft>
                          <a:spcPts val="1000"/>
                        </a:spcAft>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A base </a:t>
                      </a:r>
                      <a14:m>
                        <m:oMath xmlns:m="http://schemas.openxmlformats.org/officeDocument/2006/math">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10</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with a negative exponent can be rewritten as a fraction.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742950" algn="ctr">
                        <a:spcAft>
                          <a:spcPts val="1000"/>
                        </a:spcAft>
                      </a:pPr>
                      <a14:m>
                        <m:oMathPara xmlns:m="http://schemas.openxmlformats.org/officeDocument/2006/math">
                          <m:oMathParaPr>
                            <m:jc m:val="centerGroup"/>
                          </m:oMathParaPr>
                          <m:oMath xmlns:m="http://schemas.openxmlformats.org/officeDocument/2006/math">
                            <m:sSup>
                              <m:sSupPr>
                                <m:ctrlP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ctrlPr>
                              </m:sSupPr>
                              <m:e>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10</m:t>
                                </m:r>
                              </m:e>
                              <m:sup>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m:t>
                                </m:r>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𝑎</m:t>
                                </m:r>
                              </m:sup>
                            </m:sSup>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 </m:t>
                            </m:r>
                            <m:f>
                              <m:fPr>
                                <m:ctrlP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ctrlPr>
                              </m:fPr>
                              <m:num>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1</m:t>
                                </m:r>
                              </m:num>
                              <m:den>
                                <m:sSup>
                                  <m:sSupPr>
                                    <m:ctrlP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ctrlPr>
                                  </m:sSupPr>
                                  <m:e>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10</m:t>
                                    </m:r>
                                  </m:e>
                                  <m:sup>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𝑎</m:t>
                                    </m:r>
                                  </m:sup>
                                </m:sSup>
                              </m:den>
                            </m:f>
                          </m:oMath>
                        </m:oMathPara>
                      </a14:m>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742950">
                        <a:spcAft>
                          <a:spcPts val="1000"/>
                        </a:spcAft>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The value of the fraction relates directly to the place value of the </a:t>
                      </a:r>
                      <a14:m>
                        <m:oMath xmlns:m="http://schemas.openxmlformats.org/officeDocument/2006/math">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1</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when the quantity is expressed in its equivalent decimal form.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5" name="Rounded Rectangle 14">
                      <a:extLst>
                        <a:ext uri="{FF2B5EF4-FFF2-40B4-BE49-F238E27FC236}">
                          <a16:creationId xmlns:a16="http://schemas.microsoft.com/office/drawing/2014/main" id="{9776EEE2-7CCA-6545-9251-4B513B2F5C81}"/>
                        </a:ext>
                      </a:extLst>
                    </p:cNvPr>
                    <p:cNvSpPr>
                      <a:spLocks noRot="1" noChangeAspect="1" noMove="1" noResize="1" noEditPoints="1" noAdjustHandles="1" noChangeArrowheads="1" noChangeShapeType="1" noTextEdit="1"/>
                    </p:cNvSpPr>
                    <p:nvPr/>
                  </p:nvSpPr>
                  <p:spPr>
                    <a:xfrm>
                      <a:off x="0" y="-492217"/>
                      <a:ext cx="6629400" cy="3489417"/>
                    </a:xfrm>
                    <a:prstGeom prst="roundRect">
                      <a:avLst>
                        <a:gd name="adj" fmla="val 16667"/>
                      </a:avLst>
                    </a:prstGeom>
                    <a:blipFill>
                      <a:blip r:embed="rId4"/>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grpSp>
        </p:grpSp>
        <p:pic>
          <p:nvPicPr>
            <p:cNvPr id="9" name="image15.png" descr="Icon&#10;&#10;Description automatically generated">
              <a:extLst>
                <a:ext uri="{FF2B5EF4-FFF2-40B4-BE49-F238E27FC236}">
                  <a16:creationId xmlns:a16="http://schemas.microsoft.com/office/drawing/2014/main" id="{13879CAC-9B33-3445-858F-5D61F9CF4189}"/>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223420" y="-314265"/>
              <a:ext cx="539750" cy="539750"/>
            </a:xfrm>
            <a:prstGeom prst="rect">
              <a:avLst/>
            </a:prstGeom>
            <a:ln/>
            <a:effectLst>
              <a:outerShdw blurRad="50800" dist="38100" dir="2700000" algn="tl" rotWithShape="0">
                <a:prstClr val="black">
                  <a:alpha val="40000"/>
                </a:prstClr>
              </a:outerShdw>
            </a:effectLst>
          </p:spPr>
        </p:pic>
      </p:grpSp>
      <p:sp>
        <p:nvSpPr>
          <p:cNvPr id="16" name="Google Shape;122;g104476d1465_1_17">
            <a:extLst>
              <a:ext uri="{FF2B5EF4-FFF2-40B4-BE49-F238E27FC236}">
                <a16:creationId xmlns:a16="http://schemas.microsoft.com/office/drawing/2014/main" id="{3163360A-6D55-704C-B987-30C017DAF3D9}"/>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8"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147</a:t>
            </a:r>
            <a:endParaRPr i="1" dirty="0">
              <a:latin typeface="Calibri"/>
              <a:ea typeface="Calibri"/>
              <a:cs typeface="Calibri"/>
              <a:sym typeface="Calibri"/>
            </a:endParaRPr>
          </a:p>
        </p:txBody>
      </p:sp>
      <p:pic>
        <p:nvPicPr>
          <p:cNvPr id="1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95470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155;g104476d1465_1_39">
            <a:extLst>
              <a:ext uri="{FF2B5EF4-FFF2-40B4-BE49-F238E27FC236}">
                <a16:creationId xmlns:a16="http://schemas.microsoft.com/office/drawing/2014/main" id="{683A325C-0CFE-DC4E-AD3E-405DB01198C8}"/>
              </a:ext>
            </a:extLst>
          </p:cNvPr>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8"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148</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56065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580050"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3.9.3 Bring It Together: </a:t>
            </a:r>
            <a:r>
              <a:rPr lang="en-US" sz="3200" b="1" dirty="0">
                <a:solidFill>
                  <a:srgbClr val="54B5D1"/>
                </a:solidFill>
                <a:latin typeface="Verdana"/>
                <a:ea typeface="Verdana"/>
                <a:cs typeface="Verdana"/>
              </a:rPr>
              <a:t>Applying the Laws of Exponents</a:t>
            </a:r>
            <a:endParaRPr lang="en-US" sz="3200" b="1" dirty="0">
              <a:solidFill>
                <a:srgbClr val="54B5D1"/>
              </a:solidFill>
              <a:latin typeface="Verdana"/>
              <a:ea typeface="Verdana"/>
              <a:cs typeface="Verdana"/>
              <a:sym typeface="Verdana"/>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69E00F9-F39F-5043-888E-B0A2D8C9AE0F}"/>
                  </a:ext>
                </a:extLst>
              </p:cNvPr>
              <p:cNvSpPr txBox="1"/>
              <p:nvPr/>
            </p:nvSpPr>
            <p:spPr>
              <a:xfrm>
                <a:off x="1495552" y="1386026"/>
                <a:ext cx="9456928" cy="3430491"/>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Laws of Exponents can help when rewriting mathematical statements as a power of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Sometimes more than one law can be applied.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In the table from the Exploration, </a:t>
                </a:r>
                <a14:m>
                  <m:oMath xmlns:m="http://schemas.openxmlformats.org/officeDocument/2006/math">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n-US" sz="2400">
                                <a:latin typeface="Cambria Math" panose="02040503050406030204" pitchFamily="18" charset="0"/>
                                <a:ea typeface="Verdana" panose="020B0604030504040204" pitchFamily="34" charset="0"/>
                                <a:cs typeface="Verdana" panose="020B0604030504040204" pitchFamily="34" charset="0"/>
                              </a:rPr>
                              <m:t>10</m:t>
                            </m:r>
                          </m:e>
                          <m:sup>
                            <m:r>
                              <a:rPr lang="en-US" sz="2400">
                                <a:latin typeface="Cambria Math" panose="02040503050406030204" pitchFamily="18" charset="0"/>
                                <a:ea typeface="Verdana" panose="020B0604030504040204" pitchFamily="34" charset="0"/>
                                <a:cs typeface="Verdana" panose="020B0604030504040204" pitchFamily="34" charset="0"/>
                              </a:rPr>
                              <m:t>−11</m:t>
                            </m:r>
                          </m:sup>
                        </m:sSup>
                      </m:num>
                      <m:den>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n-US" sz="2400">
                                <a:latin typeface="Cambria Math" panose="02040503050406030204" pitchFamily="18" charset="0"/>
                                <a:ea typeface="Verdana" panose="020B0604030504040204" pitchFamily="34" charset="0"/>
                                <a:cs typeface="Verdana" panose="020B0604030504040204" pitchFamily="34" charset="0"/>
                              </a:rPr>
                              <m:t>10</m:t>
                            </m:r>
                          </m:e>
                          <m:sup>
                            <m:r>
                              <a:rPr lang="en-US" sz="2400">
                                <a:latin typeface="Cambria Math" panose="02040503050406030204" pitchFamily="18" charset="0"/>
                                <a:ea typeface="Verdana" panose="020B0604030504040204" pitchFamily="34" charset="0"/>
                                <a:cs typeface="Verdana" panose="020B0604030504040204" pitchFamily="34" charset="0"/>
                              </a:rPr>
                              <m:t>−4</m:t>
                            </m:r>
                          </m:sup>
                        </m:sSup>
                      </m:den>
                    </m:f>
                  </m:oMath>
                </a14:m>
                <a:r>
                  <a:rPr lang="en-US" sz="2400" dirty="0">
                    <a:latin typeface="Verdana" panose="020B0604030504040204" pitchFamily="34" charset="0"/>
                    <a:ea typeface="Verdana" panose="020B0604030504040204" pitchFamily="34" charset="0"/>
                    <a:cs typeface="Verdana" panose="020B0604030504040204" pitchFamily="34" charset="0"/>
                  </a:rPr>
                  <a:t> was written as </a:t>
                </a:r>
                <a14:m>
                  <m:oMath xmlns:m="http://schemas.openxmlformats.org/officeDocument/2006/math">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n-US" sz="2400">
                            <a:latin typeface="Cambria Math" panose="02040503050406030204" pitchFamily="18" charset="0"/>
                            <a:ea typeface="Verdana" panose="020B0604030504040204" pitchFamily="34" charset="0"/>
                            <a:cs typeface="Verdana" panose="020B0604030504040204" pitchFamily="34" charset="0"/>
                          </a:rPr>
                          <m:t>10</m:t>
                        </m:r>
                      </m:e>
                      <m:sup>
                        <m:r>
                          <a:rPr lang="en-US" sz="2400">
                            <a:latin typeface="Cambria Math" panose="02040503050406030204" pitchFamily="18" charset="0"/>
                            <a:ea typeface="Verdana" panose="020B0604030504040204" pitchFamily="34" charset="0"/>
                            <a:cs typeface="Verdana" panose="020B0604030504040204" pitchFamily="34" charset="0"/>
                          </a:rPr>
                          <m:t>−7</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Another way to write </a:t>
                </a:r>
                <a14:m>
                  <m:oMath xmlns:m="http://schemas.openxmlformats.org/officeDocument/2006/math">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n-US" sz="2400">
                            <a:latin typeface="Cambria Math" panose="02040503050406030204" pitchFamily="18" charset="0"/>
                            <a:ea typeface="Verdana" panose="020B0604030504040204" pitchFamily="34" charset="0"/>
                            <a:cs typeface="Verdana" panose="020B0604030504040204" pitchFamily="34" charset="0"/>
                          </a:rPr>
                          <m:t>10</m:t>
                        </m:r>
                      </m:e>
                      <m:sup>
                        <m:r>
                          <a:rPr lang="en-US" sz="2400">
                            <a:latin typeface="Cambria Math" panose="02040503050406030204" pitchFamily="18" charset="0"/>
                            <a:ea typeface="Verdana" panose="020B0604030504040204" pitchFamily="34" charset="0"/>
                            <a:cs typeface="Verdana" panose="020B0604030504040204" pitchFamily="34" charset="0"/>
                          </a:rPr>
                          <m:t>−7</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r>
                          <a:rPr lang="en-US" sz="2400">
                            <a:latin typeface="Cambria Math" panose="02040503050406030204" pitchFamily="18" charset="0"/>
                            <a:ea typeface="Verdana" panose="020B0604030504040204" pitchFamily="34" charset="0"/>
                            <a:cs typeface="Verdana" panose="020B0604030504040204" pitchFamily="34" charset="0"/>
                          </a:rPr>
                          <m:t>1</m:t>
                        </m:r>
                      </m:num>
                      <m:den>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n-US" sz="2400">
                                <a:latin typeface="Cambria Math" panose="02040503050406030204" pitchFamily="18" charset="0"/>
                                <a:ea typeface="Verdana" panose="020B0604030504040204" pitchFamily="34" charset="0"/>
                                <a:cs typeface="Verdana" panose="020B0604030504040204" pitchFamily="34" charset="0"/>
                              </a:rPr>
                              <m:t>10</m:t>
                            </m:r>
                          </m:e>
                          <m:sup>
                            <m:r>
                              <a:rPr lang="en-US" sz="2400">
                                <a:latin typeface="Cambria Math" panose="02040503050406030204" pitchFamily="18" charset="0"/>
                                <a:ea typeface="Verdana" panose="020B0604030504040204" pitchFamily="34" charset="0"/>
                                <a:cs typeface="Verdana" panose="020B0604030504040204" pitchFamily="34" charset="0"/>
                              </a:rPr>
                              <m:t>7</m:t>
                            </m:r>
                          </m:sup>
                        </m:sSup>
                      </m:den>
                    </m:f>
                  </m:oMath>
                </a14:m>
                <a:r>
                  <a:rPr lang="en-US" sz="2400" dirty="0">
                    <a:latin typeface="Verdana" panose="020B0604030504040204" pitchFamily="34" charset="0"/>
                    <a:ea typeface="Verdana" panose="020B0604030504040204" pitchFamily="34" charset="0"/>
                    <a:cs typeface="Verdana" panose="020B0604030504040204" pitchFamily="34" charset="0"/>
                  </a:rPr>
                  <a:t>. Each of these expressions represent the same value.</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8" name="TextBox 7">
                <a:extLst>
                  <a:ext uri="{FF2B5EF4-FFF2-40B4-BE49-F238E27FC236}">
                    <a16:creationId xmlns:a16="http://schemas.microsoft.com/office/drawing/2014/main" xmlns:a14="http://schemas.microsoft.com/office/drawing/2010/main" xmlns="" id="{669E00F9-F39F-5043-888E-B0A2D8C9AE0F}"/>
                  </a:ext>
                </a:extLst>
              </p:cNvPr>
              <p:cNvSpPr txBox="1">
                <a:spLocks noRot="1" noChangeAspect="1" noMove="1" noResize="1" noEditPoints="1" noAdjustHandles="1" noChangeArrowheads="1" noChangeShapeType="1" noTextEdit="1"/>
              </p:cNvSpPr>
              <p:nvPr/>
            </p:nvSpPr>
            <p:spPr>
              <a:xfrm>
                <a:off x="1495552" y="1386026"/>
                <a:ext cx="9456928" cy="3430491"/>
              </a:xfrm>
              <a:prstGeom prst="rect">
                <a:avLst/>
              </a:prstGeom>
              <a:blipFill rotWithShape="0">
                <a:blip r:embed="rId3"/>
                <a:stretch>
                  <a:fillRect l="-966" t="-1421" r="-258"/>
                </a:stretch>
              </a:blipFill>
            </p:spPr>
            <p:txBody>
              <a:bodyPr/>
              <a:lstStyle/>
              <a:p>
                <a:r>
                  <a:rPr lang="en-US">
                    <a:noFill/>
                  </a:rPr>
                  <a:t> </a:t>
                </a:r>
              </a:p>
            </p:txBody>
          </p:sp>
        </mc:Fallback>
      </mc:AlternateContent>
      <p:pic>
        <p:nvPicPr>
          <p:cNvPr id="11" name="Picture 2" descr="Icon&#10;&#10;Description automatically generated">
            <a:extLst>
              <a:ext uri="{FF2B5EF4-FFF2-40B4-BE49-F238E27FC236}">
                <a16:creationId xmlns:a16="http://schemas.microsoft.com/office/drawing/2014/main" id="{6C9D3C33-BCD5-8F4D-9720-D6314D5D705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45744" y="22718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Google Shape;122;g104476d1465_1_17">
            <a:extLst>
              <a:ext uri="{FF2B5EF4-FFF2-40B4-BE49-F238E27FC236}">
                <a16:creationId xmlns:a16="http://schemas.microsoft.com/office/drawing/2014/main" id="{4AF3FE76-8A1E-694E-9B5D-B54E2FFB2A01}"/>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0"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148</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9856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498600" y="520393"/>
            <a:ext cx="9345466" cy="156966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each mathematical statement in an equivalent form by applying one or more laws of exponents. Then, write the equivalent decimal value.</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1E848C71-FBEB-1C43-9FB6-D6346C0231B1}"/>
                  </a:ext>
                </a:extLst>
              </p:cNvPr>
              <p:cNvGraphicFramePr>
                <a:graphicFrameLocks noGrp="1"/>
              </p:cNvGraphicFramePr>
              <p:nvPr>
                <p:extLst>
                  <p:ext uri="{D42A27DB-BD31-4B8C-83A1-F6EECF244321}">
                    <p14:modId xmlns:p14="http://schemas.microsoft.com/office/powerpoint/2010/main" val="4144853817"/>
                  </p:ext>
                </p:extLst>
              </p:nvPr>
            </p:nvGraphicFramePr>
            <p:xfrm>
              <a:off x="3136020" y="2154713"/>
              <a:ext cx="5919960" cy="4351339"/>
            </p:xfrm>
            <a:graphic>
              <a:graphicData uri="http://schemas.openxmlformats.org/drawingml/2006/table">
                <a:tbl>
                  <a:tblPr firstRow="1" firstCol="1" bandRow="1">
                    <a:tableStyleId>{A91F0D33-8C57-4600-99A7-42BC86742BE1}</a:tableStyleId>
                  </a:tblPr>
                  <a:tblGrid>
                    <a:gridCol w="1755920">
                      <a:extLst>
                        <a:ext uri="{9D8B030D-6E8A-4147-A177-3AD203B41FA5}">
                          <a16:colId xmlns:a16="http://schemas.microsoft.com/office/drawing/2014/main" val="142963784"/>
                        </a:ext>
                      </a:extLst>
                    </a:gridCol>
                    <a:gridCol w="1806090">
                      <a:extLst>
                        <a:ext uri="{9D8B030D-6E8A-4147-A177-3AD203B41FA5}">
                          <a16:colId xmlns:a16="http://schemas.microsoft.com/office/drawing/2014/main" val="827644534"/>
                        </a:ext>
                      </a:extLst>
                    </a:gridCol>
                    <a:gridCol w="2357950">
                      <a:extLst>
                        <a:ext uri="{9D8B030D-6E8A-4147-A177-3AD203B41FA5}">
                          <a16:colId xmlns:a16="http://schemas.microsoft.com/office/drawing/2014/main" val="4241826629"/>
                        </a:ext>
                      </a:extLst>
                    </a:gridCol>
                  </a:tblGrid>
                  <a:tr h="739159">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Mathematical Statement</a:t>
                          </a:r>
                          <a:endParaRPr lang="en-US" sz="1100" b="1" dirty="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Value Written as a Power of </a:t>
                          </a:r>
                          <a14:m>
                            <m:oMath xmlns:m="http://schemas.openxmlformats.org/officeDocument/2006/math">
                              <m:r>
                                <a:rPr lang="en-US" sz="1600" b="1" smtClean="0">
                                  <a:effectLst/>
                                  <a:latin typeface="Cambria Math" panose="02040503050406030204" pitchFamily="18" charset="0"/>
                                </a:rPr>
                                <m:t>𝟏𝟎</m:t>
                              </m:r>
                            </m:oMath>
                          </a14:m>
                          <a:endParaRPr lang="en-US" sz="1100" b="1" dirty="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Decimal Equivalent</a:t>
                          </a:r>
                          <a:endParaRPr lang="en-US" sz="1100" b="1" dirty="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79355213"/>
                      </a:ext>
                    </a:extLst>
                  </a:tr>
                  <a:tr h="120406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rPr>
                                    </m:ctrlPr>
                                  </m:sSupPr>
                                  <m:e>
                                    <m:d>
                                      <m:dPr>
                                        <m:ctrlPr>
                                          <a:rPr lang="en-US" sz="1600" i="1">
                                            <a:effectLst/>
                                            <a:latin typeface="Cambria Math" panose="02040503050406030204" pitchFamily="18" charset="0"/>
                                          </a:rPr>
                                        </m:ctrlPr>
                                      </m:dPr>
                                      <m:e>
                                        <m:f>
                                          <m:fPr>
                                            <m:ctrlPr>
                                              <a:rPr lang="en-US" sz="1600" i="1">
                                                <a:effectLst/>
                                                <a:latin typeface="Cambria Math" panose="02040503050406030204" pitchFamily="18" charset="0"/>
                                              </a:rPr>
                                            </m:ctrlPr>
                                          </m:fPr>
                                          <m:num>
                                            <m:r>
                                              <a:rPr lang="en-US" sz="1600">
                                                <a:effectLst/>
                                                <a:latin typeface="Cambria Math" panose="02040503050406030204" pitchFamily="18" charset="0"/>
                                              </a:rPr>
                                              <m:t>1</m:t>
                                            </m:r>
                                          </m:num>
                                          <m:den>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10</m:t>
                                                </m:r>
                                              </m:e>
                                              <m:sup>
                                                <m:r>
                                                  <a:rPr lang="en-US" sz="1600">
                                                    <a:effectLst/>
                                                    <a:latin typeface="Cambria Math" panose="02040503050406030204" pitchFamily="18" charset="0"/>
                                                  </a:rPr>
                                                  <m:t>−4</m:t>
                                                </m:r>
                                              </m:sup>
                                            </m:sSup>
                                          </m:den>
                                        </m:f>
                                      </m:e>
                                    </m:d>
                                  </m:e>
                                  <m:sup>
                                    <m:r>
                                      <a:rPr lang="en-US" sz="1600">
                                        <a:effectLst/>
                                        <a:latin typeface="Cambria Math" panose="02040503050406030204" pitchFamily="18" charset="0"/>
                                      </a:rPr>
                                      <m:t>2</m:t>
                                    </m:r>
                                  </m:sup>
                                </m:sSup>
                              </m:oMath>
                            </m:oMathPara>
                          </a14:m>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US" sz="110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8092531"/>
                      </a:ext>
                    </a:extLst>
                  </a:tr>
                  <a:tr h="1204060">
                    <a:tc>
                      <a:txBody>
                        <a:bodyPr/>
                        <a:lstStyle/>
                        <a:p>
                          <a:pPr marL="0" marR="0">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US" sz="110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rPr>
                                    </m:ctrlPr>
                                  </m:sSupPr>
                                  <m:e>
                                    <m:d>
                                      <m:dPr>
                                        <m:ctrlPr>
                                          <a:rPr lang="en-US" sz="1600" i="1">
                                            <a:effectLst/>
                                            <a:latin typeface="Cambria Math" panose="02040503050406030204" pitchFamily="18" charset="0"/>
                                          </a:rPr>
                                        </m:ctrlPr>
                                      </m:dPr>
                                      <m:e>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10</m:t>
                                            </m:r>
                                          </m:e>
                                          <m:sup>
                                            <m:r>
                                              <a:rPr lang="en-US" sz="1600">
                                                <a:effectLst/>
                                                <a:latin typeface="Cambria Math" panose="02040503050406030204" pitchFamily="18" charset="0"/>
                                              </a:rPr>
                                              <m:t>−11</m:t>
                                            </m:r>
                                          </m:sup>
                                        </m:sSup>
                                      </m:e>
                                    </m:d>
                                  </m:e>
                                  <m:sup>
                                    <m:r>
                                      <a:rPr lang="en-US" sz="1600">
                                        <a:effectLst/>
                                        <a:latin typeface="Cambria Math" panose="02040503050406030204" pitchFamily="18" charset="0"/>
                                      </a:rPr>
                                      <m:t>3</m:t>
                                    </m:r>
                                  </m:sup>
                                </m:sSup>
                                <m:r>
                                  <a:rPr lang="en-US" sz="1600">
                                    <a:effectLst/>
                                    <a:latin typeface="Cambria Math" panose="02040503050406030204" pitchFamily="18" charset="0"/>
                                  </a:rPr>
                                  <m:t>×</m:t>
                                </m:r>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10</m:t>
                                    </m:r>
                                  </m:e>
                                  <m:sup>
                                    <m:r>
                                      <a:rPr lang="en-US" sz="1600">
                                        <a:effectLst/>
                                        <a:latin typeface="Cambria Math" panose="02040503050406030204" pitchFamily="18" charset="0"/>
                                      </a:rPr>
                                      <m:t>27</m:t>
                                    </m:r>
                                  </m:sup>
                                </m:sSup>
                              </m:oMath>
                            </m:oMathPara>
                          </a14:m>
                          <a:endParaRPr lang="en-US" sz="11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US" sz="110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427905"/>
                      </a:ext>
                    </a:extLst>
                  </a:tr>
                  <a:tr h="12040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600" i="1">
                                        <a:effectLst/>
                                        <a:latin typeface="Cambria Math" panose="02040503050406030204" pitchFamily="18" charset="0"/>
                                      </a:rPr>
                                    </m:ctrlPr>
                                  </m:fPr>
                                  <m:num>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10</m:t>
                                        </m:r>
                                      </m:e>
                                      <m:sup>
                                        <m:r>
                                          <a:rPr lang="en-US" sz="1600">
                                            <a:effectLst/>
                                            <a:latin typeface="Cambria Math" panose="02040503050406030204" pitchFamily="18" charset="0"/>
                                          </a:rPr>
                                          <m:t>−13</m:t>
                                        </m:r>
                                      </m:sup>
                                    </m:sSup>
                                  </m:num>
                                  <m:den>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10</m:t>
                                        </m:r>
                                      </m:e>
                                      <m:sup>
                                        <m:r>
                                          <a:rPr lang="en-US" sz="1600">
                                            <a:effectLst/>
                                            <a:latin typeface="Cambria Math" panose="02040503050406030204" pitchFamily="18" charset="0"/>
                                          </a:rPr>
                                          <m:t>−5</m:t>
                                        </m:r>
                                      </m:sup>
                                    </m:sSup>
                                  </m:den>
                                </m:f>
                                <m:r>
                                  <a:rPr lang="en-US" sz="1600">
                                    <a:effectLst/>
                                    <a:latin typeface="Cambria Math" panose="02040503050406030204" pitchFamily="18" charset="0"/>
                                  </a:rPr>
                                  <m:t>∙</m:t>
                                </m:r>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10</m:t>
                                    </m:r>
                                  </m:e>
                                  <m:sup>
                                    <m:r>
                                      <a:rPr lang="en-US" sz="1600">
                                        <a:effectLst/>
                                        <a:latin typeface="Cambria Math" panose="02040503050406030204" pitchFamily="18" charset="0"/>
                                      </a:rPr>
                                      <m:t>8</m:t>
                                    </m:r>
                                  </m:sup>
                                </m:sSup>
                              </m:oMath>
                            </m:oMathPara>
                          </a14:m>
                          <a:endParaRPr lang="en-US" sz="110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US" sz="110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077550"/>
                      </a:ext>
                    </a:extLst>
                  </a:tr>
                </a:tbl>
              </a:graphicData>
            </a:graphic>
          </p:graphicFrame>
        </mc:Choice>
        <mc:Fallback xmlns="">
          <p:graphicFrame>
            <p:nvGraphicFramePr>
              <p:cNvPr id="2" name="Table 1">
                <a:extLst>
                  <a:ext uri="{FF2B5EF4-FFF2-40B4-BE49-F238E27FC236}">
                    <a16:creationId xmlns:a16="http://schemas.microsoft.com/office/drawing/2014/main" id="{1E848C71-FBEB-1C43-9FB6-D6346C0231B1}"/>
                  </a:ext>
                </a:extLst>
              </p:cNvPr>
              <p:cNvGraphicFramePr>
                <a:graphicFrameLocks noGrp="1"/>
              </p:cNvGraphicFramePr>
              <p:nvPr>
                <p:extLst>
                  <p:ext uri="{D42A27DB-BD31-4B8C-83A1-F6EECF244321}">
                    <p14:modId xmlns:p14="http://schemas.microsoft.com/office/powerpoint/2010/main" val="4144853817"/>
                  </p:ext>
                </p:extLst>
              </p:nvPr>
            </p:nvGraphicFramePr>
            <p:xfrm>
              <a:off x="1612020" y="2154712"/>
              <a:ext cx="5919960" cy="4351339"/>
            </p:xfrm>
            <a:graphic>
              <a:graphicData uri="http://schemas.openxmlformats.org/drawingml/2006/table">
                <a:tbl>
                  <a:tblPr firstRow="1" firstCol="1" bandRow="1">
                    <a:tableStyleId>{A91F0D33-8C57-4600-99A7-42BC86742BE1}</a:tableStyleId>
                  </a:tblPr>
                  <a:tblGrid>
                    <a:gridCol w="1755920">
                      <a:extLst>
                        <a:ext uri="{9D8B030D-6E8A-4147-A177-3AD203B41FA5}">
                          <a16:colId xmlns:a16="http://schemas.microsoft.com/office/drawing/2014/main" val="142963784"/>
                        </a:ext>
                      </a:extLst>
                    </a:gridCol>
                    <a:gridCol w="1806090">
                      <a:extLst>
                        <a:ext uri="{9D8B030D-6E8A-4147-A177-3AD203B41FA5}">
                          <a16:colId xmlns:a16="http://schemas.microsoft.com/office/drawing/2014/main" val="827644534"/>
                        </a:ext>
                      </a:extLst>
                    </a:gridCol>
                    <a:gridCol w="2357950">
                      <a:extLst>
                        <a:ext uri="{9D8B030D-6E8A-4147-A177-3AD203B41FA5}">
                          <a16:colId xmlns:a16="http://schemas.microsoft.com/office/drawing/2014/main" val="4241826629"/>
                        </a:ext>
                      </a:extLst>
                    </a:gridCol>
                  </a:tblGrid>
                  <a:tr h="739159">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Mathematical Statement</a:t>
                          </a:r>
                          <a:endParaRPr lang="en-US" sz="1100" b="1" dirty="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7203" t="-6897" r="-130769" b="-494828"/>
                          </a:stretch>
                        </a:blip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Decimal Equivalent</a:t>
                          </a:r>
                          <a:endParaRPr lang="en-US" sz="1100" b="1" dirty="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79355213"/>
                      </a:ext>
                    </a:extLst>
                  </a:tr>
                  <a:tr h="1204060">
                    <a:tc>
                      <a:txBody>
                        <a:bodyPr/>
                        <a:lstStyle/>
                        <a:p>
                          <a:endParaRPr lang="en-US"/>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64583" r="-237410" b="-198958"/>
                          </a:stretch>
                        </a:blipFill>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US" sz="110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8092531"/>
                      </a:ext>
                    </a:extLst>
                  </a:tr>
                  <a:tr h="1204060">
                    <a:tc>
                      <a:txBody>
                        <a:bodyPr/>
                        <a:lstStyle/>
                        <a:p>
                          <a:endParaRPr lang="en-US"/>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66316" r="-237410" b="-101053"/>
                          </a:stretch>
                        </a:blipFill>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427905"/>
                      </a:ext>
                    </a:extLst>
                  </a:tr>
                  <a:tr h="1204060">
                    <a:tc>
                      <a:txBody>
                        <a:bodyPr/>
                        <a:lstStyle/>
                        <a:p>
                          <a:endParaRPr lang="en-US"/>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266316" r="-237410" b="-1053"/>
                          </a:stretch>
                        </a:blipFill>
                      </a:tcPr>
                    </a:tc>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US" sz="110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0203" marR="6020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077550"/>
                      </a:ext>
                    </a:extLst>
                  </a:tr>
                </a:tbl>
              </a:graphicData>
            </a:graphic>
          </p:graphicFrame>
        </mc:Fallback>
      </mc:AlternateContent>
      <p:sp>
        <p:nvSpPr>
          <p:cNvPr id="7" name="Google Shape;122;g104476d1465_1_17">
            <a:extLst>
              <a:ext uri="{FF2B5EF4-FFF2-40B4-BE49-F238E27FC236}">
                <a16:creationId xmlns:a16="http://schemas.microsoft.com/office/drawing/2014/main" id="{617C3064-5527-3A41-9CB6-09E9BBDDA55A}"/>
              </a:ext>
            </a:extLst>
          </p:cNvPr>
          <p:cNvSpPr/>
          <p:nvPr/>
        </p:nvSpPr>
        <p:spPr>
          <a:xfrm>
            <a:off x="-18395"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148</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97385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333500" y="520393"/>
                <a:ext cx="9675666" cy="363843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Numbers like one-billionth, also known as a nano, can be written using powers of </a:t>
                </a:r>
                <a14:m>
                  <m:oMath xmlns:m="http://schemas.openxmlformats.org/officeDocument/2006/math">
                    <m:r>
                      <a:rPr lang="en-US" sz="2000" i="1">
                        <a:latin typeface="Cambria Math" panose="02040503050406030204" pitchFamily="18"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Write one-billionth, or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1,000,000,000</m:t>
                        </m:r>
                      </m:den>
                    </m:f>
                  </m:oMath>
                </a14:m>
                <a:r>
                  <a:rPr lang="en-US" sz="2000" dirty="0">
                    <a:latin typeface="Verdana" panose="020B0604030504040204" pitchFamily="34" charset="0"/>
                    <a:ea typeface="Verdana" panose="020B0604030504040204" pitchFamily="34" charset="0"/>
                    <a:cs typeface="Verdana" panose="020B0604030504040204" pitchFamily="34" charset="0"/>
                  </a:rPr>
                  <a:t>, as a power of </a:t>
                </a:r>
                <a14:m>
                  <m:oMath xmlns:m="http://schemas.openxmlformats.org/officeDocument/2006/math">
                    <m:r>
                      <a:rPr lang="en-US" sz="2000" i="1">
                        <a:latin typeface="Cambria Math" panose="02040503050406030204" pitchFamily="18"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One septillionth, </a:t>
                </a:r>
                <a14:m>
                  <m:oMath xmlns:m="http://schemas.openxmlformats.org/officeDocument/2006/math">
                    <m:r>
                      <a:rPr lang="en-US" sz="2000" i="1">
                        <a:latin typeface="Cambria Math" panose="02040503050406030204" pitchFamily="18" charset="0"/>
                      </a:rPr>
                      <m:t>0.000000000000000000000001</m:t>
                    </m:r>
                  </m:oMath>
                </a14:m>
                <a:r>
                  <a:rPr lang="en-US" sz="2000" dirty="0">
                    <a:latin typeface="Verdana" panose="020B0604030504040204" pitchFamily="34" charset="0"/>
                    <a:ea typeface="Verdana" panose="020B0604030504040204" pitchFamily="34" charset="0"/>
                    <a:cs typeface="Verdana" panose="020B0604030504040204" pitchFamily="34" charset="0"/>
                  </a:rPr>
                  <a:t>, is also known as </a:t>
                </a:r>
                <a:r>
                  <a:rPr lang="en-US" sz="2000" dirty="0" err="1">
                    <a:latin typeface="Verdana" panose="020B0604030504040204" pitchFamily="34" charset="0"/>
                    <a:ea typeface="Verdana" panose="020B0604030504040204" pitchFamily="34" charset="0"/>
                    <a:cs typeface="Verdana" panose="020B0604030504040204" pitchFamily="34" charset="0"/>
                  </a:rPr>
                  <a:t>yocto</a:t>
                </a:r>
                <a:r>
                  <a:rPr lang="en-US" sz="2000" dirty="0">
                    <a:latin typeface="Verdana" panose="020B0604030504040204" pitchFamily="34" charset="0"/>
                    <a:ea typeface="Verdana" panose="020B0604030504040204" pitchFamily="34" charset="0"/>
                    <a:cs typeface="Verdana" panose="020B0604030504040204" pitchFamily="34" charset="0"/>
                  </a:rPr>
                  <a:t>. Write one septillionth as a power of </a:t>
                </a:r>
                <a14:m>
                  <m:oMath xmlns:m="http://schemas.openxmlformats.org/officeDocument/2006/math">
                    <m:r>
                      <a:rPr lang="en-US" sz="2000" i="1">
                        <a:latin typeface="Cambria Math" panose="02040503050406030204" pitchFamily="18"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333500" y="520393"/>
                <a:ext cx="9675666" cy="3638432"/>
              </a:xfrm>
              <a:prstGeom prst="rect">
                <a:avLst/>
              </a:prstGeom>
              <a:blipFill rotWithShape="0">
                <a:blip r:embed="rId3"/>
                <a:stretch>
                  <a:fillRect l="-693" t="-838" r="-252" b="-1843"/>
                </a:stretch>
              </a:blipFill>
            </p:spPr>
            <p:txBody>
              <a:bodyPr/>
              <a:lstStyle/>
              <a:p>
                <a:r>
                  <a:rPr lang="en-US">
                    <a:noFill/>
                  </a:rPr>
                  <a:t> </a:t>
                </a:r>
              </a:p>
            </p:txBody>
          </p:sp>
        </mc:Fallback>
      </mc:AlternateContent>
      <p:sp>
        <p:nvSpPr>
          <p:cNvPr id="7" name="Google Shape;122;g104476d1465_1_17">
            <a:extLst>
              <a:ext uri="{FF2B5EF4-FFF2-40B4-BE49-F238E27FC236}">
                <a16:creationId xmlns:a16="http://schemas.microsoft.com/office/drawing/2014/main" id="{0F5397D4-4C1B-DC4E-A460-5F81D00138D3}"/>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78395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10" name="Google Shape;155;g104476d1465_1_39">
            <a:extLst>
              <a:ext uri="{FF2B5EF4-FFF2-40B4-BE49-F238E27FC236}">
                <a16:creationId xmlns:a16="http://schemas.microsoft.com/office/drawing/2014/main" id="{532AC5D9-D994-BD45-9038-1C609734012C}"/>
              </a:ext>
            </a:extLst>
          </p:cNvPr>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8"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34238" y="-82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3.9.4 Guided Instruction: </a:t>
            </a:r>
            <a:r>
              <a:rPr lang="en-US" sz="2800" b="1" dirty="0">
                <a:solidFill>
                  <a:srgbClr val="54B5D1"/>
                </a:solidFill>
                <a:latin typeface="Verdana"/>
                <a:ea typeface="Verdana"/>
                <a:cs typeface="Verdana"/>
              </a:rPr>
              <a:t>Writing Small Numbers in Scientific Notation </a:t>
            </a:r>
            <a:endParaRPr lang="en-US" sz="2800" b="1" dirty="0">
              <a:solidFill>
                <a:srgbClr val="54B5D1"/>
              </a:solidFill>
              <a:latin typeface="Verdana"/>
              <a:ea typeface="Verdana"/>
              <a:cs typeface="Verdana"/>
              <a:sym typeface="Verdana"/>
            </a:endParaRP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86938" y="269676"/>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434238" y="1386025"/>
                <a:ext cx="9579556" cy="3046988"/>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Powers of ten can also be used to express small numbers in scientific notation.</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 single red blood cell is about </a:t>
                </a:r>
                <a14:m>
                  <m:oMath xmlns:m="http://schemas.openxmlformats.org/officeDocument/2006/math">
                    <m:r>
                      <a:rPr lang="en-US" sz="2400">
                        <a:latin typeface="Cambria Math" panose="02040503050406030204" pitchFamily="18" charset="0"/>
                      </a:rPr>
                      <m:t>0.000007</m:t>
                    </m:r>
                  </m:oMath>
                </a14:m>
                <a:r>
                  <a:rPr lang="en-US" sz="2400" dirty="0">
                    <a:latin typeface="Verdana" panose="020B0604030504040204" pitchFamily="34" charset="0"/>
                    <a:ea typeface="Verdana" panose="020B0604030504040204" pitchFamily="34" charset="0"/>
                    <a:cs typeface="Verdana" panose="020B0604030504040204" pitchFamily="34" charset="0"/>
                  </a:rPr>
                  <a:t> meters in diameter.</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5988" indent="-4762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In what place is the </a:t>
                </a:r>
                <a14:m>
                  <m:oMath xmlns:m="http://schemas.openxmlformats.org/officeDocument/2006/math">
                    <m:r>
                      <a:rPr lang="en-US" sz="2400">
                        <a:latin typeface="Cambria Math" panose="02040503050406030204" pitchFamily="18" charset="0"/>
                      </a:rPr>
                      <m:t>7</m:t>
                    </m:r>
                  </m:oMath>
                </a14:m>
                <a:r>
                  <a:rPr lang="en-US" sz="2400" dirty="0">
                    <a:latin typeface="Verdana" panose="020B0604030504040204" pitchFamily="34" charset="0"/>
                    <a:ea typeface="Verdana" panose="020B0604030504040204" pitchFamily="34" charset="0"/>
                    <a:cs typeface="Verdana" panose="020B0604030504040204" pitchFamily="34" charset="0"/>
                  </a:rPr>
                  <a:t> in the value, </a:t>
                </a:r>
                <a14:m>
                  <m:oMath xmlns:m="http://schemas.openxmlformats.org/officeDocument/2006/math">
                    <m:r>
                      <a:rPr lang="en-US" sz="2400">
                        <a:latin typeface="Cambria Math" panose="02040503050406030204" pitchFamily="18" charset="0"/>
                      </a:rPr>
                      <m:t>0.000007</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434238" y="1386025"/>
                <a:ext cx="9579556" cy="3046988"/>
              </a:xfrm>
              <a:prstGeom prst="rect">
                <a:avLst/>
              </a:prstGeom>
              <a:blipFill rotWithShape="0">
                <a:blip r:embed="rId4"/>
                <a:stretch>
                  <a:fillRect l="-954" t="-1600" r="-318"/>
                </a:stretch>
              </a:blipFill>
            </p:spPr>
            <p:txBody>
              <a:bodyPr/>
              <a:lstStyle/>
              <a:p>
                <a:r>
                  <a:rPr lang="en-US">
                    <a:noFill/>
                  </a:rPr>
                  <a:t> </a:t>
                </a:r>
              </a:p>
            </p:txBody>
          </p:sp>
        </mc:Fallback>
      </mc:AlternateContent>
      <p:sp>
        <p:nvSpPr>
          <p:cNvPr id="10" name="Google Shape;122;g104476d1465_1_17">
            <a:extLst>
              <a:ext uri="{FF2B5EF4-FFF2-40B4-BE49-F238E27FC236}">
                <a16:creationId xmlns:a16="http://schemas.microsoft.com/office/drawing/2014/main" id="{A5FE9C71-2001-594E-A3A7-57373307CDB6}"/>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149</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77900" y="520393"/>
                <a:ext cx="10386866" cy="3416320"/>
              </a:xfrm>
              <a:prstGeom prst="rect">
                <a:avLst/>
              </a:prstGeom>
              <a:noFill/>
            </p:spPr>
            <p:txBody>
              <a:bodyPr wrap="square" rtlCol="0">
                <a:spAutoFit/>
              </a:bodyPr>
              <a:lstStyle/>
              <a:p>
                <a:pPr marL="915988" indent="-45878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Which power of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relates to this place value?</a:t>
                </a:r>
              </a:p>
              <a:p>
                <a:pPr marL="915988" indent="-45878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878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878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878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878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878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878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878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Express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0.000007</m:t>
                    </m:r>
                  </m:oMath>
                </a14:m>
                <a:r>
                  <a:rPr lang="en-US" sz="2400" dirty="0">
                    <a:latin typeface="Verdana" panose="020B0604030504040204" pitchFamily="34" charset="0"/>
                    <a:ea typeface="Verdana" panose="020B0604030504040204" pitchFamily="34" charset="0"/>
                    <a:cs typeface="Verdana" panose="020B0604030504040204" pitchFamily="34" charset="0"/>
                  </a:rPr>
                  <a:t> in scientific notation.</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977900" y="520393"/>
                <a:ext cx="10386866" cy="3416320"/>
              </a:xfrm>
              <a:prstGeom prst="rect">
                <a:avLst/>
              </a:prstGeom>
              <a:blipFill rotWithShape="0">
                <a:blip r:embed="rId3"/>
                <a:stretch>
                  <a:fillRect t="-1604" b="-2852"/>
                </a:stretch>
              </a:blipFill>
            </p:spPr>
            <p:txBody>
              <a:bodyPr/>
              <a:lstStyle/>
              <a:p>
                <a:r>
                  <a:rPr lang="en-US">
                    <a:noFill/>
                  </a:rPr>
                  <a:t> </a:t>
                </a:r>
              </a:p>
            </p:txBody>
          </p:sp>
        </mc:Fallback>
      </mc:AlternateContent>
      <p:sp>
        <p:nvSpPr>
          <p:cNvPr id="7" name="Google Shape;122;g104476d1465_1_17">
            <a:extLst>
              <a:ext uri="{FF2B5EF4-FFF2-40B4-BE49-F238E27FC236}">
                <a16:creationId xmlns:a16="http://schemas.microsoft.com/office/drawing/2014/main" id="{47269683-8CCC-814D-802F-D42E70DA22D4}"/>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1775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93800" y="520393"/>
                <a:ext cx="9955066" cy="1569660"/>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Consider the value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0.0000672</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5988" indent="-4762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value between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could be multiplied by a power of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to result in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0.0000672</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93800" y="520393"/>
                <a:ext cx="9955066" cy="1569660"/>
              </a:xfrm>
              <a:prstGeom prst="rect">
                <a:avLst/>
              </a:prstGeom>
              <a:blipFill rotWithShape="0">
                <a:blip r:embed="rId3"/>
                <a:stretch>
                  <a:fillRect l="-980" t="-3488" b="-7364"/>
                </a:stretch>
              </a:blipFill>
            </p:spPr>
            <p:txBody>
              <a:bodyPr/>
              <a:lstStyle/>
              <a:p>
                <a:r>
                  <a:rPr lang="en-US">
                    <a:noFill/>
                  </a:rPr>
                  <a:t> </a:t>
                </a:r>
              </a:p>
            </p:txBody>
          </p:sp>
        </mc:Fallback>
      </mc:AlternateContent>
      <p:sp>
        <p:nvSpPr>
          <p:cNvPr id="7" name="Google Shape;122;g104476d1465_1_17">
            <a:extLst>
              <a:ext uri="{FF2B5EF4-FFF2-40B4-BE49-F238E27FC236}">
                <a16:creationId xmlns:a16="http://schemas.microsoft.com/office/drawing/2014/main" id="{D88823C9-1847-5E47-B06D-35A715F98305}"/>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32628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257300" y="520393"/>
                <a:ext cx="10299700" cy="3046988"/>
              </a:xfrm>
              <a:prstGeom prst="rect">
                <a:avLst/>
              </a:prstGeom>
              <a:noFill/>
            </p:spPr>
            <p:txBody>
              <a:bodyPr wrap="square" rtlCol="0">
                <a:spAutoFit/>
              </a:bodyPr>
              <a:lstStyle/>
              <a:p>
                <a:pPr marL="915988" indent="-47625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Which digit is in the ones place of your answer to Part A?</a:t>
                </a:r>
              </a:p>
              <a:p>
                <a:pPr marL="915988" indent="-47625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7625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7625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7625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7625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7625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7625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In which place value is that digit in </a:t>
                </a:r>
                <a14:m>
                  <m:oMath xmlns:m="http://schemas.openxmlformats.org/officeDocument/2006/math">
                    <m:r>
                      <a:rPr lang="en-US" sz="2400">
                        <a:latin typeface="Cambria Math" panose="02040503050406030204" pitchFamily="18" charset="0"/>
                      </a:rPr>
                      <m:t>0.0000672</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257300" y="520393"/>
                <a:ext cx="10299700" cy="3046988"/>
              </a:xfrm>
              <a:prstGeom prst="rect">
                <a:avLst/>
              </a:prstGeom>
              <a:blipFill rotWithShape="0">
                <a:blip r:embed="rId3"/>
                <a:stretch>
                  <a:fillRect t="-1600" b="-3400"/>
                </a:stretch>
              </a:blipFill>
            </p:spPr>
            <p:txBody>
              <a:bodyPr/>
              <a:lstStyle/>
              <a:p>
                <a:r>
                  <a:rPr lang="en-US">
                    <a:noFill/>
                  </a:rPr>
                  <a:t> </a:t>
                </a:r>
              </a:p>
            </p:txBody>
          </p:sp>
        </mc:Fallback>
      </mc:AlternateContent>
      <p:sp>
        <p:nvSpPr>
          <p:cNvPr id="7" name="Google Shape;122;g104476d1465_1_17">
            <a:extLst>
              <a:ext uri="{FF2B5EF4-FFF2-40B4-BE49-F238E27FC236}">
                <a16:creationId xmlns:a16="http://schemas.microsoft.com/office/drawing/2014/main" id="{100D3979-874D-F846-BF58-5DC21A1F3895}"/>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948213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2007765" y="520393"/>
                <a:ext cx="8327136" cy="3416320"/>
              </a:xfrm>
              <a:prstGeom prst="rect">
                <a:avLst/>
              </a:prstGeom>
              <a:noFill/>
            </p:spPr>
            <p:txBody>
              <a:bodyPr wrap="square" rtlCol="0">
                <a:spAutoFit/>
              </a:bodyPr>
              <a:lstStyle/>
              <a:p>
                <a:pPr marL="915988" indent="-47625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Which power of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relates to this place value?</a:t>
                </a:r>
              </a:p>
              <a:p>
                <a:pPr marL="915988" indent="-47625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7625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7625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7625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7625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7625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7625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7625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Express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0.0000672</m:t>
                    </m:r>
                  </m:oMath>
                </a14:m>
                <a:r>
                  <a:rPr lang="en-US" sz="2400" dirty="0">
                    <a:latin typeface="Verdana" panose="020B0604030504040204" pitchFamily="34" charset="0"/>
                    <a:ea typeface="Verdana" panose="020B0604030504040204" pitchFamily="34" charset="0"/>
                    <a:cs typeface="Verdana" panose="020B0604030504040204" pitchFamily="34" charset="0"/>
                  </a:rPr>
                  <a:t> in scientific notation.</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83765" y="520393"/>
                <a:ext cx="8327136" cy="3416320"/>
              </a:xfrm>
              <a:prstGeom prst="rect">
                <a:avLst/>
              </a:prstGeom>
              <a:blipFill>
                <a:blip r:embed="rId4"/>
                <a:stretch>
                  <a:fillRect t="-1476" b="-2952"/>
                </a:stretch>
              </a:blipFill>
            </p:spPr>
            <p:txBody>
              <a:bodyPr/>
              <a:lstStyle/>
              <a:p>
                <a:r>
                  <a:rPr lang="en-US">
                    <a:noFill/>
                  </a:rPr>
                  <a:t> </a:t>
                </a:r>
              </a:p>
            </p:txBody>
          </p:sp>
        </mc:Fallback>
      </mc:AlternateContent>
      <p:sp>
        <p:nvSpPr>
          <p:cNvPr id="7" name="Google Shape;122;g104476d1465_1_17">
            <a:extLst>
              <a:ext uri="{FF2B5EF4-FFF2-40B4-BE49-F238E27FC236}">
                <a16:creationId xmlns:a16="http://schemas.microsoft.com/office/drawing/2014/main" id="{35C8C605-2590-664A-9EAE-A7E0167D067A}"/>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149</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63226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244600" y="520394"/>
                <a:ext cx="9853466" cy="3785652"/>
              </a:xfrm>
              <a:prstGeom prst="rect">
                <a:avLst/>
              </a:prstGeom>
              <a:noFill/>
            </p:spPr>
            <p:txBody>
              <a:bodyPr wrap="square" rtlCol="0">
                <a:spAutoFit/>
              </a:bodyPr>
              <a:lstStyle/>
              <a:p>
                <a:pPr marL="342900" indent="-3429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Consider the value </a:t>
                </a:r>
                <a14:m>
                  <m:oMath xmlns:m="http://schemas.openxmlformats.org/officeDocument/2006/math">
                    <m:r>
                      <a:rPr lang="en-US" sz="2400" i="1">
                        <a:latin typeface="Cambria Math" panose="02040503050406030204" pitchFamily="18" charset="0"/>
                      </a:rPr>
                      <m:t>3.4 × </m:t>
                    </m:r>
                    <m:sSup>
                      <m:sSupPr>
                        <m:ctrlPr>
                          <a:rPr lang="en-US" sz="2400" i="1">
                            <a:latin typeface="Cambria Math" panose="02040503050406030204" pitchFamily="18" charset="0"/>
                          </a:rPr>
                        </m:ctrlPr>
                      </m:sSupPr>
                      <m:e>
                        <m:r>
                          <a:rPr lang="en-US" sz="2400" i="1">
                            <a:latin typeface="Cambria Math" panose="02040503050406030204" pitchFamily="18" charset="0"/>
                          </a:rPr>
                          <m:t>10</m:t>
                        </m:r>
                      </m:e>
                      <m:sup>
                        <m:r>
                          <a:rPr lang="en-US" sz="2400" i="1">
                            <a:latin typeface="Cambria Math" panose="02040503050406030204" pitchFamily="18" charset="0"/>
                          </a:rPr>
                          <m:t>−9</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5988" lvl="1" indent="-4762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a:t>
                </a:r>
              </a:p>
              <a:p>
                <a:pPr marL="915988" indent="-476250"/>
                <a:r>
                  <a:rPr lang="en-US" sz="2400" dirty="0">
                    <a:latin typeface="Verdana" panose="020B0604030504040204" pitchFamily="34" charset="0"/>
                    <a:ea typeface="Verdana" panose="020B0604030504040204" pitchFamily="34" charset="0"/>
                    <a:cs typeface="Verdana" panose="020B0604030504040204" pitchFamily="34" charset="0"/>
                  </a:rPr>
                  <a:t> </a:t>
                </a:r>
              </a:p>
              <a:p>
                <a:pPr marL="915988">
                  <a:lnSpc>
                    <a:spcPct val="150000"/>
                  </a:lnSpc>
                  <a:tabLst>
                    <a:tab pos="908050" algn="l"/>
                  </a:tabLst>
                </a:pP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10</m:t>
                        </m:r>
                      </m:e>
                      <m:sup>
                        <m:r>
                          <a:rPr lang="en-US" sz="2400" i="1">
                            <a:latin typeface="Cambria Math" panose="02040503050406030204" pitchFamily="18" charset="0"/>
                          </a:rPr>
                          <m:t>−9</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relates to the _______________ place. When rewriting </a:t>
                </a:r>
                <a14:m>
                  <m:oMath xmlns:m="http://schemas.openxmlformats.org/officeDocument/2006/math">
                    <m:r>
                      <a:rPr lang="en-US" sz="2400" i="1">
                        <a:latin typeface="Cambria Math" panose="02040503050406030204" pitchFamily="18" charset="0"/>
                      </a:rPr>
                      <m:t>3.4×</m:t>
                    </m:r>
                    <m:sSup>
                      <m:sSupPr>
                        <m:ctrlPr>
                          <a:rPr lang="en-US" sz="2400" i="1">
                            <a:latin typeface="Cambria Math" panose="02040503050406030204" pitchFamily="18" charset="0"/>
                          </a:rPr>
                        </m:ctrlPr>
                      </m:sSupPr>
                      <m:e>
                        <m:r>
                          <a:rPr lang="en-US" sz="2400" i="1">
                            <a:latin typeface="Cambria Math" panose="02040503050406030204" pitchFamily="18" charset="0"/>
                          </a:rPr>
                          <m:t>10</m:t>
                        </m:r>
                      </m:e>
                      <m:sup>
                        <m:r>
                          <a:rPr lang="en-US" sz="2400" i="1">
                            <a:latin typeface="Cambria Math" panose="02040503050406030204" pitchFamily="18" charset="0"/>
                          </a:rPr>
                          <m:t>−9</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in standard form, the ____ will be in the billionths place, followed by the ____. The places before the </a:t>
                </a:r>
                <a14:m>
                  <m:oMath xmlns:m="http://schemas.openxmlformats.org/officeDocument/2006/math">
                    <m:r>
                      <a:rPr lang="en-US" sz="2400" i="1">
                        <a:latin typeface="Cambria Math" panose="02040503050406030204" pitchFamily="18" charset="0"/>
                      </a:rPr>
                      <m:t>3</m:t>
                    </m:r>
                  </m:oMath>
                </a14:m>
                <a:r>
                  <a:rPr lang="en-US" sz="2400" dirty="0">
                    <a:latin typeface="Verdana" panose="020B0604030504040204" pitchFamily="34" charset="0"/>
                    <a:ea typeface="Verdana" panose="020B0604030504040204" pitchFamily="34" charset="0"/>
                    <a:cs typeface="Verdana" panose="020B0604030504040204" pitchFamily="34" charset="0"/>
                  </a:rPr>
                  <a:t> will each hold the digit, ____.</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244600" y="520394"/>
                <a:ext cx="9853466" cy="3785652"/>
              </a:xfrm>
              <a:prstGeom prst="rect">
                <a:avLst/>
              </a:prstGeom>
              <a:blipFill rotWithShape="0">
                <a:blip r:embed="rId3"/>
                <a:stretch>
                  <a:fillRect l="-928" t="-12238" b="-805"/>
                </a:stretch>
              </a:blipFill>
            </p:spPr>
            <p:txBody>
              <a:bodyPr/>
              <a:lstStyle/>
              <a:p>
                <a:r>
                  <a:rPr lang="en-US">
                    <a:noFill/>
                  </a:rPr>
                  <a:t> </a:t>
                </a:r>
              </a:p>
            </p:txBody>
          </p:sp>
        </mc:Fallback>
      </mc:AlternateContent>
      <p:sp>
        <p:nvSpPr>
          <p:cNvPr id="7" name="Google Shape;122;g104476d1465_1_17">
            <a:extLst>
              <a:ext uri="{FF2B5EF4-FFF2-40B4-BE49-F238E27FC236}">
                <a16:creationId xmlns:a16="http://schemas.microsoft.com/office/drawing/2014/main" id="{7D1D49B4-88D9-D341-8775-A0EADF186457}"/>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03318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2007765" y="520394"/>
            <a:ext cx="8327136" cy="461665"/>
          </a:xfrm>
          <a:prstGeom prst="rect">
            <a:avLst/>
          </a:prstGeom>
          <a:noFill/>
        </p:spPr>
        <p:txBody>
          <a:bodyPr wrap="square" rtlCol="0">
            <a:spAutoFit/>
          </a:bodyPr>
          <a:lstStyle/>
          <a:p>
            <a:pPr marL="915988" lvl="1" indent="-47625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Express this value in standard form.</a:t>
            </a:r>
          </a:p>
        </p:txBody>
      </p:sp>
      <p:sp>
        <p:nvSpPr>
          <p:cNvPr id="7" name="Google Shape;122;g104476d1465_1_17">
            <a:extLst>
              <a:ext uri="{FF2B5EF4-FFF2-40B4-BE49-F238E27FC236}">
                <a16:creationId xmlns:a16="http://schemas.microsoft.com/office/drawing/2014/main" id="{9872A989-A29F-CB44-81BC-2C1882BCBDE6}"/>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149</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726899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155;g104476d1465_1_39">
            <a:extLst>
              <a:ext uri="{FF2B5EF4-FFF2-40B4-BE49-F238E27FC236}">
                <a16:creationId xmlns:a16="http://schemas.microsoft.com/office/drawing/2014/main" id="{E4B55E73-8AB0-8449-83FD-9B27A4EB126A}"/>
              </a:ext>
            </a:extLst>
          </p:cNvPr>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8"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150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32984"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3.9.5 Guided Practice: </a:t>
            </a:r>
            <a:r>
              <a:rPr lang="en-US" sz="2800" b="1" dirty="0">
                <a:solidFill>
                  <a:srgbClr val="54B5D1"/>
                </a:solidFill>
                <a:latin typeface="Verdana"/>
                <a:ea typeface="Verdana"/>
                <a:cs typeface="Verdana"/>
              </a:rPr>
              <a:t>Writing Small Numbers in Scientific Notation</a:t>
            </a:r>
            <a:endParaRPr lang="en-US" sz="2800" b="1" dirty="0">
              <a:solidFill>
                <a:srgbClr val="54B5D1"/>
              </a:solidFill>
              <a:latin typeface="Verdana"/>
              <a:ea typeface="Verdana"/>
              <a:cs typeface="Verdana"/>
              <a:sym typeface="Verdana"/>
            </a:endParaRP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3176" y="16602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1432984" y="1386025"/>
                <a:ext cx="9582064" cy="341632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density of oxygen is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1332</m:t>
                    </m:r>
                  </m:oMath>
                </a14:m>
                <a:r>
                  <a:rPr lang="en-US" sz="2400" dirty="0">
                    <a:latin typeface="Verdana" panose="020B0604030504040204" pitchFamily="34" charset="0"/>
                    <a:ea typeface="Verdana" panose="020B0604030504040204" pitchFamily="34" charset="0"/>
                    <a:cs typeface="Verdana" panose="020B0604030504040204" pitchFamily="34" charset="0"/>
                  </a:rPr>
                  <a:t> millionths of a gram per cubic centimeter.</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5988" lvl="2" indent="-4762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Express this value as a decimal in standard form.</a:t>
                </a:r>
              </a:p>
              <a:p>
                <a:pPr marL="915988" lvl="2"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2"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2"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2" indent="-4762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Express this value in scientific notation.</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31D40250-DEDD-2C41-8538-3D4DD18CCC4A}"/>
                  </a:ext>
                </a:extLst>
              </p:cNvPr>
              <p:cNvSpPr txBox="1">
                <a:spLocks noRot="1" noChangeAspect="1" noMove="1" noResize="1" noEditPoints="1" noAdjustHandles="1" noChangeArrowheads="1" noChangeShapeType="1" noTextEdit="1"/>
              </p:cNvSpPr>
              <p:nvPr/>
            </p:nvSpPr>
            <p:spPr>
              <a:xfrm>
                <a:off x="1432984" y="1386025"/>
                <a:ext cx="9582064" cy="3416320"/>
              </a:xfrm>
              <a:prstGeom prst="rect">
                <a:avLst/>
              </a:prstGeom>
              <a:blipFill rotWithShape="0">
                <a:blip r:embed="rId4"/>
                <a:stretch>
                  <a:fillRect l="-954" t="-1604"/>
                </a:stretch>
              </a:blipFill>
            </p:spPr>
            <p:txBody>
              <a:bodyPr/>
              <a:lstStyle/>
              <a:p>
                <a:r>
                  <a:rPr lang="en-US">
                    <a:noFill/>
                  </a:rPr>
                  <a:t> </a:t>
                </a:r>
              </a:p>
            </p:txBody>
          </p:sp>
        </mc:Fallback>
      </mc:AlternateContent>
      <p:sp>
        <p:nvSpPr>
          <p:cNvPr id="11" name="Google Shape;122;g104476d1465_1_17">
            <a:extLst>
              <a:ext uri="{FF2B5EF4-FFF2-40B4-BE49-F238E27FC236}">
                <a16:creationId xmlns:a16="http://schemas.microsoft.com/office/drawing/2014/main" id="{3F76F678-A237-8949-809F-7093EB112248}"/>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150</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079500" y="520393"/>
                <a:ext cx="10183666" cy="1946302"/>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Mycoplasmas bacteria is about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2.5×</m:t>
                    </m:r>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n-US" sz="2400">
                            <a:latin typeface="Cambria Math" panose="02040503050406030204" pitchFamily="18" charset="0"/>
                            <a:ea typeface="Verdana" panose="020B0604030504040204" pitchFamily="34" charset="0"/>
                            <a:cs typeface="Verdana" panose="020B0604030504040204" pitchFamily="34" charset="0"/>
                          </a:rPr>
                          <m:t>10</m:t>
                        </m:r>
                      </m:e>
                      <m:sup>
                        <m:r>
                          <a:rPr lang="en-US" sz="2400">
                            <a:latin typeface="Cambria Math" panose="02040503050406030204" pitchFamily="18" charset="0"/>
                            <a:ea typeface="Verdana" panose="020B0604030504040204" pitchFamily="34" charset="0"/>
                            <a:cs typeface="Verdana" panose="020B0604030504040204" pitchFamily="34" charset="0"/>
                          </a:rPr>
                          <m:t>−4</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millimeter (mm) in size.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a:latin typeface="Verdana" panose="020B0604030504040204" pitchFamily="34" charset="0"/>
                    <a:ea typeface="Verdana" panose="020B0604030504040204" pitchFamily="34" charset="0"/>
                    <a:cs typeface="Verdana" panose="020B0604030504040204" pitchFamily="34" charset="0"/>
                  </a:rPr>
                  <a:t>Express this value in standard form.</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079500" y="520393"/>
                <a:ext cx="10183666" cy="1946302"/>
              </a:xfrm>
              <a:prstGeom prst="rect">
                <a:avLst/>
              </a:prstGeom>
              <a:blipFill rotWithShape="0">
                <a:blip r:embed="rId3"/>
                <a:stretch>
                  <a:fillRect l="-898" t="-2813" r="-299"/>
                </a:stretch>
              </a:blipFill>
            </p:spPr>
            <p:txBody>
              <a:bodyPr/>
              <a:lstStyle/>
              <a:p>
                <a:r>
                  <a:rPr lang="en-US">
                    <a:noFill/>
                  </a:rPr>
                  <a:t> </a:t>
                </a:r>
              </a:p>
            </p:txBody>
          </p:sp>
        </mc:Fallback>
      </mc:AlternateContent>
      <p:sp>
        <p:nvSpPr>
          <p:cNvPr id="7" name="Google Shape;122;g104476d1465_1_17">
            <a:extLst>
              <a:ext uri="{FF2B5EF4-FFF2-40B4-BE49-F238E27FC236}">
                <a16:creationId xmlns:a16="http://schemas.microsoft.com/office/drawing/2014/main" id="{31284EFC-BD09-844C-A953-2953BEC061B1}"/>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150</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06837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Google Shape;155;g104476d1465_1_39">
            <a:extLst>
              <a:ext uri="{FF2B5EF4-FFF2-40B4-BE49-F238E27FC236}">
                <a16:creationId xmlns:a16="http://schemas.microsoft.com/office/drawing/2014/main" id="{557A07F9-BE22-2C43-8CD3-0D9A2A104B54}"/>
              </a:ext>
            </a:extLst>
          </p:cNvPr>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7"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150</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732450" y="7535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3.9.6 Collaboration: </a:t>
            </a:r>
            <a:r>
              <a:rPr lang="en-US" sz="2800" b="1" dirty="0">
                <a:solidFill>
                  <a:srgbClr val="33BEA6"/>
                </a:solidFill>
                <a:latin typeface="Verdana"/>
                <a:ea typeface="Verdana"/>
                <a:cs typeface="Verdana"/>
              </a:rPr>
              <a:t>Comparing Small Numbers Written in Scientific Notation</a:t>
            </a:r>
            <a:endParaRPr lang="en-US" sz="2800" b="1" dirty="0">
              <a:solidFill>
                <a:srgbClr val="33BEA6"/>
              </a:solidFill>
              <a:latin typeface="Verdana"/>
              <a:ea typeface="Verdana"/>
              <a:cs typeface="Verdana"/>
              <a:sym typeface="Verdana"/>
            </a:endParaRP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34890" y="36330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684698" y="1386025"/>
            <a:ext cx="9078636" cy="1200329"/>
          </a:xfrm>
          <a:prstGeom prst="rect">
            <a:avLst/>
          </a:prstGeom>
          <a:noFill/>
        </p:spPr>
        <p:txBody>
          <a:bodyPr wrap="square" rtlCol="0">
            <a:spAutoFit/>
          </a:bodyPr>
          <a:lstStyle/>
          <a:p>
            <a:pPr marL="457200" lvl="1"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5988" lvl="2" indent="-4587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81D05A6F-3C58-BA41-915D-15DD27271597}"/>
                  </a:ext>
                </a:extLst>
              </p:cNvPr>
              <p:cNvGraphicFramePr>
                <a:graphicFrameLocks noGrp="1"/>
              </p:cNvGraphicFramePr>
              <p:nvPr>
                <p:extLst>
                  <p:ext uri="{D42A27DB-BD31-4B8C-83A1-F6EECF244321}">
                    <p14:modId xmlns:p14="http://schemas.microsoft.com/office/powerpoint/2010/main" val="2125091373"/>
                  </p:ext>
                </p:extLst>
              </p:nvPr>
            </p:nvGraphicFramePr>
            <p:xfrm>
              <a:off x="3259585" y="3429000"/>
              <a:ext cx="5672830" cy="1942908"/>
            </p:xfrm>
            <a:graphic>
              <a:graphicData uri="http://schemas.openxmlformats.org/drawingml/2006/table">
                <a:tbl>
                  <a:tblPr firstRow="1" firstCol="1" bandRow="1">
                    <a:tableStyleId>{A91F0D33-8C57-4600-99A7-42BC86742BE1}</a:tableStyleId>
                  </a:tblPr>
                  <a:tblGrid>
                    <a:gridCol w="2920752">
                      <a:extLst>
                        <a:ext uri="{9D8B030D-6E8A-4147-A177-3AD203B41FA5}">
                          <a16:colId xmlns:a16="http://schemas.microsoft.com/office/drawing/2014/main" val="954796856"/>
                        </a:ext>
                      </a:extLst>
                    </a:gridCol>
                    <a:gridCol w="2752078">
                      <a:extLst>
                        <a:ext uri="{9D8B030D-6E8A-4147-A177-3AD203B41FA5}">
                          <a16:colId xmlns:a16="http://schemas.microsoft.com/office/drawing/2014/main" val="4220229696"/>
                        </a:ext>
                      </a:extLst>
                    </a:gridCol>
                  </a:tblGrid>
                  <a:tr h="448364">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Scientific Notation</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Standard Form</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39684449"/>
                      </a:ext>
                    </a:extLst>
                  </a:tr>
                  <a:tr h="74727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7.2×</m:t>
                                </m:r>
                                <m:sSup>
                                  <m:sSupPr>
                                    <m:ctrlPr>
                                      <a:rPr lang="en-US" sz="1800" i="1">
                                        <a:effectLst/>
                                        <a:latin typeface="Cambria Math" panose="02040503050406030204" pitchFamily="18" charset="0"/>
                                      </a:rPr>
                                    </m:ctrlPr>
                                  </m:sSupPr>
                                  <m:e>
                                    <m:r>
                                      <a:rPr lang="en-US" sz="1800">
                                        <a:effectLst/>
                                        <a:latin typeface="Cambria Math" panose="02040503050406030204" pitchFamily="18" charset="0"/>
                                      </a:rPr>
                                      <m:t>10</m:t>
                                    </m:r>
                                  </m:e>
                                  <m:sup>
                                    <m:r>
                                      <a:rPr lang="en-US" sz="1800">
                                        <a:effectLst/>
                                        <a:latin typeface="Cambria Math" panose="02040503050406030204" pitchFamily="18" charset="0"/>
                                      </a:rPr>
                                      <m:t>−4</m:t>
                                    </m:r>
                                  </m:sup>
                                </m:sSup>
                              </m:oMath>
                            </m:oMathPara>
                          </a14:m>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0630609"/>
                      </a:ext>
                    </a:extLst>
                  </a:tr>
                  <a:tr h="747272">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0.00000018</m:t>
                                </m:r>
                              </m:oMath>
                            </m:oMathPara>
                          </a14:m>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349714"/>
                      </a:ext>
                    </a:extLst>
                  </a:tr>
                </a:tbl>
              </a:graphicData>
            </a:graphic>
          </p:graphicFrame>
        </mc:Choice>
        <mc:Fallback xmlns="">
          <p:graphicFrame>
            <p:nvGraphicFramePr>
              <p:cNvPr id="2" name="Table 1">
                <a:extLst>
                  <a:ext uri="{FF2B5EF4-FFF2-40B4-BE49-F238E27FC236}">
                    <a16:creationId xmlns:a16="http://schemas.microsoft.com/office/drawing/2014/main" id="{81D05A6F-3C58-BA41-915D-15DD27271597}"/>
                  </a:ext>
                </a:extLst>
              </p:cNvPr>
              <p:cNvGraphicFramePr>
                <a:graphicFrameLocks noGrp="1"/>
              </p:cNvGraphicFramePr>
              <p:nvPr>
                <p:extLst>
                  <p:ext uri="{D42A27DB-BD31-4B8C-83A1-F6EECF244321}">
                    <p14:modId xmlns:p14="http://schemas.microsoft.com/office/powerpoint/2010/main" val="2125091373"/>
                  </p:ext>
                </p:extLst>
              </p:nvPr>
            </p:nvGraphicFramePr>
            <p:xfrm>
              <a:off x="1735585" y="3429000"/>
              <a:ext cx="5672830" cy="1942908"/>
            </p:xfrm>
            <a:graphic>
              <a:graphicData uri="http://schemas.openxmlformats.org/drawingml/2006/table">
                <a:tbl>
                  <a:tblPr firstRow="1" firstCol="1" bandRow="1">
                    <a:tableStyleId>{A91F0D33-8C57-4600-99A7-42BC86742BE1}</a:tableStyleId>
                  </a:tblPr>
                  <a:tblGrid>
                    <a:gridCol w="2920752">
                      <a:extLst>
                        <a:ext uri="{9D8B030D-6E8A-4147-A177-3AD203B41FA5}">
                          <a16:colId xmlns:a16="http://schemas.microsoft.com/office/drawing/2014/main" val="954796856"/>
                        </a:ext>
                      </a:extLst>
                    </a:gridCol>
                    <a:gridCol w="2752078">
                      <a:extLst>
                        <a:ext uri="{9D8B030D-6E8A-4147-A177-3AD203B41FA5}">
                          <a16:colId xmlns:a16="http://schemas.microsoft.com/office/drawing/2014/main" val="4220229696"/>
                        </a:ext>
                      </a:extLst>
                    </a:gridCol>
                  </a:tblGrid>
                  <a:tr h="448364">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Scientific Notation</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Standard Form</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39684449"/>
                      </a:ext>
                    </a:extLst>
                  </a:tr>
                  <a:tr h="747272">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33" t="-61017" r="-94372" b="-103390"/>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0630609"/>
                      </a:ext>
                    </a:extLst>
                  </a:tr>
                  <a:tr h="747272">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6912" t="-161017" r="-461" b="-3390"/>
                          </a:stretch>
                        </a:blipFill>
                      </a:tcPr>
                    </a:tc>
                    <a:extLst>
                      <a:ext uri="{0D108BD9-81ED-4DB2-BD59-A6C34878D82A}">
                        <a16:rowId xmlns:a16="http://schemas.microsoft.com/office/drawing/2014/main" val="155349714"/>
                      </a:ext>
                    </a:extLst>
                  </a:tr>
                </a:tbl>
              </a:graphicData>
            </a:graphic>
          </p:graphicFrame>
        </mc:Fallback>
      </mc:AlternateContent>
      <p:sp>
        <p:nvSpPr>
          <p:cNvPr id="12" name="Google Shape;122;g104476d1465_1_17">
            <a:extLst>
              <a:ext uri="{FF2B5EF4-FFF2-40B4-BE49-F238E27FC236}">
                <a16:creationId xmlns:a16="http://schemas.microsoft.com/office/drawing/2014/main" id="{6DAC181B-E354-2D44-A51D-F2A8813708A3}"/>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1"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150</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2007765" y="520393"/>
                <a:ext cx="8327136" cy="2677656"/>
              </a:xfrm>
              <a:prstGeom prst="rect">
                <a:avLst/>
              </a:prstGeom>
              <a:noFill/>
            </p:spPr>
            <p:txBody>
              <a:bodyPr wrap="square" rtlCol="0">
                <a:spAutoFit/>
              </a:bodyPr>
              <a:lstStyle/>
              <a:p>
                <a:pPr marL="915988" lvl="2" indent="-45878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statement to compare the factors being multiplied by powers of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in each number that is expressed in scientific notation.</a:t>
                </a:r>
              </a:p>
              <a:p>
                <a:pPr marL="915988" indent="-458788"/>
                <a:r>
                  <a:rPr lang="en-US" sz="2400" dirty="0">
                    <a:latin typeface="Verdana" panose="020B0604030504040204" pitchFamily="34" charset="0"/>
                    <a:ea typeface="Verdana" panose="020B0604030504040204" pitchFamily="34" charset="0"/>
                    <a:cs typeface="Verdana" panose="020B0604030504040204" pitchFamily="34" charset="0"/>
                  </a:rPr>
                  <a:t> </a:t>
                </a:r>
              </a:p>
              <a:p>
                <a:pPr marL="915988"/>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7.2</m:t>
                    </m:r>
                  </m:oMath>
                </a14:m>
                <a:r>
                  <a:rPr lang="en-US" sz="2400" dirty="0">
                    <a:latin typeface="Verdana" panose="020B0604030504040204" pitchFamily="34" charset="0"/>
                    <a:ea typeface="Verdana" panose="020B0604030504040204" pitchFamily="34" charset="0"/>
                    <a:cs typeface="Verdana" panose="020B0604030504040204" pitchFamily="34" charset="0"/>
                  </a:rPr>
                  <a:t> is ____ times		       than ____.</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83765" y="520393"/>
                <a:ext cx="8327136" cy="2677656"/>
              </a:xfrm>
              <a:prstGeom prst="rect">
                <a:avLst/>
              </a:prstGeom>
              <a:blipFill>
                <a:blip r:embed="rId4"/>
                <a:stretch>
                  <a:fillRect t="-1878"/>
                </a:stretch>
              </a:blipFill>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6820B18D-559D-4641-8B6C-F8D3CBDB274B}"/>
              </a:ext>
            </a:extLst>
          </p:cNvPr>
          <p:cNvSpPr/>
          <p:nvPr/>
        </p:nvSpPr>
        <p:spPr>
          <a:xfrm>
            <a:off x="5677440" y="2183076"/>
            <a:ext cx="1637311" cy="734060"/>
          </a:xfrm>
          <a:prstGeom prst="roundRect">
            <a:avLst/>
          </a:prstGeom>
          <a:noFill/>
          <a:ln w="9525"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smaller</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spcAft>
                <a:spcPts val="1000"/>
              </a:spcAft>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larger</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8" name="Google Shape;122;g104476d1465_1_17">
            <a:extLst>
              <a:ext uri="{FF2B5EF4-FFF2-40B4-BE49-F238E27FC236}">
                <a16:creationId xmlns:a16="http://schemas.microsoft.com/office/drawing/2014/main" id="{19FFF531-CEBB-454D-A15F-46189CFC357B}"/>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150</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34841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2007765" y="520393"/>
                <a:ext cx="8327136" cy="2315634"/>
              </a:xfrm>
              <a:prstGeom prst="rect">
                <a:avLst/>
              </a:prstGeom>
              <a:noFill/>
            </p:spPr>
            <p:txBody>
              <a:bodyPr wrap="square" rtlCol="0">
                <a:spAutoFit/>
              </a:bodyPr>
              <a:lstStyle/>
              <a:p>
                <a:pPr marL="915988" lvl="2" indent="-458788">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Complete the statement to compare the powers of </a:t>
                </a:r>
                <a14:m>
                  <m:oMath xmlns:m="http://schemas.openxmlformats.org/officeDocument/2006/math">
                    <m:r>
                      <a:rPr lang="en-US" sz="2400" i="1">
                        <a:latin typeface="Cambria Math" panose="02040503050406030204" pitchFamily="18"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in each number that is expressed in scientific notation.</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5988"/>
                <a14:m>
                  <m:oMath xmlns:m="http://schemas.openxmlformats.org/officeDocument/2006/math">
                    <m:sSup>
                      <m:sSupPr>
                        <m:ctrlPr>
                          <a:rPr lang="en-US" sz="2400" i="1">
                            <a:latin typeface="Cambria Math" panose="02040503050406030204" pitchFamily="18" charset="0"/>
                          </a:rPr>
                        </m:ctrlPr>
                      </m:sSupPr>
                      <m:e>
                        <m:r>
                          <a:rPr lang="en-US" sz="2400">
                            <a:latin typeface="Cambria Math" panose="02040503050406030204" pitchFamily="18" charset="0"/>
                          </a:rPr>
                          <m:t>10</m:t>
                        </m:r>
                      </m:e>
                      <m:sup>
                        <m:r>
                          <a:rPr lang="en-US" sz="2400" i="1">
                            <a:latin typeface="Cambria Math" panose="02040503050406030204" pitchFamily="18" charset="0"/>
                          </a:rPr>
                          <m:t>−</m:t>
                        </m:r>
                        <m:r>
                          <a:rPr lang="en-US" sz="2400">
                            <a:latin typeface="Cambria Math" panose="02040503050406030204" pitchFamily="18" charset="0"/>
                          </a:rPr>
                          <m:t>4</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is ________ times 		than </a:t>
                </a:r>
                <a14:m>
                  <m:oMath xmlns:m="http://schemas.openxmlformats.org/officeDocument/2006/math">
                    <m:r>
                      <a:rPr lang="en-US" sz="2400" i="1">
                        <a:latin typeface="Cambria Math" panose="02040503050406030204" pitchFamily="18"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83765" y="520393"/>
                <a:ext cx="8327136" cy="2315634"/>
              </a:xfrm>
              <a:prstGeom prst="rect">
                <a:avLst/>
              </a:prstGeom>
              <a:blipFill>
                <a:blip r:embed="rId4"/>
                <a:stretch>
                  <a:fillRect t="-2174" r="-1979" b="-4891"/>
                </a:stretch>
              </a:blipFill>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6820B18D-559D-4641-8B6C-F8D3CBDB274B}"/>
              </a:ext>
            </a:extLst>
          </p:cNvPr>
          <p:cNvSpPr/>
          <p:nvPr/>
        </p:nvSpPr>
        <p:spPr>
          <a:xfrm>
            <a:off x="6722497" y="2227469"/>
            <a:ext cx="1637311" cy="734060"/>
          </a:xfrm>
          <a:prstGeom prst="roundRect">
            <a:avLst/>
          </a:prstGeom>
          <a:noFill/>
          <a:ln w="9525"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smaller</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spcAft>
                <a:spcPts val="1000"/>
              </a:spcAft>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larger</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561CEEF3-C1C2-6C4E-B4D6-0D00E969726E}"/>
              </a:ext>
            </a:extLst>
          </p:cNvPr>
          <p:cNvSpPr/>
          <p:nvPr/>
        </p:nvSpPr>
        <p:spPr>
          <a:xfrm>
            <a:off x="9637810" y="2139519"/>
            <a:ext cx="415166" cy="407991"/>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Google Shape;122;g104476d1465_1_17">
            <a:extLst>
              <a:ext uri="{FF2B5EF4-FFF2-40B4-BE49-F238E27FC236}">
                <a16:creationId xmlns:a16="http://schemas.microsoft.com/office/drawing/2014/main" id="{ABCBF917-30C4-A34E-8F73-961EDF3E6E90}"/>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150</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840696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2007765" y="520393"/>
                <a:ext cx="8327136" cy="2315634"/>
              </a:xfrm>
              <a:prstGeom prst="rect">
                <a:avLst/>
              </a:prstGeom>
              <a:noFill/>
            </p:spPr>
            <p:txBody>
              <a:bodyPr wrap="square" rtlCol="0">
                <a:spAutoFit/>
              </a:bodyPr>
              <a:lstStyle/>
              <a:p>
                <a:pPr marL="915988" lvl="2" indent="-458788">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pPr marL="915988"/>
                <a:r>
                  <a:rPr lang="en-US" sz="2400" dirty="0">
                    <a:latin typeface="Verdana" panose="020B0604030504040204" pitchFamily="34" charset="0"/>
                    <a:ea typeface="Verdana" panose="020B0604030504040204" pitchFamily="34" charset="0"/>
                    <a:cs typeface="Verdana" panose="020B0604030504040204" pitchFamily="34" charset="0"/>
                  </a:rPr>
                  <a:t> </a:t>
                </a:r>
              </a:p>
              <a:p>
                <a:pPr marL="915988"/>
                <a:r>
                  <a:rPr lang="en-US" sz="2400" dirty="0">
                    <a:latin typeface="Verdana" panose="020B0604030504040204" pitchFamily="34" charset="0"/>
                    <a:ea typeface="Verdana" panose="020B0604030504040204" pitchFamily="34" charset="0"/>
                    <a:cs typeface="Verdana" panose="020B0604030504040204" pitchFamily="34" charset="0"/>
                  </a:rPr>
                  <a:t>The value </a:t>
                </a:r>
                <a14:m>
                  <m:oMath xmlns:m="http://schemas.openxmlformats.org/officeDocument/2006/math">
                    <m:r>
                      <a:rPr lang="en-US" sz="2400" i="1">
                        <a:latin typeface="Cambria Math" panose="02040503050406030204" pitchFamily="18" charset="0"/>
                      </a:rPr>
                      <m:t>7.2×</m:t>
                    </m:r>
                    <m:sSup>
                      <m:sSupPr>
                        <m:ctrlPr>
                          <a:rPr lang="en-US" sz="2400" i="1">
                            <a:latin typeface="Cambria Math" panose="02040503050406030204" pitchFamily="18" charset="0"/>
                          </a:rPr>
                        </m:ctrlPr>
                      </m:sSupPr>
                      <m:e>
                        <m:r>
                          <a:rPr lang="en-US" sz="2400" i="1">
                            <a:latin typeface="Cambria Math" panose="02040503050406030204" pitchFamily="18" charset="0"/>
                          </a:rPr>
                          <m:t>10</m:t>
                        </m:r>
                      </m:e>
                      <m:sup>
                        <m:r>
                          <a:rPr lang="en-US" sz="2400" i="1">
                            <a:latin typeface="Cambria Math" panose="02040503050406030204" pitchFamily="18" charset="0"/>
                          </a:rPr>
                          <m:t>−4</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is ______ times </a:t>
                </a:r>
              </a:p>
              <a:p>
                <a:pPr marL="915988"/>
                <a:r>
                  <a:rPr lang="en-US" sz="2400" dirty="0">
                    <a:latin typeface="Verdana" panose="020B0604030504040204" pitchFamily="34" charset="0"/>
                    <a:ea typeface="Verdana" panose="020B0604030504040204" pitchFamily="34" charset="0"/>
                    <a:cs typeface="Verdana" panose="020B0604030504040204" pitchFamily="34" charset="0"/>
                  </a:rPr>
                  <a:t> </a:t>
                </a:r>
              </a:p>
              <a:p>
                <a:pPr marL="915988"/>
                <a:r>
                  <a:rPr lang="en-US" sz="2400" dirty="0">
                    <a:latin typeface="Verdana" panose="020B0604030504040204" pitchFamily="34" charset="0"/>
                    <a:ea typeface="Verdana" panose="020B0604030504040204" pitchFamily="34" charset="0"/>
                    <a:cs typeface="Verdana" panose="020B0604030504040204" pitchFamily="34" charset="0"/>
                  </a:rPr>
                  <a:t>than </a:t>
                </a:r>
                <a14:m>
                  <m:oMath xmlns:m="http://schemas.openxmlformats.org/officeDocument/2006/math">
                    <m:r>
                      <a:rPr lang="en-US" sz="2400" i="1">
                        <a:latin typeface="Cambria Math" panose="02040503050406030204" pitchFamily="18" charset="0"/>
                      </a:rPr>
                      <m:t>0.00000018</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lvl="2"/>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83765" y="520393"/>
                <a:ext cx="8327136" cy="2315634"/>
              </a:xfrm>
              <a:prstGeom prst="rect">
                <a:avLst/>
              </a:prstGeom>
              <a:blipFill>
                <a:blip r:embed="rId4"/>
                <a:stretch>
                  <a:fillRect t="-2174"/>
                </a:stretch>
              </a:blipFill>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6820B18D-559D-4641-8B6C-F8D3CBDB274B}"/>
              </a:ext>
            </a:extLst>
          </p:cNvPr>
          <p:cNvSpPr/>
          <p:nvPr/>
        </p:nvSpPr>
        <p:spPr>
          <a:xfrm>
            <a:off x="8546925" y="1091128"/>
            <a:ext cx="1637311" cy="734060"/>
          </a:xfrm>
          <a:prstGeom prst="roundRect">
            <a:avLst/>
          </a:prstGeom>
          <a:noFill/>
          <a:ln w="9525"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smaller</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spcAft>
                <a:spcPts val="1000"/>
              </a:spcAft>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larger</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8" name="Google Shape;122;g104476d1465_1_17">
            <a:extLst>
              <a:ext uri="{FF2B5EF4-FFF2-40B4-BE49-F238E27FC236}">
                <a16:creationId xmlns:a16="http://schemas.microsoft.com/office/drawing/2014/main" id="{3EDA2A34-94F9-3544-9618-6A4F081E0848}"/>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150</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160725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155;g104476d1465_1_39">
            <a:extLst>
              <a:ext uri="{FF2B5EF4-FFF2-40B4-BE49-F238E27FC236}">
                <a16:creationId xmlns:a16="http://schemas.microsoft.com/office/drawing/2014/main" id="{B2D33E5E-AF80-4F4D-B3E7-E187FECB8E35}"/>
              </a:ext>
            </a:extLst>
          </p:cNvPr>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0"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151</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57400" y="0"/>
            <a:ext cx="95900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3.9.7 Wrap-Up: </a:t>
            </a:r>
            <a:r>
              <a:rPr lang="en-US" sz="3600" b="1" dirty="0">
                <a:solidFill>
                  <a:srgbClr val="3F2A67"/>
                </a:solidFill>
                <a:latin typeface="Verdana"/>
                <a:ea typeface="Verdana"/>
                <a:cs typeface="Verdana"/>
              </a:rPr>
              <a:t>Ticket Out the Door</a:t>
            </a:r>
            <a:endParaRPr lang="en-US" sz="3600" b="1" dirty="0">
              <a:solidFill>
                <a:srgbClr val="3F2A67"/>
              </a:solidFill>
              <a:latin typeface="Verdana"/>
              <a:ea typeface="Verdana"/>
              <a:cs typeface="Verdana"/>
              <a:sym typeface="Verdana"/>
            </a:endParaRP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527950" y="231796"/>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357400" y="1386025"/>
            <a:ext cx="9733232" cy="156966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Match each value on the left with its expression in scientific notation on the right by drawing lines to connect the equivalent expressions.</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10" name="Table 3">
                <a:extLst>
                  <a:ext uri="{FF2B5EF4-FFF2-40B4-BE49-F238E27FC236}">
                    <a16:creationId xmlns:a16="http://schemas.microsoft.com/office/drawing/2014/main" id="{F18F13DC-A1B8-1949-9C83-6535A65EB6F4}"/>
                  </a:ext>
                </a:extLst>
              </p:cNvPr>
              <p:cNvGraphicFramePr>
                <a:graphicFrameLocks noGrp="1"/>
              </p:cNvGraphicFramePr>
              <p:nvPr>
                <p:extLst>
                  <p:ext uri="{D42A27DB-BD31-4B8C-83A1-F6EECF244321}">
                    <p14:modId xmlns:p14="http://schemas.microsoft.com/office/powerpoint/2010/main" val="3036266767"/>
                  </p:ext>
                </p:extLst>
              </p:nvPr>
            </p:nvGraphicFramePr>
            <p:xfrm>
              <a:off x="2712898" y="2955686"/>
              <a:ext cx="7164280" cy="3124518"/>
            </p:xfrm>
            <a:graphic>
              <a:graphicData uri="http://schemas.openxmlformats.org/drawingml/2006/table">
                <a:tbl>
                  <a:tblPr firstRow="1" bandRow="1">
                    <a:tableStyleId>{A91F0D33-8C57-4600-99A7-42BC86742BE1}</a:tableStyleId>
                  </a:tblPr>
                  <a:tblGrid>
                    <a:gridCol w="3582140">
                      <a:extLst>
                        <a:ext uri="{9D8B030D-6E8A-4147-A177-3AD203B41FA5}">
                          <a16:colId xmlns:a16="http://schemas.microsoft.com/office/drawing/2014/main" val="981754164"/>
                        </a:ext>
                      </a:extLst>
                    </a:gridCol>
                    <a:gridCol w="3582140">
                      <a:extLst>
                        <a:ext uri="{9D8B030D-6E8A-4147-A177-3AD203B41FA5}">
                          <a16:colId xmlns:a16="http://schemas.microsoft.com/office/drawing/2014/main" val="3619229015"/>
                        </a:ext>
                      </a:extLst>
                    </a:gridCol>
                  </a:tblGrid>
                  <a:tr h="370840">
                    <a:tc>
                      <a:txBody>
                        <a:bodyPr/>
                        <a:lstStyle/>
                        <a:p>
                          <a:pPr>
                            <a:lnSpc>
                              <a:spcPct val="200000"/>
                            </a:lnSpc>
                          </a:pPr>
                          <a14:m>
                            <m:oMath xmlns:m="http://schemas.openxmlformats.org/officeDocument/2006/math">
                              <m:r>
                                <a:rPr lang="en-US" sz="2000" b="0" i="1" u="none" strike="noStrike" cap="none" smtClean="0">
                                  <a:solidFill>
                                    <a:srgbClr val="000000"/>
                                  </a:solidFill>
                                  <a:effectLst/>
                                  <a:latin typeface="Cambria Math" panose="02040503050406030204" pitchFamily="18" charset="0"/>
                                  <a:ea typeface="Arial"/>
                                  <a:cs typeface="Arial"/>
                                  <a:sym typeface="Arial"/>
                                </a:rPr>
                                <m:t>988</m:t>
                              </m:r>
                            </m:oMath>
                          </a14:m>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 ten thousandths</a:t>
                          </a: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r">
                            <a:lnSpc>
                              <a:spcPct val="200000"/>
                            </a:lnSpc>
                          </a:pPr>
                          <a14:m>
                            <m:oMath xmlns:m="http://schemas.openxmlformats.org/officeDocument/2006/math">
                              <m:r>
                                <a:rPr lang="en-US" sz="2000" b="0" i="1" u="none" strike="noStrike" cap="none" smtClean="0">
                                  <a:solidFill>
                                    <a:srgbClr val="000000"/>
                                  </a:solidFill>
                                  <a:effectLst/>
                                  <a:latin typeface="Cambria Math" panose="02040503050406030204" pitchFamily="18" charset="0"/>
                                  <a:ea typeface="Arial"/>
                                  <a:cs typeface="Arial"/>
                                  <a:sym typeface="Arial"/>
                                </a:rPr>
                                <m:t>9.88 ∙ </m:t>
                              </m:r>
                              <m:sSup>
                                <m:sSupPr>
                                  <m:ctrlPr>
                                    <a:rPr lang="en-US" sz="2000" b="0" i="1" u="none" strike="noStrike" cap="none">
                                      <a:solidFill>
                                        <a:srgbClr val="000000"/>
                                      </a:solidFill>
                                      <a:effectLst/>
                                      <a:latin typeface="Cambria Math" panose="02040503050406030204" pitchFamily="18" charset="0"/>
                                      <a:ea typeface="Arial"/>
                                      <a:cs typeface="Arial"/>
                                      <a:sym typeface="Arial"/>
                                    </a:rPr>
                                  </m:ctrlPr>
                                </m:sSupPr>
                                <m:e>
                                  <m:r>
                                    <a:rPr lang="en-US" sz="2000" b="0" i="1" u="none" strike="noStrike" cap="none">
                                      <a:solidFill>
                                        <a:srgbClr val="000000"/>
                                      </a:solidFill>
                                      <a:effectLst/>
                                      <a:latin typeface="Cambria Math" panose="02040503050406030204" pitchFamily="18" charset="0"/>
                                      <a:ea typeface="Arial"/>
                                      <a:cs typeface="Arial"/>
                                      <a:sym typeface="Arial"/>
                                    </a:rPr>
                                    <m:t>10</m:t>
                                  </m:r>
                                </m:e>
                                <m:sup>
                                  <m:r>
                                    <a:rPr lang="en-US" sz="2000" b="0" i="1" u="none" strike="noStrike" cap="none">
                                      <a:solidFill>
                                        <a:srgbClr val="000000"/>
                                      </a:solidFill>
                                      <a:effectLst/>
                                      <a:latin typeface="Cambria Math" panose="02040503050406030204" pitchFamily="18" charset="0"/>
                                      <a:ea typeface="Arial"/>
                                      <a:cs typeface="Arial"/>
                                      <a:sym typeface="Arial"/>
                                    </a:rPr>
                                    <m:t>−4</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25388968"/>
                      </a:ext>
                    </a:extLst>
                  </a:tr>
                  <a:tr h="370840">
                    <a:tc>
                      <a:txBody>
                        <a:bodyPr/>
                        <a:lstStyle/>
                        <a:p>
                          <a:pPr>
                            <a:lnSpc>
                              <a:spcPct val="200000"/>
                            </a:lnSpc>
                          </a:pPr>
                          <a14:m>
                            <m:oMath xmlns:m="http://schemas.openxmlformats.org/officeDocument/2006/math">
                              <m:r>
                                <a:rPr lang="en-US" sz="2000" b="0" i="1" u="none" strike="noStrike" cap="none" smtClean="0">
                                  <a:solidFill>
                                    <a:srgbClr val="000000"/>
                                  </a:solidFill>
                                  <a:effectLst/>
                                  <a:latin typeface="Cambria Math" panose="02040503050406030204" pitchFamily="18" charset="0"/>
                                  <a:ea typeface="Arial"/>
                                  <a:cs typeface="Arial"/>
                                  <a:sym typeface="Arial"/>
                                </a:rPr>
                                <m:t>0.988</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r">
                            <a:lnSpc>
                              <a:spcPct val="200000"/>
                            </a:lnSpc>
                          </a:pPr>
                          <a14:m>
                            <m:oMath xmlns:m="http://schemas.openxmlformats.org/officeDocument/2006/math">
                              <m:r>
                                <a:rPr lang="en-US" sz="2000" b="0" i="1" u="none" strike="noStrike" cap="none" smtClean="0">
                                  <a:solidFill>
                                    <a:srgbClr val="000000"/>
                                  </a:solidFill>
                                  <a:effectLst/>
                                  <a:latin typeface="Cambria Math" panose="02040503050406030204" pitchFamily="18" charset="0"/>
                                  <a:ea typeface="Arial"/>
                                  <a:cs typeface="Arial"/>
                                  <a:sym typeface="Arial"/>
                                </a:rPr>
                                <m:t>9.88 ∙ </m:t>
                              </m:r>
                              <m:sSup>
                                <m:sSupPr>
                                  <m:ctrlPr>
                                    <a:rPr lang="en-US" sz="2000" b="0" i="1" u="none" strike="noStrike" cap="none">
                                      <a:solidFill>
                                        <a:srgbClr val="000000"/>
                                      </a:solidFill>
                                      <a:effectLst/>
                                      <a:latin typeface="Cambria Math" panose="02040503050406030204" pitchFamily="18" charset="0"/>
                                      <a:ea typeface="Arial"/>
                                      <a:cs typeface="Arial"/>
                                      <a:sym typeface="Arial"/>
                                    </a:rPr>
                                  </m:ctrlPr>
                                </m:sSupPr>
                                <m:e>
                                  <m:r>
                                    <a:rPr lang="en-US" sz="2000" b="0" i="1" u="none" strike="noStrike" cap="none">
                                      <a:solidFill>
                                        <a:srgbClr val="000000"/>
                                      </a:solidFill>
                                      <a:effectLst/>
                                      <a:latin typeface="Cambria Math" panose="02040503050406030204" pitchFamily="18" charset="0"/>
                                      <a:ea typeface="Arial"/>
                                      <a:cs typeface="Arial"/>
                                      <a:sym typeface="Arial"/>
                                    </a:rPr>
                                    <m:t>10</m:t>
                                  </m:r>
                                </m:e>
                                <m:sup>
                                  <m:r>
                                    <a:rPr lang="en-US" sz="2000" b="0" i="1" u="none" strike="noStrike" cap="none">
                                      <a:solidFill>
                                        <a:srgbClr val="000000"/>
                                      </a:solidFill>
                                      <a:effectLst/>
                                      <a:latin typeface="Cambria Math" panose="02040503050406030204" pitchFamily="18" charset="0"/>
                                      <a:ea typeface="Arial"/>
                                      <a:cs typeface="Arial"/>
                                      <a:sym typeface="Arial"/>
                                    </a:rPr>
                                    <m:t>−5</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040119120"/>
                      </a:ext>
                    </a:extLst>
                  </a:tr>
                  <a:tr h="370840">
                    <a:tc>
                      <a:txBody>
                        <a:bodyPr/>
                        <a:lstStyle/>
                        <a:p>
                          <a:pPr>
                            <a:lnSpc>
                              <a:spcPct val="200000"/>
                            </a:lnSpc>
                          </a:pPr>
                          <a14:m>
                            <m:oMathPara xmlns:m="http://schemas.openxmlformats.org/officeDocument/2006/math">
                              <m:oMathParaPr>
                                <m:jc m:val="left"/>
                              </m:oMathParaPr>
                              <m:oMath xmlns:m="http://schemas.openxmlformats.org/officeDocument/2006/math">
                                <m:r>
                                  <a:rPr lang="en-US" sz="2000" b="0" i="1" u="none" strike="noStrike" cap="none" smtClean="0">
                                    <a:solidFill>
                                      <a:srgbClr val="000000"/>
                                    </a:solidFill>
                                    <a:effectLst/>
                                    <a:latin typeface="Cambria Math" panose="02040503050406030204" pitchFamily="18" charset="0"/>
                                    <a:ea typeface="Arial"/>
                                    <a:cs typeface="Arial"/>
                                    <a:sym typeface="Arial"/>
                                  </a:rPr>
                                  <m:t>0.00988</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r">
                            <a:lnSpc>
                              <a:spcPct val="200000"/>
                            </a:lnSpc>
                          </a:pPr>
                          <a14:m>
                            <m:oMath xmlns:m="http://schemas.openxmlformats.org/officeDocument/2006/math">
                              <m:r>
                                <a:rPr lang="en-US" sz="2000" b="0" i="1" u="none" strike="noStrike" cap="none" smtClean="0">
                                  <a:solidFill>
                                    <a:srgbClr val="000000"/>
                                  </a:solidFill>
                                  <a:effectLst/>
                                  <a:latin typeface="Cambria Math" panose="02040503050406030204" pitchFamily="18" charset="0"/>
                                  <a:ea typeface="Arial"/>
                                  <a:cs typeface="Arial"/>
                                  <a:sym typeface="Arial"/>
                                </a:rPr>
                                <m:t>9.88 ∙ </m:t>
                              </m:r>
                              <m:sSup>
                                <m:sSupPr>
                                  <m:ctrlPr>
                                    <a:rPr lang="en-US" sz="2000" b="0" i="1" u="none" strike="noStrike" cap="none">
                                      <a:solidFill>
                                        <a:srgbClr val="000000"/>
                                      </a:solidFill>
                                      <a:effectLst/>
                                      <a:latin typeface="Cambria Math" panose="02040503050406030204" pitchFamily="18" charset="0"/>
                                      <a:ea typeface="Arial"/>
                                      <a:cs typeface="Arial"/>
                                      <a:sym typeface="Arial"/>
                                    </a:rPr>
                                  </m:ctrlPr>
                                </m:sSupPr>
                                <m:e>
                                  <m:r>
                                    <a:rPr lang="en-US" sz="2000" b="0" i="1" u="none" strike="noStrike" cap="none">
                                      <a:solidFill>
                                        <a:srgbClr val="000000"/>
                                      </a:solidFill>
                                      <a:effectLst/>
                                      <a:latin typeface="Cambria Math" panose="02040503050406030204" pitchFamily="18" charset="0"/>
                                      <a:ea typeface="Arial"/>
                                      <a:cs typeface="Arial"/>
                                      <a:sym typeface="Arial"/>
                                    </a:rPr>
                                    <m:t>10</m:t>
                                  </m:r>
                                </m:e>
                                <m:sup>
                                  <m:r>
                                    <a:rPr lang="en-US" sz="2000" b="0" i="1" u="none" strike="noStrike" cap="none">
                                      <a:solidFill>
                                        <a:srgbClr val="000000"/>
                                      </a:solidFill>
                                      <a:effectLst/>
                                      <a:latin typeface="Cambria Math" panose="02040503050406030204" pitchFamily="18" charset="0"/>
                                      <a:ea typeface="Arial"/>
                                      <a:cs typeface="Arial"/>
                                      <a:sym typeface="Arial"/>
                                    </a:rPr>
                                    <m:t>−2</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16053323"/>
                      </a:ext>
                    </a:extLst>
                  </a:tr>
                  <a:tr h="370840">
                    <a:tc>
                      <a:txBody>
                        <a:bodyPr/>
                        <a:lstStyle/>
                        <a:p>
                          <a:pPr>
                            <a:lnSpc>
                              <a:spcPct val="200000"/>
                            </a:lnSpc>
                          </a:pPr>
                          <a14:m>
                            <m:oMath xmlns:m="http://schemas.openxmlformats.org/officeDocument/2006/math">
                              <m:r>
                                <a:rPr lang="en-US" sz="2000" b="0" i="1" u="none" strike="noStrike" cap="none" smtClean="0">
                                  <a:solidFill>
                                    <a:srgbClr val="000000"/>
                                  </a:solidFill>
                                  <a:effectLst/>
                                  <a:latin typeface="Cambria Math" panose="02040503050406030204" pitchFamily="18" charset="0"/>
                                  <a:ea typeface="Arial"/>
                                  <a:cs typeface="Arial"/>
                                  <a:sym typeface="Arial"/>
                                </a:rPr>
                                <m:t>0.0000988</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r">
                            <a:lnSpc>
                              <a:spcPct val="200000"/>
                            </a:lnSpc>
                          </a:pPr>
                          <a14:m>
                            <m:oMath xmlns:m="http://schemas.openxmlformats.org/officeDocument/2006/math">
                              <m:r>
                                <a:rPr lang="en-US" sz="2000" b="0" i="1" u="none" strike="noStrike" cap="none" smtClean="0">
                                  <a:solidFill>
                                    <a:srgbClr val="000000"/>
                                  </a:solidFill>
                                  <a:effectLst/>
                                  <a:latin typeface="Cambria Math" panose="02040503050406030204" pitchFamily="18" charset="0"/>
                                  <a:ea typeface="Arial"/>
                                  <a:cs typeface="Arial"/>
                                  <a:sym typeface="Arial"/>
                                </a:rPr>
                                <m:t>9.88 ∙ </m:t>
                              </m:r>
                              <m:sSup>
                                <m:sSupPr>
                                  <m:ctrlPr>
                                    <a:rPr lang="en-US" sz="2000" b="0" i="1" u="none" strike="noStrike" cap="none">
                                      <a:solidFill>
                                        <a:srgbClr val="000000"/>
                                      </a:solidFill>
                                      <a:effectLst/>
                                      <a:latin typeface="Cambria Math" panose="02040503050406030204" pitchFamily="18" charset="0"/>
                                      <a:ea typeface="Arial"/>
                                      <a:cs typeface="Arial"/>
                                      <a:sym typeface="Arial"/>
                                    </a:rPr>
                                  </m:ctrlPr>
                                </m:sSupPr>
                                <m:e>
                                  <m:r>
                                    <a:rPr lang="en-US" sz="2000" b="0" i="1" u="none" strike="noStrike" cap="none">
                                      <a:solidFill>
                                        <a:srgbClr val="000000"/>
                                      </a:solidFill>
                                      <a:effectLst/>
                                      <a:latin typeface="Cambria Math" panose="02040503050406030204" pitchFamily="18" charset="0"/>
                                      <a:ea typeface="Arial"/>
                                      <a:cs typeface="Arial"/>
                                      <a:sym typeface="Arial"/>
                                    </a:rPr>
                                    <m:t>10</m:t>
                                  </m:r>
                                </m:e>
                                <m:sup>
                                  <m:r>
                                    <a:rPr lang="en-US" sz="2000" b="0" i="1" u="none" strike="noStrike" cap="none">
                                      <a:solidFill>
                                        <a:srgbClr val="000000"/>
                                      </a:solidFill>
                                      <a:effectLst/>
                                      <a:latin typeface="Cambria Math" panose="02040503050406030204" pitchFamily="18" charset="0"/>
                                      <a:ea typeface="Arial"/>
                                      <a:cs typeface="Arial"/>
                                      <a:sym typeface="Arial"/>
                                    </a:rPr>
                                    <m:t>−3</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060553352"/>
                      </a:ext>
                    </a:extLst>
                  </a:tr>
                  <a:tr h="370840">
                    <a:tc>
                      <a:txBody>
                        <a:bodyPr/>
                        <a:lstStyle/>
                        <a:p>
                          <a:pPr>
                            <a:lnSpc>
                              <a:spcPct val="200000"/>
                            </a:lnSpc>
                          </a:pPr>
                          <a14:m>
                            <m:oMath xmlns:m="http://schemas.openxmlformats.org/officeDocument/2006/math">
                              <m:r>
                                <a:rPr lang="en-US" sz="2000" b="0" i="1" u="none" strike="noStrike" cap="none" smtClean="0">
                                  <a:solidFill>
                                    <a:srgbClr val="000000"/>
                                  </a:solidFill>
                                  <a:effectLst/>
                                  <a:latin typeface="Cambria Math" panose="02040503050406030204" pitchFamily="18" charset="0"/>
                                  <a:ea typeface="Arial"/>
                                  <a:cs typeface="Arial"/>
                                  <a:sym typeface="Arial"/>
                                </a:rPr>
                                <m:t>988</m:t>
                              </m:r>
                            </m:oMath>
                          </a14:m>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 millionths</a:t>
                          </a: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r">
                            <a:lnSpc>
                              <a:spcPct val="200000"/>
                            </a:lnSpc>
                          </a:pPr>
                          <a14:m>
                            <m:oMath xmlns:m="http://schemas.openxmlformats.org/officeDocument/2006/math">
                              <m:r>
                                <a:rPr lang="en-US" sz="2000" b="0" i="1" u="none" strike="noStrike" cap="none" smtClean="0">
                                  <a:solidFill>
                                    <a:srgbClr val="000000"/>
                                  </a:solidFill>
                                  <a:effectLst/>
                                  <a:latin typeface="Cambria Math" panose="02040503050406030204" pitchFamily="18" charset="0"/>
                                  <a:ea typeface="Arial"/>
                                  <a:cs typeface="Arial"/>
                                  <a:sym typeface="Arial"/>
                                </a:rPr>
                                <m:t>9.88 ∙ </m:t>
                              </m:r>
                              <m:sSup>
                                <m:sSupPr>
                                  <m:ctrlPr>
                                    <a:rPr lang="en-US" sz="2000" b="0" i="1" u="none" strike="noStrike" cap="none">
                                      <a:solidFill>
                                        <a:srgbClr val="000000"/>
                                      </a:solidFill>
                                      <a:effectLst/>
                                      <a:latin typeface="Cambria Math" panose="02040503050406030204" pitchFamily="18" charset="0"/>
                                      <a:ea typeface="Arial"/>
                                      <a:cs typeface="Arial"/>
                                      <a:sym typeface="Arial"/>
                                    </a:rPr>
                                  </m:ctrlPr>
                                </m:sSupPr>
                                <m:e>
                                  <m:r>
                                    <a:rPr lang="en-US" sz="2000" b="0" i="1" u="none" strike="noStrike" cap="none">
                                      <a:solidFill>
                                        <a:srgbClr val="000000"/>
                                      </a:solidFill>
                                      <a:effectLst/>
                                      <a:latin typeface="Cambria Math" panose="02040503050406030204" pitchFamily="18" charset="0"/>
                                      <a:ea typeface="Arial"/>
                                      <a:cs typeface="Arial"/>
                                      <a:sym typeface="Arial"/>
                                    </a:rPr>
                                    <m:t>10</m:t>
                                  </m:r>
                                </m:e>
                                <m:sup>
                                  <m:r>
                                    <a:rPr lang="en-US" sz="2000" b="0" i="1" u="none" strike="noStrike" cap="none">
                                      <a:solidFill>
                                        <a:srgbClr val="000000"/>
                                      </a:solidFill>
                                      <a:effectLst/>
                                      <a:latin typeface="Cambria Math" panose="02040503050406030204" pitchFamily="18" charset="0"/>
                                      <a:ea typeface="Arial"/>
                                      <a:cs typeface="Arial"/>
                                      <a:sym typeface="Arial"/>
                                    </a:rPr>
                                    <m:t>−1</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182181879"/>
                      </a:ext>
                    </a:extLst>
                  </a:tr>
                </a:tbl>
              </a:graphicData>
            </a:graphic>
          </p:graphicFrame>
        </mc:Choice>
        <mc:Fallback xmlns="">
          <p:graphicFrame>
            <p:nvGraphicFramePr>
              <p:cNvPr id="10" name="Table 3">
                <a:extLst>
                  <a:ext uri="{FF2B5EF4-FFF2-40B4-BE49-F238E27FC236}">
                    <a16:creationId xmlns:a16="http://schemas.microsoft.com/office/drawing/2014/main" id="{F18F13DC-A1B8-1949-9C83-6535A65EB6F4}"/>
                  </a:ext>
                </a:extLst>
              </p:cNvPr>
              <p:cNvGraphicFramePr>
                <a:graphicFrameLocks noGrp="1"/>
              </p:cNvGraphicFramePr>
              <p:nvPr>
                <p:extLst>
                  <p:ext uri="{D42A27DB-BD31-4B8C-83A1-F6EECF244321}">
                    <p14:modId xmlns:p14="http://schemas.microsoft.com/office/powerpoint/2010/main" val="3036266767"/>
                  </p:ext>
                </p:extLst>
              </p:nvPr>
            </p:nvGraphicFramePr>
            <p:xfrm>
              <a:off x="1188898" y="2955685"/>
              <a:ext cx="7164280" cy="3168525"/>
            </p:xfrm>
            <a:graphic>
              <a:graphicData uri="http://schemas.openxmlformats.org/drawingml/2006/table">
                <a:tbl>
                  <a:tblPr firstRow="1" bandRow="1">
                    <a:tableStyleId>{A91F0D33-8C57-4600-99A7-42BC86742BE1}</a:tableStyleId>
                  </a:tblPr>
                  <a:tblGrid>
                    <a:gridCol w="3582140">
                      <a:extLst>
                        <a:ext uri="{9D8B030D-6E8A-4147-A177-3AD203B41FA5}">
                          <a16:colId xmlns:a16="http://schemas.microsoft.com/office/drawing/2014/main" val="981754164"/>
                        </a:ext>
                      </a:extLst>
                    </a:gridCol>
                    <a:gridCol w="3582140">
                      <a:extLst>
                        <a:ext uri="{9D8B030D-6E8A-4147-A177-3AD203B41FA5}">
                          <a16:colId xmlns:a16="http://schemas.microsoft.com/office/drawing/2014/main" val="3619229015"/>
                        </a:ext>
                      </a:extLst>
                    </a:gridCol>
                  </a:tblGrid>
                  <a:tr h="614236">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r="-100000" b="-426531"/>
                          </a:stretch>
                        </a:blipFill>
                      </a:tcPr>
                    </a:tc>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100355" r="-355" b="-426531"/>
                          </a:stretch>
                        </a:blipFill>
                      </a:tcPr>
                    </a:tc>
                    <a:extLst>
                      <a:ext uri="{0D108BD9-81ED-4DB2-BD59-A6C34878D82A}">
                        <a16:rowId xmlns:a16="http://schemas.microsoft.com/office/drawing/2014/main" val="1325388968"/>
                      </a:ext>
                    </a:extLst>
                  </a:tr>
                  <a:tr h="622237">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100000" r="-100000" b="-326531"/>
                          </a:stretch>
                        </a:blipFill>
                      </a:tcPr>
                    </a:tc>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100355" t="-100000" r="-355" b="-326531"/>
                          </a:stretch>
                        </a:blipFill>
                      </a:tcPr>
                    </a:tc>
                    <a:extLst>
                      <a:ext uri="{0D108BD9-81ED-4DB2-BD59-A6C34878D82A}">
                        <a16:rowId xmlns:a16="http://schemas.microsoft.com/office/drawing/2014/main" val="2040119120"/>
                      </a:ext>
                    </a:extLst>
                  </a:tr>
                  <a:tr h="701040">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178182" r="-100000" b="-190909"/>
                          </a:stretch>
                        </a:blipFill>
                      </a:tcPr>
                    </a:tc>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100355" t="-178182" r="-355" b="-190909"/>
                          </a:stretch>
                        </a:blipFill>
                      </a:tcPr>
                    </a:tc>
                    <a:extLst>
                      <a:ext uri="{0D108BD9-81ED-4DB2-BD59-A6C34878D82A}">
                        <a16:rowId xmlns:a16="http://schemas.microsoft.com/office/drawing/2014/main" val="216053323"/>
                      </a:ext>
                    </a:extLst>
                  </a:tr>
                  <a:tr h="615506">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312245" r="-100000" b="-114286"/>
                          </a:stretch>
                        </a:blipFill>
                      </a:tcPr>
                    </a:tc>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100355" t="-312245" r="-355" b="-114286"/>
                          </a:stretch>
                        </a:blipFill>
                      </a:tcPr>
                    </a:tc>
                    <a:extLst>
                      <a:ext uri="{0D108BD9-81ED-4DB2-BD59-A6C34878D82A}">
                        <a16:rowId xmlns:a16="http://schemas.microsoft.com/office/drawing/2014/main" val="4060553352"/>
                      </a:ext>
                    </a:extLst>
                  </a:tr>
                  <a:tr h="615506">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412245" r="-100000" b="-14286"/>
                          </a:stretch>
                        </a:blipFill>
                      </a:tcPr>
                    </a:tc>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100355" t="-412245" r="-355" b="-14286"/>
                          </a:stretch>
                        </a:blipFill>
                      </a:tcPr>
                    </a:tc>
                    <a:extLst>
                      <a:ext uri="{0D108BD9-81ED-4DB2-BD59-A6C34878D82A}">
                        <a16:rowId xmlns:a16="http://schemas.microsoft.com/office/drawing/2014/main" val="3182181879"/>
                      </a:ext>
                    </a:extLst>
                  </a:tr>
                </a:tbl>
              </a:graphicData>
            </a:graphic>
          </p:graphicFrame>
        </mc:Fallback>
      </mc:AlternateContent>
      <p:sp>
        <p:nvSpPr>
          <p:cNvPr id="11" name="Google Shape;122;g104476d1465_1_17">
            <a:extLst>
              <a:ext uri="{FF2B5EF4-FFF2-40B4-BE49-F238E27FC236}">
                <a16:creationId xmlns:a16="http://schemas.microsoft.com/office/drawing/2014/main" id="{2680CC32-1C3C-B248-B6EB-9C71C32AA959}"/>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3" name="Google Shape;282;g104476d1465_1_17"/>
          <p:cNvSpPr txBox="1"/>
          <p:nvPr/>
        </p:nvSpPr>
        <p:spPr>
          <a:xfrm>
            <a:off x="86736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151</a:t>
            </a:r>
            <a:endParaRPr i="1" dirty="0">
              <a:latin typeface="Calibri"/>
              <a:ea typeface="Calibri"/>
              <a:cs typeface="Calibri"/>
              <a:sym typeface="Calibri"/>
            </a:endParaRPr>
          </a:p>
        </p:txBody>
      </p:sp>
      <p:pic>
        <p:nvPicPr>
          <p:cNvPr id="15"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18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1335</TotalTime>
  <Words>1329</Words>
  <Application>Microsoft Office PowerPoint</Application>
  <PresentationFormat>Widescreen</PresentationFormat>
  <Paragraphs>278</Paragraphs>
  <Slides>34</Slides>
  <Notes>34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Arial</vt:lpstr>
      <vt:lpstr>Arial Black</vt:lpstr>
      <vt:lpstr>Calibri</vt:lpstr>
      <vt:lpstr>Cambria</vt:lpstr>
      <vt:lpstr>Cambria Math</vt:lpstr>
      <vt:lpstr>Century Gothic</vt:lpstr>
      <vt:lpstr>Courier New</vt:lpstr>
      <vt:lpstr>Verdana</vt:lpstr>
      <vt:lpstr>Wingdings</vt:lpstr>
      <vt:lpstr>1_Office Theme</vt:lpstr>
      <vt:lpstr>7th Grade Accelerated Math  Unit 3, Lesson 9  Writing Small Numbers in Scientific Notation  Volume 1, pg. 146  </vt:lpstr>
      <vt:lpstr>Benchmarks</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Collaboration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24</cp:revision>
  <cp:lastPrinted>2022-02-23T15:07:59Z</cp:lastPrinted>
  <dcterms:created xsi:type="dcterms:W3CDTF">2015-03-17T18:51:18Z</dcterms:created>
  <dcterms:modified xsi:type="dcterms:W3CDTF">2022-06-30T04:01:19Z</dcterms:modified>
</cp:coreProperties>
</file>