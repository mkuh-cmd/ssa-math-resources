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47" r:id="rId12"/>
    <p:sldId id="348" r:id="rId13"/>
    <p:sldId id="336" r:id="rId14"/>
    <p:sldId id="337" r:id="rId15"/>
    <p:sldId id="338" r:id="rId16"/>
    <p:sldId id="339" r:id="rId17"/>
    <p:sldId id="349" r:id="rId18"/>
    <p:sldId id="340" r:id="rId19"/>
    <p:sldId id="341" r:id="rId20"/>
    <p:sldId id="342" r:id="rId21"/>
    <p:sldId id="343" r:id="rId22"/>
    <p:sldId id="350" r:id="rId23"/>
    <p:sldId id="351" r:id="rId24"/>
    <p:sldId id="344" r:id="rId25"/>
    <p:sldId id="345" r:id="rId26"/>
    <p:sldId id="346" r:id="rId27"/>
    <p:sldId id="352" r:id="rId28"/>
    <p:sldId id="353" r:id="rId29"/>
    <p:sldId id="302" r:id="rId30"/>
    <p:sldId id="303" r:id="rId31"/>
    <p:sldId id="306" r:id="rId32"/>
    <p:sldId id="30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8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7183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710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83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5856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7399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3859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4242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206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462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6499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690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5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6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548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5649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3605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9654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6394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045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7931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7628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85077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Quotient Laws of Exponents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29640" y="4901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140" y="2847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69036" y="1600200"/>
            <a:ext cx="87417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MA.7.NSO.1.1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Know and apply the Laws of Exponents to evaluate numerical expressions and generate equivalent numerical expressions, limited to whole-number exponents and rational number bases.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02" y="3439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72952" y="10135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63908" y="1596390"/>
            <a:ext cx="94519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472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55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5340" y="1600200"/>
            <a:ext cx="87813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explain and use the quotient of powers, power of a quotient, and zero exponent laws.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15705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3.2.1 Warm-Up: Use a Pattern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05" y="2760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215705" y="1386026"/>
            <a:ext cx="100166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Look at the pattern shown in the figures below. Work with your partner to answer the questions.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the pattern in words.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the pattern continued, how many squares would be in  Figure 10?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CB69BBC-BD11-F02E-D9F8-80051FE0B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214" y="2056469"/>
            <a:ext cx="6217745" cy="258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246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5586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3.2.2 Activity: Station 1: Quotient of Powers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778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435586" y="1448018"/>
            <a:ext cx="9576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or a small group to complete three stations involving the laws of exponents.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Task 1: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Review the steps Rosa, Victor, and Emma each used to generate an equivalent expression. Then, answer the questions that follow.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2361296-D9C8-B349-AAC1-3DD5FF74197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446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2051" y="231776"/>
            <a:ext cx="7412925" cy="6008247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71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214204" y="337513"/>
            <a:ext cx="10183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bases of the numerator and denominator of each given exponential expression?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9EBB38-386E-C02C-C321-BAA76E776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72" y="2846941"/>
            <a:ext cx="7879198" cy="182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932432" y="337514"/>
                <a:ext cx="8327136" cy="4867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2: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Fill in the blank to complete the rule for dividing exponential expressions with the same bases.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nonzero real number,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𝑛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integers, the exponential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is equal to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432" y="337514"/>
                <a:ext cx="8327136" cy="4867294"/>
              </a:xfrm>
              <a:prstGeom prst="rect">
                <a:avLst/>
              </a:prstGeom>
              <a:blipFill rotWithShape="0">
                <a:blip r:embed="rId3"/>
                <a:stretch>
                  <a:fillRect l="-805" t="-626" r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781" y="4880744"/>
            <a:ext cx="1308100" cy="1295400"/>
          </a:xfrm>
          <a:prstGeom prst="rect">
            <a:avLst/>
          </a:prstGeom>
        </p:spPr>
      </p:pic>
      <p:sp>
        <p:nvSpPr>
          <p:cNvPr id="7" name="Text Box 24"/>
          <p:cNvSpPr txBox="1"/>
          <p:nvPr/>
        </p:nvSpPr>
        <p:spPr>
          <a:xfrm>
            <a:off x="2924814" y="1774983"/>
            <a:ext cx="6629400" cy="1898046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17575"/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When dividing two powers that have the same nonzero base, keep the base and </a:t>
            </a:r>
            <a:r>
              <a:rPr lang="en-US" sz="2000" b="1" u="sng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		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the exponents. This is called the 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quotient of powers exponent law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i="1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1337" y="1960719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168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139252" y="337513"/>
                <a:ext cx="9120316" cy="4736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3: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Show your steps of applying the quotient of powers exponent law to evaluate.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−7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−7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252" y="337513"/>
                <a:ext cx="9120316" cy="4736810"/>
              </a:xfrm>
              <a:prstGeom prst="rect">
                <a:avLst/>
              </a:prstGeom>
              <a:blipFill rotWithShape="0">
                <a:blip r:embed="rId3"/>
                <a:stretch>
                  <a:fillRect l="-735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561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580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90460" y="12231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3.2.3 Activity: Station 2: Power of a Quotient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065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379095" y="1673972"/>
                <a:ext cx="9584476" cy="1544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1: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Luis and Maya have shown their steps for using the power of a quotient exponent law to create equivalent expressions. Amir is confused. Help Amir complete his task by showing similar steps to Luis and Maya for his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95" y="1673972"/>
                <a:ext cx="9584476" cy="1544141"/>
              </a:xfrm>
              <a:prstGeom prst="rect">
                <a:avLst/>
              </a:prstGeom>
              <a:blipFill rotWithShape="0">
                <a:blip r:embed="rId4"/>
                <a:stretch>
                  <a:fillRect l="-636" t="-2372" b="-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2361296-D9C8-B349-AAC1-3DD5FF74197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61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421761"/>
                  </p:ext>
                </p:extLst>
              </p:nvPr>
            </p:nvGraphicFramePr>
            <p:xfrm>
              <a:off x="2174929" y="430466"/>
              <a:ext cx="8042175" cy="38423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175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545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00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340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Luis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Maya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Amir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91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 ∙8 ∙8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 ∙10 ∙10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 ∙3 ∙3 ∙3 ∙3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 ∙11 ∙11 ∙11 ∙11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7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421761"/>
                  </p:ext>
                </p:extLst>
              </p:nvPr>
            </p:nvGraphicFramePr>
            <p:xfrm>
              <a:off x="650928" y="430466"/>
              <a:ext cx="8042175" cy="38922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17558"/>
                    <a:gridCol w="3254582"/>
                    <a:gridCol w="2370035"/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Luis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Maya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Amir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3566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2" t="-11433" r="-233249" b="-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4393" t="-11433" r="-73084" b="-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39846" t="-11433" r="-514" b="-34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8213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932432" y="337514"/>
                <a:ext cx="8327136" cy="4893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2: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Fill in the blank to complete the rule for raising a fraction to a power.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nonzero real numbers,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integer, the exponential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equal to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337513"/>
                <a:ext cx="8327136" cy="4893199"/>
              </a:xfrm>
              <a:prstGeom prst="rect">
                <a:avLst/>
              </a:prstGeom>
              <a:blipFill rotWithShape="0">
                <a:blip r:embed="rId4"/>
                <a:stretch>
                  <a:fillRect l="-805" t="-623" r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13529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2924814" y="1882229"/>
            <a:ext cx="6629400" cy="2177085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17575"/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When raising a fraction to a power, the result is equal to the quotient of the numerator and denominator raised separately to the </a:t>
            </a:r>
            <a:r>
              <a:rPr lang="en-US" sz="2000" b="1" u="sng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	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power. This is called the 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power of a quotient exponent law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i="1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1337" y="2067965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6504" y="5060000"/>
            <a:ext cx="2082800" cy="17399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793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319134" y="337514"/>
                <a:ext cx="8940434" cy="4454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3: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Apply the power of quotient exponent law. Do not simplify the fractions.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sup>
                    </m:sSup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134" y="337514"/>
                <a:ext cx="8940434" cy="4454809"/>
              </a:xfrm>
              <a:prstGeom prst="rect">
                <a:avLst/>
              </a:prstGeom>
              <a:blipFill rotWithShape="0">
                <a:blip r:embed="rId3"/>
                <a:stretch>
                  <a:fillRect l="-750" t="-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10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9773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5586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3.2.4 Activity: Station 3: Zero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778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435586" y="1386025"/>
                <a:ext cx="9576860" cy="1186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1: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Two students used their understanding of exponents to write an equivalent expression for the exponential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86" y="1386025"/>
                <a:ext cx="9576860" cy="1186350"/>
              </a:xfrm>
              <a:prstGeom prst="rect">
                <a:avLst/>
              </a:prstGeom>
              <a:blipFill rotWithShape="0">
                <a:blip r:embed="rId4"/>
                <a:stretch>
                  <a:fillRect l="-636" t="-2564" r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2361296-D9C8-B349-AAC1-3DD5FF74197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66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207145"/>
                  </p:ext>
                </p:extLst>
              </p:nvPr>
            </p:nvGraphicFramePr>
            <p:xfrm>
              <a:off x="2195830" y="1230885"/>
              <a:ext cx="7752920" cy="412743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764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764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Hannah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Sebastian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40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 ×2 ×2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 ×2 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1×1 ×1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207145"/>
                  </p:ext>
                </p:extLst>
              </p:nvPr>
            </p:nvGraphicFramePr>
            <p:xfrm>
              <a:off x="671830" y="1230884"/>
              <a:ext cx="7752920" cy="41647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76460"/>
                    <a:gridCol w="3876460"/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Hannah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Sebastian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38385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57" t="-10618" r="-100157" b="-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0314" t="-10618" r="-314" b="-31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1064302" y="424190"/>
            <a:ext cx="8988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each step that the students completed.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0841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019331" y="337513"/>
                <a:ext cx="1035450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Hannah’s and Sebastian’s work, make a prediction about the value of any number raised to the power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31" y="337513"/>
                <a:ext cx="1035450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647" t="-5172" r="-111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91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779489" y="337513"/>
            <a:ext cx="9480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Task 2: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tables to answer the questions.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9010"/>
                  </p:ext>
                </p:extLst>
              </p:nvPr>
            </p:nvGraphicFramePr>
            <p:xfrm>
              <a:off x="2507045" y="1086474"/>
              <a:ext cx="7177911" cy="6522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138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22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Form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1399010"/>
                  </p:ext>
                </p:extLst>
              </p:nvPr>
            </p:nvGraphicFramePr>
            <p:xfrm>
              <a:off x="2507045" y="1086474"/>
              <a:ext cx="7177911" cy="6522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138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22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Form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8919" t="-23077" r="-398649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973" t="-23077" r="-30411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568" t="-23077" r="-20000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5342" t="-23077" r="-10274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6216" t="-23077" r="-1351" b="-14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8919" t="-123077" r="-398649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973" t="-123077" r="-30411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568" t="-123077" r="-20000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5342" t="-123077" r="-10274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17602"/>
                  </p:ext>
                </p:extLst>
              </p:nvPr>
            </p:nvGraphicFramePr>
            <p:xfrm>
              <a:off x="2507044" y="2072735"/>
              <a:ext cx="7177911" cy="6522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138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22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Form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17602"/>
                  </p:ext>
                </p:extLst>
              </p:nvPr>
            </p:nvGraphicFramePr>
            <p:xfrm>
              <a:off x="2507044" y="2072735"/>
              <a:ext cx="7177911" cy="6522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5138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322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296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Form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8919" t="-26923" r="-398649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973" t="-26923" r="-30411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7568" t="-26923" r="-20000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5342" t="-26923" r="-102740" b="-1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216" t="-26923" r="-1351" b="-14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8919" t="-126923" r="-398649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973" t="-126923" r="-30411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7568" t="-126923" r="-20000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5342" t="-126923" r="-102740" b="-4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81339" y="378311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38843" y="3084657"/>
            <a:ext cx="9114133" cy="2726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pattern do you see in the top row of each table?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pattern do you see in the bottom row of each table?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is the pattern in the bottom row of each table related to the value of the base in the top row of the table?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462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74361" y="337513"/>
                <a:ext cx="1024327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patterns in the tables to find the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Fill in the empty cell in each table.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73075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0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 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730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73075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0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 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Task 3: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Fill in the blank to complete the rule for a base with a zero exponent.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61" y="337513"/>
                <a:ext cx="10243278" cy="2862322"/>
              </a:xfrm>
              <a:prstGeom prst="rect">
                <a:avLst/>
              </a:prstGeom>
              <a:blipFill rotWithShape="0">
                <a:blip r:embed="rId3"/>
                <a:stretch>
                  <a:fillRect l="-655"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4"/>
              <p:cNvSpPr txBox="1"/>
              <p:nvPr/>
            </p:nvSpPr>
            <p:spPr>
              <a:xfrm>
                <a:off x="2943864" y="3776048"/>
                <a:ext cx="6629400" cy="1710353"/>
              </a:xfrm>
              <a:prstGeom prst="roundRect">
                <a:avLst/>
              </a:prstGeom>
              <a:solidFill>
                <a:srgbClr val="B6E6F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28688"/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When a nonzero real number is raised to the zero power,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417DBF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417DBF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rgbClr val="417DBF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, its value equals </a:t>
                </a:r>
                <a:r>
                  <a:rPr lang="en-US" sz="2000" b="1" u="sng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		</a:t>
                </a:r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.  This is called the </a:t>
                </a:r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zero exponent law</a:t>
                </a:r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solidFill>
                    <a:srgbClr val="417DBF"/>
                  </a:solidFill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864" y="3776047"/>
                <a:ext cx="6629400" cy="1710353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0387" y="396178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051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8661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0675" y="53145"/>
            <a:ext cx="100521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3.2.5 Bring It Together: Exponential Expressions with Rational Bases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258762" y="1633675"/>
            <a:ext cx="9825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Match each set of expressions with the Exponent Law that it demonstrates. Use arrows to indicate matches.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DDCAA414-9CC3-4943-A102-E2350E8509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D3DB54BA-95EF-0743-9EF5-C43F31582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8954" y="31385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8066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710951"/>
                  </p:ext>
                </p:extLst>
              </p:nvPr>
            </p:nvGraphicFramePr>
            <p:xfrm>
              <a:off x="2112942" y="306093"/>
              <a:ext cx="4554558" cy="622538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545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53619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0.5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1.9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0.5 ∙0.5 ∙0.5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1.9 ∙1.9 ∙1.9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1.9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906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2474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10.1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10.1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 ∙10.1 ∙10.1 ∙10.1 ∙10.1 ∙10.1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 ∙10.1 ∙10.1 ∙10.1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 ∙1 ∙1 ∙1 ∙ 10.1 ∙ 10.1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10.1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1710951"/>
                  </p:ext>
                </p:extLst>
              </p:nvPr>
            </p:nvGraphicFramePr>
            <p:xfrm>
              <a:off x="588942" y="306092"/>
              <a:ext cx="4554558" cy="62504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54558"/>
                  </a:tblGrid>
                  <a:tr h="26073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4" t="-234" r="-267" b="-146028"/>
                          </a:stretch>
                        </a:blipFill>
                      </a:tcPr>
                    </a:tc>
                  </a:tr>
                  <a:tr h="10184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4" t="-256886" r="-267" b="-274251"/>
                          </a:stretch>
                        </a:blipFill>
                      </a:tcPr>
                    </a:tc>
                  </a:tr>
                  <a:tr h="2624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805" marR="3680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4" t="-138283" r="-267" b="-626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7165375" y="1730449"/>
            <a:ext cx="31695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Zero Exponent Law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Quotient of Powers Law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algn="ctr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Power of a Quotient Law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72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944380" y="435049"/>
            <a:ext cx="10303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steps for each expression.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28688" indent="-455613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Rewrite each expression shown by using the laws of exponents.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28688" indent="-455613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Check off the exponent law used from the list.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928688" indent="-455613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Evaluate the exponential expression.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00016"/>
                  </p:ext>
                </p:extLst>
              </p:nvPr>
            </p:nvGraphicFramePr>
            <p:xfrm>
              <a:off x="2750503" y="2752599"/>
              <a:ext cx="6690995" cy="262629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776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133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223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3947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b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 ________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00016"/>
                  </p:ext>
                </p:extLst>
              </p:nvPr>
            </p:nvGraphicFramePr>
            <p:xfrm>
              <a:off x="1226502" y="2752598"/>
              <a:ext cx="6690995" cy="26676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77613"/>
                    <a:gridCol w="3713382"/>
                  </a:tblGrid>
                  <a:tr h="1022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4" t="-7738" r="-124949" b="-1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64528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1" t="-66790" r="-182" b="-73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473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033686"/>
                  </p:ext>
                </p:extLst>
              </p:nvPr>
            </p:nvGraphicFramePr>
            <p:xfrm>
              <a:off x="2533650" y="590074"/>
              <a:ext cx="7124700" cy="26118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706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540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 _____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033686"/>
                  </p:ext>
                </p:extLst>
              </p:nvPr>
            </p:nvGraphicFramePr>
            <p:xfrm>
              <a:off x="1009650" y="590074"/>
              <a:ext cx="7124700" cy="26295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70619"/>
                    <a:gridCol w="3954081"/>
                  </a:tblGrid>
                  <a:tr h="13147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92" t="-5991" r="-124952" b="-1004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314768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85" t="-106481" r="-171" b="-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507042"/>
                  </p:ext>
                </p:extLst>
              </p:nvPr>
            </p:nvGraphicFramePr>
            <p:xfrm>
              <a:off x="2533650" y="3375919"/>
              <a:ext cx="7124700" cy="29408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706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540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 ________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507042"/>
                  </p:ext>
                </p:extLst>
              </p:nvPr>
            </p:nvGraphicFramePr>
            <p:xfrm>
              <a:off x="1009650" y="3375919"/>
              <a:ext cx="7124700" cy="29574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70619"/>
                    <a:gridCol w="3954081"/>
                  </a:tblGrid>
                  <a:tr h="16417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92" t="-4815" r="-124952" b="-8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Quotient of powers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Power of quotient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SzPts val="1800"/>
                            <a:buFont typeface="Courier New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Zero 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315657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85" t="-131019" r="-171" b="-138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484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36840" y="25583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540" y="25583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436840" y="1119325"/>
            <a:ext cx="88980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Rewrite the expressions using laws of exponents. State the exponent law used.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899525"/>
                  </p:ext>
                </p:extLst>
              </p:nvPr>
            </p:nvGraphicFramePr>
            <p:xfrm>
              <a:off x="2063255" y="1911960"/>
              <a:ext cx="7513770" cy="47476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94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49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593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82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98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8.6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0.2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97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15.7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15.7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43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6.75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6.75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85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20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625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0.85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2.64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554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8.45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8899525"/>
                  </p:ext>
                </p:extLst>
              </p:nvPr>
            </p:nvGraphicFramePr>
            <p:xfrm>
              <a:off x="2063255" y="1911960"/>
              <a:ext cx="7513770" cy="47476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94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49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593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Exponent Law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98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98291" r="-312000" b="-481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97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207143" r="-312000" b="-4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43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294017" r="-312000" b="-2854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85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365873" r="-312000" b="-1650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6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458594" r="-312000" b="-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5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916667" r="-31200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8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093" marR="3609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8433" y="-81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948" y="2680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8855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2BC790-442F-D2E7-B05B-F8C2E349E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78" y="1633220"/>
            <a:ext cx="9251810" cy="150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1269</Words>
  <Application>Microsoft Macintosh PowerPoint</Application>
  <PresentationFormat>Widescreen</PresentationFormat>
  <Paragraphs>311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Wingdings</vt:lpstr>
      <vt:lpstr>1_Office Theme</vt:lpstr>
      <vt:lpstr>7th Grade Accelerated Math  Unit 3, Lesson 2  Quotient Laws of Exponents  Volume 1, pg. 106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Diana Barnett</cp:lastModifiedBy>
  <cp:revision>26</cp:revision>
  <dcterms:created xsi:type="dcterms:W3CDTF">2015-03-17T18:51:18Z</dcterms:created>
  <dcterms:modified xsi:type="dcterms:W3CDTF">2023-01-31T14:27:59Z</dcterms:modified>
</cp:coreProperties>
</file>