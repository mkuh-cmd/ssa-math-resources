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93" r:id="rId8"/>
    <p:sldId id="294" r:id="rId9"/>
    <p:sldId id="295" r:id="rId10"/>
    <p:sldId id="297" r:id="rId11"/>
    <p:sldId id="296" r:id="rId12"/>
    <p:sldId id="298" r:id="rId13"/>
    <p:sldId id="299" r:id="rId14"/>
    <p:sldId id="300" r:id="rId15"/>
    <p:sldId id="301" r:id="rId16"/>
    <p:sldId id="302" r:id="rId17"/>
    <p:sldId id="303" r:id="rId18"/>
    <p:sldId id="305" r:id="rId19"/>
    <p:sldId id="263" r:id="rId20"/>
    <p:sldId id="264" r:id="rId21"/>
    <p:sldId id="265" r:id="rId22"/>
    <p:sldId id="307" r:id="rId23"/>
    <p:sldId id="308" r:id="rId24"/>
    <p:sldId id="290" r:id="rId25"/>
    <p:sldId id="291" r:id="rId2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1" roundtripDataSignature="AMtx7mgmwbqYbtu5YpsP+R29NhyWnQlFg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85"/>
    <p:restoredTop sz="94695"/>
  </p:normalViewPr>
  <p:slideViewPr>
    <p:cSldViewPr snapToGrid="0">
      <p:cViewPr varScale="1">
        <p:scale>
          <a:sx n="79" d="100"/>
          <a:sy n="79" d="100"/>
        </p:scale>
        <p:origin x="92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51"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extLst>
      <p:ext uri="{BB962C8B-B14F-4D97-AF65-F5344CB8AC3E}">
        <p14:creationId xmlns:p14="http://schemas.microsoft.com/office/powerpoint/2010/main" val="2975469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extLst>
      <p:ext uri="{BB962C8B-B14F-4D97-AF65-F5344CB8AC3E}">
        <p14:creationId xmlns:p14="http://schemas.microsoft.com/office/powerpoint/2010/main" val="18984435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extLst>
      <p:ext uri="{BB962C8B-B14F-4D97-AF65-F5344CB8AC3E}">
        <p14:creationId xmlns:p14="http://schemas.microsoft.com/office/powerpoint/2010/main" val="20782359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extLst>
      <p:ext uri="{BB962C8B-B14F-4D97-AF65-F5344CB8AC3E}">
        <p14:creationId xmlns:p14="http://schemas.microsoft.com/office/powerpoint/2010/main" val="30568410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1432631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18513096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283" name="Google Shape;283;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31336213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3" name="Google Shape;293;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4" name="Google Shape;294;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6741191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2" name="Google Shape;332;p2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3" name="Google Shape;333;p2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extLst>
      <p:ext uri="{BB962C8B-B14F-4D97-AF65-F5344CB8AC3E}">
        <p14:creationId xmlns:p14="http://schemas.microsoft.com/office/powerpoint/2010/main" val="28273836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3" name="Google Shape;343;p2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30601754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1062634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1859919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3" name="Google Shape;183;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Google Shape;192;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p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4" name="Google Shape;354;p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3561405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1325486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4" Type="http://schemas.openxmlformats.org/officeDocument/2006/relationships/image" Target="../media/image140.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5.png"/><Relationship Id="rId4" Type="http://schemas.openxmlformats.org/officeDocument/2006/relationships/image" Target="../media/image240.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0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200" b="1" dirty="0">
                <a:solidFill>
                  <a:srgbClr val="417DBF"/>
                </a:solidFill>
                <a:latin typeface="Verdana"/>
                <a:ea typeface="Verdana"/>
                <a:cs typeface="Verdana"/>
                <a:sym typeface="Verdana"/>
              </a:rPr>
              <a:t>7</a:t>
            </a:r>
            <a:r>
              <a:rPr lang="en-US" sz="3200" b="1" baseline="30000" dirty="0">
                <a:solidFill>
                  <a:srgbClr val="417DBF"/>
                </a:solidFill>
                <a:latin typeface="Verdana"/>
                <a:ea typeface="Verdana"/>
                <a:cs typeface="Verdana"/>
                <a:sym typeface="Verdana"/>
              </a:rPr>
              <a:t>th</a:t>
            </a:r>
            <a:r>
              <a:rPr lang="en-US" sz="3200" b="1" dirty="0">
                <a:solidFill>
                  <a:srgbClr val="417DBF"/>
                </a:solidFill>
                <a:latin typeface="Verdana"/>
                <a:ea typeface="Verdana"/>
                <a:cs typeface="Verdana"/>
                <a:sym typeface="Verdana"/>
              </a:rPr>
              <a:t> Grade Accelerated Math</a:t>
            </a:r>
            <a:br>
              <a:rPr lang="en-US" sz="3200" b="1" dirty="0">
                <a:solidFill>
                  <a:srgbClr val="417DBF"/>
                </a:solidFill>
                <a:latin typeface="Verdana"/>
                <a:ea typeface="Verdana"/>
                <a:cs typeface="Verdana"/>
                <a:sym typeface="Verdana"/>
              </a:rPr>
            </a:br>
            <a:endParaRPr sz="3200" b="1" dirty="0">
              <a:solidFill>
                <a:srgbClr val="417DBF"/>
              </a:solidFill>
              <a:latin typeface="Verdana"/>
              <a:ea typeface="Verdana"/>
              <a:cs typeface="Verdana"/>
              <a:sym typeface="Verdana"/>
            </a:endParaRPr>
          </a:p>
          <a:p>
            <a:pPr algn="ctr">
              <a:lnSpc>
                <a:spcPct val="100000"/>
              </a:lnSpc>
              <a:buClr>
                <a:srgbClr val="000000"/>
              </a:buClr>
            </a:pPr>
            <a:r>
              <a:rPr lang="en-US" sz="3200" b="1" dirty="0">
                <a:solidFill>
                  <a:srgbClr val="417DBF"/>
                </a:solidFill>
                <a:latin typeface="Verdana"/>
                <a:ea typeface="Verdana"/>
                <a:cs typeface="Verdana"/>
                <a:sym typeface="Verdana"/>
              </a:rPr>
              <a:t>Unit 3, Lesson 6</a:t>
            </a:r>
            <a:br>
              <a:rPr lang="en-US" sz="3200" b="1" dirty="0">
                <a:solidFill>
                  <a:srgbClr val="417DBF"/>
                </a:solidFill>
                <a:latin typeface="Verdana"/>
                <a:ea typeface="Verdana"/>
                <a:cs typeface="Verdana"/>
                <a:sym typeface="Verdana"/>
              </a:rPr>
            </a:br>
            <a:br>
              <a:rPr lang="en-US" sz="32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Evaluating Numerical Expressions with Integer Exponents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129</a:t>
            </a:r>
            <a:endParaRPr sz="3200"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114" name="Google Shape;114;g104476d1465_0_0"/>
          <p:cNvCxnSpPr/>
          <p:nvPr/>
        </p:nvCxnSpPr>
        <p:spPr>
          <a:xfrm>
            <a:off x="-1573225" y="3938167"/>
            <a:ext cx="1152600" cy="0"/>
          </a:xfrm>
          <a:prstGeom prst="straightConnector1">
            <a:avLst/>
          </a:prstGeom>
          <a:noFill/>
          <a:ln w="9525" cap="flat" cmpd="sng">
            <a:solidFill>
              <a:schemeClr val="lt1"/>
            </a:solidFill>
            <a:prstDash val="solid"/>
            <a:round/>
            <a:headEnd type="none" w="sm" len="sm"/>
            <a:tailEnd type="none" w="sm" len="sm"/>
          </a:ln>
        </p:spPr>
      </p:cxnSp>
      <p:sp>
        <p:nvSpPr>
          <p:cNvPr id="115" name="Google Shape;115;g104476d1465_0_0"/>
          <p:cNvSpPr/>
          <p:nvPr/>
        </p:nvSpPr>
        <p:spPr>
          <a:xfrm>
            <a:off x="0" y="0"/>
            <a:ext cx="4094106"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g104476d1465_1_1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3" name="Google Shape;123;g104476d1465_1_17"/>
          <p:cNvSpPr txBox="1">
            <a:spLocks noGrp="1"/>
          </p:cNvSpPr>
          <p:nvPr>
            <p:ph type="title" idx="4294967295"/>
          </p:nvPr>
        </p:nvSpPr>
        <p:spPr>
          <a:xfrm>
            <a:off x="1554336" y="148882"/>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730836" y="384657"/>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721444" y="1600200"/>
            <a:ext cx="8749112" cy="4205700"/>
          </a:xfrm>
          <a:prstGeom prst="rect">
            <a:avLst/>
          </a:prstGeom>
          <a:noFill/>
          <a:ln>
            <a:noFill/>
          </a:ln>
        </p:spPr>
        <p:txBody>
          <a:bodyPr spcFirstLastPara="1" wrap="square" lIns="91425" tIns="45700" rIns="91425" bIns="45700" anchor="t" anchorCtr="0">
            <a:normAutofit lnSpcReduction="10000"/>
          </a:bodyPr>
          <a:lstStyle/>
          <a:p>
            <a:pPr>
              <a:lnSpc>
                <a:spcPct val="90000"/>
              </a:lnSpc>
              <a:spcBef>
                <a:spcPts val="750"/>
              </a:spcBef>
              <a:buClr>
                <a:schemeClr val="dk1"/>
              </a:buClr>
              <a:buSzPts val="1100"/>
            </a:pPr>
            <a:r>
              <a:rPr lang="en-US" sz="3200" dirty="0">
                <a:solidFill>
                  <a:schemeClr val="dk1"/>
                </a:solidFill>
                <a:latin typeface="Verdana"/>
                <a:ea typeface="Verdana"/>
                <a:cs typeface="Verdana"/>
                <a:sym typeface="Verdana"/>
              </a:rPr>
              <a:t>MA.8.NSO.1.3</a:t>
            </a:r>
            <a:endParaRPr sz="3200" dirty="0">
              <a:solidFill>
                <a:schemeClr val="dk1"/>
              </a:solidFill>
              <a:latin typeface="Verdana"/>
              <a:ea typeface="Verdana"/>
              <a:cs typeface="Verdana"/>
              <a:sym typeface="Verdana"/>
            </a:endParaRPr>
          </a:p>
          <a:p>
            <a:pPr marL="457200">
              <a:lnSpc>
                <a:spcPct val="90000"/>
              </a:lnSpc>
              <a:spcBef>
                <a:spcPts val="750"/>
              </a:spcBef>
              <a:buClr>
                <a:schemeClr val="dk1"/>
              </a:buClr>
              <a:buSzPts val="2100"/>
            </a:pPr>
            <a:r>
              <a:rPr lang="en-US" sz="3200" dirty="0">
                <a:latin typeface="Verdana" panose="020B0604030504040204" pitchFamily="34" charset="0"/>
                <a:ea typeface="Verdana" panose="020B0604030504040204" pitchFamily="34" charset="0"/>
                <a:cs typeface="Verdana" panose="020B0604030504040204" pitchFamily="34" charset="0"/>
              </a:rPr>
              <a:t>Extend previous understanding of the Laws of Exponents to include integer exponents. Apply the Laws of Exponents to evaluate numerical expressions and generate equivalent numerical expressions, limited to integer exponents and rational number bases, with procedural fluency. </a:t>
            </a:r>
            <a:endParaRPr sz="3200" dirty="0">
              <a:solidFill>
                <a:schemeClr val="dk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664406" y="347587"/>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89056" y="104954"/>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489056" y="1596390"/>
            <a:ext cx="9801648" cy="4205700"/>
          </a:xfrm>
          <a:prstGeom prst="rect">
            <a:avLst/>
          </a:prstGeom>
          <a:noFill/>
          <a:ln>
            <a:noFill/>
          </a:ln>
        </p:spPr>
        <p:txBody>
          <a:bodyPr spcFirstLastPara="1" wrap="square" lIns="91425" tIns="45700" rIns="91425" bIns="45700" anchor="t" anchorCtr="0">
            <a:noAutofit/>
          </a:bodyPr>
          <a:lstStyle/>
          <a:p>
            <a:r>
              <a:rPr lang="en-US" sz="2400" dirty="0">
                <a:solidFill>
                  <a:schemeClr val="dk1"/>
                </a:solidFill>
                <a:latin typeface="Verdana"/>
                <a:ea typeface="Verdana"/>
                <a:cs typeface="Verdana"/>
                <a:sym typeface="Verdana"/>
              </a:rPr>
              <a:t>MA.K12.MTR.1.1 Actively participate in effortful learning both individually and collectively.</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MA.K12.MTR.3.1 Complete tasks with mathematical fluency.</a:t>
            </a:r>
            <a:endParaRPr sz="2400" dirty="0"/>
          </a:p>
          <a:p>
            <a:pPr marL="457200"/>
            <a:endParaRPr sz="2400" dirty="0">
              <a:solidFill>
                <a:schemeClr val="dk1"/>
              </a:solidFill>
              <a:latin typeface="Verdana"/>
              <a:ea typeface="Verdana"/>
              <a:cs typeface="Verdana"/>
              <a:sym typeface="Verdana"/>
            </a:endParaRPr>
          </a:p>
          <a:p>
            <a:r>
              <a:rPr lang="en-US" sz="2400" dirty="0">
                <a:solidFill>
                  <a:schemeClr val="dk1"/>
                </a:solidFill>
                <a:latin typeface="Verdana"/>
                <a:ea typeface="Verdana"/>
                <a:cs typeface="Verdana"/>
                <a:sym typeface="Verdana"/>
              </a:rPr>
              <a:t>MA.K12.MTR.4.1 Engage in discussions that reflect on the mathematical thinking of self and others.</a:t>
            </a:r>
            <a:endParaRPr sz="2400" dirty="0"/>
          </a:p>
        </p:txBody>
      </p:sp>
      <p:sp>
        <p:nvSpPr>
          <p:cNvPr id="138" name="Google Shape;138;p1"/>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0825" y="-27758"/>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6" name="Google Shape;146;p2"/>
          <p:cNvPicPr preferRelativeResize="0"/>
          <p:nvPr/>
        </p:nvPicPr>
        <p:blipFill rotWithShape="1">
          <a:blip r:embed="rId3">
            <a:alphaModFix/>
          </a:blip>
          <a:srcRect/>
          <a:stretch/>
        </p:blipFill>
        <p:spPr>
          <a:xfrm>
            <a:off x="718663" y="261442"/>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721443" y="1600200"/>
            <a:ext cx="9325497"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ts val="3500"/>
              <a:buFont typeface="Verdana"/>
              <a:buChar char="❏"/>
            </a:pPr>
            <a:r>
              <a:rPr lang="en-US" sz="3500" dirty="0">
                <a:solidFill>
                  <a:schemeClr val="dk1"/>
                </a:solidFill>
                <a:latin typeface="Verdana"/>
                <a:ea typeface="Verdana"/>
                <a:cs typeface="Verdana"/>
                <a:sym typeface="Verdana"/>
              </a:rPr>
              <a:t>I can evaluate a numerical expression using the laws of exponents.</a:t>
            </a:r>
            <a:endParaRPr dirty="0"/>
          </a:p>
        </p:txBody>
      </p:sp>
      <p:sp>
        <p:nvSpPr>
          <p:cNvPr id="149" name="Google Shape;149;p2"/>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129</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g104476d1465_1_39"/>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308887" y="-15357"/>
            <a:ext cx="1118379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3.6.1 Warm-Up: Negative Exponents</a:t>
            </a:r>
            <a:endParaRPr dirty="0"/>
          </a:p>
        </p:txBody>
      </p:sp>
      <p:pic>
        <p:nvPicPr>
          <p:cNvPr id="167" name="Google Shape;167;p4"/>
          <p:cNvPicPr preferRelativeResize="0"/>
          <p:nvPr/>
        </p:nvPicPr>
        <p:blipFill rotWithShape="1">
          <a:blip r:embed="rId3">
            <a:alphaModFix/>
          </a:blip>
          <a:srcRect/>
          <a:stretch/>
        </p:blipFill>
        <p:spPr>
          <a:xfrm>
            <a:off x="561587" y="245373"/>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308887" y="1386025"/>
            <a:ext cx="9830258" cy="83095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Place a digit in each blue box to make the statement true. Use only digits 0 to 9, at most one time each.  </a:t>
            </a:r>
          </a:p>
        </p:txBody>
      </p:sp>
      <p:sp>
        <p:nvSpPr>
          <p:cNvPr id="170" name="Google Shape;170;p4"/>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3" name="Picture 2" descr="Text&#10;&#10;Description automatically generated with low confidence">
            <a:extLst>
              <a:ext uri="{FF2B5EF4-FFF2-40B4-BE49-F238E27FC236}">
                <a16:creationId xmlns:a16="http://schemas.microsoft.com/office/drawing/2014/main" id="{2B36CF3E-7EBF-894E-B9A5-1BF4FCC77CE0}"/>
              </a:ext>
            </a:extLst>
          </p:cNvPr>
          <p:cNvPicPr>
            <a:picLocks noChangeAspect="1"/>
          </p:cNvPicPr>
          <p:nvPr/>
        </p:nvPicPr>
        <p:blipFill>
          <a:blip r:embed="rId4"/>
          <a:stretch>
            <a:fillRect/>
          </a:stretch>
        </p:blipFill>
        <p:spPr>
          <a:xfrm>
            <a:off x="2979159" y="2794618"/>
            <a:ext cx="6233683" cy="2008495"/>
          </a:xfrm>
          <a:prstGeom prst="rect">
            <a:avLst/>
          </a:prstGeom>
        </p:spPr>
      </p:pic>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18"/>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498605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52944" y="-63245"/>
            <a:ext cx="965578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800" b="1" dirty="0">
                <a:solidFill>
                  <a:srgbClr val="54B5D1"/>
                </a:solidFill>
                <a:latin typeface="Verdana"/>
                <a:ea typeface="Verdana"/>
                <a:cs typeface="Verdana"/>
                <a:sym typeface="Verdana"/>
              </a:rPr>
              <a:t>3.6.2 Guided Instruction: Using the Laws of Exponents to Evaluate Expressions</a:t>
            </a:r>
            <a:endParaRPr sz="1100" dirty="0"/>
          </a:p>
        </p:txBody>
      </p:sp>
      <p:pic>
        <p:nvPicPr>
          <p:cNvPr id="317" name="Google Shape;317;p19"/>
          <p:cNvPicPr preferRelativeResize="0"/>
          <p:nvPr/>
        </p:nvPicPr>
        <p:blipFill rotWithShape="1">
          <a:blip r:embed="rId3">
            <a:alphaModFix/>
          </a:blip>
          <a:srcRect/>
          <a:stretch/>
        </p:blipFill>
        <p:spPr>
          <a:xfrm>
            <a:off x="705644" y="189835"/>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963827" y="1386025"/>
                <a:ext cx="10520378" cy="894500"/>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Melanie and Adonis each evaluated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(5)</m:t>
                            </m:r>
                          </m:e>
                          <m:sup>
                            <m:r>
                              <a:rPr lang="en-US" sz="2000" i="1">
                                <a:latin typeface="Cambria Math" panose="02040503050406030204" pitchFamily="18" charset="0"/>
                              </a:rPr>
                              <m:t>5</m:t>
                            </m:r>
                          </m:sup>
                        </m:sSup>
                      </m:num>
                      <m:den>
                        <m:r>
                          <a:rPr lang="en-US" sz="2000" i="1">
                            <a:latin typeface="Cambria Math" panose="02040503050406030204" pitchFamily="18" charset="0"/>
                          </a:rPr>
                          <m:t>5</m:t>
                        </m:r>
                      </m:den>
                    </m:f>
                  </m:oMath>
                </a14:m>
                <a:r>
                  <a:rPr lang="en-US" sz="2000" dirty="0">
                    <a:latin typeface="Verdana" panose="020B0604030504040204" pitchFamily="34" charset="0"/>
                    <a:ea typeface="Verdana" panose="020B0604030504040204" pitchFamily="34" charset="0"/>
                    <a:cs typeface="Verdana" panose="020B0604030504040204" pitchFamily="34" charset="0"/>
                  </a:rPr>
                  <a:t>. Each student’s steps are shown.</a:t>
                </a:r>
              </a:p>
            </p:txBody>
          </p:sp>
        </mc:Choice>
        <mc:Fallback xmlns="">
          <p:sp>
            <p:nvSpPr>
              <p:cNvPr id="319" name="Google Shape;319;p19"/>
              <p:cNvSpPr txBox="1">
                <a:spLocks noRot="1" noChangeAspect="1" noMove="1" noResize="1" noEditPoints="1" noAdjustHandles="1" noChangeArrowheads="1" noChangeShapeType="1" noTextEdit="1"/>
              </p:cNvSpPr>
              <p:nvPr/>
            </p:nvSpPr>
            <p:spPr>
              <a:xfrm>
                <a:off x="963827" y="1386025"/>
                <a:ext cx="10520378" cy="894500"/>
              </a:xfrm>
              <a:prstGeom prst="rect">
                <a:avLst/>
              </a:prstGeom>
              <a:blipFill rotWithShape="0">
                <a:blip r:embed="rId4"/>
                <a:stretch>
                  <a:fillRect l="-637" b="-10204"/>
                </a:stretch>
              </a:blipFill>
              <a:ln>
                <a:noFill/>
              </a:ln>
            </p:spPr>
            <p:txBody>
              <a:bodyPr/>
              <a:lstStyle/>
              <a:p>
                <a:r>
                  <a:rPr lang="en-US">
                    <a:noFill/>
                  </a:rPr>
                  <a:t> </a:t>
                </a:r>
              </a:p>
            </p:txBody>
          </p:sp>
        </mc:Fallback>
      </mc:AlternateContent>
      <p:sp>
        <p:nvSpPr>
          <p:cNvPr id="320" name="Google Shape;320;p19"/>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8E7E4932-FDDE-0548-8500-4E4B761B079C}"/>
                  </a:ext>
                </a:extLst>
              </p:cNvPr>
              <p:cNvGraphicFramePr>
                <a:graphicFrameLocks noGrp="1"/>
              </p:cNvGraphicFramePr>
              <p:nvPr>
                <p:extLst>
                  <p:ext uri="{D42A27DB-BD31-4B8C-83A1-F6EECF244321}">
                    <p14:modId xmlns:p14="http://schemas.microsoft.com/office/powerpoint/2010/main" val="2239155944"/>
                  </p:ext>
                </p:extLst>
              </p:nvPr>
            </p:nvGraphicFramePr>
            <p:xfrm>
              <a:off x="2977833" y="2504266"/>
              <a:ext cx="6236335" cy="3696335"/>
            </p:xfrm>
            <a:graphic>
              <a:graphicData uri="http://schemas.openxmlformats.org/drawingml/2006/table">
                <a:tbl>
                  <a:tblPr firstRow="1" firstCol="1" bandRow="1">
                    <a:tableStyleId>{F2DE63D5-997A-4646-A377-4702673A728D}</a:tableStyleId>
                  </a:tblPr>
                  <a:tblGrid>
                    <a:gridCol w="3090545">
                      <a:extLst>
                        <a:ext uri="{9D8B030D-6E8A-4147-A177-3AD203B41FA5}">
                          <a16:colId xmlns:a16="http://schemas.microsoft.com/office/drawing/2014/main" val="1994238708"/>
                        </a:ext>
                      </a:extLst>
                    </a:gridCol>
                    <a:gridCol w="3145790">
                      <a:extLst>
                        <a:ext uri="{9D8B030D-6E8A-4147-A177-3AD203B41FA5}">
                          <a16:colId xmlns:a16="http://schemas.microsoft.com/office/drawing/2014/main" val="1109286852"/>
                        </a:ext>
                      </a:extLst>
                    </a:gridCol>
                  </a:tblGrid>
                  <a:tr h="285115">
                    <a:tc>
                      <a:txBody>
                        <a:bodyPr/>
                        <a:lstStyle/>
                        <a:p>
                          <a:pPr marL="0" marR="0" algn="ctr">
                            <a:spcBef>
                              <a:spcPts val="0"/>
                            </a:spcBef>
                            <a:spcAft>
                              <a:spcPts val="0"/>
                            </a:spcAft>
                          </a:pPr>
                          <a:r>
                            <a:rPr lang="en-US" sz="1800">
                              <a:solidFill>
                                <a:schemeClr val="tx1"/>
                              </a:solidFill>
                              <a:effectLst/>
                            </a:rPr>
                            <a:t>Melanie</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Adonis</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8466860"/>
                      </a:ext>
                    </a:extLst>
                  </a:tr>
                  <a:tr h="3411220">
                    <a:tc>
                      <a:txBody>
                        <a:bodyPr/>
                        <a:lstStyle/>
                        <a:p>
                          <a:pPr marL="0" marR="0" algn="ctr">
                            <a:spcBef>
                              <a:spcPts val="1200"/>
                            </a:spcBef>
                            <a:spcAft>
                              <a:spcPts val="0"/>
                            </a:spcAft>
                          </a:pPr>
                          <a14:m>
                            <m:oMath xmlns:m="http://schemas.openxmlformats.org/officeDocument/2006/math">
                              <m:f>
                                <m:fPr>
                                  <m:ctrlPr>
                                    <a:rPr lang="en-US" sz="1800" i="1" smtClean="0">
                                      <a:solidFill>
                                        <a:schemeClr val="tx1"/>
                                      </a:solidFill>
                                      <a:effectLst/>
                                      <a:latin typeface="Cambria Math" panose="02040503050406030204" pitchFamily="18" charset="0"/>
                                    </a:rPr>
                                  </m:ctrlPr>
                                </m:fPr>
                                <m:num>
                                  <m:sSup>
                                    <m:sSupPr>
                                      <m:ctrlPr>
                                        <a:rPr lang="en-US" sz="1800" i="1">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5</m:t>
                                          </m:r>
                                        </m:e>
                                      </m:d>
                                    </m:e>
                                    <m:sup>
                                      <m:r>
                                        <a:rPr lang="en-US" sz="1800">
                                          <a:solidFill>
                                            <a:schemeClr val="tx1"/>
                                          </a:solidFill>
                                          <a:effectLst/>
                                          <a:latin typeface="Cambria Math" panose="02040503050406030204" pitchFamily="18" charset="0"/>
                                        </a:rPr>
                                        <m:t>−2</m:t>
                                      </m:r>
                                    </m:sup>
                                  </m:sSup>
                                  <m:sSup>
                                    <m:sSupPr>
                                      <m:ctrlPr>
                                        <a:rPr lang="en-US" sz="1800" i="1">
                                          <a:solidFill>
                                            <a:schemeClr val="tx1"/>
                                          </a:solidFill>
                                          <a:effectLst/>
                                          <a:latin typeface="Cambria Math" panose="02040503050406030204" pitchFamily="18" charset="0"/>
                                        </a:rPr>
                                      </m:ctrlPr>
                                    </m:sSupPr>
                                    <m:e>
                                      <m:d>
                                        <m:dPr>
                                          <m:ctrlPr>
                                            <a:rPr lang="en-US" sz="1800" i="1">
                                              <a:solidFill>
                                                <a:schemeClr val="tx1"/>
                                              </a:solidFill>
                                              <a:effectLst/>
                                              <a:latin typeface="Cambria Math" panose="02040503050406030204" pitchFamily="18" charset="0"/>
                                            </a:rPr>
                                          </m:ctrlPr>
                                        </m:dPr>
                                        <m:e>
                                          <m:r>
                                            <a:rPr lang="en-US" sz="1800">
                                              <a:solidFill>
                                                <a:schemeClr val="tx1"/>
                                              </a:solidFill>
                                              <a:effectLst/>
                                              <a:latin typeface="Cambria Math" panose="02040503050406030204" pitchFamily="18" charset="0"/>
                                            </a:rPr>
                                            <m:t>5</m:t>
                                          </m:r>
                                        </m:e>
                                      </m:d>
                                    </m:e>
                                    <m:sup>
                                      <m:r>
                                        <a:rPr lang="en-US" sz="1800">
                                          <a:solidFill>
                                            <a:schemeClr val="tx1"/>
                                          </a:solidFill>
                                          <a:effectLst/>
                                          <a:latin typeface="Cambria Math" panose="02040503050406030204" pitchFamily="18" charset="0"/>
                                        </a:rPr>
                                        <m:t>5</m:t>
                                      </m:r>
                                    </m:sup>
                                  </m:sSup>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 xmlns:m="http://schemas.openxmlformats.org/officeDocument/2006/math">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3</m:t>
                                      </m:r>
                                    </m:sup>
                                  </m:sSup>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solidFill>
                                      <a:schemeClr val="tx1"/>
                                    </a:solidFill>
                                    <a:effectLst/>
                                    <a:latin typeface="Cambria Math" panose="02040503050406030204" pitchFamily="18" charset="0"/>
                                  </a:rPr>
                                  <m:t>=</m:t>
                                </m:r>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2</m:t>
                                    </m:r>
                                  </m:sup>
                                </m:sSup>
                              </m:oMath>
                            </m:oMathPara>
                          </a14:m>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solidFill>
                                      <a:schemeClr val="tx1"/>
                                    </a:solidFill>
                                    <a:effectLst/>
                                    <a:latin typeface="Cambria Math" panose="02040503050406030204" pitchFamily="18" charset="0"/>
                                  </a:rPr>
                                  <m:t>=25</m:t>
                                </m:r>
                              </m:oMath>
                            </m:oMathPara>
                          </a14:m>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1200"/>
                            </a:spcBef>
                            <a:spcAft>
                              <a:spcPts val="0"/>
                            </a:spcAft>
                          </a:pPr>
                          <a14:m>
                            <m:oMath xmlns:m="http://schemas.openxmlformats.org/officeDocument/2006/math">
                              <m:f>
                                <m:fPr>
                                  <m:ctrlPr>
                                    <a:rPr lang="en-US" sz="1800" i="1" smtClean="0">
                                      <a:solidFill>
                                        <a:schemeClr val="tx1"/>
                                      </a:solidFill>
                                      <a:effectLst/>
                                      <a:latin typeface="Cambria Math" panose="02040503050406030204" pitchFamily="18" charset="0"/>
                                    </a:rPr>
                                  </m:ctrlPr>
                                </m:fPr>
                                <m:num>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−2</m:t>
                                      </m:r>
                                    </m:sup>
                                  </m:sSup>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5</m:t>
                                      </m:r>
                                    </m:sup>
                                  </m:sSup>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 xmlns:m="http://schemas.openxmlformats.org/officeDocument/2006/math">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1</m:t>
                                      </m:r>
                                    </m:num>
                                    <m:den>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2</m:t>
                                          </m:r>
                                        </m:sup>
                                      </m:sSup>
                                    </m:den>
                                  </m:f>
                                  <m:r>
                                    <a:rPr lang="en-US" sz="1800">
                                      <a:solidFill>
                                        <a:schemeClr val="tx1"/>
                                      </a:solidFill>
                                      <a:effectLst/>
                                      <a:latin typeface="Cambria Math" panose="02040503050406030204" pitchFamily="18" charset="0"/>
                                    </a:rPr>
                                    <m:t> ∙ </m:t>
                                  </m:r>
                                  <m:sSup>
                                    <m:sSupPr>
                                      <m:ctrlPr>
                                        <a:rPr lang="en-US" sz="1800" i="1">
                                          <a:solidFill>
                                            <a:schemeClr val="tx1"/>
                                          </a:solidFill>
                                          <a:effectLst/>
                                          <a:latin typeface="Cambria Math" panose="02040503050406030204" pitchFamily="18" charset="0"/>
                                        </a:rPr>
                                      </m:ctrlPr>
                                    </m:sSupPr>
                                    <m:e>
                                      <m:r>
                                        <a:rPr lang="en-US" sz="1800">
                                          <a:solidFill>
                                            <a:schemeClr val="tx1"/>
                                          </a:solidFill>
                                          <a:effectLst/>
                                          <a:latin typeface="Cambria Math" panose="02040503050406030204" pitchFamily="18" charset="0"/>
                                        </a:rPr>
                                        <m:t>(5)</m:t>
                                      </m:r>
                                    </m:e>
                                    <m:sup>
                                      <m:r>
                                        <a:rPr lang="en-US" sz="1800">
                                          <a:solidFill>
                                            <a:schemeClr val="tx1"/>
                                          </a:solidFill>
                                          <a:effectLst/>
                                          <a:latin typeface="Cambria Math" panose="02040503050406030204" pitchFamily="18" charset="0"/>
                                        </a:rPr>
                                        <m:t>5</m:t>
                                      </m:r>
                                    </m:sup>
                                  </m:sSup>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 xmlns:m="http://schemas.openxmlformats.org/officeDocument/2006/math">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1</m:t>
                                      </m:r>
                                    </m:num>
                                    <m:den>
                                      <m:r>
                                        <a:rPr lang="en-US" sz="1800">
                                          <a:solidFill>
                                            <a:schemeClr val="tx1"/>
                                          </a:solidFill>
                                          <a:effectLst/>
                                          <a:latin typeface="Cambria Math" panose="02040503050406030204" pitchFamily="18" charset="0"/>
                                        </a:rPr>
                                        <m:t>25</m:t>
                                      </m:r>
                                    </m:den>
                                  </m:f>
                                  <m:r>
                                    <a:rPr lang="en-US" sz="1800">
                                      <a:solidFill>
                                        <a:schemeClr val="tx1"/>
                                      </a:solidFill>
                                      <a:effectLst/>
                                      <a:latin typeface="Cambria Math" panose="02040503050406030204" pitchFamily="18" charset="0"/>
                                    </a:rPr>
                                    <m:t> ∙ 3125</m:t>
                                  </m:r>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 xmlns:m="http://schemas.openxmlformats.org/officeDocument/2006/math">
                              <m:r>
                                <a:rPr lang="en-US" sz="1800">
                                  <a:solidFill>
                                    <a:schemeClr val="tx1"/>
                                  </a:solidFill>
                                  <a:effectLst/>
                                  <a:latin typeface="Cambria Math" panose="02040503050406030204" pitchFamily="18" charset="0"/>
                                </a:rPr>
                                <m:t>=</m:t>
                              </m:r>
                              <m:f>
                                <m:fPr>
                                  <m:ctrlPr>
                                    <a:rPr lang="en-US" sz="1800" i="1">
                                      <a:solidFill>
                                        <a:schemeClr val="tx1"/>
                                      </a:solidFill>
                                      <a:effectLst/>
                                      <a:latin typeface="Cambria Math" panose="02040503050406030204" pitchFamily="18" charset="0"/>
                                    </a:rPr>
                                  </m:ctrlPr>
                                </m:fPr>
                                <m:num>
                                  <m:r>
                                    <a:rPr lang="en-US" sz="1800">
                                      <a:solidFill>
                                        <a:schemeClr val="tx1"/>
                                      </a:solidFill>
                                      <a:effectLst/>
                                      <a:latin typeface="Cambria Math" panose="02040503050406030204" pitchFamily="18" charset="0"/>
                                    </a:rPr>
                                    <m:t>125</m:t>
                                  </m:r>
                                </m:num>
                                <m:den>
                                  <m:r>
                                    <a:rPr lang="en-US" sz="1800">
                                      <a:solidFill>
                                        <a:schemeClr val="tx1"/>
                                      </a:solidFill>
                                      <a:effectLst/>
                                      <a:latin typeface="Cambria Math" panose="02040503050406030204" pitchFamily="18" charset="0"/>
                                    </a:rPr>
                                    <m:t>5</m:t>
                                  </m:r>
                                </m:den>
                              </m:f>
                            </m:oMath>
                          </a14:m>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r>
                            <a:rPr lang="en-US" sz="1800" dirty="0">
                              <a:solidFill>
                                <a:schemeClr val="tx1"/>
                              </a:solidFill>
                              <a:effectLst/>
                            </a:rPr>
                            <a:t> </a:t>
                          </a:r>
                          <a:endParaRPr lang="en-US" sz="1200" dirty="0">
                            <a:solidFill>
                              <a:schemeClr val="tx1"/>
                            </a:solidFill>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solidFill>
                                      <a:schemeClr val="tx1"/>
                                    </a:solidFill>
                                    <a:effectLst/>
                                    <a:latin typeface="Cambria Math" panose="02040503050406030204" pitchFamily="18" charset="0"/>
                                  </a:rPr>
                                  <m:t>=25</m:t>
                                </m:r>
                              </m:oMath>
                            </m:oMathPara>
                          </a14:m>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9977908"/>
                      </a:ext>
                    </a:extLst>
                  </a:tr>
                </a:tbl>
              </a:graphicData>
            </a:graphic>
          </p:graphicFrame>
        </mc:Choice>
        <mc:Fallback xmlns="">
          <p:graphicFrame>
            <p:nvGraphicFramePr>
              <p:cNvPr id="2" name="Table 1">
                <a:extLst>
                  <a:ext uri="{FF2B5EF4-FFF2-40B4-BE49-F238E27FC236}">
                    <a16:creationId xmlns:a16="http://schemas.microsoft.com/office/drawing/2014/main" id="{8E7E4932-FDDE-0548-8500-4E4B761B079C}"/>
                  </a:ext>
                </a:extLst>
              </p:cNvPr>
              <p:cNvGraphicFramePr>
                <a:graphicFrameLocks noGrp="1"/>
              </p:cNvGraphicFramePr>
              <p:nvPr>
                <p:extLst>
                  <p:ext uri="{D42A27DB-BD31-4B8C-83A1-F6EECF244321}">
                    <p14:modId xmlns:p14="http://schemas.microsoft.com/office/powerpoint/2010/main" val="2239155944"/>
                  </p:ext>
                </p:extLst>
              </p:nvPr>
            </p:nvGraphicFramePr>
            <p:xfrm>
              <a:off x="1453832" y="2504265"/>
              <a:ext cx="6236335" cy="3696335"/>
            </p:xfrm>
            <a:graphic>
              <a:graphicData uri="http://schemas.openxmlformats.org/drawingml/2006/table">
                <a:tbl>
                  <a:tblPr firstRow="1" firstCol="1" bandRow="1">
                    <a:tableStyleId>{F2DE63D5-997A-4646-A377-4702673A728D}</a:tableStyleId>
                  </a:tblPr>
                  <a:tblGrid>
                    <a:gridCol w="3090545">
                      <a:extLst>
                        <a:ext uri="{9D8B030D-6E8A-4147-A177-3AD203B41FA5}">
                          <a16:colId xmlns:a16="http://schemas.microsoft.com/office/drawing/2014/main" val="1994238708"/>
                        </a:ext>
                      </a:extLst>
                    </a:gridCol>
                    <a:gridCol w="3145790">
                      <a:extLst>
                        <a:ext uri="{9D8B030D-6E8A-4147-A177-3AD203B41FA5}">
                          <a16:colId xmlns:a16="http://schemas.microsoft.com/office/drawing/2014/main" val="1109286852"/>
                        </a:ext>
                      </a:extLst>
                    </a:gridCol>
                  </a:tblGrid>
                  <a:tr h="285115">
                    <a:tc>
                      <a:txBody>
                        <a:bodyPr/>
                        <a:lstStyle/>
                        <a:p>
                          <a:pPr marL="0" marR="0" algn="ctr">
                            <a:spcBef>
                              <a:spcPts val="0"/>
                            </a:spcBef>
                            <a:spcAft>
                              <a:spcPts val="0"/>
                            </a:spcAft>
                          </a:pPr>
                          <a:r>
                            <a:rPr lang="en-US" sz="1800">
                              <a:solidFill>
                                <a:schemeClr val="tx1"/>
                              </a:solidFill>
                              <a:effectLst/>
                            </a:rPr>
                            <a:t>Melanie</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800" dirty="0">
                              <a:solidFill>
                                <a:schemeClr val="tx1"/>
                              </a:solidFill>
                              <a:effectLst/>
                            </a:rPr>
                            <a:t>Adonis</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8466860"/>
                      </a:ext>
                    </a:extLst>
                  </a:tr>
                  <a:tr h="3411220">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410" t="-10781" r="-102049" b="-372"/>
                          </a:stretch>
                        </a:blipFill>
                      </a:tcPr>
                    </a:tc>
                    <a:tc>
                      <a:txBody>
                        <a:bodyPr/>
                        <a:lstStyle/>
                        <a:p>
                          <a:endParaRPr lang="en-US"/>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98790" t="-10781" r="-403" b="-372"/>
                          </a:stretch>
                        </a:blipFill>
                      </a:tcPr>
                    </a:tc>
                    <a:extLst>
                      <a:ext uri="{0D108BD9-81ED-4DB2-BD59-A6C34878D82A}">
                        <a16:rowId xmlns:a16="http://schemas.microsoft.com/office/drawing/2014/main" val="3189977908"/>
                      </a:ext>
                    </a:extLst>
                  </a:tr>
                </a:tbl>
              </a:graphicData>
            </a:graphic>
          </p:graphicFrame>
        </mc:Fallback>
      </mc:AlternateContent>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461155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025611" y="288745"/>
            <a:ext cx="10140778" cy="1200288"/>
          </a:xfrm>
          <a:prstGeom prst="rect">
            <a:avLst/>
          </a:prstGeom>
          <a:noFill/>
          <a:ln>
            <a:noFill/>
          </a:ln>
        </p:spPr>
        <p:txBody>
          <a:bodyPr spcFirstLastPara="1" wrap="square" lIns="91425" tIns="45700" rIns="91425" bIns="45700" anchor="t" anchorCtr="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Discuss with your partner how Melanie’s steps and Adonis’ steps are similar and different from each other. Then, summarize your discussion in the table.</a:t>
            </a:r>
          </a:p>
        </p:txBody>
      </p:sp>
      <p:sp>
        <p:nvSpPr>
          <p:cNvPr id="329" name="Google Shape;329;p20"/>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32E5183A-1B04-074F-9442-66E83209CA82}"/>
              </a:ext>
            </a:extLst>
          </p:cNvPr>
          <p:cNvGraphicFramePr>
            <a:graphicFrameLocks noGrp="1"/>
          </p:cNvGraphicFramePr>
          <p:nvPr>
            <p:extLst>
              <p:ext uri="{D42A27DB-BD31-4B8C-83A1-F6EECF244321}">
                <p14:modId xmlns:p14="http://schemas.microsoft.com/office/powerpoint/2010/main" val="1776307709"/>
              </p:ext>
            </p:extLst>
          </p:nvPr>
        </p:nvGraphicFramePr>
        <p:xfrm>
          <a:off x="2968943" y="2008399"/>
          <a:ext cx="6254115" cy="3749040"/>
        </p:xfrm>
        <a:graphic>
          <a:graphicData uri="http://schemas.openxmlformats.org/drawingml/2006/table">
            <a:tbl>
              <a:tblPr firstRow="1" firstCol="1" bandRow="1">
                <a:tableStyleId>{F2DE63D5-997A-4646-A377-4702673A728D}</a:tableStyleId>
              </a:tblPr>
              <a:tblGrid>
                <a:gridCol w="3117850">
                  <a:extLst>
                    <a:ext uri="{9D8B030D-6E8A-4147-A177-3AD203B41FA5}">
                      <a16:colId xmlns:a16="http://schemas.microsoft.com/office/drawing/2014/main" val="2422725720"/>
                    </a:ext>
                  </a:extLst>
                </a:gridCol>
                <a:gridCol w="3136265">
                  <a:extLst>
                    <a:ext uri="{9D8B030D-6E8A-4147-A177-3AD203B41FA5}">
                      <a16:colId xmlns:a16="http://schemas.microsoft.com/office/drawing/2014/main" val="3420395396"/>
                    </a:ext>
                  </a:extLst>
                </a:gridCol>
              </a:tblGrid>
              <a:tr h="457200">
                <a:tc>
                  <a:txBody>
                    <a:bodyPr/>
                    <a:lstStyle/>
                    <a:p>
                      <a:pPr marL="0" marR="0" algn="ctr">
                        <a:spcBef>
                          <a:spcPts val="0"/>
                        </a:spcBef>
                        <a:spcAft>
                          <a:spcPts val="0"/>
                        </a:spcAft>
                      </a:pPr>
                      <a:r>
                        <a:rPr lang="en-US" sz="1800">
                          <a:solidFill>
                            <a:schemeClr val="tx1"/>
                          </a:solidFill>
                          <a:effectLst/>
                        </a:rPr>
                        <a:t>Similarities</a:t>
                      </a:r>
                      <a:endParaRPr lang="en-US" sz="12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algn="ctr">
                        <a:spcBef>
                          <a:spcPts val="0"/>
                        </a:spcBef>
                        <a:spcAft>
                          <a:spcPts val="0"/>
                        </a:spcAft>
                      </a:pPr>
                      <a:r>
                        <a:rPr lang="en-US" sz="1800" dirty="0">
                          <a:solidFill>
                            <a:schemeClr val="tx1"/>
                          </a:solidFill>
                          <a:effectLst/>
                        </a:rPr>
                        <a:t>Differences</a:t>
                      </a:r>
                      <a:endParaRPr lang="en-US" sz="12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9074576"/>
                  </a:ext>
                </a:extLst>
              </a:tr>
              <a:tr h="3291840">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1800" dirty="0">
                          <a:effectLst/>
                        </a:rPr>
                        <a:t> </a:t>
                      </a:r>
                      <a:endParaRPr lang="en-US" sz="12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83298985"/>
                  </a:ext>
                </a:extLst>
              </a:tr>
            </a:tbl>
          </a:graphicData>
        </a:graphic>
      </p:graphicFrame>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a:t>
            </a:r>
            <a:r>
              <a:rPr lang="en-US" i="1">
                <a:latin typeface="Calibri"/>
                <a:ea typeface="Calibri"/>
                <a:cs typeface="Calibri"/>
                <a:sym typeface="Calibri"/>
              </a:rPr>
              <a:t>130</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3546773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932432" y="288746"/>
                <a:ext cx="8327136" cy="5445809"/>
              </a:xfrm>
              <a:prstGeom prst="rect">
                <a:avLst/>
              </a:prstGeom>
              <a:noFill/>
              <a:ln>
                <a:noFill/>
              </a:ln>
            </p:spPr>
            <p:txBody>
              <a:bodyPr spcFirstLastPara="1" wrap="square" lIns="91425" tIns="45700" rIns="91425" bIns="45700" anchor="t" anchorCtr="0">
                <a:spAutoFit/>
              </a:bodyPr>
              <a:lstStyle/>
              <a:p>
                <a:endParaRPr lang="en-US" sz="2400" dirty="0">
                  <a:latin typeface="Verdana"/>
                  <a:ea typeface="Verdana"/>
                  <a:cs typeface="Verdana"/>
                  <a:sym typeface="Verdana"/>
                </a:endParaRP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endParaRPr lang="en-US" sz="2400" dirty="0">
                  <a:latin typeface="Verdana"/>
                  <a:ea typeface="Verdana"/>
                  <a:cs typeface="Verdana"/>
                  <a:sym typeface="Verdana"/>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Complete the steps to evaluate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2</m:t>
                                </m:r>
                              </m:sup>
                            </m:sSup>
                            <m:r>
                              <a:rPr lang="en-US" sz="2000" i="1">
                                <a:latin typeface="Cambria Math" panose="02040503050406030204" pitchFamily="18" charset="0"/>
                              </a:rPr>
                              <m:t>)</m:t>
                            </m:r>
                          </m:e>
                          <m:sup>
                            <m:r>
                              <a:rPr lang="en-US" sz="2000" i="1">
                                <a:latin typeface="Cambria Math" panose="02040503050406030204" pitchFamily="18" charset="0"/>
                              </a:rPr>
                              <m:t>−3</m:t>
                            </m:r>
                          </m:sup>
                        </m:sSup>
                      </m:num>
                      <m:den>
                        <m:sSup>
                          <m:sSupPr>
                            <m:ctrlPr>
                              <a:rPr lang="en-US" sz="2000" i="1">
                                <a:latin typeface="Cambria Math" panose="02040503050406030204" pitchFamily="18" charset="0"/>
                              </a:rPr>
                            </m:ctrlPr>
                          </m:sSupPr>
                          <m:e>
                            <m:r>
                              <a:rPr lang="en-US" sz="2000" i="1">
                                <a:latin typeface="Cambria Math" panose="02040503050406030204" pitchFamily="18" charset="0"/>
                              </a:rPr>
                              <m:t>6</m:t>
                            </m:r>
                          </m:e>
                          <m:sup>
                            <m:r>
                              <a:rPr lang="en-US" sz="2000" i="1">
                                <a:latin typeface="Cambria Math" panose="02040503050406030204" pitchFamily="18" charset="0"/>
                              </a:rPr>
                              <m:t>−5</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 by completing the description of each step and writing the resulting equivalent expression on the line that follows.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Apply                                 __________</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Apply                                 __________</a:t>
                </a: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Evaluate.                            __________</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408432" y="288745"/>
                <a:ext cx="8327136" cy="5445809"/>
              </a:xfrm>
              <a:prstGeom prst="rect">
                <a:avLst/>
              </a:prstGeom>
              <a:blipFill>
                <a:blip r:embed="rId4"/>
                <a:stretch>
                  <a:fillRect l="-915" b="-930"/>
                </a:stretch>
              </a:blipFill>
              <a:ln>
                <a:noFill/>
              </a:ln>
            </p:spPr>
            <p:txBody>
              <a:bodyPr/>
              <a:lstStyle/>
              <a:p>
                <a:r>
                  <a:rPr lang="en-US">
                    <a:noFill/>
                  </a:rPr>
                  <a:t> </a:t>
                </a:r>
              </a:p>
            </p:txBody>
          </p:sp>
        </mc:Fallback>
      </mc:AlternateContent>
      <p:sp>
        <p:nvSpPr>
          <p:cNvPr id="329" name="Google Shape;329;p20"/>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pSp>
        <p:nvGrpSpPr>
          <p:cNvPr id="6" name="Group 5">
            <a:extLst>
              <a:ext uri="{FF2B5EF4-FFF2-40B4-BE49-F238E27FC236}">
                <a16:creationId xmlns:a16="http://schemas.microsoft.com/office/drawing/2014/main" id="{F6193767-C5CC-7D40-A13B-5DD207082101}"/>
              </a:ext>
            </a:extLst>
          </p:cNvPr>
          <p:cNvGrpSpPr/>
          <p:nvPr/>
        </p:nvGrpSpPr>
        <p:grpSpPr>
          <a:xfrm>
            <a:off x="2781300" y="473947"/>
            <a:ext cx="6629400" cy="1066800"/>
            <a:chOff x="2031300" y="3275735"/>
            <a:chExt cx="6629400" cy="1066953"/>
          </a:xfrm>
        </p:grpSpPr>
        <p:grpSp>
          <p:nvGrpSpPr>
            <p:cNvPr id="7" name="Group 6">
              <a:extLst>
                <a:ext uri="{FF2B5EF4-FFF2-40B4-BE49-F238E27FC236}">
                  <a16:creationId xmlns:a16="http://schemas.microsoft.com/office/drawing/2014/main" id="{56E48D22-6CB6-924F-AC7C-B8F1FF5B5BD6}"/>
                </a:ext>
              </a:extLst>
            </p:cNvPr>
            <p:cNvGrpSpPr/>
            <p:nvPr/>
          </p:nvGrpSpPr>
          <p:grpSpPr>
            <a:xfrm>
              <a:off x="2031300" y="3275735"/>
              <a:ext cx="6629400" cy="1066953"/>
              <a:chOff x="2031300" y="3275735"/>
              <a:chExt cx="6629400" cy="1066953"/>
            </a:xfrm>
          </p:grpSpPr>
          <p:sp>
            <p:nvSpPr>
              <p:cNvPr id="8" name="Rectangle 7">
                <a:extLst>
                  <a:ext uri="{FF2B5EF4-FFF2-40B4-BE49-F238E27FC236}">
                    <a16:creationId xmlns:a16="http://schemas.microsoft.com/office/drawing/2014/main" id="{7C76EA0B-8C00-B645-A026-972C167B55D9}"/>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9" name="Group 8">
                <a:extLst>
                  <a:ext uri="{FF2B5EF4-FFF2-40B4-BE49-F238E27FC236}">
                    <a16:creationId xmlns:a16="http://schemas.microsoft.com/office/drawing/2014/main" id="{58D5F15C-BA7C-CA4A-A5CD-AAD6560637D2}"/>
                  </a:ext>
                </a:extLst>
              </p:cNvPr>
              <p:cNvGrpSpPr/>
              <p:nvPr/>
            </p:nvGrpSpPr>
            <p:grpSpPr>
              <a:xfrm>
                <a:off x="2031300" y="3275735"/>
                <a:ext cx="6629400" cy="1066953"/>
                <a:chOff x="2031300" y="3275735"/>
                <a:chExt cx="6629400" cy="1066953"/>
              </a:xfrm>
            </p:grpSpPr>
            <p:sp>
              <p:nvSpPr>
                <p:cNvPr id="10" name="Rectangle 9">
                  <a:extLst>
                    <a:ext uri="{FF2B5EF4-FFF2-40B4-BE49-F238E27FC236}">
                      <a16:creationId xmlns:a16="http://schemas.microsoft.com/office/drawing/2014/main" id="{8F5A5AB5-BF44-AF44-82E3-209D7F24033F}"/>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1" name="Group 10">
                  <a:extLst>
                    <a:ext uri="{FF2B5EF4-FFF2-40B4-BE49-F238E27FC236}">
                      <a16:creationId xmlns:a16="http://schemas.microsoft.com/office/drawing/2014/main" id="{AF95C6B7-4443-4645-8F5B-79E5E5CBB190}"/>
                    </a:ext>
                  </a:extLst>
                </p:cNvPr>
                <p:cNvGrpSpPr/>
                <p:nvPr/>
              </p:nvGrpSpPr>
              <p:grpSpPr>
                <a:xfrm>
                  <a:off x="2031300" y="3275735"/>
                  <a:ext cx="6629400" cy="1066953"/>
                  <a:chOff x="2031300" y="3275735"/>
                  <a:chExt cx="6629400" cy="1066953"/>
                </a:xfrm>
              </p:grpSpPr>
              <p:sp>
                <p:nvSpPr>
                  <p:cNvPr id="12" name="Rectangle 11">
                    <a:extLst>
                      <a:ext uri="{FF2B5EF4-FFF2-40B4-BE49-F238E27FC236}">
                        <a16:creationId xmlns:a16="http://schemas.microsoft.com/office/drawing/2014/main" id="{364D7282-A758-8D4E-BCBA-20BCCDAA4E7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3" name="Group 12">
                    <a:extLst>
                      <a:ext uri="{FF2B5EF4-FFF2-40B4-BE49-F238E27FC236}">
                        <a16:creationId xmlns:a16="http://schemas.microsoft.com/office/drawing/2014/main" id="{6F44B064-70BA-714E-8BBD-C86A11D078FE}"/>
                      </a:ext>
                    </a:extLst>
                  </p:cNvPr>
                  <p:cNvGrpSpPr/>
                  <p:nvPr/>
                </p:nvGrpSpPr>
                <p:grpSpPr>
                  <a:xfrm>
                    <a:off x="2031300" y="3275735"/>
                    <a:ext cx="6629400" cy="1066953"/>
                    <a:chOff x="2031300" y="3275735"/>
                    <a:chExt cx="6629400" cy="1066953"/>
                  </a:xfrm>
                </p:grpSpPr>
                <p:sp>
                  <p:nvSpPr>
                    <p:cNvPr id="14" name="Rectangle 13">
                      <a:extLst>
                        <a:ext uri="{FF2B5EF4-FFF2-40B4-BE49-F238E27FC236}">
                          <a16:creationId xmlns:a16="http://schemas.microsoft.com/office/drawing/2014/main" id="{D4610F30-1503-F44A-B1C5-96B959862D48}"/>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5" name="Group 14">
                      <a:extLst>
                        <a:ext uri="{FF2B5EF4-FFF2-40B4-BE49-F238E27FC236}">
                          <a16:creationId xmlns:a16="http://schemas.microsoft.com/office/drawing/2014/main" id="{5D0D21F8-5B99-9A45-9BF7-AD079D0EE678}"/>
                        </a:ext>
                      </a:extLst>
                    </p:cNvPr>
                    <p:cNvGrpSpPr/>
                    <p:nvPr/>
                  </p:nvGrpSpPr>
                  <p:grpSpPr>
                    <a:xfrm>
                      <a:off x="2031300" y="3275735"/>
                      <a:ext cx="6629400" cy="1066953"/>
                      <a:chOff x="2031300" y="3275735"/>
                      <a:chExt cx="6629400" cy="1066953"/>
                    </a:xfrm>
                  </p:grpSpPr>
                  <p:sp>
                    <p:nvSpPr>
                      <p:cNvPr id="16" name="Rectangle 15">
                        <a:extLst>
                          <a:ext uri="{FF2B5EF4-FFF2-40B4-BE49-F238E27FC236}">
                            <a16:creationId xmlns:a16="http://schemas.microsoft.com/office/drawing/2014/main" id="{3C350782-A2D2-1F4F-B5FC-F68FB3B28680}"/>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7" name="Group 16">
                        <a:extLst>
                          <a:ext uri="{FF2B5EF4-FFF2-40B4-BE49-F238E27FC236}">
                            <a16:creationId xmlns:a16="http://schemas.microsoft.com/office/drawing/2014/main" id="{97882D99-E235-2A4A-A62A-F71EE9EF217A}"/>
                          </a:ext>
                        </a:extLst>
                      </p:cNvPr>
                      <p:cNvGrpSpPr/>
                      <p:nvPr/>
                    </p:nvGrpSpPr>
                    <p:grpSpPr>
                      <a:xfrm>
                        <a:off x="2031300" y="3275735"/>
                        <a:ext cx="6629400" cy="1066953"/>
                        <a:chOff x="2031300" y="3275735"/>
                        <a:chExt cx="6629400" cy="1066953"/>
                      </a:xfrm>
                    </p:grpSpPr>
                    <p:sp>
                      <p:nvSpPr>
                        <p:cNvPr id="18" name="Rectangle 17">
                          <a:extLst>
                            <a:ext uri="{FF2B5EF4-FFF2-40B4-BE49-F238E27FC236}">
                              <a16:creationId xmlns:a16="http://schemas.microsoft.com/office/drawing/2014/main" id="{6E8C55D6-9803-D440-9F1A-8AA06BC99345}"/>
                            </a:ext>
                          </a:extLst>
                        </p:cNvPr>
                        <p:cNvSpPr/>
                        <p:nvPr/>
                      </p:nvSpPr>
                      <p:spPr>
                        <a:xfrm>
                          <a:off x="2031300" y="3275735"/>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19" name="Group 18">
                          <a:extLst>
                            <a:ext uri="{FF2B5EF4-FFF2-40B4-BE49-F238E27FC236}">
                              <a16:creationId xmlns:a16="http://schemas.microsoft.com/office/drawing/2014/main" id="{F0C392E3-63E1-D745-96DF-72DDBAC8CC69}"/>
                            </a:ext>
                          </a:extLst>
                        </p:cNvPr>
                        <p:cNvGrpSpPr/>
                        <p:nvPr/>
                      </p:nvGrpSpPr>
                      <p:grpSpPr>
                        <a:xfrm>
                          <a:off x="2031300" y="3275735"/>
                          <a:ext cx="6629400" cy="1066953"/>
                          <a:chOff x="0" y="0"/>
                          <a:chExt cx="6629400" cy="1066953"/>
                        </a:xfrm>
                      </p:grpSpPr>
                      <p:sp>
                        <p:nvSpPr>
                          <p:cNvPr id="20" name="Rectangle 19">
                            <a:extLst>
                              <a:ext uri="{FF2B5EF4-FFF2-40B4-BE49-F238E27FC236}">
                                <a16:creationId xmlns:a16="http://schemas.microsoft.com/office/drawing/2014/main" id="{81024B52-A140-ED49-AFA5-6E0135862EF2}"/>
                              </a:ext>
                            </a:extLst>
                          </p:cNvPr>
                          <p:cNvSpPr/>
                          <p:nvPr/>
                        </p:nvSpPr>
                        <p:spPr>
                          <a:xfrm>
                            <a:off x="0" y="0"/>
                            <a:ext cx="6629400" cy="100852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grpSp>
                        <p:nvGrpSpPr>
                          <p:cNvPr id="21" name="Group 20">
                            <a:extLst>
                              <a:ext uri="{FF2B5EF4-FFF2-40B4-BE49-F238E27FC236}">
                                <a16:creationId xmlns:a16="http://schemas.microsoft.com/office/drawing/2014/main" id="{79038C90-5C60-2840-9D20-118DEC833D55}"/>
                              </a:ext>
                            </a:extLst>
                          </p:cNvPr>
                          <p:cNvGrpSpPr/>
                          <p:nvPr/>
                        </p:nvGrpSpPr>
                        <p:grpSpPr>
                          <a:xfrm>
                            <a:off x="0" y="0"/>
                            <a:ext cx="6629400" cy="1066953"/>
                            <a:chOff x="0" y="0"/>
                            <a:chExt cx="6629400" cy="1066953"/>
                          </a:xfrm>
                        </p:grpSpPr>
                        <p:sp>
                          <p:nvSpPr>
                            <p:cNvPr id="23" name="Rectangle 22">
                              <a:extLst>
                                <a:ext uri="{FF2B5EF4-FFF2-40B4-BE49-F238E27FC236}">
                                  <a16:creationId xmlns:a16="http://schemas.microsoft.com/office/drawing/2014/main" id="{4F64AA3A-9355-B64D-A5D6-0DC86B6E31FA}"/>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4" name="Rectangle 23">
                              <a:extLst>
                                <a:ext uri="{FF2B5EF4-FFF2-40B4-BE49-F238E27FC236}">
                                  <a16:creationId xmlns:a16="http://schemas.microsoft.com/office/drawing/2014/main" id="{15C5425E-9574-4444-AEFE-F9CC5F455CC7}"/>
                                </a:ext>
                              </a:extLst>
                            </p:cNvPr>
                            <p:cNvSpPr/>
                            <p:nvPr/>
                          </p:nvSpPr>
                          <p:spPr>
                            <a:xfrm>
                              <a:off x="0" y="0"/>
                              <a:ext cx="6629400" cy="786375"/>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Times New Roman" panose="02020603050405020304" pitchFamily="18" charset="0"/>
                                  <a:cs typeface="Times New Roman" panose="02020603050405020304" pitchFamily="18" charset="0"/>
                                </a:rPr>
                                <a:t> </a:t>
                              </a:r>
                            </a:p>
                          </p:txBody>
                        </p:sp>
                        <p:sp>
                          <p:nvSpPr>
                            <p:cNvPr id="25" name="Rounded Rectangle 24">
                              <a:extLst>
                                <a:ext uri="{FF2B5EF4-FFF2-40B4-BE49-F238E27FC236}">
                                  <a16:creationId xmlns:a16="http://schemas.microsoft.com/office/drawing/2014/main" id="{9B975454-C2D2-674E-BCDA-4209EF2F310D}"/>
                                </a:ext>
                              </a:extLst>
                            </p:cNvPr>
                            <p:cNvSpPr/>
                            <p:nvPr/>
                          </p:nvSpPr>
                          <p:spPr>
                            <a:xfrm>
                              <a:off x="0" y="0"/>
                              <a:ext cx="6629400" cy="1066953"/>
                            </a:xfrm>
                            <a:prstGeom prst="roundRect">
                              <a:avLst>
                                <a:gd name="adj" fmla="val 16667"/>
                              </a:avLst>
                            </a:prstGeom>
                            <a:solidFill>
                              <a:srgbClr val="B8E6F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914400">
                                <a:spcAft>
                                  <a:spcPts val="1200"/>
                                </a:spcAft>
                              </a:pPr>
                              <a:endParaRPr lang="en-US" sz="1800" dirty="0">
                                <a:solidFill>
                                  <a:srgbClr val="256099"/>
                                </a:solidFill>
                                <a:latin typeface="Verdana" panose="020B0604030504040204" pitchFamily="34" charset="0"/>
                                <a:ea typeface="Times New Roman" panose="02020603050405020304" pitchFamily="18" charset="0"/>
                                <a:cs typeface="Times New Roman" panose="02020603050405020304" pitchFamily="18" charset="0"/>
                              </a:endParaRPr>
                            </a:p>
                            <a:p>
                              <a:pPr marL="914400">
                                <a:spcAft>
                                  <a:spcPts val="1200"/>
                                </a:spcAft>
                              </a:pPr>
                              <a:r>
                                <a:rPr lang="en-US" sz="1800" dirty="0">
                                  <a:solidFill>
                                    <a:srgbClr val="256099"/>
                                  </a:solidFill>
                                  <a:latin typeface="Verdana" panose="020B0604030504040204" pitchFamily="34" charset="0"/>
                                  <a:ea typeface="Times New Roman" panose="02020603050405020304" pitchFamily="18" charset="0"/>
                                  <a:cs typeface="Times New Roman" panose="02020603050405020304" pitchFamily="18" charset="0"/>
                                </a:rPr>
                                <a:t>When evaluating exponential expressions, it is helpful to apply the laws of exponents before evaluating. </a:t>
                              </a:r>
                              <a:endParaRPr lang="en-US" sz="1200" dirty="0">
                                <a:latin typeface="Cambria" panose="02040503050406030204" pitchFamily="18" charset="0"/>
                                <a:ea typeface="Times New Roman" panose="02020603050405020304" pitchFamily="18" charset="0"/>
                                <a:cs typeface="Times New Roman" panose="02020603050405020304" pitchFamily="18" charset="0"/>
                              </a:endParaRPr>
                            </a:p>
                            <a:p>
                              <a:pPr marL="742950" indent="5200650">
                                <a:spcAft>
                                  <a:spcPts val="1000"/>
                                </a:spcAft>
                              </a:pPr>
                              <a:r>
                                <a:rPr lang="en-US" sz="1200" dirty="0">
                                  <a:latin typeface="Cambria" panose="02040503050406030204" pitchFamily="18" charset="0"/>
                                  <a:ea typeface="Times New Roman" panose="02020603050405020304" pitchFamily="18" charset="0"/>
                                  <a:cs typeface="Times New Roman" panose="02020603050405020304" pitchFamily="18" charset="0"/>
                                </a:rPr>
                                <a:t> </a:t>
                              </a:r>
                            </a:p>
                          </p:txBody>
                        </p:sp>
                      </p:grpSp>
                      <p:pic>
                        <p:nvPicPr>
                          <p:cNvPr id="22" name="Shape 40" descr="Icon&#10;&#10;Description automatically generated">
                            <a:extLst>
                              <a:ext uri="{FF2B5EF4-FFF2-40B4-BE49-F238E27FC236}">
                                <a16:creationId xmlns:a16="http://schemas.microsoft.com/office/drawing/2014/main" id="{245A2B21-4E88-E941-BB9C-290FEF48E673}"/>
                              </a:ext>
                            </a:extLst>
                          </p:cNvPr>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83914" y="140504"/>
                            <a:ext cx="539750" cy="539750"/>
                          </a:xfrm>
                          <a:prstGeom prst="rect">
                            <a:avLst/>
                          </a:prstGeom>
                          <a:noFill/>
                          <a:ln>
                            <a:noFill/>
                          </a:ln>
                        </p:spPr>
                      </p:pic>
                    </p:grpSp>
                  </p:grpSp>
                </p:grpSp>
              </p:grpSp>
            </p:grpSp>
          </p:grpSp>
        </p:grpSp>
      </p:grpSp>
      <p:pic>
        <p:nvPicPr>
          <p:cNvPr id="3" name="Picture 2" descr="Shape&#10;&#10;Description automatically generated">
            <a:extLst>
              <a:ext uri="{FF2B5EF4-FFF2-40B4-BE49-F238E27FC236}">
                <a16:creationId xmlns:a16="http://schemas.microsoft.com/office/drawing/2014/main" id="{F8BCE88F-21B2-7143-B633-A507E65078CA}"/>
              </a:ext>
            </a:extLst>
          </p:cNvPr>
          <p:cNvPicPr>
            <a:picLocks noChangeAspect="1"/>
          </p:cNvPicPr>
          <p:nvPr/>
        </p:nvPicPr>
        <p:blipFill>
          <a:blip r:embed="rId6"/>
          <a:stretch>
            <a:fillRect/>
          </a:stretch>
        </p:blipFill>
        <p:spPr>
          <a:xfrm>
            <a:off x="3245137" y="3296421"/>
            <a:ext cx="2748802" cy="682461"/>
          </a:xfrm>
          <a:prstGeom prst="rect">
            <a:avLst/>
          </a:prstGeom>
        </p:spPr>
      </p:pic>
      <p:pic>
        <p:nvPicPr>
          <p:cNvPr id="28" name="Picture 27" descr="Shape&#10;&#10;Description automatically generated">
            <a:extLst>
              <a:ext uri="{FF2B5EF4-FFF2-40B4-BE49-F238E27FC236}">
                <a16:creationId xmlns:a16="http://schemas.microsoft.com/office/drawing/2014/main" id="{EF4634DD-A698-F24A-8A83-0B329396586D}"/>
              </a:ext>
            </a:extLst>
          </p:cNvPr>
          <p:cNvPicPr>
            <a:picLocks noChangeAspect="1"/>
          </p:cNvPicPr>
          <p:nvPr/>
        </p:nvPicPr>
        <p:blipFill>
          <a:blip r:embed="rId6"/>
          <a:stretch>
            <a:fillRect/>
          </a:stretch>
        </p:blipFill>
        <p:spPr>
          <a:xfrm>
            <a:off x="3245137" y="4233497"/>
            <a:ext cx="2748802" cy="682461"/>
          </a:xfrm>
          <a:prstGeom prst="rect">
            <a:avLst/>
          </a:prstGeom>
        </p:spPr>
      </p:pic>
      <p:sp>
        <p:nvSpPr>
          <p:cNvPr id="2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3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42887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198605" y="288745"/>
                <a:ext cx="9794790" cy="371354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4</m:t>
                                </m:r>
                              </m:num>
                              <m:den>
                                <m:r>
                                  <a:rPr lang="en-US" sz="2400" i="1">
                                    <a:latin typeface="Cambria Math" panose="02040503050406030204" pitchFamily="18" charset="0"/>
                                  </a:rPr>
                                  <m:t>5</m:t>
                                </m:r>
                              </m:den>
                            </m:f>
                          </m:e>
                        </m:d>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(4)</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with your partner which laws of exponents could be used to evaluate to the expression.</a:t>
                </a: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Evaluate </a:t>
                </a:r>
                <a14:m>
                  <m:oMath xmlns:m="http://schemas.openxmlformats.org/officeDocument/2006/math">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f>
                              <m:fPr>
                                <m:ctrlPr>
                                  <a:rPr lang="en-US" sz="2400" i="1">
                                    <a:latin typeface="Cambria Math" panose="02040503050406030204" pitchFamily="18" charset="0"/>
                                  </a:rPr>
                                </m:ctrlPr>
                              </m:fPr>
                              <m:num>
                                <m:r>
                                  <a:rPr lang="en-US" sz="2400" i="1">
                                    <a:latin typeface="Cambria Math" panose="02040503050406030204" pitchFamily="18" charset="0"/>
                                  </a:rPr>
                                  <m:t>4</m:t>
                                </m:r>
                              </m:num>
                              <m:den>
                                <m:r>
                                  <a:rPr lang="en-US" sz="2400" i="1">
                                    <a:latin typeface="Cambria Math" panose="02040503050406030204" pitchFamily="18" charset="0"/>
                                  </a:rPr>
                                  <m:t>5</m:t>
                                </m:r>
                              </m:den>
                            </m:f>
                          </m:e>
                        </m:d>
                      </m:e>
                      <m:sup>
                        <m:r>
                          <a:rPr lang="en-US" sz="2400" i="1">
                            <a:latin typeface="Cambria Math" panose="02040503050406030204" pitchFamily="18" charset="0"/>
                          </a:rPr>
                          <m:t>−2</m:t>
                        </m:r>
                      </m:sup>
                    </m:sSup>
                    <m:r>
                      <a:rPr lang="en-US" sz="2400" i="1">
                        <a:latin typeface="Cambria Math" panose="02040503050406030204" pitchFamily="18" charset="0"/>
                      </a:rPr>
                      <m:t>∙</m:t>
                    </m:r>
                    <m:sSup>
                      <m:sSupPr>
                        <m:ctrlPr>
                          <a:rPr lang="en-US" sz="2400" i="1">
                            <a:latin typeface="Cambria Math" panose="02040503050406030204" pitchFamily="18" charset="0"/>
                          </a:rPr>
                        </m:ctrlPr>
                      </m:sSupPr>
                      <m:e>
                        <m:r>
                          <a:rPr lang="en-US" sz="2400" i="1">
                            <a:latin typeface="Cambria Math" panose="02040503050406030204" pitchFamily="18" charset="0"/>
                          </a:rPr>
                          <m:t>(4)</m:t>
                        </m:r>
                      </m:e>
                      <m:sup>
                        <m:r>
                          <a:rPr lang="en-US" sz="2400" i="1">
                            <a:latin typeface="Cambria Math" panose="02040503050406030204" pitchFamily="18" charset="0"/>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198605" y="288745"/>
                <a:ext cx="9794790" cy="3713540"/>
              </a:xfrm>
              <a:prstGeom prst="rect">
                <a:avLst/>
              </a:prstGeom>
              <a:blipFill rotWithShape="0">
                <a:blip r:embed="rId3"/>
                <a:stretch>
                  <a:fillRect l="-996"/>
                </a:stretch>
              </a:blipFill>
              <a:ln>
                <a:noFill/>
              </a:ln>
            </p:spPr>
            <p:txBody>
              <a:bodyPr/>
              <a:lstStyle/>
              <a:p>
                <a:r>
                  <a:rPr lang="en-US">
                    <a:noFill/>
                  </a:rPr>
                  <a:t> </a:t>
                </a:r>
              </a:p>
            </p:txBody>
          </p:sp>
        </mc:Fallback>
      </mc:AlternateContent>
      <p:sp>
        <p:nvSpPr>
          <p:cNvPr id="329" name="Google Shape;329;p20"/>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062962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5"/>
          <p:cNvSpPr/>
          <p:nvPr/>
        </p:nvSpPr>
        <p:spPr>
          <a:xfrm>
            <a:off x="0" y="0"/>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277" name="Google Shape;277;p15"/>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3BEA6"/>
                </a:solidFill>
                <a:latin typeface="Verdana"/>
                <a:ea typeface="Verdana"/>
                <a:cs typeface="Verdana"/>
                <a:sym typeface="Verdana"/>
              </a:rPr>
              <a:t>Try It</a:t>
            </a:r>
            <a:endParaRPr sz="5100" b="1">
              <a:solidFill>
                <a:srgbClr val="33BEA6"/>
              </a:solidFill>
              <a:latin typeface="Verdana"/>
              <a:ea typeface="Verdana"/>
              <a:cs typeface="Verdana"/>
              <a:sym typeface="Verdana"/>
            </a:endParaRPr>
          </a:p>
        </p:txBody>
      </p:sp>
      <p:pic>
        <p:nvPicPr>
          <p:cNvPr id="279" name="Google Shape;279;p15"/>
          <p:cNvPicPr preferRelativeResize="0"/>
          <p:nvPr/>
        </p:nvPicPr>
        <p:blipFill rotWithShape="1">
          <a:blip r:embed="rId3">
            <a:alphaModFix/>
          </a:blip>
          <a:srcRect/>
          <a:stretch/>
        </p:blipFill>
        <p:spPr>
          <a:xfrm>
            <a:off x="4813171" y="2852928"/>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2951552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6" name="Google Shape;286;p16"/>
          <p:cNvSpPr txBox="1"/>
          <p:nvPr/>
        </p:nvSpPr>
        <p:spPr>
          <a:xfrm>
            <a:off x="1642521" y="48381"/>
            <a:ext cx="10370618"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3.6.3 Try It: Evaluating Expressions</a:t>
            </a:r>
            <a:endParaRPr dirty="0"/>
          </a:p>
        </p:txBody>
      </p:sp>
      <p:pic>
        <p:nvPicPr>
          <p:cNvPr id="288" name="Google Shape;288;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92713" y="286899"/>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289" name="Google Shape;289;p16"/>
              <p:cNvSpPr txBox="1"/>
              <p:nvPr/>
            </p:nvSpPr>
            <p:spPr>
              <a:xfrm>
                <a:off x="2060448" y="1386025"/>
                <a:ext cx="8327136" cy="344526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Evaluate each expression. Show your work in the space provided. Then, check off the exponent laws applied to each expression from the list provided.</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000" dirty="0">
                    <a:latin typeface="Verdana" panose="020B0604030504040204" pitchFamily="34" charset="0"/>
                    <a:ea typeface="Verdana" panose="020B0604030504040204" pitchFamily="34" charset="0"/>
                  </a:rPr>
                  <a:t>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3</m:t>
                                </m:r>
                              </m:num>
                              <m:den>
                                <m:r>
                                  <a:rPr lang="en-US" sz="2000">
                                    <a:latin typeface="Cambria Math" panose="02040503050406030204" pitchFamily="18" charset="0"/>
                                  </a:rPr>
                                  <m:t>4</m:t>
                                </m:r>
                              </m:den>
                            </m:f>
                          </m:e>
                        </m:d>
                      </m:e>
                      <m:sup>
                        <m:r>
                          <a:rPr lang="en-US" sz="2000">
                            <a:latin typeface="Cambria Math" panose="02040503050406030204" pitchFamily="18" charset="0"/>
                          </a:rPr>
                          <m:t>−2</m:t>
                        </m:r>
                      </m:sup>
                    </m:sSup>
                    <m:r>
                      <a:rPr lang="en-US" sz="2000">
                        <a:latin typeface="Cambria Math" panose="02040503050406030204" pitchFamily="18" charset="0"/>
                      </a:rPr>
                      <m:t>∙3</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8788"/>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89" name="Google Shape;289;p16"/>
              <p:cNvSpPr txBox="1">
                <a:spLocks noRot="1" noChangeAspect="1" noMove="1" noResize="1" noEditPoints="1" noAdjustHandles="1" noChangeArrowheads="1" noChangeShapeType="1" noTextEdit="1"/>
              </p:cNvSpPr>
              <p:nvPr/>
            </p:nvSpPr>
            <p:spPr>
              <a:xfrm>
                <a:off x="536448" y="1386025"/>
                <a:ext cx="8327136" cy="3445262"/>
              </a:xfrm>
              <a:prstGeom prst="rect">
                <a:avLst/>
              </a:prstGeom>
              <a:blipFill>
                <a:blip r:embed="rId5"/>
                <a:stretch>
                  <a:fillRect l="-805" t="-1060"/>
                </a:stretch>
              </a:blipFill>
              <a:ln>
                <a:noFill/>
              </a:ln>
            </p:spPr>
            <p:txBody>
              <a:bodyPr/>
              <a:lstStyle/>
              <a:p>
                <a:r>
                  <a:rPr lang="en-US">
                    <a:noFill/>
                  </a:rPr>
                  <a:t> </a:t>
                </a:r>
              </a:p>
            </p:txBody>
          </p:sp>
        </mc:Fallback>
      </mc:AlternateContent>
      <p:sp>
        <p:nvSpPr>
          <p:cNvPr id="290" name="Google Shape;290;p16"/>
          <p:cNvSpPr/>
          <p:nvPr/>
        </p:nvSpPr>
        <p:spPr>
          <a:xfrm>
            <a:off x="-2447"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98608E6A-4711-2649-98BE-65C75A09AB48}"/>
              </a:ext>
            </a:extLst>
          </p:cNvPr>
          <p:cNvGraphicFramePr>
            <a:graphicFrameLocks noGrp="1"/>
          </p:cNvGraphicFramePr>
          <p:nvPr>
            <p:extLst>
              <p:ext uri="{D42A27DB-BD31-4B8C-83A1-F6EECF244321}">
                <p14:modId xmlns:p14="http://schemas.microsoft.com/office/powerpoint/2010/main" val="2030681153"/>
              </p:ext>
            </p:extLst>
          </p:nvPr>
        </p:nvGraphicFramePr>
        <p:xfrm>
          <a:off x="5134313" y="2711725"/>
          <a:ext cx="2790375" cy="2468880"/>
        </p:xfrm>
        <a:graphic>
          <a:graphicData uri="http://schemas.openxmlformats.org/drawingml/2006/table">
            <a:tbl>
              <a:tblPr firstRow="1" firstCol="1" bandRow="1">
                <a:tableStyleId>{F2DE63D5-997A-4646-A377-4702673A728D}</a:tableStyleId>
              </a:tblPr>
              <a:tblGrid>
                <a:gridCol w="2790375">
                  <a:extLst>
                    <a:ext uri="{9D8B030D-6E8A-4147-A177-3AD203B41FA5}">
                      <a16:colId xmlns:a16="http://schemas.microsoft.com/office/drawing/2014/main" val="2708519813"/>
                    </a:ext>
                  </a:extLst>
                </a:gridCol>
              </a:tblGrid>
              <a:tr h="229600">
                <a:tc>
                  <a:txBody>
                    <a:bodyPr/>
                    <a:lstStyle/>
                    <a:p>
                      <a:pPr marL="0" marR="0">
                        <a:spcBef>
                          <a:spcPts val="0"/>
                        </a:spcBef>
                        <a:spcAft>
                          <a:spcPts val="0"/>
                        </a:spcAft>
                      </a:pPr>
                      <a:r>
                        <a:rPr lang="en-US" sz="1800" b="1" dirty="0">
                          <a:solidFill>
                            <a:schemeClr val="tx1"/>
                          </a:solidFill>
                          <a:effectLst/>
                        </a:rPr>
                        <a:t>Exponent Laws Applied</a:t>
                      </a:r>
                      <a:endParaRPr lang="en-US" sz="12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417735"/>
                  </a:ext>
                </a:extLst>
              </a:tr>
              <a:tr h="1836803">
                <a:tc>
                  <a:txBody>
                    <a:bodyPr/>
                    <a:lstStyle/>
                    <a:p>
                      <a:pPr marL="342900" marR="0" lvl="0" indent="-342900">
                        <a:spcBef>
                          <a:spcPts val="0"/>
                        </a:spcBef>
                        <a:spcAft>
                          <a:spcPts val="0"/>
                        </a:spcAft>
                        <a:buFont typeface="Wingdings" pitchFamily="2" charset="2"/>
                        <a:buChar char="o"/>
                      </a:pPr>
                      <a:r>
                        <a:rPr lang="en-US" sz="1800" b="0" dirty="0">
                          <a:solidFill>
                            <a:schemeClr val="tx1"/>
                          </a:solidFill>
                          <a:effectLst/>
                        </a:rPr>
                        <a:t>identity exponent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negative exponent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power</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product </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quotient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product of powers</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quotient of powers</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zero exponent</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502587"/>
                  </a:ext>
                </a:extLst>
              </a:tr>
            </a:tbl>
          </a:graphicData>
        </a:graphic>
      </p:graphicFrame>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039143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98" name="Google Shape;298;p17"/>
              <p:cNvSpPr txBox="1"/>
              <p:nvPr/>
            </p:nvSpPr>
            <p:spPr>
              <a:xfrm>
                <a:off x="1932432" y="349706"/>
                <a:ext cx="8327136" cy="948809"/>
              </a:xfrm>
              <a:prstGeom prst="rect">
                <a:avLst/>
              </a:prstGeom>
              <a:noFill/>
              <a:ln>
                <a:noFill/>
              </a:ln>
            </p:spPr>
            <p:txBody>
              <a:bodyPr spcFirstLastPara="1" wrap="square" lIns="91425" tIns="45700" rIns="91425" bIns="45700" anchor="t" anchorCtr="0">
                <a:spAutoFit/>
              </a:bodyPr>
              <a:lstStyle/>
              <a:p>
                <a:pPr marL="919163" indent="-460375">
                  <a:buFont typeface="+mj-lt"/>
                  <a:buAutoNum type="alphaLcPeriod" startAt="2"/>
                </a:pPr>
                <a:r>
                  <a:rPr lang="en-US" sz="2400" dirty="0">
                    <a:latin typeface="Verdana" panose="020B0604030504040204" pitchFamily="34" charset="0"/>
                    <a:ea typeface="Verdana" panose="020B0604030504040204" pitchFamily="34" charset="0"/>
                  </a:rPr>
                  <a:t> </a:t>
                </a:r>
                <a14:m>
                  <m:oMath xmlns:m="http://schemas.openxmlformats.org/officeDocument/2006/math">
                    <m:f>
                      <m:fPr>
                        <m:ctrlPr>
                          <a:rPr lang="en-US" sz="2400" i="1">
                            <a:latin typeface="Cambria Math" panose="02040503050406030204" pitchFamily="18" charset="0"/>
                          </a:rPr>
                        </m:ctrlPr>
                      </m:fPr>
                      <m:num>
                        <m:sSup>
                          <m:sSupPr>
                            <m:ctrlPr>
                              <a:rPr lang="en-US" sz="2400" i="1">
                                <a:latin typeface="Cambria Math" panose="02040503050406030204" pitchFamily="18" charset="0"/>
                              </a:rPr>
                            </m:ctrlPr>
                          </m:sSupPr>
                          <m:e>
                            <m:r>
                              <a:rPr lang="en-US" sz="2400">
                                <a:latin typeface="Cambria Math" panose="02040503050406030204" pitchFamily="18" charset="0"/>
                              </a:rPr>
                              <m:t>(−7)</m:t>
                            </m:r>
                          </m:e>
                          <m:sup>
                            <m:r>
                              <a:rPr lang="en-US" sz="2400">
                                <a:latin typeface="Cambria Math" panose="02040503050406030204" pitchFamily="18" charset="0"/>
                              </a:rPr>
                              <m:t>5</m:t>
                            </m:r>
                          </m:sup>
                        </m:sSup>
                      </m:num>
                      <m:den>
                        <m:sSup>
                          <m:sSupPr>
                            <m:ctrlPr>
                              <a:rPr lang="en-US" sz="2400" i="1">
                                <a:latin typeface="Cambria Math" panose="02040503050406030204" pitchFamily="18" charset="0"/>
                              </a:rPr>
                            </m:ctrlPr>
                          </m:sSupPr>
                          <m:e>
                            <m:r>
                              <a:rPr lang="en-US" sz="2400">
                                <a:latin typeface="Cambria Math" panose="02040503050406030204" pitchFamily="18" charset="0"/>
                              </a:rPr>
                              <m:t>(−7)</m:t>
                            </m:r>
                          </m:e>
                          <m:sup>
                            <m:r>
                              <a:rPr lang="en-US" sz="2400">
                                <a:latin typeface="Cambria Math" panose="02040503050406030204" pitchFamily="18" charset="0"/>
                              </a:rPr>
                              <m:t>0</m:t>
                            </m:r>
                          </m:sup>
                        </m:sSup>
                        <m:r>
                          <a:rPr lang="en-US" sz="2400">
                            <a:latin typeface="Cambria Math" panose="02040503050406030204" pitchFamily="18" charset="0"/>
                          </a:rPr>
                          <m:t>∙</m:t>
                        </m:r>
                        <m:sSup>
                          <m:sSupPr>
                            <m:ctrlPr>
                              <a:rPr lang="en-US" sz="2400" i="1">
                                <a:latin typeface="Cambria Math" panose="02040503050406030204" pitchFamily="18" charset="0"/>
                              </a:rPr>
                            </m:ctrlPr>
                          </m:sSupPr>
                          <m:e>
                            <m:r>
                              <a:rPr lang="en-US" sz="2400">
                                <a:latin typeface="Cambria Math" panose="02040503050406030204" pitchFamily="18" charset="0"/>
                              </a:rPr>
                              <m:t>(−7)</m:t>
                            </m:r>
                          </m:e>
                          <m:sup>
                            <m:r>
                              <a:rPr lang="en-US" sz="2400">
                                <a:latin typeface="Cambria Math" panose="02040503050406030204" pitchFamily="18" charset="0"/>
                              </a:rPr>
                              <m:t>2</m:t>
                            </m:r>
                          </m:sup>
                        </m:sSup>
                      </m:den>
                    </m:f>
                  </m:oMath>
                </a14:m>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startAt="2"/>
                </a:pPr>
                <a:endParaRPr dirty="0"/>
              </a:p>
            </p:txBody>
          </p:sp>
        </mc:Choice>
        <mc:Fallback xmlns="">
          <p:sp>
            <p:nvSpPr>
              <p:cNvPr id="298" name="Google Shape;298;p17"/>
              <p:cNvSpPr txBox="1">
                <a:spLocks noRot="1" noChangeAspect="1" noMove="1" noResize="1" noEditPoints="1" noAdjustHandles="1" noChangeArrowheads="1" noChangeShapeType="1" noTextEdit="1"/>
              </p:cNvSpPr>
              <p:nvPr/>
            </p:nvSpPr>
            <p:spPr>
              <a:xfrm>
                <a:off x="408432" y="349705"/>
                <a:ext cx="8327136" cy="948809"/>
              </a:xfrm>
              <a:prstGeom prst="rect">
                <a:avLst/>
              </a:prstGeom>
              <a:blipFill>
                <a:blip r:embed="rId4"/>
                <a:stretch>
                  <a:fillRect/>
                </a:stretch>
              </a:blipFill>
              <a:ln>
                <a:noFill/>
              </a:ln>
            </p:spPr>
            <p:txBody>
              <a:bodyPr/>
              <a:lstStyle/>
              <a:p>
                <a:r>
                  <a:rPr lang="en-US">
                    <a:noFill/>
                  </a:rPr>
                  <a:t> </a:t>
                </a:r>
              </a:p>
            </p:txBody>
          </p:sp>
        </mc:Fallback>
      </mc:AlternateContent>
      <p:sp>
        <p:nvSpPr>
          <p:cNvPr id="299" name="Google Shape;299;p17"/>
          <p:cNvSpPr/>
          <p:nvPr/>
        </p:nvSpPr>
        <p:spPr>
          <a:xfrm>
            <a:off x="-29936"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6" name="Table 5">
            <a:extLst>
              <a:ext uri="{FF2B5EF4-FFF2-40B4-BE49-F238E27FC236}">
                <a16:creationId xmlns:a16="http://schemas.microsoft.com/office/drawing/2014/main" id="{B02D357B-51DE-2B40-A4A4-58D6D16C0D48}"/>
              </a:ext>
            </a:extLst>
          </p:cNvPr>
          <p:cNvGraphicFramePr>
            <a:graphicFrameLocks noGrp="1"/>
          </p:cNvGraphicFramePr>
          <p:nvPr>
            <p:extLst>
              <p:ext uri="{D42A27DB-BD31-4B8C-83A1-F6EECF244321}">
                <p14:modId xmlns:p14="http://schemas.microsoft.com/office/powerpoint/2010/main" val="3009336149"/>
              </p:ext>
            </p:extLst>
          </p:nvPr>
        </p:nvGraphicFramePr>
        <p:xfrm>
          <a:off x="5187568" y="470944"/>
          <a:ext cx="2790375" cy="2468880"/>
        </p:xfrm>
        <a:graphic>
          <a:graphicData uri="http://schemas.openxmlformats.org/drawingml/2006/table">
            <a:tbl>
              <a:tblPr firstRow="1" firstCol="1" bandRow="1">
                <a:tableStyleId>{F2DE63D5-997A-4646-A377-4702673A728D}</a:tableStyleId>
              </a:tblPr>
              <a:tblGrid>
                <a:gridCol w="2790375">
                  <a:extLst>
                    <a:ext uri="{9D8B030D-6E8A-4147-A177-3AD203B41FA5}">
                      <a16:colId xmlns:a16="http://schemas.microsoft.com/office/drawing/2014/main" val="2708519813"/>
                    </a:ext>
                  </a:extLst>
                </a:gridCol>
              </a:tblGrid>
              <a:tr h="229600">
                <a:tc>
                  <a:txBody>
                    <a:bodyPr/>
                    <a:lstStyle/>
                    <a:p>
                      <a:pPr marL="0" marR="0">
                        <a:spcBef>
                          <a:spcPts val="0"/>
                        </a:spcBef>
                        <a:spcAft>
                          <a:spcPts val="0"/>
                        </a:spcAft>
                      </a:pPr>
                      <a:r>
                        <a:rPr lang="en-US" sz="1800" b="1" dirty="0">
                          <a:solidFill>
                            <a:schemeClr val="tx1"/>
                          </a:solidFill>
                          <a:effectLst/>
                        </a:rPr>
                        <a:t>Exponent Laws Applied</a:t>
                      </a:r>
                      <a:endParaRPr lang="en-US" sz="12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27417735"/>
                  </a:ext>
                </a:extLst>
              </a:tr>
              <a:tr h="1836803">
                <a:tc>
                  <a:txBody>
                    <a:bodyPr/>
                    <a:lstStyle/>
                    <a:p>
                      <a:pPr marL="342900" marR="0" lvl="0" indent="-342900">
                        <a:spcBef>
                          <a:spcPts val="0"/>
                        </a:spcBef>
                        <a:spcAft>
                          <a:spcPts val="0"/>
                        </a:spcAft>
                        <a:buFont typeface="Wingdings" pitchFamily="2" charset="2"/>
                        <a:buChar char="o"/>
                      </a:pPr>
                      <a:r>
                        <a:rPr lang="en-US" sz="1800" b="0" dirty="0">
                          <a:solidFill>
                            <a:schemeClr val="tx1"/>
                          </a:solidFill>
                          <a:effectLst/>
                        </a:rPr>
                        <a:t>identity exponent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negative exponent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power</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product </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power of a quotient</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product of powers</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quotient of powers</a:t>
                      </a:r>
                      <a:endParaRPr lang="en-US" sz="1200" b="0" dirty="0">
                        <a:solidFill>
                          <a:schemeClr val="tx1"/>
                        </a:solidFill>
                        <a:effectLst/>
                      </a:endParaRPr>
                    </a:p>
                    <a:p>
                      <a:pPr marL="342900" marR="0" lvl="0" indent="-342900">
                        <a:spcBef>
                          <a:spcPts val="0"/>
                        </a:spcBef>
                        <a:spcAft>
                          <a:spcPts val="0"/>
                        </a:spcAft>
                        <a:buFont typeface="Wingdings" pitchFamily="2" charset="2"/>
                        <a:buChar char="o"/>
                      </a:pPr>
                      <a:r>
                        <a:rPr lang="en-US" sz="1800" b="0" dirty="0">
                          <a:solidFill>
                            <a:schemeClr val="tx1"/>
                          </a:solidFill>
                          <a:effectLst/>
                        </a:rPr>
                        <a:t>zero exponent</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5502587"/>
                  </a:ext>
                </a:extLst>
              </a:tr>
            </a:tbl>
          </a:graphicData>
        </a:graphic>
      </p:graphicFrame>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 131</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7050174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21"/>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337" name="Google Shape;337;p21"/>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339" name="Google Shape;339;p21" descr="Icon&#10;&#10;Description automatically generated"/>
          <p:cNvPicPr preferRelativeResize="0"/>
          <p:nvPr/>
        </p:nvPicPr>
        <p:blipFill rotWithShape="1">
          <a:blip r:embed="rId3">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702877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2"/>
          <p:cNvSpPr txBox="1"/>
          <p:nvPr/>
        </p:nvSpPr>
        <p:spPr>
          <a:xfrm>
            <a:off x="1451690" y="9670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200" b="1" dirty="0">
                <a:solidFill>
                  <a:srgbClr val="54B5D1"/>
                </a:solidFill>
                <a:latin typeface="Verdana"/>
                <a:ea typeface="Verdana"/>
                <a:cs typeface="Verdana"/>
                <a:sym typeface="Verdana"/>
              </a:rPr>
              <a:t>3.6.4 Guided Practice: Evaluating Exponential Expressions</a:t>
            </a:r>
            <a:endParaRPr sz="1200" dirty="0"/>
          </a:p>
        </p:txBody>
      </p:sp>
      <p:pic>
        <p:nvPicPr>
          <p:cNvPr id="348" name="Google Shape;348;p22"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1882" y="336874"/>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49" name="Google Shape;349;p22"/>
              <p:cNvSpPr txBox="1"/>
              <p:nvPr/>
            </p:nvSpPr>
            <p:spPr>
              <a:xfrm>
                <a:off x="973008" y="1386026"/>
                <a:ext cx="4247376" cy="234598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Danny and Reina evaluated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−3</m:t>
                            </m:r>
                          </m:sup>
                        </m:sSup>
                        <m:r>
                          <a:rPr lang="en-US" sz="2000" i="1">
                            <a:latin typeface="Cambria Math" panose="02040503050406030204" pitchFamily="18" charset="0"/>
                          </a:rPr>
                          <m:t> ∙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0</m:t>
                            </m:r>
                          </m:sup>
                        </m:sSup>
                      </m:num>
                      <m:den>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−2</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 They found the same value but used different processes. Their work is shown.</a:t>
                </a:r>
              </a:p>
              <a:p>
                <a:endParaRPr dirty="0"/>
              </a:p>
            </p:txBody>
          </p:sp>
        </mc:Choice>
        <mc:Fallback xmlns="">
          <p:sp>
            <p:nvSpPr>
              <p:cNvPr id="349" name="Google Shape;349;p22"/>
              <p:cNvSpPr txBox="1">
                <a:spLocks noRot="1" noChangeAspect="1" noMove="1" noResize="1" noEditPoints="1" noAdjustHandles="1" noChangeArrowheads="1" noChangeShapeType="1" noTextEdit="1"/>
              </p:cNvSpPr>
              <p:nvPr/>
            </p:nvSpPr>
            <p:spPr>
              <a:xfrm>
                <a:off x="973008" y="1386026"/>
                <a:ext cx="4247376" cy="2345986"/>
              </a:xfrm>
              <a:prstGeom prst="rect">
                <a:avLst/>
              </a:prstGeom>
              <a:blipFill rotWithShape="0">
                <a:blip r:embed="rId4"/>
                <a:stretch>
                  <a:fillRect l="-1580" t="-1558" r="-3161"/>
                </a:stretch>
              </a:blipFill>
              <a:ln>
                <a:noFill/>
              </a:ln>
            </p:spPr>
            <p:txBody>
              <a:bodyPr/>
              <a:lstStyle/>
              <a:p>
                <a:r>
                  <a:rPr lang="en-US">
                    <a:noFill/>
                  </a:rPr>
                  <a:t> </a:t>
                </a:r>
              </a:p>
            </p:txBody>
          </p:sp>
        </mc:Fallback>
      </mc:AlternateContent>
      <p:sp>
        <p:nvSpPr>
          <p:cNvPr id="350" name="Google Shape;350;p22"/>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F113C2F7-00D3-A043-A405-CFF2012D29D0}"/>
                  </a:ext>
                </a:extLst>
              </p:cNvPr>
              <p:cNvGraphicFramePr>
                <a:graphicFrameLocks noGrp="1"/>
              </p:cNvGraphicFramePr>
              <p:nvPr>
                <p:extLst>
                  <p:ext uri="{D42A27DB-BD31-4B8C-83A1-F6EECF244321}">
                    <p14:modId xmlns:p14="http://schemas.microsoft.com/office/powerpoint/2010/main" val="2346115023"/>
                  </p:ext>
                </p:extLst>
              </p:nvPr>
            </p:nvGraphicFramePr>
            <p:xfrm>
              <a:off x="5483051" y="1386026"/>
              <a:ext cx="4670088" cy="4352197"/>
            </p:xfrm>
            <a:graphic>
              <a:graphicData uri="http://schemas.openxmlformats.org/drawingml/2006/table">
                <a:tbl>
                  <a:tblPr firstRow="1" firstCol="1" bandRow="1">
                    <a:tableStyleId>{F2DE63D5-997A-4646-A377-4702673A728D}</a:tableStyleId>
                  </a:tblPr>
                  <a:tblGrid>
                    <a:gridCol w="2335044">
                      <a:extLst>
                        <a:ext uri="{9D8B030D-6E8A-4147-A177-3AD203B41FA5}">
                          <a16:colId xmlns:a16="http://schemas.microsoft.com/office/drawing/2014/main" val="2464821212"/>
                        </a:ext>
                      </a:extLst>
                    </a:gridCol>
                    <a:gridCol w="2335044">
                      <a:extLst>
                        <a:ext uri="{9D8B030D-6E8A-4147-A177-3AD203B41FA5}">
                          <a16:colId xmlns:a16="http://schemas.microsoft.com/office/drawing/2014/main" val="3978358159"/>
                        </a:ext>
                      </a:extLst>
                    </a:gridCol>
                  </a:tblGrid>
                  <a:tr h="212500">
                    <a:tc>
                      <a:txBody>
                        <a:bodyPr/>
                        <a:lstStyle/>
                        <a:p>
                          <a:pPr marL="0" marR="0" algn="ctr">
                            <a:spcBef>
                              <a:spcPts val="0"/>
                            </a:spcBef>
                            <a:spcAft>
                              <a:spcPts val="0"/>
                            </a:spcAft>
                          </a:pPr>
                          <a:r>
                            <a:rPr lang="en-US" sz="1400">
                              <a:solidFill>
                                <a:schemeClr val="tx1"/>
                              </a:solidFill>
                              <a:effectLst/>
                            </a:rPr>
                            <a:t>Danny’s Work</a:t>
                          </a:r>
                          <a:endParaRPr lang="en-US" sz="9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3125" marR="53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solidFill>
                                <a:schemeClr val="tx1"/>
                              </a:solidFill>
                              <a:effectLst/>
                            </a:rPr>
                            <a:t> Reina’s Work</a:t>
                          </a:r>
                          <a:endParaRPr lang="en-US" sz="9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3125" marR="53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439517"/>
                      </a:ext>
                    </a:extLst>
                  </a:tr>
                  <a:tr h="4138837">
                    <a:tc>
                      <a:txBody>
                        <a:bodyPr/>
                        <a:lstStyle/>
                        <a:p>
                          <a:pPr marL="0" marR="0" algn="ctr">
                            <a:spcBef>
                              <a:spcPts val="0"/>
                            </a:spcBef>
                            <a:spcAft>
                              <a:spcPts val="0"/>
                            </a:spcAft>
                          </a:pPr>
                          <a14:m>
                            <m:oMath xmlns:m="http://schemas.openxmlformats.org/officeDocument/2006/math">
                              <m:f>
                                <m:fPr>
                                  <m:ctrlPr>
                                    <a:rPr lang="en-US" sz="1400" i="1" smtClean="0">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m:t>
                                      </m:r>
                                    </m:sup>
                                  </m:sSup>
                                  <m:r>
                                    <a:rPr lang="en-US" sz="1400">
                                      <a:solidFill>
                                        <a:schemeClr val="tx1"/>
                                      </a:solidFill>
                                      <a:effectLst/>
                                      <a:latin typeface="Cambria Math" panose="02040503050406030204" pitchFamily="18" charset="0"/>
                                    </a:rPr>
                                    <m:t> ∙ </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0</m:t>
                                      </m:r>
                                    </m:sup>
                                  </m:sSup>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a:solidFill>
                                <a:schemeClr val="tx1"/>
                              </a:solidFill>
                              <a:effectLst/>
                            </a:rPr>
                            <a:t> </a:t>
                          </a:r>
                          <a:endParaRPr lang="en-US" sz="900">
                            <a:solidFill>
                              <a:schemeClr val="tx1"/>
                            </a:solidFill>
                            <a:effectLst/>
                          </a:endParaRPr>
                        </a:p>
                        <a:p>
                          <a:pPr marL="0" marR="0" algn="ctr">
                            <a:spcBef>
                              <a:spcPts val="0"/>
                            </a:spcBef>
                            <a:spcAft>
                              <a:spcPts val="0"/>
                            </a:spcAft>
                          </a:pPr>
                          <a:r>
                            <a:rPr lang="en-US" sz="1400">
                              <a:solidFill>
                                <a:schemeClr val="tx1"/>
                              </a:solidFill>
                              <a:effectLst/>
                            </a:rPr>
                            <a:t> </a:t>
                          </a:r>
                          <a:endParaRPr lang="en-US" sz="90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−3+0</m:t>
                                      </m:r>
                                    </m:sup>
                                  </m:sSup>
                                  <m:r>
                                    <a:rPr lang="en-US" sz="1400">
                                      <a:solidFill>
                                        <a:schemeClr val="tx1"/>
                                      </a:solidFill>
                                      <a:effectLst/>
                                      <a:latin typeface="Cambria Math" panose="02040503050406030204" pitchFamily="18" charset="0"/>
                                    </a:rPr>
                                    <m:t> </m:t>
                                  </m:r>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a:solidFill>
                                <a:schemeClr val="tx1"/>
                              </a:solidFill>
                              <a:effectLst/>
                            </a:rPr>
                            <a:t> </a:t>
                          </a:r>
                          <a:endParaRPr lang="en-US" sz="900">
                            <a:solidFill>
                              <a:schemeClr val="tx1"/>
                            </a:solidFill>
                            <a:effectLst/>
                          </a:endParaRPr>
                        </a:p>
                        <a:p>
                          <a:pPr marL="0" marR="0" algn="ctr">
                            <a:spcBef>
                              <a:spcPts val="0"/>
                            </a:spcBef>
                            <a:spcAft>
                              <a:spcPts val="0"/>
                            </a:spcAft>
                          </a:pPr>
                          <a:r>
                            <a:rPr lang="en-US" sz="1400">
                              <a:solidFill>
                                <a:schemeClr val="tx1"/>
                              </a:solidFill>
                              <a:effectLst/>
                            </a:rPr>
                            <a:t> </a:t>
                          </a:r>
                          <a:endParaRPr lang="en-US" sz="90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m:t>
                                      </m:r>
                                    </m:sup>
                                  </m:sSup>
                                  <m:r>
                                    <a:rPr lang="en-US" sz="1400">
                                      <a:solidFill>
                                        <a:schemeClr val="tx1"/>
                                      </a:solidFill>
                                      <a:effectLst/>
                                      <a:latin typeface="Cambria Math" panose="02040503050406030204" pitchFamily="18" charset="0"/>
                                    </a:rPr>
                                    <m:t> </m:t>
                                  </m:r>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a:solidFill>
                                <a:schemeClr val="tx1"/>
                              </a:solidFill>
                              <a:effectLst/>
                            </a:rPr>
                            <a:t> </a:t>
                          </a:r>
                          <a:endParaRPr lang="en-US" sz="900">
                            <a:solidFill>
                              <a:schemeClr val="tx1"/>
                            </a:solidFill>
                            <a:effectLst/>
                          </a:endParaRPr>
                        </a:p>
                        <a:p>
                          <a:pPr marL="0" marR="0" algn="ctr">
                            <a:spcBef>
                              <a:spcPts val="0"/>
                            </a:spcBef>
                            <a:spcAft>
                              <a:spcPts val="0"/>
                            </a:spcAft>
                          </a:pPr>
                          <a:r>
                            <a:rPr lang="en-US" sz="1400">
                              <a:solidFill>
                                <a:schemeClr val="tx1"/>
                              </a:solidFill>
                              <a:effectLst/>
                            </a:rPr>
                            <a:t> </a:t>
                          </a:r>
                          <a:endParaRPr lang="en-US" sz="90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−3−(−2)</m:t>
                                  </m:r>
                                </m:sup>
                              </m:sSup>
                            </m:oMath>
                          </a14:m>
                          <a:r>
                            <a:rPr lang="en-US" sz="1400">
                              <a:solidFill>
                                <a:schemeClr val="tx1"/>
                              </a:solidFill>
                              <a:effectLst/>
                            </a:rPr>
                            <a:t> </a:t>
                          </a:r>
                          <a:endParaRPr lang="en-US" sz="900">
                            <a:solidFill>
                              <a:schemeClr val="tx1"/>
                            </a:solidFill>
                            <a:effectLst/>
                          </a:endParaRPr>
                        </a:p>
                        <a:p>
                          <a:pPr marL="0" marR="0" algn="ctr">
                            <a:spcBef>
                              <a:spcPts val="0"/>
                            </a:spcBef>
                            <a:spcAft>
                              <a:spcPts val="0"/>
                            </a:spcAft>
                          </a:pPr>
                          <a:r>
                            <a:rPr lang="en-US" sz="1400">
                              <a:solidFill>
                                <a:schemeClr val="tx1"/>
                              </a:solidFill>
                              <a:effectLst/>
                            </a:rPr>
                            <a:t> </a:t>
                          </a:r>
                          <a:endParaRPr lang="en-US" sz="90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−1</m:t>
                                  </m:r>
                                </m:sup>
                              </m:sSup>
                            </m:oMath>
                          </a14:m>
                          <a:r>
                            <a:rPr lang="en-US" sz="1400">
                              <a:solidFill>
                                <a:schemeClr val="tx1"/>
                              </a:solidFill>
                              <a:effectLst/>
                            </a:rPr>
                            <a:t> </a:t>
                          </a:r>
                          <a:endParaRPr lang="en-US" sz="900">
                            <a:solidFill>
                              <a:schemeClr val="tx1"/>
                            </a:solidFill>
                            <a:effectLst/>
                          </a:endParaRPr>
                        </a:p>
                        <a:p>
                          <a:pPr marL="0" marR="0" algn="ctr">
                            <a:spcBef>
                              <a:spcPts val="0"/>
                            </a:spcBef>
                            <a:spcAft>
                              <a:spcPts val="0"/>
                            </a:spcAft>
                          </a:pPr>
                          <a:r>
                            <a:rPr lang="en-US" sz="1400">
                              <a:solidFill>
                                <a:schemeClr val="tx1"/>
                              </a:solidFill>
                              <a:effectLst/>
                            </a:rPr>
                            <a:t> </a:t>
                          </a:r>
                          <a:endParaRPr lang="en-US" sz="90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4</m:t>
                                  </m:r>
                                </m:num>
                                <m:den>
                                  <m:r>
                                    <a:rPr lang="en-US" sz="1400">
                                      <a:solidFill>
                                        <a:schemeClr val="tx1"/>
                                      </a:solidFill>
                                      <a:effectLst/>
                                      <a:latin typeface="Cambria Math" panose="02040503050406030204" pitchFamily="18" charset="0"/>
                                    </a:rPr>
                                    <m:t>3</m:t>
                                  </m:r>
                                </m:den>
                              </m:f>
                            </m:oMath>
                          </a14:m>
                          <a:r>
                            <a:rPr lang="en-US" sz="1400">
                              <a:solidFill>
                                <a:schemeClr val="tx1"/>
                              </a:solidFill>
                              <a:effectLst/>
                            </a:rPr>
                            <a:t> </a:t>
                          </a:r>
                          <a:endParaRPr lang="en-US" sz="90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53125" marR="531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 xmlns:m="http://schemas.openxmlformats.org/officeDocument/2006/math">
                              <m:f>
                                <m:fPr>
                                  <m:ctrlPr>
                                    <a:rPr lang="en-US" sz="1400" i="1" smtClean="0">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m:t>
                                      </m:r>
                                    </m:sup>
                                  </m:sSup>
                                  <m:r>
                                    <a:rPr lang="en-US" sz="1400">
                                      <a:solidFill>
                                        <a:schemeClr val="tx1"/>
                                      </a:solidFill>
                                      <a:effectLst/>
                                      <a:latin typeface="Cambria Math" panose="02040503050406030204" pitchFamily="18" charset="0"/>
                                    </a:rPr>
                                    <m:t> ∙ </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0</m:t>
                                      </m:r>
                                    </m:sup>
                                  </m:sSup>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m:t>
                                      </m:r>
                                    </m:sup>
                                  </m:sSup>
                                  <m:r>
                                    <a:rPr lang="en-US" sz="1400">
                                      <a:solidFill>
                                        <a:schemeClr val="tx1"/>
                                      </a:solidFill>
                                      <a:effectLst/>
                                      <a:latin typeface="Cambria Math" panose="02040503050406030204" pitchFamily="18" charset="0"/>
                                    </a:rPr>
                                    <m:t> ∙ 1</m:t>
                                  </m:r>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m:t>
                                      </m:r>
                                    </m:sup>
                                  </m:sSup>
                                  <m:r>
                                    <a:rPr lang="en-US" sz="1400">
                                      <a:solidFill>
                                        <a:schemeClr val="tx1"/>
                                      </a:solidFill>
                                      <a:effectLst/>
                                      <a:latin typeface="Cambria Math" panose="02040503050406030204" pitchFamily="18" charset="0"/>
                                    </a:rPr>
                                    <m:t> </m:t>
                                  </m:r>
                                </m:num>
                                <m:den>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−2</m:t>
                                      </m:r>
                                    </m:sup>
                                  </m:sSup>
                                </m:den>
                              </m:f>
                            </m:oMath>
                          </a14:m>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−3−(−2)</m:t>
                                  </m:r>
                                </m:sup>
                              </m:sSup>
                            </m:oMath>
                          </a14:m>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sSup>
                                <m:sSupPr>
                                  <m:ctrlPr>
                                    <a:rPr lang="en-US" sz="1400" i="1">
                                      <a:solidFill>
                                        <a:schemeClr val="tx1"/>
                                      </a:solidFill>
                                      <a:effectLst/>
                                      <a:latin typeface="Cambria Math" panose="02040503050406030204" pitchFamily="18" charset="0"/>
                                    </a:rPr>
                                  </m:ctrlPr>
                                </m:sSupPr>
                                <m:e>
                                  <m:d>
                                    <m:dPr>
                                      <m:ctrlPr>
                                        <a:rPr lang="en-US" sz="1400" i="1">
                                          <a:solidFill>
                                            <a:schemeClr val="tx1"/>
                                          </a:solidFill>
                                          <a:effectLst/>
                                          <a:latin typeface="Cambria Math" panose="02040503050406030204" pitchFamily="18" charset="0"/>
                                        </a:rPr>
                                      </m:ctrlPr>
                                    </m:dPr>
                                    <m:e>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3</m:t>
                                          </m:r>
                                        </m:num>
                                        <m:den>
                                          <m:r>
                                            <a:rPr lang="en-US" sz="1400">
                                              <a:solidFill>
                                                <a:schemeClr val="tx1"/>
                                              </a:solidFill>
                                              <a:effectLst/>
                                              <a:latin typeface="Cambria Math" panose="02040503050406030204" pitchFamily="18" charset="0"/>
                                            </a:rPr>
                                            <m:t>4</m:t>
                                          </m:r>
                                        </m:den>
                                      </m:f>
                                    </m:e>
                                  </m:d>
                                </m:e>
                                <m:sup>
                                  <m:r>
                                    <a:rPr lang="en-US" sz="1400">
                                      <a:solidFill>
                                        <a:schemeClr val="tx1"/>
                                      </a:solidFill>
                                      <a:effectLst/>
                                      <a:latin typeface="Cambria Math" panose="02040503050406030204" pitchFamily="18" charset="0"/>
                                    </a:rPr>
                                    <m:t>−1</m:t>
                                  </m:r>
                                </m:sup>
                              </m:sSup>
                            </m:oMath>
                          </a14:m>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r>
                            <a:rPr lang="en-US" sz="1400" dirty="0">
                              <a:solidFill>
                                <a:schemeClr val="tx1"/>
                              </a:solidFill>
                              <a:effectLst/>
                            </a:rPr>
                            <a:t> </a:t>
                          </a:r>
                          <a:endParaRPr lang="en-US" sz="900" dirty="0">
                            <a:solidFill>
                              <a:schemeClr val="tx1"/>
                            </a:solidFill>
                            <a:effectLst/>
                          </a:endParaRPr>
                        </a:p>
                        <a:p>
                          <a:pPr marL="0" marR="0" algn="ctr">
                            <a:spcBef>
                              <a:spcPts val="0"/>
                            </a:spcBef>
                            <a:spcAft>
                              <a:spcPts val="0"/>
                            </a:spcAft>
                          </a:pPr>
                          <a14:m>
                            <m:oMath xmlns:m="http://schemas.openxmlformats.org/officeDocument/2006/math">
                              <m:r>
                                <a:rPr lang="en-US" sz="1400">
                                  <a:solidFill>
                                    <a:schemeClr val="tx1"/>
                                  </a:solidFill>
                                  <a:effectLst/>
                                  <a:latin typeface="Cambria Math" panose="02040503050406030204" pitchFamily="18" charset="0"/>
                                </a:rPr>
                                <m:t>=</m:t>
                              </m:r>
                              <m:f>
                                <m:fPr>
                                  <m:ctrlPr>
                                    <a:rPr lang="en-US" sz="1400" i="1">
                                      <a:solidFill>
                                        <a:schemeClr val="tx1"/>
                                      </a:solidFill>
                                      <a:effectLst/>
                                      <a:latin typeface="Cambria Math" panose="02040503050406030204" pitchFamily="18" charset="0"/>
                                    </a:rPr>
                                  </m:ctrlPr>
                                </m:fPr>
                                <m:num>
                                  <m:r>
                                    <a:rPr lang="en-US" sz="1400">
                                      <a:solidFill>
                                        <a:schemeClr val="tx1"/>
                                      </a:solidFill>
                                      <a:effectLst/>
                                      <a:latin typeface="Cambria Math" panose="02040503050406030204" pitchFamily="18" charset="0"/>
                                    </a:rPr>
                                    <m:t>4</m:t>
                                  </m:r>
                                </m:num>
                                <m:den>
                                  <m:r>
                                    <a:rPr lang="en-US" sz="1400">
                                      <a:solidFill>
                                        <a:schemeClr val="tx1"/>
                                      </a:solidFill>
                                      <a:effectLst/>
                                      <a:latin typeface="Cambria Math" panose="02040503050406030204" pitchFamily="18" charset="0"/>
                                    </a:rPr>
                                    <m:t>3</m:t>
                                  </m:r>
                                </m:den>
                              </m:f>
                            </m:oMath>
                          </a14:m>
                          <a:r>
                            <a:rPr lang="en-US" sz="1400" dirty="0">
                              <a:solidFill>
                                <a:schemeClr val="tx1"/>
                              </a:solidFill>
                              <a:effectLst/>
                            </a:rPr>
                            <a:t> </a:t>
                          </a:r>
                          <a:endParaRPr lang="en-US" sz="90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53125" marR="531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1503533"/>
                      </a:ext>
                    </a:extLst>
                  </a:tr>
                </a:tbl>
              </a:graphicData>
            </a:graphic>
          </p:graphicFrame>
        </mc:Choice>
        <mc:Fallback xmlns="">
          <p:graphicFrame>
            <p:nvGraphicFramePr>
              <p:cNvPr id="2" name="Table 1">
                <a:extLst>
                  <a:ext uri="{FF2B5EF4-FFF2-40B4-BE49-F238E27FC236}">
                    <a16:creationId xmlns:a16="http://schemas.microsoft.com/office/drawing/2014/main" id="{F113C2F7-00D3-A043-A405-CFF2012D29D0}"/>
                  </a:ext>
                </a:extLst>
              </p:cNvPr>
              <p:cNvGraphicFramePr>
                <a:graphicFrameLocks noGrp="1"/>
              </p:cNvGraphicFramePr>
              <p:nvPr>
                <p:extLst>
                  <p:ext uri="{D42A27DB-BD31-4B8C-83A1-F6EECF244321}">
                    <p14:modId xmlns:p14="http://schemas.microsoft.com/office/powerpoint/2010/main" val="2346115023"/>
                  </p:ext>
                </p:extLst>
              </p:nvPr>
            </p:nvGraphicFramePr>
            <p:xfrm>
              <a:off x="3959051" y="1386025"/>
              <a:ext cx="4670088" cy="4352197"/>
            </p:xfrm>
            <a:graphic>
              <a:graphicData uri="http://schemas.openxmlformats.org/drawingml/2006/table">
                <a:tbl>
                  <a:tblPr firstRow="1" firstCol="1" bandRow="1">
                    <a:tableStyleId>{F2DE63D5-997A-4646-A377-4702673A728D}</a:tableStyleId>
                  </a:tblPr>
                  <a:tblGrid>
                    <a:gridCol w="2335044">
                      <a:extLst>
                        <a:ext uri="{9D8B030D-6E8A-4147-A177-3AD203B41FA5}">
                          <a16:colId xmlns:a16="http://schemas.microsoft.com/office/drawing/2014/main" val="2464821212"/>
                        </a:ext>
                      </a:extLst>
                    </a:gridCol>
                    <a:gridCol w="2335044">
                      <a:extLst>
                        <a:ext uri="{9D8B030D-6E8A-4147-A177-3AD203B41FA5}">
                          <a16:colId xmlns:a16="http://schemas.microsoft.com/office/drawing/2014/main" val="3978358159"/>
                        </a:ext>
                      </a:extLst>
                    </a:gridCol>
                  </a:tblGrid>
                  <a:tr h="213360">
                    <a:tc>
                      <a:txBody>
                        <a:bodyPr/>
                        <a:lstStyle/>
                        <a:p>
                          <a:pPr marL="0" marR="0" algn="ctr">
                            <a:spcBef>
                              <a:spcPts val="0"/>
                            </a:spcBef>
                            <a:spcAft>
                              <a:spcPts val="0"/>
                            </a:spcAft>
                          </a:pPr>
                          <a:r>
                            <a:rPr lang="en-US" sz="1400">
                              <a:solidFill>
                                <a:schemeClr val="tx1"/>
                              </a:solidFill>
                              <a:effectLst/>
                            </a:rPr>
                            <a:t>Danny’s Work</a:t>
                          </a:r>
                          <a:endParaRPr lang="en-US" sz="90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3125" marR="53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r>
                            <a:rPr lang="en-US" sz="1400" dirty="0">
                              <a:solidFill>
                                <a:schemeClr val="tx1"/>
                              </a:solidFill>
                              <a:effectLst/>
                            </a:rPr>
                            <a:t> Reina’s Work</a:t>
                          </a:r>
                          <a:endParaRPr lang="en-US" sz="900" dirty="0">
                            <a:solidFill>
                              <a:schemeClr val="tx1"/>
                            </a:solidFill>
                            <a:effectLst/>
                            <a:latin typeface="Verdana" panose="020B0604030504040204" pitchFamily="34" charset="0"/>
                            <a:ea typeface="Verdana" panose="020B0604030504040204" pitchFamily="34" charset="0"/>
                            <a:cs typeface="Verdana" panose="020B0604030504040204" pitchFamily="34" charset="0"/>
                          </a:endParaRPr>
                        </a:p>
                      </a:txBody>
                      <a:tcPr marL="53125" marR="5312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32439517"/>
                      </a:ext>
                    </a:extLst>
                  </a:tr>
                  <a:tr h="4138837">
                    <a:tc>
                      <a:txBody>
                        <a:bodyPr/>
                        <a:lstStyle/>
                        <a:p>
                          <a:endParaRPr lang="en-US"/>
                        </a:p>
                      </a:txBody>
                      <a:tcPr marL="53125" marR="531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t="-6748" r="-100000" b="-613"/>
                          </a:stretch>
                        </a:blipFill>
                      </a:tcPr>
                    </a:tc>
                    <a:tc>
                      <a:txBody>
                        <a:bodyPr/>
                        <a:lstStyle/>
                        <a:p>
                          <a:endParaRPr lang="en-US"/>
                        </a:p>
                      </a:txBody>
                      <a:tcPr marL="53125" marR="5312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100543" t="-6748" r="-543" b="-613"/>
                          </a:stretch>
                        </a:blipFill>
                      </a:tcPr>
                    </a:tc>
                    <a:extLst>
                      <a:ext uri="{0D108BD9-81ED-4DB2-BD59-A6C34878D82A}">
                        <a16:rowId xmlns:a16="http://schemas.microsoft.com/office/drawing/2014/main" val="971503533"/>
                      </a:ext>
                    </a:extLst>
                  </a:tr>
                </a:tbl>
              </a:graphicData>
            </a:graphic>
          </p:graphicFrame>
        </mc:Fallback>
      </mc:AlternateContent>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132</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855694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932432" y="386281"/>
                <a:ext cx="8327136" cy="5845919"/>
              </a:xfrm>
              <a:prstGeom prst="rect">
                <a:avLst/>
              </a:prstGeom>
              <a:noFill/>
              <a:ln>
                <a:noFill/>
              </a:ln>
            </p:spPr>
            <p:txBody>
              <a:bodyPr spcFirstLastPara="1" wrap="square" lIns="91425" tIns="45700" rIns="91425" bIns="45700" anchor="t" anchorCtr="0">
                <a:spAutoFit/>
              </a:bodyPr>
              <a:lstStyle/>
              <a:p>
                <a:pPr marL="919163"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discuss and compare how each student evaluated the expression.</a:t>
                </a: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words or phrases from the bank to complete the descriptions of each student’s work. Some words or phrases will be used more than once and others not at all.</a:t>
                </a: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a:r>
                  <a:rPr lang="en-US" sz="2000" dirty="0">
                    <a:latin typeface="Verdana" panose="020B0604030504040204" pitchFamily="34" charset="0"/>
                    <a:ea typeface="Verdana" panose="020B0604030504040204" pitchFamily="34" charset="0"/>
                    <a:cs typeface="Verdana" panose="020B0604030504040204" pitchFamily="34" charset="0"/>
                  </a:rPr>
                  <a:t>Danny applied the __________________________ exponent law first by rewriting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−3</m:t>
                        </m:r>
                      </m:sup>
                    </m:sSup>
                    <m:r>
                      <a:rPr lang="en-US" sz="2000" i="1">
                        <a:latin typeface="Cambria Math" panose="02040503050406030204" pitchFamily="18" charset="0"/>
                      </a:rPr>
                      <m:t>∙</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0</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Then, he applied the ________________________ exponent law, subtracting the exponents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Finally, he applied the ____________________ exponent law to find the value of the expression.</a:t>
                </a:r>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932432" y="386281"/>
                <a:ext cx="8327136" cy="5845919"/>
              </a:xfrm>
              <a:prstGeom prst="rect">
                <a:avLst/>
              </a:prstGeom>
              <a:blipFill rotWithShape="0">
                <a:blip r:embed="rId3"/>
                <a:stretch>
                  <a:fillRect t="-626" b="-938"/>
                </a:stretch>
              </a:blipFill>
              <a:ln>
                <a:noFill/>
              </a:ln>
            </p:spPr>
            <p:txBody>
              <a:bodyPr/>
              <a:lstStyle/>
              <a:p>
                <a:r>
                  <a:rPr lang="en-US">
                    <a:noFill/>
                  </a:rPr>
                  <a:t> </a:t>
                </a:r>
              </a:p>
            </p:txBody>
          </p:sp>
        </mc:Fallback>
      </mc:AlternateContent>
      <p:sp>
        <p:nvSpPr>
          <p:cNvPr id="359" name="Google Shape;359;p23"/>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5" name="Picture 4" descr="Table&#10;&#10;Description automatically generated with medium confidence">
            <a:extLst>
              <a:ext uri="{FF2B5EF4-FFF2-40B4-BE49-F238E27FC236}">
                <a16:creationId xmlns:a16="http://schemas.microsoft.com/office/drawing/2014/main" id="{61529ACE-5B62-C944-9262-7A3FEFE05097}"/>
              </a:ext>
            </a:extLst>
          </p:cNvPr>
          <p:cNvPicPr>
            <a:picLocks noChangeAspect="1"/>
          </p:cNvPicPr>
          <p:nvPr/>
        </p:nvPicPr>
        <p:blipFill>
          <a:blip r:embed="rId4"/>
          <a:stretch>
            <a:fillRect/>
          </a:stretch>
        </p:blipFill>
        <p:spPr>
          <a:xfrm>
            <a:off x="2888354" y="2581171"/>
            <a:ext cx="4267643" cy="1287445"/>
          </a:xfrm>
          <a:prstGeom prst="rect">
            <a:avLst/>
          </a:prstGeom>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132</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075452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285103" y="386281"/>
                <a:ext cx="9621794" cy="4214703"/>
              </a:xfrm>
              <a:prstGeom prst="rect">
                <a:avLst/>
              </a:prstGeom>
              <a:noFill/>
              <a:ln>
                <a:noFill/>
              </a:ln>
            </p:spPr>
            <p:txBody>
              <a:bodyPr spcFirstLastPara="1" wrap="square" lIns="91425" tIns="45700" rIns="91425" bIns="45700" anchor="t" anchorCtr="0">
                <a:spAutoFit/>
              </a:bodyPr>
              <a:lstStyle/>
              <a:p>
                <a:pPr marL="919163"/>
                <a:r>
                  <a:rPr lang="en-US" sz="2000" dirty="0">
                    <a:latin typeface="Verdana" panose="020B0604030504040204" pitchFamily="34" charset="0"/>
                    <a:ea typeface="Verdana" panose="020B0604030504040204" pitchFamily="34" charset="0"/>
                    <a:cs typeface="Verdana" panose="020B0604030504040204" pitchFamily="34" charset="0"/>
                  </a:rPr>
                  <a:t>Reina applied the __________________________ exponent law first by re-writing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0</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r>
                      <a:rPr lang="en-US" sz="2000">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Then, she multiplied </a:t>
                </a:r>
                <a14:m>
                  <m:oMath xmlns:m="http://schemas.openxmlformats.org/officeDocument/2006/math">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e>
                        </m:d>
                      </m:e>
                      <m:sup>
                        <m:r>
                          <a:rPr lang="en-US" sz="2000" i="1">
                            <a:latin typeface="Cambria Math" panose="02040503050406030204" pitchFamily="18" charset="0"/>
                          </a:rPr>
                          <m:t>−3</m:t>
                        </m:r>
                      </m:sup>
                    </m:sSup>
                  </m:oMath>
                </a14:m>
                <a:r>
                  <a:rPr lang="en-US" sz="2000" dirty="0">
                    <a:latin typeface="Verdana" panose="020B0604030504040204" pitchFamily="34" charset="0"/>
                    <a:ea typeface="Verdana" panose="020B0604030504040204" pitchFamily="34" charset="0"/>
                    <a:cs typeface="Verdana" panose="020B0604030504040204" pitchFamily="34" charset="0"/>
                  </a:rPr>
                  <a:t> by </a:t>
                </a:r>
                <a14:m>
                  <m:oMath xmlns:m="http://schemas.openxmlformats.org/officeDocument/2006/math">
                    <m:r>
                      <a:rPr lang="en-US" sz="2000">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Next, she applied the __________________________ exponent law by subtracting the exponents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a:latin typeface="Cambria Math" panose="02040503050406030204" pitchFamily="18" charset="0"/>
                      </a:rPr>
                      <m:t>2.</m:t>
                    </m:r>
                  </m:oMath>
                </a14:m>
                <a:r>
                  <a:rPr lang="en-US" sz="2000" dirty="0">
                    <a:latin typeface="Verdana" panose="020B0604030504040204" pitchFamily="34" charset="0"/>
                    <a:ea typeface="Verdana" panose="020B0604030504040204" pitchFamily="34" charset="0"/>
                    <a:cs typeface="Verdana" panose="020B0604030504040204" pitchFamily="34" charset="0"/>
                  </a:rPr>
                  <a:t> Finally, she applied the ____________________ exponent law to find the value of the expression.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While the students applied the laws differently, they both generated equivalent expressions in each step to find the value of the expression.</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285103" y="386281"/>
                <a:ext cx="9621794" cy="4214703"/>
              </a:xfrm>
              <a:prstGeom prst="rect">
                <a:avLst/>
              </a:prstGeom>
              <a:blipFill rotWithShape="0">
                <a:blip r:embed="rId3"/>
                <a:stretch>
                  <a:fillRect l="-697" t="-723" r="-760"/>
                </a:stretch>
              </a:blipFill>
              <a:ln>
                <a:noFill/>
              </a:ln>
            </p:spPr>
            <p:txBody>
              <a:bodyPr/>
              <a:lstStyle/>
              <a:p>
                <a:r>
                  <a:rPr lang="en-US">
                    <a:noFill/>
                  </a:rPr>
                  <a:t> </a:t>
                </a:r>
              </a:p>
            </p:txBody>
          </p:sp>
        </mc:Fallback>
      </mc:AlternateContent>
      <p:sp>
        <p:nvSpPr>
          <p:cNvPr id="359" name="Google Shape;359;p23"/>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132</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723418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6"/>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87" name="Google Shape;187;p6"/>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9" name="Google Shape;189;p6"/>
          <p:cNvPicPr preferRelativeResize="0"/>
          <p:nvPr/>
        </p:nvPicPr>
        <p:blipFill rotWithShape="1">
          <a:blip r:embed="rId3">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6" name="Google Shape;196;p7"/>
          <p:cNvSpPr txBox="1"/>
          <p:nvPr/>
        </p:nvSpPr>
        <p:spPr>
          <a:xfrm>
            <a:off x="1451690" y="8852"/>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3.6.5 Collaboration: Choose Your Own Adventure!</a:t>
            </a:r>
            <a:endParaRPr dirty="0"/>
          </a:p>
        </p:txBody>
      </p:sp>
      <p:pic>
        <p:nvPicPr>
          <p:cNvPr id="198" name="Google Shape;198;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701882" y="296798"/>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199" name="Google Shape;199;p7"/>
              <p:cNvSpPr txBox="1"/>
              <p:nvPr/>
            </p:nvSpPr>
            <p:spPr>
              <a:xfrm>
                <a:off x="1210962" y="1386025"/>
                <a:ext cx="10026108" cy="4193608"/>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m:t>
                                </m:r>
                              </m:sup>
                            </m:sSup>
                            <m:r>
                              <a:rPr lang="en-US" sz="2000" i="1">
                                <a:latin typeface="Cambria Math" panose="02040503050406030204" pitchFamily="18" charset="0"/>
                              </a:rPr>
                              <m:t>)</m:t>
                            </m:r>
                          </m:e>
                          <m:sup>
                            <m:r>
                              <a:rPr lang="en-US" sz="2000" i="1">
                                <a:latin typeface="Cambria Math" panose="02040503050406030204" pitchFamily="18" charset="0"/>
                              </a:rPr>
                              <m:t>3</m:t>
                            </m:r>
                          </m:sup>
                        </m:sSup>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 </m:t>
                            </m:r>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e>
                            </m:d>
                          </m:e>
                          <m:sup>
                            <m:r>
                              <a:rPr lang="en-US" sz="2000" i="1">
                                <a:latin typeface="Cambria Math" panose="02040503050406030204" pitchFamily="18" charset="0"/>
                              </a:rPr>
                              <m:t>−4</m:t>
                            </m:r>
                          </m:sup>
                        </m:sSup>
                      </m:num>
                      <m:den>
                        <m:r>
                          <a:rPr lang="en-US" sz="2000" i="1">
                            <a:latin typeface="Cambria Math" panose="02040503050406030204" pitchFamily="18" charset="0"/>
                          </a:rPr>
                          <m:t>2 ∙ </m:t>
                        </m:r>
                        <m:sSup>
                          <m:sSupPr>
                            <m:ctrlPr>
                              <a:rPr lang="en-US"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2</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a:pPr>
                <a:endParaRPr lang="en-US" sz="32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exponent laws could be applied in the first step. Check off all that apply from the list.</a:t>
                </a: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199" name="Google Shape;199;p7"/>
              <p:cNvSpPr txBox="1">
                <a:spLocks noRot="1" noChangeAspect="1" noMove="1" noResize="1" noEditPoints="1" noAdjustHandles="1" noChangeArrowheads="1" noChangeShapeType="1" noTextEdit="1"/>
              </p:cNvSpPr>
              <p:nvPr/>
            </p:nvSpPr>
            <p:spPr>
              <a:xfrm>
                <a:off x="1210962" y="1386025"/>
                <a:ext cx="10026108" cy="4193608"/>
              </a:xfrm>
              <a:prstGeom prst="rect">
                <a:avLst/>
              </a:prstGeom>
              <a:blipFill rotWithShape="0">
                <a:blip r:embed="rId4"/>
                <a:stretch>
                  <a:fillRect l="-669"/>
                </a:stretch>
              </a:blipFill>
              <a:ln>
                <a:noFill/>
              </a:ln>
            </p:spPr>
            <p:txBody>
              <a:bodyPr/>
              <a:lstStyle/>
              <a:p>
                <a:r>
                  <a:rPr lang="en-US">
                    <a:noFill/>
                  </a:rPr>
                  <a:t> </a:t>
                </a:r>
              </a:p>
            </p:txBody>
          </p:sp>
        </mc:Fallback>
      </mc:AlternateContent>
      <p:sp>
        <p:nvSpPr>
          <p:cNvPr id="200" name="Google Shape;200;p7"/>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826B3EA6-5CD3-2441-A0A8-86976C197E05}"/>
              </a:ext>
            </a:extLst>
          </p:cNvPr>
          <p:cNvGraphicFramePr>
            <a:graphicFrameLocks noGrp="1"/>
          </p:cNvGraphicFramePr>
          <p:nvPr>
            <p:extLst>
              <p:ext uri="{D42A27DB-BD31-4B8C-83A1-F6EECF244321}">
                <p14:modId xmlns:p14="http://schemas.microsoft.com/office/powerpoint/2010/main" val="1733352142"/>
              </p:ext>
            </p:extLst>
          </p:nvPr>
        </p:nvGraphicFramePr>
        <p:xfrm>
          <a:off x="3059225" y="3712809"/>
          <a:ext cx="6940550" cy="1235075"/>
        </p:xfrm>
        <a:graphic>
          <a:graphicData uri="http://schemas.openxmlformats.org/drawingml/2006/table">
            <a:tbl>
              <a:tblPr firstRow="1" firstCol="1" bandRow="1">
                <a:tableStyleId>{2D5ABB26-0587-4C30-8999-92F81FD0307C}</a:tableStyleId>
              </a:tblPr>
              <a:tblGrid>
                <a:gridCol w="3470275">
                  <a:extLst>
                    <a:ext uri="{9D8B030D-6E8A-4147-A177-3AD203B41FA5}">
                      <a16:colId xmlns:a16="http://schemas.microsoft.com/office/drawing/2014/main" val="1078772394"/>
                    </a:ext>
                  </a:extLst>
                </a:gridCol>
                <a:gridCol w="3470275">
                  <a:extLst>
                    <a:ext uri="{9D8B030D-6E8A-4147-A177-3AD203B41FA5}">
                      <a16:colId xmlns:a16="http://schemas.microsoft.com/office/drawing/2014/main" val="1544202448"/>
                    </a:ext>
                  </a:extLst>
                </a:gridCol>
              </a:tblGrid>
              <a:tr h="0">
                <a:tc>
                  <a:txBody>
                    <a:bodyPr/>
                    <a:lstStyle/>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Zero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Identity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Negative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Power</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Product of Powers</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Product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Quotient of Powers</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Quotient</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100375256"/>
                  </a:ext>
                </a:extLst>
              </a:tr>
            </a:tbl>
          </a:graphicData>
        </a:graphic>
      </p:graphicFrame>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025611" y="410666"/>
            <a:ext cx="10291444" cy="4308831"/>
          </a:xfrm>
          <a:prstGeom prst="rect">
            <a:avLst/>
          </a:prstGeom>
          <a:noFill/>
          <a:ln>
            <a:noFill/>
          </a:ln>
        </p:spPr>
        <p:txBody>
          <a:bodyPr spcFirstLastPara="1" wrap="square" lIns="91425" tIns="45700" rIns="91425" bIns="45700" anchor="t" anchorCtr="0">
            <a:spAutoFit/>
          </a:bodyPr>
          <a:lstStyle/>
          <a:p>
            <a:pPr marL="919163" indent="-4603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Evaluate the expression beginning with a different first step than your partner. </a:t>
            </a: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work with your partner’s and come to a consensus about the value of the expression. Discuss the similarities and differences in your work.</a:t>
            </a:r>
          </a:p>
          <a:p>
            <a:endParaRPr dirty="0"/>
          </a:p>
        </p:txBody>
      </p:sp>
      <p:sp>
        <p:nvSpPr>
          <p:cNvPr id="209" name="Google Shape;209;p8"/>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8" name="Google Shape;358;p23"/>
              <p:cNvSpPr txBox="1"/>
              <p:nvPr/>
            </p:nvSpPr>
            <p:spPr>
              <a:xfrm>
                <a:off x="1136822" y="386282"/>
                <a:ext cx="9918356" cy="2683130"/>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Consider the expression </a:t>
                </a:r>
                <a14:m>
                  <m:oMath xmlns:m="http://schemas.openxmlformats.org/officeDocument/2006/math">
                    <m:f>
                      <m:fPr>
                        <m:ctrlPr>
                          <a:rPr lang="en-US" sz="2000" i="1">
                            <a:latin typeface="Cambria Math" panose="02040503050406030204" pitchFamily="18" charset="0"/>
                          </a:rPr>
                        </m:ctrlPr>
                      </m:fPr>
                      <m:num>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2</m:t>
                                    </m:r>
                                  </m:den>
                                </m:f>
                              </m:e>
                            </m:d>
                          </m:e>
                          <m:sup>
                            <m:r>
                              <a:rPr lang="en-US" sz="2000" i="1">
                                <a:latin typeface="Cambria Math" panose="02040503050406030204" pitchFamily="18" charset="0"/>
                              </a:rPr>
                              <m:t>−5</m:t>
                            </m:r>
                          </m:sup>
                        </m:sSup>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 </m:t>
                            </m:r>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e>
                                    </m:d>
                                  </m:e>
                                  <m:sup>
                                    <m:r>
                                      <a:rPr lang="en-US" sz="2000" i="1">
                                        <a:latin typeface="Cambria Math" panose="02040503050406030204" pitchFamily="18" charset="0"/>
                                      </a:rPr>
                                      <m:t>7</m:t>
                                    </m:r>
                                  </m:sup>
                                </m:sSup>
                              </m:e>
                            </m:d>
                          </m:e>
                          <m:sup>
                            <m:r>
                              <a:rPr lang="en-US" sz="2000" i="1">
                                <a:latin typeface="Cambria Math" panose="02040503050406030204" pitchFamily="18" charset="0"/>
                              </a:rPr>
                              <m:t>0</m:t>
                            </m:r>
                          </m:sup>
                        </m:sSup>
                      </m:num>
                      <m:den>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3</m:t>
                                            </m:r>
                                          </m:den>
                                        </m:f>
                                      </m:e>
                                    </m:d>
                                  </m:e>
                                  <m:sup>
                                    <m:r>
                                      <a:rPr lang="en-US" sz="2000" i="1">
                                        <a:latin typeface="Cambria Math" panose="02040503050406030204" pitchFamily="18" charset="0"/>
                                      </a:rPr>
                                      <m:t>2</m:t>
                                    </m:r>
                                  </m:sup>
                                </m:sSup>
                              </m:e>
                            </m:d>
                          </m:e>
                          <m:sup>
                            <m:r>
                              <a:rPr lang="en-US" sz="2000" i="1">
                                <a:latin typeface="Cambria Math" panose="02040503050406030204" pitchFamily="18" charset="0"/>
                              </a:rPr>
                              <m:t>3</m:t>
                            </m:r>
                          </m:sup>
                        </m:sSup>
                      </m:den>
                    </m:f>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342900" indent="-3429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which exponent laws could be applied in the first step. Check off all that apply from the list.</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dirty="0"/>
              </a:p>
            </p:txBody>
          </p:sp>
        </mc:Choice>
        <mc:Fallback xmlns="">
          <p:sp>
            <p:nvSpPr>
              <p:cNvPr id="358" name="Google Shape;358;p23"/>
              <p:cNvSpPr txBox="1">
                <a:spLocks noRot="1" noChangeAspect="1" noMove="1" noResize="1" noEditPoints="1" noAdjustHandles="1" noChangeArrowheads="1" noChangeShapeType="1" noTextEdit="1"/>
              </p:cNvSpPr>
              <p:nvPr/>
            </p:nvSpPr>
            <p:spPr>
              <a:xfrm>
                <a:off x="1136822" y="386282"/>
                <a:ext cx="9918356" cy="2683130"/>
              </a:xfrm>
              <a:prstGeom prst="rect">
                <a:avLst/>
              </a:prstGeom>
              <a:blipFill rotWithShape="0">
                <a:blip r:embed="rId3"/>
                <a:stretch>
                  <a:fillRect l="-676"/>
                </a:stretch>
              </a:blipFill>
              <a:ln>
                <a:noFill/>
              </a:ln>
            </p:spPr>
            <p:txBody>
              <a:bodyPr/>
              <a:lstStyle/>
              <a:p>
                <a:r>
                  <a:rPr lang="en-US">
                    <a:noFill/>
                  </a:rPr>
                  <a:t> </a:t>
                </a:r>
              </a:p>
            </p:txBody>
          </p:sp>
        </mc:Fallback>
      </mc:AlternateContent>
      <p:sp>
        <p:nvSpPr>
          <p:cNvPr id="359" name="Google Shape;359;p23"/>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graphicFrame>
        <p:nvGraphicFramePr>
          <p:cNvPr id="2" name="Table 1">
            <a:extLst>
              <a:ext uri="{FF2B5EF4-FFF2-40B4-BE49-F238E27FC236}">
                <a16:creationId xmlns:a16="http://schemas.microsoft.com/office/drawing/2014/main" id="{9A578177-BD93-394C-9CF0-718EF49F335B}"/>
              </a:ext>
            </a:extLst>
          </p:cNvPr>
          <p:cNvGraphicFramePr>
            <a:graphicFrameLocks noGrp="1"/>
          </p:cNvGraphicFramePr>
          <p:nvPr>
            <p:extLst>
              <p:ext uri="{D42A27DB-BD31-4B8C-83A1-F6EECF244321}">
                <p14:modId xmlns:p14="http://schemas.microsoft.com/office/powerpoint/2010/main" val="403487427"/>
              </p:ext>
            </p:extLst>
          </p:nvPr>
        </p:nvGraphicFramePr>
        <p:xfrm>
          <a:off x="2916325" y="3312782"/>
          <a:ext cx="6940550" cy="1235075"/>
        </p:xfrm>
        <a:graphic>
          <a:graphicData uri="http://schemas.openxmlformats.org/drawingml/2006/table">
            <a:tbl>
              <a:tblPr firstRow="1" firstCol="1" bandRow="1">
                <a:tableStyleId>{2D5ABB26-0587-4C30-8999-92F81FD0307C}</a:tableStyleId>
              </a:tblPr>
              <a:tblGrid>
                <a:gridCol w="3470275">
                  <a:extLst>
                    <a:ext uri="{9D8B030D-6E8A-4147-A177-3AD203B41FA5}">
                      <a16:colId xmlns:a16="http://schemas.microsoft.com/office/drawing/2014/main" val="1410515223"/>
                    </a:ext>
                  </a:extLst>
                </a:gridCol>
                <a:gridCol w="3470275">
                  <a:extLst>
                    <a:ext uri="{9D8B030D-6E8A-4147-A177-3AD203B41FA5}">
                      <a16:colId xmlns:a16="http://schemas.microsoft.com/office/drawing/2014/main" val="758070087"/>
                    </a:ext>
                  </a:extLst>
                </a:gridCol>
              </a:tblGrid>
              <a:tr h="0">
                <a:tc>
                  <a:txBody>
                    <a:bodyPr/>
                    <a:lstStyle/>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Zero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Identity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Negative Exponent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Power</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Product of Powers</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Product</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Quotient of Powers</a:t>
                      </a:r>
                      <a:endParaRPr lang="en-US" sz="1200" b="0" dirty="0">
                        <a:solidFill>
                          <a:schemeClr val="tx1"/>
                        </a:solidFill>
                        <a:effectLst/>
                      </a:endParaRPr>
                    </a:p>
                    <a:p>
                      <a:pPr marL="342900" marR="0" lvl="0" indent="-342900">
                        <a:lnSpc>
                          <a:spcPct val="115000"/>
                        </a:lnSpc>
                        <a:spcBef>
                          <a:spcPts val="0"/>
                        </a:spcBef>
                        <a:spcAft>
                          <a:spcPts val="0"/>
                        </a:spcAft>
                        <a:buFont typeface="Wingdings" pitchFamily="2" charset="2"/>
                        <a:buChar char=""/>
                      </a:pPr>
                      <a:r>
                        <a:rPr lang="en-US" sz="1800" b="0" dirty="0">
                          <a:solidFill>
                            <a:schemeClr val="tx1"/>
                          </a:solidFill>
                          <a:effectLst/>
                        </a:rPr>
                        <a:t>Power of a Quotient</a:t>
                      </a:r>
                      <a:endParaRPr lang="en-US" sz="1200" b="0"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842831981"/>
                  </a:ext>
                </a:extLst>
              </a:tr>
            </a:tbl>
          </a:graphicData>
        </a:graphic>
      </p:graphicFrame>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72378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285103" y="410666"/>
            <a:ext cx="9772460" cy="4308831"/>
          </a:xfrm>
          <a:prstGeom prst="rect">
            <a:avLst/>
          </a:prstGeom>
          <a:noFill/>
          <a:ln>
            <a:noFill/>
          </a:ln>
        </p:spPr>
        <p:txBody>
          <a:bodyPr spcFirstLastPara="1" wrap="square" lIns="91425" tIns="45700" rIns="91425" bIns="45700" anchor="t" anchorCtr="0">
            <a:spAutoFit/>
          </a:bodyPr>
          <a:lstStyle/>
          <a:p>
            <a:pPr marL="919163" indent="-4603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Evaluate the expression beginning with a different first step than your partner. </a:t>
            </a: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9163" indent="-460375">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Compare your work with your partner’s and come to a consensus about the value of the expression. Discuss the similarities and differences in your work.</a:t>
            </a:r>
          </a:p>
          <a:p>
            <a:endParaRPr dirty="0"/>
          </a:p>
        </p:txBody>
      </p:sp>
      <p:sp>
        <p:nvSpPr>
          <p:cNvPr id="209" name="Google Shape;209;p8"/>
          <p:cNvSpPr/>
          <p:nvPr/>
        </p:nvSpPr>
        <p:spPr>
          <a:xfrm>
            <a:off x="0" y="0"/>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133</a:t>
            </a:r>
            <a:endParaRPr i="1" dirty="0">
              <a:latin typeface="Calibri"/>
              <a:ea typeface="Calibri"/>
              <a:cs typeface="Calibri"/>
              <a:sym typeface="Calibri"/>
            </a:endParaRPr>
          </a:p>
        </p:txBody>
      </p:sp>
      <p:pic>
        <p:nvPicPr>
          <p:cNvPr id="7"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954754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3"/>
          <p:cNvSpPr/>
          <p:nvPr/>
        </p:nvSpPr>
        <p:spPr>
          <a:xfrm>
            <a:off x="0" y="-8226"/>
            <a:ext cx="2731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7"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8"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452944" y="-1114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3.6.6 Wrap-Up: Error Analysis</a:t>
            </a:r>
            <a:endParaRPr dirty="0"/>
          </a:p>
        </p:txBody>
      </p:sp>
      <p:pic>
        <p:nvPicPr>
          <p:cNvPr id="468" name="Google Shape;468;p34"/>
          <p:cNvPicPr preferRelativeResize="0"/>
          <p:nvPr/>
        </p:nvPicPr>
        <p:blipFill rotWithShape="1">
          <a:blip r:embed="rId3">
            <a:alphaModFix/>
          </a:blip>
          <a:srcRect/>
          <a:stretch/>
        </p:blipFill>
        <p:spPr>
          <a:xfrm>
            <a:off x="705644" y="164773"/>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079294" y="1398383"/>
            <a:ext cx="4771072" cy="1938952"/>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Two students each evaluated an expression. Their work is shown in the table. Each student made a mistake. Circle the step where each student made an error and describe the mistake they made.</a:t>
            </a:r>
          </a:p>
        </p:txBody>
      </p:sp>
      <p:sp>
        <p:nvSpPr>
          <p:cNvPr id="470" name="Google Shape;470;p34"/>
          <p:cNvSpPr/>
          <p:nvPr/>
        </p:nvSpPr>
        <p:spPr>
          <a:xfrm>
            <a:off x="0" y="-8226"/>
            <a:ext cx="223200" cy="6866100"/>
          </a:xfrm>
          <a:prstGeom prst="rect">
            <a:avLst/>
          </a:prstGeom>
          <a:solidFill>
            <a:srgbClr val="FCBD1E"/>
          </a:solidFill>
          <a:ln w="9525" cap="flat" cmpd="sng">
            <a:solidFill>
              <a:srgbClr val="FCBD1E"/>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pic>
        <p:nvPicPr>
          <p:cNvPr id="4" name="Picture 3" descr="Table&#10;&#10;Description automatically generated">
            <a:extLst>
              <a:ext uri="{FF2B5EF4-FFF2-40B4-BE49-F238E27FC236}">
                <a16:creationId xmlns:a16="http://schemas.microsoft.com/office/drawing/2014/main" id="{872B5956-D548-F24D-860E-2DCCC0C987BD}"/>
              </a:ext>
            </a:extLst>
          </p:cNvPr>
          <p:cNvPicPr>
            <a:picLocks noChangeAspect="1"/>
          </p:cNvPicPr>
          <p:nvPr/>
        </p:nvPicPr>
        <p:blipFill>
          <a:blip r:embed="rId4"/>
          <a:stretch>
            <a:fillRect/>
          </a:stretch>
        </p:blipFill>
        <p:spPr>
          <a:xfrm>
            <a:off x="6071087" y="988282"/>
            <a:ext cx="4340320" cy="5469391"/>
          </a:xfrm>
          <a:prstGeom prst="rect">
            <a:avLst/>
          </a:prstGeom>
        </p:spPr>
      </p:pic>
      <p:sp>
        <p:nvSpPr>
          <p:cNvPr id="9" name="Google Shape;125;g104476d1465_1_17"/>
          <p:cNvSpPr txBox="1"/>
          <p:nvPr/>
        </p:nvSpPr>
        <p:spPr>
          <a:xfrm>
            <a:off x="8711063" y="6457674"/>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1, pg</a:t>
            </a:r>
            <a:r>
              <a:rPr lang="en-US" i="1">
                <a:latin typeface="Calibri"/>
                <a:ea typeface="Calibri"/>
                <a:cs typeface="Calibri"/>
                <a:sym typeface="Calibri"/>
              </a:rPr>
              <a:t>. </a:t>
            </a:r>
            <a:r>
              <a:rPr lang="en-US" i="1" dirty="0">
                <a:latin typeface="Calibri"/>
                <a:ea typeface="Calibri"/>
                <a:cs typeface="Calibri"/>
                <a:sym typeface="Calibri"/>
              </a:rPr>
              <a:t>134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289" y="6200599"/>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TotalTime>
  <Words>1099</Words>
  <Application>Microsoft Office PowerPoint</Application>
  <PresentationFormat>Widescreen</PresentationFormat>
  <Paragraphs>243</Paragraphs>
  <Slides>25</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Arial</vt:lpstr>
      <vt:lpstr>Arial Black</vt:lpstr>
      <vt:lpstr>Calibri</vt:lpstr>
      <vt:lpstr>Cambria</vt:lpstr>
      <vt:lpstr>Cambria Math</vt:lpstr>
      <vt:lpstr>Verdana</vt:lpstr>
      <vt:lpstr>Wingdings</vt:lpstr>
      <vt:lpstr>1_Office Theme</vt:lpstr>
      <vt:lpstr>7th Grade Accelerated Math  Unit 3, Lesson 6  Evaluating Numerical Expressions with Integer Exponents  Volume 1, pg. 129  </vt:lpstr>
      <vt:lpstr>Benchmark</vt:lpstr>
      <vt:lpstr>PowerPoint Presentation</vt:lpstr>
      <vt:lpstr>PowerPoint Presentation</vt:lpstr>
      <vt:lpstr>Warm-Up</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Guided Practice</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Name  Unit 3, Lesson #  Lesson Name  Volume x, pg. #  </dc:title>
  <dc:creator>Karen McKenzie</dc:creator>
  <cp:lastModifiedBy>Cassie O'Connor</cp:lastModifiedBy>
  <cp:revision>7</cp:revision>
  <dcterms:created xsi:type="dcterms:W3CDTF">2015-03-17T18:51:18Z</dcterms:created>
  <dcterms:modified xsi:type="dcterms:W3CDTF">2022-06-30T03:58:50Z</dcterms:modified>
</cp:coreProperties>
</file>