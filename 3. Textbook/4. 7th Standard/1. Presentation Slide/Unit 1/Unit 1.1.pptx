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85" r:id="rId7"/>
    <p:sldId id="286" r:id="rId8"/>
    <p:sldId id="261" r:id="rId9"/>
    <p:sldId id="287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14" r:id="rId25"/>
    <p:sldId id="315" r:id="rId26"/>
    <p:sldId id="316" r:id="rId27"/>
    <p:sldId id="306" r:id="rId28"/>
    <p:sldId id="307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973D"/>
    <a:srgbClr val="E2EFD6"/>
    <a:srgbClr val="F25E5B"/>
    <a:srgbClr val="F79647"/>
    <a:srgbClr val="FCBD1E"/>
    <a:srgbClr val="C9DF6F"/>
    <a:srgbClr val="417DBF"/>
    <a:srgbClr val="3F2A67"/>
    <a:srgbClr val="E24E5F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4694"/>
  </p:normalViewPr>
  <p:slideViewPr>
    <p:cSldViewPr snapToGrid="0">
      <p:cViewPr varScale="1">
        <p:scale>
          <a:sx n="56" d="100"/>
          <a:sy n="56" d="100"/>
        </p:scale>
        <p:origin x="102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407426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4477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5821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0634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9787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6699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4461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1343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6872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60728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00198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81041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70402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09080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47200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Statistics and Interpreting Data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267697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6.DP.1.1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	Recognize and formulate a statistical question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	that would generate numerical data. </a:t>
            </a:r>
          </a:p>
          <a:p>
            <a:pPr marL="95250" indent="0">
              <a:buNone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6.DP.1.4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	Given a histogram or line plot within a real-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	world context, qualitatively describe and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	interpret the spread and distribution of the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	data, including any symmetry, skewness, gaps,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	clusters, outliers, and the range.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5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5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identify statistical questions and classify types of data.</a:t>
            </a:r>
          </a:p>
          <a:p>
            <a:pPr marL="342900" indent="-342900">
              <a:buFont typeface="Wingdings" charset="2"/>
              <a:buChar char="q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interpret information from a data set or a graphical display.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770632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1.1.1 Warm-Up: Day in the Life of a Mushroom Farmer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1571478"/>
            <a:ext cx="1051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Alejandro, a mushroom-kit entrepreneur, says that when it comes to growing his business, “The most important thing is … adapting opportunities that come to you and still holding the same amount of passion.”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13165" y="3146603"/>
            <a:ext cx="8789324" cy="157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is something you are passionate about?</a:t>
            </a:r>
          </a:p>
          <a:p>
            <a:pPr marL="342900" indent="-342900">
              <a:spcAft>
                <a:spcPts val="1000"/>
              </a:spcAft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spcAft>
                <a:spcPts val="1000"/>
              </a:spcAft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spcAft>
                <a:spcPts val="1000"/>
              </a:spcAft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has a new interest or hobby surprised you?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6</a:t>
            </a: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66145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800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1.1.2 Refresher: Defining a Statistical Question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6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C51FF2-AD43-3B4B-B9DE-330920D33388}"/>
              </a:ext>
            </a:extLst>
          </p:cNvPr>
          <p:cNvSpPr txBox="1"/>
          <p:nvPr/>
        </p:nvSpPr>
        <p:spPr>
          <a:xfrm>
            <a:off x="2037392" y="3320050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Examples and non-examples of statistical questions are shown.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C66DE09-9EE2-BE4D-96E6-6AAAC641C85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Text Box 24"/>
          <p:cNvSpPr txBox="1"/>
          <p:nvPr/>
        </p:nvSpPr>
        <p:spPr>
          <a:xfrm>
            <a:off x="2781299" y="1306680"/>
            <a:ext cx="7412567" cy="1588114"/>
          </a:xfrm>
          <a:prstGeom prst="roundRect">
            <a:avLst/>
          </a:prstGeom>
          <a:solidFill>
            <a:srgbClr val="E2EFD6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rgbClr val="6E973D"/>
                </a:solidFill>
                <a:latin typeface="Verdana" charset="0"/>
                <a:ea typeface="Verdana" charset="0"/>
                <a:cs typeface="Verdana" charset="0"/>
              </a:rPr>
              <a:t>	A </a:t>
            </a:r>
            <a:r>
              <a:rPr lang="en-US" sz="2000" b="1" i="1" dirty="0">
                <a:solidFill>
                  <a:srgbClr val="6E973D"/>
                </a:solidFill>
                <a:latin typeface="Verdana" charset="0"/>
                <a:ea typeface="Verdana" charset="0"/>
                <a:cs typeface="Verdana" charset="0"/>
              </a:rPr>
              <a:t>statistical question</a:t>
            </a:r>
            <a:r>
              <a:rPr lang="en-US" sz="2000" i="1" dirty="0">
                <a:solidFill>
                  <a:srgbClr val="6E973D"/>
                </a:solidFill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000" dirty="0">
                <a:solidFill>
                  <a:srgbClr val="6E973D"/>
                </a:solidFill>
                <a:latin typeface="Verdana" charset="0"/>
                <a:ea typeface="Verdana" charset="0"/>
                <a:cs typeface="Verdana" charset="0"/>
              </a:rPr>
              <a:t>is a question that can 	be answered by collecting data. Often, there 	will be variability in the data.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8037" y="1664977"/>
            <a:ext cx="518433" cy="559510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993642"/>
              </p:ext>
            </p:extLst>
          </p:nvPr>
        </p:nvGraphicFramePr>
        <p:xfrm>
          <a:off x="2160558" y="4145416"/>
          <a:ext cx="8033309" cy="2438400"/>
        </p:xfrm>
        <a:graphic>
          <a:graphicData uri="http://schemas.openxmlformats.org/drawingml/2006/table">
            <a:tbl>
              <a:tblPr bandRow="1"/>
              <a:tblGrid>
                <a:gridCol w="4015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7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65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Statistical Questions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9150" marR="591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NOT Statistical Questions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9150" marR="591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1872">
                <a:tc>
                  <a:txBody>
                    <a:bodyPr/>
                    <a:lstStyle/>
                    <a:p>
                      <a:pPr marL="342900" indent="-342900" algn="l">
                        <a:buFont typeface="Verdana" panose="020B0604030504040204" pitchFamily="34" charset="0"/>
                        <a:buChar char="●"/>
                      </a:pPr>
                      <a:r>
                        <a:rPr lang="en-US" sz="2000" b="0" i="0" u="none" strike="noStrike" baseline="0" dirty="0">
                          <a:latin typeface="Verdana" panose="020B0604030504040204" pitchFamily="34" charset="0"/>
                        </a:rPr>
                        <a:t>How many siblings do the students in my class have?</a:t>
                      </a:r>
                    </a:p>
                    <a:p>
                      <a:pPr marL="342900" indent="-342900" algn="l">
                        <a:buFont typeface="Verdana" panose="020B0604030504040204" pitchFamily="34" charset="0"/>
                        <a:buChar char="●"/>
                      </a:pPr>
                      <a:r>
                        <a:rPr lang="en-US" sz="2000" b="0" i="0" u="none" strike="noStrike" baseline="0" dirty="0">
                          <a:latin typeface="Verdana" panose="020B0604030504040204" pitchFamily="34" charset="0"/>
                        </a:rPr>
                        <a:t>How tall are the players on </a:t>
                      </a:r>
                      <a:r>
                        <a:rPr lang="en-PH" sz="2000" b="0" i="0" u="none" strike="noStrike" baseline="0" dirty="0">
                          <a:latin typeface="Verdana" panose="020B0604030504040204" pitchFamily="34" charset="0"/>
                        </a:rPr>
                        <a:t>the girls’ basketball team?</a:t>
                      </a:r>
                    </a:p>
                    <a:p>
                      <a:pPr marL="342900" indent="-342900" algn="l">
                        <a:buFont typeface="Verdana" panose="020B0604030504040204" pitchFamily="34" charset="0"/>
                        <a:buChar char="●"/>
                      </a:pPr>
                      <a:r>
                        <a:rPr lang="en-US" sz="2000" b="0" i="0" u="none" strike="noStrike" baseline="0" dirty="0">
                          <a:latin typeface="Verdana" panose="020B0604030504040204" pitchFamily="34" charset="0"/>
                        </a:rPr>
                        <a:t>What is the favorite song of the 6</a:t>
                      </a:r>
                      <a:r>
                        <a:rPr lang="en-US" sz="2000" b="0" i="0" u="none" strike="noStrike" baseline="30000" dirty="0">
                          <a:latin typeface="Verdana" panose="020B0604030504040204" pitchFamily="34" charset="0"/>
                        </a:rPr>
                        <a:t>th</a:t>
                      </a:r>
                      <a:r>
                        <a:rPr lang="en-US" sz="800" b="0" i="0" u="none" strike="noStrike" baseline="0" dirty="0">
                          <a:latin typeface="Verdana" panose="020B0604030504040204" pitchFamily="34" charset="0"/>
                        </a:rPr>
                        <a:t> </a:t>
                      </a:r>
                      <a:r>
                        <a:rPr lang="en-US" sz="2000" b="0" i="0" u="none" strike="noStrike" baseline="0" dirty="0">
                          <a:latin typeface="Verdana" panose="020B0604030504040204" pitchFamily="34" charset="0"/>
                        </a:rPr>
                        <a:t>graders at my school?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9150" marR="591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Verdana" panose="020B0604030504040204" pitchFamily="34" charset="0"/>
                        <a:buChar char="●"/>
                      </a:pPr>
                      <a:r>
                        <a:rPr lang="en-PH" sz="2000" b="0" i="0" u="none" strike="noStrike" baseline="0" dirty="0">
                          <a:latin typeface="Verdana" panose="020B0604030504040204" pitchFamily="34" charset="0"/>
                        </a:rPr>
                        <a:t>What time does school start?</a:t>
                      </a:r>
                    </a:p>
                    <a:p>
                      <a:pPr marL="342900" indent="-342900" algn="l">
                        <a:buFont typeface="Verdana" panose="020B0604030504040204" pitchFamily="34" charset="0"/>
                        <a:buChar char="●"/>
                      </a:pPr>
                      <a:r>
                        <a:rPr lang="en-US" sz="2000" b="0" i="0" u="none" strike="noStrike" baseline="0" dirty="0">
                          <a:latin typeface="Verdana" panose="020B0604030504040204" pitchFamily="34" charset="0"/>
                        </a:rPr>
                        <a:t>Who is the President of </a:t>
                      </a:r>
                      <a:r>
                        <a:rPr lang="en-PH" sz="2000" b="0" i="0" u="none" strike="noStrike" baseline="0" dirty="0">
                          <a:latin typeface="Verdana" panose="020B0604030504040204" pitchFamily="34" charset="0"/>
                        </a:rPr>
                        <a:t>the United States?</a:t>
                      </a:r>
                    </a:p>
                    <a:p>
                      <a:pPr marL="342900" indent="-342900" algn="l">
                        <a:buFont typeface="Verdana" panose="020B0604030504040204" pitchFamily="34" charset="0"/>
                        <a:buChar char="●"/>
                      </a:pPr>
                      <a:r>
                        <a:rPr lang="en-PH" sz="2000" b="0" i="0" u="none" strike="noStrike" baseline="0" dirty="0">
                          <a:latin typeface="Verdana" panose="020B0604030504040204" pitchFamily="34" charset="0"/>
                        </a:rPr>
                        <a:t>What is Avery’s favorite color?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9150" marR="591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582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EAAB6-B932-C047-9261-EF734547974E}"/>
              </a:ext>
            </a:extLst>
          </p:cNvPr>
          <p:cNvSpPr txBox="1"/>
          <p:nvPr/>
        </p:nvSpPr>
        <p:spPr>
          <a:xfrm>
            <a:off x="914400" y="422858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3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two types of questions?</a:t>
            </a:r>
          </a:p>
          <a:p>
            <a:pPr marL="457200" lvl="3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think “variability in the data” means in the definition of “statistical question?” </a:t>
            </a:r>
          </a:p>
          <a:p>
            <a:pPr marL="457200" lvl="3" indent="-457200">
              <a:buFont typeface="+mj-lt"/>
              <a:buAutoNum type="arabicPeriod"/>
            </a:pPr>
            <a:endParaRPr lang="en-US" sz="2000" b="0" i="0" u="none" strike="noStrike" baseline="0" dirty="0">
              <a:latin typeface="Verdana" charset="0"/>
              <a:ea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endParaRPr lang="en-US" sz="2000" b="0" i="0" u="none" strike="noStrike" baseline="0" dirty="0">
              <a:latin typeface="Verdana" charset="0"/>
              <a:ea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endParaRPr lang="en-US" sz="2000" b="0" i="0" u="none" strike="noStrike" baseline="0" dirty="0">
              <a:latin typeface="Verdana" charset="0"/>
              <a:ea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r>
              <a:rPr lang="en-US" sz="2000" b="0" i="0" u="none" strike="noStrike" baseline="0" dirty="0">
                <a:latin typeface="Verdana" panose="020B0604030504040204" pitchFamily="34" charset="0"/>
              </a:rPr>
              <a:t>Explain why the question, “How many times do the students at my school go swimming this summer?” is a </a:t>
            </a:r>
            <a:r>
              <a:rPr lang="en-PH" sz="2000" b="0" i="0" u="none" strike="noStrike" baseline="0" dirty="0">
                <a:latin typeface="Verdana" panose="020B0604030504040204" pitchFamily="34" charset="0"/>
              </a:rPr>
              <a:t>statistical question.</a:t>
            </a: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09789B1D-7DA0-7349-9D9F-61D903C4981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6682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385457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6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432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1.1.3 Try It: Identifying Statistical Questions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6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914400" y="1386025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Sort the following questions into the appropriate column by writing the letters of the questions in the table provided.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D93CCF23-305F-4542-AFD2-A48933A9E42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89413" y="2192874"/>
            <a:ext cx="866356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lphaLcPeriod"/>
            </a:pPr>
            <a:r>
              <a:rPr lang="en-US" sz="2000" b="0" i="0" u="none" strike="noStrike" baseline="0" dirty="0">
                <a:latin typeface="Verdana" panose="020B0604030504040204" pitchFamily="34" charset="0"/>
              </a:rPr>
              <a:t>How many miles do the students in my class live </a:t>
            </a:r>
            <a:r>
              <a:rPr lang="en-PH" sz="2000" b="0" i="0" u="none" strike="noStrike" baseline="0" dirty="0">
                <a:latin typeface="Verdana" panose="020B0604030504040204" pitchFamily="34" charset="0"/>
              </a:rPr>
              <a:t>from the school campus?</a:t>
            </a:r>
          </a:p>
          <a:p>
            <a:pPr marL="457200" indent="-457200" algn="l">
              <a:buFont typeface="+mj-lt"/>
              <a:buAutoNum type="alphaLcPeriod"/>
            </a:pPr>
            <a:r>
              <a:rPr lang="en-US" sz="2000" b="0" i="0" u="none" strike="noStrike" baseline="0" dirty="0">
                <a:latin typeface="Verdana" panose="020B0604030504040204" pitchFamily="34" charset="0"/>
              </a:rPr>
              <a:t>How many counties are there in Florida?</a:t>
            </a:r>
          </a:p>
          <a:p>
            <a:pPr marL="457200" indent="-457200" algn="l">
              <a:buFont typeface="+mj-lt"/>
              <a:buAutoNum type="alphaLcPeriod"/>
            </a:pPr>
            <a:r>
              <a:rPr lang="en-US" sz="2000" b="0" i="0" u="none" strike="noStrike" baseline="0" dirty="0">
                <a:latin typeface="Verdana" panose="020B0604030504040204" pitchFamily="34" charset="0"/>
              </a:rPr>
              <a:t>Who is the governor of Florida?</a:t>
            </a:r>
          </a:p>
          <a:p>
            <a:pPr marL="457200" indent="-457200" algn="l">
              <a:buFont typeface="+mj-lt"/>
              <a:buAutoNum type="alphaLcPeriod"/>
            </a:pPr>
            <a:r>
              <a:rPr lang="en-US" sz="2000" b="0" i="0" u="none" strike="noStrike" baseline="0" dirty="0">
                <a:latin typeface="Verdana" panose="020B0604030504040204" pitchFamily="34" charset="0"/>
              </a:rPr>
              <a:t>How many siblings do my 7</a:t>
            </a:r>
            <a:r>
              <a:rPr lang="en-US" sz="2000" b="0" i="0" u="none" strike="noStrike" baseline="30000" dirty="0">
                <a:latin typeface="Verdana" panose="020B0604030504040204" pitchFamily="34" charset="0"/>
              </a:rPr>
              <a:t>th</a:t>
            </a:r>
            <a:r>
              <a:rPr lang="en-US" sz="800" b="0" i="0" u="none" strike="noStrike" baseline="0" dirty="0">
                <a:latin typeface="Verdana" panose="020B0604030504040204" pitchFamily="34" charset="0"/>
              </a:rPr>
              <a:t> </a:t>
            </a:r>
            <a:r>
              <a:rPr lang="en-US" sz="2000" b="0" i="0" u="none" strike="noStrike" baseline="0" dirty="0">
                <a:latin typeface="Verdana" panose="020B0604030504040204" pitchFamily="34" charset="0"/>
              </a:rPr>
              <a:t>grade teachers have?</a:t>
            </a:r>
          </a:p>
          <a:p>
            <a:pPr marL="457200" indent="-457200" algn="l">
              <a:buFont typeface="+mj-lt"/>
              <a:buAutoNum type="alphaLcPeriod"/>
            </a:pPr>
            <a:r>
              <a:rPr lang="en-US" sz="2000" b="0" i="0" u="none" strike="noStrike" baseline="0" dirty="0">
                <a:latin typeface="Verdana" panose="020B0604030504040204" pitchFamily="34" charset="0"/>
              </a:rPr>
              <a:t>How many hours do adults in Florida spend </a:t>
            </a:r>
            <a:r>
              <a:rPr lang="en-PH" sz="2000" b="0" i="0" u="none" strike="noStrike" baseline="0" dirty="0">
                <a:latin typeface="Verdana" panose="020B0604030504040204" pitchFamily="34" charset="0"/>
              </a:rPr>
              <a:t>outdoors on a weekend?</a:t>
            </a:r>
          </a:p>
          <a:p>
            <a:pPr marL="457200" indent="-457200" algn="l">
              <a:buFont typeface="+mj-lt"/>
              <a:buAutoNum type="alphaLcPeriod"/>
            </a:pPr>
            <a:r>
              <a:rPr lang="en-US" sz="2000" b="0" i="0" u="none" strike="noStrike" baseline="0" dirty="0">
                <a:latin typeface="Verdana" panose="020B0604030504040204" pitchFamily="34" charset="0"/>
              </a:rPr>
              <a:t>How many days are in December?</a:t>
            </a: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661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6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3DDED37-A9DC-1840-BFB8-744A6C95606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768395"/>
              </p:ext>
            </p:extLst>
          </p:nvPr>
        </p:nvGraphicFramePr>
        <p:xfrm>
          <a:off x="2700655" y="1668733"/>
          <a:ext cx="6790690" cy="3573145"/>
        </p:xfrm>
        <a:graphic>
          <a:graphicData uri="http://schemas.openxmlformats.org/drawingml/2006/table">
            <a:tbl>
              <a:tblPr firstRow="1" firstCol="1" bandRow="1"/>
              <a:tblGrid>
                <a:gridCol w="3395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5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Statistical Questions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NOT Statistical Questions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35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310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7</a:t>
            </a: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202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1.1.4 Refresher: Data Displays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7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C51FF2-AD43-3B4B-B9DE-330920D33388}"/>
              </a:ext>
            </a:extLst>
          </p:cNvPr>
          <p:cNvSpPr txBox="1"/>
          <p:nvPr/>
        </p:nvSpPr>
        <p:spPr>
          <a:xfrm>
            <a:off x="914400" y="1386026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Numerical data can be displayed graphically in a variety of ways. Three graphs that are commonly used are histograms, line plots, and box plots.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C66DE09-9EE2-BE4D-96E6-6AAAC641C85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8408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EAAB6-B932-C047-9261-EF734547974E}"/>
              </a:ext>
            </a:extLst>
          </p:cNvPr>
          <p:cNvSpPr txBox="1"/>
          <p:nvPr/>
        </p:nvSpPr>
        <p:spPr>
          <a:xfrm>
            <a:off x="914400" y="422857"/>
            <a:ext cx="10515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Three data displays are shown below. Match each type of data display with the examples shown by writing the letter on the line. 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    Histogram ____	      Line Plot ____	      Box Plot ____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09789B1D-7DA0-7349-9D9F-61D903C4981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8338" y="2148099"/>
            <a:ext cx="5346700" cy="450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52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7</a:t>
            </a:r>
          </a:p>
        </p:txBody>
      </p:sp>
    </p:spTree>
    <p:extLst>
      <p:ext uri="{BB962C8B-B14F-4D97-AF65-F5344CB8AC3E}">
        <p14:creationId xmlns:p14="http://schemas.microsoft.com/office/powerpoint/2010/main" val="1953862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1.1.5 Guided Instruction: Interpreting Histograms and Line Plots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914400" y="1386026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Tristan has been tracking the time, in minutes, it takes him to run 4 miles for the last 10 years. A histogram of Tristan’s run times is shown.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D185CEC-69E3-ED4E-87D7-D8AED7B3213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2018" y="2547993"/>
            <a:ext cx="4432541" cy="410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92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7/8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914400" y="305678"/>
            <a:ext cx="10515600" cy="3377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shape of run times can be best described as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lnSpc>
                <a:spcPct val="200000"/>
              </a:lnSpc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Tristan’s typical run time was about _________ minutes. Most of his run times were between ______ to ______ minutes. Not many of his runs were		     than 32.5 minutes.    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317" y="117501"/>
            <a:ext cx="2489200" cy="1270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0158" y="3084597"/>
            <a:ext cx="16256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344409" y="4555827"/>
            <a:ext cx="10515600" cy="1222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If the data value             was added to the histogram,  it would be considered an outlier.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7556" y="4219467"/>
            <a:ext cx="965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86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8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914400" y="519353"/>
            <a:ext cx="10515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highlight>
                  <a:srgbClr val="FFFFFF"/>
                </a:highlight>
                <a:latin typeface="Verdana" charset="0"/>
                <a:ea typeface="Verdana" charset="0"/>
                <a:cs typeface="Verdana" charset="0"/>
              </a:rPr>
              <a:t>The line plot shows the number of hours per week that students reported playing video games.</a:t>
            </a:r>
            <a:endParaRPr lang="en-US" sz="2000" dirty="0">
              <a:latin typeface="Cambria" charset="0"/>
              <a:ea typeface="Times New Roman" charset="0"/>
              <a:cs typeface="Cambria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0999" y="1479216"/>
            <a:ext cx="6451600" cy="2755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60BB77-FBE2-F744-9EF9-CADB29D8D15E}"/>
                  </a:ext>
                </a:extLst>
              </p:cNvPr>
              <p:cNvSpPr txBox="1"/>
              <p:nvPr/>
            </p:nvSpPr>
            <p:spPr>
              <a:xfrm>
                <a:off x="1353787" y="4487093"/>
                <a:ext cx="911658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many students were surveyed?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many students reported spending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hour on playing video games each week?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60BB77-FBE2-F744-9EF9-CADB29D8D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787" y="4487093"/>
                <a:ext cx="9116580" cy="1938992"/>
              </a:xfrm>
              <a:prstGeom prst="rect">
                <a:avLst/>
              </a:prstGeom>
              <a:blipFill>
                <a:blip r:embed="rId5"/>
                <a:stretch>
                  <a:fillRect l="-735" t="-2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166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995055" y="3584833"/>
                <a:ext cx="833984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percentage of the students reported spending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hours or fewer on video games each week?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range of time spent playing video games in this group?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055" y="3584833"/>
                <a:ext cx="8339846" cy="1938992"/>
              </a:xfrm>
              <a:prstGeom prst="rect">
                <a:avLst/>
              </a:prstGeom>
              <a:blipFill>
                <a:blip r:embed="rId4"/>
                <a:stretch>
                  <a:fillRect l="-804" t="-2201" r="-1170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619D9B-810F-E84D-AEC2-89B3AB68FF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6497" y="409833"/>
            <a:ext cx="64516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32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70632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8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1.1.6 Collaboration: Which Graph?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8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914400" y="1386026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movie critic recorded the length, in minutes, of a sample of Pixar films and made a histogram and a line plot of the data.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E9CA456B-1791-3E43-BCF8-7E55B6240BB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0000" y="2409290"/>
            <a:ext cx="5088033" cy="41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8-9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914400" y="410666"/>
                <a:ext cx="105156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Which graph could tell you how many film lengths were recorded?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many film lengths are recorded?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many films lasted at least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95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minutes but fewer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minutes, according to the histogram?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many films lasted at least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95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minutes but fewer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minutes, according to the line plot?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range of the film lengths?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explain which graph was used to determine the range.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Are there any outliers? If there are, name them.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0666"/>
                <a:ext cx="10515600" cy="5016758"/>
              </a:xfrm>
              <a:prstGeom prst="rect">
                <a:avLst/>
              </a:prstGeom>
              <a:blipFill>
                <a:blip r:embed="rId4"/>
                <a:stretch>
                  <a:fillRect t="-729" b="-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9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9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1.1.7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914400" y="1386025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3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Choose the emoji that reflects your understanding of statistics and interpreting data.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550" y="2815167"/>
            <a:ext cx="75692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3CB834-9E0D-45E2-8E6B-723B26625A4C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customXml/itemProps2.xml><?xml version="1.0" encoding="utf-8"?>
<ds:datastoreItem xmlns:ds="http://schemas.openxmlformats.org/officeDocument/2006/customXml" ds:itemID="{32CDDE10-93DF-49C5-B429-5A48B6E00D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99C813-F8D2-493D-8CEC-CF5B73FA71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1341</TotalTime>
  <Words>1047</Words>
  <Application>Microsoft Office PowerPoint</Application>
  <PresentationFormat>Widescreen</PresentationFormat>
  <Paragraphs>160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7th Grade Math  Unit 1, Lesson 1  Statistics and Interpreting Data  Volume 1, pg. 5  </vt:lpstr>
      <vt:lpstr>Benchmarks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PowerPoint Presentation</vt:lpstr>
      <vt:lpstr>Try It</vt:lpstr>
      <vt:lpstr>PowerPoint Presentation</vt:lpstr>
      <vt:lpstr>PowerPoint Presentation</vt:lpstr>
      <vt:lpstr>Refresher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33</cp:revision>
  <dcterms:created xsi:type="dcterms:W3CDTF">2015-03-17T18:51:18Z</dcterms:created>
  <dcterms:modified xsi:type="dcterms:W3CDTF">2023-06-30T00:38:04Z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