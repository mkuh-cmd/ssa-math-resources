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332" r:id="rId8"/>
    <p:sldId id="333" r:id="rId9"/>
    <p:sldId id="334" r:id="rId10"/>
    <p:sldId id="335" r:id="rId11"/>
    <p:sldId id="336" r:id="rId12"/>
    <p:sldId id="343" r:id="rId13"/>
    <p:sldId id="344" r:id="rId14"/>
    <p:sldId id="314" r:id="rId15"/>
    <p:sldId id="315" r:id="rId16"/>
    <p:sldId id="316" r:id="rId17"/>
    <p:sldId id="337" r:id="rId18"/>
    <p:sldId id="338" r:id="rId19"/>
    <p:sldId id="339" r:id="rId20"/>
    <p:sldId id="340" r:id="rId21"/>
    <p:sldId id="341" r:id="rId22"/>
    <p:sldId id="342" r:id="rId23"/>
    <p:sldId id="306" r:id="rId24"/>
    <p:sldId id="307"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973D"/>
    <a:srgbClr val="F25E5B"/>
    <a:srgbClr val="F79647"/>
    <a:srgbClr val="FCBD1E"/>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517"/>
    <p:restoredTop sz="94695"/>
  </p:normalViewPr>
  <p:slideViewPr>
    <p:cSldViewPr snapToGrid="0">
      <p:cViewPr varScale="1">
        <p:scale>
          <a:sx n="83" d="100"/>
          <a:sy n="83" d="100"/>
        </p:scale>
        <p:origin x="206"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884342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104643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567612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96543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807648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180367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969601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288479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01462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679190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129559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0869787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5162733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6361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60.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8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One-Step Equations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2079171" y="136525"/>
            <a:ext cx="8021979"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1033575"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04257" y="1630181"/>
            <a:ext cx="880654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MA.6.AR.2.2 </a:t>
            </a:r>
          </a:p>
          <a:p>
            <a:pPr marL="95250" indent="0">
              <a:buNone/>
            </a:pPr>
            <a:r>
              <a:rPr lang="en-US" sz="2400" dirty="0">
                <a:latin typeface="Verdana" charset="0"/>
                <a:ea typeface="Verdana" charset="0"/>
                <a:cs typeface="Verdana" charset="0"/>
              </a:rPr>
              <a:t>	Write and solve one-step equations in one 	variable within a mathematical or real-world 	context using addition and subtraction, where all 	terms and solutions are integers. 	</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MA.6.AR.2.3 </a:t>
            </a:r>
          </a:p>
          <a:p>
            <a:pPr marL="95250" indent="0">
              <a:buNone/>
            </a:pPr>
            <a:r>
              <a:rPr lang="en-US" sz="2400" dirty="0">
                <a:latin typeface="Verdana" charset="0"/>
                <a:ea typeface="Verdana" charset="0"/>
                <a:cs typeface="Verdana" charset="0"/>
              </a:rPr>
              <a:t>	Write and solve one-step equations in one 	variable within a mathematical or real-world 	context using multiplication and division, where 	all terms and solutions are integers.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1023987"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884556" y="129667"/>
            <a:ext cx="873227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393371" y="1596390"/>
            <a:ext cx="881742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3114"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884556" y="77150"/>
            <a:ext cx="850809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955074"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328057" y="1600200"/>
            <a:ext cx="888274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2438" indent="-452438">
              <a:buFont typeface="Wingdings" charset="2"/>
              <a:buChar char="q"/>
            </a:pPr>
            <a:r>
              <a:rPr lang="en-US" sz="2400" dirty="0">
                <a:latin typeface="Verdana" charset="0"/>
                <a:ea typeface="Verdana" charset="0"/>
                <a:cs typeface="Verdana" charset="0"/>
              </a:rPr>
              <a:t>I can solve one-step equations involving addition, subtraction, multiplication, and division using models and inverse operations.</a:t>
            </a: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503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007765" y="212725"/>
            <a:ext cx="83271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1.5.1 Warm-Up: Brain Capacity</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1109799" y="50192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6810"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25</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483449" y="1690062"/>
                <a:ext cx="8327136" cy="3477875"/>
              </a:xfrm>
              <a:prstGeom prst="rect">
                <a:avLst/>
              </a:prstGeom>
              <a:noFill/>
            </p:spPr>
            <p:txBody>
              <a:bodyPr wrap="square" rtlCol="0">
                <a:spAutoFit/>
              </a:bodyPr>
              <a:lstStyle/>
              <a:p>
                <a:r>
                  <a:rPr lang="en-US" sz="2000" dirty="0">
                    <a:latin typeface="Verdana" charset="0"/>
                    <a:ea typeface="Verdana" charset="0"/>
                    <a:cs typeface="Verdana" charset="0"/>
                  </a:rPr>
                  <a:t>A human brain can store about </a:t>
                </a:r>
                <a14:m>
                  <m:oMath xmlns:m="http://schemas.openxmlformats.org/officeDocument/2006/math">
                    <m:r>
                      <a:rPr lang="en-US" sz="2000" i="1">
                        <a:latin typeface="Cambria Math"/>
                        <a:ea typeface="Verdana" charset="0"/>
                        <a:cs typeface="Verdana" charset="0"/>
                      </a:rPr>
                      <m:t>3,500</m:t>
                    </m:r>
                  </m:oMath>
                </a14:m>
                <a:r>
                  <a:rPr lang="en-US" sz="2000" dirty="0">
                    <a:latin typeface="Verdana" charset="0"/>
                    <a:ea typeface="Verdana" charset="0"/>
                    <a:cs typeface="Verdana" charset="0"/>
                  </a:rPr>
                  <a:t> trillion bytes of data, while a cat’s brain can store about </a:t>
                </a:r>
                <a14:m>
                  <m:oMath xmlns:m="http://schemas.openxmlformats.org/officeDocument/2006/math">
                    <m:r>
                      <a:rPr lang="en-US" sz="2000" i="1">
                        <a:latin typeface="Cambria Math"/>
                        <a:ea typeface="Verdana" charset="0"/>
                        <a:cs typeface="Verdana" charset="0"/>
                      </a:rPr>
                      <m:t>98</m:t>
                    </m:r>
                  </m:oMath>
                </a14:m>
                <a:r>
                  <a:rPr lang="en-US" sz="2000" dirty="0">
                    <a:latin typeface="Verdana" charset="0"/>
                    <a:ea typeface="Verdana" charset="0"/>
                    <a:cs typeface="Verdana" charset="0"/>
                  </a:rPr>
                  <a:t> trillion bytes of data.</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What is the brain storage capacity of human to cat?</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About how many brains of cats would it take to store the same amount of data as the human brain?</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483449" y="1690062"/>
                <a:ext cx="8327136" cy="3477875"/>
              </a:xfrm>
              <a:prstGeom prst="rect">
                <a:avLst/>
              </a:prstGeom>
              <a:blipFill>
                <a:blip r:embed="rId5"/>
                <a:stretch>
                  <a:fillRect l="-805" t="-876" b="-2102"/>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2E26B32-0C88-7847-9ECA-D11545A204F9}"/>
              </a:ext>
            </a:extLst>
          </p:cNvPr>
          <p:cNvSpPr/>
          <p:nvPr/>
        </p:nvSpPr>
        <p:spPr>
          <a:xfrm>
            <a:off x="3114"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79039" y="645792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358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984917" y="52566"/>
            <a:ext cx="863190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1.5.2 Guided Practice: Solving Equations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39771" y="2507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1415143" y="1386025"/>
            <a:ext cx="8972441"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Four algebraic equations are represented using algebra tiles.</a:t>
            </a:r>
          </a:p>
        </p:txBody>
      </p:sp>
      <p:sp>
        <p:nvSpPr>
          <p:cNvPr id="9" name="Google Shape;278;g104476d1465_1_17">
            <a:extLst>
              <a:ext uri="{FF2B5EF4-FFF2-40B4-BE49-F238E27FC236}">
                <a16:creationId xmlns:a16="http://schemas.microsoft.com/office/drawing/2014/main" id="{0D0C5ECD-32B3-814E-9ECE-3E62993CA726}"/>
              </a:ext>
            </a:extLst>
          </p:cNvPr>
          <p:cNvSpPr/>
          <p:nvPr/>
        </p:nvSpPr>
        <p:spPr>
          <a:xfrm>
            <a:off x="-2371" y="-3721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59410" y="2191447"/>
            <a:ext cx="6529212" cy="4080758"/>
          </a:xfrm>
          <a:prstGeom prst="rect">
            <a:avLst/>
          </a:prstGeom>
        </p:spPr>
      </p:pic>
    </p:spTree>
    <p:extLst>
      <p:ext uri="{BB962C8B-B14F-4D97-AF65-F5344CB8AC3E}">
        <p14:creationId xmlns:p14="http://schemas.microsoft.com/office/powerpoint/2010/main" val="541979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1841429" y="476608"/>
                <a:ext cx="7438249" cy="4093428"/>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Match the algebra tile model to the equations.</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Use the algebra tile models to determine the value of </a:t>
                </a:r>
                <a14:m>
                  <m:oMath xmlns:m="http://schemas.openxmlformats.org/officeDocument/2006/math">
                    <m:r>
                      <a:rPr lang="en-US" sz="2000" i="1">
                        <a:latin typeface="Cambria Math"/>
                        <a:ea typeface="Verdana" charset="0"/>
                        <a:cs typeface="Verdana" charset="0"/>
                      </a:rPr>
                      <m:t>𝑥</m:t>
                    </m:r>
                  </m:oMath>
                </a14:m>
                <a:r>
                  <a:rPr lang="en-US" sz="2000" dirty="0">
                    <a:latin typeface="Verdana" charset="0"/>
                    <a:ea typeface="Verdana" charset="0"/>
                    <a:cs typeface="Verdana" charset="0"/>
                  </a:rPr>
                  <a:t> in each equation. </a:t>
                </a:r>
              </a:p>
              <a:p>
                <a:pPr marL="457200" indent="-457200">
                  <a:buFont typeface="+mj-lt"/>
                  <a:buAutoNum type="alphaLcPeriod"/>
                </a:pPr>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1841429" y="476608"/>
                <a:ext cx="7438249" cy="4093428"/>
              </a:xfrm>
              <a:prstGeom prst="rect">
                <a:avLst/>
              </a:prstGeom>
              <a:blipFill>
                <a:blip r:embed="rId4"/>
                <a:stretch>
                  <a:fillRect l="-902" t="-104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245709275"/>
                  </p:ext>
                </p:extLst>
              </p:nvPr>
            </p:nvGraphicFramePr>
            <p:xfrm>
              <a:off x="3752850" y="1000263"/>
              <a:ext cx="4686300" cy="2194560"/>
            </p:xfrm>
            <a:graphic>
              <a:graphicData uri="http://schemas.openxmlformats.org/drawingml/2006/table">
                <a:tbl>
                  <a:tblPr firstRow="1" firstCol="1" bandRow="1"/>
                  <a:tblGrid>
                    <a:gridCol w="234315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tblGrid>
                  <a:tr h="365760">
                    <a:tc>
                      <a:txBody>
                        <a:bodyPr/>
                        <a:lstStyle/>
                        <a:p>
                          <a:pPr marL="0" marR="0" algn="ctr">
                            <a:spcBef>
                              <a:spcPts val="0"/>
                            </a:spcBef>
                            <a:spcAft>
                              <a:spcPts val="0"/>
                            </a:spcAft>
                          </a:pPr>
                          <a:r>
                            <a:rPr lang="en-US" sz="1800" b="1" dirty="0">
                              <a:effectLst/>
                              <a:latin typeface="Verdana" charset="0"/>
                              <a:ea typeface="Times New Roman" charset="0"/>
                              <a:cs typeface="Times New Roman" charset="0"/>
                            </a:rPr>
                            <a:t>Equation</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Model </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4</m:t>
                                </m:r>
                                <m:r>
                                  <a:rPr lang="en-US" sz="1800" i="1">
                                    <a:effectLst/>
                                    <a:latin typeface="Cambria Math" charset="0"/>
                                    <a:ea typeface="Times New Roman" charset="0"/>
                                    <a:cs typeface="Times New Roman" charset="0"/>
                                  </a:rPr>
                                  <m:t>𝑥</m:t>
                                </m:r>
                                <m:r>
                                  <a:rPr lang="en-US" sz="1800" i="1">
                                    <a:effectLst/>
                                    <a:latin typeface="Cambria Math" charset="0"/>
                                    <a:ea typeface="Times New Roman" charset="0"/>
                                    <a:cs typeface="Times New Roman" charset="0"/>
                                  </a:rPr>
                                  <m:t>=8</m:t>
                                </m:r>
                              </m:oMath>
                            </m:oMathPara>
                          </a14:m>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marR="0" algn="ctr">
                            <a:spcBef>
                              <a:spcPts val="0"/>
                            </a:spcBef>
                            <a:spcAft>
                              <a:spcPts val="0"/>
                            </a:spcAft>
                          </a:pPr>
                          <a14:m>
                            <m:oMath xmlns:m="http://schemas.openxmlformats.org/officeDocument/2006/math">
                              <m:f>
                                <m:fPr>
                                  <m:ctrlPr>
                                    <a:rPr lang="en-US" sz="1800" i="1">
                                      <a:effectLst/>
                                      <a:latin typeface="Cambria Math" panose="02040503050406030204" pitchFamily="18" charset="0"/>
                                      <a:ea typeface="Times New Roman" charset="0"/>
                                      <a:cs typeface="Times New Roman" charset="0"/>
                                    </a:rPr>
                                  </m:ctrlPr>
                                </m:fPr>
                                <m:num>
                                  <m:r>
                                    <a:rPr lang="en-US" sz="1800" i="1">
                                      <a:effectLst/>
                                      <a:latin typeface="Cambria Math" charset="0"/>
                                      <a:ea typeface="Times New Roman" charset="0"/>
                                      <a:cs typeface="Times New Roman" charset="0"/>
                                    </a:rPr>
                                    <m:t>𝑥</m:t>
                                  </m:r>
                                </m:num>
                                <m:den>
                                  <m:r>
                                    <a:rPr lang="en-US" sz="1800" i="1">
                                      <a:effectLst/>
                                      <a:latin typeface="Cambria Math" charset="0"/>
                                      <a:ea typeface="Times New Roman" charset="0"/>
                                      <a:cs typeface="Times New Roman" charset="0"/>
                                    </a:rPr>
                                    <m:t>4</m:t>
                                  </m:r>
                                </m:den>
                              </m:f>
                              <m:r>
                                <a:rPr lang="en-US" sz="1800" i="1">
                                  <a:effectLst/>
                                  <a:latin typeface="Cambria Math" charset="0"/>
                                  <a:ea typeface="Times New Roman" charset="0"/>
                                  <a:cs typeface="Times New Roman" charset="0"/>
                                </a:rPr>
                                <m:t>=8</m:t>
                              </m:r>
                            </m:oMath>
                          </a14:m>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8=</m:t>
                                </m:r>
                                <m:r>
                                  <a:rPr lang="en-US" sz="1800" i="1">
                                    <a:effectLst/>
                                    <a:latin typeface="Cambria Math" charset="0"/>
                                    <a:ea typeface="Times New Roman" charset="0"/>
                                    <a:cs typeface="Times New Roman" charset="0"/>
                                  </a:rPr>
                                  <m:t>𝑥</m:t>
                                </m:r>
                                <m:r>
                                  <a:rPr lang="en-US" sz="1800" i="1">
                                    <a:effectLst/>
                                    <a:latin typeface="Cambria Math" charset="0"/>
                                    <a:ea typeface="Times New Roman" charset="0"/>
                                    <a:cs typeface="Times New Roman" charset="0"/>
                                  </a:rPr>
                                  <m:t>+4</m:t>
                                </m:r>
                              </m:oMath>
                            </m:oMathPara>
                          </a14:m>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𝑥</m:t>
                                </m:r>
                                <m:r>
                                  <a:rPr lang="en-US" sz="1800" i="1">
                                    <a:effectLst/>
                                    <a:latin typeface="Cambria Math" charset="0"/>
                                    <a:ea typeface="Times New Roman" charset="0"/>
                                    <a:cs typeface="Times New Roman" charset="0"/>
                                  </a:rPr>
                                  <m:t>−4=8</m:t>
                                </m:r>
                              </m:oMath>
                            </m:oMathPara>
                          </a14:m>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245709275"/>
                  </p:ext>
                </p:extLst>
              </p:nvPr>
            </p:nvGraphicFramePr>
            <p:xfrm>
              <a:off x="3752850" y="1000263"/>
              <a:ext cx="4686300" cy="2194560"/>
            </p:xfrm>
            <a:graphic>
              <a:graphicData uri="http://schemas.openxmlformats.org/drawingml/2006/table">
                <a:tbl>
                  <a:tblPr firstRow="1" firstCol="1" bandRow="1"/>
                  <a:tblGrid>
                    <a:gridCol w="234315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tblGrid>
                  <a:tr h="365760">
                    <a:tc>
                      <a:txBody>
                        <a:bodyPr/>
                        <a:lstStyle/>
                        <a:p>
                          <a:pPr marL="0" marR="0" algn="ctr">
                            <a:spcBef>
                              <a:spcPts val="0"/>
                            </a:spcBef>
                            <a:spcAft>
                              <a:spcPts val="0"/>
                            </a:spcAft>
                          </a:pPr>
                          <a:r>
                            <a:rPr lang="en-US" sz="1800" b="1" dirty="0">
                              <a:effectLst/>
                              <a:latin typeface="Verdana" charset="0"/>
                              <a:ea typeface="Times New Roman" charset="0"/>
                              <a:cs typeface="Times New Roman" charset="0"/>
                            </a:rPr>
                            <a:t>Equation</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Model </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1" t="-86111" r="-100541" b="-305556"/>
                          </a:stretch>
                        </a:blipFill>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1" t="-181081" r="-100541" b="-197297"/>
                          </a:stretch>
                        </a:blipFill>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1" t="-288889" r="-100541" b="-102778"/>
                          </a:stretch>
                        </a:blipFill>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41" t="-388889" r="-100541" b="-2778"/>
                          </a:stretch>
                        </a:blipFill>
                      </a:tcPr>
                    </a:tc>
                    <a:tc>
                      <a:txBody>
                        <a:bodyPr/>
                        <a:lstStyle/>
                        <a:p>
                          <a:pPr marL="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11322454"/>
                  </p:ext>
                </p:extLst>
              </p:nvPr>
            </p:nvGraphicFramePr>
            <p:xfrm>
              <a:off x="3763360" y="4334678"/>
              <a:ext cx="4686300" cy="2194560"/>
            </p:xfrm>
            <a:graphic>
              <a:graphicData uri="http://schemas.openxmlformats.org/drawingml/2006/table">
                <a:tbl>
                  <a:tblPr firstRow="1" firstCol="1" bandRow="1"/>
                  <a:tblGrid>
                    <a:gridCol w="234315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tblGrid>
                  <a:tr h="365760">
                    <a:tc>
                      <a:txBody>
                        <a:bodyPr/>
                        <a:lstStyle/>
                        <a:p>
                          <a:pPr marL="0" marR="0" algn="ctr">
                            <a:spcBef>
                              <a:spcPts val="0"/>
                            </a:spcBef>
                            <a:spcAft>
                              <a:spcPts val="0"/>
                            </a:spcAft>
                          </a:pPr>
                          <a:r>
                            <a:rPr lang="en-US" sz="1800" b="1" dirty="0">
                              <a:effectLst/>
                              <a:latin typeface="Verdana" charset="0"/>
                              <a:ea typeface="Times New Roman" charset="0"/>
                              <a:cs typeface="Times New Roman" charset="0"/>
                            </a:rPr>
                            <a:t>Equation</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ea typeface="Times New Roman" charset="0"/>
                              <a:cs typeface="Times New Roman" charset="0"/>
                            </a:rPr>
                            <a:t>Value of </a:t>
                          </a:r>
                          <a14:m>
                            <m:oMath xmlns:m="http://schemas.openxmlformats.org/officeDocument/2006/math">
                              <m:r>
                                <a:rPr lang="en-US" sz="1800" b="1" i="1">
                                  <a:effectLst/>
                                  <a:latin typeface="Cambria Math" charset="0"/>
                                  <a:ea typeface="Times New Roman" charset="0"/>
                                  <a:cs typeface="Times New Roman" charset="0"/>
                                </a:rPr>
                                <m:t>𝒙</m:t>
                              </m:r>
                            </m:oMath>
                          </a14:m>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4</m:t>
                                </m:r>
                                <m:r>
                                  <a:rPr lang="en-US" sz="1800" i="1">
                                    <a:effectLst/>
                                    <a:latin typeface="Cambria Math" charset="0"/>
                                    <a:ea typeface="Times New Roman" charset="0"/>
                                    <a:cs typeface="Times New Roman" charset="0"/>
                                  </a:rPr>
                                  <m:t>𝑥</m:t>
                                </m:r>
                                <m:r>
                                  <a:rPr lang="en-US" sz="1800" i="1">
                                    <a:effectLst/>
                                    <a:latin typeface="Cambria Math" charset="0"/>
                                    <a:ea typeface="Times New Roman" charset="0"/>
                                    <a:cs typeface="Times New Roman" charset="0"/>
                                  </a:rPr>
                                  <m:t>=8</m:t>
                                </m:r>
                              </m:oMath>
                            </m:oMathPara>
                          </a14:m>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marR="0" algn="ctr">
                            <a:spcBef>
                              <a:spcPts val="0"/>
                            </a:spcBef>
                            <a:spcAft>
                              <a:spcPts val="0"/>
                            </a:spcAft>
                          </a:pPr>
                          <a14:m>
                            <m:oMath xmlns:m="http://schemas.openxmlformats.org/officeDocument/2006/math">
                              <m:f>
                                <m:fPr>
                                  <m:ctrlPr>
                                    <a:rPr lang="en-US" sz="1800" i="1">
                                      <a:effectLst/>
                                      <a:latin typeface="Cambria Math" panose="02040503050406030204" pitchFamily="18" charset="0"/>
                                      <a:ea typeface="Times New Roman" charset="0"/>
                                      <a:cs typeface="Times New Roman" charset="0"/>
                                    </a:rPr>
                                  </m:ctrlPr>
                                </m:fPr>
                                <m:num>
                                  <m:r>
                                    <a:rPr lang="en-US" sz="1800" i="1">
                                      <a:effectLst/>
                                      <a:latin typeface="Cambria Math" charset="0"/>
                                      <a:ea typeface="Times New Roman" charset="0"/>
                                      <a:cs typeface="Times New Roman" charset="0"/>
                                    </a:rPr>
                                    <m:t>𝑥</m:t>
                                  </m:r>
                                </m:num>
                                <m:den>
                                  <m:r>
                                    <a:rPr lang="en-US" sz="1800" i="1">
                                      <a:effectLst/>
                                      <a:latin typeface="Cambria Math" charset="0"/>
                                      <a:ea typeface="Times New Roman" charset="0"/>
                                      <a:cs typeface="Times New Roman" charset="0"/>
                                    </a:rPr>
                                    <m:t>4</m:t>
                                  </m:r>
                                </m:den>
                              </m:f>
                              <m:r>
                                <a:rPr lang="en-US" sz="1800" i="1">
                                  <a:effectLst/>
                                  <a:latin typeface="Cambria Math" charset="0"/>
                                  <a:ea typeface="Times New Roman" charset="0"/>
                                  <a:cs typeface="Times New Roman" charset="0"/>
                                </a:rPr>
                                <m:t>=8</m:t>
                              </m:r>
                            </m:oMath>
                          </a14:m>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8=</m:t>
                                </m:r>
                                <m:r>
                                  <a:rPr lang="en-US" sz="1800" i="1">
                                    <a:effectLst/>
                                    <a:latin typeface="Cambria Math" charset="0"/>
                                    <a:ea typeface="Times New Roman" charset="0"/>
                                    <a:cs typeface="Times New Roman" charset="0"/>
                                  </a:rPr>
                                  <m:t>𝑥</m:t>
                                </m:r>
                                <m:r>
                                  <a:rPr lang="en-US" sz="1800" i="1">
                                    <a:effectLst/>
                                    <a:latin typeface="Cambria Math" charset="0"/>
                                    <a:ea typeface="Times New Roman" charset="0"/>
                                    <a:cs typeface="Times New Roman" charset="0"/>
                                  </a:rPr>
                                  <m:t>+4</m:t>
                                </m:r>
                              </m:oMath>
                            </m:oMathPara>
                          </a14:m>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ea typeface="Times New Roman" charset="0"/>
                                    <a:cs typeface="Times New Roman" charset="0"/>
                                  </a:rPr>
                                  <m:t>𝑥</m:t>
                                </m:r>
                                <m:r>
                                  <a:rPr lang="en-US" sz="1800" i="1">
                                    <a:effectLst/>
                                    <a:latin typeface="Cambria Math" charset="0"/>
                                    <a:ea typeface="Times New Roman" charset="0"/>
                                    <a:cs typeface="Times New Roman" charset="0"/>
                                  </a:rPr>
                                  <m:t>−4=8</m:t>
                                </m:r>
                              </m:oMath>
                            </m:oMathPara>
                          </a14:m>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11322454"/>
                  </p:ext>
                </p:extLst>
              </p:nvPr>
            </p:nvGraphicFramePr>
            <p:xfrm>
              <a:off x="3763360" y="4334678"/>
              <a:ext cx="4686300" cy="2194560"/>
            </p:xfrm>
            <a:graphic>
              <a:graphicData uri="http://schemas.openxmlformats.org/drawingml/2006/table">
                <a:tbl>
                  <a:tblPr firstRow="1" firstCol="1" bandRow="1"/>
                  <a:tblGrid>
                    <a:gridCol w="234315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tblGrid>
                  <a:tr h="365760">
                    <a:tc>
                      <a:txBody>
                        <a:bodyPr/>
                        <a:lstStyle/>
                        <a:p>
                          <a:pPr marL="0" marR="0" algn="ctr">
                            <a:spcBef>
                              <a:spcPts val="0"/>
                            </a:spcBef>
                            <a:spcAft>
                              <a:spcPts val="0"/>
                            </a:spcAft>
                          </a:pPr>
                          <a:r>
                            <a:rPr lang="en-US" sz="1800" b="1" dirty="0">
                              <a:effectLst/>
                              <a:latin typeface="Verdana" charset="0"/>
                              <a:ea typeface="Times New Roman" charset="0"/>
                              <a:cs typeface="Times New Roman" charset="0"/>
                            </a:rPr>
                            <a:t>Equation</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0541" t="-6897" r="-541" b="-503448"/>
                          </a:stretch>
                        </a:blipFill>
                      </a:tcPr>
                    </a:tc>
                    <a:extLst>
                      <a:ext uri="{0D108BD9-81ED-4DB2-BD59-A6C34878D82A}">
                        <a16:rowId xmlns:a16="http://schemas.microsoft.com/office/drawing/2014/main" val="10000"/>
                      </a:ext>
                    </a:extLst>
                  </a:tr>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41" t="-86111" r="-100541" b="-305556"/>
                          </a:stretch>
                        </a:blipFill>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41" t="-181081" r="-100541" b="-197297"/>
                          </a:stretch>
                        </a:blipFill>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41" t="-288889" r="-100541" b="-102778"/>
                          </a:stretch>
                        </a:blipFill>
                      </a:tcPr>
                    </a:tc>
                    <a:tc>
                      <a:txBody>
                        <a:bodyPr/>
                        <a:lstStyle/>
                        <a:p>
                          <a:pPr marL="0" marR="0">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541" t="-388889" r="-100541" b="-2778"/>
                          </a:stretch>
                        </a:blipFill>
                      </a:tcPr>
                    </a:tc>
                    <a:tc>
                      <a:txBody>
                        <a:bodyPr/>
                        <a:lstStyle/>
                        <a:p>
                          <a:pPr marL="0" marR="0">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116389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26</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1800655" y="870280"/>
                <a:ext cx="7542475" cy="2554545"/>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Choose one of the equations and explain how you determined the value of </a:t>
                </a:r>
                <a14:m>
                  <m:oMath xmlns:m="http://schemas.openxmlformats.org/officeDocument/2006/math">
                    <m:r>
                      <a:rPr lang="en-US" sz="2000" i="1">
                        <a:latin typeface="Cambria Math"/>
                        <a:ea typeface="Verdana" charset="0"/>
                        <a:cs typeface="Verdana" charset="0"/>
                      </a:rPr>
                      <m:t>𝑥</m:t>
                    </m:r>
                  </m:oMath>
                </a14:m>
                <a:r>
                  <a:rPr lang="en-US" sz="2000" dirty="0">
                    <a:latin typeface="Verdana" charset="0"/>
                    <a:ea typeface="Verdana" charset="0"/>
                    <a:cs typeface="Verdana" charset="0"/>
                  </a:rPr>
                  <a:t> from the model.</a:t>
                </a:r>
                <a:br>
                  <a:rPr lang="en-US" sz="2000" dirty="0">
                    <a:latin typeface="Verdana" charset="0"/>
                    <a:ea typeface="Verdana" charset="0"/>
                    <a:cs typeface="Verdana" charset="0"/>
                  </a:rPr>
                </a:br>
                <a:br>
                  <a:rPr lang="en-US" sz="2000" dirty="0">
                    <a:latin typeface="Verdana" charset="0"/>
                    <a:ea typeface="Verdana" charset="0"/>
                    <a:cs typeface="Verdana" charset="0"/>
                  </a:rPr>
                </a:br>
                <a:br>
                  <a:rPr lang="en-US" sz="2000" dirty="0">
                    <a:latin typeface="Verdana" charset="0"/>
                    <a:ea typeface="Verdana" charset="0"/>
                    <a:cs typeface="Verdana" charset="0"/>
                  </a:rPr>
                </a:br>
                <a:endParaRPr lang="en-US" sz="2000" dirty="0">
                  <a:latin typeface="Verdana" charset="0"/>
                  <a:ea typeface="Verdana" charset="0"/>
                  <a:cs typeface="Verdana" charset="0"/>
                </a:endParaRPr>
              </a:p>
              <a:p>
                <a:pPr marL="457200"/>
                <a:r>
                  <a:rPr lang="en-US" sz="2000" dirty="0">
                    <a:latin typeface="Verdana" charset="0"/>
                    <a:ea typeface="Times New Roman" charset="0"/>
                    <a:cs typeface="Times New Roman" charset="0"/>
                  </a:rPr>
                  <a:t>When finding the solution to an equation, </a:t>
                </a:r>
                <a:r>
                  <a:rPr lang="en-US" sz="2000" b="1" i="1" dirty="0">
                    <a:latin typeface="Verdana" charset="0"/>
                    <a:ea typeface="Times New Roman" charset="0"/>
                    <a:cs typeface="Times New Roman" charset="0"/>
                  </a:rPr>
                  <a:t>inverse operations</a:t>
                </a:r>
                <a:r>
                  <a:rPr lang="en-US" sz="2000" dirty="0">
                    <a:latin typeface="Verdana" charset="0"/>
                    <a:ea typeface="Times New Roman" charset="0"/>
                    <a:cs typeface="Times New Roman" charset="0"/>
                  </a:rPr>
                  <a:t> are used to balance an equation. </a:t>
                </a:r>
                <a:endParaRPr lang="en-US" sz="2000" dirty="0">
                  <a:latin typeface="Cambria" charset="0"/>
                  <a:ea typeface="Times New Roman" charset="0"/>
                  <a:cs typeface="Times New Roman" charset="0"/>
                </a:endParaRPr>
              </a:p>
              <a:p>
                <a:pPr marL="457200" indent="-457200">
                  <a:buFont typeface="+mj-lt"/>
                  <a:buAutoNum type="alphaLcPeriod" startAt="3"/>
                </a:pPr>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1800655" y="870280"/>
                <a:ext cx="7542475" cy="2554545"/>
              </a:xfrm>
              <a:prstGeom prst="rect">
                <a:avLst/>
              </a:prstGeom>
              <a:blipFill>
                <a:blip r:embed="rId4"/>
                <a:stretch>
                  <a:fillRect l="-889" t="-167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 Box 24"/>
          <p:cNvSpPr txBox="1"/>
          <p:nvPr/>
        </p:nvSpPr>
        <p:spPr>
          <a:xfrm>
            <a:off x="2680050" y="3497396"/>
            <a:ext cx="5951700" cy="962569"/>
          </a:xfrm>
          <a:prstGeom prst="roundRect">
            <a:avLst/>
          </a:prstGeom>
          <a:solidFill>
            <a:srgbClr val="E2EFD6"/>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144000" tIns="108000" rIns="144000" bIns="144000" numCol="1" spcCol="0" rtlCol="0" fromWordArt="0" anchor="ctr" anchorCtr="0" forceAA="0" compatLnSpc="1">
            <a:prstTxWarp prst="textNoShape">
              <a:avLst/>
            </a:prstTxWarp>
            <a:spAutoFit/>
          </a:bodyPr>
          <a:lstStyle/>
          <a:p>
            <a:r>
              <a:rPr lang="en-US" sz="2000" dirty="0">
                <a:solidFill>
                  <a:srgbClr val="6E973D"/>
                </a:solidFill>
                <a:latin typeface="Verdana" pitchFamily="34" charset="0"/>
                <a:ea typeface="Verdana" pitchFamily="34" charset="0"/>
              </a:rPr>
              <a:t>An </a:t>
            </a:r>
            <a:r>
              <a:rPr lang="en-US" sz="2000" b="1" i="1" dirty="0">
                <a:solidFill>
                  <a:srgbClr val="6E973D"/>
                </a:solidFill>
                <a:latin typeface="Verdana" pitchFamily="34" charset="0"/>
                <a:ea typeface="Verdana" pitchFamily="34" charset="0"/>
              </a:rPr>
              <a:t>inverse operation</a:t>
            </a:r>
            <a:r>
              <a:rPr lang="en-US" sz="2000" dirty="0">
                <a:solidFill>
                  <a:srgbClr val="6E973D"/>
                </a:solidFill>
                <a:latin typeface="Verdana" pitchFamily="34" charset="0"/>
                <a:ea typeface="Verdana" pitchFamily="34" charset="0"/>
              </a:rPr>
              <a:t> is an operation that reverses the effect of another operation.</a:t>
            </a:r>
          </a:p>
        </p:txBody>
      </p:sp>
    </p:spTree>
    <p:extLst>
      <p:ext uri="{BB962C8B-B14F-4D97-AF65-F5344CB8AC3E}">
        <p14:creationId xmlns:p14="http://schemas.microsoft.com/office/powerpoint/2010/main" val="1840680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1370343" y="267651"/>
                <a:ext cx="8327136" cy="5940088"/>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Using the definition of inverse operations, complete the table to indicate which operation would reverse the given operation.</a:t>
                </a: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r>
                  <a:rPr lang="en-US" sz="2000" dirty="0">
                    <a:latin typeface="Verdana" charset="0"/>
                    <a:ea typeface="Verdana" charset="0"/>
                    <a:cs typeface="Verdana" charset="0"/>
                  </a:rPr>
                  <a:t>Use the equation </a:t>
                </a:r>
                <a14:m>
                  <m:oMath xmlns:m="http://schemas.openxmlformats.org/officeDocument/2006/math">
                    <m:r>
                      <a:rPr lang="en-US" sz="2000" i="1">
                        <a:latin typeface="Cambria Math"/>
                        <a:ea typeface="Verdana" charset="0"/>
                        <a:cs typeface="Verdana" charset="0"/>
                      </a:rPr>
                      <m:t>21=7</m:t>
                    </m:r>
                    <m:r>
                      <a:rPr lang="en-US" sz="2000" i="1">
                        <a:latin typeface="Cambria Math"/>
                        <a:ea typeface="Verdana" charset="0"/>
                        <a:cs typeface="Verdana" charset="0"/>
                      </a:rPr>
                      <m:t>h</m:t>
                    </m:r>
                  </m:oMath>
                </a14:m>
                <a:r>
                  <a:rPr lang="en-US" sz="2000" dirty="0">
                    <a:latin typeface="Verdana" charset="0"/>
                    <a:ea typeface="Verdana" charset="0"/>
                    <a:cs typeface="Verdana" charset="0"/>
                  </a:rPr>
                  <a:t> to complete the following. </a:t>
                </a:r>
              </a:p>
              <a:p>
                <a:pPr marL="457200" indent="-457200">
                  <a:buFont typeface="+mj-lt"/>
                  <a:buAutoNum type="arabicPeriod" startAt="2"/>
                </a:pPr>
                <a:endParaRPr lang="en-US" sz="2000" dirty="0">
                  <a:latin typeface="Verdana" charset="0"/>
                  <a:ea typeface="Verdana" charset="0"/>
                  <a:cs typeface="Verdana" charset="0"/>
                </a:endParaRPr>
              </a:p>
              <a:p>
                <a:pPr marL="452438" indent="441325">
                  <a:buFont typeface="+mj-lt"/>
                  <a:buAutoNum type="alphaLcPeriod"/>
                </a:pPr>
                <a:r>
                  <a:rPr lang="en-US" sz="2000" dirty="0">
                    <a:latin typeface="Verdana" charset="0"/>
                    <a:ea typeface="Verdana" charset="0"/>
                    <a:cs typeface="Verdana" charset="0"/>
                  </a:rPr>
                  <a:t>What mathematical operation is represented by </a:t>
                </a:r>
                <a14:m>
                  <m:oMath xmlns:m="http://schemas.openxmlformats.org/officeDocument/2006/math">
                    <m:r>
                      <a:rPr lang="en-US" sz="2000" i="1">
                        <a:latin typeface="Cambria Math"/>
                        <a:ea typeface="Verdana" charset="0"/>
                        <a:cs typeface="Verdana" charset="0"/>
                      </a:rPr>
                      <m:t>7</m:t>
                    </m:r>
                    <m:r>
                      <a:rPr lang="en-US" sz="2000" i="1">
                        <a:latin typeface="Cambria Math"/>
                        <a:ea typeface="Verdana" charset="0"/>
                        <a:cs typeface="Verdana" charset="0"/>
                      </a:rPr>
                      <m:t>h</m:t>
                    </m:r>
                  </m:oMath>
                </a14:m>
                <a:r>
                  <a:rPr lang="en-US" sz="2000" dirty="0">
                    <a:latin typeface="Verdana" charset="0"/>
                    <a:ea typeface="Verdana" charset="0"/>
                    <a:cs typeface="Verdana" charset="0"/>
                  </a:rPr>
                  <a:t>?</a:t>
                </a:r>
              </a:p>
              <a:p>
                <a:pPr marL="452438" indent="441325">
                  <a:buFont typeface="+mj-lt"/>
                  <a:buAutoNum type="alphaLcPeriod"/>
                </a:pPr>
                <a:endParaRPr lang="en-US" sz="2000" dirty="0">
                  <a:latin typeface="Verdana" charset="0"/>
                  <a:ea typeface="Verdana" charset="0"/>
                  <a:cs typeface="Verdana" charset="0"/>
                </a:endParaRPr>
              </a:p>
              <a:p>
                <a:pPr marL="452438" indent="441325">
                  <a:buFont typeface="+mj-lt"/>
                  <a:buAutoNum type="alphaLcPeriod"/>
                </a:pPr>
                <a:endParaRPr lang="en-US" sz="2000" dirty="0">
                  <a:latin typeface="Verdana" charset="0"/>
                  <a:ea typeface="Verdana" charset="0"/>
                  <a:cs typeface="Verdana" charset="0"/>
                </a:endParaRPr>
              </a:p>
              <a:p>
                <a:pPr marL="452438" indent="441325">
                  <a:buFont typeface="+mj-lt"/>
                  <a:buAutoNum type="alphaLcPeriod"/>
                </a:pPr>
                <a:r>
                  <a:rPr lang="en-US" sz="2000" dirty="0">
                    <a:latin typeface="Verdana" charset="0"/>
                    <a:ea typeface="Verdana" charset="0"/>
                    <a:cs typeface="Verdana" charset="0"/>
                  </a:rPr>
                  <a:t>What is the inverse operation?</a:t>
                </a: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1370343" y="267651"/>
                <a:ext cx="8327136" cy="5940088"/>
              </a:xfrm>
              <a:prstGeom prst="rect">
                <a:avLst/>
              </a:prstGeom>
              <a:blipFill>
                <a:blip r:embed="rId4"/>
                <a:stretch>
                  <a:fillRect l="-805" t="-719" b="-92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104509564"/>
                  </p:ext>
                </p:extLst>
              </p:nvPr>
            </p:nvGraphicFramePr>
            <p:xfrm>
              <a:off x="2232099" y="1507680"/>
              <a:ext cx="7465380" cy="2554560"/>
            </p:xfrm>
            <a:graphic>
              <a:graphicData uri="http://schemas.openxmlformats.org/drawingml/2006/table">
                <a:tbl>
                  <a:tblPr firstRow="1" firstCol="1" bandRow="1"/>
                  <a:tblGrid>
                    <a:gridCol w="3732690">
                      <a:extLst>
                        <a:ext uri="{9D8B030D-6E8A-4147-A177-3AD203B41FA5}">
                          <a16:colId xmlns:a16="http://schemas.microsoft.com/office/drawing/2014/main" val="20000"/>
                        </a:ext>
                      </a:extLst>
                    </a:gridCol>
                    <a:gridCol w="3732690">
                      <a:extLst>
                        <a:ext uri="{9D8B030D-6E8A-4147-A177-3AD203B41FA5}">
                          <a16:colId xmlns:a16="http://schemas.microsoft.com/office/drawing/2014/main" val="20001"/>
                        </a:ext>
                      </a:extLst>
                    </a:gridCol>
                  </a:tblGrid>
                  <a:tr h="360000">
                    <a:tc>
                      <a:txBody>
                        <a:bodyPr/>
                        <a:lstStyle/>
                        <a:p>
                          <a:pPr marL="0" marR="0" algn="ctr">
                            <a:spcBef>
                              <a:spcPts val="0"/>
                            </a:spcBef>
                            <a:spcAft>
                              <a:spcPts val="0"/>
                            </a:spcAft>
                          </a:pPr>
                          <a:r>
                            <a:rPr lang="en-US" sz="1800" b="1" dirty="0">
                              <a:effectLst/>
                              <a:latin typeface="Verdana" charset="0"/>
                              <a:ea typeface="Times New Roman" charset="0"/>
                              <a:cs typeface="Times New Roman" charset="0"/>
                            </a:rPr>
                            <a:t>Operation</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dirty="0">
                              <a:solidFill>
                                <a:srgbClr val="000000"/>
                              </a:solidFill>
                              <a:effectLst/>
                              <a:latin typeface="Verdana" charset="0"/>
                              <a:ea typeface="Times New Roman" charset="0"/>
                              <a:cs typeface="Times New Roman" charset="0"/>
                            </a:rPr>
                            <a:t>Inverse Operation</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61104">
                    <a:tc>
                      <a:txBody>
                        <a:bodyPr/>
                        <a:lstStyle/>
                        <a:p>
                          <a:pPr marL="0" marR="0" algn="ctr">
                            <a:spcBef>
                              <a:spcPts val="0"/>
                            </a:spcBef>
                            <a:spcAft>
                              <a:spcPts val="0"/>
                            </a:spcAft>
                          </a:pPr>
                          <a:r>
                            <a:rPr lang="en-US" sz="1800" dirty="0">
                              <a:effectLst/>
                              <a:latin typeface="Verdana" charset="0"/>
                              <a:ea typeface="Times New Roman" charset="0"/>
                              <a:cs typeface="Times New Roman" charset="0"/>
                            </a:rPr>
                            <a:t>Subtraction</a:t>
                          </a:r>
                          <a:endParaRPr lang="en-US" sz="1200" dirty="0">
                            <a:effectLst/>
                            <a:latin typeface="Cambria" charset="0"/>
                            <a:ea typeface="Times New Roman" charset="0"/>
                            <a:cs typeface="Times New Roman" charset="0"/>
                          </a:endParaRPr>
                        </a:p>
                        <a:p>
                          <a:pPr marL="0" marR="0" algn="ctr">
                            <a:spcBef>
                              <a:spcPts val="0"/>
                            </a:spcBef>
                            <a:spcAft>
                              <a:spcPts val="0"/>
                            </a:spcAft>
                          </a:pPr>
                          <a:r>
                            <a:rPr lang="en-US" sz="1800" dirty="0">
                              <a:effectLst/>
                              <a:latin typeface="Verdana" charset="0"/>
                              <a:ea typeface="Times New Roman" charset="0"/>
                              <a:cs typeface="Times New Roman" charset="0"/>
                            </a:rPr>
                            <a:t> (</a:t>
                          </a:r>
                          <a14:m>
                            <m:oMath xmlns:m="http://schemas.openxmlformats.org/officeDocument/2006/math">
                              <m:r>
                                <a:rPr lang="en-US" sz="1800" i="1">
                                  <a:effectLst/>
                                  <a:latin typeface="Cambria Math" charset="0"/>
                                  <a:ea typeface="Times New Roman" charset="0"/>
                                  <a:cs typeface="Times New Roman" charset="0"/>
                                </a:rPr>
                                <m:t>−3</m:t>
                              </m:r>
                            </m:oMath>
                          </a14:m>
                          <a:r>
                            <a:rPr lang="en-US" sz="1800" dirty="0">
                              <a:effectLst/>
                              <a:latin typeface="Verdana" charset="0"/>
                              <a:ea typeface="Times New Roman" charset="0"/>
                              <a:cs typeface="Times New Roman" charset="0"/>
                            </a:rPr>
                            <a:t>)</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1104">
                    <a:tc>
                      <a:txBody>
                        <a:bodyPr/>
                        <a:lstStyle/>
                        <a:p>
                          <a:pPr marL="0" marR="0" algn="ctr">
                            <a:spcBef>
                              <a:spcPts val="0"/>
                            </a:spcBef>
                            <a:spcAft>
                              <a:spcPts val="0"/>
                            </a:spcAft>
                          </a:pPr>
                          <a:r>
                            <a:rPr lang="en-US" sz="1800">
                              <a:effectLst/>
                              <a:latin typeface="Verdana" charset="0"/>
                              <a:ea typeface="Times New Roman" charset="0"/>
                              <a:cs typeface="Times New Roman" charset="0"/>
                            </a:rPr>
                            <a:t>Addition </a:t>
                          </a:r>
                          <a:endParaRPr lang="en-US" sz="1200">
                            <a:effectLst/>
                            <a:latin typeface="Cambria" charset="0"/>
                            <a:ea typeface="Times New Roman" charset="0"/>
                            <a:cs typeface="Times New Roman" charset="0"/>
                          </a:endParaRPr>
                        </a:p>
                        <a:p>
                          <a:pPr marL="0" marR="0" algn="ctr">
                            <a:spcBef>
                              <a:spcPts val="0"/>
                            </a:spcBef>
                            <a:spcAft>
                              <a:spcPts val="0"/>
                            </a:spcAft>
                          </a:pPr>
                          <a:r>
                            <a:rPr lang="en-US" sz="1800">
                              <a:effectLst/>
                              <a:latin typeface="Verdana" charset="0"/>
                              <a:ea typeface="Times New Roman" charset="0"/>
                              <a:cs typeface="Times New Roman" charset="0"/>
                            </a:rPr>
                            <a:t>(</a:t>
                          </a:r>
                          <a14:m>
                            <m:oMath xmlns:m="http://schemas.openxmlformats.org/officeDocument/2006/math">
                              <m:r>
                                <a:rPr lang="en-US" sz="1800" i="1">
                                  <a:effectLst/>
                                  <a:latin typeface="Cambria Math" charset="0"/>
                                  <a:ea typeface="Times New Roman" charset="0"/>
                                  <a:cs typeface="Times New Roman" charset="0"/>
                                </a:rPr>
                                <m:t>+6</m:t>
                              </m:r>
                            </m:oMath>
                          </a14:m>
                          <a:r>
                            <a:rPr lang="en-US" sz="1800">
                              <a:effectLst/>
                              <a:latin typeface="Verdana" charset="0"/>
                              <a:ea typeface="Times New Roman" charset="0"/>
                              <a:cs typeface="Times New Roman" charset="0"/>
                            </a:rPr>
                            <a:t>)</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1104">
                    <a:tc>
                      <a:txBody>
                        <a:bodyPr/>
                        <a:lstStyle/>
                        <a:p>
                          <a:pPr marL="0" marR="0" algn="ctr">
                            <a:spcBef>
                              <a:spcPts val="0"/>
                            </a:spcBef>
                            <a:spcAft>
                              <a:spcPts val="0"/>
                            </a:spcAft>
                          </a:pPr>
                          <a:r>
                            <a:rPr lang="en-US" sz="1800">
                              <a:effectLst/>
                              <a:latin typeface="Verdana" charset="0"/>
                              <a:ea typeface="Times New Roman" charset="0"/>
                              <a:cs typeface="Times New Roman" charset="0"/>
                            </a:rPr>
                            <a:t>Multiplication </a:t>
                          </a:r>
                          <a:endParaRPr lang="en-US" sz="1200">
                            <a:effectLst/>
                            <a:latin typeface="Cambria" charset="0"/>
                            <a:ea typeface="Times New Roman" charset="0"/>
                            <a:cs typeface="Times New Roman" charset="0"/>
                          </a:endParaRPr>
                        </a:p>
                        <a:p>
                          <a:pPr marL="0" marR="0" algn="ctr">
                            <a:spcBef>
                              <a:spcPts val="0"/>
                            </a:spcBef>
                            <a:spcAft>
                              <a:spcPts val="0"/>
                            </a:spcAft>
                          </a:pPr>
                          <a:r>
                            <a:rPr lang="en-US" sz="1800">
                              <a:effectLst/>
                              <a:latin typeface="Verdana" charset="0"/>
                              <a:ea typeface="Times New Roman" charset="0"/>
                              <a:cs typeface="Times New Roman" charset="0"/>
                            </a:rPr>
                            <a:t>(</a:t>
                          </a:r>
                          <a14:m>
                            <m:oMath xmlns:m="http://schemas.openxmlformats.org/officeDocument/2006/math">
                              <m:r>
                                <a:rPr lang="en-US" sz="1800" i="1">
                                  <a:effectLst/>
                                  <a:latin typeface="Cambria Math" charset="0"/>
                                  <a:ea typeface="Times New Roman" charset="0"/>
                                  <a:cs typeface="Times New Roman" charset="0"/>
                                </a:rPr>
                                <m:t>×1.5</m:t>
                              </m:r>
                            </m:oMath>
                          </a14:m>
                          <a:r>
                            <a:rPr lang="en-US" sz="1800">
                              <a:effectLst/>
                              <a:latin typeface="Verdana" charset="0"/>
                              <a:ea typeface="Times New Roman" charset="0"/>
                              <a:cs typeface="Times New Roman" charset="0"/>
                            </a:rPr>
                            <a:t>)</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1104">
                    <a:tc>
                      <a:txBody>
                        <a:bodyPr/>
                        <a:lstStyle/>
                        <a:p>
                          <a:pPr marL="0" marR="0" algn="ctr">
                            <a:spcBef>
                              <a:spcPts val="0"/>
                            </a:spcBef>
                            <a:spcAft>
                              <a:spcPts val="0"/>
                            </a:spcAft>
                          </a:pPr>
                          <a:r>
                            <a:rPr lang="en-US" sz="1800" dirty="0">
                              <a:effectLst/>
                              <a:latin typeface="Verdana" charset="0"/>
                              <a:ea typeface="Times New Roman" charset="0"/>
                              <a:cs typeface="Times New Roman" charset="0"/>
                            </a:rPr>
                            <a:t>Division </a:t>
                          </a:r>
                          <a:endParaRPr lang="en-US" sz="1200" dirty="0">
                            <a:effectLst/>
                            <a:latin typeface="Cambria" charset="0"/>
                            <a:ea typeface="Times New Roman" charset="0"/>
                            <a:cs typeface="Times New Roman" charset="0"/>
                          </a:endParaRPr>
                        </a:p>
                        <a:p>
                          <a:pPr marL="0" marR="0" algn="ctr">
                            <a:spcBef>
                              <a:spcPts val="0"/>
                            </a:spcBef>
                            <a:spcAft>
                              <a:spcPts val="0"/>
                            </a:spcAft>
                          </a:pPr>
                          <a:r>
                            <a:rPr lang="en-US" sz="1800" dirty="0">
                              <a:effectLst/>
                              <a:latin typeface="Verdana" charset="0"/>
                              <a:ea typeface="Times New Roman" charset="0"/>
                              <a:cs typeface="Times New Roman" charset="0"/>
                            </a:rPr>
                            <a:t>(</a:t>
                          </a:r>
                          <a14:m>
                            <m:oMath xmlns:m="http://schemas.openxmlformats.org/officeDocument/2006/math">
                              <m:r>
                                <a:rPr lang="en-US" sz="1800" i="1">
                                  <a:effectLst/>
                                  <a:latin typeface="Cambria Math" charset="0"/>
                                  <a:ea typeface="Times New Roman" charset="0"/>
                                  <a:cs typeface="Times New Roman" charset="0"/>
                                </a:rPr>
                                <m:t>÷10</m:t>
                              </m:r>
                            </m:oMath>
                          </a14:m>
                          <a:r>
                            <a:rPr lang="en-US" sz="1800" dirty="0">
                              <a:effectLst/>
                              <a:latin typeface="Verdana" charset="0"/>
                              <a:ea typeface="Times New Roman" charset="0"/>
                              <a:cs typeface="Times New Roman" charset="0"/>
                            </a:rPr>
                            <a:t>)</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104509564"/>
                  </p:ext>
                </p:extLst>
              </p:nvPr>
            </p:nvGraphicFramePr>
            <p:xfrm>
              <a:off x="2232099" y="1507680"/>
              <a:ext cx="7465380" cy="2554560"/>
            </p:xfrm>
            <a:graphic>
              <a:graphicData uri="http://schemas.openxmlformats.org/drawingml/2006/table">
                <a:tbl>
                  <a:tblPr firstRow="1" firstCol="1" bandRow="1"/>
                  <a:tblGrid>
                    <a:gridCol w="3732690">
                      <a:extLst>
                        <a:ext uri="{9D8B030D-6E8A-4147-A177-3AD203B41FA5}">
                          <a16:colId xmlns:a16="http://schemas.microsoft.com/office/drawing/2014/main" val="20000"/>
                        </a:ext>
                      </a:extLst>
                    </a:gridCol>
                    <a:gridCol w="3732690">
                      <a:extLst>
                        <a:ext uri="{9D8B030D-6E8A-4147-A177-3AD203B41FA5}">
                          <a16:colId xmlns:a16="http://schemas.microsoft.com/office/drawing/2014/main" val="20001"/>
                        </a:ext>
                      </a:extLst>
                    </a:gridCol>
                  </a:tblGrid>
                  <a:tr h="360000">
                    <a:tc>
                      <a:txBody>
                        <a:bodyPr/>
                        <a:lstStyle/>
                        <a:p>
                          <a:pPr marL="0" marR="0" algn="ctr">
                            <a:spcBef>
                              <a:spcPts val="0"/>
                            </a:spcBef>
                            <a:spcAft>
                              <a:spcPts val="0"/>
                            </a:spcAft>
                          </a:pPr>
                          <a:r>
                            <a:rPr lang="en-US" sz="1800" b="1" dirty="0">
                              <a:effectLst/>
                              <a:latin typeface="Verdana" charset="0"/>
                              <a:ea typeface="Times New Roman" charset="0"/>
                              <a:cs typeface="Times New Roman" charset="0"/>
                            </a:rPr>
                            <a:t>Operation</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dirty="0">
                              <a:solidFill>
                                <a:srgbClr val="000000"/>
                              </a:solidFill>
                              <a:effectLst/>
                              <a:latin typeface="Verdana" charset="0"/>
                              <a:ea typeface="Times New Roman" charset="0"/>
                              <a:cs typeface="Times New Roman" charset="0"/>
                            </a:rPr>
                            <a:t>Inverse Operation</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4864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3" t="-72222" r="-100163" b="-326667"/>
                          </a:stretch>
                        </a:blipFill>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3" t="-170330" r="-100163" b="-223077"/>
                          </a:stretch>
                        </a:blipFill>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3" t="-273333" r="-100163" b="-125556"/>
                          </a:stretch>
                        </a:blipFill>
                      </a:tcPr>
                    </a:tc>
                    <a:tc>
                      <a:txBody>
                        <a:bodyPr/>
                        <a:lstStyle/>
                        <a:p>
                          <a:pPr marL="0" marR="0" algn="ctr">
                            <a:spcBef>
                              <a:spcPts val="0"/>
                            </a:spcBef>
                            <a:spcAft>
                              <a:spcPts val="0"/>
                            </a:spcAft>
                          </a:pPr>
                          <a:r>
                            <a:rPr lang="en-US" sz="1800">
                              <a:effectLst/>
                              <a:latin typeface="Verdana" charset="0"/>
                              <a:ea typeface="Times New Roman" charset="0"/>
                              <a:cs typeface="Times New Roman" charset="0"/>
                            </a:rPr>
                            <a:t> </a:t>
                          </a:r>
                          <a:endParaRPr lang="en-US" sz="120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3" t="-373333" r="-100163" b="-25556"/>
                          </a:stretch>
                        </a:blipFill>
                      </a:tcPr>
                    </a:tc>
                    <a:tc>
                      <a:txBody>
                        <a:bodyPr/>
                        <a:lstStyle/>
                        <a:p>
                          <a:pPr marL="0" marR="0" algn="ctr">
                            <a:spcBef>
                              <a:spcPts val="0"/>
                            </a:spcBef>
                            <a:spcAft>
                              <a:spcPts val="0"/>
                            </a:spcAft>
                          </a:pPr>
                          <a:r>
                            <a:rPr lang="en-US" sz="1800" dirty="0">
                              <a:effectLst/>
                              <a:latin typeface="Verdana" charset="0"/>
                              <a:ea typeface="Times New Roman" charset="0"/>
                              <a:cs typeface="Times New Roman" charset="0"/>
                            </a:rPr>
                            <a:t> </a:t>
                          </a:r>
                          <a:endParaRPr lang="en-US" sz="12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668204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1263359" y="762557"/>
                <a:ext cx="8327136" cy="5324535"/>
              </a:xfrm>
              <a:prstGeom prst="rect">
                <a:avLst/>
              </a:prstGeom>
              <a:noFill/>
            </p:spPr>
            <p:txBody>
              <a:bodyPr wrap="square" rtlCol="0">
                <a:spAutoFit/>
              </a:bodyPr>
              <a:lstStyle/>
              <a:p>
                <a:pPr marL="893763" indent="-441325">
                  <a:buFont typeface="+mj-lt"/>
                  <a:buAutoNum type="alphaLcPeriod" startAt="3"/>
                </a:pPr>
                <a:r>
                  <a:rPr lang="en-US" sz="2000" dirty="0">
                    <a:latin typeface="Verdana" charset="0"/>
                    <a:ea typeface="Verdana" charset="0"/>
                    <a:cs typeface="Verdana" charset="0"/>
                  </a:rPr>
                  <a:t>Perform the inverse operation on both sides of the equation. Show your work.</a:t>
                </a:r>
                <a:br>
                  <a:rPr lang="en-US" sz="2000" dirty="0">
                    <a:latin typeface="Verdana" charset="0"/>
                    <a:ea typeface="Verdana" charset="0"/>
                    <a:cs typeface="Verdana" charset="0"/>
                  </a:rPr>
                </a:br>
                <a:br>
                  <a:rPr lang="en-US" sz="2000" dirty="0">
                    <a:latin typeface="Verdana" charset="0"/>
                    <a:ea typeface="Verdana" charset="0"/>
                    <a:cs typeface="Verdana" charset="0"/>
                  </a:rPr>
                </a:br>
                <a14:m>
                  <m:oMath xmlns:m="http://schemas.openxmlformats.org/officeDocument/2006/math">
                    <m:r>
                      <a:rPr lang="en-US" sz="2000">
                        <a:latin typeface="Cambria Math" charset="0"/>
                      </a:rPr>
                      <m:t>21=7</m:t>
                    </m:r>
                    <m:r>
                      <a:rPr lang="en-US" sz="2000" i="1">
                        <a:latin typeface="Cambria Math" charset="0"/>
                      </a:rPr>
                      <m:t>h</m:t>
                    </m:r>
                    <m:r>
                      <a:rPr lang="en-US" sz="2000">
                        <a:latin typeface="Cambria Math" charset="0"/>
                      </a:rPr>
                      <m:t> </m:t>
                    </m:r>
                  </m:oMath>
                </a14:m>
                <a:endParaRPr lang="en-US" sz="2000" dirty="0"/>
              </a:p>
              <a:p>
                <a:pPr marL="893763" indent="-441325">
                  <a:buFont typeface="+mj-lt"/>
                  <a:buAutoNum type="alphaLcPeriod" startAt="3"/>
                </a:pPr>
                <a:endParaRPr lang="en-US" sz="2000" dirty="0">
                  <a:latin typeface="Verdana" charset="0"/>
                  <a:ea typeface="Verdana" charset="0"/>
                  <a:cs typeface="Verdana" charset="0"/>
                </a:endParaRPr>
              </a:p>
              <a:p>
                <a:pPr marL="893763" indent="-441325">
                  <a:buFont typeface="+mj-lt"/>
                  <a:buAutoNum type="alphaLcPeriod" startAt="3"/>
                </a:pPr>
                <a:endParaRPr lang="en-US" sz="2000" dirty="0">
                  <a:latin typeface="Verdana" charset="0"/>
                  <a:ea typeface="Verdana" charset="0"/>
                  <a:cs typeface="Verdana" charset="0"/>
                </a:endParaRPr>
              </a:p>
              <a:p>
                <a:pPr marL="893763" indent="-441325">
                  <a:buFont typeface="+mj-lt"/>
                  <a:buAutoNum type="alphaLcPeriod" startAt="3"/>
                </a:pPr>
                <a:endParaRPr lang="en-US" sz="2000" dirty="0">
                  <a:latin typeface="Verdana" charset="0"/>
                  <a:ea typeface="Verdana" charset="0"/>
                  <a:cs typeface="Verdana" charset="0"/>
                </a:endParaRPr>
              </a:p>
              <a:p>
                <a:pPr marL="893763" indent="-441325">
                  <a:buFont typeface="+mj-lt"/>
                  <a:buAutoNum type="alphaLcPeriod" startAt="3"/>
                </a:pPr>
                <a:endParaRPr lang="en-US" sz="2000" dirty="0">
                  <a:latin typeface="Verdana" charset="0"/>
                  <a:ea typeface="Verdana" charset="0"/>
                  <a:cs typeface="Verdana" charset="0"/>
                </a:endParaRPr>
              </a:p>
              <a:p>
                <a:pPr marL="893763" indent="-441325">
                  <a:buFont typeface="+mj-lt"/>
                  <a:buAutoNum type="alphaLcPeriod" startAt="3"/>
                </a:pPr>
                <a:r>
                  <a:rPr lang="en-US" sz="2000" dirty="0">
                    <a:latin typeface="Verdana" charset="0"/>
                    <a:ea typeface="Verdana" charset="0"/>
                    <a:cs typeface="Verdana" charset="0"/>
                  </a:rPr>
                  <a:t>What is the value of </a:t>
                </a:r>
                <a14:m>
                  <m:oMath xmlns:m="http://schemas.openxmlformats.org/officeDocument/2006/math">
                    <m:r>
                      <a:rPr lang="en-US" sz="2000" i="1">
                        <a:latin typeface="Cambria Math"/>
                        <a:ea typeface="Verdana" charset="0"/>
                        <a:cs typeface="Verdana" charset="0"/>
                      </a:rPr>
                      <m:t>h</m:t>
                    </m:r>
                  </m:oMath>
                </a14:m>
                <a:r>
                  <a:rPr lang="en-US" sz="2000" dirty="0">
                    <a:latin typeface="Verdana" charset="0"/>
                    <a:ea typeface="Verdana" charset="0"/>
                    <a:cs typeface="Verdana" charset="0"/>
                  </a:rPr>
                  <a:t>?</a:t>
                </a:r>
              </a:p>
              <a:p>
                <a:pPr marL="893763" indent="-441325">
                  <a:buFont typeface="+mj-lt"/>
                  <a:buAutoNum type="alphaLcPeriod" startAt="3"/>
                </a:pPr>
                <a:endParaRPr lang="en-US" sz="2000" dirty="0">
                  <a:latin typeface="Verdana" charset="0"/>
                  <a:ea typeface="Verdana" charset="0"/>
                  <a:cs typeface="Verdana" charset="0"/>
                </a:endParaRPr>
              </a:p>
              <a:p>
                <a:pPr marL="893763" indent="-441325">
                  <a:buFont typeface="+mj-lt"/>
                  <a:buAutoNum type="alphaLcPeriod" startAt="3"/>
                </a:pPr>
                <a:endParaRPr lang="en-US" sz="2000" dirty="0">
                  <a:latin typeface="Verdana" charset="0"/>
                  <a:ea typeface="Verdana" charset="0"/>
                  <a:cs typeface="Verdana" charset="0"/>
                </a:endParaRPr>
              </a:p>
              <a:p>
                <a:pPr marL="893763" indent="-441325">
                  <a:buFont typeface="+mj-lt"/>
                  <a:buAutoNum type="alphaLcPeriod" startAt="3"/>
                </a:pPr>
                <a:endParaRPr lang="en-US" sz="2000" dirty="0">
                  <a:latin typeface="Verdana" charset="0"/>
                  <a:ea typeface="Verdana" charset="0"/>
                  <a:cs typeface="Verdana" charset="0"/>
                </a:endParaRPr>
              </a:p>
              <a:p>
                <a:pPr marL="893763" indent="-441325">
                  <a:buFont typeface="+mj-lt"/>
                  <a:buAutoNum type="alphaLcPeriod" startAt="3"/>
                </a:pPr>
                <a:endParaRPr lang="en-US" sz="2000" dirty="0">
                  <a:latin typeface="Verdana" charset="0"/>
                  <a:ea typeface="Verdana" charset="0"/>
                  <a:cs typeface="Verdana" charset="0"/>
                </a:endParaRPr>
              </a:p>
              <a:p>
                <a:pPr marL="893763" indent="-441325">
                  <a:buFont typeface="+mj-lt"/>
                  <a:buAutoNum type="alphaLcPeriod" startAt="3"/>
                </a:pPr>
                <a:r>
                  <a:rPr lang="en-US" sz="2000" dirty="0">
                    <a:latin typeface="Verdana" charset="0"/>
                    <a:ea typeface="Verdana" charset="0"/>
                    <a:cs typeface="Verdana" charset="0"/>
                  </a:rPr>
                  <a:t>Discuss with your partner how to check whether or not your solution is correct. Then, check your solution.</a:t>
                </a:r>
              </a:p>
              <a:p>
                <a:pPr marL="893763" indent="-441325">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1263359" y="762557"/>
                <a:ext cx="8327136" cy="5324535"/>
              </a:xfrm>
              <a:prstGeom prst="rect">
                <a:avLst/>
              </a:prstGeom>
              <a:blipFill>
                <a:blip r:embed="rId3"/>
                <a:stretch>
                  <a:fillRect t="-801"/>
                </a:stretch>
              </a:blipFill>
            </p:spPr>
            <p:txBody>
              <a:bodyPr/>
              <a:lstStyle/>
              <a:p>
                <a:r>
                  <a:rPr lang="en-US">
                    <a:noFill/>
                  </a:rPr>
                  <a:t> </a:t>
                </a:r>
              </a:p>
            </p:txBody>
          </p:sp>
        </mc:Fallback>
      </mc:AlternateContent>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9832"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51606"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a:t>
            </a: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7771"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457438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7646"/>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84721"/>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a:t>
            </a: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p:cNvSpPr/>
              <p:nvPr/>
            </p:nvSpPr>
            <p:spPr>
              <a:xfrm>
                <a:off x="1455861" y="381645"/>
                <a:ext cx="8327136" cy="6174639"/>
              </a:xfrm>
              <a:prstGeom prst="rect">
                <a:avLst/>
              </a:prstGeom>
            </p:spPr>
            <p:txBody>
              <a:bodyPr wrap="square">
                <a:spAutoFit/>
              </a:bodyPr>
              <a:lstStyle/>
              <a:p>
                <a:pPr marL="457200" indent="-457200">
                  <a:buFont typeface="+mj-lt"/>
                  <a:buAutoNum type="arabicPeriod" startAt="4"/>
                </a:pPr>
                <a:r>
                  <a:rPr lang="en-US" sz="2000" dirty="0">
                    <a:latin typeface="Verdana" charset="0"/>
                    <a:ea typeface="Verdana" charset="0"/>
                    <a:cs typeface="Verdana" charset="0"/>
                  </a:rPr>
                  <a:t>Use the equation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a:ea typeface="Verdana" charset="0"/>
                            <a:cs typeface="Verdana" charset="0"/>
                          </a:rPr>
                          <m:t>𝑏</m:t>
                        </m:r>
                      </m:num>
                      <m:den>
                        <m:r>
                          <a:rPr lang="en-US" sz="2000" i="1">
                            <a:latin typeface="Cambria Math"/>
                            <a:ea typeface="Verdana" charset="0"/>
                            <a:cs typeface="Verdana" charset="0"/>
                          </a:rPr>
                          <m:t>−4</m:t>
                        </m:r>
                      </m:den>
                    </m:f>
                    <m:r>
                      <a:rPr lang="en-US" sz="2000" i="1">
                        <a:latin typeface="Cambria Math"/>
                        <a:ea typeface="Verdana" charset="0"/>
                        <a:cs typeface="Verdana" charset="0"/>
                      </a:rPr>
                      <m:t>=13</m:t>
                    </m:r>
                  </m:oMath>
                </a14:m>
                <a:r>
                  <a:rPr lang="en-US" sz="2000" dirty="0">
                    <a:latin typeface="Verdana" charset="0"/>
                    <a:ea typeface="Verdana" charset="0"/>
                    <a:cs typeface="Verdana" charset="0"/>
                  </a:rPr>
                  <a:t> to complete the following:</a:t>
                </a:r>
              </a:p>
              <a:p>
                <a:pPr marL="893763" indent="-441325">
                  <a:buFont typeface="+mj-lt"/>
                  <a:buAutoNum type="alphaLcPeriod"/>
                </a:pPr>
                <a:r>
                  <a:rPr lang="en-US" sz="2000" dirty="0">
                    <a:latin typeface="Verdana" charset="0"/>
                    <a:ea typeface="Verdana" charset="0"/>
                    <a:cs typeface="Verdana" charset="0"/>
                  </a:rPr>
                  <a:t>What mathematical operation is represented by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a:ea typeface="Verdana" charset="0"/>
                            <a:cs typeface="Verdana" charset="0"/>
                          </a:rPr>
                          <m:t>𝑏</m:t>
                        </m:r>
                      </m:num>
                      <m:den>
                        <m:r>
                          <a:rPr lang="en-US" sz="2000" i="1">
                            <a:latin typeface="Cambria Math"/>
                            <a:ea typeface="Verdana" charset="0"/>
                            <a:cs typeface="Verdana" charset="0"/>
                          </a:rPr>
                          <m:t>−4</m:t>
                        </m:r>
                      </m:den>
                    </m:f>
                  </m:oMath>
                </a14:m>
                <a:r>
                  <a:rPr lang="en-US" sz="2000" dirty="0">
                    <a:latin typeface="Verdana" charset="0"/>
                    <a:ea typeface="Verdana" charset="0"/>
                    <a:cs typeface="Verdana" charset="0"/>
                  </a:rPr>
                  <a:t>?</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endParaRPr lang="en-US" sz="2000" dirty="0">
                  <a:latin typeface="Verdana" charset="0"/>
                  <a:ea typeface="Verdana" charset="0"/>
                  <a:cs typeface="Verdana" charset="0"/>
                </a:endParaRPr>
              </a:p>
              <a:p>
                <a:pPr marL="893763" indent="-441325">
                  <a:buFont typeface="+mj-lt"/>
                  <a:buAutoNum type="alphaLcPeriod"/>
                </a:pPr>
                <a:r>
                  <a:rPr lang="en-US" sz="2000" dirty="0">
                    <a:latin typeface="Verdana" charset="0"/>
                    <a:ea typeface="Verdana" charset="0"/>
                    <a:cs typeface="Verdana" charset="0"/>
                  </a:rPr>
                  <a:t>What is the inverse operation?</a:t>
                </a:r>
              </a:p>
              <a:p>
                <a:pPr marL="893763" indent="-441325">
                  <a:buFont typeface="+mj-lt"/>
                  <a:buAutoNum type="alphaLcPeriod"/>
                </a:pPr>
                <a:endParaRPr lang="en-US" sz="2000" dirty="0">
                  <a:latin typeface="Verdana" charset="0"/>
                  <a:ea typeface="Verdana" charset="0"/>
                  <a:cs typeface="Verdana" charset="0"/>
                </a:endParaRPr>
              </a:p>
              <a:p>
                <a:pPr marL="893763" indent="-441325">
                  <a:buFont typeface="+mj-lt"/>
                  <a:buAutoNum type="alphaLcPeriod"/>
                </a:pPr>
                <a:endParaRPr lang="en-US" sz="2000" dirty="0">
                  <a:latin typeface="Verdana" charset="0"/>
                  <a:ea typeface="Verdana" charset="0"/>
                  <a:cs typeface="Verdana" charset="0"/>
                </a:endParaRPr>
              </a:p>
              <a:p>
                <a:pPr marL="893763" indent="-441325">
                  <a:buFont typeface="+mj-lt"/>
                  <a:buAutoNum type="alphaLcPeriod"/>
                </a:pPr>
                <a:r>
                  <a:rPr lang="en-US" sz="2000" dirty="0">
                    <a:latin typeface="Verdana" charset="0"/>
                    <a:ea typeface="Verdana" charset="0"/>
                    <a:cs typeface="Verdana" charset="0"/>
                  </a:rPr>
                  <a:t>Perform the inverse operation on both sides of the equation. Show your work.</a:t>
                </a:r>
                <a:br>
                  <a:rPr lang="en-US" sz="2000" dirty="0">
                    <a:latin typeface="Verdana" charset="0"/>
                    <a:ea typeface="Verdana" charset="0"/>
                    <a:cs typeface="Verdana" charset="0"/>
                  </a:rPr>
                </a:br>
                <a:br>
                  <a:rPr lang="en-US" sz="2000" dirty="0">
                    <a:latin typeface="Verdana" charset="0"/>
                    <a:ea typeface="Verdana" charset="0"/>
                    <a:cs typeface="Verdana" charset="0"/>
                  </a:rPr>
                </a:br>
                <a14:m>
                  <m:oMath xmlns:m="http://schemas.openxmlformats.org/officeDocument/2006/math">
                    <m:f>
                      <m:fPr>
                        <m:ctrlPr>
                          <a:rPr lang="en-US" sz="2000" i="1">
                            <a:latin typeface="Cambria Math" panose="02040503050406030204" pitchFamily="18" charset="0"/>
                          </a:rPr>
                        </m:ctrlPr>
                      </m:fPr>
                      <m:num>
                        <m:r>
                          <a:rPr lang="en-US" sz="2000" i="1">
                            <a:latin typeface="Cambria Math" charset="0"/>
                          </a:rPr>
                          <m:t>𝑏</m:t>
                        </m:r>
                      </m:num>
                      <m:den>
                        <m:r>
                          <a:rPr lang="en-US" sz="2000">
                            <a:latin typeface="Cambria Math" charset="0"/>
                          </a:rPr>
                          <m:t>−4</m:t>
                        </m:r>
                      </m:den>
                    </m:f>
                    <m:r>
                      <a:rPr lang="en-US" sz="2000">
                        <a:latin typeface="Cambria Math" charset="0"/>
                      </a:rPr>
                      <m:t> =13 </m:t>
                    </m:r>
                  </m:oMath>
                </a14:m>
                <a:endParaRPr lang="en-US" sz="2000" dirty="0"/>
              </a:p>
              <a:p>
                <a:pPr marL="893763" indent="-441325">
                  <a:buFont typeface="+mj-lt"/>
                  <a:buAutoNum type="alphaLcPeriod"/>
                </a:pPr>
                <a:endParaRPr lang="en-US" sz="2000" dirty="0"/>
              </a:p>
              <a:p>
                <a:pPr marL="893763" indent="-441325">
                  <a:buFont typeface="+mj-lt"/>
                  <a:buAutoNum type="alphaLcPeriod"/>
                </a:pPr>
                <a:endParaRPr lang="en-US" sz="2000" dirty="0">
                  <a:latin typeface="Verdana" charset="0"/>
                  <a:ea typeface="Verdana" charset="0"/>
                  <a:cs typeface="Verdana" charset="0"/>
                </a:endParaRPr>
              </a:p>
              <a:p>
                <a:pPr marL="893763" indent="-441325">
                  <a:buFont typeface="+mj-lt"/>
                  <a:buAutoNum type="alphaLcPeriod"/>
                </a:pPr>
                <a:r>
                  <a:rPr lang="en-US" sz="2000" dirty="0">
                    <a:latin typeface="Verdana" charset="0"/>
                    <a:ea typeface="Verdana" charset="0"/>
                    <a:cs typeface="Verdana" charset="0"/>
                  </a:rPr>
                  <a:t>What is the value of </a:t>
                </a:r>
                <a14:m>
                  <m:oMath xmlns:m="http://schemas.openxmlformats.org/officeDocument/2006/math">
                    <m:r>
                      <a:rPr lang="en-US" sz="2000" i="1">
                        <a:latin typeface="Cambria Math"/>
                        <a:ea typeface="Verdana" charset="0"/>
                        <a:cs typeface="Verdana" charset="0"/>
                      </a:rPr>
                      <m:t>𝑏</m:t>
                    </m:r>
                  </m:oMath>
                </a14:m>
                <a:r>
                  <a:rPr lang="en-US" sz="2000" dirty="0">
                    <a:latin typeface="Verdana" charset="0"/>
                    <a:ea typeface="Verdana" charset="0"/>
                    <a:cs typeface="Verdana" charset="0"/>
                  </a:rPr>
                  <a:t>?</a:t>
                </a:r>
              </a:p>
              <a:p>
                <a:pPr marL="893763" indent="-441325">
                  <a:buFont typeface="+mj-lt"/>
                  <a:buAutoNum type="alphaLcPeriod"/>
                </a:pPr>
                <a:endParaRPr lang="en-US" sz="2000" dirty="0">
                  <a:latin typeface="Verdana" charset="0"/>
                  <a:ea typeface="Verdana" charset="0"/>
                  <a:cs typeface="Verdana" charset="0"/>
                </a:endParaRPr>
              </a:p>
              <a:p>
                <a:pPr marL="893763" indent="-441325">
                  <a:buFont typeface="+mj-lt"/>
                  <a:buAutoNum type="alphaLcPeriod"/>
                </a:pPr>
                <a:endParaRPr lang="en-US" sz="2000" dirty="0">
                  <a:latin typeface="Verdana" charset="0"/>
                  <a:ea typeface="Verdana" charset="0"/>
                  <a:cs typeface="Verdana" charset="0"/>
                </a:endParaRPr>
              </a:p>
              <a:p>
                <a:pPr marL="893763" indent="-441325">
                  <a:buFont typeface="+mj-lt"/>
                  <a:buAutoNum type="alphaLcPeriod"/>
                </a:pPr>
                <a:r>
                  <a:rPr lang="en-US" sz="2000" dirty="0">
                    <a:latin typeface="Verdana" charset="0"/>
                    <a:ea typeface="Verdana" charset="0"/>
                    <a:cs typeface="Verdana" charset="0"/>
                  </a:rPr>
                  <a:t>Verify your solution is correct.</a:t>
                </a:r>
              </a:p>
              <a:p>
                <a:pPr lvl="1"/>
                <a:endParaRPr lang="en-US" sz="2000" dirty="0">
                  <a:latin typeface="Verdana" charset="0"/>
                  <a:ea typeface="Verdana" charset="0"/>
                  <a:cs typeface="Verdana"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455861" y="381645"/>
                <a:ext cx="8327136" cy="6174639"/>
              </a:xfrm>
              <a:prstGeom prst="rect">
                <a:avLst/>
              </a:prstGeom>
              <a:blipFill>
                <a:blip r:embed="rId4"/>
                <a:stretch>
                  <a:fillRect l="-805"/>
                </a:stretch>
              </a:blipFill>
            </p:spPr>
            <p:txBody>
              <a:bodyPr/>
              <a:lstStyle/>
              <a:p>
                <a:r>
                  <a:rPr lang="en-US">
                    <a:noFill/>
                  </a:rPr>
                  <a:t> </a:t>
                </a:r>
              </a:p>
            </p:txBody>
          </p:sp>
        </mc:Fallback>
      </mc:AlternateContent>
      <p:sp>
        <p:nvSpPr>
          <p:cNvPr id="4" name="Rectangle 3"/>
          <p:cNvSpPr/>
          <p:nvPr/>
        </p:nvSpPr>
        <p:spPr>
          <a:xfrm>
            <a:off x="5434698" y="4365065"/>
            <a:ext cx="184731" cy="400110"/>
          </a:xfrm>
          <a:prstGeom prst="rect">
            <a:avLst/>
          </a:prstGeom>
        </p:spPr>
        <p:txBody>
          <a:bodyPr wrap="none">
            <a:spAutoFit/>
          </a:bodyPr>
          <a:lstStyle/>
          <a:p>
            <a:endParaRPr lang="en-US" sz="2000" dirty="0"/>
          </a:p>
        </p:txBody>
      </p:sp>
    </p:spTree>
    <p:extLst>
      <p:ext uri="{BB962C8B-B14F-4D97-AF65-F5344CB8AC3E}">
        <p14:creationId xmlns:p14="http://schemas.microsoft.com/office/powerpoint/2010/main" val="118011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28</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4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906859" y="60325"/>
            <a:ext cx="863229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1.5.3 Collaboration: Choose a Strategy</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75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28</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16470" y="24386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391374" y="1386025"/>
                <a:ext cx="8327136" cy="3477875"/>
              </a:xfrm>
              <a:prstGeom prst="rect">
                <a:avLst/>
              </a:prstGeom>
              <a:noFill/>
            </p:spPr>
            <p:txBody>
              <a:bodyPr wrap="square" rtlCol="0">
                <a:spAutoFit/>
              </a:bodyPr>
              <a:lstStyle/>
              <a:p>
                <a:pPr marL="457200" indent="-457200">
                  <a:spcAft>
                    <a:spcPts val="1200"/>
                  </a:spcAft>
                  <a:buFont typeface="+mj-lt"/>
                  <a:buAutoNum type="arabicPeriod"/>
                </a:pPr>
                <a:r>
                  <a:rPr lang="en-US" sz="2000" dirty="0">
                    <a:latin typeface="Verdana" charset="0"/>
                    <a:ea typeface="Verdana" charset="0"/>
                    <a:cs typeface="Verdana" charset="0"/>
                  </a:rPr>
                  <a:t>An elevator starts in the parking garage under a building at level </a:t>
                </a:r>
                <a14:m>
                  <m:oMath xmlns:m="http://schemas.openxmlformats.org/officeDocument/2006/math">
                    <m:r>
                      <a:rPr lang="en-US" sz="2000" i="1">
                        <a:latin typeface="Cambria Math"/>
                        <a:ea typeface="Verdana" charset="0"/>
                        <a:cs typeface="Verdana" charset="0"/>
                      </a:rPr>
                      <m:t>−3</m:t>
                    </m:r>
                  </m:oMath>
                </a14:m>
                <a:r>
                  <a:rPr lang="en-US" sz="2000" dirty="0">
                    <a:latin typeface="Verdana" charset="0"/>
                    <a:ea typeface="Verdana" charset="0"/>
                    <a:cs typeface="Verdana" charset="0"/>
                  </a:rPr>
                  <a:t>, which is </a:t>
                </a:r>
                <a14:m>
                  <m:oMath xmlns:m="http://schemas.openxmlformats.org/officeDocument/2006/math">
                    <m:r>
                      <a:rPr lang="en-US" sz="2000" i="1">
                        <a:latin typeface="Cambria Math"/>
                        <a:ea typeface="Verdana" charset="0"/>
                        <a:cs typeface="Verdana" charset="0"/>
                      </a:rPr>
                      <m:t>3</m:t>
                    </m:r>
                  </m:oMath>
                </a14:m>
                <a:r>
                  <a:rPr lang="en-US" sz="2000" dirty="0">
                    <a:latin typeface="Verdana" charset="0"/>
                    <a:ea typeface="Verdana" charset="0"/>
                    <a:cs typeface="Verdana" charset="0"/>
                  </a:rPr>
                  <a:t> levels underground. The elevator travels to the sixth floor of the building. This situation can be modeled by the equation </a:t>
                </a:r>
                <a14:m>
                  <m:oMath xmlns:m="http://schemas.openxmlformats.org/officeDocument/2006/math">
                    <m:r>
                      <a:rPr lang="en-US" sz="2000" i="1">
                        <a:latin typeface="Cambria Math"/>
                        <a:ea typeface="Verdana" charset="0"/>
                        <a:cs typeface="Verdana" charset="0"/>
                      </a:rPr>
                      <m:t>−3+</m:t>
                    </m:r>
                    <m:r>
                      <a:rPr lang="en-US" sz="2000" i="1">
                        <a:latin typeface="Cambria Math"/>
                        <a:ea typeface="Verdana" charset="0"/>
                        <a:cs typeface="Verdana" charset="0"/>
                      </a:rPr>
                      <m:t>𝑥</m:t>
                    </m:r>
                    <m:r>
                      <a:rPr lang="en-US" sz="2000" i="1">
                        <a:latin typeface="Cambria Math"/>
                        <a:ea typeface="Verdana" charset="0"/>
                        <a:cs typeface="Verdana" charset="0"/>
                      </a:rPr>
                      <m:t>=6</m:t>
                    </m:r>
                  </m:oMath>
                </a14:m>
                <a:r>
                  <a:rPr lang="en-US" sz="2000" dirty="0">
                    <a:latin typeface="Verdana" charset="0"/>
                    <a:ea typeface="Verdana" charset="0"/>
                    <a:cs typeface="Verdana" charset="0"/>
                  </a:rPr>
                  <a:t>, where </a:t>
                </a:r>
                <a14:m>
                  <m:oMath xmlns:m="http://schemas.openxmlformats.org/officeDocument/2006/math">
                    <m:r>
                      <a:rPr lang="en-US" sz="2000" i="1">
                        <a:latin typeface="Cambria Math"/>
                        <a:ea typeface="Verdana" charset="0"/>
                        <a:cs typeface="Verdana" charset="0"/>
                      </a:rPr>
                      <m:t>𝑥</m:t>
                    </m:r>
                  </m:oMath>
                </a14:m>
                <a:r>
                  <a:rPr lang="en-US" sz="2000" dirty="0">
                    <a:latin typeface="Verdana" charset="0"/>
                    <a:ea typeface="Verdana" charset="0"/>
                    <a:cs typeface="Verdana" charset="0"/>
                  </a:rPr>
                  <a:t> represents the number of floors the elevator travels. </a:t>
                </a:r>
              </a:p>
              <a:p>
                <a:pPr marL="452438">
                  <a:spcAft>
                    <a:spcPts val="1200"/>
                  </a:spcAft>
                </a:pPr>
                <a:r>
                  <a:rPr lang="en-US" sz="2000" dirty="0">
                    <a:latin typeface="Verdana" charset="0"/>
                    <a:ea typeface="Verdana" charset="0"/>
                    <a:cs typeface="Verdana" charset="0"/>
                  </a:rPr>
                  <a:t>Tyler says that since subtraction is the inverse operation of addition, you should use subtraction to solve. Eva says that you should add </a:t>
                </a:r>
                <a14:m>
                  <m:oMath xmlns:m="http://schemas.openxmlformats.org/officeDocument/2006/math">
                    <m:r>
                      <a:rPr lang="en-US" sz="2000" i="1">
                        <a:latin typeface="Cambria Math"/>
                        <a:ea typeface="Verdana" charset="0"/>
                        <a:cs typeface="Verdana" charset="0"/>
                      </a:rPr>
                      <m:t>3</m:t>
                    </m:r>
                  </m:oMath>
                </a14:m>
                <a:r>
                  <a:rPr lang="en-US" sz="2000" dirty="0">
                    <a:latin typeface="Verdana" charset="0"/>
                    <a:ea typeface="Verdana" charset="0"/>
                    <a:cs typeface="Verdana" charset="0"/>
                  </a:rPr>
                  <a:t> to both sides of the equation to solve it.</a:t>
                </a:r>
              </a:p>
              <a:p>
                <a:pPr marL="909638" indent="-457200">
                  <a:spcAft>
                    <a:spcPts val="1200"/>
                  </a:spcAft>
                  <a:buFont typeface="+mj-lt"/>
                  <a:buAutoNum type="alphaLcPeriod"/>
                </a:pPr>
                <a:r>
                  <a:rPr lang="en-US" sz="2000" dirty="0">
                    <a:latin typeface="Verdana" charset="0"/>
                    <a:ea typeface="Times New Roman" charset="0"/>
                    <a:cs typeface="Times New Roman" charset="0"/>
                  </a:rPr>
                  <a:t>Complete the table by showing the result of each student’s strategy.</a:t>
                </a:r>
                <a:endParaRPr lang="en-US" sz="2000" dirty="0">
                  <a:latin typeface="Verdana" charset="0"/>
                  <a:ea typeface="Verdana" charset="0"/>
                  <a:cs typeface="Verdana" charset="0"/>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391374" y="1386025"/>
                <a:ext cx="8327136" cy="3477875"/>
              </a:xfrm>
              <a:prstGeom prst="rect">
                <a:avLst/>
              </a:prstGeom>
              <a:blipFill>
                <a:blip r:embed="rId5"/>
                <a:stretch>
                  <a:fillRect l="-805" t="-1051" r="-1171" b="-2102"/>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E9CA456B-1791-3E43-BCF8-7E55B6240BB8}"/>
              </a:ext>
            </a:extLst>
          </p:cNvPr>
          <p:cNvSpPr/>
          <p:nvPr/>
        </p:nvSpPr>
        <p:spPr>
          <a:xfrm>
            <a:off x="1400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95590776"/>
                  </p:ext>
                </p:extLst>
              </p:nvPr>
            </p:nvGraphicFramePr>
            <p:xfrm>
              <a:off x="3087006" y="4939786"/>
              <a:ext cx="6000750" cy="1534800"/>
            </p:xfrm>
            <a:graphic>
              <a:graphicData uri="http://schemas.openxmlformats.org/drawingml/2006/table">
                <a:tbl>
                  <a:tblPr firstRow="1" firstCol="1" bandRow="1"/>
                  <a:tblGrid>
                    <a:gridCol w="300037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360000">
                    <a:tc>
                      <a:txBody>
                        <a:bodyPr/>
                        <a:lstStyle/>
                        <a:p>
                          <a:pPr marL="0" marR="0" algn="ctr">
                            <a:spcBef>
                              <a:spcPts val="0"/>
                            </a:spcBef>
                            <a:spcAft>
                              <a:spcPts val="0"/>
                            </a:spcAft>
                          </a:pPr>
                          <a:r>
                            <a:rPr lang="en-US" sz="1800" b="1" dirty="0">
                              <a:solidFill>
                                <a:srgbClr val="000000"/>
                              </a:solidFill>
                              <a:effectLst/>
                              <a:latin typeface="Verdana" charset="0"/>
                              <a:ea typeface="Times New Roman" charset="0"/>
                              <a:cs typeface="Times New Roman" charset="0"/>
                            </a:rPr>
                            <a:t>Tyler’s Strategy</a:t>
                          </a:r>
                          <a:endParaRPr lang="en-US" sz="18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dirty="0">
                              <a:solidFill>
                                <a:srgbClr val="000000"/>
                              </a:solidFill>
                              <a:effectLst/>
                              <a:latin typeface="Verdana" charset="0"/>
                              <a:ea typeface="Times New Roman" charset="0"/>
                              <a:cs typeface="Times New Roman" charset="0"/>
                            </a:rPr>
                            <a:t>Eva’s Strategy</a:t>
                          </a:r>
                          <a:endParaRPr lang="en-US" sz="18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Times New Roman" charset="0"/>
                                        <a:cs typeface="Times New Roman" charset="0"/>
                                      </a:rPr>
                                    </m:ctrlPr>
                                  </m:dPr>
                                  <m:e>
                                    <m:r>
                                      <a:rPr lang="en-US" sz="2000" i="1">
                                        <a:effectLst/>
                                        <a:latin typeface="Cambria Math" charset="0"/>
                                        <a:ea typeface="Times New Roman" charset="0"/>
                                        <a:cs typeface="Times New Roman" charset="0"/>
                                      </a:rPr>
                                      <m:t>−3</m:t>
                                    </m:r>
                                  </m:e>
                                </m:d>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𝑥</m:t>
                                </m:r>
                                <m:r>
                                  <a:rPr lang="en-US" sz="2000" i="1">
                                    <a:effectLst/>
                                    <a:latin typeface="Cambria Math" charset="0"/>
                                    <a:ea typeface="Times New Roman" charset="0"/>
                                    <a:cs typeface="Times New Roman" charset="0"/>
                                  </a:rPr>
                                  <m:t>=6</m:t>
                                </m:r>
                              </m:oMath>
                            </m:oMathPara>
                          </a14:m>
                          <a:endParaRPr lang="en-US" sz="2000" dirty="0">
                            <a:effectLst/>
                            <a:latin typeface="Cambria" charset="0"/>
                            <a:ea typeface="Times New Roman" charset="0"/>
                            <a:cs typeface="Times New Roman" charset="0"/>
                          </a:endParaRPr>
                        </a:p>
                        <a:p>
                          <a:pPr marL="0" marR="0">
                            <a:spcBef>
                              <a:spcPts val="0"/>
                            </a:spcBef>
                            <a:spcAft>
                              <a:spcPts val="120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p>
                          <a:pPr marL="0" marR="0" algn="ctr">
                            <a:spcBef>
                              <a:spcPts val="0"/>
                            </a:spcBef>
                            <a:spcAft>
                              <a:spcPts val="0"/>
                            </a:spcAft>
                          </a:pPr>
                          <a:r>
                            <a:rPr lang="en-US" sz="2000" dirty="0">
                              <a:effectLst/>
                              <a:latin typeface="Verdana" charset="0"/>
                              <a:ea typeface="Times New Roman" charset="0"/>
                              <a:cs typeface="Times New Roman" charset="0"/>
                            </a:rPr>
                            <a:t> </a:t>
                          </a:r>
                          <a14:m>
                            <m:oMath xmlns:m="http://schemas.openxmlformats.org/officeDocument/2006/math">
                              <m:r>
                                <a:rPr lang="en-US" sz="2000" i="1">
                                  <a:effectLst/>
                                  <a:latin typeface="Cambria Math" charset="0"/>
                                  <a:ea typeface="Times New Roman" charset="0"/>
                                  <a:cs typeface="Times New Roman" charset="0"/>
                                </a:rPr>
                                <m:t>𝑥</m:t>
                              </m:r>
                              <m:r>
                                <a:rPr lang="en-US" sz="2000" i="1">
                                  <a:effectLst/>
                                  <a:latin typeface="Cambria Math" charset="0"/>
                                  <a:ea typeface="Times New Roman" charset="0"/>
                                  <a:cs typeface="Times New Roman" charset="0"/>
                                </a:rPr>
                                <m:t>=________</m:t>
                              </m:r>
                            </m:oMath>
                          </a14:m>
                          <a:endParaRPr lang="en-US" sz="2000" dirty="0">
                            <a:effectLst/>
                            <a:latin typeface="Cambria" charset="0"/>
                            <a:ea typeface="Times New Roman" charset="0"/>
                            <a:cs typeface="Times New Roman" charset="0"/>
                          </a:endParaRPr>
                        </a:p>
                      </a:txBody>
                      <a:tcPr marL="68400" marR="68400" marT="54000" marB="54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Times New Roman" charset="0"/>
                                        <a:cs typeface="Times New Roman" charset="0"/>
                                      </a:rPr>
                                    </m:ctrlPr>
                                  </m:dPr>
                                  <m:e>
                                    <m:r>
                                      <a:rPr lang="en-US" sz="2000" i="1">
                                        <a:effectLst/>
                                        <a:latin typeface="Cambria Math" charset="0"/>
                                        <a:ea typeface="Times New Roman" charset="0"/>
                                        <a:cs typeface="Times New Roman" charset="0"/>
                                      </a:rPr>
                                      <m:t>−3</m:t>
                                    </m:r>
                                  </m:e>
                                </m:d>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𝑥</m:t>
                                </m:r>
                                <m:r>
                                  <a:rPr lang="en-US" sz="2000" i="1">
                                    <a:effectLst/>
                                    <a:latin typeface="Cambria Math" charset="0"/>
                                    <a:ea typeface="Times New Roman" charset="0"/>
                                    <a:cs typeface="Times New Roman" charset="0"/>
                                  </a:rPr>
                                  <m:t>=6</m:t>
                                </m:r>
                              </m:oMath>
                            </m:oMathPara>
                          </a14:m>
                          <a:endParaRPr lang="en-US" sz="2000" dirty="0">
                            <a:effectLst/>
                            <a:latin typeface="Cambria" charset="0"/>
                            <a:ea typeface="Times New Roman" charset="0"/>
                            <a:cs typeface="Times New Roman" charset="0"/>
                          </a:endParaRPr>
                        </a:p>
                        <a:p>
                          <a:pPr marL="0" marR="0">
                            <a:spcBef>
                              <a:spcPts val="0"/>
                            </a:spcBef>
                            <a:spcAft>
                              <a:spcPts val="1200"/>
                            </a:spcAft>
                          </a:pPr>
                          <a:r>
                            <a:rPr lang="en-US" sz="2000" dirty="0">
                              <a:effectLst/>
                              <a:latin typeface="Verdana" charset="0"/>
                              <a:ea typeface="Times New Roman" charset="0"/>
                              <a:cs typeface="Times New Roman" charset="0"/>
                            </a:rPr>
                            <a:t>  </a:t>
                          </a:r>
                          <a:endParaRPr lang="en-US" sz="2000" dirty="0">
                            <a:effectLst/>
                            <a:latin typeface="Cambria" charset="0"/>
                            <a:ea typeface="Times New Roman" charset="0"/>
                            <a:cs typeface="Times New Roman"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Times New Roman" charset="0"/>
                                    <a:cs typeface="Times New Roman" charset="0"/>
                                  </a:rPr>
                                  <m:t>𝑥</m:t>
                                </m:r>
                                <m:r>
                                  <a:rPr lang="en-US" sz="2000" i="1">
                                    <a:effectLst/>
                                    <a:latin typeface="Cambria Math" charset="0"/>
                                    <a:ea typeface="Times New Roman" charset="0"/>
                                    <a:cs typeface="Times New Roman" charset="0"/>
                                  </a:rPr>
                                  <m:t>=________</m:t>
                                </m:r>
                              </m:oMath>
                            </m:oMathPara>
                          </a14:m>
                          <a:endParaRPr lang="en-US" sz="2000" dirty="0">
                            <a:effectLst/>
                            <a:latin typeface="Cambria" charset="0"/>
                            <a:ea typeface="Times New Roman" charset="0"/>
                            <a:cs typeface="Times New Roman" charset="0"/>
                          </a:endParaRPr>
                        </a:p>
                      </a:txBody>
                      <a:tcPr marL="68400" marR="68400" marT="54000" marB="54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95590776"/>
                  </p:ext>
                </p:extLst>
              </p:nvPr>
            </p:nvGraphicFramePr>
            <p:xfrm>
              <a:off x="3087006" y="4939786"/>
              <a:ext cx="6000750" cy="1534800"/>
            </p:xfrm>
            <a:graphic>
              <a:graphicData uri="http://schemas.openxmlformats.org/drawingml/2006/table">
                <a:tbl>
                  <a:tblPr firstRow="1" firstCol="1" bandRow="1"/>
                  <a:tblGrid>
                    <a:gridCol w="300037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360000">
                    <a:tc>
                      <a:txBody>
                        <a:bodyPr/>
                        <a:lstStyle/>
                        <a:p>
                          <a:pPr marL="0" marR="0" algn="ctr">
                            <a:spcBef>
                              <a:spcPts val="0"/>
                            </a:spcBef>
                            <a:spcAft>
                              <a:spcPts val="0"/>
                            </a:spcAft>
                          </a:pPr>
                          <a:r>
                            <a:rPr lang="en-US" sz="1800" b="1" dirty="0">
                              <a:solidFill>
                                <a:srgbClr val="000000"/>
                              </a:solidFill>
                              <a:effectLst/>
                              <a:latin typeface="Verdana" charset="0"/>
                              <a:ea typeface="Times New Roman" charset="0"/>
                              <a:cs typeface="Times New Roman" charset="0"/>
                            </a:rPr>
                            <a:t>Tyler’s Strategy</a:t>
                          </a:r>
                          <a:endParaRPr lang="en-US" sz="18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dirty="0">
                              <a:solidFill>
                                <a:srgbClr val="000000"/>
                              </a:solidFill>
                              <a:effectLst/>
                              <a:latin typeface="Verdana" charset="0"/>
                              <a:ea typeface="Times New Roman" charset="0"/>
                              <a:cs typeface="Times New Roman" charset="0"/>
                            </a:rPr>
                            <a:t>Eva’s Strategy</a:t>
                          </a:r>
                          <a:endParaRPr lang="en-US" sz="1800" dirty="0">
                            <a:effectLst/>
                            <a:latin typeface="Cambria" charset="0"/>
                            <a:ea typeface="Times New Roman"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74800">
                    <a:tc>
                      <a:txBody>
                        <a:bodyPr/>
                        <a:lstStyle/>
                        <a:p>
                          <a:endParaRPr lang="en-US"/>
                        </a:p>
                      </a:txBody>
                      <a:tcPr marL="68400" marR="68400" marT="54000" marB="54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422" t="-33333" r="-100000" b="-2151"/>
                          </a:stretch>
                        </a:blipFill>
                      </a:tcPr>
                    </a:tc>
                    <a:tc>
                      <a:txBody>
                        <a:bodyPr/>
                        <a:lstStyle/>
                        <a:p>
                          <a:endParaRPr lang="en-US"/>
                        </a:p>
                      </a:txBody>
                      <a:tcPr marL="68400" marR="68400" marT="54000" marB="54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0847" t="-33333" r="-424" b="-2151"/>
                          </a:stretch>
                        </a:blipFill>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28</a:t>
            </a:r>
          </a:p>
        </p:txBody>
      </p:sp>
      <p:sp>
        <p:nvSpPr>
          <p:cNvPr id="5" name="TextBox 4">
            <a:extLst>
              <a:ext uri="{FF2B5EF4-FFF2-40B4-BE49-F238E27FC236}">
                <a16:creationId xmlns:a16="http://schemas.microsoft.com/office/drawing/2014/main" id="{2AA35BC6-D428-FC41-BDE5-6438AB8840FC}"/>
              </a:ext>
            </a:extLst>
          </p:cNvPr>
          <p:cNvSpPr txBox="1"/>
          <p:nvPr/>
        </p:nvSpPr>
        <p:spPr>
          <a:xfrm>
            <a:off x="1341417" y="1007522"/>
            <a:ext cx="8327136" cy="830997"/>
          </a:xfrm>
          <a:prstGeom prst="rect">
            <a:avLst/>
          </a:prstGeom>
          <a:noFill/>
        </p:spPr>
        <p:txBody>
          <a:bodyPr wrap="square" rtlCol="0">
            <a:spAutoFit/>
          </a:bodyPr>
          <a:lstStyle/>
          <a:p>
            <a:pPr marL="909638" indent="-457200">
              <a:buFont typeface="+mj-lt"/>
              <a:buAutoNum type="alphaLcPeriod" startAt="2"/>
            </a:pPr>
            <a:r>
              <a:rPr lang="en-US" sz="2400" dirty="0">
                <a:latin typeface="Verdana" charset="0"/>
                <a:ea typeface="Verdana" charset="0"/>
                <a:cs typeface="Verdana" charset="0"/>
              </a:rPr>
              <a:t>With your partner, determine whose strategy is correct. Explain how you know.</a:t>
            </a: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251846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28</a:t>
            </a: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189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212014" y="207515"/>
            <a:ext cx="83271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1.5.4 Try It: Solving Equations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28</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257957" y="49546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1383297" y="1798563"/>
            <a:ext cx="8327136" cy="1938992"/>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Each equation shown in the table can be solved in one step. Complete the table by describing how to solve each equation, showing your work, and providing the solution. The first row is started for you.</a:t>
            </a:r>
          </a:p>
        </p:txBody>
      </p:sp>
      <p:sp>
        <p:nvSpPr>
          <p:cNvPr id="11" name="Google Shape;278;g104476d1465_1_17">
            <a:extLst>
              <a:ext uri="{FF2B5EF4-FFF2-40B4-BE49-F238E27FC236}">
                <a16:creationId xmlns:a16="http://schemas.microsoft.com/office/drawing/2014/main" id="{D93CCF23-305F-4542-AFD2-A48933A9E42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645865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7"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84321"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28</a:t>
            </a:r>
          </a:p>
        </p:txBody>
      </p:sp>
      <p:sp>
        <p:nvSpPr>
          <p:cNvPr id="5" name="TextBox 4">
            <a:extLst>
              <a:ext uri="{FF2B5EF4-FFF2-40B4-BE49-F238E27FC236}">
                <a16:creationId xmlns:a16="http://schemas.microsoft.com/office/drawing/2014/main" id="{22347CCE-34A7-8044-BA67-B5895157AE55}"/>
              </a:ext>
            </a:extLst>
          </p:cNvPr>
          <p:cNvSpPr txBox="1"/>
          <p:nvPr/>
        </p:nvSpPr>
        <p:spPr>
          <a:xfrm>
            <a:off x="1427901" y="5291523"/>
            <a:ext cx="8327136" cy="7078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Compare your work with your partner and resolve any differences. Verify your solutions using substitution.</a:t>
            </a:r>
          </a:p>
        </p:txBody>
      </p:sp>
      <p:sp>
        <p:nvSpPr>
          <p:cNvPr id="6" name="Google Shape;278;g104476d1465_1_17">
            <a:extLst>
              <a:ext uri="{FF2B5EF4-FFF2-40B4-BE49-F238E27FC236}">
                <a16:creationId xmlns:a16="http://schemas.microsoft.com/office/drawing/2014/main" id="{23DDED37-A9DC-1840-BFB8-744A6C956060}"/>
              </a:ext>
            </a:extLst>
          </p:cNvPr>
          <p:cNvSpPr/>
          <p:nvPr/>
        </p:nvSpPr>
        <p:spPr>
          <a:xfrm>
            <a:off x="3114"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904553213"/>
                  </p:ext>
                </p:extLst>
              </p:nvPr>
            </p:nvGraphicFramePr>
            <p:xfrm>
              <a:off x="2296589" y="548606"/>
              <a:ext cx="7749487" cy="4483250"/>
            </p:xfrm>
            <a:graphic>
              <a:graphicData uri="http://schemas.openxmlformats.org/drawingml/2006/table">
                <a:tbl>
                  <a:tblPr firstRow="1" firstCol="1" bandRow="1"/>
                  <a:tblGrid>
                    <a:gridCol w="1539047">
                      <a:extLst>
                        <a:ext uri="{9D8B030D-6E8A-4147-A177-3AD203B41FA5}">
                          <a16:colId xmlns:a16="http://schemas.microsoft.com/office/drawing/2014/main" val="20000"/>
                        </a:ext>
                      </a:extLst>
                    </a:gridCol>
                    <a:gridCol w="2013620">
                      <a:extLst>
                        <a:ext uri="{9D8B030D-6E8A-4147-A177-3AD203B41FA5}">
                          <a16:colId xmlns:a16="http://schemas.microsoft.com/office/drawing/2014/main" val="20001"/>
                        </a:ext>
                      </a:extLst>
                    </a:gridCol>
                    <a:gridCol w="1398940">
                      <a:extLst>
                        <a:ext uri="{9D8B030D-6E8A-4147-A177-3AD203B41FA5}">
                          <a16:colId xmlns:a16="http://schemas.microsoft.com/office/drawing/2014/main" val="20002"/>
                        </a:ext>
                      </a:extLst>
                    </a:gridCol>
                    <a:gridCol w="1398940">
                      <a:extLst>
                        <a:ext uri="{9D8B030D-6E8A-4147-A177-3AD203B41FA5}">
                          <a16:colId xmlns:a16="http://schemas.microsoft.com/office/drawing/2014/main" val="20003"/>
                        </a:ext>
                      </a:extLst>
                    </a:gridCol>
                    <a:gridCol w="1398940">
                      <a:extLst>
                        <a:ext uri="{9D8B030D-6E8A-4147-A177-3AD203B41FA5}">
                          <a16:colId xmlns:a16="http://schemas.microsoft.com/office/drawing/2014/main" val="20004"/>
                        </a:ext>
                      </a:extLst>
                    </a:gridCol>
                  </a:tblGrid>
                  <a:tr h="438902">
                    <a:tc>
                      <a:txBody>
                        <a:bodyPr/>
                        <a:lstStyle/>
                        <a:p>
                          <a:pPr marL="0" marR="0" algn="ctr">
                            <a:spcBef>
                              <a:spcPts val="0"/>
                            </a:spcBef>
                            <a:spcAft>
                              <a:spcPts val="0"/>
                            </a:spcAft>
                          </a:pPr>
                          <a:r>
                            <a:rPr lang="en-US" sz="2000" b="1" dirty="0">
                              <a:effectLst/>
                              <a:latin typeface="Verdana" charset="0"/>
                              <a:ea typeface="Verdana" charset="0"/>
                              <a:cs typeface="Verdana" charset="0"/>
                            </a:rPr>
                            <a:t>Equation</a:t>
                          </a:r>
                          <a:endParaRPr lang="en-US" sz="2000" dirty="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Description </a:t>
                          </a:r>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Work</a:t>
                          </a:r>
                          <a:endParaRPr lang="en-US" sz="2000" dirty="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Solution</a:t>
                          </a:r>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Verify</a:t>
                          </a:r>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824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6</m:t>
                                </m:r>
                                <m:r>
                                  <a:rPr lang="en-US" sz="2000" i="1">
                                    <a:effectLst/>
                                    <a:latin typeface="Cambria Math"/>
                                    <a:ea typeface="Verdana" charset="0"/>
                                    <a:cs typeface="Verdana" charset="0"/>
                                  </a:rPr>
                                  <m:t>𝑥</m:t>
                                </m:r>
                                <m:r>
                                  <a:rPr lang="en-US" sz="2000" i="1">
                                    <a:effectLst/>
                                    <a:latin typeface="Cambria Math"/>
                                    <a:ea typeface="Verdana" charset="0"/>
                                    <a:cs typeface="Verdana" charset="0"/>
                                  </a:rPr>
                                  <m:t>=18</m:t>
                                </m:r>
                              </m:oMath>
                            </m:oMathPara>
                          </a14:m>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divide both sides of the equation by </a:t>
                          </a:r>
                          <a14:m>
                            <m:oMath xmlns:m="http://schemas.openxmlformats.org/officeDocument/2006/math">
                              <m:r>
                                <a:rPr lang="en-US" sz="2000" i="1">
                                  <a:effectLst/>
                                  <a:latin typeface="Cambria Math"/>
                                  <a:ea typeface="Verdana" charset="0"/>
                                  <a:cs typeface="Verdana" charset="0"/>
                                </a:rPr>
                                <m:t>6</m:t>
                              </m:r>
                            </m:oMath>
                          </a14:m>
                          <a:endParaRPr lang="en-US" sz="2000" dirty="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824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h</m:t>
                                </m:r>
                                <m:r>
                                  <a:rPr lang="en-US" sz="2000" i="1">
                                    <a:effectLst/>
                                    <a:latin typeface="Cambria Math"/>
                                    <a:ea typeface="Verdana" charset="0"/>
                                    <a:cs typeface="Verdana" charset="0"/>
                                  </a:rPr>
                                  <m:t>−5=−7</m:t>
                                </m:r>
                              </m:oMath>
                            </m:oMathPara>
                          </a14:m>
                          <a:endParaRPr lang="en-US" sz="2000" dirty="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824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−36=</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a:ea typeface="Verdana" charset="0"/>
                                        <a:cs typeface="Verdana" charset="0"/>
                                      </a:rPr>
                                      <m:t>𝑚</m:t>
                                    </m:r>
                                  </m:num>
                                  <m:den>
                                    <m:r>
                                      <a:rPr lang="en-US" sz="2000" i="1">
                                        <a:effectLst/>
                                        <a:latin typeface="Cambria Math"/>
                                        <a:ea typeface="Verdana" charset="0"/>
                                        <a:cs typeface="Verdana" charset="0"/>
                                      </a:rPr>
                                      <m:t>−6</m:t>
                                    </m:r>
                                  </m:den>
                                </m:f>
                              </m:oMath>
                            </m:oMathPara>
                          </a14:m>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24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32=41+</m:t>
                                </m:r>
                                <m:r>
                                  <a:rPr lang="en-US" sz="2000" i="1">
                                    <a:effectLst/>
                                    <a:latin typeface="Cambria Math"/>
                                    <a:ea typeface="Verdana" charset="0"/>
                                    <a:cs typeface="Verdana" charset="0"/>
                                  </a:rPr>
                                  <m:t>𝑎</m:t>
                                </m:r>
                              </m:oMath>
                            </m:oMathPara>
                          </a14:m>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824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−45=9</m:t>
                                </m:r>
                                <m:r>
                                  <a:rPr lang="en-US" sz="2000" i="1">
                                    <a:effectLst/>
                                    <a:latin typeface="Cambria Math"/>
                                    <a:ea typeface="Verdana" charset="0"/>
                                    <a:cs typeface="Verdana" charset="0"/>
                                  </a:rPr>
                                  <m:t>𝑦</m:t>
                                </m:r>
                              </m:oMath>
                            </m:oMathPara>
                          </a14:m>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904553213"/>
                  </p:ext>
                </p:extLst>
              </p:nvPr>
            </p:nvGraphicFramePr>
            <p:xfrm>
              <a:off x="2296589" y="548606"/>
              <a:ext cx="7749487" cy="4483250"/>
            </p:xfrm>
            <a:graphic>
              <a:graphicData uri="http://schemas.openxmlformats.org/drawingml/2006/table">
                <a:tbl>
                  <a:tblPr firstRow="1" firstCol="1" bandRow="1"/>
                  <a:tblGrid>
                    <a:gridCol w="1539047">
                      <a:extLst>
                        <a:ext uri="{9D8B030D-6E8A-4147-A177-3AD203B41FA5}">
                          <a16:colId xmlns:a16="http://schemas.microsoft.com/office/drawing/2014/main" val="20000"/>
                        </a:ext>
                      </a:extLst>
                    </a:gridCol>
                    <a:gridCol w="2013620">
                      <a:extLst>
                        <a:ext uri="{9D8B030D-6E8A-4147-A177-3AD203B41FA5}">
                          <a16:colId xmlns:a16="http://schemas.microsoft.com/office/drawing/2014/main" val="20001"/>
                        </a:ext>
                      </a:extLst>
                    </a:gridCol>
                    <a:gridCol w="1398940">
                      <a:extLst>
                        <a:ext uri="{9D8B030D-6E8A-4147-A177-3AD203B41FA5}">
                          <a16:colId xmlns:a16="http://schemas.microsoft.com/office/drawing/2014/main" val="20002"/>
                        </a:ext>
                      </a:extLst>
                    </a:gridCol>
                    <a:gridCol w="1398940">
                      <a:extLst>
                        <a:ext uri="{9D8B030D-6E8A-4147-A177-3AD203B41FA5}">
                          <a16:colId xmlns:a16="http://schemas.microsoft.com/office/drawing/2014/main" val="20003"/>
                        </a:ext>
                      </a:extLst>
                    </a:gridCol>
                    <a:gridCol w="1398940">
                      <a:extLst>
                        <a:ext uri="{9D8B030D-6E8A-4147-A177-3AD203B41FA5}">
                          <a16:colId xmlns:a16="http://schemas.microsoft.com/office/drawing/2014/main" val="20004"/>
                        </a:ext>
                      </a:extLst>
                    </a:gridCol>
                  </a:tblGrid>
                  <a:tr h="438902">
                    <a:tc>
                      <a:txBody>
                        <a:bodyPr/>
                        <a:lstStyle/>
                        <a:p>
                          <a:pPr marL="0" marR="0" algn="ctr">
                            <a:spcBef>
                              <a:spcPts val="0"/>
                            </a:spcBef>
                            <a:spcAft>
                              <a:spcPts val="0"/>
                            </a:spcAft>
                          </a:pPr>
                          <a:r>
                            <a:rPr lang="en-US" sz="2000" b="1" dirty="0">
                              <a:effectLst/>
                              <a:latin typeface="Verdana" charset="0"/>
                              <a:ea typeface="Verdana" charset="0"/>
                              <a:cs typeface="Verdana" charset="0"/>
                            </a:rPr>
                            <a:t>Equation</a:t>
                          </a:r>
                          <a:endParaRPr lang="en-US" sz="2000" dirty="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Description </a:t>
                          </a:r>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Work</a:t>
                          </a:r>
                          <a:endParaRPr lang="en-US" sz="2000" dirty="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Solution</a:t>
                          </a:r>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Verify</a:t>
                          </a:r>
                          <a:endParaRPr lang="en-US" sz="2000">
                            <a:effectLst/>
                            <a:latin typeface="Verdana" charset="0"/>
                            <a:ea typeface="Verdana" charset="0"/>
                            <a:cs typeface="Verdana" charset="0"/>
                          </a:endParaRP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14400">
                    <a:tc>
                      <a:txBody>
                        <a:bodyPr/>
                        <a:lstStyle/>
                        <a:p>
                          <a:endParaRPr lang="en-US"/>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50000" r="-402459" b="-344444"/>
                          </a:stretch>
                        </a:blipFill>
                      </a:tcPr>
                    </a:tc>
                    <a:tc>
                      <a:txBody>
                        <a:bodyPr/>
                        <a:lstStyle/>
                        <a:p>
                          <a:endParaRPr lang="en-US"/>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6730" t="-50000" r="-208805" b="-344444"/>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82487">
                    <a:tc>
                      <a:txBody>
                        <a:bodyPr/>
                        <a:lstStyle/>
                        <a:p>
                          <a:endParaRPr lang="en-US"/>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174194" r="-402459" b="-300000"/>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82487">
                    <a:tc>
                      <a:txBody>
                        <a:bodyPr/>
                        <a:lstStyle/>
                        <a:p>
                          <a:endParaRPr lang="en-US"/>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278689" r="-402459" b="-204918"/>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2487">
                    <a:tc>
                      <a:txBody>
                        <a:bodyPr/>
                        <a:lstStyle/>
                        <a:p>
                          <a:endParaRPr lang="en-US"/>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372581" r="-402459" b="-101613"/>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82487">
                    <a:tc>
                      <a:txBody>
                        <a:bodyPr/>
                        <a:lstStyle/>
                        <a:p>
                          <a:endParaRPr lang="en-US"/>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472581" r="-402459" b="-1613"/>
                          </a:stretch>
                        </a:blipFill>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9900" marR="399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39900" marR="399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1154948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29</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0576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326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060448" y="180068"/>
            <a:ext cx="846781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1.5.5 Collaboration: Solving Equations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65038"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29</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63158" y="46801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291014" y="1505768"/>
            <a:ext cx="8327136" cy="1323439"/>
          </a:xfrm>
          <a:prstGeom prst="rect">
            <a:avLst/>
          </a:prstGeom>
          <a:noFill/>
        </p:spPr>
        <p:txBody>
          <a:bodyPr wrap="square" rtlCol="0">
            <a:spAutoFit/>
          </a:bodyPr>
          <a:lstStyle/>
          <a:p>
            <a:r>
              <a:rPr lang="en-US" sz="2000" dirty="0">
                <a:latin typeface="Verdana" charset="0"/>
                <a:ea typeface="Verdana" charset="0"/>
                <a:cs typeface="Verdana" charset="0"/>
              </a:rPr>
              <a:t>With your partner, determine who will be Partner A and who will be Partner B.</a:t>
            </a:r>
          </a:p>
          <a:p>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Times New Roman" charset="0"/>
                <a:cs typeface="Times New Roman" charset="0"/>
              </a:rPr>
              <a:t>Solve the equations from your designated column.</a:t>
            </a:r>
            <a:endParaRPr lang="en-US" sz="2000" dirty="0">
              <a:latin typeface="Cambria" charset="0"/>
              <a:ea typeface="Times New Roman" charset="0"/>
              <a:cs typeface="Times New Roman" charset="0"/>
            </a:endParaRPr>
          </a:p>
        </p:txBody>
      </p:sp>
      <p:sp>
        <p:nvSpPr>
          <p:cNvPr id="11" name="Google Shape;278;g104476d1465_1_17">
            <a:extLst>
              <a:ext uri="{FF2B5EF4-FFF2-40B4-BE49-F238E27FC236}">
                <a16:creationId xmlns:a16="http://schemas.microsoft.com/office/drawing/2014/main" id="{E9CA456B-1791-3E43-BCF8-7E55B6240BB8}"/>
              </a:ext>
            </a:extLst>
          </p:cNvPr>
          <p:cNvSpPr/>
          <p:nvPr/>
        </p:nvSpPr>
        <p:spPr>
          <a:xfrm>
            <a:off x="24886"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988307257"/>
                  </p:ext>
                </p:extLst>
              </p:nvPr>
            </p:nvGraphicFramePr>
            <p:xfrm>
              <a:off x="2628038" y="2892240"/>
              <a:ext cx="7200000" cy="3529580"/>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32000">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Partner A</a:t>
                          </a:r>
                          <a:endParaRPr lang="en-US" sz="2000" dirty="0">
                            <a:effectLst/>
                            <a:latin typeface="Verdana" charset="0"/>
                            <a:ea typeface="Verdana" charset="0"/>
                            <a:cs typeface="Verdana" charset="0"/>
                          </a:endParaRPr>
                        </a:p>
                      </a:txBody>
                      <a:tcPr marL="41310" marR="41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Partner B</a:t>
                          </a:r>
                          <a:endParaRPr lang="en-US" sz="2000" dirty="0">
                            <a:effectLst/>
                            <a:latin typeface="Verdana" charset="0"/>
                            <a:ea typeface="Verdana" charset="0"/>
                            <a:cs typeface="Verdana" charset="0"/>
                          </a:endParaRPr>
                        </a:p>
                      </a:txBody>
                      <a:tcPr marL="41310" marR="41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7439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72=−9</m:t>
                                </m:r>
                                <m:r>
                                  <a:rPr lang="en-US" sz="2000" i="1">
                                    <a:effectLst/>
                                    <a:latin typeface="Cambria Math"/>
                                    <a:ea typeface="Verdana" charset="0"/>
                                    <a:cs typeface="Verdana" charset="0"/>
                                  </a:rPr>
                                  <m:t>𝑥</m:t>
                                </m:r>
                              </m:oMath>
                            </m:oMathPara>
                          </a14:m>
                          <a:endParaRPr lang="en-US" sz="2000" dirty="0">
                            <a:effectLst/>
                            <a:latin typeface="Verdana" charset="0"/>
                            <a:ea typeface="Verdana" charset="0"/>
                            <a:cs typeface="Verdana" charset="0"/>
                          </a:endParaRPr>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𝑥</m:t>
                                </m:r>
                                <m:r>
                                  <a:rPr lang="en-US" sz="2000" i="1">
                                    <a:effectLst/>
                                    <a:latin typeface="Cambria Math"/>
                                    <a:ea typeface="Verdana" charset="0"/>
                                    <a:cs typeface="Verdana" charset="0"/>
                                  </a:rPr>
                                  <m:t>−4=−12</m:t>
                                </m:r>
                              </m:oMath>
                            </m:oMathPara>
                          </a14:m>
                          <a:endParaRPr lang="en-US" sz="2000">
                            <a:effectLst/>
                            <a:latin typeface="Verdana" charset="0"/>
                            <a:ea typeface="Verdana" charset="0"/>
                            <a:cs typeface="Verdana" charset="0"/>
                          </a:endParaRPr>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439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469+</m:t>
                                </m:r>
                                <m:r>
                                  <a:rPr lang="en-US" sz="2000" i="1">
                                    <a:effectLst/>
                                    <a:latin typeface="Cambria Math"/>
                                    <a:ea typeface="Verdana" charset="0"/>
                                    <a:cs typeface="Verdana" charset="0"/>
                                  </a:rPr>
                                  <m:t>𝑧</m:t>
                                </m:r>
                                <m:r>
                                  <a:rPr lang="en-US" sz="2000" i="1">
                                    <a:effectLst/>
                                    <a:latin typeface="Cambria Math"/>
                                    <a:ea typeface="Verdana" charset="0"/>
                                    <a:cs typeface="Verdana" charset="0"/>
                                  </a:rPr>
                                  <m:t>=459</m:t>
                                </m:r>
                              </m:oMath>
                            </m:oMathPara>
                          </a14:m>
                          <a:endParaRPr lang="en-US" sz="2000" dirty="0">
                            <a:effectLst/>
                            <a:latin typeface="Verdana" charset="0"/>
                            <a:ea typeface="Verdana" charset="0"/>
                            <a:cs typeface="Verdana" charset="0"/>
                          </a:endParaRPr>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a:ea typeface="Verdana" charset="0"/>
                                        <a:cs typeface="Verdana" charset="0"/>
                                      </a:rPr>
                                      <m:t>𝑧</m:t>
                                    </m:r>
                                  </m:num>
                                  <m:den>
                                    <m:r>
                                      <a:rPr lang="en-US" sz="2000" i="1">
                                        <a:effectLst/>
                                        <a:latin typeface="Cambria Math"/>
                                        <a:ea typeface="Verdana" charset="0"/>
                                        <a:cs typeface="Verdana" charset="0"/>
                                      </a:rPr>
                                      <m:t>5</m:t>
                                    </m:r>
                                  </m:den>
                                </m:f>
                                <m:r>
                                  <a:rPr lang="en-US" sz="2000" i="1">
                                    <a:effectLst/>
                                    <a:latin typeface="Cambria Math"/>
                                    <a:ea typeface="Verdana" charset="0"/>
                                    <a:cs typeface="Verdana" charset="0"/>
                                  </a:rPr>
                                  <m:t>=−2</m:t>
                                </m:r>
                              </m:oMath>
                            </m:oMathPara>
                          </a14:m>
                          <a:endParaRPr lang="en-US" sz="2000" dirty="0">
                            <a:effectLst/>
                            <a:latin typeface="Verdana" charset="0"/>
                            <a:ea typeface="Verdana" charset="0"/>
                            <a:cs typeface="Verdana" charset="0"/>
                          </a:endParaRPr>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7439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3=</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a:ea typeface="Verdana" charset="0"/>
                                        <a:cs typeface="Verdana" charset="0"/>
                                      </a:rPr>
                                      <m:t>𝑤</m:t>
                                    </m:r>
                                  </m:num>
                                  <m:den>
                                    <m:r>
                                      <a:rPr lang="en-US" sz="2000" i="1">
                                        <a:effectLst/>
                                        <a:latin typeface="Cambria Math"/>
                                        <a:ea typeface="Verdana" charset="0"/>
                                        <a:cs typeface="Verdana" charset="0"/>
                                      </a:rPr>
                                      <m:t>−6</m:t>
                                    </m:r>
                                  </m:den>
                                </m:f>
                              </m:oMath>
                            </m:oMathPara>
                          </a14:m>
                          <a:endParaRPr lang="en-US" sz="2000" dirty="0">
                            <a:effectLst/>
                            <a:latin typeface="Verdana" charset="0"/>
                            <a:ea typeface="Verdana" charset="0"/>
                            <a:cs typeface="Verdana" charset="0"/>
                          </a:endParaRPr>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−2</m:t>
                                </m:r>
                                <m:r>
                                  <a:rPr lang="en-US" sz="2000" i="1">
                                    <a:effectLst/>
                                    <a:latin typeface="Cambria Math"/>
                                    <a:ea typeface="Verdana" charset="0"/>
                                    <a:cs typeface="Verdana" charset="0"/>
                                  </a:rPr>
                                  <m:t>𝑤</m:t>
                                </m:r>
                                <m:r>
                                  <a:rPr lang="en-US" sz="2000" i="1">
                                    <a:effectLst/>
                                    <a:latin typeface="Cambria Math"/>
                                    <a:ea typeface="Verdana" charset="0"/>
                                    <a:cs typeface="Verdana" charset="0"/>
                                  </a:rPr>
                                  <m:t>=36</m:t>
                                </m:r>
                              </m:oMath>
                            </m:oMathPara>
                          </a14:m>
                          <a:endParaRPr lang="en-US" sz="2000" dirty="0">
                            <a:effectLst/>
                            <a:latin typeface="Verdana" charset="0"/>
                            <a:ea typeface="Verdana" charset="0"/>
                            <a:cs typeface="Verdana" charset="0"/>
                          </a:endParaRPr>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74395">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−6</m:t>
                                </m:r>
                                <m:r>
                                  <a:rPr lang="en-US" sz="2000">
                                    <a:effectLst/>
                                    <a:latin typeface="Cambria Math"/>
                                    <a:ea typeface="Verdana" charset="0"/>
                                    <a:cs typeface="Verdana" charset="0"/>
                                  </a:rPr>
                                  <m:t>=</m:t>
                                </m:r>
                                <m:r>
                                  <a:rPr lang="en-US" sz="2000" i="1">
                                    <a:effectLst/>
                                    <a:latin typeface="Cambria Math"/>
                                    <a:ea typeface="Verdana" charset="0"/>
                                    <a:cs typeface="Verdana" charset="0"/>
                                  </a:rPr>
                                  <m:t>𝑥</m:t>
                                </m:r>
                                <m:r>
                                  <a:rPr lang="en-US" sz="2000" i="1">
                                    <a:effectLst/>
                                    <a:latin typeface="Cambria Math"/>
                                    <a:ea typeface="Verdana" charset="0"/>
                                    <a:cs typeface="Verdana" charset="0"/>
                                  </a:rPr>
                                  <m:t>−20</m:t>
                                </m:r>
                              </m:oMath>
                            </m:oMathPara>
                          </a14:m>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 </a:t>
                          </a:r>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charset="0"/>
                                    <a:cs typeface="Verdana" charset="0"/>
                                  </a:rPr>
                                  <m:t>−</m:t>
                                </m:r>
                                <m:r>
                                  <a:rPr lang="en-US" sz="2000">
                                    <a:effectLst/>
                                    <a:latin typeface="Cambria Math"/>
                                    <a:ea typeface="Verdana" charset="0"/>
                                    <a:cs typeface="Verdana" charset="0"/>
                                  </a:rPr>
                                  <m:t>8=</m:t>
                                </m:r>
                                <m:r>
                                  <a:rPr lang="en-US" sz="2000" i="1">
                                    <a:effectLst/>
                                    <a:latin typeface="Cambria Math"/>
                                    <a:ea typeface="Verdana" charset="0"/>
                                    <a:cs typeface="Verdana" charset="0"/>
                                  </a:rPr>
                                  <m:t>−</m:t>
                                </m:r>
                                <m:r>
                                  <a:rPr lang="en-US" sz="2000">
                                    <a:effectLst/>
                                    <a:latin typeface="Cambria Math"/>
                                    <a:ea typeface="Verdana" charset="0"/>
                                    <a:cs typeface="Verdana" charset="0"/>
                                  </a:rPr>
                                  <m:t>22+</m:t>
                                </m:r>
                                <m:r>
                                  <a:rPr lang="en-US" sz="2000" i="1">
                                    <a:effectLst/>
                                    <a:latin typeface="Cambria Math"/>
                                    <a:ea typeface="Verdana" charset="0"/>
                                    <a:cs typeface="Verdana" charset="0"/>
                                  </a:rPr>
                                  <m:t>𝑥</m:t>
                                </m:r>
                              </m:oMath>
                            </m:oMathPara>
                          </a14:m>
                          <a:endParaRPr lang="en-US" sz="2000" dirty="0">
                            <a:effectLst/>
                            <a:latin typeface="Verdana" charset="0"/>
                            <a:ea typeface="Verdana" charset="0"/>
                            <a:cs typeface="Verdana" charset="0"/>
                          </a:endParaRPr>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988307257"/>
                  </p:ext>
                </p:extLst>
              </p:nvPr>
            </p:nvGraphicFramePr>
            <p:xfrm>
              <a:off x="2628038" y="2892240"/>
              <a:ext cx="7200000" cy="3529580"/>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32000">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Partner A</a:t>
                          </a:r>
                          <a:endParaRPr lang="en-US" sz="2000" dirty="0">
                            <a:effectLst/>
                            <a:latin typeface="Verdana" charset="0"/>
                            <a:ea typeface="Verdana" charset="0"/>
                            <a:cs typeface="Verdana" charset="0"/>
                          </a:endParaRPr>
                        </a:p>
                      </a:txBody>
                      <a:tcPr marL="41310" marR="41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charset="0"/>
                              <a:ea typeface="Verdana" charset="0"/>
                              <a:cs typeface="Verdana" charset="0"/>
                            </a:rPr>
                            <a:t>Partner B</a:t>
                          </a:r>
                          <a:endParaRPr lang="en-US" sz="2000" dirty="0">
                            <a:effectLst/>
                            <a:latin typeface="Verdana" charset="0"/>
                            <a:ea typeface="Verdana" charset="0"/>
                            <a:cs typeface="Verdana" charset="0"/>
                          </a:endParaRPr>
                        </a:p>
                      </a:txBody>
                      <a:tcPr marL="41310" marR="413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74395">
                    <a:tc>
                      <a:txBody>
                        <a:bodyPr/>
                        <a:lstStyle/>
                        <a:p>
                          <a:endParaRPr lang="en-US"/>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t="-57377" r="-100704" b="-303279"/>
                          </a:stretch>
                        </a:blipFill>
                      </a:tcPr>
                    </a:tc>
                    <a:tc>
                      <a:txBody>
                        <a:bodyPr/>
                        <a:lstStyle/>
                        <a:p>
                          <a:endParaRPr lang="en-US"/>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000" t="-57377" r="-704" b="-303279"/>
                          </a:stretch>
                        </a:blipFill>
                      </a:tcPr>
                    </a:tc>
                    <a:extLst>
                      <a:ext uri="{0D108BD9-81ED-4DB2-BD59-A6C34878D82A}">
                        <a16:rowId xmlns:a16="http://schemas.microsoft.com/office/drawing/2014/main" val="10001"/>
                      </a:ext>
                    </a:extLst>
                  </a:tr>
                  <a:tr h="774395">
                    <a:tc>
                      <a:txBody>
                        <a:bodyPr/>
                        <a:lstStyle/>
                        <a:p>
                          <a:endParaRPr lang="en-US"/>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t="-154839" r="-100704" b="-198387"/>
                          </a:stretch>
                        </a:blipFill>
                      </a:tcPr>
                    </a:tc>
                    <a:tc>
                      <a:txBody>
                        <a:bodyPr/>
                        <a:lstStyle/>
                        <a:p>
                          <a:endParaRPr lang="en-US"/>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000" t="-154839" r="-704" b="-198387"/>
                          </a:stretch>
                        </a:blipFill>
                      </a:tcPr>
                    </a:tc>
                    <a:extLst>
                      <a:ext uri="{0D108BD9-81ED-4DB2-BD59-A6C34878D82A}">
                        <a16:rowId xmlns:a16="http://schemas.microsoft.com/office/drawing/2014/main" val="10002"/>
                      </a:ext>
                    </a:extLst>
                  </a:tr>
                  <a:tr h="774395">
                    <a:tc>
                      <a:txBody>
                        <a:bodyPr/>
                        <a:lstStyle/>
                        <a:p>
                          <a:endParaRPr lang="en-US"/>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t="-259016" r="-100704" b="-101639"/>
                          </a:stretch>
                        </a:blipFill>
                      </a:tcPr>
                    </a:tc>
                    <a:tc>
                      <a:txBody>
                        <a:bodyPr/>
                        <a:lstStyle/>
                        <a:p>
                          <a:endParaRPr lang="en-US"/>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000" t="-259016" r="-704" b="-101639"/>
                          </a:stretch>
                        </a:blipFill>
                      </a:tcPr>
                    </a:tc>
                    <a:extLst>
                      <a:ext uri="{0D108BD9-81ED-4DB2-BD59-A6C34878D82A}">
                        <a16:rowId xmlns:a16="http://schemas.microsoft.com/office/drawing/2014/main" val="10003"/>
                      </a:ext>
                    </a:extLst>
                  </a:tr>
                  <a:tr h="774395">
                    <a:tc>
                      <a:txBody>
                        <a:bodyPr/>
                        <a:lstStyle/>
                        <a:p>
                          <a:endParaRPr lang="en-US"/>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t="-359016" r="-100704" b="-1639"/>
                          </a:stretch>
                        </a:blipFill>
                      </a:tcPr>
                    </a:tc>
                    <a:tc>
                      <a:txBody>
                        <a:bodyPr/>
                        <a:lstStyle/>
                        <a:p>
                          <a:endParaRPr lang="en-US"/>
                        </a:p>
                      </a:txBody>
                      <a:tcPr marL="41310" marR="413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000" t="-359016" r="-704" b="-1639"/>
                          </a:stretch>
                        </a:blipFill>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349630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29</a:t>
            </a:r>
          </a:p>
        </p:txBody>
      </p:sp>
      <p:sp>
        <p:nvSpPr>
          <p:cNvPr id="5" name="TextBox 4">
            <a:extLst>
              <a:ext uri="{FF2B5EF4-FFF2-40B4-BE49-F238E27FC236}">
                <a16:creationId xmlns:a16="http://schemas.microsoft.com/office/drawing/2014/main" id="{2AA35BC6-D428-FC41-BDE5-6438AB8840FC}"/>
              </a:ext>
            </a:extLst>
          </p:cNvPr>
          <p:cNvSpPr txBox="1"/>
          <p:nvPr/>
        </p:nvSpPr>
        <p:spPr>
          <a:xfrm>
            <a:off x="1316389" y="421817"/>
            <a:ext cx="8875825"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The equations in each row have the same solutions. Check your work with your partner, making revisions to your work if necessary.</a:t>
            </a: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284631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68153"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29</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29</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973766" y="60325"/>
            <a:ext cx="86475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1.5.6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1038950" y="2889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415143" y="1386025"/>
            <a:ext cx="8972441"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Draw an X on each line to indicate where your current learning is related to each target. </a:t>
            </a:r>
          </a:p>
        </p:txBody>
      </p:sp>
      <p:sp>
        <p:nvSpPr>
          <p:cNvPr id="8" name="Google Shape;278;g104476d1465_1_17">
            <a:extLst>
              <a:ext uri="{FF2B5EF4-FFF2-40B4-BE49-F238E27FC236}">
                <a16:creationId xmlns:a16="http://schemas.microsoft.com/office/drawing/2014/main" id="{055A48D7-DC81-5F4D-9632-5F42A5D9EE4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p:cNvSpPr/>
          <p:nvPr/>
        </p:nvSpPr>
        <p:spPr>
          <a:xfrm>
            <a:off x="1786251" y="2248494"/>
            <a:ext cx="8266726" cy="3277820"/>
          </a:xfrm>
          <a:prstGeom prst="rect">
            <a:avLst/>
          </a:prstGeom>
        </p:spPr>
        <p:txBody>
          <a:bodyPr wrap="square">
            <a:spAutoFit/>
          </a:bodyPr>
          <a:lstStyle/>
          <a:p>
            <a:pPr marL="893763" lvl="1" indent="-436563">
              <a:lnSpc>
                <a:spcPct val="115000"/>
              </a:lnSpc>
              <a:buFont typeface="Wingdings" charset="2"/>
              <a:buChar char=""/>
            </a:pPr>
            <a:r>
              <a:rPr lang="en-US" sz="2000" dirty="0">
                <a:latin typeface="Verdana" charset="0"/>
                <a:ea typeface="Verdana" charset="0"/>
                <a:cs typeface="Verdana" charset="0"/>
              </a:rPr>
              <a:t>I can solve one-step equations involving addition and subtraction.</a:t>
            </a:r>
          </a:p>
          <a:p>
            <a:pPr marL="742950" lvl="1" indent="-285750">
              <a:lnSpc>
                <a:spcPct val="115000"/>
              </a:lnSpc>
              <a:buFont typeface="Wingdings" charset="2"/>
              <a:buChar char=""/>
            </a:pPr>
            <a:endParaRPr lang="en-US" sz="2000" dirty="0">
              <a:latin typeface="Verdana" charset="0"/>
              <a:ea typeface="Verdana" charset="0"/>
              <a:cs typeface="Verdana" charset="0"/>
            </a:endParaRPr>
          </a:p>
          <a:p>
            <a:pPr marL="742950" lvl="1" indent="-285750">
              <a:lnSpc>
                <a:spcPct val="115000"/>
              </a:lnSpc>
              <a:buFont typeface="Wingdings" charset="2"/>
              <a:buChar char=""/>
            </a:pPr>
            <a:endParaRPr lang="en-US" sz="2000" dirty="0">
              <a:latin typeface="Verdana" charset="0"/>
              <a:ea typeface="Verdana" charset="0"/>
              <a:cs typeface="Verdana" charset="0"/>
            </a:endParaRPr>
          </a:p>
          <a:p>
            <a:pPr marL="742950" lvl="1" indent="-285750">
              <a:lnSpc>
                <a:spcPct val="115000"/>
              </a:lnSpc>
              <a:buFont typeface="Wingdings" charset="2"/>
              <a:buChar char=""/>
            </a:pPr>
            <a:endParaRPr lang="en-US" sz="2000" dirty="0">
              <a:latin typeface="Verdana" charset="0"/>
              <a:ea typeface="Verdana" charset="0"/>
              <a:cs typeface="Verdana" charset="0"/>
            </a:endParaRPr>
          </a:p>
          <a:p>
            <a:pPr marL="742950" lvl="1" indent="-285750">
              <a:lnSpc>
                <a:spcPct val="115000"/>
              </a:lnSpc>
              <a:buFont typeface="Wingdings" charset="2"/>
              <a:buChar char=""/>
            </a:pPr>
            <a:endParaRPr lang="en-US" sz="2000" dirty="0">
              <a:latin typeface="Verdana" charset="0"/>
              <a:ea typeface="Verdana" charset="0"/>
              <a:cs typeface="Verdana" charset="0"/>
            </a:endParaRPr>
          </a:p>
          <a:p>
            <a:pPr marL="893763" lvl="1" indent="-436563">
              <a:lnSpc>
                <a:spcPct val="115000"/>
              </a:lnSpc>
              <a:buFont typeface="Wingdings" charset="2"/>
              <a:buChar char=""/>
            </a:pPr>
            <a:r>
              <a:rPr lang="en-US" sz="2000" dirty="0">
                <a:latin typeface="Verdana" charset="0"/>
                <a:ea typeface="Verdana" charset="0"/>
                <a:cs typeface="Verdana" charset="0"/>
              </a:rPr>
              <a:t>I can one-step equations involving multiplication and division.</a:t>
            </a:r>
          </a:p>
          <a:p>
            <a:pPr marL="742950" lvl="1" indent="-285750">
              <a:lnSpc>
                <a:spcPct val="115000"/>
              </a:lnSpc>
              <a:buFont typeface="Wingdings" charset="2"/>
              <a:buChar char=""/>
            </a:pPr>
            <a:endParaRPr lang="en-US" sz="2000" dirty="0">
              <a:latin typeface="Verdana" charset="0"/>
              <a:ea typeface="Verdana" charset="0"/>
              <a:cs typeface="Verdana" charset="0"/>
            </a:endParaRPr>
          </a:p>
        </p:txBody>
      </p:sp>
      <p:pic>
        <p:nvPicPr>
          <p:cNvPr id="3" name="Picture 2"/>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87066" y="3150364"/>
            <a:ext cx="7073900" cy="1143000"/>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87066" y="5224725"/>
            <a:ext cx="7073900" cy="1143000"/>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1338</TotalTime>
  <Words>1129</Words>
  <Application>Microsoft Office PowerPoint</Application>
  <PresentationFormat>Widescreen</PresentationFormat>
  <Paragraphs>240</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Cambria</vt:lpstr>
      <vt:lpstr>Cambria Math</vt:lpstr>
      <vt:lpstr>Century Gothic</vt:lpstr>
      <vt:lpstr>Verdana</vt:lpstr>
      <vt:lpstr>Wingdings</vt:lpstr>
      <vt:lpstr>1_Office Theme</vt:lpstr>
      <vt:lpstr>7th Grade Math  Unit 1, Lesson 5  Solving One-Step Equations  Volume 1, pg. 25  </vt:lpstr>
      <vt:lpstr>Benchmarks</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Try It</vt:lpstr>
      <vt:lpstr>PowerPoint Presentation</vt:lpstr>
      <vt:lpstr>PowerPoint Presentation</vt:lpstr>
      <vt:lpstr>Collaboration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32</cp:revision>
  <dcterms:created xsi:type="dcterms:W3CDTF">2015-03-17T18:51:18Z</dcterms:created>
  <dcterms:modified xsi:type="dcterms:W3CDTF">2022-07-11T01:31:28Z</dcterms:modified>
</cp:coreProperties>
</file>