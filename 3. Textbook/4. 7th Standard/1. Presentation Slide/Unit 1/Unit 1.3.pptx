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36" r:id="rId12"/>
    <p:sldId id="337" r:id="rId13"/>
    <p:sldId id="346" r:id="rId14"/>
    <p:sldId id="34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973D"/>
    <a:srgbClr val="F25E5B"/>
    <a:srgbClr val="F79647"/>
    <a:srgbClr val="FCBD1E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91"/>
    <p:restoredTop sz="94694"/>
  </p:normalViewPr>
  <p:slideViewPr>
    <p:cSldViewPr snapToGrid="0">
      <p:cViewPr varScale="1">
        <p:scale>
          <a:sx n="79" d="100"/>
          <a:sy n="79" d="100"/>
        </p:scale>
        <p:origin x="12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1285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940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505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873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4472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799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1166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5622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518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06472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9610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9116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9228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6420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854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659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6406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Rational Numbers and Absolute Value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321975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6.NSO.1.1 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Extend previous understanding of numbers to define rational numbers. 	Plot, order, and compare rational numbers.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6.NSO.1.2 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Given a mathematical or real-world context, represent quantities that 	have opposite directions using rational numbers. Compare them on a 	number line and explain the meaning of zero within its context.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6.NSO.1.3 </a:t>
            </a:r>
          </a:p>
          <a:p>
            <a:pPr marL="95250" indent="0">
              <a:buNone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Given a mathematical or real-world context, interpret the absolute value 	of a number as the distance from zero on a number line. Find the 	absolute value of rational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plot, compare, and order rational numbers in a mathematical or real-world context.</a:t>
            </a:r>
          </a:p>
          <a:p>
            <a:pPr marL="342900" indent="-342900">
              <a:buFont typeface="Wingdings" charset="2"/>
              <a:buChar char="q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compare and perform operations involving the absolute value of two numbers.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1.3.1 Warm-Up: Math Talk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14400" y="1386025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Are there more inches in a mile or seconds in a day?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with your partner and justify your reasoning mathematically.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77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1.3.2 Refresher: Rational Numbers, Integers, and Negative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51FF2-AD43-3B4B-B9DE-330920D33388}"/>
              </a:ext>
            </a:extLst>
          </p:cNvPr>
          <p:cNvSpPr txBox="1"/>
          <p:nvPr/>
        </p:nvSpPr>
        <p:spPr>
          <a:xfrm>
            <a:off x="2060448" y="1386026"/>
            <a:ext cx="83271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values in green on the number line are some of the values in the set of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integers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set of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rational numbers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includes all integers as well as the fractional parts between integers on the number line.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C66DE09-9EE2-BE4D-96E6-6AAAC641C8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8816" y="2104573"/>
            <a:ext cx="7010400" cy="787400"/>
          </a:xfrm>
          <a:prstGeom prst="rect">
            <a:avLst/>
          </a:prstGeom>
        </p:spPr>
      </p:pic>
      <p:sp>
        <p:nvSpPr>
          <p:cNvPr id="11" name="Text Box 24"/>
          <p:cNvSpPr txBox="1"/>
          <p:nvPr/>
        </p:nvSpPr>
        <p:spPr>
          <a:xfrm>
            <a:off x="2718816" y="4122601"/>
            <a:ext cx="6629400" cy="1073034"/>
          </a:xfrm>
          <a:prstGeom prst="roundRect">
            <a:avLst/>
          </a:prstGeom>
          <a:solidFill>
            <a:srgbClr val="E2EFD6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i="1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	Rational numbers</a:t>
            </a:r>
            <a:r>
              <a:rPr lang="en-US" sz="2000" dirty="0">
                <a:solidFill>
                  <a:srgbClr val="6E973D"/>
                </a:solidFill>
                <a:latin typeface="Verdana" charset="0"/>
                <a:ea typeface="Verdana" charset="0"/>
                <a:cs typeface="Verdana" charset="0"/>
              </a:rPr>
              <a:t> are numbers that can 	be expressed as the ratio of two integers.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7394" y="4357500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676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EAAB6-B932-C047-9261-EF734547974E}"/>
              </a:ext>
            </a:extLst>
          </p:cNvPr>
          <p:cNvSpPr txBox="1"/>
          <p:nvPr/>
        </p:nvSpPr>
        <p:spPr>
          <a:xfrm>
            <a:off x="914400" y="42285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definition of rational numbers to write each number as a ratio of two integers.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09789B1D-7DA0-7349-9D9F-61D903C4981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27704"/>
                  </p:ext>
                </p:extLst>
              </p:nvPr>
            </p:nvGraphicFramePr>
            <p:xfrm>
              <a:off x="2705100" y="1743527"/>
              <a:ext cx="6781800" cy="1922145"/>
            </p:xfrm>
            <a:graphic>
              <a:graphicData uri="http://schemas.openxmlformats.org/drawingml/2006/table">
                <a:tbl>
                  <a:tblPr bandRow="1"/>
                  <a:tblGrid>
                    <a:gridCol w="26813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004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Number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Ratio of Two Integers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−1.5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27704"/>
                  </p:ext>
                </p:extLst>
              </p:nvPr>
            </p:nvGraphicFramePr>
            <p:xfrm>
              <a:off x="2705100" y="1743527"/>
              <a:ext cx="6781800" cy="1922145"/>
            </p:xfrm>
            <a:graphic>
              <a:graphicData uri="http://schemas.openxmlformats.org/drawingml/2006/table">
                <a:tbl>
                  <a:tblPr bandRow="1"/>
                  <a:tblGrid>
                    <a:gridCol w="26813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004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Number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Ratio of Two Integers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4" t="-68421" r="-154028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4" t="-168421" r="-154028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932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46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1.3.3 Guided Practice: Plotting Rational Numbers on the Number Line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2060448" y="1386025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number line shown to complete the following.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2219371"/>
            <a:ext cx="7200900" cy="85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44946" y="3225258"/>
                <a:ext cx="7673116" cy="3303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5988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Make a tick mark halfway between each value marked on the number line. Label each tick mark with the value of its location. </a:t>
                </a: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Make another tick mark halfway between each value and the tick marks that were previously made. Label each with the value of its location.</a:t>
                </a: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Plot and label the values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7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0.25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946" y="3225258"/>
                <a:ext cx="7673116" cy="3303981"/>
              </a:xfrm>
              <a:prstGeom prst="rect">
                <a:avLst/>
              </a:prstGeom>
              <a:blipFill>
                <a:blip r:embed="rId6"/>
                <a:stretch>
                  <a:fillRect t="-763" b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806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914400" y="386281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values are shown.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196891" y="1136068"/>
                <a:ext cx="379821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0.4     −15%        12%      −0.25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891" y="1136068"/>
                <a:ext cx="3798219" cy="400110"/>
              </a:xfrm>
              <a:prstGeom prst="rect">
                <a:avLst/>
              </a:prstGeom>
              <a:blipFill>
                <a:blip r:embed="rId4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340429" y="1763134"/>
            <a:ext cx="791913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indent="-465138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Plot each of the values on the number line. Label each point with its numeric value.</a:t>
            </a: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5138" indent="-465138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inequality statement to show the relationship between the values.</a:t>
            </a:r>
          </a:p>
          <a:p>
            <a:pPr marL="465138" indent="-465138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549" y="2678606"/>
            <a:ext cx="7200900" cy="850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658589" y="4966751"/>
                <a:ext cx="803786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algn="ctr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_______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&lt;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_______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&lt;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_______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&lt;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_______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589" y="4966751"/>
                <a:ext cx="8037860" cy="400110"/>
              </a:xfrm>
              <a:prstGeom prst="rect">
                <a:avLst/>
              </a:prstGeom>
              <a:blipFill>
                <a:blip r:embed="rId6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851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482927"/>
            <a:ext cx="105156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Complete the statements.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552700" y="1142647"/>
                <a:ext cx="806412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513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moving from left to right (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 on the number line,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1142647"/>
                <a:ext cx="8064127" cy="400110"/>
              </a:xfrm>
              <a:prstGeom prst="rect">
                <a:avLst/>
              </a:prstGeom>
              <a:blipFill>
                <a:blip r:embed="rId4"/>
                <a:stretch>
                  <a:fillRect l="-943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890932" y="1754893"/>
            <a:ext cx="66014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values                        This can be described 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 moving in a                     direction.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6534" y="1564272"/>
            <a:ext cx="1854200" cy="876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3488" y="2478612"/>
            <a:ext cx="1676400" cy="95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552699" y="3692438"/>
                <a:ext cx="727795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514350" indent="-51435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moving from right to left (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←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 on the number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699" y="3692438"/>
                <a:ext cx="7277954" cy="400110"/>
              </a:xfrm>
              <a:prstGeom prst="rect">
                <a:avLst/>
              </a:prstGeom>
              <a:blipFill>
                <a:blip r:embed="rId7"/>
                <a:stretch>
                  <a:fillRect l="-1045" t="-6061" r="-697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035696" y="4330723"/>
            <a:ext cx="700223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line, the values                       This can be described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lvl="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 moving in a                      direction. 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077" y="4116142"/>
            <a:ext cx="1854200" cy="8763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077" y="5051997"/>
            <a:ext cx="1676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4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508367"/>
            <a:ext cx="61590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Order these values from least to greatest.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486594" y="1394645"/>
                <a:ext cx="7462156" cy="11439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0.43,  −4.2,  0,  50%,  −1.5,  −6.712,  19%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algn="ctr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_____,	_____,	_____,	_____,	_____,	_____,	_____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594" y="1394645"/>
                <a:ext cx="7462156" cy="1143903"/>
              </a:xfrm>
              <a:prstGeom prst="rect">
                <a:avLst/>
              </a:prstGeom>
              <a:blipFill>
                <a:blip r:embed="rId4"/>
                <a:stretch>
                  <a:fillRect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2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169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72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1.3.4 Guided Practice: Absolute Value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914400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words from the bank below, complete the statements. Not all words will be used.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2308321"/>
            <a:ext cx="7137400" cy="77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3424826"/>
            <a:ext cx="10515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Pairs of opposite values are the same ______________ from zero on the number line. They are mirror images of each other, with a line of symmetry through _________. The distance a number is from zero on a number line is called ___________________.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6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914400" y="386281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14400" y="1018598"/>
                <a:ext cx="10515600" cy="36317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absolute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____ because they are both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number line. </a:t>
                </a:r>
              </a:p>
              <a:p>
                <a:pPr marL="457200">
                  <a:spcAft>
                    <a:spcPts val="1000"/>
                  </a:spcAf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spcAft>
                    <a:spcPts val="1000"/>
                  </a:spcAf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spcAft>
                    <a:spcPts val="1000"/>
                  </a:spcAf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spcAft>
                    <a:spcPts val="1000"/>
                  </a:spcAf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symbol for absolute value is two vertical bars around a number. The absolute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written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>
                  <a:spcAft>
                    <a:spcPts val="1000"/>
                  </a:spcAf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018598"/>
                <a:ext cx="10515600" cy="3631763"/>
              </a:xfrm>
              <a:prstGeom prst="rect">
                <a:avLst/>
              </a:prstGeom>
              <a:blipFill>
                <a:blip r:embed="rId4"/>
                <a:stretch>
                  <a:fillRect t="-1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5550" y="2072087"/>
            <a:ext cx="7200900" cy="127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797152" y="4453141"/>
                <a:ext cx="259769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Aft>
                    <a:spcPts val="100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−4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152" y="4453141"/>
                <a:ext cx="2597699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6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914400" y="386281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each pair of values and their absolute values.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14400" y="1138536"/>
                <a:ext cx="10515600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5988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each row, use the symbols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&gt;, &lt;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complete each inequality.</a:t>
                </a: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5988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what you notice about the comparisons with your partner. Then, summarize your discussion.</a:t>
                </a:r>
              </a:p>
              <a:p>
                <a:pPr marL="915988" lvl="1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38536"/>
                <a:ext cx="10515600" cy="4708981"/>
              </a:xfrm>
              <a:prstGeom prst="rect">
                <a:avLst/>
              </a:prstGeom>
              <a:blipFill>
                <a:blip r:embed="rId4"/>
                <a:stretch>
                  <a:fillRect t="-806" r="-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752995"/>
                  </p:ext>
                </p:extLst>
              </p:nvPr>
            </p:nvGraphicFramePr>
            <p:xfrm>
              <a:off x="2973070" y="1887309"/>
              <a:ext cx="6245860" cy="22694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42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Inequality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Absolute Value Inequality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−5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|4|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|−5|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−3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2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|−3|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|2|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−6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|6|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___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|−6|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752995"/>
                  </p:ext>
                </p:extLst>
              </p:nvPr>
            </p:nvGraphicFramePr>
            <p:xfrm>
              <a:off x="2973070" y="1887309"/>
              <a:ext cx="6245860" cy="22694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827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88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42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Inequality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Absolute Value Inequality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29" t="-122727" r="-115429" b="-2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6500" t="-122727" r="-1000" b="-2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76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29" t="-217778" r="-115429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6500" t="-217778" r="-1000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46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Pair 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429" t="-332558" r="-115429" b="-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6500" t="-332558" r="-1000" b="-6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6342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14400" y="386281"/>
                <a:ext cx="105156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Dariel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owes his friend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$15.50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6281"/>
                <a:ext cx="10515600" cy="2862322"/>
              </a:xfrm>
              <a:prstGeom prst="rect">
                <a:avLst/>
              </a:prstGeom>
              <a:blipFill>
                <a:blip r:embed="rId4"/>
                <a:stretch>
                  <a:fillRect l="-603" t="-1327" b="-3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4400" y="999098"/>
            <a:ext cx="10515600" cy="12227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200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When comparing the absolute values of two numbers, numbers that are closer to zero will always have the 		   absolute value.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8240" y="1592774"/>
            <a:ext cx="1663700" cy="927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14400" y="3449258"/>
                <a:ext cx="10515600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Sketch a number line that represents this situation.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Represent this situation as a rational number. 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absolute value of the rational number? </a:t>
                </a:r>
              </a:p>
              <a:p>
                <a:pPr marL="914400" indent="-4635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635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 in this situation? 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49258"/>
                <a:ext cx="10515600" cy="2246769"/>
              </a:xfrm>
              <a:prstGeom prst="rect">
                <a:avLst/>
              </a:prstGeom>
              <a:blipFill>
                <a:blip r:embed="rId6"/>
                <a:stretch>
                  <a:fillRect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561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227396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514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1.3.5 Try It: Absolute Value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each statement and model it on the number line given.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519850" y="2381857"/>
                <a:ext cx="2952218" cy="2504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−7.8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=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</a:t>
                </a: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______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=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charset="0"/>
                        <a:cs typeface="Verdana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 indent="-465138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50" y="2381857"/>
                <a:ext cx="2952218" cy="2504083"/>
              </a:xfrm>
              <a:prstGeom prst="rect">
                <a:avLst/>
              </a:prstGeom>
              <a:blipFill>
                <a:blip r:embed="rId5"/>
                <a:stretch>
                  <a:fillRect l="-2268" t="-1951" r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4600" y="3086100"/>
            <a:ext cx="7162800" cy="673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8637" y="4751389"/>
            <a:ext cx="6074727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1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914400" y="349705"/>
                <a:ext cx="105156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must be true about two numbers that have the same absolute value?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&gt; ,  &lt; 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or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to compare each pair of values.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9705"/>
                <a:ext cx="10515600" cy="3785652"/>
              </a:xfrm>
              <a:prstGeom prst="rect">
                <a:avLst/>
              </a:prstGeom>
              <a:blipFill>
                <a:blip r:embed="rId4"/>
                <a:stretch>
                  <a:fillRect l="-603" t="-1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3DDED37-A9DC-1840-BFB8-744A6C95606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2395585"/>
                  </p:ext>
                </p:extLst>
              </p:nvPr>
            </p:nvGraphicFramePr>
            <p:xfrm>
              <a:off x="1578447" y="4135357"/>
              <a:ext cx="7886701" cy="914400"/>
            </p:xfrm>
            <a:graphic>
              <a:graphicData uri="http://schemas.openxmlformats.org/drawingml/2006/table">
                <a:tbl>
                  <a:tblPr bandRow="1"/>
                  <a:tblGrid>
                    <a:gridCol w="2459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893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748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670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−42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−25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−21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18</m:t>
                                  </m:r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|−582|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|−790|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2395585"/>
                  </p:ext>
                </p:extLst>
              </p:nvPr>
            </p:nvGraphicFramePr>
            <p:xfrm>
              <a:off x="1578447" y="4135357"/>
              <a:ext cx="7886701" cy="914400"/>
            </p:xfrm>
            <a:graphic>
              <a:graphicData uri="http://schemas.openxmlformats.org/drawingml/2006/table">
                <a:tbl>
                  <a:tblPr bandRow="1"/>
                  <a:tblGrid>
                    <a:gridCol w="2459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893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748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515" r="-220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95588" r="-1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60" marR="5826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7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60969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792" y="1171567"/>
            <a:ext cx="5094385" cy="5286109"/>
          </a:xfrm>
          <a:prstGeom prst="rect">
            <a:avLst/>
          </a:prstGeom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14399" y="1386025"/>
            <a:ext cx="4593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learning pyramid.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1107</Words>
  <Application>Microsoft Office PowerPoint</Application>
  <PresentationFormat>Widescreen</PresentationFormat>
  <Paragraphs>204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7th Grade Math  Unit 1, Lesson 3  Rational Numbers and Absolute Value  Volume 1, pg. 14  </vt:lpstr>
      <vt:lpstr>Benchmarks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33</cp:revision>
  <dcterms:created xsi:type="dcterms:W3CDTF">2015-03-17T18:51:18Z</dcterms:created>
  <dcterms:modified xsi:type="dcterms:W3CDTF">2022-07-11T01:31:34Z</dcterms:modified>
</cp:coreProperties>
</file>