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35" r:id="rId11"/>
    <p:sldId id="336" r:id="rId12"/>
    <p:sldId id="337" r:id="rId13"/>
    <p:sldId id="314" r:id="rId14"/>
    <p:sldId id="315" r:id="rId15"/>
    <p:sldId id="316" r:id="rId16"/>
    <p:sldId id="341" r:id="rId17"/>
    <p:sldId id="338" r:id="rId18"/>
    <p:sldId id="339" r:id="rId19"/>
    <p:sldId id="340" r:id="rId20"/>
    <p:sldId id="342" r:id="rId21"/>
    <p:sldId id="306" r:id="rId22"/>
    <p:sldId id="307" r:id="rId23"/>
    <p:sldId id="310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94"/>
  </p:normalViewPr>
  <p:slideViewPr>
    <p:cSldViewPr snapToGrid="0">
      <p:cViewPr varScale="1">
        <p:scale>
          <a:sx n="79" d="100"/>
          <a:sy n="79" d="100"/>
        </p:scale>
        <p:origin x="95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94788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1416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3664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261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8460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7410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5629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5594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5665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3541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4964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1579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Ratio Relationships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pg.10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400" y="1600200"/>
                <a:ext cx="10515600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MA.6.AR.3.1 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Given a real-world context, write and interpret ratios to show the relative 	sizes of two quantities using appropriate notation: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: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	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MA.6.AR.3.2 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Given a real-world context, determine a rate for a ratio of quantities with 	different units. 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Calculate and interpret the corresponding unit rate.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MA.6.AR.3.4 </a:t>
                </a:r>
              </a:p>
              <a:p>
                <a:pPr marL="95250" indent="0">
                  <a:buNone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Apply ratio relationships to solve mathematical and real-world problems 	involving percentages using the relationship between two quantities. </a:t>
                </a:r>
              </a:p>
            </p:txBody>
          </p:sp>
        </mc:Choice>
        <mc:Fallback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00200"/>
                <a:ext cx="10515600" cy="4205700"/>
              </a:xfrm>
              <a:prstGeom prst="rect">
                <a:avLst/>
              </a:prstGeom>
              <a:blipFill>
                <a:blip r:embed="rId5"/>
                <a:stretch>
                  <a:fillRect r="-1217" b="-136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10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10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interpret ratios when given multiple representations.</a:t>
            </a:r>
          </a:p>
          <a:p>
            <a:pPr marL="342900" indent="-342900">
              <a:buFont typeface="Wingdings" charset="2"/>
              <a:buChar char="q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real-world problems involving ratios.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1.2.1 Warm-Up: Equivalent Fractions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1386025"/>
            <a:ext cx="5529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the digits 1 to 9 once each, fill the boxes so that the three equations show equivalent fractions.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2548" y="1470061"/>
            <a:ext cx="3968723" cy="490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21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1.2.2 Refresher: Reading and Writing Ratios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914400" y="1386026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Florida Gators are experimenting with creating a new flavor of Gatorade,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Gatormax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. To create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Gatormax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, they will mix the following ratio of red and blue Gatorade together.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C66DE09-9EE2-BE4D-96E6-6AAAC641C8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6166" y="2855768"/>
            <a:ext cx="36957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914400" y="422858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statement.</a:t>
            </a:r>
          </a:p>
          <a:p>
            <a:pPr marL="914400" indent="-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There are ____ red Gatorades for every ____ blue   </a:t>
            </a:r>
          </a:p>
          <a:p>
            <a:pPr marL="914400" indent="-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Gatorades in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Gatormax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.</a:t>
            </a:r>
          </a:p>
          <a:p>
            <a:pPr marL="914400" indent="-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14400" indent="-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There are three ways to express ratios. </a:t>
            </a: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the ratio of blue Gatorades to total Gatorades in three ways.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09789B1D-7DA0-7349-9D9F-61D903C498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298889"/>
                  </p:ext>
                </p:extLst>
              </p:nvPr>
            </p:nvGraphicFramePr>
            <p:xfrm>
              <a:off x="2171700" y="2267977"/>
              <a:ext cx="7848600" cy="2286000"/>
            </p:xfrm>
            <a:graphic>
              <a:graphicData uri="http://schemas.openxmlformats.org/drawingml/2006/table">
                <a:tbl>
                  <a:tblPr bandRow="1"/>
                  <a:tblGrid>
                    <a:gridCol w="38692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793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Method for Writing Ratios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Ratio of Red Gatorades to Blue Gatorades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Using a colon (:)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 :5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Using the word “to”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5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Using a fraction bar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298889"/>
                  </p:ext>
                </p:extLst>
              </p:nvPr>
            </p:nvGraphicFramePr>
            <p:xfrm>
              <a:off x="2171700" y="2267977"/>
              <a:ext cx="7848600" cy="2286000"/>
            </p:xfrm>
            <a:graphic>
              <a:graphicData uri="http://schemas.openxmlformats.org/drawingml/2006/table">
                <a:tbl>
                  <a:tblPr bandRow="1"/>
                  <a:tblGrid>
                    <a:gridCol w="38692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793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Method for Writing Ratios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Ratio of Red Gatorades to Blue Gatorades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Using a colon (:)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764" t="-210811" r="-639" b="-2108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Using the word “to”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764" t="-319444" r="-639" b="-1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Using a fraction bar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764" t="-419444" r="-639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90799"/>
              </p:ext>
            </p:extLst>
          </p:nvPr>
        </p:nvGraphicFramePr>
        <p:xfrm>
          <a:off x="2355850" y="5549098"/>
          <a:ext cx="7480300" cy="714375"/>
        </p:xfrm>
        <a:graphic>
          <a:graphicData uri="http://schemas.openxmlformats.org/drawingml/2006/table">
            <a:tbl>
              <a:tblPr bandRow="1"/>
              <a:tblGrid>
                <a:gridCol w="2493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2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04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767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72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1.2.3 Guided Practice: Representing Ratio Relationships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ratio of the number of students who wear glasses to the number of students who do not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2:3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707886"/>
              </a:xfrm>
              <a:prstGeom prst="rect">
                <a:avLst/>
              </a:prstGeom>
              <a:blipFill>
                <a:blip r:embed="rId5"/>
                <a:stretch>
                  <a:fillRect l="-603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401288" y="2339703"/>
            <a:ext cx="86516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double number line for this ratio.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Cambria" charset="0"/>
              <a:ea typeface="Times New Roman" charset="0"/>
              <a:cs typeface="Cambri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0462" y="2876398"/>
            <a:ext cx="6432724" cy="1901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01288" y="4778102"/>
                <a:ext cx="87790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students in the class do not wear glasses, how many students are in the class?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288" y="4778102"/>
                <a:ext cx="8779032" cy="707886"/>
              </a:xfrm>
              <a:prstGeom prst="rect">
                <a:avLst/>
              </a:prstGeom>
              <a:blipFill>
                <a:blip r:embed="rId7"/>
                <a:stretch>
                  <a:fillRect l="-764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277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14400" y="386281"/>
                <a:ext cx="105156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tape diagram to determine how many students do not wear glasses given that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students in the class. 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6281"/>
                <a:ext cx="10515600" cy="3477875"/>
              </a:xfrm>
              <a:prstGeom prst="rect">
                <a:avLst/>
              </a:prstGeom>
              <a:blipFill>
                <a:blip r:embed="rId4"/>
                <a:stretch>
                  <a:fillRect t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2029" y="1142733"/>
            <a:ext cx="5047939" cy="1964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7874885"/>
                  </p:ext>
                </p:extLst>
              </p:nvPr>
            </p:nvGraphicFramePr>
            <p:xfrm>
              <a:off x="2565399" y="4171933"/>
              <a:ext cx="7061201" cy="1371600"/>
            </p:xfrm>
            <a:graphic>
              <a:graphicData uri="http://schemas.openxmlformats.org/drawingml/2006/table">
                <a:tbl>
                  <a:tblPr bandRow="1"/>
                  <a:tblGrid>
                    <a:gridCol w="3121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137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Glasses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 Glasses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Total Students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7874885"/>
                  </p:ext>
                </p:extLst>
              </p:nvPr>
            </p:nvGraphicFramePr>
            <p:xfrm>
              <a:off x="2565399" y="4171933"/>
              <a:ext cx="7061201" cy="1371600"/>
            </p:xfrm>
            <a:graphic>
              <a:graphicData uri="http://schemas.openxmlformats.org/drawingml/2006/table">
                <a:tbl>
                  <a:tblPr bandRow="1"/>
                  <a:tblGrid>
                    <a:gridCol w="3121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137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Glasses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6538" t="-2778" r="-200962" b="-2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 Glasses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6538" t="-100000" r="-200962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806" t="-100000" r="-102913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Total Students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35577" t="-205556" r="-1923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509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1.2.4 Collaboration: Rates and Unit Rates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914400" y="1386025"/>
            <a:ext cx="10515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Four students work as baristas after school. They all start out with the same pay per hour. During the first year of employment, the baristas earn a $0.05 per hour raise in pay each month. Work with your partner to complete the following questions.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9CA456B-1791-3E43-BCF8-7E55B6240BB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3085427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0850">
              <a:buSzPts val="1800"/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relationship between the number of hours worked and the amount of money earned to 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5965" y="948863"/>
            <a:ext cx="8208936" cy="4982152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6821215" y="2144110"/>
            <a:ext cx="12139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821215" y="3605047"/>
            <a:ext cx="12139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821215" y="5087007"/>
            <a:ext cx="12139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470724" y="2144111"/>
            <a:ext cx="786866" cy="6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8470724" y="3604407"/>
            <a:ext cx="786866" cy="6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8470724" y="5086367"/>
            <a:ext cx="786866" cy="6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322904" y="5031503"/>
            <a:ext cx="229212" cy="3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9322904" y="5140060"/>
            <a:ext cx="229212" cy="3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322904" y="3540810"/>
            <a:ext cx="229212" cy="3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322904" y="3649367"/>
            <a:ext cx="229212" cy="3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322904" y="2081925"/>
            <a:ext cx="229212" cy="3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322904" y="2190482"/>
            <a:ext cx="229212" cy="3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14400" y="410665"/>
                <a:ext cx="105156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6355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student has worked as a barista for the longest amount of time?</a:t>
                </a: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Brian was hired a month after Elijah. What is Brian’s rate of pay per hour?</a:t>
                </a: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Brian worked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hours last week. How much money did Brian earn last week?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0665"/>
                <a:ext cx="10515600" cy="3477875"/>
              </a:xfrm>
              <a:prstGeom prst="rect">
                <a:avLst/>
              </a:prstGeom>
              <a:blipFill>
                <a:blip r:embed="rId4"/>
                <a:stretch>
                  <a:fillRect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9127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26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72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1.2.5 Guided Practice: Applying Ratios to Percentages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14400" y="1386026"/>
                <a:ext cx="105156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</a:t>
                </a:r>
                <a:r>
                  <a:rPr lang="en-US" sz="2000" b="1" i="1" dirty="0">
                    <a:latin typeface="Verdana" charset="0"/>
                    <a:ea typeface="Verdana" charset="0"/>
                    <a:cs typeface="Verdana" charset="0"/>
                  </a:rPr>
                  <a:t>percentage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ratio expressed as a fraction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use the diagrams or tables provided to solve the problems.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what percentage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complete the statement.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515600" cy="2246769"/>
              </a:xfrm>
              <a:prstGeom prst="rect">
                <a:avLst/>
              </a:prstGeom>
              <a:blipFill>
                <a:blip r:embed="rId5"/>
                <a:stretch>
                  <a:fillRect l="-603" t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5830" y="3730331"/>
            <a:ext cx="4898090" cy="272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04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14400" y="386281"/>
                <a:ext cx="10515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$60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complete the statement.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6281"/>
                <a:ext cx="10515600" cy="400110"/>
              </a:xfrm>
              <a:prstGeom prst="rect">
                <a:avLst/>
              </a:prstGeom>
              <a:blipFill>
                <a:blip r:embed="rId4"/>
                <a:stretch>
                  <a:fillRect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3278" y="1135380"/>
            <a:ext cx="7386145" cy="237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7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14400" y="386282"/>
                <a:ext cx="1051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pair of jeans is on sale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its regular price. The regular price of the jeans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$65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6282"/>
                <a:ext cx="10515600" cy="1015663"/>
              </a:xfrm>
              <a:prstGeom prst="rect">
                <a:avLst/>
              </a:prstGeom>
              <a:blipFill>
                <a:blip r:embed="rId4"/>
                <a:stretch>
                  <a:fillRect l="-603" t="-3704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353787" y="1231017"/>
            <a:ext cx="859496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ratio table to determine the sale price.</a:t>
            </a: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statement.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The sale price of the jeans is $________.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6343005"/>
                  </p:ext>
                </p:extLst>
              </p:nvPr>
            </p:nvGraphicFramePr>
            <p:xfrm>
              <a:off x="3460750" y="2066450"/>
              <a:ext cx="5270500" cy="1701165"/>
            </p:xfrm>
            <a:graphic>
              <a:graphicData uri="http://schemas.openxmlformats.org/drawingml/2006/table">
                <a:tbl>
                  <a:tblPr bandRow="1"/>
                  <a:tblGrid>
                    <a:gridCol w="25967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73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057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Price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Percentage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57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3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3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6343005"/>
                  </p:ext>
                </p:extLst>
              </p:nvPr>
            </p:nvGraphicFramePr>
            <p:xfrm>
              <a:off x="3460750" y="2066450"/>
              <a:ext cx="5270500" cy="1701165"/>
            </p:xfrm>
            <a:graphic>
              <a:graphicData uri="http://schemas.openxmlformats.org/drawingml/2006/table">
                <a:tbl>
                  <a:tblPr bandRow="1"/>
                  <a:tblGrid>
                    <a:gridCol w="25967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73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057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Price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Percentage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630" t="-100000" r="-474" b="-2088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630" t="-194286" r="-474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630" t="-302941" r="-474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49465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971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1.2.6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14400" y="1386025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table shows the cost of boxes of crayons at a convenience store.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36914" y="2336802"/>
                <a:ext cx="8511836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84200" indent="-584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ratio table to find the cost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boxes of crayons.</a:t>
                </a:r>
              </a:p>
              <a:p>
                <a:pPr marL="584200" indent="-584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84200" indent="-584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84200" indent="-584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84200" indent="-584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84200" indent="-584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84200" indent="-584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84200" indent="-584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unit rate in dollars per box.</a:t>
                </a:r>
              </a:p>
              <a:p>
                <a:pPr marL="584200" indent="-584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914" y="2336802"/>
                <a:ext cx="8511836" cy="2862322"/>
              </a:xfrm>
              <a:prstGeom prst="rect">
                <a:avLst/>
              </a:prstGeom>
              <a:blipFill>
                <a:blip r:embed="rId5"/>
                <a:stretch>
                  <a:fillRect l="-788" t="-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6635388"/>
                  </p:ext>
                </p:extLst>
              </p:nvPr>
            </p:nvGraphicFramePr>
            <p:xfrm>
              <a:off x="2162231" y="3166122"/>
              <a:ext cx="7061201" cy="863600"/>
            </p:xfrm>
            <a:graphic>
              <a:graphicData uri="http://schemas.openxmlformats.org/drawingml/2006/table">
                <a:tbl>
                  <a:tblPr bandRow="1"/>
                  <a:tblGrid>
                    <a:gridCol w="3121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137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Crayon Boxes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Cost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6635388"/>
                  </p:ext>
                </p:extLst>
              </p:nvPr>
            </p:nvGraphicFramePr>
            <p:xfrm>
              <a:off x="2162231" y="3166122"/>
              <a:ext cx="7061201" cy="863600"/>
            </p:xfrm>
            <a:graphic>
              <a:graphicData uri="http://schemas.openxmlformats.org/drawingml/2006/table">
                <a:tbl>
                  <a:tblPr bandRow="1"/>
                  <a:tblGrid>
                    <a:gridCol w="3121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137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129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Crayon Boxes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9070" t="-2778" r="-201860" b="-1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Cost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9070" t="-104225" r="-201860" b="-1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914400" y="422858"/>
                <a:ext cx="1051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Fatima has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off coupon at the store. Her total comes out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$70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Use a double number line, tape diagram, or ratio table to determine how much her coupon is worth.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22858"/>
                <a:ext cx="10515600" cy="1015663"/>
              </a:xfrm>
              <a:prstGeom prst="rect">
                <a:avLst/>
              </a:prstGeom>
              <a:blipFill>
                <a:blip r:embed="rId4"/>
                <a:stretch>
                  <a:fillRect l="-603" t="-3704" r="-844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A057F2B-B43B-F64E-8B11-07A9669FD9E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939</Words>
  <Application>Microsoft Office PowerPoint</Application>
  <PresentationFormat>Widescreen</PresentationFormat>
  <Paragraphs>186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7th Grade Math  Unit 1, Lesson 2  Ratio Relationships  Volume 1, pg.10  </vt:lpstr>
      <vt:lpstr>Benchmarks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31</cp:revision>
  <dcterms:created xsi:type="dcterms:W3CDTF">2015-03-17T18:51:18Z</dcterms:created>
  <dcterms:modified xsi:type="dcterms:W3CDTF">2022-07-11T01:25:33Z</dcterms:modified>
</cp:coreProperties>
</file>