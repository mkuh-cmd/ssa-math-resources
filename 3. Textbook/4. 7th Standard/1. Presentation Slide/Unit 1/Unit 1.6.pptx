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16" r:id="rId11"/>
    <p:sldId id="339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06" r:id="rId20"/>
    <p:sldId id="307" r:id="rId21"/>
    <p:sldId id="310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019"/>
    <p:restoredTop sz="94695"/>
  </p:normalViewPr>
  <p:slideViewPr>
    <p:cSldViewPr snapToGrid="0">
      <p:cViewPr varScale="1">
        <p:scale>
          <a:sx n="53" d="100"/>
          <a:sy n="53" d="100"/>
        </p:scale>
        <p:origin x="108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257734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9031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14378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0116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8593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8681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70933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4590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46473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0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6096000" y="2340938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and Solving One-Step Equations in Real-World Contexts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2031743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2192357" y="136525"/>
            <a:ext cx="790879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575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10159" y="1600200"/>
            <a:ext cx="880064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MA.6.AR.2.2 Write and solve one-step equations in one variable within a mathematical or real-world context using addition and subtraction, where all terms and solutions are integers. 	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	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MA.6.AR.2.3 Write and solve one-step equations in one variable within a mathematical or real-world context using multiplication and division, where all terms and solutions are integers.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15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929161" y="129667"/>
            <a:ext cx="868766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10159" y="1596390"/>
            <a:ext cx="880064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996068" y="264223"/>
            <a:ext cx="85429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237" y="55342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01887" y="1792411"/>
            <a:ext cx="881165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0225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write and solve one-step addition, subtraction, multiplication, and division equations that represent a real-world context.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2146200" y="60325"/>
            <a:ext cx="82413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1.6.1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7367" y="349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2060448" y="1386025"/>
            <a:ext cx="8327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number of rooms and rate per night at two different Florida hotels are shown. 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7705665"/>
                  </p:ext>
                </p:extLst>
              </p:nvPr>
            </p:nvGraphicFramePr>
            <p:xfrm>
              <a:off x="2146200" y="2218765"/>
              <a:ext cx="7849138" cy="4122359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7353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137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Downtown Miami Hotel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Luxury</a:t>
                          </a:r>
                          <a:r>
                            <a:rPr lang="en-PH" sz="2000" b="1" baseline="0" dirty="0">
                              <a:latin typeface="Verdana" pitchFamily="34" charset="0"/>
                              <a:ea typeface="Verdana" pitchFamily="34" charset="0"/>
                            </a:rPr>
                            <a:t> Key West Resort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26119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cap="non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Arial"/>
                                  <a:cs typeface="Arial"/>
                                  <a:sym typeface="Arial"/>
                                </a:rPr>
                                <m:t>527</m:t>
                              </m:r>
                            </m:oMath>
                          </a14:m>
                          <a:r>
                            <a:rPr lang="en-US" sz="20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 rooms at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Arial"/>
                                  <a:cs typeface="Arial"/>
                                  <a:sym typeface="Arial"/>
                                </a:rPr>
                                <m:t>$139</m:t>
                              </m:r>
                            </m:oMath>
                          </a14:m>
                          <a:r>
                            <a:rPr lang="en-US" sz="20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 per night</a:t>
                          </a:r>
                          <a:endParaRPr lang="en-PH" sz="20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Verdana" pitchFamily="34" charset="0"/>
                            <a:ea typeface="Verdana" pitchFamily="34" charset="0"/>
                            <a:cs typeface="Arial"/>
                            <a:sym typeface="Arial"/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cap="non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Arial"/>
                                  <a:cs typeface="Arial"/>
                                  <a:sym typeface="Arial"/>
                                </a:rPr>
                                <m:t>40</m:t>
                              </m:r>
                            </m:oMath>
                          </a14:m>
                          <a:r>
                            <a:rPr lang="en-US" sz="20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 cottages at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Arial"/>
                                  <a:cs typeface="Arial"/>
                                  <a:sym typeface="Arial"/>
                                </a:rPr>
                                <m:t>$1,049</m:t>
                              </m:r>
                            </m:oMath>
                          </a14:m>
                          <a:r>
                            <a:rPr lang="en-US" sz="20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 per night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7705665"/>
                  </p:ext>
                </p:extLst>
              </p:nvPr>
            </p:nvGraphicFramePr>
            <p:xfrm>
              <a:off x="2146200" y="2218765"/>
              <a:ext cx="7849138" cy="4122359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7353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137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Downtown Miami Hotel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Luxury</a:t>
                          </a:r>
                          <a:r>
                            <a:rPr lang="en-PH" sz="2000" b="1" baseline="0" dirty="0">
                              <a:latin typeface="Verdana" pitchFamily="34" charset="0"/>
                              <a:ea typeface="Verdana" pitchFamily="34" charset="0"/>
                            </a:rPr>
                            <a:t> Key West Resort</a:t>
                          </a:r>
                          <a:endParaRPr lang="en-PH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261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1525" r="-110508" b="-27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0769" t="-11525" r="-308" b="-27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11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15929" y="2727435"/>
            <a:ext cx="2303145" cy="3067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29424" y="2881027"/>
            <a:ext cx="3613667" cy="270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932432" y="1115304"/>
            <a:ext cx="83271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From which business would you rather earn the revenue?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Explain your reasoning using mathematics.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85F77CB-5FF9-E743-9AA8-B4C11C925C98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1377108" y="1386026"/>
                <a:ext cx="9010476" cy="5478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complete the following. </a:t>
                </a: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Diandra’s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cat weighs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pounds fewer than Kim’s puppy. Kim’s puppy weighs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17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pounds.</a:t>
                </a:r>
              </a:p>
              <a:p>
                <a:pPr marL="893763" indent="-441325">
                  <a:spcAft>
                    <a:spcPts val="1200"/>
                  </a:spcAft>
                  <a:buFont typeface="+mj-lt"/>
                  <a:buAutoNum type="alphaLcPeriod"/>
                  <a:tabLst>
                    <a:tab pos="893763" algn="l"/>
                  </a:tabLst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Select all of the equations that could be used to find the weight of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Diandra’s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cat.</a:t>
                </a:r>
              </a:p>
              <a:p>
                <a:pPr marL="1250950" lvl="1" indent="-357188">
                  <a:buFont typeface="Wingdings" charset="2"/>
                  <a:buChar char="o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+6=17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250950" lvl="1" indent="-357188">
                  <a:buFont typeface="Wingdings" charset="2"/>
                  <a:buChar char="o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−6=17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250950" lvl="1" indent="-357188">
                  <a:buFont typeface="Wingdings" charset="2"/>
                  <a:buChar char="o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=17+6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250950" lvl="1" indent="-357188">
                  <a:buFont typeface="Wingdings" charset="2"/>
                  <a:buChar char="o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=17−6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250950" lvl="1" indent="-357188">
                  <a:buFont typeface="Wingdings" charset="2"/>
                  <a:buChar char="o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−17=6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250950" lvl="1" indent="-357188">
                  <a:buFont typeface="Wingdings" charset="2"/>
                  <a:buChar char="o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+17=6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3763" lvl="1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9637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does the variable,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represent in this situation?</a:t>
                </a:r>
              </a:p>
              <a:p>
                <a:pPr marL="909637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9637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weight of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Diandra’s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cat?</a:t>
                </a:r>
              </a:p>
              <a:p>
                <a:pPr lvl="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108" y="1386026"/>
                <a:ext cx="9010476" cy="5478423"/>
              </a:xfrm>
              <a:prstGeom prst="rect">
                <a:avLst/>
              </a:prstGeom>
              <a:blipFill>
                <a:blip r:embed="rId3"/>
                <a:stretch>
                  <a:fillRect l="-704" t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71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929161" y="60325"/>
            <a:ext cx="868766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1.6.2 Collaboration: Writing and Solving Equations in Real-World Context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6424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6621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E9CA456B-1791-3E43-BCF8-7E55B6240BB8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517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7695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1929408" y="866376"/>
                <a:ext cx="832713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Four equations are shown.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3763" indent="-441325">
                  <a:buFont typeface="+mj-lt"/>
                  <a:buAutoNum type="alphaLcPeriod"/>
                  <a:tabLst>
                    <a:tab pos="893763" algn="l"/>
                  </a:tabLst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which of the equations correctly represents each situation below,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represents the unknown quantity.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9408" y="866376"/>
                <a:ext cx="8327136" cy="2862322"/>
              </a:xfrm>
              <a:prstGeom prst="rect">
                <a:avLst/>
              </a:prstGeom>
              <a:blipFill>
                <a:blip r:embed="rId4"/>
                <a:stretch>
                  <a:fillRect l="-915" t="-1327" b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12973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7406005"/>
                  </p:ext>
                </p:extLst>
              </p:nvPr>
            </p:nvGraphicFramePr>
            <p:xfrm>
              <a:off x="2132976" y="4062849"/>
              <a:ext cx="7920000" cy="1803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9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Situation 1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Situation 2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At a restaurant,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friends decided to split the bill equally. If each person paid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$42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, what was the total bill?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400" marR="68400" marT="54000" marB="5400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 small theater has a total of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42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seats. If the theater has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rows of seats with the same number of seats in each row, how many seats are in each row?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400" marR="68400" marT="54000" marB="5400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7406005"/>
                  </p:ext>
                </p:extLst>
              </p:nvPr>
            </p:nvGraphicFramePr>
            <p:xfrm>
              <a:off x="2132976" y="4062849"/>
              <a:ext cx="7920000" cy="1803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9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Situation 1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Situation 2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7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400" marR="68400" marT="54000" marB="5400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4786" r="-100000" b="-59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400" marR="68400" marT="54000" marB="5400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21" t="-24786" r="-321" b="-59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1"/>
              <p:cNvSpPr/>
              <p:nvPr/>
            </p:nvSpPr>
            <p:spPr>
              <a:xfrm>
                <a:off x="3400576" y="1460946"/>
                <a:ext cx="5384800" cy="110490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itchFamily="18" charset="0"/>
                        <a:ea typeface="Cambria Math" pitchFamily="18" charset="0"/>
                        <a:cs typeface="Times New Roman"/>
                      </a:rPr>
                      <m:t>6</m:t>
                    </m:r>
                    <m:r>
                      <a:rPr lang="en-US" sz="2000" i="1">
                        <a:latin typeface="Cambria Math" pitchFamily="18" charset="0"/>
                        <a:ea typeface="Cambria Math" pitchFamily="18" charset="0"/>
                        <a:cs typeface="Times New Roman"/>
                      </a:rPr>
                      <m:t>𝑥</m:t>
                    </m:r>
                    <m:r>
                      <a:rPr lang="en-US" sz="2000" i="1">
                        <a:latin typeface="Cambria Math" pitchFamily="18" charset="0"/>
                        <a:ea typeface="Cambria Math" pitchFamily="18" charset="0"/>
                        <a:cs typeface="Times New Roman"/>
                      </a:rPr>
                      <m:t>=42</m:t>
                    </m:r>
                  </m:oMath>
                </a14:m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Times New Roman"/>
                  </a:rPr>
                  <a:t> 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itchFamily="18" charset="0"/>
                        <a:ea typeface="Cambria Math" pitchFamily="18" charset="0"/>
                        <a:cs typeface="Times New Roman"/>
                      </a:rPr>
                      <m:t>42</m:t>
                    </m:r>
                    <m:r>
                      <a:rPr lang="en-US" sz="2000" i="1">
                        <a:latin typeface="Cambria Math" pitchFamily="18" charset="0"/>
                        <a:ea typeface="Cambria Math" pitchFamily="18" charset="0"/>
                        <a:cs typeface="Times New Roman"/>
                      </a:rPr>
                      <m:t>𝑥</m:t>
                    </m:r>
                    <m:r>
                      <a:rPr lang="en-US" sz="2000" i="1">
                        <a:latin typeface="Cambria Math" pitchFamily="18" charset="0"/>
                        <a:ea typeface="Cambria Math" pitchFamily="18" charset="0"/>
                        <a:cs typeface="Times New Roman"/>
                      </a:rPr>
                      <m:t>=6</m:t>
                    </m:r>
                  </m:oMath>
                </a14:m>
                <a:endParaRPr lang="en-PH" sz="2000" dirty="0">
                  <a:latin typeface="Cambria Math" pitchFamily="18" charset="0"/>
                  <a:ea typeface="Cambria Math" pitchFamily="18" charset="0"/>
                  <a:cs typeface="Times New Roman"/>
                </a:endParaRPr>
              </a:p>
              <a:p>
                <a:pPr algn="ctr">
                  <a:spcAft>
                    <a:spcPts val="10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PH" sz="2000" i="1">
                            <a:latin typeface="Cambria Math" panose="02040503050406030204" pitchFamily="18" charset="0"/>
                            <a:ea typeface="Cambria Math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itchFamily="18" charset="0"/>
                            <a:cs typeface="Times New Roman"/>
                          </a:rPr>
                          <m:t>𝑥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itchFamily="18" charset="0"/>
                            <a:cs typeface="Times New Roman"/>
                          </a:rPr>
                          <m:t>42</m:t>
                        </m:r>
                      </m:den>
                    </m:f>
                    <m:r>
                      <a:rPr lang="en-US" sz="2000" i="1">
                        <a:latin typeface="Cambria Math" pitchFamily="18" charset="0"/>
                        <a:ea typeface="Cambria Math" pitchFamily="18" charset="0"/>
                        <a:cs typeface="Times New Roman"/>
                      </a:rPr>
                      <m:t>=6</m:t>
                    </m:r>
                  </m:oMath>
                </a14:m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Times New Roman"/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000" i="1">
                            <a:latin typeface="Cambria Math" panose="02040503050406030204" pitchFamily="18" charset="0"/>
                            <a:ea typeface="Cambria Math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itchFamily="18" charset="0"/>
                            <a:cs typeface="Times New Roman"/>
                          </a:rPr>
                          <m:t>𝑥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itchFamily="18" charset="0"/>
                            <a:cs typeface="Times New Roman"/>
                          </a:rPr>
                          <m:t>6</m:t>
                        </m:r>
                      </m:den>
                    </m:f>
                    <m:r>
                      <a:rPr lang="en-US" sz="2000" i="1">
                        <a:latin typeface="Cambria Math" pitchFamily="18" charset="0"/>
                        <a:ea typeface="Cambria Math" pitchFamily="18" charset="0"/>
                        <a:cs typeface="Times New Roman"/>
                      </a:rPr>
                      <m:t>=42</m:t>
                    </m:r>
                  </m:oMath>
                </a14:m>
                <a:endParaRPr lang="en-PH" sz="2000" dirty="0">
                  <a:latin typeface="Cambria Math" pitchFamily="18" charset="0"/>
                  <a:ea typeface="Cambria Math" pitchFamily="18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11" name="Rectangle: Rounded Corners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576" y="1460946"/>
                <a:ext cx="5384800" cy="11049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993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7701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2007765" y="410666"/>
                <a:ext cx="832713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3763" indent="-441325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the matching equation in the space provided.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3763" indent="-441325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does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represent in each equation?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765" y="410666"/>
                <a:ext cx="8327136" cy="3477875"/>
              </a:xfrm>
              <a:prstGeom prst="rect">
                <a:avLst/>
              </a:prstGeom>
              <a:blipFill>
                <a:blip r:embed="rId4"/>
                <a:stretch>
                  <a:fillRect t="-1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041160"/>
              </p:ext>
            </p:extLst>
          </p:nvPr>
        </p:nvGraphicFramePr>
        <p:xfrm>
          <a:off x="2585544" y="1006675"/>
          <a:ext cx="7200000" cy="1997860"/>
        </p:xfrm>
        <a:graphic>
          <a:graphicData uri="http://schemas.openxmlformats.org/drawingml/2006/table">
            <a:tbl>
              <a:tblPr firstRow="1" firstCol="1" bandRow="1"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96520" marR="0" indent="-9652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Situation 1</a:t>
                      </a:r>
                      <a:endParaRPr lang="en-US" sz="12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Situation 2</a:t>
                      </a:r>
                      <a:endParaRPr lang="en-US" sz="12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38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Equation:</a:t>
                      </a:r>
                      <a:endParaRPr lang="en-US" sz="12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Equation:</a:t>
                      </a:r>
                      <a:endParaRPr lang="en-US" sz="12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9966662"/>
                  </p:ext>
                </p:extLst>
              </p:nvPr>
            </p:nvGraphicFramePr>
            <p:xfrm>
              <a:off x="2571333" y="3776208"/>
              <a:ext cx="7200000" cy="232933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pPr marL="39370" marR="0" indent="-3937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Situation 1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Situation 2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533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In this situation, the quantity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represents ...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In this situation, the quantity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represents ...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9966662"/>
                  </p:ext>
                </p:extLst>
              </p:nvPr>
            </p:nvGraphicFramePr>
            <p:xfrm>
              <a:off x="2571333" y="3776208"/>
              <a:ext cx="7200000" cy="232933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4000">
                    <a:tc>
                      <a:txBody>
                        <a:bodyPr/>
                        <a:lstStyle/>
                        <a:p>
                          <a:pPr marL="39370" marR="0" indent="-3937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Situation 1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Situation 2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53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2" t="-18987" r="-100352" b="-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52" t="-18987" r="-352" b="-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75760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16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3438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884556" y="294979"/>
            <a:ext cx="89209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1.6.3 Guided Practice: Writing and Solving Real-World Problems with One-Step Equations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9145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210" y="29497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699018" y="1684686"/>
                <a:ext cx="8327136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For each situation, write an equation that can be used to determine the unknown quantity. Then, solve the equation. Be sure to check your solution.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Carl, a student at R.J. Murray Middle School in St. Augustine, is preparing for a trip to Universal Studios with his mom and dad. An adult ticket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$164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A ticket for a child under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18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$5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less than an adult ticket.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an algebraic equation to represent the relationship between the cost of a child’s ticket and the cost of an adult ticket in this situation.</a:t>
                </a:r>
              </a:p>
              <a:p>
                <a:pPr marL="742950" lvl="1" indent="-2857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742950" lvl="1" indent="-2857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does the variable in your equation represent?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018" y="1684686"/>
                <a:ext cx="8327136" cy="4708981"/>
              </a:xfrm>
              <a:prstGeom prst="rect">
                <a:avLst/>
              </a:prstGeom>
              <a:blipFill>
                <a:blip r:embed="rId5"/>
                <a:stretch>
                  <a:fillRect l="-761" t="-538" r="-457" b="-1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D0C5ECD-32B3-814E-9ECE-3E62993CA726}"/>
              </a:ext>
            </a:extLst>
          </p:cNvPr>
          <p:cNvSpPr/>
          <p:nvPr/>
        </p:nvSpPr>
        <p:spPr>
          <a:xfrm>
            <a:off x="0" y="7033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851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1762107" y="926108"/>
            <a:ext cx="83271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Solve the equation.</a:t>
            </a: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was the cost of Carl’s ticket?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028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2908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8616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1932432" y="617635"/>
                <a:ext cx="8327136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Gabriela is a seamstress who owns her own business. One of her specializations is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Quinceañera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dresses. It takes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yards of fabric to make one dress.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3763" indent="-44132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 division equation and a multiplication equation that can be used to determine how many yards of fabric,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𝑑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are needed to make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16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Quinceañera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dresses.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3763" indent="-44132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Solve either of the equations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𝑑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Use the other equation to verify your solution is correct.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432" y="617635"/>
                <a:ext cx="8327136" cy="5940088"/>
              </a:xfrm>
              <a:prstGeom prst="rect">
                <a:avLst/>
              </a:prstGeom>
              <a:blipFill>
                <a:blip r:embed="rId4"/>
                <a:stretch>
                  <a:fillRect l="-762" t="-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2408903" y="1401944"/>
            <a:ext cx="78506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363039"/>
              </p:ext>
            </p:extLst>
          </p:nvPr>
        </p:nvGraphicFramePr>
        <p:xfrm>
          <a:off x="2947823" y="2997371"/>
          <a:ext cx="7200000" cy="1404000"/>
        </p:xfrm>
        <a:graphic>
          <a:graphicData uri="http://schemas.openxmlformats.org/drawingml/2006/table">
            <a:tbl>
              <a:tblPr firstRow="1" firstCol="1" bandRow="1"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Division Equation</a:t>
                      </a:r>
                      <a:endParaRPr lang="en-US" sz="12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Multiplication Equation</a:t>
                      </a:r>
                      <a:endParaRPr lang="en-US" sz="12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39370" marR="0" indent="-3937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2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2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915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2251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517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2027397" y="60325"/>
            <a:ext cx="85117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1.6.4 Collaboration: Writing Real-World Scenarios to Represent Algebraic Equations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7695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3428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2027397" y="1628765"/>
            <a:ext cx="8327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For each equation, create a real-world problem that the algebraic equation could represent. 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E9CA456B-1791-3E43-BCF8-7E55B6240BB8}"/>
              </a:ext>
            </a:extLst>
          </p:cNvPr>
          <p:cNvSpPr/>
          <p:nvPr/>
        </p:nvSpPr>
        <p:spPr>
          <a:xfrm>
            <a:off x="12973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2068854"/>
                  </p:ext>
                </p:extLst>
              </p:nvPr>
            </p:nvGraphicFramePr>
            <p:xfrm>
              <a:off x="2194701" y="2600599"/>
              <a:ext cx="8251062" cy="360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686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887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9362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Equation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Your Real-World Scenario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What does the variable represent in your scenario?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𝑟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−10=12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21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=105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 charset="0"/>
                                      <a:cs typeface="Verdana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 charset="0"/>
                                      <a:cs typeface="Verdana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17+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𝑠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=26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2068854"/>
                  </p:ext>
                </p:extLst>
              </p:nvPr>
            </p:nvGraphicFramePr>
            <p:xfrm>
              <a:off x="2194701" y="2600599"/>
              <a:ext cx="8251062" cy="360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686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887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9362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Equation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Your Real-World Scenario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What does the variable represent in your scenario?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6" t="-101754" r="-425806" b="-3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6" t="-201754" r="-425806" b="-2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6" t="-301754" r="-425806" b="-10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6" t="-401754" r="-425806" b="-1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2206" marR="322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27467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2147947" y="972526"/>
            <a:ext cx="8327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Pick two equations from the table and compare your scenarios and solutions with your partner. Use them to complete the table below.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807035"/>
              </p:ext>
            </p:extLst>
          </p:nvPr>
        </p:nvGraphicFramePr>
        <p:xfrm>
          <a:off x="2336826" y="2191594"/>
          <a:ext cx="8280000" cy="3749190"/>
        </p:xfrm>
        <a:graphic>
          <a:graphicData uri="http://schemas.openxmlformats.org/drawingml/2006/table">
            <a:tbl>
              <a:tblPr firstRow="1" firstCol="1" bandRow="1"/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64992">
                <a:tc>
                  <a:txBody>
                    <a:bodyPr/>
                    <a:lstStyle/>
                    <a:p>
                      <a:pPr marL="39370" marR="0" indent="-3937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Equation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3995" marR="339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Your Partner’s Scenario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3995" marR="339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Does the equation represent your partner’s scenario?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3995" marR="339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Similarities between scenarios for the equation</a:t>
                      </a:r>
                      <a:endParaRPr lang="en-US" sz="20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3995" marR="339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25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3995" marR="339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3995" marR="339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Yes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No  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3995" marR="339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25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3995" marR="339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3995" marR="339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Yes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No  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33995" marR="3399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402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47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996068" y="60326"/>
            <a:ext cx="862075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1.6.5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8950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954705" y="1596824"/>
            <a:ext cx="81247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Four equations are shown.</a:t>
            </a: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Match an equation to each situation it represents. Then, complete the table. Not all equations will be used.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0020620"/>
                  </p:ext>
                </p:extLst>
              </p:nvPr>
            </p:nvGraphicFramePr>
            <p:xfrm>
              <a:off x="3639830" y="2050175"/>
              <a:ext cx="5430810" cy="914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154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154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3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=−15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−3=15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 charset="0"/>
                                      <a:cs typeface="Verdana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 charset="0"/>
                                      <a:cs typeface="Verdana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=15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+3=−15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0020620"/>
                  </p:ext>
                </p:extLst>
              </p:nvPr>
            </p:nvGraphicFramePr>
            <p:xfrm>
              <a:off x="3639830" y="2050175"/>
              <a:ext cx="5430810" cy="914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154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154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r="-99535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467" b="-1054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102778" r="-99535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467" t="-102778" b="-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6229679"/>
                  </p:ext>
                </p:extLst>
              </p:nvPr>
            </p:nvGraphicFramePr>
            <p:xfrm>
              <a:off x="2467662" y="4054391"/>
              <a:ext cx="8394491" cy="2183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9933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010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6656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3346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96520" marR="0" indent="-9652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Situation</a:t>
                          </a:r>
                          <a:endParaRPr lang="en-US" sz="18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Equation</a:t>
                          </a:r>
                          <a:endParaRPr lang="en-US" sz="18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What does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represent?</a:t>
                          </a:r>
                          <a:endParaRPr lang="en-US" sz="18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Solution</a:t>
                          </a:r>
                          <a:endParaRPr lang="en-US" sz="18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69140">
                    <a:tc>
                      <a:txBody>
                        <a:bodyPr/>
                        <a:lstStyle/>
                        <a:p>
                          <a:pPr marL="357188" marR="0" lvl="1" indent="-357188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/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On Tuesday, the temperature in Nunavut rose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3°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from the previous day to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−15°.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What was the temperature on Monday?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6229679"/>
                  </p:ext>
                </p:extLst>
              </p:nvPr>
            </p:nvGraphicFramePr>
            <p:xfrm>
              <a:off x="2467662" y="4054391"/>
              <a:ext cx="8394491" cy="2183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9933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010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6656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3346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96520" marR="0" indent="-9652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Situation</a:t>
                          </a:r>
                          <a:endParaRPr lang="en-US" sz="18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Equation</a:t>
                          </a:r>
                          <a:endParaRPr lang="en-US" sz="18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24908" t="-847" r="-80952" b="-216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Solution</a:t>
                          </a:r>
                          <a:endParaRPr lang="en-US" sz="18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52" t="-49378" r="-110366" b="-6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A057F2B-B43B-F64E-8B11-07A9669FD9E1}"/>
              </a:ext>
            </a:extLst>
          </p:cNvPr>
          <p:cNvSpPr/>
          <p:nvPr/>
        </p:nvSpPr>
        <p:spPr>
          <a:xfrm>
            <a:off x="1957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7441158"/>
                  </p:ext>
                </p:extLst>
              </p:nvPr>
            </p:nvGraphicFramePr>
            <p:xfrm>
              <a:off x="1898754" y="1468800"/>
              <a:ext cx="8394491" cy="392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9933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010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6656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3346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96520" marR="0" indent="-9652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Situation</a:t>
                          </a:r>
                          <a:endParaRPr lang="en-US" sz="18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Equation</a:t>
                          </a:r>
                          <a:endParaRPr lang="en-US" sz="18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What does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represent?</a:t>
                          </a:r>
                          <a:endParaRPr lang="en-US" sz="18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Solution</a:t>
                          </a:r>
                          <a:endParaRPr lang="en-US" sz="18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69140">
                    <a:tc>
                      <a:txBody>
                        <a:bodyPr/>
                        <a:lstStyle/>
                        <a:p>
                          <a:pPr marL="357188" marR="0" lvl="1" indent="-357188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2"/>
                          </a:pPr>
                          <a:r>
                            <a:rPr lang="en-US" sz="1800" dirty="0" err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Tyanna</a:t>
                          </a: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is re-vamping her wardrobe. She decides to donate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old t-shirts. Now, she has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15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t-shirts. How many t-shirts did she have originally?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50446">
                    <a:tc>
                      <a:txBody>
                        <a:bodyPr/>
                        <a:lstStyle/>
                        <a:p>
                          <a:pPr marL="357188" marR="0" lvl="1" indent="-357188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LcPeriod" startAt="3"/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 shipment of oranges was split into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equally sized crates. Each crate weighs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15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pounds. How much did the original shipment weigh?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7441158"/>
                  </p:ext>
                </p:extLst>
              </p:nvPr>
            </p:nvGraphicFramePr>
            <p:xfrm>
              <a:off x="1898754" y="1468800"/>
              <a:ext cx="8394491" cy="392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9933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010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6656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3346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96520" marR="0" indent="-9652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Situation</a:t>
                          </a:r>
                          <a:endParaRPr lang="en-US" sz="18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Equation</a:t>
                          </a:r>
                          <a:endParaRPr lang="en-US" sz="18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2727" t="-1754" r="-80303" b="-4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Solution</a:t>
                          </a:r>
                          <a:endParaRPr lang="en-US" sz="18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5326" marR="4532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37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17" t="-42336" r="-110476" b="-905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17" t="-168103" r="-110476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1143</Words>
  <Application>Microsoft Office PowerPoint</Application>
  <PresentationFormat>Widescreen</PresentationFormat>
  <Paragraphs>210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Arial Black</vt:lpstr>
      <vt:lpstr>Calibri</vt:lpstr>
      <vt:lpstr>Cambria</vt:lpstr>
      <vt:lpstr>Cambria Math</vt:lpstr>
      <vt:lpstr>Century Gothic</vt:lpstr>
      <vt:lpstr>Courier New</vt:lpstr>
      <vt:lpstr>Verdana</vt:lpstr>
      <vt:lpstr>Wingdings</vt:lpstr>
      <vt:lpstr>1_Office Theme</vt:lpstr>
      <vt:lpstr>7th Grade Math  Unit 1, Lesson 6  Writing and Solving One-Step Equations in Real-World Contexts  Volume 1, pg. 30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32</cp:revision>
  <dcterms:created xsi:type="dcterms:W3CDTF">2015-03-17T18:51:18Z</dcterms:created>
  <dcterms:modified xsi:type="dcterms:W3CDTF">2022-07-09T22:23:54Z</dcterms:modified>
</cp:coreProperties>
</file>