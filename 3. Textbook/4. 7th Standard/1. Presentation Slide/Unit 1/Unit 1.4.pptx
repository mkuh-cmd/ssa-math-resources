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332" r:id="rId8"/>
    <p:sldId id="333" r:id="rId9"/>
    <p:sldId id="334" r:id="rId10"/>
    <p:sldId id="335" r:id="rId11"/>
    <p:sldId id="336" r:id="rId12"/>
    <p:sldId id="337" r:id="rId13"/>
    <p:sldId id="350" r:id="rId14"/>
    <p:sldId id="351" r:id="rId15"/>
    <p:sldId id="338" r:id="rId16"/>
    <p:sldId id="339" r:id="rId17"/>
    <p:sldId id="340" r:id="rId18"/>
    <p:sldId id="341" r:id="rId19"/>
    <p:sldId id="342" r:id="rId20"/>
    <p:sldId id="343" r:id="rId21"/>
    <p:sldId id="344" r:id="rId22"/>
    <p:sldId id="345" r:id="rId23"/>
    <p:sldId id="346" r:id="rId24"/>
    <p:sldId id="352" r:id="rId25"/>
    <p:sldId id="347" r:id="rId26"/>
    <p:sldId id="348" r:id="rId27"/>
    <p:sldId id="349" r:id="rId28"/>
    <p:sldId id="306" r:id="rId29"/>
    <p:sldId id="307"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987"/>
    <p:restoredTop sz="94558"/>
  </p:normalViewPr>
  <p:slideViewPr>
    <p:cSldViewPr snapToGrid="0">
      <p:cViewPr varScale="1">
        <p:scale>
          <a:sx n="79" d="100"/>
          <a:sy n="79" d="100"/>
        </p:scale>
        <p:origin x="158"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522001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2713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476348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70366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284712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15341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58413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05935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114901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285978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626568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49826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2194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072801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048725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5443173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331332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4297647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6368628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9558701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7996067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12091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0.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20.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10.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48.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a:solidFill>
                  <a:srgbClr val="417DBF"/>
                </a:solidFill>
                <a:latin typeface="Verdana"/>
                <a:ea typeface="Verdana"/>
                <a:cs typeface="Verdana"/>
                <a:sym typeface="Verdana"/>
              </a:rPr>
              <a:t>7</a:t>
            </a:r>
            <a:r>
              <a:rPr lang="en-US" sz="3800" b="1" baseline="30000">
                <a:solidFill>
                  <a:srgbClr val="417DBF"/>
                </a:solidFill>
                <a:latin typeface="Verdana"/>
                <a:ea typeface="Verdana"/>
                <a:cs typeface="Verdana"/>
                <a:sym typeface="Verdana"/>
              </a:rPr>
              <a:t>th</a:t>
            </a:r>
            <a:r>
              <a:rPr lang="en-US" sz="3800" b="1">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Operations with Integers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2031743"/>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2368062" y="136525"/>
            <a:ext cx="7733088"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1033575"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06769" y="1600200"/>
            <a:ext cx="880403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MA.6.NSO.4.1 </a:t>
            </a:r>
          </a:p>
          <a:p>
            <a:pPr marL="95250" indent="0">
              <a:buNone/>
            </a:pPr>
            <a:r>
              <a:rPr lang="en-US" sz="2400" dirty="0">
                <a:latin typeface="Verdana" charset="0"/>
                <a:ea typeface="Verdana" charset="0"/>
                <a:cs typeface="Verdana" charset="0"/>
              </a:rPr>
              <a:t>	Apply and extend previous understandings of 	operations with whole numbers to add and 	subtract integers with procedural fluency.</a:t>
            </a:r>
          </a:p>
          <a:p>
            <a:pPr marL="95250" indent="0">
              <a:buNone/>
            </a:pPr>
            <a:r>
              <a:rPr lang="en-US" sz="2400" dirty="0">
                <a:latin typeface="Verdana" charset="0"/>
                <a:ea typeface="Verdana" charset="0"/>
                <a:cs typeface="Verdana" charset="0"/>
              </a:rPr>
              <a:t> </a:t>
            </a:r>
          </a:p>
          <a:p>
            <a:pPr marL="95250" indent="0">
              <a:buNone/>
            </a:pPr>
            <a:r>
              <a:rPr lang="en-US" sz="2400" dirty="0">
                <a:latin typeface="Verdana" charset="0"/>
                <a:ea typeface="Verdana" charset="0"/>
                <a:cs typeface="Verdana" charset="0"/>
              </a:rPr>
              <a:t>MA.6.NSO.4.2 </a:t>
            </a:r>
          </a:p>
          <a:p>
            <a:pPr marL="95250" indent="0">
              <a:buNone/>
            </a:pPr>
            <a:r>
              <a:rPr lang="en-US" sz="2400" dirty="0">
                <a:latin typeface="Verdana" charset="0"/>
                <a:ea typeface="Verdana" charset="0"/>
                <a:cs typeface="Verdana" charset="0"/>
              </a:rPr>
              <a:t>	Apply and extend previous understandings of 	operations with whole numbers to multiply and 	divide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827874"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2189294" y="129667"/>
            <a:ext cx="842753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207477" y="1596390"/>
            <a:ext cx="900332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9446"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4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2321550" y="30660"/>
            <a:ext cx="821742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905725"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75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277815" y="1600200"/>
            <a:ext cx="893298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add, subtract, multiply, and divide integers.</a:t>
            </a: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1400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937661" y="86878"/>
            <a:ext cx="890451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1.4.1 Warm-Up: Critical Thinking</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997875" y="348271"/>
            <a:ext cx="747300" cy="749808"/>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19</a:t>
            </a:r>
          </a:p>
        </p:txBody>
      </p:sp>
      <p:sp>
        <p:nvSpPr>
          <p:cNvPr id="2" name="TextBox 1">
            <a:extLst>
              <a:ext uri="{FF2B5EF4-FFF2-40B4-BE49-F238E27FC236}">
                <a16:creationId xmlns:a16="http://schemas.microsoft.com/office/drawing/2014/main" id="{E1D7562E-134F-D14B-AF1A-DF40E11EF758}"/>
              </a:ext>
            </a:extLst>
          </p:cNvPr>
          <p:cNvSpPr txBox="1"/>
          <p:nvPr/>
        </p:nvSpPr>
        <p:spPr>
          <a:xfrm>
            <a:off x="1470598" y="2069763"/>
            <a:ext cx="3688802" cy="1015663"/>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 design is shown, where one part of the design is shaded.</a:t>
            </a:r>
          </a:p>
        </p:txBody>
      </p:sp>
      <p:sp>
        <p:nvSpPr>
          <p:cNvPr id="9" name="Google Shape;278;g104476d1465_1_17">
            <a:extLst>
              <a:ext uri="{FF2B5EF4-FFF2-40B4-BE49-F238E27FC236}">
                <a16:creationId xmlns:a16="http://schemas.microsoft.com/office/drawing/2014/main" id="{D2E26B32-0C88-7847-9ECA-D11545A204F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 name="Rectangle 2"/>
          <p:cNvSpPr/>
          <p:nvPr/>
        </p:nvSpPr>
        <p:spPr>
          <a:xfrm>
            <a:off x="1937661" y="3324982"/>
            <a:ext cx="3110929" cy="1938992"/>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What fraction of the diagram is shaded?</a:t>
            </a:r>
          </a:p>
          <a:p>
            <a:pPr marL="342900" indent="-342900">
              <a:buFont typeface="+mj-lt"/>
              <a:buAutoNum type="alphaLcPeriod"/>
            </a:pPr>
            <a:endParaRPr lang="en-US" sz="2000" dirty="0">
              <a:latin typeface="Verdana" charset="0"/>
              <a:ea typeface="Verdana" charset="0"/>
              <a:cs typeface="Verdana" charset="0"/>
            </a:endParaRPr>
          </a:p>
          <a:p>
            <a:pPr marL="342900" indent="-342900">
              <a:buFont typeface="+mj-lt"/>
              <a:buAutoNum type="alphaLcPeriod"/>
            </a:pPr>
            <a:r>
              <a:rPr lang="en-US" sz="2000" dirty="0">
                <a:latin typeface="Verdana" charset="0"/>
                <a:ea typeface="Verdana" charset="0"/>
                <a:cs typeface="Verdana" charset="0"/>
              </a:rPr>
              <a:t>Explain how you determined your answer.</a:t>
            </a:r>
          </a:p>
        </p:txBody>
      </p:sp>
      <p:pic>
        <p:nvPicPr>
          <p:cNvPr id="4" name="Picture 3"/>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934400" y="1342790"/>
            <a:ext cx="4419600" cy="445770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475"/>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a:t>
            </a: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4588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96621"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Google Shape;278;g104476d1465_1_17">
            <a:extLst>
              <a:ext uri="{FF2B5EF4-FFF2-40B4-BE49-F238E27FC236}">
                <a16:creationId xmlns:a16="http://schemas.microsoft.com/office/drawing/2014/main" id="{32274384-6D96-984A-8A32-66A86393A00D}"/>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TextBox 11">
            <a:extLst>
              <a:ext uri="{FF2B5EF4-FFF2-40B4-BE49-F238E27FC236}">
                <a16:creationId xmlns:a16="http://schemas.microsoft.com/office/drawing/2014/main" id="{E44DF7DE-9172-3E4E-B74A-7A51585FB6EA}"/>
              </a:ext>
            </a:extLst>
          </p:cNvPr>
          <p:cNvSpPr txBox="1"/>
          <p:nvPr/>
        </p:nvSpPr>
        <p:spPr>
          <a:xfrm>
            <a:off x="1371600" y="1475026"/>
            <a:ext cx="8963301" cy="132343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Work with your partner or group to match each expression with the integer chip model and number line model that represents the expression. Record your answers in the table. Then, use the models to determine the value of each expression.</a:t>
            </a:r>
          </a:p>
        </p:txBody>
      </p:sp>
      <p:sp>
        <p:nvSpPr>
          <p:cNvPr id="13" name="Google Shape;324;g103996e1364_0_25">
            <a:extLst>
              <a:ext uri="{FF2B5EF4-FFF2-40B4-BE49-F238E27FC236}">
                <a16:creationId xmlns:a16="http://schemas.microsoft.com/office/drawing/2014/main" id="{DB5796CA-12EB-BB4C-8338-B127D750A026}"/>
              </a:ext>
            </a:extLst>
          </p:cNvPr>
          <p:cNvSpPr txBox="1">
            <a:spLocks/>
          </p:cNvSpPr>
          <p:nvPr/>
        </p:nvSpPr>
        <p:spPr>
          <a:xfrm>
            <a:off x="1911927" y="60325"/>
            <a:ext cx="86272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1.4.2 Collaboration: Card Sort</a:t>
            </a:r>
          </a:p>
        </p:txBody>
      </p:sp>
    </p:spTree>
    <p:extLst>
      <p:ext uri="{BB962C8B-B14F-4D97-AF65-F5344CB8AC3E}">
        <p14:creationId xmlns:p14="http://schemas.microsoft.com/office/powerpoint/2010/main" val="64229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a:t>
            </a:r>
          </a:p>
        </p:txBody>
      </p:sp>
      <p:sp>
        <p:nvSpPr>
          <p:cNvPr id="5" name="TextBox 4">
            <a:extLst>
              <a:ext uri="{FF2B5EF4-FFF2-40B4-BE49-F238E27FC236}">
                <a16:creationId xmlns:a16="http://schemas.microsoft.com/office/drawing/2014/main" id="{B6C08EE3-8247-C14E-9600-35165D5C8679}"/>
              </a:ext>
            </a:extLst>
          </p:cNvPr>
          <p:cNvSpPr txBox="1"/>
          <p:nvPr/>
        </p:nvSpPr>
        <p:spPr>
          <a:xfrm>
            <a:off x="2007765" y="5642982"/>
            <a:ext cx="8327136" cy="400110"/>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Explain the method you used to match the cards together. </a:t>
            </a:r>
          </a:p>
        </p:txBody>
      </p:sp>
      <p:sp>
        <p:nvSpPr>
          <p:cNvPr id="6" name="Google Shape;278;g104476d1465_1_17">
            <a:extLst>
              <a:ext uri="{FF2B5EF4-FFF2-40B4-BE49-F238E27FC236}">
                <a16:creationId xmlns:a16="http://schemas.microsoft.com/office/drawing/2014/main" id="{FA8216EE-488F-0B46-A674-98E7CEF16917}"/>
              </a:ext>
            </a:extLst>
          </p:cNvPr>
          <p:cNvSpPr/>
          <p:nvPr/>
        </p:nvSpPr>
        <p:spPr>
          <a:xfrm>
            <a:off x="2277"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221285524"/>
                  </p:ext>
                </p:extLst>
              </p:nvPr>
            </p:nvGraphicFramePr>
            <p:xfrm>
              <a:off x="2007765" y="670660"/>
              <a:ext cx="8327136" cy="4663248"/>
            </p:xfrm>
            <a:graphic>
              <a:graphicData uri="http://schemas.openxmlformats.org/drawingml/2006/table">
                <a:tbl>
                  <a:tblPr firstRow="1" firstCol="1" bandRow="1"/>
                  <a:tblGrid>
                    <a:gridCol w="2754720">
                      <a:extLst>
                        <a:ext uri="{9D8B030D-6E8A-4147-A177-3AD203B41FA5}">
                          <a16:colId xmlns:a16="http://schemas.microsoft.com/office/drawing/2014/main" val="20000"/>
                        </a:ext>
                      </a:extLst>
                    </a:gridCol>
                    <a:gridCol w="2122603">
                      <a:extLst>
                        <a:ext uri="{9D8B030D-6E8A-4147-A177-3AD203B41FA5}">
                          <a16:colId xmlns:a16="http://schemas.microsoft.com/office/drawing/2014/main" val="20001"/>
                        </a:ext>
                      </a:extLst>
                    </a:gridCol>
                    <a:gridCol w="2123381">
                      <a:extLst>
                        <a:ext uri="{9D8B030D-6E8A-4147-A177-3AD203B41FA5}">
                          <a16:colId xmlns:a16="http://schemas.microsoft.com/office/drawing/2014/main" val="20002"/>
                        </a:ext>
                      </a:extLst>
                    </a:gridCol>
                    <a:gridCol w="1326432">
                      <a:extLst>
                        <a:ext uri="{9D8B030D-6E8A-4147-A177-3AD203B41FA5}">
                          <a16:colId xmlns:a16="http://schemas.microsoft.com/office/drawing/2014/main" val="20003"/>
                        </a:ext>
                      </a:extLst>
                    </a:gridCol>
                  </a:tblGrid>
                  <a:tr h="602493">
                    <a:tc>
                      <a:txBody>
                        <a:bodyPr/>
                        <a:lstStyle/>
                        <a:p>
                          <a:pPr marL="0" marR="0" algn="ctr">
                            <a:spcBef>
                              <a:spcPts val="0"/>
                            </a:spcBef>
                            <a:spcAft>
                              <a:spcPts val="0"/>
                            </a:spcAft>
                          </a:pPr>
                          <a:r>
                            <a:rPr lang="en-US" sz="2000" b="1">
                              <a:effectLst/>
                              <a:latin typeface="Verdana" charset="0"/>
                              <a:ea typeface="Verdana" charset="0"/>
                              <a:cs typeface="Verdana" charset="0"/>
                            </a:rPr>
                            <a:t>Mathematical</a:t>
                          </a:r>
                          <a:endParaRPr lang="en-US" sz="2000">
                            <a:effectLst/>
                            <a:latin typeface="Verdana" charset="0"/>
                            <a:ea typeface="Verdana" charset="0"/>
                            <a:cs typeface="Verdana" charset="0"/>
                          </a:endParaRPr>
                        </a:p>
                        <a:p>
                          <a:pPr marL="0" marR="0" algn="ctr">
                            <a:spcBef>
                              <a:spcPts val="0"/>
                            </a:spcBef>
                            <a:spcAft>
                              <a:spcPts val="0"/>
                            </a:spcAft>
                          </a:pPr>
                          <a:r>
                            <a:rPr lang="en-US" sz="2000" b="1">
                              <a:effectLst/>
                              <a:latin typeface="Verdana" charset="0"/>
                              <a:ea typeface="Verdana" charset="0"/>
                              <a:cs typeface="Verdana" charset="0"/>
                            </a:rPr>
                            <a:t>Expression</a:t>
                          </a:r>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Letter of Integer Chip Model</a:t>
                          </a:r>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Letter of Number Line Model</a:t>
                          </a:r>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Value</a:t>
                          </a:r>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6860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4+(−7)</m:t>
                                </m:r>
                              </m:oMath>
                            </m:oMathPara>
                          </a14:m>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860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−3+(−2)</m:t>
                                </m:r>
                              </m:oMath>
                            </m:oMathPara>
                          </a14:m>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860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7−10</m:t>
                                </m:r>
                              </m:oMath>
                            </m:oMathPara>
                          </a14:m>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860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−5−3</m:t>
                                </m:r>
                              </m:oMath>
                            </m:oMathPara>
                          </a14:m>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860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−8−(−2)</m:t>
                                </m:r>
                              </m:oMath>
                            </m:oMathPara>
                          </a14:m>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6860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4−(−6)</m:t>
                                </m:r>
                              </m:oMath>
                            </m:oMathPara>
                          </a14:m>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6860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4+(−5)</m:t>
                                </m:r>
                              </m:oMath>
                            </m:oMathPara>
                          </a14:m>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68606">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−2+(−8)</m:t>
                                </m:r>
                              </m:oMath>
                            </m:oMathPara>
                          </a14:m>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221285524"/>
                  </p:ext>
                </p:extLst>
              </p:nvPr>
            </p:nvGraphicFramePr>
            <p:xfrm>
              <a:off x="2007765" y="670660"/>
              <a:ext cx="8327136" cy="4663248"/>
            </p:xfrm>
            <a:graphic>
              <a:graphicData uri="http://schemas.openxmlformats.org/drawingml/2006/table">
                <a:tbl>
                  <a:tblPr firstRow="1" firstCol="1" bandRow="1"/>
                  <a:tblGrid>
                    <a:gridCol w="2754720">
                      <a:extLst>
                        <a:ext uri="{9D8B030D-6E8A-4147-A177-3AD203B41FA5}">
                          <a16:colId xmlns:a16="http://schemas.microsoft.com/office/drawing/2014/main" val="20000"/>
                        </a:ext>
                      </a:extLst>
                    </a:gridCol>
                    <a:gridCol w="2122603">
                      <a:extLst>
                        <a:ext uri="{9D8B030D-6E8A-4147-A177-3AD203B41FA5}">
                          <a16:colId xmlns:a16="http://schemas.microsoft.com/office/drawing/2014/main" val="20001"/>
                        </a:ext>
                      </a:extLst>
                    </a:gridCol>
                    <a:gridCol w="2123381">
                      <a:extLst>
                        <a:ext uri="{9D8B030D-6E8A-4147-A177-3AD203B41FA5}">
                          <a16:colId xmlns:a16="http://schemas.microsoft.com/office/drawing/2014/main" val="20002"/>
                        </a:ext>
                      </a:extLst>
                    </a:gridCol>
                    <a:gridCol w="1326432">
                      <a:extLst>
                        <a:ext uri="{9D8B030D-6E8A-4147-A177-3AD203B41FA5}">
                          <a16:colId xmlns:a16="http://schemas.microsoft.com/office/drawing/2014/main" val="20003"/>
                        </a:ext>
                      </a:extLst>
                    </a:gridCol>
                  </a:tblGrid>
                  <a:tr h="914400">
                    <a:tc>
                      <a:txBody>
                        <a:bodyPr/>
                        <a:lstStyle/>
                        <a:p>
                          <a:pPr marL="0" marR="0" algn="ctr">
                            <a:spcBef>
                              <a:spcPts val="0"/>
                            </a:spcBef>
                            <a:spcAft>
                              <a:spcPts val="0"/>
                            </a:spcAft>
                          </a:pPr>
                          <a:r>
                            <a:rPr lang="en-US" sz="2000" b="1">
                              <a:effectLst/>
                              <a:latin typeface="Verdana" charset="0"/>
                              <a:ea typeface="Verdana" charset="0"/>
                              <a:cs typeface="Verdana" charset="0"/>
                            </a:rPr>
                            <a:t>Mathematical</a:t>
                          </a:r>
                          <a:endParaRPr lang="en-US" sz="2000">
                            <a:effectLst/>
                            <a:latin typeface="Verdana" charset="0"/>
                            <a:ea typeface="Verdana" charset="0"/>
                            <a:cs typeface="Verdana" charset="0"/>
                          </a:endParaRPr>
                        </a:p>
                        <a:p>
                          <a:pPr marL="0" marR="0" algn="ctr">
                            <a:spcBef>
                              <a:spcPts val="0"/>
                            </a:spcBef>
                            <a:spcAft>
                              <a:spcPts val="0"/>
                            </a:spcAft>
                          </a:pPr>
                          <a:r>
                            <a:rPr lang="en-US" sz="2000" b="1">
                              <a:effectLst/>
                              <a:latin typeface="Verdana" charset="0"/>
                              <a:ea typeface="Verdana" charset="0"/>
                              <a:cs typeface="Verdana" charset="0"/>
                            </a:rPr>
                            <a:t>Expression</a:t>
                          </a:r>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Letter of Integer Chip Model</a:t>
                          </a:r>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Letter of Number Line Model</a:t>
                          </a:r>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Value</a:t>
                          </a:r>
                          <a:endParaRPr lang="en-US" sz="2000">
                            <a:effectLst/>
                            <a:latin typeface="Verdana" charset="0"/>
                            <a:ea typeface="Verdana" charset="0"/>
                            <a:cs typeface="Verdana" charset="0"/>
                          </a:endParaRP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68606">
                    <a:tc>
                      <a:txBody>
                        <a:bodyPr/>
                        <a:lstStyle/>
                        <a:p>
                          <a:endParaRPr lang="en-US"/>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1" t="-210811" r="-203226" b="-708108"/>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8606">
                    <a:tc>
                      <a:txBody>
                        <a:bodyPr/>
                        <a:lstStyle/>
                        <a:p>
                          <a:endParaRPr lang="en-US"/>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1" t="-310811" r="-203226" b="-608108"/>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8606">
                    <a:tc>
                      <a:txBody>
                        <a:bodyPr/>
                        <a:lstStyle/>
                        <a:p>
                          <a:endParaRPr lang="en-US"/>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1" t="-410811" r="-203226" b="-508108"/>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8606">
                    <a:tc>
                      <a:txBody>
                        <a:bodyPr/>
                        <a:lstStyle/>
                        <a:p>
                          <a:endParaRPr lang="en-US"/>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1" t="-510811" r="-203226" b="-408108"/>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8606">
                    <a:tc>
                      <a:txBody>
                        <a:bodyPr/>
                        <a:lstStyle/>
                        <a:p>
                          <a:endParaRPr lang="en-US"/>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1" t="-610811" r="-203226" b="-308108"/>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68606">
                    <a:tc>
                      <a:txBody>
                        <a:bodyPr/>
                        <a:lstStyle/>
                        <a:p>
                          <a:endParaRPr lang="en-US"/>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1" t="-710811" r="-203226" b="-208108"/>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68606">
                    <a:tc>
                      <a:txBody>
                        <a:bodyPr/>
                        <a:lstStyle/>
                        <a:p>
                          <a:endParaRPr lang="en-US"/>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1" t="-810811" r="-203226" b="-108108"/>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68606">
                    <a:tc>
                      <a:txBody>
                        <a:bodyPr/>
                        <a:lstStyle/>
                        <a:p>
                          <a:endParaRPr lang="en-US"/>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61" t="-910811" r="-203226" b="-8108"/>
                          </a:stretch>
                        </a:blipFill>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0208" marR="5020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Verdana" charset="0"/>
                              <a:cs typeface="Verdana" charset="0"/>
                            </a:rPr>
                            <a:t> </a:t>
                          </a:r>
                        </a:p>
                      </a:txBody>
                      <a:tcPr marL="50208" marR="5020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Fallback>
      </mc:AlternateContent>
    </p:spTree>
    <p:extLst>
      <p:ext uri="{BB962C8B-B14F-4D97-AF65-F5344CB8AC3E}">
        <p14:creationId xmlns:p14="http://schemas.microsoft.com/office/powerpoint/2010/main" val="8903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034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947553" y="149112"/>
            <a:ext cx="891836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1.4.3 Guided Practice: Adding and Subtracting Integers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044182" y="33983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1220023" y="1661135"/>
            <a:ext cx="832713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Model adding or subtracting the two integers by using the integer chip model and the number line model. </a:t>
            </a:r>
          </a:p>
        </p:txBody>
      </p:sp>
      <p:sp>
        <p:nvSpPr>
          <p:cNvPr id="9" name="Google Shape;278;g104476d1465_1_17">
            <a:extLst>
              <a:ext uri="{FF2B5EF4-FFF2-40B4-BE49-F238E27FC236}">
                <a16:creationId xmlns:a16="http://schemas.microsoft.com/office/drawing/2014/main" id="{0D0C5ECD-32B3-814E-9ECE-3E62993CA726}"/>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p:cNvSpPr/>
              <p:nvPr/>
            </p:nvSpPr>
            <p:spPr>
              <a:xfrm>
                <a:off x="1700452" y="2741668"/>
                <a:ext cx="3164328" cy="400110"/>
              </a:xfrm>
              <a:prstGeom prst="rect">
                <a:avLst/>
              </a:prstGeom>
            </p:spPr>
            <p:txBody>
              <a:bodyPr wrap="none">
                <a:spAutoFit/>
              </a:bodyPr>
              <a:lstStyle/>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5+</m:t>
                    </m:r>
                    <m:d>
                      <m:dPr>
                        <m:ctrlPr>
                          <a:rPr lang="en-US" sz="2000" i="1">
                            <a:latin typeface="Cambria Math" panose="02040503050406030204" pitchFamily="18" charset="0"/>
                            <a:ea typeface="Verdana" charset="0"/>
                            <a:cs typeface="Verdana" charset="0"/>
                          </a:rPr>
                        </m:ctrlPr>
                      </m:dPr>
                      <m:e>
                        <m:r>
                          <a:rPr lang="en-US" sz="2000">
                            <a:latin typeface="Cambria Math"/>
                            <a:ea typeface="Verdana" charset="0"/>
                            <a:cs typeface="Verdana" charset="0"/>
                          </a:rPr>
                          <m:t>−2</m:t>
                        </m:r>
                      </m:e>
                    </m:d>
                    <m:r>
                      <a:rPr lang="en-US" sz="2000">
                        <a:latin typeface="Cambria Math"/>
                        <a:ea typeface="Verdana" charset="0"/>
                        <a:cs typeface="Verdana" charset="0"/>
                      </a:rPr>
                      <m:t>= </m:t>
                    </m:r>
                    <m:r>
                      <m:rPr>
                        <m:lit/>
                      </m:rPr>
                      <a:rPr lang="en-US" sz="2000">
                        <a:latin typeface="Cambria Math"/>
                        <a:ea typeface="Verdana" charset="0"/>
                        <a:cs typeface="Verdana" charset="0"/>
                      </a:rPr>
                      <m:t>___________</m:t>
                    </m:r>
                  </m:oMath>
                </a14:m>
                <a:endParaRPr lang="en-US" sz="2000" dirty="0">
                  <a:latin typeface="Verdana" charset="0"/>
                  <a:ea typeface="Verdana" charset="0"/>
                  <a:cs typeface="Verdana"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700452" y="2741668"/>
                <a:ext cx="3164328" cy="400110"/>
              </a:xfrm>
              <a:prstGeom prst="rect">
                <a:avLst/>
              </a:prstGeom>
              <a:blipFill>
                <a:blip r:embed="rId5"/>
                <a:stretch>
                  <a:fillRect l="-2119" t="-10769" b="-27692"/>
                </a:stretch>
              </a:blipFill>
            </p:spPr>
            <p:txBody>
              <a:bodyPr/>
              <a:lstStyle/>
              <a:p>
                <a:r>
                  <a:rPr lang="en-US">
                    <a:noFill/>
                  </a:rPr>
                  <a:t> </a:t>
                </a:r>
              </a:p>
            </p:txBody>
          </p:sp>
        </mc:Fallback>
      </mc:AlternateContent>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260017" y="3424825"/>
            <a:ext cx="7946907" cy="2220459"/>
          </a:xfrm>
          <a:prstGeom prst="rect">
            <a:avLst/>
          </a:prstGeom>
        </p:spPr>
      </p:pic>
    </p:spTree>
    <p:extLst>
      <p:ext uri="{BB962C8B-B14F-4D97-AF65-F5344CB8AC3E}">
        <p14:creationId xmlns:p14="http://schemas.microsoft.com/office/powerpoint/2010/main" val="530384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92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20</a:t>
            </a: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18694"/>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99488" y="3800846"/>
            <a:ext cx="8339328" cy="2330106"/>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1764412" y="496052"/>
                <a:ext cx="3063659" cy="400110"/>
              </a:xfrm>
              <a:prstGeom prst="rect">
                <a:avLst/>
              </a:prstGeom>
            </p:spPr>
            <p:txBody>
              <a:bodyPr wrap="none">
                <a:spAutoFit/>
              </a:bodyPr>
              <a:lstStyle/>
              <a:p>
                <a:pPr marL="4572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−4 −3 = ___________</m:t>
                    </m:r>
                  </m:oMath>
                </a14:m>
                <a:endParaRPr lang="en-US" sz="2000" dirty="0">
                  <a:latin typeface="Verdana" charset="0"/>
                  <a:ea typeface="Verdana" charset="0"/>
                  <a:cs typeface="Verdana"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764412" y="496052"/>
                <a:ext cx="3063659" cy="400110"/>
              </a:xfrm>
              <a:prstGeom prst="rect">
                <a:avLst/>
              </a:prstGeom>
              <a:blipFill>
                <a:blip r:embed="rId5"/>
                <a:stretch>
                  <a:fillRect l="-2187" t="-9091" b="-27273"/>
                </a:stretch>
              </a:blipFill>
            </p:spPr>
            <p:txBody>
              <a:bodyPr/>
              <a:lstStyle/>
              <a:p>
                <a:r>
                  <a:rPr lang="en-US">
                    <a:noFill/>
                  </a:rPr>
                  <a:t> </a:t>
                </a:r>
              </a:p>
            </p:txBody>
          </p:sp>
        </mc:Fallback>
      </mc:AlternateContent>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999488" y="965811"/>
            <a:ext cx="8339328" cy="2178843"/>
          </a:xfrm>
          <a:prstGeom prst="rect">
            <a:avLst/>
          </a:prstGeom>
        </p:spPr>
      </p:pic>
      <mc:AlternateContent xmlns:mc="http://schemas.openxmlformats.org/markup-compatibility/2006" xmlns:a14="http://schemas.microsoft.com/office/drawing/2010/main">
        <mc:Choice Requires="a14">
          <p:sp>
            <p:nvSpPr>
              <p:cNvPr id="10" name="Rectangle 9"/>
              <p:cNvSpPr/>
              <p:nvPr/>
            </p:nvSpPr>
            <p:spPr>
              <a:xfrm>
                <a:off x="1788162" y="3214301"/>
                <a:ext cx="3568285" cy="400110"/>
              </a:xfrm>
              <a:prstGeom prst="rect">
                <a:avLst/>
              </a:prstGeom>
            </p:spPr>
            <p:txBody>
              <a:bodyPr wrap="none">
                <a:spAutoFit/>
              </a:bodyPr>
              <a:lstStyle/>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(−1)+</m:t>
                    </m:r>
                    <m:d>
                      <m:dPr>
                        <m:ctrlPr>
                          <a:rPr lang="en-US" sz="2000" i="1">
                            <a:latin typeface="Cambria Math" panose="02040503050406030204" pitchFamily="18" charset="0"/>
                            <a:ea typeface="Verdana" charset="0"/>
                            <a:cs typeface="Verdana" charset="0"/>
                          </a:rPr>
                        </m:ctrlPr>
                      </m:dPr>
                      <m:e>
                        <m:r>
                          <a:rPr lang="en-US" sz="2000">
                            <a:latin typeface="Cambria Math"/>
                            <a:ea typeface="Verdana" charset="0"/>
                            <a:cs typeface="Verdana" charset="0"/>
                          </a:rPr>
                          <m:t>−2</m:t>
                        </m:r>
                      </m:e>
                    </m:d>
                    <m:r>
                      <a:rPr lang="en-US" sz="2000">
                        <a:latin typeface="Cambria Math"/>
                        <a:ea typeface="Verdana" charset="0"/>
                        <a:cs typeface="Verdana" charset="0"/>
                      </a:rPr>
                      <m:t>= ___________</m:t>
                    </m:r>
                  </m:oMath>
                </a14:m>
                <a:endParaRPr lang="en-US" sz="2000" dirty="0">
                  <a:latin typeface="Verdana" charset="0"/>
                  <a:ea typeface="Verdana" charset="0"/>
                  <a:cs typeface="Verdana"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1788162" y="3214301"/>
                <a:ext cx="3568285" cy="400110"/>
              </a:xfrm>
              <a:prstGeom prst="rect">
                <a:avLst/>
              </a:prstGeom>
              <a:blipFill>
                <a:blip r:embed="rId7"/>
                <a:stretch>
                  <a:fillRect l="-1877" t="-9091" b="-27273"/>
                </a:stretch>
              </a:blipFill>
            </p:spPr>
            <p:txBody>
              <a:bodyPr/>
              <a:lstStyle/>
              <a:p>
                <a:r>
                  <a:rPr lang="en-US">
                    <a:noFill/>
                  </a:rPr>
                  <a:t> </a:t>
                </a:r>
              </a:p>
            </p:txBody>
          </p:sp>
        </mc:Fallback>
      </mc:AlternateContent>
    </p:spTree>
    <p:extLst>
      <p:ext uri="{BB962C8B-B14F-4D97-AF65-F5344CB8AC3E}">
        <p14:creationId xmlns:p14="http://schemas.microsoft.com/office/powerpoint/2010/main" val="885112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1580844" y="434138"/>
                <a:ext cx="8327136" cy="400110"/>
              </a:xfrm>
              <a:prstGeom prst="rect">
                <a:avLst/>
              </a:prstGeom>
              <a:noFill/>
            </p:spPr>
            <p:txBody>
              <a:bodyPr wrap="square" rtlCol="0">
                <a:spAutoFit/>
              </a:bodyPr>
              <a:lstStyle/>
              <a:p>
                <a:pPr marL="4572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−1 −(−4) = ___________</m:t>
                    </m:r>
                  </m:oMath>
                </a14:m>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1580844" y="434138"/>
                <a:ext cx="8327136" cy="400110"/>
              </a:xfrm>
              <a:prstGeom prst="rect">
                <a:avLst/>
              </a:prstGeom>
              <a:blipFill>
                <a:blip r:embed="rId4"/>
                <a:stretch>
                  <a:fillRect l="-805" t="-10606" b="-2727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27444" y="969115"/>
            <a:ext cx="7114032" cy="1987744"/>
          </a:xfrm>
          <a:prstGeom prst="rect">
            <a:avLst/>
          </a:prstGeom>
        </p:spPr>
      </p:pic>
      <p:sp>
        <p:nvSpPr>
          <p:cNvPr id="2" name="Rectangle 1"/>
          <p:cNvSpPr/>
          <p:nvPr/>
        </p:nvSpPr>
        <p:spPr>
          <a:xfrm>
            <a:off x="1061163" y="3050962"/>
            <a:ext cx="3995004" cy="400110"/>
          </a:xfrm>
          <a:prstGeom prst="rect">
            <a:avLst/>
          </a:prstGeom>
        </p:spPr>
        <p:txBody>
          <a:bodyPr wrap="none">
            <a:spAutoFit/>
          </a:bodyPr>
          <a:lstStyle/>
          <a:p>
            <a:pPr marL="457200" indent="-457200">
              <a:buFont typeface="+mj-lt"/>
              <a:buAutoNum type="arabicPeriod" startAt="2"/>
            </a:pPr>
            <a:r>
              <a:rPr lang="en-US" sz="2000" dirty="0">
                <a:latin typeface="Verdana" charset="0"/>
                <a:ea typeface="Helvetica Neue" charset="0"/>
                <a:cs typeface="Helvetica Neue" charset="0"/>
              </a:rPr>
              <a:t>Complete the statements.</a:t>
            </a:r>
            <a:endParaRPr lang="en-US" sz="2000" dirty="0">
              <a:latin typeface="Cambria" charset="0"/>
              <a:ea typeface="Times New Roman" charset="0"/>
              <a:cs typeface="Times New Roman" charset="0"/>
            </a:endParaRPr>
          </a:p>
        </p:txBody>
      </p:sp>
      <p:sp>
        <p:nvSpPr>
          <p:cNvPr id="3" name="Rectangle 2"/>
          <p:cNvSpPr/>
          <p:nvPr/>
        </p:nvSpPr>
        <p:spPr>
          <a:xfrm>
            <a:off x="1497071" y="3451072"/>
            <a:ext cx="10471728" cy="2453813"/>
          </a:xfrm>
          <a:prstGeom prst="rect">
            <a:avLst/>
          </a:prstGeom>
        </p:spPr>
        <p:txBody>
          <a:bodyPr wrap="square">
            <a:spAutoFit/>
          </a:bodyPr>
          <a:lstStyle/>
          <a:p>
            <a:pPr>
              <a:lnSpc>
                <a:spcPct val="200000"/>
              </a:lnSpc>
            </a:pPr>
            <a:r>
              <a:rPr lang="en-US" sz="2000" dirty="0">
                <a:latin typeface="Verdana" charset="0"/>
                <a:ea typeface="Verdana" charset="0"/>
                <a:cs typeface="Verdana" charset="0"/>
              </a:rPr>
              <a:t>When adding integers of different signs using the integer chip model, the smaller number of chips will combine with the same number of chips of the opposite sign to form			The remaining chips show</a:t>
            </a:r>
          </a:p>
          <a:p>
            <a:pPr>
              <a:lnSpc>
                <a:spcPct val="200000"/>
              </a:lnSpc>
            </a:pPr>
            <a:r>
              <a:rPr lang="en-US" sz="2000" dirty="0">
                <a:latin typeface="Verdana" charset="0"/>
                <a:ea typeface="Verdana" charset="0"/>
                <a:cs typeface="Verdana" charset="0"/>
              </a:rPr>
              <a:t>The sum has the sign of the                  number of chips.  </a:t>
            </a:r>
          </a:p>
        </p:txBody>
      </p:sp>
      <p:pic>
        <p:nvPicPr>
          <p:cNvPr id="4" name="Picture 3"/>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23913" y="4621386"/>
            <a:ext cx="1738115" cy="832630"/>
          </a:xfrm>
          <a:prstGeom prst="rect">
            <a:avLst/>
          </a:prstGeom>
        </p:spPr>
      </p:pic>
      <p:pic>
        <p:nvPicPr>
          <p:cNvPr id="8" name="Picture 7"/>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474183" y="4569082"/>
            <a:ext cx="1750809" cy="903284"/>
          </a:xfrm>
          <a:prstGeom prst="rect">
            <a:avLst/>
          </a:prstGeom>
        </p:spPr>
      </p:pic>
      <p:pic>
        <p:nvPicPr>
          <p:cNvPr id="9" name="Picture 8"/>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306013" y="5460491"/>
            <a:ext cx="1342615" cy="832629"/>
          </a:xfrm>
          <a:prstGeom prst="rect">
            <a:avLst/>
          </a:prstGeom>
        </p:spPr>
      </p:pic>
    </p:spTree>
    <p:extLst>
      <p:ext uri="{BB962C8B-B14F-4D97-AF65-F5344CB8AC3E}">
        <p14:creationId xmlns:p14="http://schemas.microsoft.com/office/powerpoint/2010/main" val="771634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a:t>
            </a:r>
          </a:p>
        </p:txBody>
      </p:sp>
      <p:sp>
        <p:nvSpPr>
          <p:cNvPr id="5" name="TextBox 4">
            <a:extLst>
              <a:ext uri="{FF2B5EF4-FFF2-40B4-BE49-F238E27FC236}">
                <a16:creationId xmlns:a16="http://schemas.microsoft.com/office/drawing/2014/main" id="{A3BC97A7-8575-5A46-8E72-A886A83AEC7E}"/>
              </a:ext>
            </a:extLst>
          </p:cNvPr>
          <p:cNvSpPr txBox="1"/>
          <p:nvPr/>
        </p:nvSpPr>
        <p:spPr>
          <a:xfrm>
            <a:off x="1366498" y="1804774"/>
            <a:ext cx="8327136" cy="400110"/>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Complete the table.</a:t>
            </a: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473977742"/>
                  </p:ext>
                </p:extLst>
              </p:nvPr>
            </p:nvGraphicFramePr>
            <p:xfrm>
              <a:off x="2227983" y="2511691"/>
              <a:ext cx="7886700" cy="2520078"/>
            </p:xfrm>
            <a:graphic>
              <a:graphicData uri="http://schemas.openxmlformats.org/drawingml/2006/table">
                <a:tbl>
                  <a:tblPr bandRow="1"/>
                  <a:tblGrid>
                    <a:gridCol w="2384912">
                      <a:extLst>
                        <a:ext uri="{9D8B030D-6E8A-4147-A177-3AD203B41FA5}">
                          <a16:colId xmlns:a16="http://schemas.microsoft.com/office/drawing/2014/main" val="20000"/>
                        </a:ext>
                      </a:extLst>
                    </a:gridCol>
                    <a:gridCol w="2099366">
                      <a:extLst>
                        <a:ext uri="{9D8B030D-6E8A-4147-A177-3AD203B41FA5}">
                          <a16:colId xmlns:a16="http://schemas.microsoft.com/office/drawing/2014/main" val="20001"/>
                        </a:ext>
                      </a:extLst>
                    </a:gridCol>
                    <a:gridCol w="1737407">
                      <a:extLst>
                        <a:ext uri="{9D8B030D-6E8A-4147-A177-3AD203B41FA5}">
                          <a16:colId xmlns:a16="http://schemas.microsoft.com/office/drawing/2014/main" val="20002"/>
                        </a:ext>
                      </a:extLst>
                    </a:gridCol>
                    <a:gridCol w="1665015">
                      <a:extLst>
                        <a:ext uri="{9D8B030D-6E8A-4147-A177-3AD203B41FA5}">
                          <a16:colId xmlns:a16="http://schemas.microsoft.com/office/drawing/2014/main" val="20003"/>
                        </a:ext>
                      </a:extLst>
                    </a:gridCol>
                  </a:tblGrid>
                  <a:tr h="552913">
                    <a:tc>
                      <a:txBody>
                        <a:bodyPr/>
                        <a:lstStyle/>
                        <a:p>
                          <a:pPr marL="0" marR="0" algn="ctr">
                            <a:spcBef>
                              <a:spcPts val="0"/>
                            </a:spcBef>
                            <a:spcAft>
                              <a:spcPts val="0"/>
                            </a:spcAft>
                          </a:pPr>
                          <a:r>
                            <a:rPr lang="en-US" sz="2000" b="1" dirty="0">
                              <a:effectLst/>
                              <a:latin typeface="Verdana" charset="0"/>
                              <a:ea typeface="Verdana" charset="0"/>
                              <a:cs typeface="Verdana" charset="0"/>
                            </a:rPr>
                            <a:t>Expression</a:t>
                          </a:r>
                          <a:endParaRPr lang="en-US" sz="2000" dirty="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Number of Zero Pairs Created</a:t>
                          </a:r>
                          <a:endParaRPr lang="en-US" sz="2000" dirty="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Sign of Sum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Sum</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0579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−9</m:t>
                                    </m:r>
                                  </m:e>
                                </m:d>
                                <m:r>
                                  <a:rPr lang="en-US" sz="2000" i="1">
                                    <a:effectLst/>
                                    <a:latin typeface="Cambria Math" charset="0"/>
                                    <a:ea typeface="Verdana" charset="0"/>
                                    <a:cs typeface="Verdana" charset="0"/>
                                  </a:rPr>
                                  <m:t>+12</m:t>
                                </m:r>
                              </m:oMath>
                            </m:oMathPara>
                          </a14:m>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9</m:t>
                                </m:r>
                              </m:oMath>
                            </m:oMathPara>
                          </a14:m>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Verdana" charset="0"/>
                                    <a:cs typeface="Verdana" charset="0"/>
                                  </a:rPr>
                                  <m:t>+</m:t>
                                </m:r>
                              </m:oMath>
                            </m:oMathPara>
                          </a14:m>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3</m:t>
                                </m:r>
                              </m:oMath>
                            </m:oMathPara>
                          </a14:m>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830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13+−7</m:t>
                                </m:r>
                              </m:oMath>
                            </m:oMathPara>
                          </a14:m>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579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−10</m:t>
                                    </m:r>
                                  </m:e>
                                </m:d>
                                <m:r>
                                  <a:rPr lang="en-US" sz="2000" i="1">
                                    <a:effectLst/>
                                    <a:latin typeface="Cambria Math" charset="0"/>
                                    <a:ea typeface="Verdana" charset="0"/>
                                    <a:cs typeface="Verdana" charset="0"/>
                                  </a:rPr>
                                  <m:t>+5</m:t>
                                </m:r>
                              </m:oMath>
                            </m:oMathPara>
                          </a14:m>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579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7+(−7)</m:t>
                                </m:r>
                              </m:oMath>
                            </m:oMathPara>
                          </a14:m>
                          <a:endParaRPr lang="en-US" sz="2000" dirty="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473977742"/>
                  </p:ext>
                </p:extLst>
              </p:nvPr>
            </p:nvGraphicFramePr>
            <p:xfrm>
              <a:off x="2227983" y="2511691"/>
              <a:ext cx="7886700" cy="2520078"/>
            </p:xfrm>
            <a:graphic>
              <a:graphicData uri="http://schemas.openxmlformats.org/drawingml/2006/table">
                <a:tbl>
                  <a:tblPr bandRow="1"/>
                  <a:tblGrid>
                    <a:gridCol w="2384912">
                      <a:extLst>
                        <a:ext uri="{9D8B030D-6E8A-4147-A177-3AD203B41FA5}">
                          <a16:colId xmlns:a16="http://schemas.microsoft.com/office/drawing/2014/main" val="20000"/>
                        </a:ext>
                      </a:extLst>
                    </a:gridCol>
                    <a:gridCol w="2099366">
                      <a:extLst>
                        <a:ext uri="{9D8B030D-6E8A-4147-A177-3AD203B41FA5}">
                          <a16:colId xmlns:a16="http://schemas.microsoft.com/office/drawing/2014/main" val="20001"/>
                        </a:ext>
                      </a:extLst>
                    </a:gridCol>
                    <a:gridCol w="1737407">
                      <a:extLst>
                        <a:ext uri="{9D8B030D-6E8A-4147-A177-3AD203B41FA5}">
                          <a16:colId xmlns:a16="http://schemas.microsoft.com/office/drawing/2014/main" val="20002"/>
                        </a:ext>
                      </a:extLst>
                    </a:gridCol>
                    <a:gridCol w="1665015">
                      <a:extLst>
                        <a:ext uri="{9D8B030D-6E8A-4147-A177-3AD203B41FA5}">
                          <a16:colId xmlns:a16="http://schemas.microsoft.com/office/drawing/2014/main" val="20003"/>
                        </a:ext>
                      </a:extLst>
                    </a:gridCol>
                  </a:tblGrid>
                  <a:tr h="914400">
                    <a:tc>
                      <a:txBody>
                        <a:bodyPr/>
                        <a:lstStyle/>
                        <a:p>
                          <a:pPr marL="0" marR="0" algn="ctr">
                            <a:spcBef>
                              <a:spcPts val="0"/>
                            </a:spcBef>
                            <a:spcAft>
                              <a:spcPts val="0"/>
                            </a:spcAft>
                          </a:pPr>
                          <a:r>
                            <a:rPr lang="en-US" sz="2000" b="1" dirty="0">
                              <a:effectLst/>
                              <a:latin typeface="Verdana" charset="0"/>
                              <a:ea typeface="Verdana" charset="0"/>
                              <a:cs typeface="Verdana" charset="0"/>
                            </a:rPr>
                            <a:t>Expression</a:t>
                          </a:r>
                          <a:endParaRPr lang="en-US" sz="2000" dirty="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Number of Zero Pairs Created</a:t>
                          </a:r>
                          <a:endParaRPr lang="en-US" sz="2000" dirty="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Sign of Sum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Sum</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05791">
                    <a:tc>
                      <a:txBody>
                        <a:bodyPr/>
                        <a:lstStyle/>
                        <a:p>
                          <a:endParaRPr lang="en-US"/>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32" t="-246875" r="-231383" b="-312500"/>
                          </a:stretch>
                        </a:blipFill>
                      </a:tcPr>
                    </a:tc>
                    <a:tc>
                      <a:txBody>
                        <a:bodyPr/>
                        <a:lstStyle/>
                        <a:p>
                          <a:endParaRPr lang="en-US"/>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3855" t="-246875" r="-162048" b="-312500"/>
                          </a:stretch>
                        </a:blipFill>
                      </a:tcPr>
                    </a:tc>
                    <a:tc>
                      <a:txBody>
                        <a:bodyPr/>
                        <a:lstStyle/>
                        <a:p>
                          <a:endParaRPr lang="en-US"/>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59124" t="-246875" r="-96350" b="-312500"/>
                          </a:stretch>
                        </a:blipFill>
                      </a:tcPr>
                    </a:tc>
                    <a:tc>
                      <a:txBody>
                        <a:bodyPr/>
                        <a:lstStyle/>
                        <a:p>
                          <a:endParaRPr lang="en-US"/>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75573" t="-246875" r="-763" b="-312500"/>
                          </a:stretch>
                        </a:blipFill>
                      </a:tcPr>
                    </a:tc>
                    <a:extLst>
                      <a:ext uri="{0D108BD9-81ED-4DB2-BD59-A6C34878D82A}">
                        <a16:rowId xmlns:a16="http://schemas.microsoft.com/office/drawing/2014/main" val="10001"/>
                      </a:ext>
                    </a:extLst>
                  </a:tr>
                  <a:tr h="388305">
                    <a:tc>
                      <a:txBody>
                        <a:bodyPr/>
                        <a:lstStyle/>
                        <a:p>
                          <a:endParaRPr lang="en-US"/>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32" t="-358065" r="-231383" b="-222581"/>
                          </a:stretch>
                        </a:blipFill>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05791">
                    <a:tc>
                      <a:txBody>
                        <a:bodyPr/>
                        <a:lstStyle/>
                        <a:p>
                          <a:endParaRPr lang="en-US"/>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32" t="-443750" r="-231383" b="-115625"/>
                          </a:stretch>
                        </a:blipFill>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05791">
                    <a:tc>
                      <a:txBody>
                        <a:bodyPr/>
                        <a:lstStyle/>
                        <a:p>
                          <a:endParaRPr lang="en-US"/>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32" t="-543750" r="-231383" b="-15625"/>
                          </a:stretch>
                        </a:blipFill>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i="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5120" marR="6512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991215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a:t>
            </a: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30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892575" y="153233"/>
            <a:ext cx="820145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1.4.4 Bring It Together: Adding and Subtracting Integers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a:t>
            </a:r>
          </a:p>
        </p:txBody>
      </p:sp>
      <p:sp>
        <p:nvSpPr>
          <p:cNvPr id="8" name="TextBox 7">
            <a:extLst>
              <a:ext uri="{FF2B5EF4-FFF2-40B4-BE49-F238E27FC236}">
                <a16:creationId xmlns:a16="http://schemas.microsoft.com/office/drawing/2014/main" id="{669E00F9-F39F-5043-888E-B0A2D8C9AE0F}"/>
              </a:ext>
            </a:extLst>
          </p:cNvPr>
          <p:cNvSpPr txBox="1"/>
          <p:nvPr/>
        </p:nvSpPr>
        <p:spPr>
          <a:xfrm>
            <a:off x="1419419" y="2009884"/>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Complete the statements.</a:t>
            </a:r>
          </a:p>
        </p:txBody>
      </p:sp>
      <p:sp>
        <p:nvSpPr>
          <p:cNvPr id="10" name="Google Shape;278;g104476d1465_1_17">
            <a:extLst>
              <a:ext uri="{FF2B5EF4-FFF2-40B4-BE49-F238E27FC236}">
                <a16:creationId xmlns:a16="http://schemas.microsoft.com/office/drawing/2014/main" id="{E37649FA-72D0-DE42-98CE-D098AE151A2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Picture 2" descr="Icon&#10;&#10;Description automatically generated">
            <a:extLst>
              <a:ext uri="{FF2B5EF4-FFF2-40B4-BE49-F238E27FC236}">
                <a16:creationId xmlns:a16="http://schemas.microsoft.com/office/drawing/2014/main" id="{5D7F7086-3B46-0741-A8D9-C84B5033CCC5}"/>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96621" y="44117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p:cNvSpPr/>
          <p:nvPr/>
        </p:nvSpPr>
        <p:spPr>
          <a:xfrm>
            <a:off x="1892575" y="2609456"/>
            <a:ext cx="9397217" cy="3323987"/>
          </a:xfrm>
          <a:prstGeom prst="rect">
            <a:avLst/>
          </a:prstGeom>
        </p:spPr>
        <p:txBody>
          <a:bodyPr wrap="square">
            <a:spAutoFit/>
          </a:bodyPr>
          <a:lstStyle/>
          <a:p>
            <a:pPr marL="457200" indent="-457200">
              <a:lnSpc>
                <a:spcPct val="250000"/>
              </a:lnSpc>
              <a:buFont typeface="+mj-lt"/>
              <a:buAutoNum type="alphaLcPeriod"/>
            </a:pPr>
            <a:r>
              <a:rPr lang="en-US" sz="2000" dirty="0">
                <a:latin typeface="Verdana" charset="0"/>
                <a:ea typeface="Verdana" charset="0"/>
                <a:cs typeface="Verdana" charset="0"/>
              </a:rPr>
              <a:t>When adding integers of the same sign 		the absolute values of the integers. The sum will have the                    sign as the integers being added.</a:t>
            </a:r>
          </a:p>
          <a:p>
            <a:pPr marL="457200" indent="-457200">
              <a:lnSpc>
                <a:spcPct val="200000"/>
              </a:lnSpc>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512942" y="2693825"/>
            <a:ext cx="1642161" cy="907510"/>
          </a:xfrm>
          <a:prstGeom prst="rect">
            <a:avLst/>
          </a:prstGeom>
        </p:spPr>
      </p:pic>
      <p:pic>
        <p:nvPicPr>
          <p:cNvPr id="4" name="Picture 3"/>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334022" y="3557018"/>
            <a:ext cx="1546247" cy="851145"/>
          </a:xfrm>
          <a:prstGeom prst="rect">
            <a:avLst/>
          </a:prstGeom>
        </p:spPr>
      </p:pic>
    </p:spTree>
    <p:extLst>
      <p:ext uri="{BB962C8B-B14F-4D97-AF65-F5344CB8AC3E}">
        <p14:creationId xmlns:p14="http://schemas.microsoft.com/office/powerpoint/2010/main" val="130110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21</a:t>
            </a:r>
          </a:p>
        </p:txBody>
      </p:sp>
      <p:sp>
        <p:nvSpPr>
          <p:cNvPr id="6" name="Google Shape;278;g104476d1465_1_17">
            <a:extLst>
              <a:ext uri="{FF2B5EF4-FFF2-40B4-BE49-F238E27FC236}">
                <a16:creationId xmlns:a16="http://schemas.microsoft.com/office/drawing/2014/main" id="{7F2D86FB-FD71-474A-BE55-9ECAAD056232}"/>
              </a:ext>
            </a:extLst>
          </p:cNvPr>
          <p:cNvSpPr/>
          <p:nvPr/>
        </p:nvSpPr>
        <p:spPr>
          <a:xfrm>
            <a:off x="19956"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Rectangle 6"/>
          <p:cNvSpPr/>
          <p:nvPr/>
        </p:nvSpPr>
        <p:spPr>
          <a:xfrm>
            <a:off x="1946367" y="671135"/>
            <a:ext cx="8599713" cy="2261453"/>
          </a:xfrm>
          <a:prstGeom prst="rect">
            <a:avLst/>
          </a:prstGeom>
        </p:spPr>
        <p:txBody>
          <a:bodyPr wrap="square">
            <a:spAutoFit/>
          </a:bodyPr>
          <a:lstStyle/>
          <a:p>
            <a:pPr marL="457200" indent="-457200">
              <a:lnSpc>
                <a:spcPct val="250000"/>
              </a:lnSpc>
              <a:buFont typeface="+mj-lt"/>
              <a:buAutoNum type="alphaLcPeriod" startAt="2"/>
            </a:pPr>
            <a:r>
              <a:rPr lang="en-US" sz="2000" dirty="0">
                <a:latin typeface="Verdana" charset="0"/>
                <a:ea typeface="Verdana" charset="0"/>
                <a:cs typeface="Verdana" charset="0"/>
              </a:rPr>
              <a:t>When adding integers of different signs, 		the absolute values of the integers. The sum will have the same sign as the integer with the 		absolute value.</a:t>
            </a:r>
          </a:p>
        </p:txBody>
      </p:sp>
      <p:pic>
        <p:nvPicPr>
          <p:cNvPr id="8" name="Pictur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616358" y="741046"/>
            <a:ext cx="1638300" cy="905376"/>
          </a:xfrm>
          <a:prstGeom prst="rect">
            <a:avLst/>
          </a:prstGeom>
        </p:spPr>
      </p:pic>
      <p:pic>
        <p:nvPicPr>
          <p:cNvPr id="11" name="Picture 10"/>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005925" y="2234285"/>
            <a:ext cx="1468265" cy="910552"/>
          </a:xfrm>
          <a:prstGeom prst="rect">
            <a:avLst/>
          </a:prstGeom>
        </p:spPr>
      </p:pic>
      <p:sp>
        <p:nvSpPr>
          <p:cNvPr id="13" name="Rectangle 12"/>
          <p:cNvSpPr/>
          <p:nvPr/>
        </p:nvSpPr>
        <p:spPr>
          <a:xfrm>
            <a:off x="2024681" y="3851993"/>
            <a:ext cx="8850583" cy="1492012"/>
          </a:xfrm>
          <a:prstGeom prst="rect">
            <a:avLst/>
          </a:prstGeom>
        </p:spPr>
        <p:txBody>
          <a:bodyPr wrap="square">
            <a:spAutoFit/>
          </a:bodyPr>
          <a:lstStyle/>
          <a:p>
            <a:pPr marL="457200" indent="-457200">
              <a:lnSpc>
                <a:spcPct val="250000"/>
              </a:lnSpc>
              <a:buFont typeface="+mj-lt"/>
              <a:buAutoNum type="alphaLcPeriod" startAt="3"/>
            </a:pPr>
            <a:r>
              <a:rPr lang="en-US" sz="2000" dirty="0">
                <a:latin typeface="Verdana" charset="0"/>
                <a:ea typeface="Verdana" charset="0"/>
                <a:cs typeface="Verdana" charset="0"/>
              </a:rPr>
              <a:t>When subtracting integers, create an equivalent expression by changing the expression to 		        of</a:t>
            </a:r>
          </a:p>
        </p:txBody>
      </p:sp>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096000" y="4707987"/>
            <a:ext cx="2118934" cy="888240"/>
          </a:xfrm>
          <a:prstGeom prst="rect">
            <a:avLst/>
          </a:prstGeom>
        </p:spPr>
      </p:pic>
      <p:pic>
        <p:nvPicPr>
          <p:cNvPr id="4" name="Picture 3"/>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625450" y="4646844"/>
            <a:ext cx="3002700" cy="949383"/>
          </a:xfrm>
          <a:prstGeom prst="rect">
            <a:avLst/>
          </a:prstGeom>
        </p:spPr>
      </p:pic>
    </p:spTree>
    <p:extLst>
      <p:ext uri="{BB962C8B-B14F-4D97-AF65-F5344CB8AC3E}">
        <p14:creationId xmlns:p14="http://schemas.microsoft.com/office/powerpoint/2010/main" val="928643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317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642" y="617161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900051" y="265432"/>
            <a:ext cx="90489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1.4.5 Guided Practice: Multiplying and Dividing Integers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67416" y="642868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996621" y="41016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2060448" y="1765319"/>
                <a:ext cx="8327136" cy="1015663"/>
              </a:xfrm>
              <a:prstGeom prst="rect">
                <a:avLst/>
              </a:prstGeom>
              <a:noFill/>
            </p:spPr>
            <p:txBody>
              <a:bodyPr wrap="square" rtlCol="0">
                <a:spAutoFit/>
              </a:bodyPr>
              <a:lstStyle/>
              <a:p>
                <a:r>
                  <a:rPr lang="en-US" sz="2000" dirty="0">
                    <a:latin typeface="Verdana" charset="0"/>
                    <a:ea typeface="Verdana" charset="0"/>
                    <a:cs typeface="Verdana" charset="0"/>
                  </a:rPr>
                  <a:t>The expression </a:t>
                </a:r>
                <a14:m>
                  <m:oMath xmlns:m="http://schemas.openxmlformats.org/officeDocument/2006/math">
                    <m:r>
                      <a:rPr lang="en-US" sz="2000" i="1">
                        <a:latin typeface="Cambria Math" charset="0"/>
                        <a:ea typeface="Verdana" charset="0"/>
                        <a:cs typeface="Verdana" charset="0"/>
                      </a:rPr>
                      <m:t>2×4</m:t>
                    </m:r>
                  </m:oMath>
                </a14:m>
                <a:r>
                  <a:rPr lang="en-US" sz="2000" dirty="0">
                    <a:latin typeface="Verdana" charset="0"/>
                    <a:ea typeface="Verdana" charset="0"/>
                    <a:cs typeface="Verdana" charset="0"/>
                  </a:rPr>
                  <a:t> means </a:t>
                </a:r>
                <a14:m>
                  <m:oMath xmlns:m="http://schemas.openxmlformats.org/officeDocument/2006/math">
                    <m:r>
                      <a:rPr lang="en-US" sz="2000" i="1">
                        <a:latin typeface="Cambria Math" charset="0"/>
                        <a:ea typeface="Verdana" charset="0"/>
                        <a:cs typeface="Verdana" charset="0"/>
                      </a:rPr>
                      <m:t>2</m:t>
                    </m:r>
                  </m:oMath>
                </a14:m>
                <a:r>
                  <a:rPr lang="en-US" sz="2000" dirty="0">
                    <a:latin typeface="Verdana" charset="0"/>
                    <a:ea typeface="Verdana" charset="0"/>
                    <a:cs typeface="Verdana" charset="0"/>
                  </a:rPr>
                  <a:t> groups with </a:t>
                </a:r>
                <a14:m>
                  <m:oMath xmlns:m="http://schemas.openxmlformats.org/officeDocument/2006/math">
                    <m:r>
                      <a:rPr lang="en-US" sz="2000" i="1">
                        <a:latin typeface="Cambria Math" charset="0"/>
                        <a:ea typeface="Verdana" charset="0"/>
                        <a:cs typeface="Verdana" charset="0"/>
                      </a:rPr>
                      <m:t>4</m:t>
                    </m:r>
                  </m:oMath>
                </a14:m>
                <a:r>
                  <a:rPr lang="en-US" sz="2000" dirty="0">
                    <a:latin typeface="Verdana" charset="0"/>
                    <a:ea typeface="Verdana" charset="0"/>
                    <a:cs typeface="Verdana" charset="0"/>
                  </a:rPr>
                  <a:t> units in each group. This can be represented on the number line or using integer chips as shown.  </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2060448" y="1765319"/>
                <a:ext cx="8327136" cy="1015663"/>
              </a:xfrm>
              <a:prstGeom prst="rect">
                <a:avLst/>
              </a:prstGeom>
              <a:blipFill>
                <a:blip r:embed="rId5"/>
                <a:stretch>
                  <a:fillRect l="-762" t="-3750" r="-1220" b="-11250"/>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0D0C5ECD-32B3-814E-9ECE-3E62993CA726}"/>
              </a:ext>
            </a:extLst>
          </p:cNvPr>
          <p:cNvSpPr/>
          <p:nvPr/>
        </p:nvSpPr>
        <p:spPr>
          <a:xfrm>
            <a:off x="0" y="-3721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3424750" y="2955169"/>
            <a:ext cx="5207000" cy="2768600"/>
          </a:xfrm>
          <a:prstGeom prst="rect">
            <a:avLst/>
          </a:prstGeom>
        </p:spPr>
      </p:pic>
    </p:spTree>
    <p:extLst>
      <p:ext uri="{BB962C8B-B14F-4D97-AF65-F5344CB8AC3E}">
        <p14:creationId xmlns:p14="http://schemas.microsoft.com/office/powerpoint/2010/main" val="504699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048890" y="2520686"/>
            <a:ext cx="7861300" cy="901700"/>
          </a:xfrm>
          <a:prstGeom prst="rect">
            <a:avLst/>
          </a:prstGeom>
        </p:spPr>
      </p:pic>
      <mc:AlternateContent xmlns:mc="http://schemas.openxmlformats.org/markup-compatibility/2006" xmlns:a14="http://schemas.microsoft.com/office/drawing/2010/main">
        <mc:Choice Requires="a14">
          <p:sp>
            <p:nvSpPr>
              <p:cNvPr id="2" name="Rectangle 1"/>
              <p:cNvSpPr/>
              <p:nvPr/>
            </p:nvSpPr>
            <p:spPr>
              <a:xfrm>
                <a:off x="1878566" y="1643823"/>
                <a:ext cx="8094217" cy="4093428"/>
              </a:xfrm>
              <a:prstGeom prst="rect">
                <a:avLst/>
              </a:prstGeom>
            </p:spPr>
            <p:txBody>
              <a:bodyPr wrap="square">
                <a:spAutoFit/>
              </a:bodyPr>
              <a:lstStyle/>
              <a:p>
                <a:pPr marL="471488" indent="-471488">
                  <a:buFont typeface="+mj-lt"/>
                  <a:buAutoNum type="alphaLcPeriod"/>
                </a:pPr>
                <a:r>
                  <a:rPr lang="en-US" sz="2000" dirty="0">
                    <a:latin typeface="Verdana" charset="0"/>
                    <a:ea typeface="Verdana" charset="0"/>
                    <a:cs typeface="Verdana" charset="0"/>
                  </a:rPr>
                  <a:t>Create </a:t>
                </a:r>
                <a14:m>
                  <m:oMath xmlns:m="http://schemas.openxmlformats.org/officeDocument/2006/math">
                    <m:r>
                      <a:rPr lang="en-US" sz="2000" i="1">
                        <a:latin typeface="Cambria Math" charset="0"/>
                        <a:ea typeface="Verdana" charset="0"/>
                        <a:cs typeface="Verdana" charset="0"/>
                      </a:rPr>
                      <m:t>2</m:t>
                    </m:r>
                  </m:oMath>
                </a14:m>
                <a:r>
                  <a:rPr lang="en-US" sz="2000" dirty="0">
                    <a:latin typeface="Verdana" charset="0"/>
                    <a:ea typeface="Verdana" charset="0"/>
                    <a:cs typeface="Verdana" charset="0"/>
                  </a:rPr>
                  <a:t> groups of </a:t>
                </a:r>
                <a14:m>
                  <m:oMath xmlns:m="http://schemas.openxmlformats.org/officeDocument/2006/math">
                    <m:r>
                      <a:rPr lang="en-US" sz="2000" i="1">
                        <a:latin typeface="Cambria Math" charset="0"/>
                        <a:ea typeface="Verdana" charset="0"/>
                        <a:cs typeface="Verdana" charset="0"/>
                      </a:rPr>
                      <m:t>−4</m:t>
                    </m:r>
                  </m:oMath>
                </a14:m>
                <a:r>
                  <a:rPr lang="en-US" sz="2000" dirty="0">
                    <a:latin typeface="Verdana" charset="0"/>
                    <a:ea typeface="Verdana" charset="0"/>
                    <a:cs typeface="Verdana" charset="0"/>
                  </a:rPr>
                  <a:t> using the integer chip model. </a:t>
                </a:r>
              </a:p>
              <a:p>
                <a:pPr marL="471488" indent="-471488">
                  <a:buFont typeface="+mj-lt"/>
                  <a:buAutoNum type="alphaLcPeriod"/>
                </a:pPr>
                <a:endParaRPr lang="en-US" sz="2000" dirty="0">
                  <a:latin typeface="Verdana" charset="0"/>
                  <a:ea typeface="Verdana" charset="0"/>
                  <a:cs typeface="Verdana" charset="0"/>
                </a:endParaRPr>
              </a:p>
              <a:p>
                <a:pPr marL="471488" indent="-471488">
                  <a:buFont typeface="+mj-lt"/>
                  <a:buAutoNum type="alphaLcPeriod"/>
                </a:pPr>
                <a:r>
                  <a:rPr lang="en-US" sz="2000" dirty="0">
                    <a:latin typeface="Verdana" charset="0"/>
                    <a:ea typeface="Verdana" charset="0"/>
                    <a:cs typeface="Verdana" charset="0"/>
                  </a:rPr>
                  <a:t>Model </a:t>
                </a:r>
                <a14:m>
                  <m:oMath xmlns:m="http://schemas.openxmlformats.org/officeDocument/2006/math">
                    <m:r>
                      <a:rPr lang="en-US" sz="2000" i="1">
                        <a:latin typeface="Cambria Math" charset="0"/>
                        <a:ea typeface="Verdana" charset="0"/>
                        <a:cs typeface="Verdana" charset="0"/>
                      </a:rPr>
                      <m:t>2</m:t>
                    </m:r>
                  </m:oMath>
                </a14:m>
                <a:r>
                  <a:rPr lang="en-US" sz="2000" dirty="0">
                    <a:latin typeface="Verdana" charset="0"/>
                    <a:ea typeface="Verdana" charset="0"/>
                    <a:cs typeface="Verdana" charset="0"/>
                  </a:rPr>
                  <a:t> groups of </a:t>
                </a:r>
                <a14:m>
                  <m:oMath xmlns:m="http://schemas.openxmlformats.org/officeDocument/2006/math">
                    <m:r>
                      <a:rPr lang="en-US" sz="2000" i="1">
                        <a:latin typeface="Cambria Math" charset="0"/>
                        <a:ea typeface="Verdana" charset="0"/>
                        <a:cs typeface="Verdana" charset="0"/>
                      </a:rPr>
                      <m:t>4</m:t>
                    </m:r>
                  </m:oMath>
                </a14:m>
                <a:r>
                  <a:rPr lang="en-US" sz="2000" dirty="0">
                    <a:latin typeface="Verdana" charset="0"/>
                    <a:ea typeface="Verdana" charset="0"/>
                    <a:cs typeface="Verdana" charset="0"/>
                  </a:rPr>
                  <a:t> units to the left of </a:t>
                </a:r>
                <a14:m>
                  <m:oMath xmlns:m="http://schemas.openxmlformats.org/officeDocument/2006/math">
                    <m:r>
                      <a:rPr lang="en-US" sz="2000" i="1">
                        <a:latin typeface="Cambria Math" charset="0"/>
                        <a:ea typeface="Verdana" charset="0"/>
                        <a:cs typeface="Verdana" charset="0"/>
                      </a:rPr>
                      <m:t>0</m:t>
                    </m:r>
                  </m:oMath>
                </a14:m>
                <a:r>
                  <a:rPr lang="en-US" sz="2000" dirty="0">
                    <a:latin typeface="Verdana" charset="0"/>
                    <a:ea typeface="Verdana" charset="0"/>
                    <a:cs typeface="Verdana" charset="0"/>
                  </a:rPr>
                  <a:t>.</a:t>
                </a:r>
              </a:p>
              <a:p>
                <a:pPr marL="471488" indent="-471488">
                  <a:buFont typeface="+mj-lt"/>
                  <a:buAutoNum type="alphaLcPeriod"/>
                </a:pPr>
                <a:endParaRPr lang="en-US" sz="2000" dirty="0">
                  <a:latin typeface="Verdana" charset="0"/>
                  <a:ea typeface="Verdana" charset="0"/>
                  <a:cs typeface="Verdana" charset="0"/>
                </a:endParaRPr>
              </a:p>
              <a:p>
                <a:pPr marL="471488" indent="-471488">
                  <a:buFont typeface="+mj-lt"/>
                  <a:buAutoNum type="alphaLcPeriod"/>
                </a:pPr>
                <a:endParaRPr lang="en-US" sz="2000" dirty="0">
                  <a:latin typeface="Verdana" charset="0"/>
                  <a:ea typeface="Verdana" charset="0"/>
                  <a:cs typeface="Verdana" charset="0"/>
                </a:endParaRPr>
              </a:p>
              <a:p>
                <a:pPr marL="471488" indent="-471488">
                  <a:buFont typeface="+mj-lt"/>
                  <a:buAutoNum type="alphaLcPeriod"/>
                </a:pPr>
                <a:endParaRPr lang="en-US" sz="2000" dirty="0">
                  <a:latin typeface="Verdana" charset="0"/>
                  <a:ea typeface="Verdana" charset="0"/>
                  <a:cs typeface="Verdana" charset="0"/>
                </a:endParaRPr>
              </a:p>
              <a:p>
                <a:pPr marL="471488" indent="-471488">
                  <a:buFont typeface="+mj-lt"/>
                  <a:buAutoNum type="alphaLcPeriod"/>
                </a:pPr>
                <a:endParaRPr lang="en-US" sz="2000" dirty="0">
                  <a:latin typeface="Verdana" charset="0"/>
                  <a:ea typeface="Verdana" charset="0"/>
                  <a:cs typeface="Verdana" charset="0"/>
                </a:endParaRPr>
              </a:p>
              <a:p>
                <a:pPr marL="471488" indent="-471488">
                  <a:buFont typeface="+mj-lt"/>
                  <a:buAutoNum type="alphaLcPeriod"/>
                </a:pPr>
                <a:r>
                  <a:rPr lang="en-US" sz="2000" dirty="0">
                    <a:latin typeface="Verdana" charset="0"/>
                    <a:ea typeface="Verdana" charset="0"/>
                    <a:cs typeface="Verdana" charset="0"/>
                  </a:rPr>
                  <a:t>Complete the equation. </a:t>
                </a:r>
              </a:p>
              <a:p>
                <a:pPr marL="471488" indent="-471488">
                  <a:buFont typeface="+mj-lt"/>
                  <a:buAutoNum type="alphaLcPeriod"/>
                </a:pPr>
                <a:endParaRPr lang="en-US" sz="2000" dirty="0">
                  <a:latin typeface="Verdana" charset="0"/>
                  <a:ea typeface="Verdana" charset="0"/>
                  <a:cs typeface="Verdana" charset="0"/>
                </a:endParaRPr>
              </a:p>
              <a:p>
                <a:pPr marL="471488" indent="-471488">
                  <a:buFont typeface="+mj-lt"/>
                  <a:buAutoNum type="alphaLcPeriod"/>
                </a:pPr>
                <a:endParaRPr lang="en-US" sz="2000" dirty="0">
                  <a:latin typeface="Verdana" charset="0"/>
                  <a:ea typeface="Verdana" charset="0"/>
                  <a:cs typeface="Verdana" charset="0"/>
                </a:endParaRPr>
              </a:p>
              <a:p>
                <a:pPr marL="471488" indent="-471488">
                  <a:buFont typeface="+mj-lt"/>
                  <a:buAutoNum type="alphaLcPeriod"/>
                </a:pPr>
                <a:endParaRPr lang="en-US" sz="2000" dirty="0">
                  <a:latin typeface="Verdana" charset="0"/>
                  <a:ea typeface="Verdana" charset="0"/>
                  <a:cs typeface="Verdana" charset="0"/>
                </a:endParaRPr>
              </a:p>
              <a:p>
                <a:pPr marL="471488" indent="-471488">
                  <a:buFont typeface="+mj-lt"/>
                  <a:buAutoNum type="alphaLcPeriod"/>
                </a:pPr>
                <a:r>
                  <a:rPr lang="en-US" sz="2000" dirty="0">
                    <a:latin typeface="Verdana" charset="0"/>
                    <a:ea typeface="Verdana" charset="0"/>
                    <a:cs typeface="Verdana" charset="0"/>
                  </a:rPr>
                  <a:t>Explain how the expressions </a:t>
                </a:r>
                <a14:m>
                  <m:oMath xmlns:m="http://schemas.openxmlformats.org/officeDocument/2006/math">
                    <m:r>
                      <a:rPr lang="en-US" sz="2000">
                        <a:latin typeface="Cambria Math" charset="0"/>
                        <a:ea typeface="Verdana" charset="0"/>
                        <a:cs typeface="Verdana" charset="0"/>
                      </a:rPr>
                      <m:t>(</m:t>
                    </m:r>
                    <m:r>
                      <a:rPr lang="en-US" sz="2000" i="1">
                        <a:latin typeface="Cambria Math" charset="0"/>
                        <a:ea typeface="Verdana" charset="0"/>
                        <a:cs typeface="Verdana" charset="0"/>
                      </a:rPr>
                      <m:t>−</m:t>
                    </m:r>
                    <m:r>
                      <a:rPr lang="en-US" sz="2000">
                        <a:latin typeface="Cambria Math" charset="0"/>
                        <a:ea typeface="Verdana" charset="0"/>
                        <a:cs typeface="Verdana" charset="0"/>
                      </a:rPr>
                      <m:t>2)×4</m:t>
                    </m:r>
                  </m:oMath>
                </a14:m>
                <a:r>
                  <a:rPr lang="en-US" sz="2000" dirty="0">
                    <a:latin typeface="Verdana" charset="0"/>
                    <a:ea typeface="Verdana" charset="0"/>
                    <a:cs typeface="Verdana" charset="0"/>
                  </a:rPr>
                  <a:t> and </a:t>
                </a:r>
                <a14:m>
                  <m:oMath xmlns:m="http://schemas.openxmlformats.org/officeDocument/2006/math">
                    <m:r>
                      <a:rPr lang="en-US" sz="2000">
                        <a:latin typeface="Cambria Math" charset="0"/>
                        <a:ea typeface="Verdana" charset="0"/>
                        <a:cs typeface="Verdana" charset="0"/>
                      </a:rPr>
                      <m:t>2×(</m:t>
                    </m:r>
                    <m:r>
                      <a:rPr lang="en-US" sz="2000" i="1">
                        <a:latin typeface="Cambria Math" charset="0"/>
                        <a:ea typeface="Verdana" charset="0"/>
                        <a:cs typeface="Verdana" charset="0"/>
                      </a:rPr>
                      <m:t>−</m:t>
                    </m:r>
                    <m:r>
                      <a:rPr lang="en-US" sz="2000">
                        <a:latin typeface="Cambria Math" charset="0"/>
                        <a:ea typeface="Verdana" charset="0"/>
                        <a:cs typeface="Verdana" charset="0"/>
                      </a:rPr>
                      <m:t>4)</m:t>
                    </m:r>
                  </m:oMath>
                </a14:m>
                <a:r>
                  <a:rPr lang="en-US" sz="2000" dirty="0">
                    <a:latin typeface="Verdana" charset="0"/>
                    <a:ea typeface="Verdana" charset="0"/>
                    <a:cs typeface="Verdana" charset="0"/>
                  </a:rPr>
                  <a:t> differ. </a:t>
                </a:r>
              </a:p>
              <a:p>
                <a:pPr marL="471488" indent="-471488">
                  <a:buFont typeface="+mj-lt"/>
                  <a:buAutoNum type="alphaLcPeriod"/>
                </a:pPr>
                <a:endParaRPr lang="en-US" sz="2000" dirty="0">
                  <a:latin typeface="Verdana" charset="0"/>
                  <a:ea typeface="Verdana" charset="0"/>
                  <a:cs typeface="Verdana"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878566" y="1643823"/>
                <a:ext cx="8094217" cy="4093428"/>
              </a:xfrm>
              <a:prstGeom prst="rect">
                <a:avLst/>
              </a:prstGeom>
              <a:blipFill>
                <a:blip r:embed="rId4"/>
                <a:stretch>
                  <a:fillRect l="-828" t="-1043"/>
                </a:stretch>
              </a:blipFill>
            </p:spPr>
            <p:txBody>
              <a:bodyPr/>
              <a:lstStyle/>
              <a:p>
                <a:r>
                  <a:rPr lang="en-US">
                    <a:noFill/>
                  </a:rPr>
                  <a:t> </a:t>
                </a:r>
              </a:p>
            </p:txBody>
          </p:sp>
        </mc:Fallback>
      </mc:AlternateContent>
      <p:pic>
        <p:nvPicPr>
          <p:cNvPr id="28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628150" y="623532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92397"/>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BC97A7-8575-5A46-8E72-A886A83AEC7E}"/>
                  </a:ext>
                </a:extLst>
              </p:cNvPr>
              <p:cNvSpPr txBox="1"/>
              <p:nvPr/>
            </p:nvSpPr>
            <p:spPr>
              <a:xfrm>
                <a:off x="1424086" y="948945"/>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The expression </a:t>
                </a:r>
                <a14:m>
                  <m:oMath xmlns:m="http://schemas.openxmlformats.org/officeDocument/2006/math">
                    <m:r>
                      <a:rPr lang="en-US" sz="2000">
                        <a:latin typeface="Cambria Math" charset="0"/>
                        <a:ea typeface="Verdana" charset="0"/>
                        <a:cs typeface="Verdana" charset="0"/>
                      </a:rPr>
                      <m:t>2×(</m:t>
                    </m:r>
                    <m:r>
                      <a:rPr lang="en-US" sz="2000" i="1">
                        <a:latin typeface="Cambria Math" charset="0"/>
                        <a:ea typeface="Verdana" charset="0"/>
                        <a:cs typeface="Verdana" charset="0"/>
                      </a:rPr>
                      <m:t>−</m:t>
                    </m:r>
                    <m:r>
                      <a:rPr lang="en-US" sz="2000">
                        <a:latin typeface="Cambria Math" charset="0"/>
                        <a:ea typeface="Verdana" charset="0"/>
                        <a:cs typeface="Verdana" charset="0"/>
                      </a:rPr>
                      <m:t>4)</m:t>
                    </m:r>
                  </m:oMath>
                </a14:m>
                <a:r>
                  <a:rPr lang="en-US" sz="2000" dirty="0">
                    <a:latin typeface="Verdana" charset="0"/>
                    <a:ea typeface="Verdana" charset="0"/>
                    <a:cs typeface="Verdana" charset="0"/>
                  </a:rPr>
                  <a:t> is given.</a:t>
                </a:r>
              </a:p>
            </p:txBody>
          </p:sp>
        </mc:Choice>
        <mc:Fallback xmlns="">
          <p:sp>
            <p:nvSpPr>
              <p:cNvPr id="5" name="TextBox 4">
                <a:extLst>
                  <a:ext uri="{FF2B5EF4-FFF2-40B4-BE49-F238E27FC236}">
                    <a16:creationId xmlns:a16="http://schemas.microsoft.com/office/drawing/2014/main" id="{A3BC97A7-8575-5A46-8E72-A886A83AEC7E}"/>
                  </a:ext>
                </a:extLst>
              </p:cNvPr>
              <p:cNvSpPr txBox="1">
                <a:spLocks noRot="1" noChangeAspect="1" noMove="1" noResize="1" noEditPoints="1" noAdjustHandles="1" noChangeArrowheads="1" noChangeShapeType="1" noTextEdit="1"/>
              </p:cNvSpPr>
              <p:nvPr/>
            </p:nvSpPr>
            <p:spPr>
              <a:xfrm>
                <a:off x="1424086" y="948945"/>
                <a:ext cx="8327136" cy="400110"/>
              </a:xfrm>
              <a:prstGeom prst="rect">
                <a:avLst/>
              </a:prstGeom>
              <a:blipFill>
                <a:blip r:embed="rId6"/>
                <a:stretch>
                  <a:fillRect l="-805" t="-10769" b="-2769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4" name="Rectangle 3"/>
              <p:cNvSpPr/>
              <p:nvPr/>
            </p:nvSpPr>
            <p:spPr>
              <a:xfrm>
                <a:off x="5070976" y="4299249"/>
                <a:ext cx="205004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a:latin typeface="Cambria Math" charset="0"/>
                          <a:ea typeface="Verdana" charset="0"/>
                          <a:cs typeface="Verdana" charset="0"/>
                        </a:rPr>
                        <m:t>2×</m:t>
                      </m:r>
                      <m:d>
                        <m:dPr>
                          <m:ctrlPr>
                            <a:rPr lang="en-US" sz="2000" i="1">
                              <a:latin typeface="Cambria Math" panose="02040503050406030204" pitchFamily="18" charset="0"/>
                              <a:ea typeface="Verdana" charset="0"/>
                              <a:cs typeface="Verdana" charset="0"/>
                            </a:rPr>
                          </m:ctrlPr>
                        </m:dPr>
                        <m:e>
                          <m:r>
                            <a:rPr lang="en-US" sz="2000">
                              <a:latin typeface="Cambria Math" charset="0"/>
                              <a:ea typeface="Verdana" charset="0"/>
                              <a:cs typeface="Verdana" charset="0"/>
                            </a:rPr>
                            <m:t>−4</m:t>
                          </m:r>
                        </m:e>
                      </m:d>
                      <m:r>
                        <a:rPr lang="en-US" sz="2000">
                          <a:latin typeface="Cambria Math" charset="0"/>
                          <a:ea typeface="Verdana" charset="0"/>
                          <a:cs typeface="Verdana" charset="0"/>
                        </a:rPr>
                        <m:t>=</m:t>
                      </m:r>
                      <m:r>
                        <m:rPr>
                          <m:lit/>
                        </m:rPr>
                        <a:rPr lang="en-US" sz="2000">
                          <a:latin typeface="Cambria Math" charset="0"/>
                          <a:ea typeface="Verdana" charset="0"/>
                          <a:cs typeface="Verdana" charset="0"/>
                        </a:rPr>
                        <m:t>______</m:t>
                      </m:r>
                    </m:oMath>
                  </m:oMathPara>
                </a14:m>
                <a:endParaRPr lang="en-US" sz="2000" dirty="0">
                  <a:latin typeface="Verdana" charset="0"/>
                  <a:ea typeface="Verdana" charset="0"/>
                  <a:cs typeface="Verdana"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5070976" y="4299249"/>
                <a:ext cx="2050048" cy="40011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6871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a:t>
            </a:r>
          </a:p>
        </p:txBody>
      </p:sp>
      <p:sp>
        <p:nvSpPr>
          <p:cNvPr id="5" name="TextBox 4">
            <a:extLst>
              <a:ext uri="{FF2B5EF4-FFF2-40B4-BE49-F238E27FC236}">
                <a16:creationId xmlns:a16="http://schemas.microsoft.com/office/drawing/2014/main" id="{A3BC97A7-8575-5A46-8E72-A886A83AEC7E}"/>
              </a:ext>
            </a:extLst>
          </p:cNvPr>
          <p:cNvSpPr txBox="1"/>
          <p:nvPr/>
        </p:nvSpPr>
        <p:spPr>
          <a:xfrm>
            <a:off x="1362416" y="690542"/>
            <a:ext cx="8327136" cy="4401205"/>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Complete the visual rule for multiplication of positive and negative numbers.</a:t>
            </a: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r>
              <a:rPr lang="en-US" sz="2000" dirty="0">
                <a:latin typeface="Verdana" charset="0"/>
                <a:ea typeface="Verdana" charset="0"/>
                <a:cs typeface="Verdana" charset="0"/>
              </a:rPr>
              <a:t>Complete the statement. </a:t>
            </a:r>
          </a:p>
          <a:p>
            <a:pPr marL="457200" indent="-457200">
              <a:buFont typeface="+mj-lt"/>
              <a:buAutoNum type="arabicPeriod" startAt="2"/>
            </a:pPr>
            <a:endParaRPr lang="en-US" sz="20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790950" y="1430645"/>
            <a:ext cx="4610100" cy="2921000"/>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1362416" y="4953967"/>
                <a:ext cx="8042993" cy="1015663"/>
              </a:xfrm>
              <a:prstGeom prst="rect">
                <a:avLst/>
              </a:prstGeom>
            </p:spPr>
            <p:txBody>
              <a:bodyPr wrap="square">
                <a:spAutoFit/>
              </a:bodyPr>
              <a:lstStyle/>
              <a:p>
                <a:pPr indent="457200"/>
                <a:r>
                  <a:rPr lang="en-US" sz="2000" dirty="0">
                    <a:latin typeface="Verdana" charset="0"/>
                    <a:ea typeface="Verdana" charset="0"/>
                    <a:cs typeface="Verdana" charset="0"/>
                  </a:rPr>
                  <a:t>The expression </a:t>
                </a:r>
                <a14:m>
                  <m:oMath xmlns:m="http://schemas.openxmlformats.org/officeDocument/2006/math">
                    <m:r>
                      <a:rPr lang="en-US" sz="2000" i="1">
                        <a:latin typeface="Cambria Math" charset="0"/>
                        <a:ea typeface="Verdana" charset="0"/>
                        <a:cs typeface="Verdana" charset="0"/>
                      </a:rPr>
                      <m:t>(</m:t>
                    </m:r>
                    <m:r>
                      <a:rPr lang="en-US" sz="2000" i="1">
                        <a:solidFill>
                          <a:srgbClr val="00B050"/>
                        </a:solidFill>
                        <a:latin typeface="Cambria Math" charset="0"/>
                        <a:ea typeface="Verdana" charset="0"/>
                        <a:cs typeface="Verdana" charset="0"/>
                      </a:rPr>
                      <m:t>−2</m:t>
                    </m:r>
                    <m:r>
                      <a:rPr lang="en-US" sz="2000" i="1">
                        <a:latin typeface="Cambria Math" charset="0"/>
                        <a:ea typeface="Verdana" charset="0"/>
                        <a:cs typeface="Verdana" charset="0"/>
                      </a:rPr>
                      <m:t> )(</m:t>
                    </m:r>
                    <m:r>
                      <a:rPr lang="en-US" sz="2000" i="1">
                        <a:solidFill>
                          <a:srgbClr val="C0504D"/>
                        </a:solidFill>
                        <a:latin typeface="Cambria Math" charset="0"/>
                        <a:ea typeface="Verdana" charset="0"/>
                        <a:cs typeface="Verdana" charset="0"/>
                      </a:rPr>
                      <m:t>−4</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indicates that </a:t>
                </a:r>
                <a:r>
                  <a:rPr lang="en-US" sz="2000" dirty="0">
                    <a:solidFill>
                      <a:srgbClr val="00B050"/>
                    </a:solidFill>
                    <a:latin typeface="Verdana" charset="0"/>
                    <a:ea typeface="Verdana" charset="0"/>
                    <a:cs typeface="Verdana" charset="0"/>
                  </a:rPr>
                  <a:t>________ </a:t>
                </a:r>
                <a:r>
                  <a:rPr lang="en-US" sz="2000" dirty="0">
                    <a:latin typeface="Verdana" charset="0"/>
                    <a:ea typeface="Verdana" charset="0"/>
                    <a:cs typeface="Verdana" charset="0"/>
                  </a:rPr>
                  <a:t>groups </a:t>
                </a:r>
              </a:p>
              <a:p>
                <a:pPr indent="457200"/>
                <a:r>
                  <a:rPr lang="en-US" sz="2000" i="1" dirty="0">
                    <a:latin typeface="Verdana" charset="0"/>
                    <a:ea typeface="Verdana" charset="0"/>
                    <a:cs typeface="Verdana" charset="0"/>
                  </a:rPr>
                  <a:t> </a:t>
                </a:r>
                <a:endParaRPr lang="en-US" sz="2000" dirty="0">
                  <a:latin typeface="Verdana" charset="0"/>
                  <a:ea typeface="Verdana" charset="0"/>
                  <a:cs typeface="Verdana" charset="0"/>
                </a:endParaRPr>
              </a:p>
              <a:p>
                <a:pPr indent="457200"/>
                <a:r>
                  <a:rPr lang="en-US" sz="2000" dirty="0">
                    <a:latin typeface="Verdana" charset="0"/>
                    <a:ea typeface="Verdana" charset="0"/>
                    <a:cs typeface="Verdana" charset="0"/>
                  </a:rPr>
                  <a:t>of </a:t>
                </a:r>
                <a:r>
                  <a:rPr lang="en-US" sz="2000" dirty="0">
                    <a:solidFill>
                      <a:srgbClr val="C0504D"/>
                    </a:solidFill>
                    <a:latin typeface="Verdana" charset="0"/>
                    <a:ea typeface="Verdana" charset="0"/>
                    <a:cs typeface="Verdana" charset="0"/>
                  </a:rPr>
                  <a:t>________ </a:t>
                </a:r>
                <a:r>
                  <a:rPr lang="en-US" sz="2000" dirty="0">
                    <a:latin typeface="Verdana" charset="0"/>
                    <a:ea typeface="Verdana" charset="0"/>
                    <a:cs typeface="Verdana" charset="0"/>
                  </a:rPr>
                  <a:t>should be </a:t>
                </a:r>
                <a:r>
                  <a:rPr lang="en-US" sz="2000" dirty="0">
                    <a:solidFill>
                      <a:srgbClr val="00B050"/>
                    </a:solidFill>
                    <a:latin typeface="Verdana" charset="0"/>
                    <a:ea typeface="Verdana" charset="0"/>
                    <a:cs typeface="Verdana" charset="0"/>
                  </a:rPr>
                  <a:t>removed</a:t>
                </a:r>
                <a:r>
                  <a:rPr lang="en-US" sz="2000" dirty="0">
                    <a:latin typeface="Verdana" charset="0"/>
                    <a:ea typeface="Verdana" charset="0"/>
                    <a:cs typeface="Verdana"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1362416" y="4953967"/>
                <a:ext cx="8042993" cy="1015663"/>
              </a:xfrm>
              <a:prstGeom prst="rect">
                <a:avLst/>
              </a:prstGeom>
              <a:blipFill>
                <a:blip r:embed="rId5"/>
                <a:stretch>
                  <a:fillRect t="-3614" r="-758" b="-10241"/>
                </a:stretch>
              </a:blipFill>
            </p:spPr>
            <p:txBody>
              <a:bodyPr/>
              <a:lstStyle/>
              <a:p>
                <a:r>
                  <a:rPr lang="en-US">
                    <a:noFill/>
                  </a:rPr>
                  <a:t> </a:t>
                </a:r>
              </a:p>
            </p:txBody>
          </p:sp>
        </mc:Fallback>
      </mc:AlternateContent>
    </p:spTree>
    <p:extLst>
      <p:ext uri="{BB962C8B-B14F-4D97-AF65-F5344CB8AC3E}">
        <p14:creationId xmlns:p14="http://schemas.microsoft.com/office/powerpoint/2010/main" val="173931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22</a:t>
            </a: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Picture 7">
            <a:extLst>
              <a:ext uri="{FF2B5EF4-FFF2-40B4-BE49-F238E27FC236}">
                <a16:creationId xmlns:a16="http://schemas.microsoft.com/office/drawing/2014/main" id="{0D11958B-0CE8-75C8-1B0E-3469D1962EEA}"/>
              </a:ext>
            </a:extLst>
          </p:cNvPr>
          <p:cNvPicPr>
            <a:picLocks noChangeAspect="1"/>
          </p:cNvPicPr>
          <p:nvPr/>
        </p:nvPicPr>
        <p:blipFill>
          <a:blip r:embed="rId4"/>
          <a:stretch>
            <a:fillRect/>
          </a:stretch>
        </p:blipFill>
        <p:spPr>
          <a:xfrm>
            <a:off x="1276000" y="390277"/>
            <a:ext cx="8325200" cy="5878480"/>
          </a:xfrm>
          <a:prstGeom prst="rect">
            <a:avLst/>
          </a:prstGeom>
        </p:spPr>
      </p:pic>
    </p:spTree>
    <p:extLst>
      <p:ext uri="{BB962C8B-B14F-4D97-AF65-F5344CB8AC3E}">
        <p14:creationId xmlns:p14="http://schemas.microsoft.com/office/powerpoint/2010/main" val="912314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a:t>
            </a:r>
          </a:p>
        </p:txBody>
      </p:sp>
      <p:sp>
        <p:nvSpPr>
          <p:cNvPr id="5" name="TextBox 4">
            <a:extLst>
              <a:ext uri="{FF2B5EF4-FFF2-40B4-BE49-F238E27FC236}">
                <a16:creationId xmlns:a16="http://schemas.microsoft.com/office/drawing/2014/main" id="{A3BC97A7-8575-5A46-8E72-A886A83AEC7E}"/>
              </a:ext>
            </a:extLst>
          </p:cNvPr>
          <p:cNvSpPr txBox="1"/>
          <p:nvPr/>
        </p:nvSpPr>
        <p:spPr>
          <a:xfrm>
            <a:off x="1409917" y="1019225"/>
            <a:ext cx="8327136" cy="707886"/>
          </a:xfrm>
          <a:prstGeom prst="rect">
            <a:avLst/>
          </a:prstGeom>
          <a:noFill/>
        </p:spPr>
        <p:txBody>
          <a:bodyPr wrap="square" rtlCol="0">
            <a:spAutoFit/>
          </a:bodyPr>
          <a:lstStyle/>
          <a:p>
            <a:pPr marL="457200" indent="-457200">
              <a:buFont typeface="+mj-lt"/>
              <a:buAutoNum type="arabicPeriod" startAt="5"/>
            </a:pPr>
            <a:r>
              <a:rPr lang="en-US" sz="2000" dirty="0">
                <a:latin typeface="Verdana" charset="0"/>
                <a:ea typeface="Verdana" charset="0"/>
                <a:cs typeface="Verdana" charset="0"/>
              </a:rPr>
              <a:t>Complete the visual rule for the multiplication of two negative numbers.</a:t>
            </a: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53855" y="2049035"/>
            <a:ext cx="4635500" cy="1905000"/>
          </a:xfrm>
          <a:prstGeom prst="rect">
            <a:avLst/>
          </a:prstGeom>
        </p:spPr>
      </p:pic>
    </p:spTree>
    <p:extLst>
      <p:ext uri="{BB962C8B-B14F-4D97-AF65-F5344CB8AC3E}">
        <p14:creationId xmlns:p14="http://schemas.microsoft.com/office/powerpoint/2010/main" val="672044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a:t>
            </a:r>
          </a:p>
        </p:txBody>
      </p:sp>
      <p:sp>
        <p:nvSpPr>
          <p:cNvPr id="5" name="TextBox 4">
            <a:extLst>
              <a:ext uri="{FF2B5EF4-FFF2-40B4-BE49-F238E27FC236}">
                <a16:creationId xmlns:a16="http://schemas.microsoft.com/office/drawing/2014/main" id="{A3BC97A7-8575-5A46-8E72-A886A83AEC7E}"/>
              </a:ext>
            </a:extLst>
          </p:cNvPr>
          <p:cNvSpPr txBox="1"/>
          <p:nvPr/>
        </p:nvSpPr>
        <p:spPr>
          <a:xfrm>
            <a:off x="1398042" y="309118"/>
            <a:ext cx="8327136" cy="6247864"/>
          </a:xfrm>
          <a:prstGeom prst="rect">
            <a:avLst/>
          </a:prstGeom>
          <a:noFill/>
        </p:spPr>
        <p:txBody>
          <a:bodyPr wrap="square" rtlCol="0">
            <a:spAutoFit/>
          </a:bodyPr>
          <a:lstStyle/>
          <a:p>
            <a:pPr marL="457200" indent="-457200">
              <a:buFont typeface="+mj-lt"/>
              <a:buAutoNum type="arabicPeriod" startAt="6"/>
            </a:pPr>
            <a:r>
              <a:rPr lang="en-US" sz="2000" dirty="0">
                <a:latin typeface="Verdana" charset="0"/>
                <a:ea typeface="Verdana" charset="0"/>
                <a:cs typeface="Verdana" charset="0"/>
              </a:rPr>
              <a:t>Multiplication and division have an inverse relationship. Use this relationship to complete the table.</a:t>
            </a: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r>
              <a:rPr lang="en-US" sz="2000" dirty="0">
                <a:latin typeface="Verdana" charset="0"/>
                <a:ea typeface="Verdana" charset="0"/>
                <a:cs typeface="Verdana" charset="0"/>
              </a:rPr>
              <a:t>How are the rules for multiplication of integers related to the rules for division of integers? </a:t>
            </a:r>
          </a:p>
        </p:txBody>
      </p:sp>
      <p:sp>
        <p:nvSpPr>
          <p:cNvPr id="6" name="Google Shape;278;g104476d1465_1_17">
            <a:extLst>
              <a:ext uri="{FF2B5EF4-FFF2-40B4-BE49-F238E27FC236}">
                <a16:creationId xmlns:a16="http://schemas.microsoft.com/office/drawing/2014/main" id="{91AC6BBB-5763-8341-B240-C23FCD1B4259}"/>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008556" y="1140218"/>
            <a:ext cx="6881368" cy="4284207"/>
          </a:xfrm>
          <a:prstGeom prst="rect">
            <a:avLst/>
          </a:prstGeom>
        </p:spPr>
      </p:pic>
    </p:spTree>
    <p:extLst>
      <p:ext uri="{BB962C8B-B14F-4D97-AF65-F5344CB8AC3E}">
        <p14:creationId xmlns:p14="http://schemas.microsoft.com/office/powerpoint/2010/main" val="314547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a:t>
            </a: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7796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804416" y="60325"/>
            <a:ext cx="87347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1.4.6 Try It: Integer Operations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23</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88937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AB6A3A1-5A0D-C84F-AC89-57E6782F43E5}"/>
              </a:ext>
            </a:extLst>
          </p:cNvPr>
          <p:cNvSpPr txBox="1"/>
          <p:nvPr/>
        </p:nvSpPr>
        <p:spPr>
          <a:xfrm>
            <a:off x="1266092" y="1386025"/>
            <a:ext cx="9121492"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Evaluate each expression.</a:t>
            </a:r>
          </a:p>
        </p:txBody>
      </p:sp>
      <p:sp>
        <p:nvSpPr>
          <p:cNvPr id="11" name="Google Shape;278;g104476d1465_1_17">
            <a:extLst>
              <a:ext uri="{FF2B5EF4-FFF2-40B4-BE49-F238E27FC236}">
                <a16:creationId xmlns:a16="http://schemas.microsoft.com/office/drawing/2014/main" id="{D93CCF23-305F-4542-AFD2-A48933A9E42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p:cNvSpPr/>
              <p:nvPr/>
            </p:nvSpPr>
            <p:spPr>
              <a:xfrm>
                <a:off x="1312430" y="2074081"/>
                <a:ext cx="9028816" cy="3477875"/>
              </a:xfrm>
              <a:prstGeom prst="rect">
                <a:avLst/>
              </a:prstGeom>
            </p:spPr>
            <p:txBody>
              <a:bodyPr wrap="square">
                <a:spAutoFit/>
              </a:bodyPr>
              <a:lstStyle/>
              <a:p>
                <a:pPr marL="914400"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34+</m:t>
                    </m:r>
                    <m:d>
                      <m:dPr>
                        <m:ctrlPr>
                          <a:rPr lang="en-US" sz="2000" i="1">
                            <a:latin typeface="Cambria Math" panose="02040503050406030204" pitchFamily="18" charset="0"/>
                            <a:ea typeface="Verdana" charset="0"/>
                            <a:cs typeface="Verdana" charset="0"/>
                          </a:rPr>
                        </m:ctrlPr>
                      </m:dPr>
                      <m:e>
                        <m:r>
                          <a:rPr lang="en-US" sz="2000">
                            <a:latin typeface="Cambria Math"/>
                            <a:ea typeface="Verdana" charset="0"/>
                            <a:cs typeface="Verdana" charset="0"/>
                          </a:rPr>
                          <m:t>−21</m:t>
                        </m:r>
                      </m:e>
                    </m:d>
                  </m:oMath>
                </a14:m>
                <a:endParaRPr lang="en-US" sz="2000" dirty="0">
                  <a:latin typeface="Verdana" charset="0"/>
                  <a:ea typeface="Verdana" charset="0"/>
                  <a:cs typeface="Verdana" charset="0"/>
                </a:endParaRPr>
              </a:p>
              <a:p>
                <a:pPr marL="914400" indent="-457200">
                  <a:buAutoNum type="alphaLcPeriod"/>
                </a:pPr>
                <a:endParaRPr lang="en-US" sz="2000" dirty="0">
                  <a:latin typeface="Verdana" charset="0"/>
                  <a:ea typeface="Verdana" charset="0"/>
                  <a:cs typeface="Verdana" charset="0"/>
                </a:endParaRPr>
              </a:p>
              <a:p>
                <a:pPr marL="914400"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−67+40</m:t>
                    </m:r>
                  </m:oMath>
                </a14:m>
                <a:endParaRPr lang="en-US" sz="2000" dirty="0">
                  <a:latin typeface="Verdana" charset="0"/>
                  <a:ea typeface="Verdana" charset="0"/>
                  <a:cs typeface="Verdana" charset="0"/>
                </a:endParaRPr>
              </a:p>
              <a:p>
                <a:pPr marL="914400" indent="-457200">
                  <a:buAutoNum type="alphaLcPeriod"/>
                </a:pPr>
                <a:endParaRPr lang="en-US" sz="2000" dirty="0">
                  <a:latin typeface="Verdana" charset="0"/>
                  <a:ea typeface="Verdana" charset="0"/>
                  <a:cs typeface="Verdana" charset="0"/>
                </a:endParaRPr>
              </a:p>
              <a:p>
                <a:pPr marL="914400"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−333+</m:t>
                    </m:r>
                    <m:d>
                      <m:dPr>
                        <m:ctrlPr>
                          <a:rPr lang="en-US" sz="2000" i="1">
                            <a:latin typeface="Cambria Math" panose="02040503050406030204" pitchFamily="18" charset="0"/>
                            <a:ea typeface="Verdana" charset="0"/>
                            <a:cs typeface="Verdana" charset="0"/>
                          </a:rPr>
                        </m:ctrlPr>
                      </m:dPr>
                      <m:e>
                        <m:r>
                          <a:rPr lang="en-US" sz="2000">
                            <a:latin typeface="Cambria Math"/>
                            <a:ea typeface="Verdana" charset="0"/>
                            <a:cs typeface="Verdana" charset="0"/>
                          </a:rPr>
                          <m:t>−509</m:t>
                        </m:r>
                      </m:e>
                    </m:d>
                  </m:oMath>
                </a14:m>
                <a:endParaRPr lang="en-US" sz="2000" dirty="0">
                  <a:latin typeface="Verdana" charset="0"/>
                  <a:ea typeface="Verdana" charset="0"/>
                  <a:cs typeface="Verdana" charset="0"/>
                </a:endParaRPr>
              </a:p>
              <a:p>
                <a:pPr marL="914400" indent="-457200">
                  <a:buAutoNum type="alphaLcPeriod"/>
                </a:pPr>
                <a:endParaRPr lang="en-US" sz="2000" dirty="0">
                  <a:latin typeface="Verdana" charset="0"/>
                  <a:ea typeface="Verdana" charset="0"/>
                  <a:cs typeface="Verdana" charset="0"/>
                </a:endParaRPr>
              </a:p>
              <a:p>
                <a:pPr marL="914400"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700+(−814)</m:t>
                    </m:r>
                  </m:oMath>
                </a14:m>
                <a:endParaRPr lang="en-US" sz="2000" dirty="0">
                  <a:latin typeface="Verdana" charset="0"/>
                  <a:ea typeface="Verdana" charset="0"/>
                  <a:cs typeface="Verdana" charset="0"/>
                </a:endParaRPr>
              </a:p>
              <a:p>
                <a:pPr marL="914400" indent="-457200">
                  <a:buAutoNum type="alphaLcPeriod"/>
                </a:pPr>
                <a:endParaRPr lang="en-US" sz="2000" dirty="0">
                  <a:latin typeface="Verdana" charset="0"/>
                  <a:ea typeface="Verdana" charset="0"/>
                  <a:cs typeface="Verdana" charset="0"/>
                </a:endParaRPr>
              </a:p>
              <a:p>
                <a:pPr marL="914400"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632−</m:t>
                    </m:r>
                    <m:d>
                      <m:dPr>
                        <m:ctrlPr>
                          <a:rPr lang="en-US" sz="2000" i="1">
                            <a:latin typeface="Cambria Math" panose="02040503050406030204" pitchFamily="18" charset="0"/>
                            <a:ea typeface="Verdana" charset="0"/>
                            <a:cs typeface="Verdana" charset="0"/>
                          </a:rPr>
                        </m:ctrlPr>
                      </m:dPr>
                      <m:e>
                        <m:r>
                          <a:rPr lang="en-US" sz="2000">
                            <a:latin typeface="Cambria Math"/>
                            <a:ea typeface="Verdana" charset="0"/>
                            <a:cs typeface="Verdana" charset="0"/>
                          </a:rPr>
                          <m:t>−108</m:t>
                        </m:r>
                      </m:e>
                    </m:d>
                  </m:oMath>
                </a14:m>
                <a:endParaRPr lang="en-US" sz="2000" dirty="0">
                  <a:latin typeface="Verdana" charset="0"/>
                  <a:ea typeface="Verdana" charset="0"/>
                  <a:cs typeface="Verdana" charset="0"/>
                </a:endParaRPr>
              </a:p>
              <a:p>
                <a:pPr marL="914400" indent="-457200">
                  <a:buAutoNum type="alphaLcPeriod"/>
                </a:pPr>
                <a:endParaRPr lang="en-US" sz="2000" dirty="0">
                  <a:latin typeface="Verdana" charset="0"/>
                  <a:ea typeface="Verdana" charset="0"/>
                  <a:cs typeface="Verdana" charset="0"/>
                </a:endParaRPr>
              </a:p>
              <a:p>
                <a:pPr marL="914400" indent="-45720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942−621</m:t>
                    </m:r>
                  </m:oMath>
                </a14:m>
                <a:r>
                  <a:rPr lang="en-US" sz="2000" dirty="0">
                    <a:latin typeface="Verdana" charset="0"/>
                    <a:ea typeface="Verdana" charset="0"/>
                    <a:cs typeface="Verdana" charset="0"/>
                  </a:rPr>
                  <a:t>	 </a:t>
                </a:r>
              </a:p>
            </p:txBody>
          </p:sp>
        </mc:Choice>
        <mc:Fallback xmlns="">
          <p:sp>
            <p:nvSpPr>
              <p:cNvPr id="2" name="Rectangle 1"/>
              <p:cNvSpPr>
                <a:spLocks noRot="1" noChangeAspect="1" noMove="1" noResize="1" noEditPoints="1" noAdjustHandles="1" noChangeArrowheads="1" noChangeShapeType="1" noTextEdit="1"/>
              </p:cNvSpPr>
              <p:nvPr/>
            </p:nvSpPr>
            <p:spPr>
              <a:xfrm>
                <a:off x="1312430" y="2074081"/>
                <a:ext cx="9028816" cy="3477875"/>
              </a:xfrm>
              <a:prstGeom prst="rect">
                <a:avLst/>
              </a:prstGeom>
              <a:blipFill>
                <a:blip r:embed="rId5"/>
                <a:stretch>
                  <a:fillRect t="-1226" b="-2277"/>
                </a:stretch>
              </a:blipFill>
            </p:spPr>
            <p:txBody>
              <a:bodyPr/>
              <a:lstStyle/>
              <a:p>
                <a:r>
                  <a:rPr lang="en-US">
                    <a:noFill/>
                  </a:rPr>
                  <a:t> </a:t>
                </a:r>
              </a:p>
            </p:txBody>
          </p:sp>
        </mc:Fallback>
      </mc:AlternateContent>
    </p:spTree>
    <p:extLst>
      <p:ext uri="{BB962C8B-B14F-4D97-AF65-F5344CB8AC3E}">
        <p14:creationId xmlns:p14="http://schemas.microsoft.com/office/powerpoint/2010/main" val="1747856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791287" y="432833"/>
                <a:ext cx="8102522" cy="3785652"/>
              </a:xfrm>
              <a:prstGeom prst="rect">
                <a:avLst/>
              </a:prstGeom>
              <a:noFill/>
            </p:spPr>
            <p:txBody>
              <a:bodyPr wrap="square" rtlCol="0">
                <a:spAutoFit/>
              </a:bodyPr>
              <a:lstStyle/>
              <a:p>
                <a:pPr marL="457200" indent="-457200">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−78−(−324)</m:t>
                    </m:r>
                  </m:oMath>
                </a14:m>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105−</m:t>
                    </m:r>
                    <m:d>
                      <m:dPr>
                        <m:ctrlPr>
                          <a:rPr lang="en-US" sz="2000" i="1">
                            <a:latin typeface="Cambria Math" panose="02040503050406030204" pitchFamily="18" charset="0"/>
                            <a:ea typeface="Verdana" charset="0"/>
                            <a:cs typeface="Verdana" charset="0"/>
                          </a:rPr>
                        </m:ctrlPr>
                      </m:dPr>
                      <m:e>
                        <m:r>
                          <a:rPr lang="en-US" sz="2000">
                            <a:latin typeface="Cambria Math"/>
                            <a:ea typeface="Verdana" charset="0"/>
                            <a:cs typeface="Verdana" charset="0"/>
                          </a:rPr>
                          <m:t>−75</m:t>
                        </m:r>
                      </m:e>
                    </m:d>
                  </m:oMath>
                </a14:m>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−5×</m:t>
                    </m:r>
                    <m:d>
                      <m:dPr>
                        <m:ctrlPr>
                          <a:rPr lang="en-US" sz="2000" i="1">
                            <a:latin typeface="Cambria Math" panose="02040503050406030204" pitchFamily="18" charset="0"/>
                            <a:ea typeface="Verdana" charset="0"/>
                            <a:cs typeface="Verdana" charset="0"/>
                          </a:rPr>
                        </m:ctrlPr>
                      </m:dPr>
                      <m:e>
                        <m:r>
                          <a:rPr lang="en-US" sz="2000">
                            <a:latin typeface="Cambria Math"/>
                            <a:ea typeface="Verdana" charset="0"/>
                            <a:cs typeface="Verdana" charset="0"/>
                          </a:rPr>
                          <m:t>−6</m:t>
                        </m:r>
                      </m:e>
                    </m:d>
                  </m:oMath>
                </a14:m>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−22÷</m:t>
                    </m:r>
                    <m:d>
                      <m:dPr>
                        <m:ctrlPr>
                          <a:rPr lang="en-US" sz="2000" i="1">
                            <a:latin typeface="Cambria Math" panose="02040503050406030204" pitchFamily="18" charset="0"/>
                            <a:ea typeface="Verdana" charset="0"/>
                            <a:cs typeface="Verdana" charset="0"/>
                          </a:rPr>
                        </m:ctrlPr>
                      </m:dPr>
                      <m:e>
                        <m:r>
                          <a:rPr lang="en-US" sz="2000">
                            <a:latin typeface="Cambria Math"/>
                            <a:ea typeface="Verdana" charset="0"/>
                            <a:cs typeface="Verdana" charset="0"/>
                          </a:rPr>
                          <m:t>−11</m:t>
                        </m:r>
                      </m:e>
                    </m:d>
                  </m:oMath>
                </a14:m>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−24÷3</m:t>
                    </m:r>
                  </m:oMath>
                </a14:m>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a:p>
                <a:pPr marL="457200" indent="-457200">
                  <a:buFont typeface="+mj-lt"/>
                  <a:buAutoNum type="alphaLcPeriod" startAt="7"/>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latin typeface="Cambria Math"/>
                        <a:ea typeface="Verdana" charset="0"/>
                        <a:cs typeface="Verdana" charset="0"/>
                      </a:rPr>
                      <m:t>9×(−4)</m:t>
                    </m:r>
                  </m:oMath>
                </a14:m>
                <a:endParaRPr lang="en-US" sz="2000" dirty="0">
                  <a:latin typeface="Verdana" charset="0"/>
                  <a:ea typeface="Verdana" charset="0"/>
                  <a:cs typeface="Verdana" charset="0"/>
                </a:endParaRPr>
              </a:p>
              <a:p>
                <a:pPr marL="457200" indent="-457200">
                  <a:buFont typeface="+mj-lt"/>
                  <a:buAutoNum type="alphaLcPeriod" startAt="7"/>
                </a:pPr>
                <a:endParaRPr lang="en-US" sz="2000" dirty="0">
                  <a:latin typeface="Verdana" charset="0"/>
                  <a:ea typeface="Verdana" charset="0"/>
                  <a:cs typeface="Verdana" charset="0"/>
                </a:endParaRPr>
              </a:p>
            </p:txBody>
          </p:sp>
        </mc:Choice>
        <mc:Fallback xmlns="">
          <p:sp>
            <p:nvSpPr>
              <p:cNvPr id="5" name="TextBox 4">
                <a:extLst>
                  <a:ext uri="{FF2B5EF4-FFF2-40B4-BE49-F238E27FC236}">
                    <a16:creationId xmlns:a16="http://schemas.microsoft.com/office/drawing/2014/main" id="{22347CCE-34A7-8044-BA67-B5895157AE55}"/>
                  </a:ext>
                </a:extLst>
              </p:cNvPr>
              <p:cNvSpPr txBox="1">
                <a:spLocks noRot="1" noChangeAspect="1" noMove="1" noResize="1" noEditPoints="1" noAdjustHandles="1" noChangeArrowheads="1" noChangeShapeType="1" noTextEdit="1"/>
              </p:cNvSpPr>
              <p:nvPr/>
            </p:nvSpPr>
            <p:spPr>
              <a:xfrm>
                <a:off x="1791287" y="432833"/>
                <a:ext cx="8102522" cy="3785652"/>
              </a:xfrm>
              <a:prstGeom prst="rect">
                <a:avLst/>
              </a:prstGeom>
              <a:blipFill>
                <a:blip r:embed="rId4"/>
                <a:stretch>
                  <a:fillRect l="-828" t="-112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3DDED37-A9DC-1840-BFB8-744A6C956060}"/>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312115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24</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971304" y="60326"/>
            <a:ext cx="864552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1.4.7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1038950" y="300413"/>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762107" y="1386026"/>
            <a:ext cx="8327136" cy="1015663"/>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In this lesson, multiple concepts about operations with integers were reviewed. Rate yourself on the following skills based on your level of confidence.</a:t>
            </a:r>
          </a:p>
        </p:txBody>
      </p:sp>
      <p:sp>
        <p:nvSpPr>
          <p:cNvPr id="8" name="Google Shape;278;g104476d1465_1_17">
            <a:extLst>
              <a:ext uri="{FF2B5EF4-FFF2-40B4-BE49-F238E27FC236}">
                <a16:creationId xmlns:a16="http://schemas.microsoft.com/office/drawing/2014/main" id="{055A48D7-DC81-5F4D-9632-5F42A5D9EE4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1878951673"/>
              </p:ext>
            </p:extLst>
          </p:nvPr>
        </p:nvGraphicFramePr>
        <p:xfrm>
          <a:off x="2060448" y="2484933"/>
          <a:ext cx="8327136" cy="3716177"/>
        </p:xfrm>
        <a:graphic>
          <a:graphicData uri="http://schemas.openxmlformats.org/drawingml/2006/table">
            <a:tbl>
              <a:tblPr firstRow="1" firstCol="1" bandRow="1"/>
              <a:tblGrid>
                <a:gridCol w="4511040">
                  <a:extLst>
                    <a:ext uri="{9D8B030D-6E8A-4147-A177-3AD203B41FA5}">
                      <a16:colId xmlns:a16="http://schemas.microsoft.com/office/drawing/2014/main" val="20000"/>
                    </a:ext>
                  </a:extLst>
                </a:gridCol>
                <a:gridCol w="3816096">
                  <a:extLst>
                    <a:ext uri="{9D8B030D-6E8A-4147-A177-3AD203B41FA5}">
                      <a16:colId xmlns:a16="http://schemas.microsoft.com/office/drawing/2014/main" val="20001"/>
                    </a:ext>
                  </a:extLst>
                </a:gridCol>
              </a:tblGrid>
              <a:tr h="1442882">
                <a:tc>
                  <a:txBody>
                    <a:bodyPr/>
                    <a:lstStyle/>
                    <a:p>
                      <a:pPr marL="0" marR="0" algn="ctr">
                        <a:spcBef>
                          <a:spcPts val="0"/>
                        </a:spcBef>
                        <a:spcAft>
                          <a:spcPts val="0"/>
                        </a:spcAft>
                        <a:tabLst>
                          <a:tab pos="1041400" algn="l"/>
                        </a:tabLst>
                      </a:pPr>
                      <a:r>
                        <a:rPr lang="en-US" sz="2000" b="1" dirty="0">
                          <a:effectLst/>
                          <a:latin typeface="Verdana" charset="0"/>
                          <a:ea typeface="Verdana" charset="0"/>
                          <a:cs typeface="Verdana" charset="0"/>
                        </a:rPr>
                        <a:t>Statement</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tabLst>
                          <a:tab pos="1041400" algn="l"/>
                        </a:tabLst>
                      </a:pPr>
                      <a:r>
                        <a:rPr lang="en-US" sz="2000" b="1" dirty="0">
                          <a:effectLst/>
                          <a:latin typeface="Verdana" charset="0"/>
                          <a:ea typeface="Verdana" charset="0"/>
                          <a:cs typeface="Verdana" charset="0"/>
                        </a:rPr>
                        <a:t>Rating</a:t>
                      </a:r>
                      <a:endParaRPr lang="en-US" sz="2000" dirty="0">
                        <a:effectLst/>
                        <a:latin typeface="Verdana" charset="0"/>
                        <a:ea typeface="Verdana" charset="0"/>
                        <a:cs typeface="Verdana" charset="0"/>
                      </a:endParaRPr>
                    </a:p>
                    <a:p>
                      <a:pPr marL="0" marR="0">
                        <a:spcBef>
                          <a:spcPts val="0"/>
                        </a:spcBef>
                        <a:spcAft>
                          <a:spcPts val="0"/>
                        </a:spcAft>
                        <a:tabLst>
                          <a:tab pos="1041400" algn="l"/>
                        </a:tabLst>
                      </a:pPr>
                      <a:r>
                        <a:rPr lang="en-US" sz="2000" dirty="0">
                          <a:effectLst/>
                          <a:latin typeface="Verdana" charset="0"/>
                          <a:ea typeface="Verdana" charset="0"/>
                          <a:cs typeface="Verdana" charset="0"/>
                        </a:rPr>
                        <a:t>1 – I struggle with this.</a:t>
                      </a:r>
                    </a:p>
                    <a:p>
                      <a:pPr marL="0" marR="0">
                        <a:spcBef>
                          <a:spcPts val="0"/>
                        </a:spcBef>
                        <a:spcAft>
                          <a:spcPts val="0"/>
                        </a:spcAft>
                        <a:tabLst>
                          <a:tab pos="1041400" algn="l"/>
                        </a:tabLst>
                      </a:pPr>
                      <a:r>
                        <a:rPr lang="en-US" sz="2000" dirty="0">
                          <a:effectLst/>
                          <a:latin typeface="Verdana" charset="0"/>
                          <a:ea typeface="Verdana" charset="0"/>
                          <a:cs typeface="Verdana" charset="0"/>
                        </a:rPr>
                        <a:t>2 – I have some skills.</a:t>
                      </a:r>
                    </a:p>
                    <a:p>
                      <a:pPr marL="0" marR="0">
                        <a:spcBef>
                          <a:spcPts val="0"/>
                        </a:spcBef>
                        <a:spcAft>
                          <a:spcPts val="0"/>
                        </a:spcAft>
                        <a:tabLst>
                          <a:tab pos="1041400" algn="l"/>
                        </a:tabLst>
                      </a:pPr>
                      <a:r>
                        <a:rPr lang="en-US" sz="2000" dirty="0">
                          <a:effectLst/>
                          <a:latin typeface="Verdana" charset="0"/>
                          <a:ea typeface="Verdana" charset="0"/>
                          <a:cs typeface="Verdana" charset="0"/>
                        </a:rPr>
                        <a:t>3 – I am almost there.</a:t>
                      </a:r>
                    </a:p>
                    <a:p>
                      <a:pPr marL="0" marR="0">
                        <a:spcBef>
                          <a:spcPts val="0"/>
                        </a:spcBef>
                        <a:spcAft>
                          <a:spcPts val="0"/>
                        </a:spcAft>
                        <a:tabLst>
                          <a:tab pos="1041400" algn="l"/>
                        </a:tabLst>
                      </a:pPr>
                      <a:r>
                        <a:rPr lang="en-US" sz="2000" dirty="0">
                          <a:effectLst/>
                          <a:latin typeface="Verdana" charset="0"/>
                          <a:ea typeface="Verdana" charset="0"/>
                          <a:cs typeface="Verdana" charset="0"/>
                        </a:rPr>
                        <a:t>4 – I have got this!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41197">
                <a:tc>
                  <a:txBody>
                    <a:bodyPr/>
                    <a:lstStyle/>
                    <a:p>
                      <a:pPr marL="0" marR="0">
                        <a:spcBef>
                          <a:spcPts val="0"/>
                        </a:spcBef>
                        <a:spcAft>
                          <a:spcPts val="0"/>
                        </a:spcAft>
                        <a:tabLst>
                          <a:tab pos="1041400" algn="l"/>
                        </a:tabLst>
                      </a:pPr>
                      <a:r>
                        <a:rPr lang="en-US" sz="2000">
                          <a:effectLst/>
                          <a:latin typeface="Verdana" charset="0"/>
                          <a:ea typeface="Verdana" charset="0"/>
                          <a:cs typeface="Verdana" charset="0"/>
                        </a:rPr>
                        <a:t>I can add integers.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tabLst>
                          <a:tab pos="1041400" algn="l"/>
                        </a:tabLs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3660">
                <a:tc>
                  <a:txBody>
                    <a:bodyPr/>
                    <a:lstStyle/>
                    <a:p>
                      <a:pPr marL="0" marR="0">
                        <a:spcBef>
                          <a:spcPts val="0"/>
                        </a:spcBef>
                        <a:spcAft>
                          <a:spcPts val="0"/>
                        </a:spcAft>
                        <a:tabLst>
                          <a:tab pos="1041400" algn="l"/>
                        </a:tabLst>
                      </a:pPr>
                      <a:r>
                        <a:rPr lang="en-US" sz="2000">
                          <a:effectLst/>
                          <a:latin typeface="Verdana" charset="0"/>
                          <a:ea typeface="Verdana" charset="0"/>
                          <a:cs typeface="Verdana" charset="0"/>
                        </a:rPr>
                        <a:t>I can subtract integers.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tabLst>
                          <a:tab pos="1041400" algn="l"/>
                        </a:tabLs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3660">
                <a:tc>
                  <a:txBody>
                    <a:bodyPr/>
                    <a:lstStyle/>
                    <a:p>
                      <a:pPr marL="0" marR="0">
                        <a:spcBef>
                          <a:spcPts val="0"/>
                        </a:spcBef>
                        <a:spcAft>
                          <a:spcPts val="0"/>
                        </a:spcAft>
                        <a:tabLst>
                          <a:tab pos="1041400" algn="l"/>
                        </a:tabLst>
                      </a:pPr>
                      <a:r>
                        <a:rPr lang="en-US" sz="2000">
                          <a:effectLst/>
                          <a:latin typeface="Verdana" charset="0"/>
                          <a:ea typeface="Verdana" charset="0"/>
                          <a:cs typeface="Verdana" charset="0"/>
                        </a:rPr>
                        <a:t>I can multiply integers.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tabLst>
                          <a:tab pos="1041400" algn="l"/>
                        </a:tabLs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83660">
                <a:tc>
                  <a:txBody>
                    <a:bodyPr/>
                    <a:lstStyle/>
                    <a:p>
                      <a:pPr marL="0" marR="0">
                        <a:spcBef>
                          <a:spcPts val="0"/>
                        </a:spcBef>
                        <a:spcAft>
                          <a:spcPts val="0"/>
                        </a:spcAft>
                        <a:tabLst>
                          <a:tab pos="1041400" algn="l"/>
                        </a:tabLst>
                      </a:pPr>
                      <a:r>
                        <a:rPr lang="en-US" sz="2000">
                          <a:effectLst/>
                          <a:latin typeface="Verdana" charset="0"/>
                          <a:ea typeface="Verdana" charset="0"/>
                          <a:cs typeface="Verdana" charset="0"/>
                        </a:rPr>
                        <a:t>I can divide integers.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tabLst>
                          <a:tab pos="1041400" algn="l"/>
                        </a:tabLs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1335</TotalTime>
  <Words>1092</Words>
  <Application>Microsoft Office PowerPoint</Application>
  <PresentationFormat>Widescreen</PresentationFormat>
  <Paragraphs>247</Paragraphs>
  <Slides>29</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 Black</vt:lpstr>
      <vt:lpstr>Calibri</vt:lpstr>
      <vt:lpstr>Cambria</vt:lpstr>
      <vt:lpstr>Cambria Math</vt:lpstr>
      <vt:lpstr>Century Gothic</vt:lpstr>
      <vt:lpstr>Verdana</vt:lpstr>
      <vt:lpstr>Wingdings</vt:lpstr>
      <vt:lpstr>1_Office Theme</vt:lpstr>
      <vt:lpstr>7th Grade Math  Unit 1, Lesson 4  Operations with Integers  Volume 1, pg. 19  </vt:lpstr>
      <vt:lpstr>Benchmarks</vt:lpstr>
      <vt:lpstr>PowerPoint Presentation</vt:lpstr>
      <vt:lpstr>PowerPoint Presentation</vt:lpstr>
      <vt:lpstr>Warm-Up</vt:lpstr>
      <vt:lpstr>PowerPoint Presentation</vt:lpstr>
      <vt:lpstr>Activity</vt:lpstr>
      <vt:lpstr>PowerPoint Presentation</vt:lpstr>
      <vt:lpstr>PowerPoint Presentation</vt:lpstr>
      <vt:lpstr>Guided Practice</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32</cp:revision>
  <dcterms:created xsi:type="dcterms:W3CDTF">2015-03-17T18:51:18Z</dcterms:created>
  <dcterms:modified xsi:type="dcterms:W3CDTF">2022-07-11T01:30:11Z</dcterms:modified>
</cp:coreProperties>
</file>