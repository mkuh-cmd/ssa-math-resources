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370" r:id="rId10"/>
    <p:sldId id="356" r:id="rId11"/>
    <p:sldId id="372" r:id="rId12"/>
    <p:sldId id="373" r:id="rId13"/>
    <p:sldId id="374" r:id="rId14"/>
    <p:sldId id="375" r:id="rId15"/>
    <p:sldId id="326" r:id="rId16"/>
    <p:sldId id="327" r:id="rId17"/>
    <p:sldId id="358" r:id="rId18"/>
    <p:sldId id="365" r:id="rId19"/>
    <p:sldId id="302" r:id="rId20"/>
    <p:sldId id="303" r:id="rId21"/>
    <p:sldId id="306" r:id="rId22"/>
    <p:sldId id="307" r:id="rId23"/>
  </p:sldIdLst>
  <p:sldSz cx="12192000" cy="6858000"/>
  <p:notesSz cx="6858000" cy="9144000"/>
  <p:embeddedFontLst>
    <p:embeddedFont>
      <p:font typeface="Arial Black" panose="020B0A04020102020204" pitchFamily="34" charset="0"/>
      <p:regular r:id="rId25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mbria Math" panose="02040503050406030204" pitchFamily="18" charset="0"/>
      <p:regular r:id="rId31"/>
    </p:embeddedFont>
    <p:embeddedFont>
      <p:font typeface="Century Gothic" panose="020B0502020202020204" pitchFamily="34" charset="0"/>
      <p:regular r:id="rId32"/>
      <p:bold r:id="rId33"/>
      <p:italic r:id="rId34"/>
      <p:boldItalic r:id="rId35"/>
    </p:embeddedFont>
    <p:embeddedFont>
      <p:font typeface="Verdana" panose="020B0604030504040204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BEA6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89" autoAdjust="0"/>
    <p:restoredTop sz="94683"/>
  </p:normalViewPr>
  <p:slideViewPr>
    <p:cSldViewPr snapToGrid="0">
      <p:cViewPr varScale="1">
        <p:scale>
          <a:sx n="81" d="100"/>
          <a:sy n="81" d="100"/>
        </p:scale>
        <p:origin x="59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95826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14542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24634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66953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72250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40320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72897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73241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98061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2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6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Rewriting Equivalent Numerical Expressions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65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97002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41148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14400" y="1600025"/>
            <a:ext cx="1012965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MA.7.AR.1.2</a:t>
            </a:r>
          </a:p>
          <a:p>
            <a:pPr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whether two linear expressions are equivalent.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38126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14400" y="159639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7E42EF11-5FC6-7744-AF68-159F2F06D67F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609531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6355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if two numerical expressions are equivalent by rewriting each in the same form. 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793C8E2-E1C4-B24A-AB6C-B7DBDD28D85B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8036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BCEEC8C-9B17-C841-8ED4-211C80FA09C6}"/>
              </a:ext>
            </a:extLst>
          </p:cNvPr>
          <p:cNvSpPr txBox="1"/>
          <p:nvPr/>
        </p:nvSpPr>
        <p:spPr>
          <a:xfrm>
            <a:off x="8897112" y="644652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9.6.1 Warm-Up: Two Truths and a Lie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4934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53081A1-25B1-2A4B-8FF2-3F1C264A000D}"/>
              </a:ext>
            </a:extLst>
          </p:cNvPr>
          <p:cNvSpPr/>
          <p:nvPr/>
        </p:nvSpPr>
        <p:spPr>
          <a:xfrm>
            <a:off x="914400" y="1523186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Students were asked to write two truths and a lie, or two true statements and one false statement, about the associative property of addition. One student’s work is shown.</a:t>
            </a:r>
          </a:p>
        </p:txBody>
      </p:sp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id="{478CDDBB-860A-D748-B9D0-C51751F3670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Text, letter&#10;&#10;Description automatically generated">
            <a:extLst>
              <a:ext uri="{FF2B5EF4-FFF2-40B4-BE49-F238E27FC236}">
                <a16:creationId xmlns:a16="http://schemas.microsoft.com/office/drawing/2014/main" id="{46794633-3DFC-FA4F-B608-871C092CB74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2508" t="15879" r="7226" b="31469"/>
          <a:stretch/>
        </p:blipFill>
        <p:spPr bwMode="auto">
          <a:xfrm>
            <a:off x="2961640" y="2833957"/>
            <a:ext cx="6268720" cy="27425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48BB5CC-A0C2-D246-A954-23094A600D36}"/>
              </a:ext>
            </a:extLst>
          </p:cNvPr>
          <p:cNvSpPr/>
          <p:nvPr/>
        </p:nvSpPr>
        <p:spPr>
          <a:xfrm>
            <a:off x="1510448" y="5929027"/>
            <a:ext cx="80193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Which statement is the lie? Justify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6795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1FF9CFB8-C79A-5D4D-83F8-43846C68790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82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9.6.2 Guided Instruction: Rewriting Equivalent Expressions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1212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65CEBC6-0C26-3645-AB91-CC52DC9589E3}"/>
                  </a:ext>
                </a:extLst>
              </p:cNvPr>
              <p:cNvSpPr/>
              <p:nvPr/>
            </p:nvSpPr>
            <p:spPr>
              <a:xfrm>
                <a:off x="914400" y="1361498"/>
                <a:ext cx="1051560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expressions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18+12(30+7)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18+12(7+30)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what is different about the expressions.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65CEBC6-0C26-3645-AB91-CC52DC9589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61498"/>
                <a:ext cx="10515600" cy="2677656"/>
              </a:xfrm>
              <a:prstGeom prst="rect">
                <a:avLst/>
              </a:prstGeom>
              <a:blipFill>
                <a:blip r:embed="rId5"/>
                <a:stretch>
                  <a:fillRect l="-870" t="-20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0A0F8137-E2FE-2946-BD3D-5765F6F402E4}"/>
              </a:ext>
            </a:extLst>
          </p:cNvPr>
          <p:cNvGrpSpPr/>
          <p:nvPr/>
        </p:nvGrpSpPr>
        <p:grpSpPr>
          <a:xfrm>
            <a:off x="2519850" y="2111290"/>
            <a:ext cx="7075130" cy="1062575"/>
            <a:chOff x="2031300" y="3373600"/>
            <a:chExt cx="6629400" cy="8128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2EA9D6-63D2-E34C-8141-8523D88768A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651CB98-3830-734D-B491-BDD63EAA8017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</p:grpSp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7EB3F1AE-291B-E244-8D87-38A3560E354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D8CE891-558F-FB41-8F03-D31983C4CCA2}"/>
                  </a:ext>
                </a:extLst>
              </p:cNvPr>
              <p:cNvSpPr/>
              <p:nvPr/>
            </p:nvSpPr>
            <p:spPr>
              <a:xfrm>
                <a:off x="914400" y="860412"/>
                <a:ext cx="864523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Evaluate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18+12(30+7)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18+12(7+30)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D8CE891-558F-FB41-8F03-D31983C4CC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860412"/>
                <a:ext cx="8645236" cy="461665"/>
              </a:xfrm>
              <a:prstGeom prst="rect">
                <a:avLst/>
              </a:prstGeom>
              <a:blipFill>
                <a:blip r:embed="rId4"/>
                <a:stretch>
                  <a:fillRect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AC4FD991-6CC3-DF45-9C50-BB55BF4BD58C}"/>
              </a:ext>
            </a:extLst>
          </p:cNvPr>
          <p:cNvSpPr txBox="1"/>
          <p:nvPr/>
        </p:nvSpPr>
        <p:spPr>
          <a:xfrm>
            <a:off x="8897112" y="645767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30EFB23-7209-DB44-91A6-4AC2AD9D91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8998851"/>
                  </p:ext>
                </p:extLst>
              </p:nvPr>
            </p:nvGraphicFramePr>
            <p:xfrm>
              <a:off x="2851150" y="1730645"/>
              <a:ext cx="6489700" cy="338836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244850">
                      <a:extLst>
                        <a:ext uri="{9D8B030D-6E8A-4147-A177-3AD203B41FA5}">
                          <a16:colId xmlns:a16="http://schemas.microsoft.com/office/drawing/2014/main" val="3210997012"/>
                        </a:ext>
                      </a:extLst>
                    </a:gridCol>
                    <a:gridCol w="3244850">
                      <a:extLst>
                        <a:ext uri="{9D8B030D-6E8A-4147-A177-3AD203B41FA5}">
                          <a16:colId xmlns:a16="http://schemas.microsoft.com/office/drawing/2014/main" val="1518836704"/>
                        </a:ext>
                      </a:extLst>
                    </a:gridCol>
                  </a:tblGrid>
                  <a:tr h="338836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18+12</m:t>
                                </m:r>
                                <m:d>
                                  <m:dPr>
                                    <m:ctrlPr>
                                      <a:rPr lang="en-CO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30+7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CO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18+12</m:t>
                                </m:r>
                                <m:d>
                                  <m:dPr>
                                    <m:ctrlPr>
                                      <a:rPr lang="en-CO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7+30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CO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17966232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30EFB23-7209-DB44-91A6-4AC2AD9D91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8998851"/>
                  </p:ext>
                </p:extLst>
              </p:nvPr>
            </p:nvGraphicFramePr>
            <p:xfrm>
              <a:off x="2851150" y="1730645"/>
              <a:ext cx="6489700" cy="338836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244850">
                      <a:extLst>
                        <a:ext uri="{9D8B030D-6E8A-4147-A177-3AD203B41FA5}">
                          <a16:colId xmlns:a16="http://schemas.microsoft.com/office/drawing/2014/main" val="3210997012"/>
                        </a:ext>
                      </a:extLst>
                    </a:gridCol>
                    <a:gridCol w="3244850">
                      <a:extLst>
                        <a:ext uri="{9D8B030D-6E8A-4147-A177-3AD203B41FA5}">
                          <a16:colId xmlns:a16="http://schemas.microsoft.com/office/drawing/2014/main" val="1518836704"/>
                        </a:ext>
                      </a:extLst>
                    </a:gridCol>
                  </a:tblGrid>
                  <a:tr h="3388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88" t="-180" r="-100375" b="-3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188" t="-180" r="-375" b="-3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966232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79042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64DACC8-9278-5D41-A412-4D85903DDDBA}"/>
              </a:ext>
            </a:extLst>
          </p:cNvPr>
          <p:cNvSpPr/>
          <p:nvPr/>
        </p:nvSpPr>
        <p:spPr>
          <a:xfrm>
            <a:off x="914400" y="1111117"/>
            <a:ext cx="10515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Are the two expressions equivalent? </a:t>
            </a:r>
          </a:p>
          <a:p>
            <a:pPr marL="914400" indent="-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>
              <a:buFont typeface="+mj-lt"/>
              <a:buAutoNum type="alphaL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Was it necessary to evaluate the two expressions to determine whether they were equivalent or not?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E493DB5F-375D-8244-B784-A6E29A1A310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1598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64DACC8-9278-5D41-A412-4D85903DDDBA}"/>
              </a:ext>
            </a:extLst>
          </p:cNvPr>
          <p:cNvSpPr/>
          <p:nvPr/>
        </p:nvSpPr>
        <p:spPr>
          <a:xfrm>
            <a:off x="914400" y="1111116"/>
            <a:ext cx="10515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50000"/>
              </a:lnSpc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                       property of addition states that the order in which two numbers are added does not matter.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what other mathematical operations does this property hold true?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E493DB5F-375D-8244-B784-A6E29A1A310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C4D1C822-38DA-F24D-94A5-24BC88FBAF6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77694" y="1111116"/>
            <a:ext cx="2382462" cy="118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618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64DACC8-9278-5D41-A412-4D85903DDDBA}"/>
              </a:ext>
            </a:extLst>
          </p:cNvPr>
          <p:cNvSpPr/>
          <p:nvPr/>
        </p:nvSpPr>
        <p:spPr>
          <a:xfrm>
            <a:off x="914400" y="418388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Eric thinks the expressions shown are equivalent to each other.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E493DB5F-375D-8244-B784-A6E29A1A310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07C513D-E004-8043-88E7-1D08E2F2CA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5007976"/>
                  </p:ext>
                </p:extLst>
              </p:nvPr>
            </p:nvGraphicFramePr>
            <p:xfrm>
              <a:off x="2160719" y="1481153"/>
              <a:ext cx="8174182" cy="400199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806123">
                      <a:extLst>
                        <a:ext uri="{9D8B030D-6E8A-4147-A177-3AD203B41FA5}">
                          <a16:colId xmlns:a16="http://schemas.microsoft.com/office/drawing/2014/main" val="385048731"/>
                        </a:ext>
                      </a:extLst>
                    </a:gridCol>
                    <a:gridCol w="2683629">
                      <a:extLst>
                        <a:ext uri="{9D8B030D-6E8A-4147-A177-3AD203B41FA5}">
                          <a16:colId xmlns:a16="http://schemas.microsoft.com/office/drawing/2014/main" val="463521323"/>
                        </a:ext>
                      </a:extLst>
                    </a:gridCol>
                    <a:gridCol w="2684430">
                      <a:extLst>
                        <a:ext uri="{9D8B030D-6E8A-4147-A177-3AD203B41FA5}">
                          <a16:colId xmlns:a16="http://schemas.microsoft.com/office/drawing/2014/main" val="2163938989"/>
                        </a:ext>
                      </a:extLst>
                    </a:gridCol>
                  </a:tblGrid>
                  <a:tr h="40019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18+12</m:t>
                                </m:r>
                                <m:d>
                                  <m:dPr>
                                    <m:ctrlPr>
                                      <a:rPr lang="en-CO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30+7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CO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100050" marR="10005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18+360+84</m:t>
                                </m:r>
                              </m:oMath>
                            </m:oMathPara>
                          </a14:m>
                          <a:endParaRPr lang="en-CO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100050" marR="10005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  <m:d>
                                  <m:dPr>
                                    <m:ctrlPr>
                                      <a:rPr lang="en-CO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30+7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CO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100050" marR="10005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3288007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07C513D-E004-8043-88E7-1D08E2F2CA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5007976"/>
                  </p:ext>
                </p:extLst>
              </p:nvPr>
            </p:nvGraphicFramePr>
            <p:xfrm>
              <a:off x="2160719" y="1481153"/>
              <a:ext cx="8174182" cy="400199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806123">
                      <a:extLst>
                        <a:ext uri="{9D8B030D-6E8A-4147-A177-3AD203B41FA5}">
                          <a16:colId xmlns:a16="http://schemas.microsoft.com/office/drawing/2014/main" val="385048731"/>
                        </a:ext>
                      </a:extLst>
                    </a:gridCol>
                    <a:gridCol w="2683629">
                      <a:extLst>
                        <a:ext uri="{9D8B030D-6E8A-4147-A177-3AD203B41FA5}">
                          <a16:colId xmlns:a16="http://schemas.microsoft.com/office/drawing/2014/main" val="463521323"/>
                        </a:ext>
                      </a:extLst>
                    </a:gridCol>
                    <a:gridCol w="2684430">
                      <a:extLst>
                        <a:ext uri="{9D8B030D-6E8A-4147-A177-3AD203B41FA5}">
                          <a16:colId xmlns:a16="http://schemas.microsoft.com/office/drawing/2014/main" val="2163938989"/>
                        </a:ext>
                      </a:extLst>
                    </a:gridCol>
                  </a:tblGrid>
                  <a:tr h="4001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050" marR="10005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r="-191106" b="-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050" marR="10005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4773" r="-100227" b="-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050" marR="10005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4308" b="-29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28800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A01BADF9-FC73-C143-8D78-B7BD13104C28}"/>
              </a:ext>
            </a:extLst>
          </p:cNvPr>
          <p:cNvSpPr/>
          <p:nvPr/>
        </p:nvSpPr>
        <p:spPr>
          <a:xfrm>
            <a:off x="914400" y="2224069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355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Without evaluating each expression, explain if he is correct.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80B7A5D-3C6C-F947-80F4-470D4EAEDC28}"/>
                  </a:ext>
                </a:extLst>
              </p:cNvPr>
              <p:cNvSpPr/>
              <p:nvPr/>
            </p:nvSpPr>
            <p:spPr>
              <a:xfrm>
                <a:off x="914400" y="4005072"/>
                <a:ext cx="10515600" cy="17756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250000"/>
                  </a:lnSpc>
                  <a:buFont typeface="+mj-lt"/>
                  <a:buAutoNum type="arabicPeriod" startAt="5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                       property of operations can be used to show that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18+12(30+7)=18+360+84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80B7A5D-3C6C-F947-80F4-470D4EAEDC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005072"/>
                <a:ext cx="10515600" cy="1775679"/>
              </a:xfrm>
              <a:prstGeom prst="rect">
                <a:avLst/>
              </a:prstGeom>
              <a:blipFill>
                <a:blip r:embed="rId5"/>
                <a:stretch>
                  <a:fillRect l="-870" r="-1623" b="-6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DD36B947-736E-3C47-BDA3-A05527C6E52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0719" y="4005072"/>
            <a:ext cx="2382462" cy="118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610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64DACC8-9278-5D41-A412-4D85903DDDBA}"/>
              </a:ext>
            </a:extLst>
          </p:cNvPr>
          <p:cNvSpPr/>
          <p:nvPr/>
        </p:nvSpPr>
        <p:spPr>
          <a:xfrm>
            <a:off x="914400" y="418388"/>
            <a:ext cx="10515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Equivalent expressions can be rewritten in different forms using the properties of operations.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following properties of operations apply to all rational numbers.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E493DB5F-375D-8244-B784-A6E29A1A310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Rectangle: Rounded Corners 51">
            <a:extLst>
              <a:ext uri="{FF2B5EF4-FFF2-40B4-BE49-F238E27FC236}">
                <a16:creationId xmlns:a16="http://schemas.microsoft.com/office/drawing/2014/main" id="{07DA0B99-C603-A640-80FC-AFB610751D32}"/>
              </a:ext>
            </a:extLst>
          </p:cNvPr>
          <p:cNvSpPr/>
          <p:nvPr/>
        </p:nvSpPr>
        <p:spPr>
          <a:xfrm>
            <a:off x="2353224" y="5174238"/>
            <a:ext cx="7485553" cy="948286"/>
          </a:xfrm>
          <a:prstGeom prst="roundRect">
            <a:avLst/>
          </a:prstGeom>
          <a:solidFill>
            <a:srgbClr val="E3EFD5"/>
          </a:solidFill>
          <a:ln>
            <a:solidFill>
              <a:srgbClr val="E3EFD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685800"/>
            <a:r>
              <a:rPr lang="en-US" sz="1600" dirty="0">
                <a:solidFill>
                  <a:srgbClr val="6C993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</a:t>
            </a:r>
            <a:r>
              <a:rPr lang="en-US" sz="1600" b="1" i="1" dirty="0">
                <a:solidFill>
                  <a:srgbClr val="6C993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associative property</a:t>
            </a:r>
            <a:r>
              <a:rPr lang="en-US" sz="1600" dirty="0">
                <a:solidFill>
                  <a:srgbClr val="6C993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states that for addition and multiplication, the way in which numbers are grouped does not change the value of the expression.</a:t>
            </a:r>
            <a:endParaRPr lang="en-CO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Rectangle: Rounded Corners 51">
            <a:extLst>
              <a:ext uri="{FF2B5EF4-FFF2-40B4-BE49-F238E27FC236}">
                <a16:creationId xmlns:a16="http://schemas.microsoft.com/office/drawing/2014/main" id="{3EDF3D22-651E-454A-8B19-B44A694B4CEF}"/>
              </a:ext>
            </a:extLst>
          </p:cNvPr>
          <p:cNvSpPr/>
          <p:nvPr/>
        </p:nvSpPr>
        <p:spPr>
          <a:xfrm>
            <a:off x="2353224" y="2600526"/>
            <a:ext cx="7485553" cy="948286"/>
          </a:xfrm>
          <a:prstGeom prst="roundRect">
            <a:avLst/>
          </a:prstGeom>
          <a:solidFill>
            <a:srgbClr val="E3EFD5"/>
          </a:solidFill>
          <a:ln w="12700" cap="flat" cmpd="sng" algn="ctr">
            <a:solidFill>
              <a:srgbClr val="E3EFD5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685800"/>
            <a:r>
              <a:rPr lang="en-US" sz="1600" dirty="0">
                <a:solidFill>
                  <a:srgbClr val="6C993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</a:t>
            </a:r>
            <a:r>
              <a:rPr lang="en-US" sz="1600" b="1" i="1" dirty="0">
                <a:solidFill>
                  <a:srgbClr val="6C993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distributive property of multiplication over addition or subtraction</a:t>
            </a:r>
            <a:r>
              <a:rPr lang="en-US" sz="1600" dirty="0">
                <a:solidFill>
                  <a:srgbClr val="6C993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states that a factor is “distributed” to all terms within a set of parentheses.</a:t>
            </a:r>
            <a:endParaRPr lang="en-CO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Rectangle: Rounded Corners 51">
            <a:extLst>
              <a:ext uri="{FF2B5EF4-FFF2-40B4-BE49-F238E27FC236}">
                <a16:creationId xmlns:a16="http://schemas.microsoft.com/office/drawing/2014/main" id="{8B311C5F-6684-8348-AEAC-EBEFA8C4C663}"/>
              </a:ext>
            </a:extLst>
          </p:cNvPr>
          <p:cNvSpPr/>
          <p:nvPr/>
        </p:nvSpPr>
        <p:spPr>
          <a:xfrm>
            <a:off x="2353224" y="3863137"/>
            <a:ext cx="7485553" cy="948286"/>
          </a:xfrm>
          <a:prstGeom prst="roundRect">
            <a:avLst/>
          </a:prstGeom>
          <a:solidFill>
            <a:srgbClr val="E3EFD5"/>
          </a:solidFill>
          <a:ln>
            <a:solidFill>
              <a:srgbClr val="E3EFD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685800"/>
            <a:r>
              <a:rPr lang="en-US" sz="1600" dirty="0">
                <a:solidFill>
                  <a:srgbClr val="6C993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</a:t>
            </a:r>
            <a:r>
              <a:rPr lang="en-US" sz="1600" b="1" i="1" dirty="0">
                <a:solidFill>
                  <a:srgbClr val="6C993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commutative property </a:t>
            </a:r>
            <a:r>
              <a:rPr lang="en-US" sz="1600" dirty="0">
                <a:solidFill>
                  <a:srgbClr val="6C993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states that for addition and multiplication, the order in which the operation is performed does not change the value of the expression.</a:t>
            </a:r>
            <a:endParaRPr lang="en-CO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4" name="Shape 7" descr="Icon&#10;&#10;Description automatically generated">
            <a:extLst>
              <a:ext uri="{FF2B5EF4-FFF2-40B4-BE49-F238E27FC236}">
                <a16:creationId xmlns:a16="http://schemas.microsoft.com/office/drawing/2014/main" id="{FEABB3ED-1FD5-3D42-A069-559D2341C607}"/>
              </a:ext>
            </a:extLst>
          </p:cNvPr>
          <p:cNvPicPr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15207" y="2678057"/>
            <a:ext cx="539115" cy="5391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Shape 7" descr="Icon&#10;&#10;Description automatically generated">
            <a:extLst>
              <a:ext uri="{FF2B5EF4-FFF2-40B4-BE49-F238E27FC236}">
                <a16:creationId xmlns:a16="http://schemas.microsoft.com/office/drawing/2014/main" id="{0B6BCE87-D043-4541-A8C2-67CE0E752908}"/>
              </a:ext>
            </a:extLst>
          </p:cNvPr>
          <p:cNvPicPr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15206" y="3944114"/>
            <a:ext cx="539115" cy="5391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Shape 7" descr="Icon&#10;&#10;Description automatically generated">
            <a:extLst>
              <a:ext uri="{FF2B5EF4-FFF2-40B4-BE49-F238E27FC236}">
                <a16:creationId xmlns:a16="http://schemas.microsoft.com/office/drawing/2014/main" id="{F0E54160-4C00-A249-AFCF-53AE07298907}"/>
              </a:ext>
            </a:extLst>
          </p:cNvPr>
          <p:cNvPicPr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15206" y="5228092"/>
            <a:ext cx="539115" cy="5391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67606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64DACC8-9278-5D41-A412-4D85903DDDBA}"/>
                  </a:ext>
                </a:extLst>
              </p:cNvPr>
              <p:cNvSpPr/>
              <p:nvPr/>
            </p:nvSpPr>
            <p:spPr>
              <a:xfrm>
                <a:off x="914400" y="418389"/>
                <a:ext cx="10515600" cy="57234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rewrite the expression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 – 6.2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the commutative property.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7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rewrite the following expression in </a:t>
                </a:r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two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equivalent forms using the properties of operations.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es-ES" sz="24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s-ES" sz="24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+ 4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+ 6 −  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es-E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s-E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(5 − 6.2)</m:t>
                      </m:r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64DACC8-9278-5D41-A412-4D85903DDD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18389"/>
                <a:ext cx="10515600" cy="5723490"/>
              </a:xfrm>
              <a:prstGeom prst="rect">
                <a:avLst/>
              </a:prstGeom>
              <a:blipFill>
                <a:blip r:embed="rId4"/>
                <a:stretch>
                  <a:fillRect l="-870" t="-9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E493DB5F-375D-8244-B784-A6E29A1A310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844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024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8.png">
            <a:extLst>
              <a:ext uri="{FF2B5EF4-FFF2-40B4-BE49-F238E27FC236}">
                <a16:creationId xmlns:a16="http://schemas.microsoft.com/office/drawing/2014/main" id="{D9E3BDCC-CDDE-1144-B3DD-B784ECAA611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788789"/>
            <a:ext cx="1152144" cy="115214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2107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3932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9.6.3 Try It: Rewriting Equivalent Expressions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0EEC4E3-DFCF-C94C-B80D-045F3E6BF764}"/>
                  </a:ext>
                </a:extLst>
              </p:cNvPr>
              <p:cNvSpPr/>
              <p:nvPr/>
            </p:nvSpPr>
            <p:spPr>
              <a:xfrm>
                <a:off x="914400" y="1305035"/>
                <a:ext cx="10515600" cy="46154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Maria was asked to rewrite the following expression in a variety of ways.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5 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E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4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 − 4(−3.5+7)  + 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s-ES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n-US" sz="2400" i="1" dirty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+5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+8.25</m:t>
                      </m:r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She came up with four different expressions, but she made some errors. Without evaluating, decide which expressions are equivalent using properties of operations. Then, identify the errors she made. 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0EEC4E3-DFCF-C94C-B80D-045F3E6BF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05035"/>
                <a:ext cx="10515600" cy="4615494"/>
              </a:xfrm>
              <a:prstGeom prst="rect">
                <a:avLst/>
              </a:prstGeom>
              <a:blipFill>
                <a:blip r:embed="rId4"/>
                <a:stretch>
                  <a:fillRect l="-870" t="-1057" r="-1275" b="-19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4E354D11-4333-5B4D-A7B5-313F4353BB7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image8.png">
            <a:extLst>
              <a:ext uri="{FF2B5EF4-FFF2-40B4-BE49-F238E27FC236}">
                <a16:creationId xmlns:a16="http://schemas.microsoft.com/office/drawing/2014/main" id="{79FFDF5E-5D47-6F4C-ACB6-B670D9AFB204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131991"/>
            <a:ext cx="749808" cy="749808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64029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D80B3B1-A0AC-4E49-8B8A-BB2777B1A70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B93EA68-F929-CF43-9F61-E1C38971F2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2498702"/>
                  </p:ext>
                </p:extLst>
              </p:nvPr>
            </p:nvGraphicFramePr>
            <p:xfrm>
              <a:off x="1579417" y="488674"/>
              <a:ext cx="8882743" cy="5493247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734146">
                      <a:extLst>
                        <a:ext uri="{9D8B030D-6E8A-4147-A177-3AD203B41FA5}">
                          <a16:colId xmlns:a16="http://schemas.microsoft.com/office/drawing/2014/main" val="2861137530"/>
                        </a:ext>
                      </a:extLst>
                    </a:gridCol>
                    <a:gridCol w="4148597">
                      <a:extLst>
                        <a:ext uri="{9D8B030D-6E8A-4147-A177-3AD203B41FA5}">
                          <a16:colId xmlns:a16="http://schemas.microsoft.com/office/drawing/2014/main" val="13824285"/>
                        </a:ext>
                      </a:extLst>
                    </a:gridCol>
                  </a:tblGrid>
                  <a:tr h="57266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en-CO" sz="2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588" marR="5458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it equivalent?</a:t>
                          </a:r>
                          <a:endParaRPr lang="en-CO" sz="2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Justify why or why not.</a:t>
                          </a:r>
                          <a:endParaRPr lang="en-CO" sz="2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588" marR="5458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1293419"/>
                      </a:ext>
                    </a:extLst>
                  </a:tr>
                  <a:tr h="226031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f>
                                  <m:fPr>
                                    <m:ctrlPr>
                                      <a:rPr lang="en-CO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−14−28+</m:t>
                                </m:r>
                                <m:d>
                                  <m:dPr>
                                    <m:ctrlPr>
                                      <a:rPr lang="en-CO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CO" sz="2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+5</m:t>
                                    </m:r>
                                  </m:e>
                                </m:d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+8.25</m:t>
                                </m:r>
                              </m:oMath>
                            </m:oMathPara>
                          </a14:m>
                          <a:endParaRPr lang="en-CO" sz="2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588" marR="5458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588" marR="54588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57088105"/>
                      </a:ext>
                    </a:extLst>
                  </a:tr>
                  <a:tr h="250141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f>
                                  <m:fPr>
                                    <m:ctrlPr>
                                      <a:rPr lang="en-CO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  <m:d>
                                  <m:dPr>
                                    <m:ctrlPr>
                                      <a:rPr lang="en-CO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−3.5+7</m:t>
                                    </m:r>
                                  </m:e>
                                </m:d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CO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+(8.25+5)</m:t>
                                </m:r>
                              </m:oMath>
                            </m:oMathPara>
                          </a14:m>
                          <a:endParaRPr lang="en-CO" sz="2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588" marR="5458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588" marR="54588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313599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B93EA68-F929-CF43-9F61-E1C38971F2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2498702"/>
                  </p:ext>
                </p:extLst>
              </p:nvPr>
            </p:nvGraphicFramePr>
            <p:xfrm>
              <a:off x="1579417" y="488674"/>
              <a:ext cx="8882743" cy="5493247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734146">
                      <a:extLst>
                        <a:ext uri="{9D8B030D-6E8A-4147-A177-3AD203B41FA5}">
                          <a16:colId xmlns:a16="http://schemas.microsoft.com/office/drawing/2014/main" val="2861137530"/>
                        </a:ext>
                      </a:extLst>
                    </a:gridCol>
                    <a:gridCol w="4148597">
                      <a:extLst>
                        <a:ext uri="{9D8B030D-6E8A-4147-A177-3AD203B41FA5}">
                          <a16:colId xmlns:a16="http://schemas.microsoft.com/office/drawing/2014/main" val="13824285"/>
                        </a:ext>
                      </a:extLst>
                    </a:gridCol>
                  </a:tblGrid>
                  <a:tr h="7315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en-CO" sz="2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588" marR="5458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it equivalent?</a:t>
                          </a:r>
                          <a:endParaRPr lang="en-CO" sz="2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Justify why or why not.</a:t>
                          </a:r>
                          <a:endParaRPr lang="en-CO" sz="2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588" marR="5458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1293419"/>
                      </a:ext>
                    </a:extLst>
                  </a:tr>
                  <a:tr h="22603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88" marR="5458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9" t="-36388" r="-87902" b="-1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588" marR="54588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57088105"/>
                      </a:ext>
                    </a:extLst>
                  </a:tr>
                  <a:tr h="25014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88" marR="5458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9" t="-123114" r="-87902" b="-4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588" marR="54588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313599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19150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D90C055D-788B-A94F-A883-2B8BCDB7611D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07CC719C-DCC6-2446-8A1C-1A28D81909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1308478"/>
                  </p:ext>
                </p:extLst>
              </p:nvPr>
            </p:nvGraphicFramePr>
            <p:xfrm>
              <a:off x="1591293" y="813738"/>
              <a:ext cx="8478982" cy="5395086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429051">
                      <a:extLst>
                        <a:ext uri="{9D8B030D-6E8A-4147-A177-3AD203B41FA5}">
                          <a16:colId xmlns:a16="http://schemas.microsoft.com/office/drawing/2014/main" val="3440407951"/>
                        </a:ext>
                      </a:extLst>
                    </a:gridCol>
                    <a:gridCol w="4049931">
                      <a:extLst>
                        <a:ext uri="{9D8B030D-6E8A-4147-A177-3AD203B41FA5}">
                          <a16:colId xmlns:a16="http://schemas.microsoft.com/office/drawing/2014/main" val="1830634874"/>
                        </a:ext>
                      </a:extLst>
                    </a:gridCol>
                  </a:tblGrid>
                  <a:tr h="228443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f>
                                  <m:fPr>
                                    <m:ctrlPr>
                                      <a:rPr lang="en-CO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+14−28+</m:t>
                                </m:r>
                                <m:f>
                                  <m:fPr>
                                    <m:ctrlPr>
                                      <a:rPr lang="en-CO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+(5+8.25)</m:t>
                                </m:r>
                              </m:oMath>
                            </m:oMathPara>
                          </a14:m>
                          <a:endParaRPr lang="en-CO" sz="2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0756" marR="3075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0756" marR="3075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43183891"/>
                      </a:ext>
                    </a:extLst>
                  </a:tr>
                  <a:tr h="311064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1.25</m:t>
                                </m:r>
                                <m:d>
                                  <m:dPr>
                                    <m:ctrlPr>
                                      <a:rPr lang="en-CO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−3.5+7</m:t>
                                    </m:r>
                                  </m:e>
                                </m:d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CO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5+</m:t>
                                    </m:r>
                                    <m:f>
                                      <m:fPr>
                                        <m:ctrlPr>
                                          <a:rPr lang="en-CO" sz="2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+8.25</m:t>
                                </m:r>
                              </m:oMath>
                            </m:oMathPara>
                          </a14:m>
                          <a:endParaRPr lang="en-CO" sz="2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0756" marR="3075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0756" marR="3075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1777904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07CC719C-DCC6-2446-8A1C-1A28D81909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1308478"/>
                  </p:ext>
                </p:extLst>
              </p:nvPr>
            </p:nvGraphicFramePr>
            <p:xfrm>
              <a:off x="1591293" y="813738"/>
              <a:ext cx="8478982" cy="5395086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429051">
                      <a:extLst>
                        <a:ext uri="{9D8B030D-6E8A-4147-A177-3AD203B41FA5}">
                          <a16:colId xmlns:a16="http://schemas.microsoft.com/office/drawing/2014/main" val="3440407951"/>
                        </a:ext>
                      </a:extLst>
                    </a:gridCol>
                    <a:gridCol w="4049931">
                      <a:extLst>
                        <a:ext uri="{9D8B030D-6E8A-4147-A177-3AD203B41FA5}">
                          <a16:colId xmlns:a16="http://schemas.microsoft.com/office/drawing/2014/main" val="1830634874"/>
                        </a:ext>
                      </a:extLst>
                    </a:gridCol>
                  </a:tblGrid>
                  <a:tr h="22844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0756" marR="3075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5" t="-267" r="-91747" b="-1368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0756" marR="3075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43183891"/>
                      </a:ext>
                    </a:extLst>
                  </a:tr>
                  <a:tr h="31106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0756" marR="3075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5" t="-73581" r="-91747" b="-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0756" marR="3075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177790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76323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4216046E-244F-BB46-961F-4CA52278783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9.6.4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530A248-17D8-9B4E-B32E-9F5472BCF227}"/>
                  </a:ext>
                </a:extLst>
              </p:cNvPr>
              <p:cNvSpPr/>
              <p:nvPr/>
            </p:nvSpPr>
            <p:spPr>
              <a:xfrm>
                <a:off x="914399" y="1073420"/>
                <a:ext cx="10515600" cy="23995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Rewrite the following expression in </a:t>
                </a:r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two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ways using the properties of operations. 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es-E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12</m:t>
                          </m:r>
                        </m:num>
                        <m:den>
                          <m:r>
                            <a:rPr lang="es-E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35</m:t>
                          </m:r>
                        </m:den>
                      </m:f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 ∙  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es-E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s-E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 +  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es-E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s-E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5</m:t>
                          </m:r>
                        </m:den>
                      </m:f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 + 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es-ES" sz="24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s-ES" sz="24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s-E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 + </m:t>
                          </m:r>
                          <m:f>
                            <m:fPr>
                              <m:ctrlPr>
                                <a:rPr lang="es-ES" sz="24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es-ES" sz="24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s-ES" sz="24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7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530A248-17D8-9B4E-B32E-9F5472BCF2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9" y="1073420"/>
                <a:ext cx="10515600" cy="2399503"/>
              </a:xfrm>
              <a:prstGeom prst="rect">
                <a:avLst/>
              </a:prstGeom>
              <a:blipFill>
                <a:blip r:embed="rId5"/>
                <a:stretch>
                  <a:fillRect l="-870" t="-2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607F36F8-CEE9-7842-83C9-E33CB2EB688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20743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FCC6CD7-3972-624A-AEF1-A2489A48675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-8257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9.6.5 Wrap-Up: Error Analysis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1197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F7A919-8B1E-2741-BB78-98A66295B9F8}"/>
                  </a:ext>
                </a:extLst>
              </p:cNvPr>
              <p:cNvSpPr/>
              <p:nvPr/>
            </p:nvSpPr>
            <p:spPr>
              <a:xfrm>
                <a:off x="914400" y="1243130"/>
                <a:ext cx="10515600" cy="22447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63550" indent="-463550">
                  <a:buFont typeface="+mj-lt"/>
                  <a:buAutoNum type="arabicPeriod"/>
                  <a:tabLst>
                    <a:tab pos="511175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Juan was asked to rewrite the expression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−6+</m:t>
                        </m:r>
                        <m:r>
                          <a:rPr lang="es-ES" sz="20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  <m:f>
                          <m:f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s-E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+ 3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+ 4 − 2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</a:rPr>
                          <m:t>−3</m:t>
                        </m:r>
                        <m:f>
                          <m:fPr>
                            <m:ctrlPr>
                              <a:rPr lang="es-ES" sz="20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s-ES" sz="20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 using the properties of operations. </a:t>
                </a:r>
              </a:p>
              <a:p>
                <a:pPr lvl="0">
                  <a:tabLst>
                    <a:tab pos="511175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463550">
                  <a:tabLst>
                    <a:tab pos="511175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Juan wrote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−6 + 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 + 2</m:t>
                        </m:r>
                        <m:f>
                          <m:f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+ 4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 + 7 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.</a:t>
                </a:r>
              </a:p>
              <a:p>
                <a:pPr marL="463550" lvl="0">
                  <a:tabLst>
                    <a:tab pos="511175" algn="l"/>
                  </a:tabLst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63550">
                  <a:tabLst>
                    <a:tab pos="511175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Determine if Juan is correct. Show your work or explain your thinking.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F7A919-8B1E-2741-BB78-98A66295B9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243130"/>
                <a:ext cx="10515600" cy="2244717"/>
              </a:xfrm>
              <a:prstGeom prst="rect">
                <a:avLst/>
              </a:prstGeom>
              <a:blipFill>
                <a:blip r:embed="rId5"/>
                <a:stretch>
                  <a:fillRect l="-638" r="-1217" b="-4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719A187-0842-F343-A6A1-7FD23B0B73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1462</TotalTime>
  <Words>795</Words>
  <Application>Microsoft Office PowerPoint</Application>
  <PresentationFormat>Widescreen</PresentationFormat>
  <Paragraphs>143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Cambria Math</vt:lpstr>
      <vt:lpstr>Arial</vt:lpstr>
      <vt:lpstr>Verdana</vt:lpstr>
      <vt:lpstr>Times New Roman</vt:lpstr>
      <vt:lpstr>Wingdings</vt:lpstr>
      <vt:lpstr>Century Gothic</vt:lpstr>
      <vt:lpstr>Calibri</vt:lpstr>
      <vt:lpstr>Arial Black</vt:lpstr>
      <vt:lpstr>1_Office Theme</vt:lpstr>
      <vt:lpstr>7th Grade Math  Unit 9, Lesson 6  Rewriting Equivalent Numerical Expressions  Volume 2, pg. 65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20</cp:revision>
  <dcterms:created xsi:type="dcterms:W3CDTF">2015-03-17T18:51:18Z</dcterms:created>
  <dcterms:modified xsi:type="dcterms:W3CDTF">2022-06-11T20:30:13Z</dcterms:modified>
</cp:coreProperties>
</file>