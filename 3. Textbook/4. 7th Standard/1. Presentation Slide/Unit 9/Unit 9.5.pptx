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6" r:id="rId10"/>
    <p:sldId id="367" r:id="rId11"/>
    <p:sldId id="368" r:id="rId12"/>
    <p:sldId id="289" r:id="rId13"/>
    <p:sldId id="290" r:id="rId14"/>
    <p:sldId id="370" r:id="rId15"/>
    <p:sldId id="362" r:id="rId16"/>
    <p:sldId id="363" r:id="rId17"/>
    <p:sldId id="376" r:id="rId18"/>
    <p:sldId id="364" r:id="rId19"/>
    <p:sldId id="377" r:id="rId20"/>
    <p:sldId id="323" r:id="rId21"/>
    <p:sldId id="324" r:id="rId22"/>
    <p:sldId id="378" r:id="rId23"/>
    <p:sldId id="306" r:id="rId24"/>
    <p:sldId id="307" r:id="rId25"/>
  </p:sldIdLst>
  <p:sldSz cx="12192000" cy="6858000"/>
  <p:notesSz cx="6858000" cy="9144000"/>
  <p:embeddedFontLst>
    <p:embeddedFont>
      <p:font typeface="Arial Black" panose="020B0A04020102020204" pitchFamily="34" charset="0"/>
      <p:regular r:id="rId27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05" autoAdjust="0"/>
    <p:restoredTop sz="95380" autoAdjust="0"/>
  </p:normalViewPr>
  <p:slideViewPr>
    <p:cSldViewPr snapToGrid="0">
      <p:cViewPr varScale="1">
        <p:scale>
          <a:sx n="82" d="100"/>
          <a:sy n="82" d="100"/>
        </p:scale>
        <p:origin x="51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219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582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1115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4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451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8699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087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0653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5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Equivalent Numerical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61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MA.7.AR.1.2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two linear expressions are equivalent.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547093"/>
            <a:ext cx="962464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numerical expressions are equivalent.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91312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9.5.1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914400" y="1658385"/>
            <a:ext cx="86247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one doesn’t belong? Justify your reasoning.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33F6F91-AE92-3447-98D1-2D1DD94405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96992"/>
                  </p:ext>
                </p:extLst>
              </p:nvPr>
            </p:nvGraphicFramePr>
            <p:xfrm>
              <a:off x="2954215" y="2502043"/>
              <a:ext cx="5605586" cy="162750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02793">
                      <a:extLst>
                        <a:ext uri="{9D8B030D-6E8A-4147-A177-3AD203B41FA5}">
                          <a16:colId xmlns:a16="http://schemas.microsoft.com/office/drawing/2014/main" val="2576136382"/>
                        </a:ext>
                      </a:extLst>
                    </a:gridCol>
                    <a:gridCol w="2802793">
                      <a:extLst>
                        <a:ext uri="{9D8B030D-6E8A-4147-A177-3AD203B41FA5}">
                          <a16:colId xmlns:a16="http://schemas.microsoft.com/office/drawing/2014/main" val="1894726452"/>
                        </a:ext>
                      </a:extLst>
                    </a:gridCol>
                  </a:tblGrid>
                  <a:tr h="7842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13−12÷2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+3∗2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12+</m:t>
                                </m:r>
                                <m:sSup>
                                  <m:sSup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(9÷3)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4623626"/>
                      </a:ext>
                    </a:extLst>
                  </a:tr>
                  <a:tr h="8432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20−16÷8+5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38−</m:t>
                                </m:r>
                                <m:d>
                                  <m:dPr>
                                    <m:ctrlPr>
                                      <a:rPr lang="en-CO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2+4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+20−3</m:t>
                                </m:r>
                              </m:oMath>
                            </m:oMathPara>
                          </a14:m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831481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33F6F91-AE92-3447-98D1-2D1DD94405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196992"/>
                  </p:ext>
                </p:extLst>
              </p:nvPr>
            </p:nvGraphicFramePr>
            <p:xfrm>
              <a:off x="2954215" y="2502043"/>
              <a:ext cx="5605586" cy="162750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02793">
                      <a:extLst>
                        <a:ext uri="{9D8B030D-6E8A-4147-A177-3AD203B41FA5}">
                          <a16:colId xmlns:a16="http://schemas.microsoft.com/office/drawing/2014/main" val="2576136382"/>
                        </a:ext>
                      </a:extLst>
                    </a:gridCol>
                    <a:gridCol w="2802793">
                      <a:extLst>
                        <a:ext uri="{9D8B030D-6E8A-4147-A177-3AD203B41FA5}">
                          <a16:colId xmlns:a16="http://schemas.microsoft.com/office/drawing/2014/main" val="1894726452"/>
                        </a:ext>
                      </a:extLst>
                    </a:gridCol>
                  </a:tblGrid>
                  <a:tr h="7842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7" t="-775" r="-100217" b="-10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35" t="-775" r="-435" b="-10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4623626"/>
                      </a:ext>
                    </a:extLst>
                  </a:tr>
                  <a:tr h="843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7" t="-93525" r="-100217" b="-1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435" t="-93525" r="-435" b="-1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83148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59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9.5.2 Exploration: Equivalent Numeric Expressions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31732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/>
              <p:nvPr/>
            </p:nvSpPr>
            <p:spPr>
              <a:xfrm>
                <a:off x="914399" y="1634150"/>
                <a:ext cx="10515600" cy="9847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14 − 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47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− (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÷ 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? Explain how you determined your answer.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634150"/>
                <a:ext cx="10515600" cy="984757"/>
              </a:xfrm>
              <a:prstGeom prst="rect">
                <a:avLst/>
              </a:prstGeom>
              <a:blipFill>
                <a:blip r:embed="rId5"/>
                <a:stretch>
                  <a:fillRect l="-870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4400" y="520393"/>
                <a:ext cx="8839200" cy="4613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2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expression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2" indent="3492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2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2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2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2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2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(12)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can be rewritten as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0.75(−12)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0393"/>
                <a:ext cx="8839200" cy="4613955"/>
              </a:xfrm>
              <a:prstGeom prst="rect">
                <a:avLst/>
              </a:prstGeom>
              <a:blipFill>
                <a:blip r:embed="rId4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/>
              <p:nvPr/>
            </p:nvSpPr>
            <p:spPr>
              <a:xfrm>
                <a:off x="914400" y="533212"/>
                <a:ext cx="10515600" cy="44773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Does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−3(12)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have the same value as the previous expressions?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Create another expression equivalent to </a:t>
                </a:r>
                <a14:m>
                  <m:oMath xmlns:m="http://schemas.openxmlformats.org/officeDocument/2006/math">
                    <m:r>
                      <a:rPr lang="es-ES" sz="2400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s-ES" sz="2400" i="1" dirty="0">
                        <a:latin typeface="Cambria Math" panose="02040503050406030204" pitchFamily="18" charset="0"/>
                      </a:rPr>
                      <m:t>(12)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. Share your answer with your partner.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33212"/>
                <a:ext cx="10515600" cy="4477380"/>
              </a:xfrm>
              <a:prstGeom prst="rect">
                <a:avLst/>
              </a:prstGeom>
              <a:blipFill>
                <a:blip r:embed="rId4"/>
                <a:stretch>
                  <a:fillRect r="-1217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8B73DB-0DF7-EE46-891E-B7CF14DC7489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F3EDBF6-CB6D-4F4B-8017-47E25E23467C}"/>
              </a:ext>
            </a:extLst>
          </p:cNvPr>
          <p:cNvGrpSpPr/>
          <p:nvPr/>
        </p:nvGrpSpPr>
        <p:grpSpPr>
          <a:xfrm>
            <a:off x="2779077" y="1529355"/>
            <a:ext cx="7273899" cy="1575352"/>
            <a:chOff x="2031300" y="3373600"/>
            <a:chExt cx="6629400" cy="812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124D51-0B40-2F48-845D-B3A1428CE011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099FB6-0C4F-0643-AAF0-518827EE993C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A12B48F-504B-254B-ACC8-4926C16C6592}"/>
              </a:ext>
            </a:extLst>
          </p:cNvPr>
          <p:cNvGrpSpPr/>
          <p:nvPr/>
        </p:nvGrpSpPr>
        <p:grpSpPr>
          <a:xfrm>
            <a:off x="2779077" y="3587115"/>
            <a:ext cx="7273898" cy="1654736"/>
            <a:chOff x="2031300" y="3373600"/>
            <a:chExt cx="6629400" cy="812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6CB9CB-CA3B-4C4B-AC0C-A1B63DB7F9B9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8D9326-DE0E-7F4E-A500-7021F9004D1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D3CFD391-E431-9C4A-9934-6764E12AD4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956973A-DE9B-7642-A7E1-38931DF79DE8}"/>
                  </a:ext>
                </a:extLst>
              </p:cNvPr>
              <p:cNvSpPr/>
              <p:nvPr/>
            </p:nvSpPr>
            <p:spPr>
              <a:xfrm>
                <a:off x="914400" y="533213"/>
                <a:ext cx="10515600" cy="50630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525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The expressions in the previous problem all have the same value, but they are written differently. </a:t>
                </a:r>
              </a:p>
              <a:p>
                <a:pPr marL="9525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do you notice as the similarities and differences between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0.75(−12)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−3(12)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? 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Explain which representation is easiest for you to evaluate using mental math.</a:t>
                </a: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956973A-DE9B-7642-A7E1-38931DF79D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33213"/>
                <a:ext cx="10515600" cy="5063053"/>
              </a:xfrm>
              <a:prstGeom prst="rect">
                <a:avLst/>
              </a:prstGeom>
              <a:blipFill>
                <a:blip r:embed="rId4"/>
                <a:stretch>
                  <a:fillRect l="-870" t="-963" b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47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FF9CFB8-C79A-5D4D-83F8-43846C687908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9.5.3 Guided Instruction: Equivalent Numerical Expressions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/>
              <p:nvPr/>
            </p:nvSpPr>
            <p:spPr>
              <a:xfrm>
                <a:off x="914400" y="2568671"/>
                <a:ext cx="10515600" cy="2833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Algebraic expressions are equivalent if they have the same value no matter what number is substituted for each of the variables.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the following expressions equivalent? Show your work or explain your thinking.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+ (3.5 − 7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∙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+ 6.5)  − 7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den>
                    </m:f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568671"/>
                <a:ext cx="10515600" cy="2833148"/>
              </a:xfrm>
              <a:prstGeom prst="rect">
                <a:avLst/>
              </a:prstGeom>
              <a:blipFill>
                <a:blip r:embed="rId5"/>
                <a:stretch>
                  <a:fillRect l="-870" t="-1720" b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7EB3F1AE-291B-E244-8D87-38A3560E354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: Rounded Corners 114">
            <a:extLst>
              <a:ext uri="{FF2B5EF4-FFF2-40B4-BE49-F238E27FC236}">
                <a16:creationId xmlns:a16="http://schemas.microsoft.com/office/drawing/2014/main" id="{828225A7-B94A-5E48-9BC8-81CC73FFC2C1}"/>
              </a:ext>
            </a:extLst>
          </p:cNvPr>
          <p:cNvSpPr/>
          <p:nvPr/>
        </p:nvSpPr>
        <p:spPr>
          <a:xfrm>
            <a:off x="2364639" y="1452005"/>
            <a:ext cx="7385552" cy="807085"/>
          </a:xfrm>
          <a:prstGeom prst="roundRect">
            <a:avLst/>
          </a:prstGeom>
          <a:solidFill>
            <a:srgbClr val="B8E6F5"/>
          </a:solidFill>
          <a:ln w="25400" cap="flat" cmpd="sng" algn="ctr">
            <a:solidFill>
              <a:srgbClr val="B8E6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42950"/>
            <a:r>
              <a:rPr lang="en-US" sz="18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Numerical expressions are equivalent if their values, when simplified, are the same.</a:t>
            </a:r>
            <a:endParaRPr lang="en-CO" sz="1000" dirty="0">
              <a:latin typeface="Verdan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image3.png" descr="Icon&#10;&#10;Description automatically generated">
            <a:extLst>
              <a:ext uri="{FF2B5EF4-FFF2-40B4-BE49-F238E27FC236}">
                <a16:creationId xmlns:a16="http://schemas.microsoft.com/office/drawing/2014/main" id="{D74E304C-A0CF-5344-99C4-098EE59C365C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57816" y="1571539"/>
            <a:ext cx="539750" cy="5397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/>
              <p:nvPr/>
            </p:nvSpPr>
            <p:spPr>
              <a:xfrm>
                <a:off x="914400" y="523584"/>
                <a:ext cx="10515600" cy="9839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create a third expression that is also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+ (3.5 − 7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23584"/>
                <a:ext cx="10515600" cy="983987"/>
              </a:xfrm>
              <a:prstGeom prst="rect">
                <a:avLst/>
              </a:prstGeom>
              <a:blipFill>
                <a:blip r:embed="rId4"/>
                <a:stretch>
                  <a:fillRect l="-870" t="-4969" r="-52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C4FD991-6CC3-DF45-9C50-BB55BF4BD58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042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291840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78244E2-71D0-9D48-A977-8CF152F21B3B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8.png">
            <a:extLst>
              <a:ext uri="{FF2B5EF4-FFF2-40B4-BE49-F238E27FC236}">
                <a16:creationId xmlns:a16="http://schemas.microsoft.com/office/drawing/2014/main" id="{02EC3F82-145B-D340-8D1F-FB673DEB4A27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1971" cy="115197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6093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6400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9.5.4 Try It: Equivalent Numerical Expressions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B67C1-9783-084B-8A75-268E226830AE}"/>
              </a:ext>
            </a:extLst>
          </p:cNvPr>
          <p:cNvSpPr/>
          <p:nvPr/>
        </p:nvSpPr>
        <p:spPr>
          <a:xfrm>
            <a:off x="914400" y="1446985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Evaluate expressions A-L. </a:t>
            </a: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7252D359-49A5-AF4B-B4D0-4523BF100C6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image8.png">
            <a:extLst>
              <a:ext uri="{FF2B5EF4-FFF2-40B4-BE49-F238E27FC236}">
                <a16:creationId xmlns:a16="http://schemas.microsoft.com/office/drawing/2014/main" id="{7D8C860F-1C8C-404C-8C0C-6F2326B9E90A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95555"/>
            <a:ext cx="747301" cy="74730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5723C35-E746-B84C-BFDC-A9183FFE21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384268"/>
                  </p:ext>
                </p:extLst>
              </p:nvPr>
            </p:nvGraphicFramePr>
            <p:xfrm>
              <a:off x="1736836" y="2081760"/>
              <a:ext cx="7397494" cy="437591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66887">
                      <a:extLst>
                        <a:ext uri="{9D8B030D-6E8A-4147-A177-3AD203B41FA5}">
                          <a16:colId xmlns:a16="http://schemas.microsoft.com/office/drawing/2014/main" val="2909967506"/>
                        </a:ext>
                      </a:extLst>
                    </a:gridCol>
                    <a:gridCol w="2515557">
                      <a:extLst>
                        <a:ext uri="{9D8B030D-6E8A-4147-A177-3AD203B41FA5}">
                          <a16:colId xmlns:a16="http://schemas.microsoft.com/office/drawing/2014/main" val="2392312487"/>
                        </a:ext>
                      </a:extLst>
                    </a:gridCol>
                    <a:gridCol w="2115050">
                      <a:extLst>
                        <a:ext uri="{9D8B030D-6E8A-4147-A177-3AD203B41FA5}">
                          <a16:colId xmlns:a16="http://schemas.microsoft.com/office/drawing/2014/main" val="2856105692"/>
                        </a:ext>
                      </a:extLst>
                    </a:gridCol>
                  </a:tblGrid>
                  <a:tr h="437591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−24</m:t>
                                  </m:r>
                                </m:e>
                              </m: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oMath>
                          </a14:m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442" marR="6644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−2.25×4</m:t>
                                  </m:r>
                                </m:e>
                              </m: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∙2</m:t>
                              </m:r>
                            </m:oMath>
                          </a14:m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442" marR="6644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den>
                              </m:f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6442" marR="6644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4825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5723C35-E746-B84C-BFDC-A9183FFE21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384268"/>
                  </p:ext>
                </p:extLst>
              </p:nvPr>
            </p:nvGraphicFramePr>
            <p:xfrm>
              <a:off x="1736836" y="2081760"/>
              <a:ext cx="7397494" cy="437591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66887">
                      <a:extLst>
                        <a:ext uri="{9D8B030D-6E8A-4147-A177-3AD203B41FA5}">
                          <a16:colId xmlns:a16="http://schemas.microsoft.com/office/drawing/2014/main" val="2909967506"/>
                        </a:ext>
                      </a:extLst>
                    </a:gridCol>
                    <a:gridCol w="2515557">
                      <a:extLst>
                        <a:ext uri="{9D8B030D-6E8A-4147-A177-3AD203B41FA5}">
                          <a16:colId xmlns:a16="http://schemas.microsoft.com/office/drawing/2014/main" val="2392312487"/>
                        </a:ext>
                      </a:extLst>
                    </a:gridCol>
                    <a:gridCol w="2115050">
                      <a:extLst>
                        <a:ext uri="{9D8B030D-6E8A-4147-A177-3AD203B41FA5}">
                          <a16:colId xmlns:a16="http://schemas.microsoft.com/office/drawing/2014/main" val="2856105692"/>
                        </a:ext>
                      </a:extLst>
                    </a:gridCol>
                  </a:tblGrid>
                  <a:tr h="4375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42" marR="6644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0" t="-139" r="-168062" b="-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42" marR="6644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9903" t="-139" r="-84300" b="-2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442" marR="66442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0432" t="-139" r="-576" b="-2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825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8135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0770922-D176-3E4B-B233-44AA4FDC8A9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3C719B5-3694-0E4D-A6D9-16C573996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2151620"/>
                  </p:ext>
                </p:extLst>
              </p:nvPr>
            </p:nvGraphicFramePr>
            <p:xfrm>
              <a:off x="1634565" y="716775"/>
              <a:ext cx="8320530" cy="38903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72604">
                      <a:extLst>
                        <a:ext uri="{9D8B030D-6E8A-4147-A177-3AD203B41FA5}">
                          <a16:colId xmlns:a16="http://schemas.microsoft.com/office/drawing/2014/main" val="1892246833"/>
                        </a:ext>
                      </a:extLst>
                    </a:gridCol>
                    <a:gridCol w="2696308">
                      <a:extLst>
                        <a:ext uri="{9D8B030D-6E8A-4147-A177-3AD203B41FA5}">
                          <a16:colId xmlns:a16="http://schemas.microsoft.com/office/drawing/2014/main" val="877998314"/>
                        </a:ext>
                      </a:extLst>
                    </a:gridCol>
                    <a:gridCol w="2651618">
                      <a:extLst>
                        <a:ext uri="{9D8B030D-6E8A-4147-A177-3AD203B41FA5}">
                          <a16:colId xmlns:a16="http://schemas.microsoft.com/office/drawing/2014/main" val="822154090"/>
                        </a:ext>
                      </a:extLst>
                    </a:gridCol>
                  </a:tblGrid>
                  <a:tr h="3890395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2.5−6</m:t>
                                  </m:r>
                                </m:e>
                              </m:d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4(−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)(1)(</m:t>
                              </m:r>
                              <m:sSup>
                                <m:sSup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</a:rPr>
                                <m:t>3+</m:t>
                              </m:r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−24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den>
                              </m:f>
                            </m:oMath>
                          </a14:m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498297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3C719B5-3694-0E4D-A6D9-16C573996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2151620"/>
                  </p:ext>
                </p:extLst>
              </p:nvPr>
            </p:nvGraphicFramePr>
            <p:xfrm>
              <a:off x="1634565" y="716775"/>
              <a:ext cx="8320530" cy="389039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972604">
                      <a:extLst>
                        <a:ext uri="{9D8B030D-6E8A-4147-A177-3AD203B41FA5}">
                          <a16:colId xmlns:a16="http://schemas.microsoft.com/office/drawing/2014/main" val="1892246833"/>
                        </a:ext>
                      </a:extLst>
                    </a:gridCol>
                    <a:gridCol w="2696308">
                      <a:extLst>
                        <a:ext uri="{9D8B030D-6E8A-4147-A177-3AD203B41FA5}">
                          <a16:colId xmlns:a16="http://schemas.microsoft.com/office/drawing/2014/main" val="877998314"/>
                        </a:ext>
                      </a:extLst>
                    </a:gridCol>
                    <a:gridCol w="2651618">
                      <a:extLst>
                        <a:ext uri="{9D8B030D-6E8A-4147-A177-3AD203B41FA5}">
                          <a16:colId xmlns:a16="http://schemas.microsoft.com/office/drawing/2014/main" val="822154090"/>
                        </a:ext>
                      </a:extLst>
                    </a:gridCol>
                  </a:tblGrid>
                  <a:tr h="38903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5" t="-156" r="-180328" b="-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0384" t="-156" r="-98646" b="-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4253" t="-156" r="-460" b="-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49829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8689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2F06AEA-3F6D-6242-817F-87AB1D406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10FE0E2-AA4C-AD48-A2F0-EB5AA978A3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624424"/>
                  </p:ext>
                </p:extLst>
              </p:nvPr>
            </p:nvGraphicFramePr>
            <p:xfrm>
              <a:off x="1289538" y="494351"/>
              <a:ext cx="9612923" cy="586929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955252">
                      <a:extLst>
                        <a:ext uri="{9D8B030D-6E8A-4147-A177-3AD203B41FA5}">
                          <a16:colId xmlns:a16="http://schemas.microsoft.com/office/drawing/2014/main" val="1892246833"/>
                        </a:ext>
                      </a:extLst>
                    </a:gridCol>
                    <a:gridCol w="2909197">
                      <a:extLst>
                        <a:ext uri="{9D8B030D-6E8A-4147-A177-3AD203B41FA5}">
                          <a16:colId xmlns:a16="http://schemas.microsoft.com/office/drawing/2014/main" val="877998314"/>
                        </a:ext>
                      </a:extLst>
                    </a:gridCol>
                    <a:gridCol w="2748474">
                      <a:extLst>
                        <a:ext uri="{9D8B030D-6E8A-4147-A177-3AD203B41FA5}">
                          <a16:colId xmlns:a16="http://schemas.microsoft.com/office/drawing/2014/main" val="822154090"/>
                        </a:ext>
                      </a:extLst>
                    </a:gridCol>
                  </a:tblGrid>
                  <a:tr h="281605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G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5(−4</m:t>
                                  </m:r>
                                  <m:f>
                                    <m:fPr>
                                      <m:ctrlPr>
                                        <a:rPr lang="es-ES" sz="2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ES" sz="2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s-ES" sz="2400" b="0" i="1" smtClean="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s-E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+6.25)</m:t>
                                  </m:r>
                                </m:num>
                                <m:den>
                                  <m:r>
                                    <a:rPr lang="es-ES" sz="2400" b="0" i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H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−6</m:t>
                              </m:r>
                              <m:f>
                                <m:fPr>
                                  <m:ctrlPr>
                                    <a:rPr lang="en-CO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4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 ∙ 2.4 ÷(−4)</m:t>
                              </m:r>
                            </m:oMath>
                          </a14:m>
                          <a:r>
                            <a:rPr lang="en-CO" sz="2400" dirty="0">
                              <a:effectLst/>
                            </a:rPr>
                            <a:t> 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I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−7.5+</m:t>
                              </m:r>
                              <m:d>
                                <m:dPr>
                                  <m:ctrlPr>
                                    <a:rPr lang="en-CO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6</m:t>
                                  </m:r>
                                  <m:f>
                                    <m:fPr>
                                      <m:ctrlPr>
                                        <a:rPr lang="en-CO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6 </m:t>
                                      </m:r>
                                    </m:den>
                                  </m:f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 ∙ 3</m:t>
                                  </m:r>
                                </m:e>
                              </m:d>
                            </m:oMath>
                          </a14:m>
                          <a:endParaRPr lang="en-CO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4982970"/>
                      </a:ext>
                    </a:extLst>
                  </a:tr>
                  <a:tr h="305324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J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CO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−4.2+9</m:t>
                                  </m:r>
                                  <m:f>
                                    <m:fPr>
                                      <m:ctrlPr>
                                        <a:rPr lang="en-CO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4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CO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1+4</m:t>
                                  </m:r>
                                  <m:f>
                                    <m:fPr>
                                      <m:ctrlPr>
                                        <a:rPr lang="en-CO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CO" sz="2400" dirty="0">
                              <a:effectLst/>
                            </a:rPr>
                            <a:t> 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K</a:t>
                          </a:r>
                          <a:r>
                            <a:rPr lang="en-US" sz="24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CO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CO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−18</m:t>
                                      </m:r>
                                    </m:num>
                                    <m:den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−5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400" b="0" i="1" u="none" strike="noStrike" cap="none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  <a:sym typeface="Arial"/>
                                </a:rPr>
                                <m:t>−0.4</m:t>
                              </m:r>
                            </m:oMath>
                          </a14:m>
                          <a:r>
                            <a:rPr lang="en-CO" sz="2400" dirty="0">
                              <a:effectLst/>
                            </a:rPr>
                            <a:t> </a:t>
                          </a:r>
                          <a:endParaRPr lang="en-CO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  <a:sym typeface="Arial"/>
                            </a:rPr>
                            <a:t>L</a:t>
                          </a:r>
                          <a:r>
                            <a:rPr lang="en-US" sz="2400" b="1" i="0" u="none" strike="noStrike" cap="none" dirty="0">
                              <a:solidFill>
                                <a:srgbClr val="000000"/>
                              </a:solidFill>
                              <a:effectLst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O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−3</m:t>
                                  </m:r>
                                  <m:f>
                                    <m:fPr>
                                      <m:ctrlPr>
                                        <a:rPr lang="en-CO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400" b="0" i="1" u="none" strike="noStrike" cap="none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Arial"/>
                                          <a:cs typeface="Arial"/>
                                          <a:sym typeface="Arial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sz="2400" b="0" i="1" u="none" strike="noStrike" cap="none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 − 0.875</m:t>
                                  </m:r>
                                </m:e>
                              </m:d>
                            </m:oMath>
                          </a14:m>
                          <a:r>
                            <a:rPr lang="en-CO" sz="2400" dirty="0">
                              <a:effectLst/>
                            </a:rPr>
                            <a:t> </a:t>
                          </a:r>
                          <a:endParaRPr lang="en-CO" sz="2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486388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10FE0E2-AA4C-AD48-A2F0-EB5AA978A3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624424"/>
                  </p:ext>
                </p:extLst>
              </p:nvPr>
            </p:nvGraphicFramePr>
            <p:xfrm>
              <a:off x="1289538" y="494351"/>
              <a:ext cx="9612923" cy="586929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955252">
                      <a:extLst>
                        <a:ext uri="{9D8B030D-6E8A-4147-A177-3AD203B41FA5}">
                          <a16:colId xmlns:a16="http://schemas.microsoft.com/office/drawing/2014/main" val="1892246833"/>
                        </a:ext>
                      </a:extLst>
                    </a:gridCol>
                    <a:gridCol w="2909197">
                      <a:extLst>
                        <a:ext uri="{9D8B030D-6E8A-4147-A177-3AD203B41FA5}">
                          <a16:colId xmlns:a16="http://schemas.microsoft.com/office/drawing/2014/main" val="877998314"/>
                        </a:ext>
                      </a:extLst>
                    </a:gridCol>
                    <a:gridCol w="2748474">
                      <a:extLst>
                        <a:ext uri="{9D8B030D-6E8A-4147-A177-3AD203B41FA5}">
                          <a16:colId xmlns:a16="http://schemas.microsoft.com/office/drawing/2014/main" val="822154090"/>
                        </a:ext>
                      </a:extLst>
                    </a:gridCol>
                  </a:tblGrid>
                  <a:tr h="28160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4" t="-216" r="-143451" b="-10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5983" t="-216" r="-94770" b="-10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0111" t="-216" r="-443" b="-1088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4982970"/>
                      </a:ext>
                    </a:extLst>
                  </a:tr>
                  <a:tr h="30532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4" t="-92415" r="-143451" b="-3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4240" marR="6424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5983" t="-92415" r="-94770" b="-3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0111" t="-92415" r="-443" b="-3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86388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1773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2F06AEA-3F6D-6242-817F-87AB1D406B0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17795-3B99-3644-BF8C-3949B52AFF7A}"/>
              </a:ext>
            </a:extLst>
          </p:cNvPr>
          <p:cNvSpPr/>
          <p:nvPr/>
        </p:nvSpPr>
        <p:spPr>
          <a:xfrm>
            <a:off x="914400" y="743600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Sort the expressions into groups based on equivalence. Record the letters of the equivalent expressions.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8F51E3-BB9D-424A-8FCD-F92259C93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331887"/>
              </p:ext>
            </p:extLst>
          </p:nvPr>
        </p:nvGraphicFramePr>
        <p:xfrm>
          <a:off x="2667000" y="1851892"/>
          <a:ext cx="6858000" cy="267398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2068454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Equivalent Expressions</a:t>
                      </a:r>
                      <a:endParaRPr lang="en-CO" sz="2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576608"/>
                  </a:ext>
                </a:extLst>
              </a:tr>
              <a:tr h="23082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strike="noStrike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251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196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69A00B0-FE4F-524C-8898-788633040B6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6.png">
            <a:extLst>
              <a:ext uri="{FF2B5EF4-FFF2-40B4-BE49-F238E27FC236}">
                <a16:creationId xmlns:a16="http://schemas.microsoft.com/office/drawing/2014/main" id="{8412E70B-ADBB-4745-A043-2D99D47F1AD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4"/>
            <a:ext cx="1152143" cy="115214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531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9.5.5 Collaboration: Generating Equivalent Expressions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E93443-AE1C-E74A-AE78-CC15B1FA9136}"/>
              </a:ext>
            </a:extLst>
          </p:cNvPr>
          <p:cNvSpPr/>
          <p:nvPr/>
        </p:nvSpPr>
        <p:spPr>
          <a:xfrm>
            <a:off x="914400" y="1581912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Verdana" panose="020B0604030504040204" pitchFamily="34" charset="0"/>
              <a:buAutoNum type="arabicPeriod"/>
            </a:pPr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Work with a partner to choose a numerical value.</a:t>
            </a:r>
          </a:p>
          <a:p>
            <a:pPr lvl="0"/>
            <a:endParaRPr lang="en-GB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357188"/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Individually, create a unique expression using rational numbers that equals the numerical value chosen when evaluated. Include a </a:t>
            </a:r>
            <a:r>
              <a:rPr lang="en-GB" sz="2400" b="1" dirty="0">
                <a:latin typeface="Verdana" panose="020B0604030504040204" pitchFamily="34" charset="0"/>
                <a:ea typeface="Times New Roman" panose="02020603050405020304" pitchFamily="18" charset="0"/>
              </a:rPr>
              <a:t>minimum</a:t>
            </a:r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 of each of the following:</a:t>
            </a:r>
          </a:p>
          <a:p>
            <a:pPr marL="342900" indent="-342900">
              <a:buFont typeface="Verdana" panose="020B0604030504040204" pitchFamily="34" charset="0"/>
              <a:buAutoNum type="arabicPeriod"/>
            </a:pPr>
            <a:endParaRPr lang="en-GB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four operations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one grouping symbol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two rational numbers written as fractions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AEBAF5A-31A2-944C-A625-977623E161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image16.png">
            <a:extLst>
              <a:ext uri="{FF2B5EF4-FFF2-40B4-BE49-F238E27FC236}">
                <a16:creationId xmlns:a16="http://schemas.microsoft.com/office/drawing/2014/main" id="{D6A4E273-694A-9D4C-AE72-39238B1DE53F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114528"/>
            <a:ext cx="749808" cy="74980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E93443-AE1C-E74A-AE78-CC15B1FA9136}"/>
              </a:ext>
            </a:extLst>
          </p:cNvPr>
          <p:cNvSpPr/>
          <p:nvPr/>
        </p:nvSpPr>
        <p:spPr>
          <a:xfrm>
            <a:off x="914400" y="422317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When you are finished creating your expression, trade and check each other’s numeric expressions. 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AEBAF5A-31A2-944C-A625-977623E161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0E284E-474C-EF40-93BC-406E51A81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241445"/>
              </p:ext>
            </p:extLst>
          </p:nvPr>
        </p:nvGraphicFramePr>
        <p:xfrm>
          <a:off x="2039112" y="1510389"/>
          <a:ext cx="6858000" cy="327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52495">
                  <a:extLst>
                    <a:ext uri="{9D8B030D-6E8A-4147-A177-3AD203B41FA5}">
                      <a16:colId xmlns:a16="http://schemas.microsoft.com/office/drawing/2014/main" val="1476350318"/>
                    </a:ext>
                  </a:extLst>
                </a:gridCol>
                <a:gridCol w="3405505">
                  <a:extLst>
                    <a:ext uri="{9D8B030D-6E8A-4147-A177-3AD203B41FA5}">
                      <a16:colId xmlns:a16="http://schemas.microsoft.com/office/drawing/2014/main" val="547375130"/>
                    </a:ext>
                  </a:extLst>
                </a:gridCol>
              </a:tblGrid>
              <a:tr h="525145"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Numerical Value _________</a:t>
                      </a:r>
                      <a:endParaRPr lang="en-CO" sz="2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73538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Your Expression</a:t>
                      </a:r>
                      <a:endParaRPr lang="en-CO" sz="2400" b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Your Partner’s Expression</a:t>
                      </a:r>
                      <a:endParaRPr lang="en-CO" sz="2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050123"/>
                  </a:ext>
                </a:extLst>
              </a:tr>
              <a:tr h="202213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35413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94D85D9-62DB-2E44-AB54-48EEE1BCC189}"/>
              </a:ext>
            </a:extLst>
          </p:cNvPr>
          <p:cNvSpPr/>
          <p:nvPr/>
        </p:nvSpPr>
        <p:spPr>
          <a:xfrm>
            <a:off x="914400" y="5201980"/>
            <a:ext cx="8359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GB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Are they equivalent? If not, correct any errors.</a:t>
            </a:r>
          </a:p>
        </p:txBody>
      </p:sp>
    </p:spTree>
    <p:extLst>
      <p:ext uri="{BB962C8B-B14F-4D97-AF65-F5344CB8AC3E}">
        <p14:creationId xmlns:p14="http://schemas.microsoft.com/office/powerpoint/2010/main" val="3365729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9.5.6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914399" y="1398010"/>
                <a:ext cx="10515600" cy="2094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Are the following expressions equivalent? Show your work or explain your reasoning.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(−7.6 + 2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)(−6)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(−8)(−3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 +  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(8.6)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398010"/>
                <a:ext cx="10515600" cy="2094291"/>
              </a:xfrm>
              <a:prstGeom prst="rect">
                <a:avLst/>
              </a:prstGeom>
              <a:blipFill>
                <a:blip r:embed="rId5"/>
                <a:stretch>
                  <a:fillRect l="-87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787</Words>
  <Application>Microsoft Office PowerPoint</Application>
  <PresentationFormat>Widescreen</PresentationFormat>
  <Paragraphs>150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Cambria Math</vt:lpstr>
      <vt:lpstr>Arial</vt:lpstr>
      <vt:lpstr>Verdana</vt:lpstr>
      <vt:lpstr>Times New Roman</vt:lpstr>
      <vt:lpstr>Wingdings</vt:lpstr>
      <vt:lpstr>Century Gothic</vt:lpstr>
      <vt:lpstr>Calibri</vt:lpstr>
      <vt:lpstr>Arial Black</vt:lpstr>
      <vt:lpstr>1_Office Theme</vt:lpstr>
      <vt:lpstr>7th Grade Math  Unit 9, Lesson 5  Equivalent Numerical Expressions  Volume 2, pg. 61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20</cp:revision>
  <dcterms:created xsi:type="dcterms:W3CDTF">2015-03-17T18:51:18Z</dcterms:created>
  <dcterms:modified xsi:type="dcterms:W3CDTF">2022-06-11T20:12:15Z</dcterms:modified>
</cp:coreProperties>
</file>