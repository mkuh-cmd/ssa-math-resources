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6" r:id="rId10"/>
    <p:sldId id="367" r:id="rId11"/>
    <p:sldId id="323" r:id="rId12"/>
    <p:sldId id="324" r:id="rId13"/>
    <p:sldId id="302" r:id="rId14"/>
    <p:sldId id="303" r:id="rId15"/>
    <p:sldId id="306" r:id="rId16"/>
    <p:sldId id="307" r:id="rId17"/>
  </p:sldIdLst>
  <p:sldSz cx="12192000" cy="6858000"/>
  <p:notesSz cx="6858000" cy="9144000"/>
  <p:embeddedFontLst>
    <p:embeddedFont>
      <p:font typeface="Arial Black" panose="020B0A04020102020204" pitchFamily="34" charset="0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Century Gothic" panose="020B0502020202020204" pitchFamily="34" charset="0"/>
      <p:regular r:id="rId26"/>
      <p:bold r:id="rId27"/>
      <p:italic r:id="rId28"/>
      <p:boldItalic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/>
    <p:restoredTop sz="94719"/>
  </p:normalViewPr>
  <p:slideViewPr>
    <p:cSldViewPr snapToGrid="0">
      <p:cViewPr varScale="1">
        <p:scale>
          <a:sx n="81" d="100"/>
          <a:sy n="81" d="100"/>
        </p:scale>
        <p:origin x="118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83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460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0.png"/><Relationship Id="rId7" Type="http://schemas.openxmlformats.org/officeDocument/2006/relationships/image" Target="../media/image2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0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4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Adding and Subtracting Expressions with Rational Coefficients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57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505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MA.7.AR.1.1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properties of operations to add and subtract linear expressions with rational coefficients. 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490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801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E42EF11-5FC6-7744-AF68-159F2F06D6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9531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apply properties of operations to add and subtract linear expressions with rational coefficients.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793C8E2-E1C4-B24A-AB6C-B7DBDD28D85B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8036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BCEEC8C-9B17-C841-8ED4-211C80FA09C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9.4.1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53081A1-25B1-2A4B-8FF2-3F1C264A000D}"/>
                  </a:ext>
                </a:extLst>
              </p:cNvPr>
              <p:cNvSpPr/>
              <p:nvPr/>
            </p:nvSpPr>
            <p:spPr>
              <a:xfrm>
                <a:off x="914400" y="1208009"/>
                <a:ext cx="10515600" cy="36116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each expression by combining like terms.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5.7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− (3.5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+ 6)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+ 5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  − (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+ 34)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53081A1-25B1-2A4B-8FF2-3F1C264A00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08009"/>
                <a:ext cx="10515600" cy="3611694"/>
              </a:xfrm>
              <a:prstGeom prst="rect">
                <a:avLst/>
              </a:prstGeom>
              <a:blipFill>
                <a:blip r:embed="rId5"/>
                <a:stretch>
                  <a:fillRect l="-638" t="-1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478CDDBB-860A-D748-B9D0-C51751F3670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D0D4F70-A5F7-6844-B49C-C7559A2266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6.png">
            <a:extLst>
              <a:ext uri="{FF2B5EF4-FFF2-40B4-BE49-F238E27FC236}">
                <a16:creationId xmlns:a16="http://schemas.microsoft.com/office/drawing/2014/main" id="{8615DE07-7AF9-984E-B6FA-4A57A0C38C4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20656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9.4.2 Collaboration: Adding and Subtracting Linear Expressions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1C46F4F-A85A-084E-B29C-01BB2615DE1E}"/>
                  </a:ext>
                </a:extLst>
              </p:cNvPr>
              <p:cNvSpPr/>
              <p:nvPr/>
            </p:nvSpPr>
            <p:spPr>
              <a:xfrm>
                <a:off x="914400" y="1634150"/>
                <a:ext cx="105156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3550" indent="-46355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Two students made errors when rewriting the expression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+9)−(7−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)+(8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+11)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1C46F4F-A85A-084E-B29C-01BB2615DE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34150"/>
                <a:ext cx="10515600" cy="707886"/>
              </a:xfrm>
              <a:prstGeom prst="rect">
                <a:avLst/>
              </a:prstGeom>
              <a:blipFill>
                <a:blip r:embed="rId4"/>
                <a:stretch>
                  <a:fillRect l="-638"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201E82E5-44E0-F44C-89CC-51BF5F79728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6.png">
            <a:extLst>
              <a:ext uri="{FF2B5EF4-FFF2-40B4-BE49-F238E27FC236}">
                <a16:creationId xmlns:a16="http://schemas.microsoft.com/office/drawing/2014/main" id="{2E8431C1-E1BB-6B40-B0F2-B54C38982AA7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347048"/>
            <a:ext cx="752254" cy="752254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46945A0-3055-964B-96C9-41B1A2FA43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1991382"/>
                  </p:ext>
                </p:extLst>
              </p:nvPr>
            </p:nvGraphicFramePr>
            <p:xfrm>
              <a:off x="2667000" y="2758966"/>
              <a:ext cx="6858000" cy="244118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0275">
                      <a:extLst>
                        <a:ext uri="{9D8B030D-6E8A-4147-A177-3AD203B41FA5}">
                          <a16:colId xmlns:a16="http://schemas.microsoft.com/office/drawing/2014/main" val="3512614819"/>
                        </a:ext>
                      </a:extLst>
                    </a:gridCol>
                    <a:gridCol w="3387725">
                      <a:extLst>
                        <a:ext uri="{9D8B030D-6E8A-4147-A177-3AD203B41FA5}">
                          <a16:colId xmlns:a16="http://schemas.microsoft.com/office/drawing/2014/main" val="3683723637"/>
                        </a:ext>
                      </a:extLst>
                    </a:gridCol>
                  </a:tblGrid>
                  <a:tr h="3146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Zoe’s Work</a:t>
                          </a:r>
                          <a:endParaRPr lang="en-CO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Patricia’s Work</a:t>
                          </a:r>
                          <a:endParaRPr lang="en-CO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442327"/>
                      </a:ext>
                    </a:extLst>
                  </a:tr>
                  <a:tr h="188781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+9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+9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+18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+9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+13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805861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46945A0-3055-964B-96C9-41B1A2FA43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1991382"/>
                  </p:ext>
                </p:extLst>
              </p:nvPr>
            </p:nvGraphicFramePr>
            <p:xfrm>
              <a:off x="2667000" y="2758966"/>
              <a:ext cx="6858000" cy="244118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0275">
                      <a:extLst>
                        <a:ext uri="{9D8B030D-6E8A-4147-A177-3AD203B41FA5}">
                          <a16:colId xmlns:a16="http://schemas.microsoft.com/office/drawing/2014/main" val="3512614819"/>
                        </a:ext>
                      </a:extLst>
                    </a:gridCol>
                    <a:gridCol w="3387725">
                      <a:extLst>
                        <a:ext uri="{9D8B030D-6E8A-4147-A177-3AD203B41FA5}">
                          <a16:colId xmlns:a16="http://schemas.microsoft.com/office/drawing/2014/main" val="3683723637"/>
                        </a:ext>
                      </a:extLst>
                    </a:gridCol>
                  </a:tblGrid>
                  <a:tr h="3146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Zoe’s Work</a:t>
                          </a:r>
                          <a:endParaRPr lang="en-CO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Patricia’s Work</a:t>
                          </a:r>
                          <a:endParaRPr lang="en-CO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442327"/>
                      </a:ext>
                    </a:extLst>
                  </a:tr>
                  <a:tr h="21265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5" t="-18286" r="-97895" b="-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698" t="-18286" r="-360" b="-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05861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2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Working with your partner, write an explanation to Zoe that describes her error.</a:t>
            </a:r>
          </a:p>
          <a:p>
            <a:pPr marL="9144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2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 explanation to Patricia that describes her error.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91541B9-7C1E-4043-A1D5-12779C6D7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553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DD30458-F2CD-AA4E-8439-03C4ABDE9142}"/>
                  </a:ext>
                </a:extLst>
              </p:cNvPr>
              <p:cNvSpPr/>
              <p:nvPr/>
            </p:nvSpPr>
            <p:spPr>
              <a:xfrm>
                <a:off x="914400" y="533212"/>
                <a:ext cx="105156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Simplify the expression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+9)−(7−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)+(8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DD30458-F2CD-AA4E-8439-03C4ABDE91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33212"/>
                <a:ext cx="10515600" cy="400110"/>
              </a:xfrm>
              <a:prstGeom prst="rect">
                <a:avLst/>
              </a:prstGeom>
              <a:blipFill>
                <a:blip r:embed="rId4"/>
                <a:stretch>
                  <a:fillRect t="-909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8B73DB-0DF7-EE46-891E-B7CF14DC748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1343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869A00B0-FE4F-524C-8898-788633040B6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531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9.4.3 Guided Practice: Equivalent Expressions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8E93443-AE1C-E74A-AE78-CC15B1FA9136}"/>
                  </a:ext>
                </a:extLst>
              </p:cNvPr>
              <p:cNvSpPr/>
              <p:nvPr/>
            </p:nvSpPr>
            <p:spPr>
              <a:xfrm>
                <a:off x="914400" y="1320388"/>
                <a:ext cx="105156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3550" indent="-463550">
                  <a:buFont typeface="Verdana" panose="020B0604030504040204" pitchFamily="34" charset="0"/>
                  <a:buAutoNum type="arabicPeriod"/>
                </a:pPr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Circle the expressions that are equivalent to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−5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−3 </m:t>
                    </m:r>
                  </m:oMath>
                </a14:m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and cross out those that are not.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8E93443-AE1C-E74A-AE78-CC15B1FA91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20388"/>
                <a:ext cx="10515600" cy="707886"/>
              </a:xfrm>
              <a:prstGeom prst="rect">
                <a:avLst/>
              </a:prstGeom>
              <a:blipFill>
                <a:blip r:embed="rId5"/>
                <a:stretch>
                  <a:fillRect l="-638" t="-6034" r="-986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AEBAF5A-31A2-944C-A625-977623E161B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CB8543A-9098-0541-B831-35CF245BEE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68768" y="3944403"/>
                <a:ext cx="1474470" cy="796290"/>
              </a:xfrm>
              <a:prstGeom prst="ellipse">
                <a:avLst/>
              </a:prstGeom>
              <a:noFill/>
              <a:ln w="57150" algn="in">
                <a:solidFill>
                  <a:schemeClr val="dk1">
                    <a:lumMod val="0"/>
                    <a:lumOff val="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rot="0" vert="horz" wrap="square" lIns="36576" tIns="36576" rIns="36576" bIns="36576" anchor="t" anchorCtr="0" upright="1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−5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−3</m:t>
                      </m:r>
                    </m:oMath>
                  </m:oMathPara>
                </a14:m>
                <a:endParaRPr lang="en-CO" sz="12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CB8543A-9098-0541-B831-35CF245BE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68768" y="3944403"/>
                <a:ext cx="1474470" cy="79629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57150" algn="in">
                <a:solidFill>
                  <a:schemeClr val="dk1">
                    <a:lumMod val="0"/>
                    <a:lumOff val="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58B549-0BDD-1440-B3AE-92B589FBF3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43873" y="4520983"/>
            <a:ext cx="501650" cy="374650"/>
          </a:xfrm>
          <a:prstGeom prst="straightConnector1">
            <a:avLst/>
          </a:prstGeom>
          <a:noFill/>
          <a:ln w="57150">
            <a:solidFill>
              <a:schemeClr val="dk1">
                <a:lumMod val="0"/>
                <a:lumOff val="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9E8310-E8EF-D94B-BCEA-AEFF2CC882B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071190" y="4737519"/>
            <a:ext cx="576344" cy="1060149"/>
          </a:xfrm>
          <a:prstGeom prst="straightConnector1">
            <a:avLst/>
          </a:prstGeom>
          <a:noFill/>
          <a:ln w="57150">
            <a:solidFill>
              <a:schemeClr val="dk1">
                <a:lumMod val="0"/>
                <a:lumOff val="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266537-3EB2-574D-87AA-C2B39D35CF7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936334" y="3483862"/>
            <a:ext cx="576343" cy="397676"/>
          </a:xfrm>
          <a:prstGeom prst="straightConnector1">
            <a:avLst/>
          </a:prstGeom>
          <a:noFill/>
          <a:ln w="57150">
            <a:solidFill>
              <a:schemeClr val="dk1">
                <a:lumMod val="0"/>
                <a:lumOff val="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2">
                <a:extLst>
                  <a:ext uri="{FF2B5EF4-FFF2-40B4-BE49-F238E27FC236}">
                    <a16:creationId xmlns:a16="http://schemas.microsoft.com/office/drawing/2014/main" id="{79A3BF1B-BD89-1F40-9873-7E26F9F8A5AF}"/>
                  </a:ext>
                </a:extLst>
              </p:cNvPr>
              <p:cNvSpPr txBox="1"/>
              <p:nvPr/>
            </p:nvSpPr>
            <p:spPr>
              <a:xfrm>
                <a:off x="6394499" y="5074188"/>
                <a:ext cx="3529965" cy="35877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CO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7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+4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−(3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+2)+(−9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−9 )</m:t>
                      </m:r>
                    </m:oMath>
                  </m:oMathPara>
                </a14:m>
                <a:endParaRPr lang="en-CO" sz="11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 Box 2">
                <a:extLst>
                  <a:ext uri="{FF2B5EF4-FFF2-40B4-BE49-F238E27FC236}">
                    <a16:creationId xmlns:a16="http://schemas.microsoft.com/office/drawing/2014/main" id="{79A3BF1B-BD89-1F40-9873-7E26F9F8A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99" y="5074188"/>
                <a:ext cx="3529965" cy="358775"/>
              </a:xfrm>
              <a:prstGeom prst="rect">
                <a:avLst/>
              </a:prstGeom>
              <a:blipFill>
                <a:blip r:embed="rId7"/>
                <a:stretch>
                  <a:fillRect b="-1034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3">
                <a:extLst>
                  <a:ext uri="{FF2B5EF4-FFF2-40B4-BE49-F238E27FC236}">
                    <a16:creationId xmlns:a16="http://schemas.microsoft.com/office/drawing/2014/main" id="{FE953AB1-4527-7E41-98D4-2930C96D1036}"/>
                  </a:ext>
                </a:extLst>
              </p:cNvPr>
              <p:cNvSpPr txBox="1"/>
              <p:nvPr/>
            </p:nvSpPr>
            <p:spPr>
              <a:xfrm>
                <a:off x="2290870" y="5949432"/>
                <a:ext cx="4423410" cy="70847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CO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CO" sz="18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−6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CO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−7.25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CO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7.5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+1</m:t>
                          </m:r>
                          <m:f>
                            <m:fPr>
                              <m:ctrlPr>
                                <a:rPr lang="en-CO" sz="18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CO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180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CO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 Box 3">
                <a:extLst>
                  <a:ext uri="{FF2B5EF4-FFF2-40B4-BE49-F238E27FC236}">
                    <a16:creationId xmlns:a16="http://schemas.microsoft.com/office/drawing/2014/main" id="{FE953AB1-4527-7E41-98D4-2930C96D1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870" y="5949432"/>
                <a:ext cx="4423410" cy="7084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6">
                <a:extLst>
                  <a:ext uri="{FF2B5EF4-FFF2-40B4-BE49-F238E27FC236}">
                    <a16:creationId xmlns:a16="http://schemas.microsoft.com/office/drawing/2014/main" id="{577B6806-D4B0-E943-86D3-1D69A9097E7A}"/>
                  </a:ext>
                </a:extLst>
              </p:cNvPr>
              <p:cNvSpPr txBox="1"/>
              <p:nvPr/>
            </p:nvSpPr>
            <p:spPr>
              <a:xfrm>
                <a:off x="6096000" y="2075899"/>
                <a:ext cx="4373880" cy="6477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CO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−4</m:t>
                          </m:r>
                          <m:f>
                            <m:fPr>
                              <m:ctrlPr>
                                <a:rPr lang="en-CO" sz="1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CO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0.5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+3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−(1</m:t>
                      </m:r>
                      <m:f>
                        <m:fPr>
                          <m:ctrlPr>
                            <a:rPr lang="en-CO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+4)</m:t>
                      </m:r>
                    </m:oMath>
                  </m:oMathPara>
                </a14:m>
                <a:endParaRPr lang="en-CO" sz="11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 Box 6">
                <a:extLst>
                  <a:ext uri="{FF2B5EF4-FFF2-40B4-BE49-F238E27FC236}">
                    <a16:creationId xmlns:a16="http://schemas.microsoft.com/office/drawing/2014/main" id="{577B6806-D4B0-E943-86D3-1D69A9097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75899"/>
                <a:ext cx="4373880" cy="647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7">
                <a:extLst>
                  <a:ext uri="{FF2B5EF4-FFF2-40B4-BE49-F238E27FC236}">
                    <a16:creationId xmlns:a16="http://schemas.microsoft.com/office/drawing/2014/main" id="{A1387ECD-ADFB-0B46-AD3B-4F8F72B4A217}"/>
                  </a:ext>
                </a:extLst>
              </p:cNvPr>
              <p:cNvSpPr txBox="1"/>
              <p:nvPr/>
            </p:nvSpPr>
            <p:spPr>
              <a:xfrm>
                <a:off x="2220702" y="2821390"/>
                <a:ext cx="3749040" cy="647666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−2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−(8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+5)+(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+2 )</m:t>
                      </m:r>
                    </m:oMath>
                  </m:oMathPara>
                </a14:m>
                <a:endParaRPr lang="en-CO" sz="11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Text Box 7">
                <a:extLst>
                  <a:ext uri="{FF2B5EF4-FFF2-40B4-BE49-F238E27FC236}">
                    <a16:creationId xmlns:a16="http://schemas.microsoft.com/office/drawing/2014/main" id="{A1387ECD-ADFB-0B46-AD3B-4F8F72B4A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702" y="2821390"/>
                <a:ext cx="3749040" cy="6476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717E3A-912E-4040-BEA8-1A70A674A03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00046" y="2859188"/>
            <a:ext cx="814705" cy="1022351"/>
          </a:xfrm>
          <a:prstGeom prst="straightConnector1">
            <a:avLst/>
          </a:prstGeom>
          <a:noFill/>
          <a:ln w="57150">
            <a:solidFill>
              <a:schemeClr val="dk1">
                <a:lumMod val="0"/>
                <a:lumOff val="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9864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216046E-244F-BB46-961F-4CA5227878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9.4.4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530A248-17D8-9B4E-B32E-9F5472BCF227}"/>
                  </a:ext>
                </a:extLst>
              </p:cNvPr>
              <p:cNvSpPr/>
              <p:nvPr/>
            </p:nvSpPr>
            <p:spPr>
              <a:xfrm>
                <a:off x="914400" y="1069848"/>
                <a:ext cx="10515600" cy="54513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each expression by combining like terms.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(1 − 4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  − (2.5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+ 7)  − (− 0.3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+ 3)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(3 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− 4)  + 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− 3.2)  − (−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+ 9)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−(2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𝑟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+ 5)  − (6 − 3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𝑟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  + (10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𝑟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− 4)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530A248-17D8-9B4E-B32E-9F5472BCF2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069848"/>
                <a:ext cx="10515600" cy="5451364"/>
              </a:xfrm>
              <a:prstGeom prst="rect">
                <a:avLst/>
              </a:prstGeom>
              <a:blipFill>
                <a:blip r:embed="rId5"/>
                <a:stretch>
                  <a:fillRect l="-638" t="-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07F36F8-CEE9-7842-83C9-E33CB2EB688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5224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FCC6CD7-3972-624A-AEF1-A2489A48675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9.4.5 Wrap-Up: Growth Mindset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F7A919-8B1E-2741-BB78-98A66295B9F8}"/>
              </a:ext>
            </a:extLst>
          </p:cNvPr>
          <p:cNvSpPr/>
          <p:nvPr/>
        </p:nvSpPr>
        <p:spPr>
          <a:xfrm>
            <a:off x="914400" y="1117611"/>
            <a:ext cx="10515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Mistakes are an opportunity to learn. Complete the statement to highlight a mistake you learned from.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46355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My favorite mistake from today was …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719A187-0842-F343-A6A1-7FD23B0B73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9CBA4B-2FD0-474D-87E8-3D1A5B4C6E8E}"/>
              </a:ext>
            </a:extLst>
          </p:cNvPr>
          <p:cNvSpPr/>
          <p:nvPr/>
        </p:nvSpPr>
        <p:spPr>
          <a:xfrm>
            <a:off x="6096000" y="2603826"/>
            <a:ext cx="2813318" cy="3691073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CO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D0E5B2-EBEC-9140-B5DE-CF5B76A8DA75}"/>
              </a:ext>
            </a:extLst>
          </p:cNvPr>
          <p:cNvSpPr/>
          <p:nvPr/>
        </p:nvSpPr>
        <p:spPr>
          <a:xfrm>
            <a:off x="3687491" y="2912278"/>
            <a:ext cx="1769114" cy="277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en-CO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F25756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I</a:t>
            </a:r>
            <a:endParaRPr lang="en-CO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en-CO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en-CO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en-CO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en-CO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en-CO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CO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580</Words>
  <Application>Microsoft Office PowerPoint</Application>
  <PresentationFormat>Widescreen</PresentationFormat>
  <Paragraphs>122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Cambria Math</vt:lpstr>
      <vt:lpstr>Arial</vt:lpstr>
      <vt:lpstr>Verdana</vt:lpstr>
      <vt:lpstr>Times New Roman</vt:lpstr>
      <vt:lpstr>Wingdings</vt:lpstr>
      <vt:lpstr>Century Gothic</vt:lpstr>
      <vt:lpstr>Calibri</vt:lpstr>
      <vt:lpstr>Arial Black</vt:lpstr>
      <vt:lpstr>1_Office Theme</vt:lpstr>
      <vt:lpstr>7th Grade Math  Unit 9, Lesson 4  Adding and Subtracting Expressions with Rational Coefficients  Volume 2, pg. 57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19</cp:revision>
  <dcterms:created xsi:type="dcterms:W3CDTF">2015-03-17T18:51:18Z</dcterms:created>
  <dcterms:modified xsi:type="dcterms:W3CDTF">2022-06-11T01:30:24Z</dcterms:modified>
</cp:coreProperties>
</file>