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26" r:id="rId9"/>
    <p:sldId id="327" r:id="rId10"/>
    <p:sldId id="358" r:id="rId11"/>
    <p:sldId id="365" r:id="rId12"/>
    <p:sldId id="289" r:id="rId13"/>
    <p:sldId id="290" r:id="rId14"/>
    <p:sldId id="370" r:id="rId15"/>
    <p:sldId id="356" r:id="rId16"/>
    <p:sldId id="311" r:id="rId17"/>
    <p:sldId id="312" r:id="rId18"/>
    <p:sldId id="366" r:id="rId19"/>
    <p:sldId id="367" r:id="rId20"/>
    <p:sldId id="368" r:id="rId21"/>
    <p:sldId id="373" r:id="rId22"/>
    <p:sldId id="362" r:id="rId23"/>
    <p:sldId id="363" r:id="rId24"/>
    <p:sldId id="376" r:id="rId25"/>
    <p:sldId id="364" r:id="rId26"/>
    <p:sldId id="323" r:id="rId27"/>
    <p:sldId id="324" r:id="rId28"/>
    <p:sldId id="302" r:id="rId29"/>
    <p:sldId id="303" r:id="rId30"/>
    <p:sldId id="306" r:id="rId31"/>
    <p:sldId id="307" r:id="rId32"/>
  </p:sldIdLst>
  <p:sldSz cx="12192000" cy="6858000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Century Gothic" panose="020B0502020202020204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15"/>
    <p:restoredTop sz="94694"/>
  </p:normalViewPr>
  <p:slideViewPr>
    <p:cSldViewPr snapToGrid="0">
      <p:cViewPr varScale="1">
        <p:scale>
          <a:sx n="81" d="100"/>
          <a:sy n="81" d="100"/>
        </p:scale>
        <p:origin x="1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806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4177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1115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4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451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8699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diariodigitalcolombiano.com/primer-hotel-atendido-por-robots/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50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Adding and Subtracting Linear Expressions with Integer Coefficients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467197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properties of operations to add and subtract linear expressions with rational coefficients.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9531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algebra tiles to add and subtract linear expressions.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8036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9.1.1 Warm-Up: Career in Robotics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914400" y="1207008"/>
            <a:ext cx="105156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Tessa Lau is the Chief Robot Whisperer for a robotics company. The company creates robot helpers for the service industry. Some of their robots perform tasks like delivering items to guests at a hotel. Tessa has studied applied physics, computer science, artificial intelligence, and human-computer interaction. She loves hands-on experiments, building things, and the speed of creating with computers. Through programming and engineering, one of her primary jobs is to look at a robot in context and make sure the robots behave well in human environments. 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12" name="Picture 11" descr="Primer Hotel atendido por Robots – Diario Digital Colombiano">
            <a:extLst>
              <a:ext uri="{FF2B5EF4-FFF2-40B4-BE49-F238E27FC236}">
                <a16:creationId xmlns:a16="http://schemas.microsoft.com/office/drawing/2014/main" id="{4D9DC4A6-889C-6A4D-868D-DA6CAEE2FC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037262" y="4053657"/>
            <a:ext cx="3975735" cy="26504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4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you ever considered a career as an engineer?</a:t>
            </a: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a robot could be helpful to you in your everyday life?</a:t>
            </a: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Tessa’s advice is “Don’t listen to someone who tells you that you can’t do something.” Describe a time someone told you that you were not able to do something.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A7FA3A8-DC78-A94D-B466-9C41BEDD632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88920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3932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9.1.2 Refresher: Adding and Subtracting Integers with Algebra Tiles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914400" y="1305036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Algebra tiles, like integer chips, can be used to model adding and subtracting integers. Each small square represents a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(blue) or a negative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(red).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05036"/>
                <a:ext cx="10515600" cy="1015663"/>
              </a:xfrm>
              <a:prstGeom prst="rect">
                <a:avLst/>
              </a:prstGeom>
              <a:blipFill>
                <a:blip r:embed="rId5"/>
                <a:stretch>
                  <a:fillRect l="-603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1F3909E5-2FF3-F64B-9085-033C4CD13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7094" y="2367596"/>
            <a:ext cx="5520355" cy="1192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7E7F8C-ECEF-2D42-8F6D-2F11E6B7EEAA}"/>
                  </a:ext>
                </a:extLst>
              </p:cNvPr>
              <p:cNvSpPr/>
              <p:nvPr/>
            </p:nvSpPr>
            <p:spPr>
              <a:xfrm>
                <a:off x="914400" y="3713830"/>
                <a:ext cx="10515600" cy="1908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Adding a positive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(blue) and a negative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(red) represents a zero pair 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 +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Pre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</m:sPre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, as shown.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endParaRPr lang="en-US" sz="18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Describe why this diagram represents the value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7E7F8C-ECEF-2D42-8F6D-2F11E6B7EE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713830"/>
                <a:ext cx="10515600" cy="1908215"/>
              </a:xfrm>
              <a:prstGeom prst="rect">
                <a:avLst/>
              </a:prstGeom>
              <a:blipFill>
                <a:blip r:embed="rId7"/>
                <a:stretch>
                  <a:fillRect l="-603" t="-1987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3570D18-35E7-4343-90F4-F03783CB18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1196" y="4160295"/>
            <a:ext cx="1574507" cy="646376"/>
          </a:xfrm>
          <a:prstGeom prst="rect">
            <a:avLst/>
          </a:prstGeom>
        </p:spPr>
      </p:pic>
      <p:pic>
        <p:nvPicPr>
          <p:cNvPr id="13" name="Picture 12" descr="A picture containing text, clock, clipart&#10;&#10;Description automatically generated">
            <a:extLst>
              <a:ext uri="{FF2B5EF4-FFF2-40B4-BE49-F238E27FC236}">
                <a16:creationId xmlns:a16="http://schemas.microsoft.com/office/drawing/2014/main" id="{17B4D68D-AE60-694C-A8A7-DAA61C23BA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8242" y="5253135"/>
            <a:ext cx="1189396" cy="1604740"/>
          </a:xfrm>
          <a:prstGeom prst="rect">
            <a:avLst/>
          </a:prstGeom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178090" y="1122634"/>
            <a:ext cx="7662765" cy="1827705"/>
            <a:chOff x="2031300" y="3321371"/>
            <a:chExt cx="6629400" cy="8650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44EDAB9-D93F-3B44-8A46-3EF2680B15E0}"/>
                </a:ext>
              </a:extLst>
            </p:cNvPr>
            <p:cNvGrpSpPr/>
            <p:nvPr/>
          </p:nvGrpSpPr>
          <p:grpSpPr>
            <a:xfrm>
              <a:off x="2031300" y="3321371"/>
              <a:ext cx="6629400" cy="865029"/>
              <a:chOff x="0" y="-52229"/>
              <a:chExt cx="6629400" cy="86502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00D7E9-D011-6F4F-93E3-9B17DFC18634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24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1B16EF25-D1F4-EE40-87BF-5C9CB43CB5CF}"/>
                  </a:ext>
                </a:extLst>
              </p:cNvPr>
              <p:cNvSpPr/>
              <p:nvPr/>
            </p:nvSpPr>
            <p:spPr>
              <a:xfrm>
                <a:off x="0" y="-52229"/>
                <a:ext cx="6629400" cy="812800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71450"/>
                <a:r>
                  <a:rPr lang="en-US" sz="24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</a:t>
                </a:r>
                <a:r>
                  <a:rPr lang="en-US" sz="24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zero pair</a:t>
                </a:r>
                <a:r>
                  <a:rPr lang="en-US" sz="2400" b="1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a pair of numbers whose sum is zero.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71450" indent="1371600"/>
                <a:r>
                  <a:rPr lang="en-US" sz="2400" dirty="0">
                    <a:solidFill>
                      <a:srgbClr val="6C993D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p:grp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1DA885-A8F2-A948-B14C-68E743E59EFC}"/>
              </a:ext>
            </a:extLst>
          </p:cNvPr>
          <p:cNvSpPr/>
          <p:nvPr/>
        </p:nvSpPr>
        <p:spPr>
          <a:xfrm>
            <a:off x="914400" y="370258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2. Complete the following problems.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45085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Complete the table.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8FC12BD2-3881-6F45-A918-067F94DE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843" y="1358640"/>
            <a:ext cx="5251219" cy="30835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0A1365-4D0A-5F4D-B42E-AA8E0D655640}"/>
              </a:ext>
            </a:extLst>
          </p:cNvPr>
          <p:cNvSpPr/>
          <p:nvPr/>
        </p:nvSpPr>
        <p:spPr>
          <a:xfrm>
            <a:off x="914400" y="4442205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085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For some of the representations with algebra tiles, zero pairs had to be added to the representation. Put an asterisk (*) next to the expressions where this was the case.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45085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085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Explain why zero pairs had to be added to the representation in these cases.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90C055D-788B-A94F-A883-2B8BCDB7611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632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F9CFB8-C79A-5D4D-83F8-43846C68790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76648"/>
            <a:ext cx="106923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9.1.3 Guided Instruction: Algebra Vocabulary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/>
              <p:nvPr/>
            </p:nvSpPr>
            <p:spPr>
              <a:xfrm>
                <a:off x="914400" y="1362456"/>
                <a:ext cx="10515600" cy="5016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There are some fundamental definitions that are necessary to know for working with algebraic expressions.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0.5−4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two terms.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of the terms in this expression is a constant term.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Which term is the constant term? Explain.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62456"/>
                <a:ext cx="10515600" cy="5016758"/>
              </a:xfrm>
              <a:prstGeom prst="rect">
                <a:avLst/>
              </a:prstGeom>
              <a:blipFill>
                <a:blip r:embed="rId5"/>
                <a:stretch>
                  <a:fillRect l="-603" t="-758" r="-121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1" y="2111290"/>
            <a:ext cx="7183693" cy="1421018"/>
            <a:chOff x="2031300" y="3373600"/>
            <a:chExt cx="6731124" cy="108698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09E6381-4682-2A4F-84AD-179E137C6BC1}"/>
                </a:ext>
              </a:extLst>
            </p:cNvPr>
            <p:cNvGrpSpPr/>
            <p:nvPr/>
          </p:nvGrpSpPr>
          <p:grpSpPr>
            <a:xfrm>
              <a:off x="2031300" y="3373600"/>
              <a:ext cx="6731124" cy="1086985"/>
              <a:chOff x="0" y="0"/>
              <a:chExt cx="6731124" cy="108698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651CB98-3830-734D-B491-BDD63EAA8017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ounded Rectangle 15">
                    <a:extLst>
                      <a:ext uri="{FF2B5EF4-FFF2-40B4-BE49-F238E27FC236}">
                        <a16:creationId xmlns:a16="http://schemas.microsoft.com/office/drawing/2014/main" id="{7560EC58-3FB4-3A42-B7F3-27928C210269}"/>
                      </a:ext>
                    </a:extLst>
                  </p:cNvPr>
                  <p:cNvSpPr/>
                  <p:nvPr/>
                </p:nvSpPr>
                <p:spPr>
                  <a:xfrm>
                    <a:off x="101724" y="11221"/>
                    <a:ext cx="6629400" cy="1075764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228600"/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A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 term</a:t>
                    </a:r>
                    <a:r>
                      <a:rPr lang="en-US" sz="2000" b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 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is a single number or variable, or numbers and variables multiplied together. For example, the expression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0.5−4</m:t>
                        </m:r>
                        <m:r>
                          <a:rPr lang="en-US" sz="2000" i="1">
                            <a:solidFill>
                              <a:srgbClr val="6C993D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oMath>
                    </a14:m>
                    <a:r>
                      <a:rPr lang="en-US" sz="20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Times New Roman" panose="02020603050405020304" pitchFamily="18" charset="0"/>
                      </a:rPr>
                      <a:t> has two terms.</a:t>
                    </a:r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Rounded Rectangle 15">
                    <a:extLst>
                      <a:ext uri="{FF2B5EF4-FFF2-40B4-BE49-F238E27FC236}">
                        <a16:creationId xmlns:a16="http://schemas.microsoft.com/office/drawing/2014/main" id="{7560EC58-3FB4-3A42-B7F3-27928C21026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724" y="11221"/>
                    <a:ext cx="6629400" cy="1075764"/>
                  </a:xfrm>
                  <a:prstGeom prst="roundRect">
                    <a:avLst>
                      <a:gd name="adj" fmla="val 16667"/>
                    </a:avLst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F1F690D-BDD6-7947-8187-B4BDBB395E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220" y="4263145"/>
            <a:ext cx="2324584" cy="999913"/>
          </a:xfrm>
          <a:prstGeom prst="rect">
            <a:avLst/>
          </a:prstGeom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EB3F1AE-291B-E244-8D87-38A3560E354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2149063-D1D6-124C-8876-15D2074BC5FC}"/>
              </a:ext>
            </a:extLst>
          </p:cNvPr>
          <p:cNvGrpSpPr/>
          <p:nvPr/>
        </p:nvGrpSpPr>
        <p:grpSpPr>
          <a:xfrm>
            <a:off x="2596582" y="516970"/>
            <a:ext cx="7456394" cy="2857256"/>
            <a:chOff x="1846582" y="1327442"/>
            <a:chExt cx="7456394" cy="28589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9BE7B9-0A7A-E74A-9283-4336C8088B97}"/>
                </a:ext>
              </a:extLst>
            </p:cNvPr>
            <p:cNvGrpSpPr/>
            <p:nvPr/>
          </p:nvGrpSpPr>
          <p:grpSpPr>
            <a:xfrm>
              <a:off x="1846582" y="1327442"/>
              <a:ext cx="7456394" cy="2858958"/>
              <a:chOff x="1846582" y="1327442"/>
              <a:chExt cx="7456394" cy="285895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0EA108F-DF32-CA48-8FDA-130D2CEF1455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FF7FF24-BAE5-734A-8A9C-1F3F912DA85C}"/>
                  </a:ext>
                </a:extLst>
              </p:cNvPr>
              <p:cNvGrpSpPr/>
              <p:nvPr/>
            </p:nvGrpSpPr>
            <p:grpSpPr>
              <a:xfrm>
                <a:off x="1846582" y="1327442"/>
                <a:ext cx="7456394" cy="2858958"/>
                <a:chOff x="-184718" y="-2046158"/>
                <a:chExt cx="7456394" cy="2858958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BAEB404-0A82-534C-BA00-CFA35235C0C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1" name="Rounded Rectangle 10">
                  <a:extLst>
                    <a:ext uri="{FF2B5EF4-FFF2-40B4-BE49-F238E27FC236}">
                      <a16:creationId xmlns:a16="http://schemas.microsoft.com/office/drawing/2014/main" id="{72A03184-E6B4-7B4E-ADB6-F98E5E0C9113}"/>
                    </a:ext>
                  </a:extLst>
                </p:cNvPr>
                <p:cNvSpPr/>
                <p:nvPr/>
              </p:nvSpPr>
              <p:spPr>
                <a:xfrm>
                  <a:off x="-184718" y="-2046158"/>
                  <a:ext cx="7456394" cy="285895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1028700"/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An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expression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is a mathematical statement containing numerals, operators, grouping symbols, and symbols or variables for unknown values. An expression does not contain an equal sign or inequality symbol.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pic>
              <p:nvPicPr>
                <p:cNvPr id="13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CCA4D15C-770D-1C48-9D0A-538851DB8A0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0" y="-1181791"/>
                  <a:ext cx="911151" cy="911151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/>
              <p:nvPr/>
            </p:nvSpPr>
            <p:spPr>
              <a:xfrm>
                <a:off x="914400" y="3976468"/>
                <a:ext cx="10515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 + 5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all expressions.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976468"/>
                <a:ext cx="10515600" cy="707886"/>
              </a:xfrm>
              <a:prstGeom prst="rect">
                <a:avLst/>
              </a:prstGeom>
              <a:blipFill>
                <a:blip r:embed="rId5"/>
                <a:stretch>
                  <a:fillRect l="-603"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C4FD991-6CC3-DF45-9C50-BB55BF4BD58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606268C-5EDD-2344-A732-11C98DC5258D}"/>
              </a:ext>
            </a:extLst>
          </p:cNvPr>
          <p:cNvGrpSpPr/>
          <p:nvPr/>
        </p:nvGrpSpPr>
        <p:grpSpPr>
          <a:xfrm>
            <a:off x="2556988" y="625476"/>
            <a:ext cx="7842071" cy="2332876"/>
            <a:chOff x="2031299" y="3373598"/>
            <a:chExt cx="7842071" cy="233419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3C0A863-0639-A34D-A3B5-F911DDBFBE66}"/>
                </a:ext>
              </a:extLst>
            </p:cNvPr>
            <p:cNvGrpSpPr/>
            <p:nvPr/>
          </p:nvGrpSpPr>
          <p:grpSpPr>
            <a:xfrm>
              <a:off x="2031299" y="3373598"/>
              <a:ext cx="7842071" cy="2334194"/>
              <a:chOff x="2031299" y="3373598"/>
              <a:chExt cx="7842071" cy="233419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9CABD18-1DF2-A740-8DFA-879310E6968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B43A013-1DD6-2C45-BE13-907FB67D04B8}"/>
                  </a:ext>
                </a:extLst>
              </p:cNvPr>
              <p:cNvGrpSpPr/>
              <p:nvPr/>
            </p:nvGrpSpPr>
            <p:grpSpPr>
              <a:xfrm>
                <a:off x="2031299" y="3373598"/>
                <a:ext cx="7842071" cy="2334194"/>
                <a:chOff x="-1" y="-2"/>
                <a:chExt cx="7842071" cy="2334194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E067C0B-38AC-2449-BAD5-AB1630AC677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Rounded Rectangle 10">
                      <a:extLst>
                        <a:ext uri="{FF2B5EF4-FFF2-40B4-BE49-F238E27FC236}">
                          <a16:creationId xmlns:a16="http://schemas.microsoft.com/office/drawing/2014/main" id="{E70DA6FC-C0ED-2945-A87D-4F494CF02C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1" y="-2"/>
                      <a:ext cx="7842071" cy="2334194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1430338"/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A</a:t>
                      </a:r>
                      <a:r>
                        <a:rPr lang="en-US" sz="1800" b="1" i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coefficient</a:t>
                      </a:r>
                      <a:r>
                        <a:rPr lang="en-US" sz="1800" b="1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is the number or constant that multiplies a variable in an algebraic </a:t>
                      </a:r>
                      <a:endParaRPr lang="en-US" sz="12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430338"/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expression. If no number is specified, the</a:t>
                      </a:r>
                      <a:endParaRPr lang="en-US" sz="12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1430338"/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coefficient is </a:t>
                      </a:r>
                      <a14:m>
                        <m:oMath xmlns:m="http://schemas.openxmlformats.org/officeDocument/2006/math">
                          <m:r>
                            <a:rPr lang="en-US" sz="18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oMath>
                      </a14:m>
                      <a:r>
                        <a:rPr lang="en-US" sz="1800" dirty="0">
                          <a:solidFill>
                            <a:srgbClr val="6C993D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.</a:t>
                      </a:r>
                      <a:r>
                        <a:rPr lang="en-US" sz="1200" dirty="0">
                          <a:solidFill>
                            <a:srgbClr val="6C993D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Rounded Rectangle 10">
                      <a:extLst>
                        <a:ext uri="{FF2B5EF4-FFF2-40B4-BE49-F238E27FC236}">
                          <a16:creationId xmlns:a16="http://schemas.microsoft.com/office/drawing/2014/main" id="{E70DA6FC-C0ED-2945-A87D-4F494CF02C5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" y="-2"/>
                      <a:ext cx="7842071" cy="2334194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13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E37718F1-8F7B-8549-8835-9AD2873D663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50733" y="627345"/>
                  <a:ext cx="939933" cy="939933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914400" y="3424825"/>
                <a:ext cx="10515600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coefficient.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coefficient.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coefficient.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Variable terms have coefficients while constant terms do not.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24825"/>
                <a:ext cx="10515600" cy="2862322"/>
              </a:xfrm>
              <a:prstGeom prst="rect">
                <a:avLst/>
              </a:prstGeom>
              <a:blipFill>
                <a:blip r:embed="rId6"/>
                <a:stretch>
                  <a:fillRect l="-603" t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E493DB5F-375D-8244-B784-A6E29A1A31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9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9.1.4 Exploration: What Are Like Terms?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914400" y="1634151"/>
            <a:ext cx="518443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Here is a collection of algebra tiles.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lvl="2" indent="349250"/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Chart, waterfall chart&#10;&#10;Description automatically generated">
            <a:extLst>
              <a:ext uri="{FF2B5EF4-FFF2-40B4-BE49-F238E27FC236}">
                <a16:creationId xmlns:a16="http://schemas.microsoft.com/office/drawing/2014/main" id="{346DDCA0-F6AC-3448-AFDA-6EA1EB006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0747" y="2098090"/>
            <a:ext cx="5750506" cy="4288765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8897112" y="647395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4400" y="520393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below. 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ACDD326D-ECDA-7241-B69E-3A551744D9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9330" y="3654091"/>
            <a:ext cx="5232420" cy="3003685"/>
          </a:xfrm>
          <a:prstGeom prst="rect">
            <a:avLst/>
          </a:prstGeom>
        </p:spPr>
      </p:pic>
      <p:pic>
        <p:nvPicPr>
          <p:cNvPr id="7" name="Picture 6" descr="Chart, waterfall chart&#10;&#10;Description automatically generated">
            <a:extLst>
              <a:ext uri="{FF2B5EF4-FFF2-40B4-BE49-F238E27FC236}">
                <a16:creationId xmlns:a16="http://schemas.microsoft.com/office/drawing/2014/main" id="{97084BFD-4A54-9B43-9FE8-57C55E30CE8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6719" y="873517"/>
            <a:ext cx="3738562" cy="2788244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914400" y="533213"/>
                <a:ext cx="10515600" cy="6155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Use the definitions of coefficient and term to complete the expression by writing the coefficient or constant term that matches the number of tiles of each type. </a:t>
                </a: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9250" indent="-339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295275" indent="-285750"/>
                <a:endParaRPr lang="en-US" sz="2000" dirty="0">
                  <a:latin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the number of algebra tiles of each type under the term in the expression.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the zero pairs in your drawing.</a:t>
                </a:r>
              </a:p>
              <a:p>
                <a:pPr marL="914400" lvl="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expression below after eliminating the zero pairs. </a:t>
                </a:r>
              </a:p>
              <a:p>
                <a:r>
                  <a:rPr lang="en-US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______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+____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+______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3213"/>
                <a:ext cx="10515600" cy="6155531"/>
              </a:xfrm>
              <a:prstGeom prst="rect">
                <a:avLst/>
              </a:prstGeom>
              <a:blipFill>
                <a:blip r:embed="rId4"/>
                <a:stretch>
                  <a:fillRect t="-594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188F45BC-5761-B542-A2AD-932C99967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192" y="1669631"/>
            <a:ext cx="6193944" cy="2369113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F3EDBF6-CB6D-4F4B-8017-47E25E23467C}"/>
              </a:ext>
            </a:extLst>
          </p:cNvPr>
          <p:cNvGrpSpPr/>
          <p:nvPr/>
        </p:nvGrpSpPr>
        <p:grpSpPr>
          <a:xfrm>
            <a:off x="2779077" y="1529355"/>
            <a:ext cx="7273899" cy="1575352"/>
            <a:chOff x="2031300" y="3373600"/>
            <a:chExt cx="6629400" cy="812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124D51-0B40-2F48-845D-B3A1428CE011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A4D980C-D90A-CA4F-85A1-7D4A567BBFF9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812800"/>
              <a:chOff x="0" y="0"/>
              <a:chExt cx="6629400" cy="8128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A099FB6-0C4F-0643-AAF0-518827EE993C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77E38D44-B1D4-8E4F-A274-C590E8EA6A89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744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28600"/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Like terms</a:t>
                </a:r>
                <a:r>
                  <a:rPr lang="en-US" sz="2000" b="1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are terms with the exact same variable(s) raised to the same exponent.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A12B48F-504B-254B-ACC8-4926C16C6592}"/>
              </a:ext>
            </a:extLst>
          </p:cNvPr>
          <p:cNvGrpSpPr/>
          <p:nvPr/>
        </p:nvGrpSpPr>
        <p:grpSpPr>
          <a:xfrm>
            <a:off x="2779077" y="3587115"/>
            <a:ext cx="7273898" cy="1654736"/>
            <a:chOff x="2031300" y="3373600"/>
            <a:chExt cx="6629400" cy="812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6CB9CB-CA3B-4C4B-AC0C-A1B63DB7F9B9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0E691ED-3232-F74F-B001-A08A42342345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812800"/>
              <a:chOff x="0" y="0"/>
              <a:chExt cx="6629400" cy="8128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8D9326-DE0E-7F4E-A500-7021F9004D16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20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45DB3C1-640D-F94B-8B5F-8820DFE73C9C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812744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228600"/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constant</a:t>
                </a:r>
                <a:r>
                  <a:rPr lang="en-US" sz="2000" dirty="0">
                    <a:solidFill>
                      <a:srgbClr val="6C993D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 is a fixed numerical value with no variables. All constants are like terms.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6E777F-D0DF-0441-9B6F-CED39C7EAD8D}"/>
              </a:ext>
            </a:extLst>
          </p:cNvPr>
          <p:cNvSpPr/>
          <p:nvPr/>
        </p:nvSpPr>
        <p:spPr>
          <a:xfrm>
            <a:off x="914400" y="463929"/>
            <a:ext cx="105156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2. Answer the following questions about like terms.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45085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Classify the following terms.</a:t>
            </a: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349250" indent="-3397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did you determine whether the terms were like or unlike?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answers with your partner.</a:t>
            </a:r>
          </a:p>
          <a:p>
            <a:r>
              <a:rPr lang="en-US" dirty="0"/>
              <a:t> </a:t>
            </a:r>
          </a:p>
          <a:p>
            <a:pPr marL="517525" indent="-285750">
              <a:buFont typeface="+mj-lt"/>
              <a:buAutoNum type="alphaLcPeriod"/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75BB802-07D4-7F4A-AD1A-EFB42D3D0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642" y="1424867"/>
            <a:ext cx="6422065" cy="2770303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E6F9533-123C-CA49-AA3D-81D4359CF011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3094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78244E2-71D0-9D48-A977-8CF152F21B3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093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9.1.5 Guided Instruction: Adding and Subtracting Expressions with Algebra Tiles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B1B67C1-9783-084B-8A75-268E226830AE}"/>
                  </a:ext>
                </a:extLst>
              </p:cNvPr>
              <p:cNvSpPr/>
              <p:nvPr/>
            </p:nvSpPr>
            <p:spPr>
              <a:xfrm>
                <a:off x="914400" y="1446986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algebra tiles shown represent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as rectangles, and integers as squares. Red represents the negative of that variable or constant, while the blue shades represent the positive</a:t>
                </a:r>
                <a:r>
                  <a:rPr lang="en-US" sz="2000" i="1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B1B67C1-9783-084B-8A75-268E226830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46986"/>
                <a:ext cx="10515600" cy="1015663"/>
              </a:xfrm>
              <a:prstGeom prst="rect">
                <a:avLst/>
              </a:prstGeom>
              <a:blipFill>
                <a:blip r:embed="rId5"/>
                <a:stretch>
                  <a:fillRect l="-603" t="-2469" r="-1327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01F0076-00BF-EE4B-9066-707BC4BC0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6516" y="2558165"/>
            <a:ext cx="2998234" cy="14703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7BB4C1-BE0C-3B47-9E07-182BBDBEA3AF}"/>
              </a:ext>
            </a:extLst>
          </p:cNvPr>
          <p:cNvSpPr/>
          <p:nvPr/>
        </p:nvSpPr>
        <p:spPr>
          <a:xfrm>
            <a:off x="1957501" y="4260106"/>
            <a:ext cx="5492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Variables also form zero pairs, as shown.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74B9350E-D603-FC48-97FE-3D77307B2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05" y="4891791"/>
            <a:ext cx="2204631" cy="1641746"/>
          </a:xfrm>
          <a:prstGeom prst="rect">
            <a:avLst/>
          </a:prstGeom>
        </p:spPr>
      </p:pic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7252D359-49A5-AF4B-B4D0-4523BF100C6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8135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466AFC-52CF-EF48-820B-5F6163D7E309}"/>
              </a:ext>
            </a:extLst>
          </p:cNvPr>
          <p:cNvSpPr/>
          <p:nvPr/>
        </p:nvSpPr>
        <p:spPr>
          <a:xfrm>
            <a:off x="1143000" y="495827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Complete the table by crossing out the zero pairs and recording how many there are. Write the resulting algebraic expression after eliminating the zero pairs. 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able&#10;&#10;Description automatically generated with medium confidence">
            <a:extLst>
              <a:ext uri="{FF2B5EF4-FFF2-40B4-BE49-F238E27FC236}">
                <a16:creationId xmlns:a16="http://schemas.microsoft.com/office/drawing/2014/main" id="{737DAA9D-0801-5A40-AAE9-EEF7F9C07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265" y="1865817"/>
            <a:ext cx="6968219" cy="3354769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0770922-D176-3E4B-B233-44AA4FDC8A9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8689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E2D3B7-458B-5D47-96F8-1FBA60174668}"/>
              </a:ext>
            </a:extLst>
          </p:cNvPr>
          <p:cNvSpPr/>
          <p:nvPr/>
        </p:nvSpPr>
        <p:spPr>
          <a:xfrm>
            <a:off x="914400" y="526328"/>
            <a:ext cx="10515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Draw a representation of the following expressions with algebra tiles. Cross out any zero pairs. Then write an equivalent algebraic expression after eliminating any zero pairs.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DD96EAD3-0168-914D-A0CF-9A8D31A880A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3043" y="1771879"/>
            <a:ext cx="5058333" cy="4685797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2F06AEA-3F6D-6242-817F-87AB1D406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1773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69A00B0-FE4F-524C-8898-788633040B6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53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9.1.6 Guided Practice: Adding and Subtracting Expressions with Algebra Tiles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/>
              <p:nvPr/>
            </p:nvSpPr>
            <p:spPr>
              <a:xfrm>
                <a:off x="914400" y="1316736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Consider the expressions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Verdana" panose="020B0604030504040204" pitchFamily="34" charset="0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914400" indent="-450850">
                  <a:buFont typeface="+mj-lt"/>
                  <a:buAutoNum type="alphaLcPeriod"/>
                </a:pP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Draw a model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GB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with</a:t>
                </a:r>
                <a:r>
                  <a:rPr lang="en-GB" sz="2000" dirty="0">
                    <a:latin typeface="Cambria Math" panose="020405030504060302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algebra tiles.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16736"/>
                <a:ext cx="10515600" cy="1015663"/>
              </a:xfrm>
              <a:prstGeom prst="rect">
                <a:avLst/>
              </a:prstGeom>
              <a:blipFill>
                <a:blip r:embed="rId5"/>
                <a:stretch>
                  <a:fillRect l="-638" t="-4192" b="-8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E68D569E-B246-244C-8AD4-6982E21205C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0392" y="2354518"/>
            <a:ext cx="4762593" cy="2980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1542C8-7504-E641-B579-3B06C54C340F}"/>
                  </a:ext>
                </a:extLst>
              </p:cNvPr>
              <p:cNvSpPr/>
              <p:nvPr/>
            </p:nvSpPr>
            <p:spPr>
              <a:xfrm>
                <a:off x="914400" y="5388301"/>
                <a:ext cx="105156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How are they different?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equivalent algebraic expressions?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31542C8-7504-E641-B579-3B06C54C34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88301"/>
                <a:ext cx="10515600" cy="1015663"/>
              </a:xfrm>
              <a:prstGeom prst="rect">
                <a:avLst/>
              </a:prstGeom>
              <a:blipFill>
                <a:blip r:embed="rId7"/>
                <a:stretch>
                  <a:fillRect t="-4790" b="-8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216046E-244F-BB46-961F-4CA5227878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9.1.7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/>
              <p:nvPr/>
            </p:nvSpPr>
            <p:spPr>
              <a:xfrm>
                <a:off x="914400" y="1073421"/>
                <a:ext cx="10515600" cy="3477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equivalent expression by combining like terms.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_____________________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+7+4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−1=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+1=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−4−4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__________________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_____________________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073421"/>
                <a:ext cx="10515600" cy="3477875"/>
              </a:xfrm>
              <a:prstGeom prst="rect">
                <a:avLst/>
              </a:prstGeom>
              <a:blipFill>
                <a:blip r:embed="rId5"/>
                <a:stretch>
                  <a:fillRect l="-638" t="-876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607F36F8-CEE9-7842-83C9-E33CB2EB688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9.1.8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6280635" y="1038782"/>
            <a:ext cx="5486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For each key word, check the box in the column that describes your knowledge of the word. Then answer the questions or complete the statements in the last column.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7866BC40-4B72-7342-8647-94D506815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120" y="948468"/>
            <a:ext cx="4725395" cy="5875799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1294</Words>
  <Application>Microsoft Office PowerPoint</Application>
  <PresentationFormat>Widescreen</PresentationFormat>
  <Paragraphs>211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Cambria Math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1  Adding and Subtracting Linear Expressions with Integer Coefficients  Volume 2, pg. 39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Refresher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18</cp:revision>
  <dcterms:created xsi:type="dcterms:W3CDTF">2015-03-17T18:51:18Z</dcterms:created>
  <dcterms:modified xsi:type="dcterms:W3CDTF">2022-06-11T00:20:05Z</dcterms:modified>
</cp:coreProperties>
</file>