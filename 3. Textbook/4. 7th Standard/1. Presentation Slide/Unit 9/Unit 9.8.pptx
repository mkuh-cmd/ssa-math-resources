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256" r:id="rId2"/>
    <p:sldId id="257" r:id="rId3"/>
    <p:sldId id="285" r:id="rId4"/>
    <p:sldId id="286" r:id="rId5"/>
    <p:sldId id="261" r:id="rId6"/>
    <p:sldId id="287" r:id="rId7"/>
    <p:sldId id="326" r:id="rId8"/>
    <p:sldId id="327" r:id="rId9"/>
    <p:sldId id="358" r:id="rId10"/>
    <p:sldId id="365" r:id="rId11"/>
    <p:sldId id="371" r:id="rId12"/>
    <p:sldId id="372" r:id="rId13"/>
    <p:sldId id="289" r:id="rId14"/>
    <p:sldId id="290" r:id="rId15"/>
    <p:sldId id="370" r:id="rId16"/>
    <p:sldId id="323" r:id="rId17"/>
    <p:sldId id="324" r:id="rId18"/>
    <p:sldId id="373" r:id="rId19"/>
    <p:sldId id="302" r:id="rId20"/>
    <p:sldId id="303" r:id="rId21"/>
    <p:sldId id="374" r:id="rId22"/>
    <p:sldId id="375" r:id="rId23"/>
    <p:sldId id="306" r:id="rId24"/>
    <p:sldId id="307" r:id="rId25"/>
    <p:sldId id="376" r:id="rId26"/>
  </p:sldIdLst>
  <p:sldSz cx="12192000" cy="6858000"/>
  <p:notesSz cx="6858000" cy="9144000"/>
  <p:embeddedFontLst>
    <p:embeddedFont>
      <p:font typeface="Arial Black" panose="020B0A04020102020204" pitchFamily="34" charset="0"/>
      <p:regular r:id="rId28"/>
      <p:bold r:id="rId29"/>
    </p:embeddedFont>
    <p:embeddedFont>
      <p:font typeface="Calibri" panose="020F0502020204030204" pitchFamily="34" charset="0"/>
      <p:regular r:id="rId30"/>
      <p:bold r:id="rId31"/>
      <p:italic r:id="rId32"/>
      <p:boldItalic r:id="rId33"/>
    </p:embeddedFont>
    <p:embeddedFont>
      <p:font typeface="Cambria Math" panose="02040503050406030204" pitchFamily="18" charset="0"/>
      <p:regular r:id="rId34"/>
    </p:embeddedFont>
    <p:embeddedFont>
      <p:font typeface="Century Gothic" panose="020B0502020202020204"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91"/>
    <p:restoredTop sz="94694"/>
  </p:normalViewPr>
  <p:slideViewPr>
    <p:cSldViewPr snapToGrid="0">
      <p:cViewPr varScale="1">
        <p:scale>
          <a:sx n="81" d="100"/>
          <a:sy n="81" d="100"/>
        </p:scale>
        <p:origin x="72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84032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727289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4177324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3598061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53622164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4328548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2809582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9607267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20189574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4690093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0554750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6.png"/><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2.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7</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Math</a:t>
            </a:r>
            <a:br>
              <a:rPr lang="en-US" sz="3200" b="1" dirty="0">
                <a:solidFill>
                  <a:srgbClr val="417DBF"/>
                </a:solidFill>
                <a:latin typeface="Verdana"/>
                <a:ea typeface="Verdana"/>
                <a:cs typeface="Verdana"/>
                <a:sym typeface="Verdana"/>
              </a:rPr>
            </a:br>
            <a:endParaRPr lang="en-US"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9, Lesson 8</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Equivalent Expressions Using Properties of Operations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77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97002"/>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4300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914400" y="1315194"/>
            <a:ext cx="1051560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MA.7.AR.1.2</a:t>
            </a:r>
          </a:p>
          <a:p>
            <a:pPr indent="0">
              <a:buNone/>
            </a:pPr>
            <a:r>
              <a:rPr lang="en-US" sz="2800" dirty="0">
                <a:latin typeface="Verdana" panose="020B0604030504040204" pitchFamily="34" charset="0"/>
                <a:ea typeface="Verdana" panose="020B0604030504040204" pitchFamily="34" charset="0"/>
                <a:cs typeface="Verdana" panose="020B0604030504040204" pitchFamily="34" charset="0"/>
              </a:rPr>
              <a:t>Determine whether two linear expressions are equivalent.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43000" y="129667"/>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914400" y="1596390"/>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a16="http://schemas.microsoft.com/office/drawing/2014/main" id="{7E42EF11-5FC6-7744-AF68-159F2F06D67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143000" y="-9144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14400" y="1609531"/>
            <a:ext cx="1051560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use properties of operations to write equivalent forms of an algebraic expression.</a:t>
            </a:r>
          </a:p>
          <a:p>
            <a:pPr marL="463550" indent="-463550">
              <a:buFont typeface="Wingdings" pitchFamily="2" charset="2"/>
              <a:buChar char="q"/>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determine whether two linear expressions are equivalent.</a:t>
            </a:r>
          </a:p>
        </p:txBody>
      </p:sp>
      <p:sp>
        <p:nvSpPr>
          <p:cNvPr id="8" name="Google Shape;282;g104476d1465_1_17">
            <a:extLst>
              <a:ext uri="{FF2B5EF4-FFF2-40B4-BE49-F238E27FC236}">
                <a16:creationId xmlns:a16="http://schemas.microsoft.com/office/drawing/2014/main" id="{6793C8E2-E1C4-B24A-AB6C-B7DBDD28D85B}"/>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087368"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6BCEEC8C-9B17-C841-8ED4-211C80FA09C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143000" y="-9144"/>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9.8.1 Warm-Up: Fact or Fiction?</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5" name="Rectangle 4">
            <a:extLst>
              <a:ext uri="{FF2B5EF4-FFF2-40B4-BE49-F238E27FC236}">
                <a16:creationId xmlns:a16="http://schemas.microsoft.com/office/drawing/2014/main" id="{353081A1-25B1-2A4B-8FF2-3F1C264A000D}"/>
              </a:ext>
            </a:extLst>
          </p:cNvPr>
          <p:cNvSpPr/>
          <p:nvPr/>
        </p:nvSpPr>
        <p:spPr>
          <a:xfrm>
            <a:off x="914400" y="1208009"/>
            <a:ext cx="10515600" cy="83099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Determine whether each equation below is fact (true) or fiction (false). </a:t>
            </a:r>
          </a:p>
        </p:txBody>
      </p:sp>
      <p:sp>
        <p:nvSpPr>
          <p:cNvPr id="14" name="Google Shape;282;g104476d1465_1_17">
            <a:extLst>
              <a:ext uri="{FF2B5EF4-FFF2-40B4-BE49-F238E27FC236}">
                <a16:creationId xmlns:a16="http://schemas.microsoft.com/office/drawing/2014/main" id="{478CDDBB-860A-D748-B9D0-C51751F3670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77</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2" name="Table 1">
                <a:extLst>
                  <a:ext uri="{FF2B5EF4-FFF2-40B4-BE49-F238E27FC236}">
                    <a16:creationId xmlns:a16="http://schemas.microsoft.com/office/drawing/2014/main" id="{A120EB02-55D4-AC41-A521-EEC99AA18583}"/>
                  </a:ext>
                </a:extLst>
              </p:cNvPr>
              <p:cNvGraphicFramePr>
                <a:graphicFrameLocks noGrp="1"/>
              </p:cNvGraphicFramePr>
              <p:nvPr>
                <p:extLst>
                  <p:ext uri="{D42A27DB-BD31-4B8C-83A1-F6EECF244321}">
                    <p14:modId xmlns:p14="http://schemas.microsoft.com/office/powerpoint/2010/main" val="777549641"/>
                  </p:ext>
                </p:extLst>
              </p:nvPr>
            </p:nvGraphicFramePr>
            <p:xfrm>
              <a:off x="2695575" y="2280762"/>
              <a:ext cx="6800850" cy="3836670"/>
            </p:xfrm>
            <a:graphic>
              <a:graphicData uri="http://schemas.openxmlformats.org/drawingml/2006/table">
                <a:tbl>
                  <a:tblPr firstRow="1" firstCol="1" bandRow="1">
                    <a:tableStyleId>{A91F0D33-8C57-4600-99A7-42BC86742BE1}</a:tableStyleId>
                  </a:tblPr>
                  <a:tblGrid>
                    <a:gridCol w="3934460">
                      <a:extLst>
                        <a:ext uri="{9D8B030D-6E8A-4147-A177-3AD203B41FA5}">
                          <a16:colId xmlns:a16="http://schemas.microsoft.com/office/drawing/2014/main" val="3996941494"/>
                        </a:ext>
                      </a:extLst>
                    </a:gridCol>
                    <a:gridCol w="2866390">
                      <a:extLst>
                        <a:ext uri="{9D8B030D-6E8A-4147-A177-3AD203B41FA5}">
                          <a16:colId xmlns:a16="http://schemas.microsoft.com/office/drawing/2014/main" val="2328916249"/>
                        </a:ext>
                      </a:extLst>
                    </a:gridCol>
                  </a:tblGrid>
                  <a:tr h="276225">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Equation</a:t>
                          </a:r>
                          <a:endParaRPr lang="en-CO" sz="2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Fact or Fiction</a:t>
                          </a:r>
                          <a:endParaRPr lang="en-CO" sz="2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239647529"/>
                      </a:ext>
                    </a:extLst>
                  </a:tr>
                  <a:tr h="79121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CO" sz="2400" i="1">
                                        <a:effectLst/>
                                        <a:latin typeface="Cambria Math" panose="02040503050406030204" pitchFamily="18" charset="0"/>
                                      </a:rPr>
                                    </m:ctrlPr>
                                  </m:dPr>
                                  <m:e>
                                    <m:r>
                                      <a:rPr lang="en-US" sz="2400">
                                        <a:effectLst/>
                                        <a:latin typeface="Cambria Math" panose="02040503050406030204" pitchFamily="18" charset="0"/>
                                      </a:rPr>
                                      <m:t>30+8</m:t>
                                    </m:r>
                                  </m:e>
                                </m:d>
                                <m:r>
                                  <a:rPr lang="en-US" sz="2400">
                                    <a:effectLst/>
                                    <a:latin typeface="Cambria Math" panose="02040503050406030204" pitchFamily="18" charset="0"/>
                                  </a:rPr>
                                  <m:t>∙9=270+72</m:t>
                                </m:r>
                              </m:oMath>
                            </m:oMathPara>
                          </a14:m>
                          <a:endParaRPr lang="en-CO"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400">
                              <a:effectLst/>
                              <a:latin typeface="Verdana" panose="020B0604030504040204" pitchFamily="34" charset="0"/>
                              <a:ea typeface="Verdana" panose="020B0604030504040204" pitchFamily="34" charset="0"/>
                              <a:cs typeface="Verdana" panose="020B0604030504040204" pitchFamily="34" charset="0"/>
                            </a:rPr>
                            <a:t>Fact</a:t>
                          </a:r>
                          <a:endParaRPr lang="en-CO" sz="24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400">
                              <a:effectLst/>
                              <a:latin typeface="Verdana" panose="020B0604030504040204" pitchFamily="34" charset="0"/>
                              <a:ea typeface="Verdana" panose="020B0604030504040204" pitchFamily="34" charset="0"/>
                              <a:cs typeface="Verdana" panose="020B0604030504040204" pitchFamily="34" charset="0"/>
                            </a:rPr>
                            <a:t>Fiction</a:t>
                          </a:r>
                          <a:endParaRPr lang="en-CO"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396422"/>
                      </a:ext>
                    </a:extLst>
                  </a:tr>
                  <a:tr h="791210">
                    <a:tc>
                      <a:txBody>
                        <a:bodyPr/>
                        <a:lstStyle/>
                        <a:p>
                          <a:pPr marL="0" marR="0" algn="ctr">
                            <a:spcBef>
                              <a:spcPts val="0"/>
                            </a:spcBef>
                            <a:spcAft>
                              <a:spcPts val="0"/>
                            </a:spcAft>
                          </a:pPr>
                          <a:br>
                            <a:rPr lang="en-CO" sz="2400">
                              <a:effectLst/>
                              <a:latin typeface="Verdana" panose="020B0604030504040204" pitchFamily="34" charset="0"/>
                              <a:ea typeface="Verdana" panose="020B0604030504040204" pitchFamily="34" charset="0"/>
                              <a:cs typeface="Verdana" panose="020B0604030504040204" pitchFamily="34" charset="0"/>
                            </a:rPr>
                          </a:b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4+5(9−15)=9(9−15)</m:t>
                                </m:r>
                              </m:oMath>
                            </m:oMathPara>
                          </a14:m>
                          <a:endParaRPr lang="en-CO" sz="240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 </a:t>
                          </a:r>
                          <a:endParaRPr lang="en-CO"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400">
                              <a:effectLst/>
                              <a:latin typeface="Verdana" panose="020B0604030504040204" pitchFamily="34" charset="0"/>
                              <a:ea typeface="Verdana" panose="020B0604030504040204" pitchFamily="34" charset="0"/>
                              <a:cs typeface="Verdana" panose="020B0604030504040204" pitchFamily="34" charset="0"/>
                            </a:rPr>
                            <a:t>Fact</a:t>
                          </a:r>
                          <a:endParaRPr lang="en-CO" sz="24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400">
                              <a:effectLst/>
                              <a:latin typeface="Verdana" panose="020B0604030504040204" pitchFamily="34" charset="0"/>
                              <a:ea typeface="Verdana" panose="020B0604030504040204" pitchFamily="34" charset="0"/>
                              <a:cs typeface="Verdana" panose="020B0604030504040204" pitchFamily="34" charset="0"/>
                            </a:rPr>
                            <a:t>Fiction</a:t>
                          </a:r>
                          <a:endParaRPr lang="en-CO"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4985792"/>
                      </a:ext>
                    </a:extLst>
                  </a:tr>
                  <a:tr h="79121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400">
                                    <a:effectLst/>
                                    <a:latin typeface="Cambria Math" panose="02040503050406030204" pitchFamily="18" charset="0"/>
                                  </a:rPr>
                                  <m:t>2∙</m:t>
                                </m:r>
                                <m:d>
                                  <m:dPr>
                                    <m:ctrlPr>
                                      <a:rPr lang="en-CO" sz="2400" i="1">
                                        <a:effectLst/>
                                        <a:latin typeface="Cambria Math" panose="02040503050406030204" pitchFamily="18" charset="0"/>
                                      </a:rPr>
                                    </m:ctrlPr>
                                  </m:dPr>
                                  <m:e>
                                    <m:r>
                                      <a:rPr lang="en-US" sz="2400">
                                        <a:effectLst/>
                                        <a:latin typeface="Cambria Math" panose="02040503050406030204" pitchFamily="18" charset="0"/>
                                      </a:rPr>
                                      <m:t>7+8</m:t>
                                    </m:r>
                                  </m:e>
                                </m:d>
                                <m:r>
                                  <a:rPr lang="en-US" sz="2400">
                                    <a:effectLst/>
                                    <a:latin typeface="Cambria Math" panose="02040503050406030204" pitchFamily="18" charset="0"/>
                                  </a:rPr>
                                  <m:t>=</m:t>
                                </m:r>
                                <m:d>
                                  <m:dPr>
                                    <m:ctrlPr>
                                      <a:rPr lang="en-CO" sz="2400" i="1">
                                        <a:effectLst/>
                                        <a:latin typeface="Cambria Math" panose="02040503050406030204" pitchFamily="18" charset="0"/>
                                      </a:rPr>
                                    </m:ctrlPr>
                                  </m:dPr>
                                  <m:e>
                                    <m:r>
                                      <a:rPr lang="en-US" sz="2400">
                                        <a:effectLst/>
                                        <a:latin typeface="Cambria Math" panose="02040503050406030204" pitchFamily="18" charset="0"/>
                                      </a:rPr>
                                      <m:t>2∙7</m:t>
                                    </m:r>
                                  </m:e>
                                </m:d>
                                <m:r>
                                  <a:rPr lang="en-US" sz="2400">
                                    <a:effectLst/>
                                    <a:latin typeface="Cambria Math" panose="02040503050406030204" pitchFamily="18" charset="0"/>
                                  </a:rPr>
                                  <m:t>+8</m:t>
                                </m:r>
                              </m:oMath>
                            </m:oMathPara>
                          </a14:m>
                          <a:endParaRPr lang="en-CO"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400">
                              <a:effectLst/>
                              <a:latin typeface="Verdana" panose="020B0604030504040204" pitchFamily="34" charset="0"/>
                              <a:ea typeface="Verdana" panose="020B0604030504040204" pitchFamily="34" charset="0"/>
                              <a:cs typeface="Verdana" panose="020B0604030504040204" pitchFamily="34" charset="0"/>
                            </a:rPr>
                            <a:t>Fact</a:t>
                          </a:r>
                          <a:endParaRPr lang="en-CO" sz="24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400">
                              <a:effectLst/>
                              <a:latin typeface="Verdana" panose="020B0604030504040204" pitchFamily="34" charset="0"/>
                              <a:ea typeface="Verdana" panose="020B0604030504040204" pitchFamily="34" charset="0"/>
                              <a:cs typeface="Verdana" panose="020B0604030504040204" pitchFamily="34" charset="0"/>
                            </a:rPr>
                            <a:t>Fiction</a:t>
                          </a:r>
                          <a:endParaRPr lang="en-CO"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2205179"/>
                      </a:ext>
                    </a:extLst>
                  </a:tr>
                  <a:tr h="79121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CO" sz="2400" i="1">
                                        <a:effectLst/>
                                        <a:latin typeface="Cambria Math" panose="02040503050406030204" pitchFamily="18" charset="0"/>
                                      </a:rPr>
                                    </m:ctrlPr>
                                  </m:dPr>
                                  <m:e>
                                    <m:r>
                                      <a:rPr lang="en-US" sz="2400">
                                        <a:effectLst/>
                                        <a:latin typeface="Cambria Math" panose="02040503050406030204" pitchFamily="18" charset="0"/>
                                      </a:rPr>
                                      <m:t>5+4</m:t>
                                    </m:r>
                                  </m:e>
                                </m:d>
                                <m:r>
                                  <a:rPr lang="en-US" sz="2400">
                                    <a:effectLst/>
                                    <a:latin typeface="Cambria Math" panose="02040503050406030204" pitchFamily="18" charset="0"/>
                                  </a:rPr>
                                  <m:t>−10=5+(4−10)</m:t>
                                </m:r>
                              </m:oMath>
                            </m:oMathPara>
                          </a14:m>
                          <a:endParaRPr lang="en-CO"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marR="0" lvl="0" indent="-342900">
                            <a:spcBef>
                              <a:spcPts val="0"/>
                            </a:spcBef>
                            <a:spcAft>
                              <a:spcPts val="0"/>
                            </a:spcAft>
                            <a:buFont typeface="Courier New" panose="02070309020205020404" pitchFamily="49" charset="0"/>
                            <a:buChar char="o"/>
                          </a:pPr>
                          <a:r>
                            <a:rPr lang="en-US" sz="2400" dirty="0">
                              <a:effectLst/>
                              <a:latin typeface="Verdana" panose="020B0604030504040204" pitchFamily="34" charset="0"/>
                              <a:ea typeface="Verdana" panose="020B0604030504040204" pitchFamily="34" charset="0"/>
                              <a:cs typeface="Verdana" panose="020B0604030504040204" pitchFamily="34" charset="0"/>
                            </a:rPr>
                            <a:t>Fact</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400" dirty="0">
                              <a:effectLst/>
                              <a:latin typeface="Verdana" panose="020B0604030504040204" pitchFamily="34" charset="0"/>
                              <a:ea typeface="Verdana" panose="020B0604030504040204" pitchFamily="34" charset="0"/>
                              <a:cs typeface="Verdana" panose="020B0604030504040204" pitchFamily="34" charset="0"/>
                            </a:rPr>
                            <a:t>Fiction</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3545184"/>
                      </a:ext>
                    </a:extLst>
                  </a:tr>
                </a:tbl>
              </a:graphicData>
            </a:graphic>
          </p:graphicFrame>
        </mc:Choice>
        <mc:Fallback>
          <p:graphicFrame>
            <p:nvGraphicFramePr>
              <p:cNvPr id="2" name="Table 1">
                <a:extLst>
                  <a:ext uri="{FF2B5EF4-FFF2-40B4-BE49-F238E27FC236}">
                    <a16:creationId xmlns:a16="http://schemas.microsoft.com/office/drawing/2014/main" id="{A120EB02-55D4-AC41-A521-EEC99AA18583}"/>
                  </a:ext>
                </a:extLst>
              </p:cNvPr>
              <p:cNvGraphicFramePr>
                <a:graphicFrameLocks noGrp="1"/>
              </p:cNvGraphicFramePr>
              <p:nvPr>
                <p:extLst>
                  <p:ext uri="{D42A27DB-BD31-4B8C-83A1-F6EECF244321}">
                    <p14:modId xmlns:p14="http://schemas.microsoft.com/office/powerpoint/2010/main" val="777549641"/>
                  </p:ext>
                </p:extLst>
              </p:nvPr>
            </p:nvGraphicFramePr>
            <p:xfrm>
              <a:off x="2695575" y="2280762"/>
              <a:ext cx="6800850" cy="3836670"/>
            </p:xfrm>
            <a:graphic>
              <a:graphicData uri="http://schemas.openxmlformats.org/drawingml/2006/table">
                <a:tbl>
                  <a:tblPr firstRow="1" firstCol="1" bandRow="1">
                    <a:tableStyleId>{A91F0D33-8C57-4600-99A7-42BC86742BE1}</a:tableStyleId>
                  </a:tblPr>
                  <a:tblGrid>
                    <a:gridCol w="3934460">
                      <a:extLst>
                        <a:ext uri="{9D8B030D-6E8A-4147-A177-3AD203B41FA5}">
                          <a16:colId xmlns:a16="http://schemas.microsoft.com/office/drawing/2014/main" val="3996941494"/>
                        </a:ext>
                      </a:extLst>
                    </a:gridCol>
                    <a:gridCol w="2866390">
                      <a:extLst>
                        <a:ext uri="{9D8B030D-6E8A-4147-A177-3AD203B41FA5}">
                          <a16:colId xmlns:a16="http://schemas.microsoft.com/office/drawing/2014/main" val="2328916249"/>
                        </a:ext>
                      </a:extLst>
                    </a:gridCol>
                  </a:tblGrid>
                  <a:tr h="365760">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Equation</a:t>
                          </a:r>
                          <a:endParaRPr lang="en-CO" sz="2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400" b="1" dirty="0">
                              <a:effectLst/>
                              <a:latin typeface="Verdana" panose="020B0604030504040204" pitchFamily="34" charset="0"/>
                              <a:ea typeface="Verdana" panose="020B0604030504040204" pitchFamily="34" charset="0"/>
                              <a:cs typeface="Verdana" panose="020B0604030504040204" pitchFamily="34" charset="0"/>
                            </a:rPr>
                            <a:t>Fact or Fiction</a:t>
                          </a:r>
                          <a:endParaRPr lang="en-CO" sz="24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239647529"/>
                      </a:ext>
                    </a:extLst>
                  </a:tr>
                  <a:tr h="79121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55" t="-57692" r="-73065" b="-360769"/>
                          </a:stretch>
                        </a:blipFill>
                      </a:tcPr>
                    </a:tc>
                    <a:tc>
                      <a:txBody>
                        <a:bodyPr/>
                        <a:lstStyle/>
                        <a:p>
                          <a:pPr marL="342900" marR="0" lvl="0" indent="-342900">
                            <a:spcBef>
                              <a:spcPts val="0"/>
                            </a:spcBef>
                            <a:spcAft>
                              <a:spcPts val="0"/>
                            </a:spcAft>
                            <a:buFont typeface="Courier New" panose="02070309020205020404" pitchFamily="49" charset="0"/>
                            <a:buChar char="o"/>
                          </a:pPr>
                          <a:r>
                            <a:rPr lang="en-US" sz="2400">
                              <a:effectLst/>
                              <a:latin typeface="Verdana" panose="020B0604030504040204" pitchFamily="34" charset="0"/>
                              <a:ea typeface="Verdana" panose="020B0604030504040204" pitchFamily="34" charset="0"/>
                              <a:cs typeface="Verdana" panose="020B0604030504040204" pitchFamily="34" charset="0"/>
                            </a:rPr>
                            <a:t>Fact</a:t>
                          </a:r>
                          <a:endParaRPr lang="en-CO" sz="24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400">
                              <a:effectLst/>
                              <a:latin typeface="Verdana" panose="020B0604030504040204" pitchFamily="34" charset="0"/>
                              <a:ea typeface="Verdana" panose="020B0604030504040204" pitchFamily="34" charset="0"/>
                              <a:cs typeface="Verdana" panose="020B0604030504040204" pitchFamily="34" charset="0"/>
                            </a:rPr>
                            <a:t>Fiction</a:t>
                          </a:r>
                          <a:endParaRPr lang="en-CO"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396422"/>
                      </a:ext>
                    </a:extLst>
                  </a:tr>
                  <a:tr h="109728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55" t="-113889" r="-73065" b="-160556"/>
                          </a:stretch>
                        </a:blipFill>
                      </a:tcPr>
                    </a:tc>
                    <a:tc>
                      <a:txBody>
                        <a:bodyPr/>
                        <a:lstStyle/>
                        <a:p>
                          <a:pPr marL="342900" marR="0" lvl="0" indent="-342900">
                            <a:spcBef>
                              <a:spcPts val="0"/>
                            </a:spcBef>
                            <a:spcAft>
                              <a:spcPts val="0"/>
                            </a:spcAft>
                            <a:buFont typeface="Courier New" panose="02070309020205020404" pitchFamily="49" charset="0"/>
                            <a:buChar char="o"/>
                          </a:pPr>
                          <a:r>
                            <a:rPr lang="en-US" sz="2400">
                              <a:effectLst/>
                              <a:latin typeface="Verdana" panose="020B0604030504040204" pitchFamily="34" charset="0"/>
                              <a:ea typeface="Verdana" panose="020B0604030504040204" pitchFamily="34" charset="0"/>
                              <a:cs typeface="Verdana" panose="020B0604030504040204" pitchFamily="34" charset="0"/>
                            </a:rPr>
                            <a:t>Fact</a:t>
                          </a:r>
                          <a:endParaRPr lang="en-CO" sz="24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400">
                              <a:effectLst/>
                              <a:latin typeface="Verdana" panose="020B0604030504040204" pitchFamily="34" charset="0"/>
                              <a:ea typeface="Verdana" panose="020B0604030504040204" pitchFamily="34" charset="0"/>
                              <a:cs typeface="Verdana" panose="020B0604030504040204" pitchFamily="34" charset="0"/>
                            </a:rPr>
                            <a:t>Fiction</a:t>
                          </a:r>
                          <a:endParaRPr lang="en-CO"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4985792"/>
                      </a:ext>
                    </a:extLst>
                  </a:tr>
                  <a:tr h="79121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55" t="-296154" r="-73065" b="-122308"/>
                          </a:stretch>
                        </a:blipFill>
                      </a:tcPr>
                    </a:tc>
                    <a:tc>
                      <a:txBody>
                        <a:bodyPr/>
                        <a:lstStyle/>
                        <a:p>
                          <a:pPr marL="342900" marR="0" lvl="0" indent="-342900">
                            <a:spcBef>
                              <a:spcPts val="0"/>
                            </a:spcBef>
                            <a:spcAft>
                              <a:spcPts val="0"/>
                            </a:spcAft>
                            <a:buFont typeface="Courier New" panose="02070309020205020404" pitchFamily="49" charset="0"/>
                            <a:buChar char="o"/>
                          </a:pPr>
                          <a:r>
                            <a:rPr lang="en-US" sz="2400">
                              <a:effectLst/>
                              <a:latin typeface="Verdana" panose="020B0604030504040204" pitchFamily="34" charset="0"/>
                              <a:ea typeface="Verdana" panose="020B0604030504040204" pitchFamily="34" charset="0"/>
                              <a:cs typeface="Verdana" panose="020B0604030504040204" pitchFamily="34" charset="0"/>
                            </a:rPr>
                            <a:t>Fact</a:t>
                          </a:r>
                          <a:endParaRPr lang="en-CO" sz="240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400">
                              <a:effectLst/>
                              <a:latin typeface="Verdana" panose="020B0604030504040204" pitchFamily="34" charset="0"/>
                              <a:ea typeface="Verdana" panose="020B0604030504040204" pitchFamily="34" charset="0"/>
                              <a:cs typeface="Verdana" panose="020B0604030504040204" pitchFamily="34" charset="0"/>
                            </a:rPr>
                            <a:t>Fiction</a:t>
                          </a:r>
                          <a:endParaRPr lang="en-CO" sz="24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52205179"/>
                      </a:ext>
                    </a:extLst>
                  </a:tr>
                  <a:tr h="79121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55" t="-396154" r="-73065" b="-22308"/>
                          </a:stretch>
                        </a:blipFill>
                      </a:tcPr>
                    </a:tc>
                    <a:tc>
                      <a:txBody>
                        <a:bodyPr/>
                        <a:lstStyle/>
                        <a:p>
                          <a:pPr marL="342900" marR="0" lvl="0" indent="-342900">
                            <a:spcBef>
                              <a:spcPts val="0"/>
                            </a:spcBef>
                            <a:spcAft>
                              <a:spcPts val="0"/>
                            </a:spcAft>
                            <a:buFont typeface="Courier New" panose="02070309020205020404" pitchFamily="49" charset="0"/>
                            <a:buChar char="o"/>
                          </a:pPr>
                          <a:r>
                            <a:rPr lang="en-US" sz="2400" dirty="0">
                              <a:effectLst/>
                              <a:latin typeface="Verdana" panose="020B0604030504040204" pitchFamily="34" charset="0"/>
                              <a:ea typeface="Verdana" panose="020B0604030504040204" pitchFamily="34" charset="0"/>
                              <a:cs typeface="Verdana" panose="020B0604030504040204" pitchFamily="34" charset="0"/>
                            </a:rPr>
                            <a:t>Fact</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p>
                          <a:pPr marL="342900" marR="0" lvl="0" indent="-342900">
                            <a:spcBef>
                              <a:spcPts val="0"/>
                            </a:spcBef>
                            <a:spcAft>
                              <a:spcPts val="0"/>
                            </a:spcAft>
                            <a:buFont typeface="Courier New" panose="02070309020205020404" pitchFamily="49" charset="0"/>
                            <a:buChar char="o"/>
                          </a:pPr>
                          <a:r>
                            <a:rPr lang="en-US" sz="2400" dirty="0">
                              <a:effectLst/>
                              <a:latin typeface="Verdana" panose="020B0604030504040204" pitchFamily="34" charset="0"/>
                              <a:ea typeface="Verdana" panose="020B0604030504040204" pitchFamily="34" charset="0"/>
                              <a:cs typeface="Verdana" panose="020B0604030504040204" pitchFamily="34" charset="0"/>
                            </a:rPr>
                            <a:t>Fiction</a:t>
                          </a:r>
                          <a:endParaRPr lang="en-CO" sz="24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3545184"/>
                      </a:ext>
                    </a:extLst>
                  </a:tr>
                </a:tbl>
              </a:graphicData>
            </a:graphic>
          </p:graphicFrame>
        </mc:Fallback>
      </mc:AlternateContent>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54B5D1"/>
                </a:solidFill>
                <a:latin typeface="Verdana"/>
                <a:ea typeface="Verdana"/>
                <a:cs typeface="Verdana"/>
                <a:sym typeface="Verdana"/>
              </a:rPr>
              <a:t>Refresher</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78</a:t>
            </a:r>
            <a:endParaRPr i="1" dirty="0">
              <a:latin typeface="Calibri"/>
              <a:ea typeface="Calibri"/>
              <a:cs typeface="Calibri"/>
              <a:sym typeface="Calibri"/>
            </a:endParaRPr>
          </a:p>
        </p:txBody>
      </p:sp>
      <p:pic>
        <p:nvPicPr>
          <p:cNvPr id="11266" name="Picture 2" descr="Icon&#10;&#10;Description automatically generated">
            <a:extLst>
              <a:ext uri="{FF2B5EF4-FFF2-40B4-BE49-F238E27FC236}">
                <a16:creationId xmlns:a16="http://schemas.microsoft.com/office/drawing/2014/main" id="{8E68AE2B-31C4-664C-9668-81B7C1673C9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79196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2107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39324"/>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9.8.2 Refresher: Rewriting Expressions Using Properties of Operations</a:t>
            </a:r>
          </a:p>
        </p:txBody>
      </p:sp>
      <p:pic>
        <p:nvPicPr>
          <p:cNvPr id="9" name="Picture 2" descr="Icon&#10;&#10;Description automatically generated">
            <a:extLst>
              <a:ext uri="{FF2B5EF4-FFF2-40B4-BE49-F238E27FC236}">
                <a16:creationId xmlns:a16="http://schemas.microsoft.com/office/drawing/2014/main" id="{522B94A7-8145-AF4C-A130-4689EF537FB7}"/>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C0EEC4E3-DFCF-C94C-B80D-045F3E6BF764}"/>
                  </a:ext>
                </a:extLst>
              </p:cNvPr>
              <p:cNvSpPr/>
              <p:nvPr/>
            </p:nvSpPr>
            <p:spPr>
              <a:xfrm>
                <a:off x="914400" y="1305036"/>
                <a:ext cx="10515600" cy="489364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Fill in the missing blanks for each property. </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buFont typeface="+mj-lt"/>
                  <a:buAutoNum type="alphaL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Using the </a:t>
                </a:r>
                <a:r>
                  <a:rPr lang="en-US" sz="2400" b="1" i="1" dirty="0">
                    <a:latin typeface="Verdana" panose="020B0604030504040204" pitchFamily="34" charset="0"/>
                    <a:ea typeface="Times New Roman" panose="02020603050405020304" pitchFamily="18" charset="0"/>
                    <a:cs typeface="Times New Roman" panose="02020603050405020304" pitchFamily="18" charset="0"/>
                  </a:rPr>
                  <a:t>commutative property of addition</a:t>
                </a: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 + 12</m:t>
                    </m:r>
                  </m:oMath>
                </a14:m>
                <a:r>
                  <a:rPr lang="en-US" sz="2400" dirty="0">
                    <a:latin typeface="+mj-lt"/>
                    <a:ea typeface="Times New Roman" panose="02020603050405020304" pitchFamily="18" charset="0"/>
                    <a:cs typeface="Times New Roman" panose="02020603050405020304" pitchFamily="18" charset="0"/>
                  </a:rPr>
                  <a:t> </a:t>
                </a:r>
                <a:r>
                  <a:rPr lang="en-US" sz="2400" dirty="0">
                    <a:latin typeface="Verdana" panose="020B0604030504040204" pitchFamily="34" charset="0"/>
                    <a:ea typeface="Times New Roman" panose="02020603050405020304" pitchFamily="18" charset="0"/>
                    <a:cs typeface="Times New Roman" panose="02020603050405020304" pitchFamily="18" charset="0"/>
                  </a:rPr>
                  <a:t>can be rewritten as ________________. </a:t>
                </a:r>
              </a:p>
              <a:p>
                <a:pPr marL="914400"/>
                <a:r>
                  <a:rPr lang="en-US" sz="2400" dirty="0">
                    <a:latin typeface="Verdana" panose="020B0604030504040204" pitchFamily="34" charset="0"/>
                    <a:ea typeface="Times New Roman" panose="02020603050405020304" pitchFamily="18" charset="0"/>
                    <a:cs typeface="Times New Roman" panose="02020603050405020304" pitchFamily="18" charset="0"/>
                  </a:rPr>
                  <a:t>Both expressions have a sum of ______________.</a:t>
                </a:r>
              </a:p>
              <a:p>
                <a:r>
                  <a:rPr lang="en-US" sz="2400" dirty="0">
                    <a:latin typeface="Verdana" panose="020B0604030504040204" pitchFamily="34" charset="0"/>
                    <a:ea typeface="Times New Roman" panose="02020603050405020304" pitchFamily="18" charset="0"/>
                    <a:cs typeface="Times New Roman" panose="02020603050405020304" pitchFamily="18" charset="0"/>
                  </a:rPr>
                  <a:t> </a:t>
                </a:r>
              </a:p>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Using the </a:t>
                </a:r>
                <a:r>
                  <a:rPr lang="en-US" sz="2400" b="1" i="1" dirty="0">
                    <a:latin typeface="Verdana" panose="020B0604030504040204" pitchFamily="34" charset="0"/>
                    <a:ea typeface="Times New Roman" panose="02020603050405020304" pitchFamily="18" charset="0"/>
                    <a:cs typeface="Times New Roman" panose="02020603050405020304" pitchFamily="18" charset="0"/>
                  </a:rPr>
                  <a:t>commutative property of addition</a:t>
                </a: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4</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 + 5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can be rewritten as ______________. Both expressions will have the same sum regardless of the value of </a:t>
                </a:r>
                <a14:m>
                  <m:oMath xmlns:m="http://schemas.openxmlformats.org/officeDocument/2006/math">
                    <m:r>
                      <a:rPr lang="es-ES" sz="24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a:t>
                </a:r>
                <a:r>
                  <a:rPr lang="en-CO" sz="2400" dirty="0"/>
                  <a:t> </a:t>
                </a:r>
              </a:p>
              <a:p>
                <a:pPr marL="457200" indent="-457200">
                  <a:buFont typeface="+mj-lt"/>
                  <a:buAutoNum type="alphaLcPeriod" startAt="2"/>
                </a:pPr>
                <a:endParaRPr lang="en-CO" sz="2400" dirty="0"/>
              </a:p>
              <a:p>
                <a:pPr marL="914400" indent="-457200">
                  <a:buFont typeface="+mj-lt"/>
                  <a:buAutoNum type="alphaLcPeriod" startAt="2"/>
                </a:pPr>
                <a:r>
                  <a:rPr lang="en-US" sz="2400" dirty="0">
                    <a:latin typeface="Verdana" panose="020B0604030504040204" pitchFamily="34" charset="0"/>
                    <a:ea typeface="Times New Roman" panose="02020603050405020304" pitchFamily="18" charset="0"/>
                    <a:cs typeface="Times New Roman" panose="02020603050405020304" pitchFamily="18" charset="0"/>
                  </a:rPr>
                  <a:t>Using the </a:t>
                </a:r>
                <a:r>
                  <a:rPr lang="en-US" sz="2400" b="1" i="1" dirty="0">
                    <a:latin typeface="Verdana" panose="020B0604030504040204" pitchFamily="34" charset="0"/>
                    <a:ea typeface="Times New Roman" panose="02020603050405020304" pitchFamily="18" charset="0"/>
                    <a:cs typeface="Times New Roman" panose="02020603050405020304" pitchFamily="18" charset="0"/>
                  </a:rPr>
                  <a:t>commutative property of multiplication</a:t>
                </a: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(4)(−2)</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can be rewritten as _____________. Both expressions have a product of ____________.</a:t>
                </a:r>
              </a:p>
            </p:txBody>
          </p:sp>
        </mc:Choice>
        <mc:Fallback>
          <p:sp>
            <p:nvSpPr>
              <p:cNvPr id="2" name="Rectangle 1">
                <a:extLst>
                  <a:ext uri="{FF2B5EF4-FFF2-40B4-BE49-F238E27FC236}">
                    <a16:creationId xmlns:a16="http://schemas.microsoft.com/office/drawing/2014/main" id="{C0EEC4E3-DFCF-C94C-B80D-045F3E6BF764}"/>
                  </a:ext>
                </a:extLst>
              </p:cNvPr>
              <p:cNvSpPr>
                <a:spLocks noRot="1" noChangeAspect="1" noMove="1" noResize="1" noEditPoints="1" noAdjustHandles="1" noChangeArrowheads="1" noChangeShapeType="1" noTextEdit="1"/>
              </p:cNvSpPr>
              <p:nvPr/>
            </p:nvSpPr>
            <p:spPr>
              <a:xfrm>
                <a:off x="914400" y="1305036"/>
                <a:ext cx="10515600" cy="4893647"/>
              </a:xfrm>
              <a:prstGeom prst="rect">
                <a:avLst/>
              </a:prstGeom>
              <a:blipFill>
                <a:blip r:embed="rId5"/>
                <a:stretch>
                  <a:fillRect l="-870" t="-996" b="-1868"/>
                </a:stretch>
              </a:blipFill>
            </p:spPr>
            <p:txBody>
              <a:bodyPr/>
              <a:lstStyle/>
              <a:p>
                <a:r>
                  <a:rPr lang="en-US">
                    <a:noFill/>
                  </a:rPr>
                  <a:t> </a:t>
                </a:r>
              </a:p>
            </p:txBody>
          </p:sp>
        </mc:Fallback>
      </mc:AlternateContent>
      <p:sp>
        <p:nvSpPr>
          <p:cNvPr id="16" name="Google Shape;282;g104476d1465_1_17">
            <a:extLst>
              <a:ext uri="{FF2B5EF4-FFF2-40B4-BE49-F238E27FC236}">
                <a16:creationId xmlns:a16="http://schemas.microsoft.com/office/drawing/2014/main" id="{4E354D11-4333-5B4D-A7B5-313F4353BB7E}"/>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78</a:t>
            </a:r>
            <a:endParaRPr i="1" dirty="0">
              <a:latin typeface="Calibri"/>
              <a:ea typeface="Calibri"/>
              <a:cs typeface="Calibri"/>
              <a:sym typeface="Calibri"/>
            </a:endParaRPr>
          </a:p>
        </p:txBody>
      </p:sp>
    </p:spTree>
    <p:extLst>
      <p:ext uri="{BB962C8B-B14F-4D97-AF65-F5344CB8AC3E}">
        <p14:creationId xmlns:p14="http://schemas.microsoft.com/office/powerpoint/2010/main" val="1364029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a16="http://schemas.microsoft.com/office/drawing/2014/main" id="{1D80B3B1-A0AC-4E49-8B8A-BB2777B1A70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78</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3EC5D109-F45B-6944-B79D-3B749EDFC949}"/>
                  </a:ext>
                </a:extLst>
              </p:cNvPr>
              <p:cNvSpPr/>
              <p:nvPr/>
            </p:nvSpPr>
            <p:spPr>
              <a:xfrm>
                <a:off x="914399" y="546966"/>
                <a:ext cx="10913423" cy="5262979"/>
              </a:xfrm>
              <a:prstGeom prst="rect">
                <a:avLst/>
              </a:prstGeom>
            </p:spPr>
            <p:txBody>
              <a:bodyPr wrap="square">
                <a:spAutoFit/>
              </a:bodyPr>
              <a:lstStyle/>
              <a:p>
                <a:pPr marL="914400" indent="-457200">
                  <a:buFont typeface="+mj-lt"/>
                  <a:buAutoNum type="alphaL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Using the </a:t>
                </a:r>
                <a:r>
                  <a:rPr lang="en-US" sz="2400" b="1" i="1" dirty="0">
                    <a:latin typeface="Verdana" panose="020B0604030504040204" pitchFamily="34" charset="0"/>
                    <a:ea typeface="Times New Roman" panose="02020603050405020304" pitchFamily="18" charset="0"/>
                    <a:cs typeface="Times New Roman" panose="02020603050405020304" pitchFamily="18" charset="0"/>
                  </a:rPr>
                  <a:t>commutative property of multiplication</a:t>
                </a: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(−3</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𝑦</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)(0.5)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can be rewritten as _______________. Both expressions will have the same product regardless of the value of 𝑦.</a:t>
                </a:r>
              </a:p>
              <a:p>
                <a:pPr marL="914400" indent="-457200">
                  <a:buFont typeface="+mj-lt"/>
                  <a:buAutoNum type="alphaL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Using the </a:t>
                </a:r>
                <a:r>
                  <a:rPr lang="en-US" sz="2400" b="1" i="1" dirty="0">
                    <a:latin typeface="Verdana" panose="020B0604030504040204" pitchFamily="34" charset="0"/>
                    <a:ea typeface="Times New Roman" panose="02020603050405020304" pitchFamily="18" charset="0"/>
                    <a:cs typeface="Times New Roman" panose="02020603050405020304" pitchFamily="18" charset="0"/>
                  </a:rPr>
                  <a:t>associative property of addition</a:t>
                </a: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−5 + (6 + 1)</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can be rewritten as _____________. Both sums are equal to ______________.</a:t>
                </a:r>
              </a:p>
              <a:p>
                <a:pPr marL="914400" indent="-457200">
                  <a:buFont typeface="+mj-lt"/>
                  <a:buAutoNum type="alphaL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4"/>
                </a:pPr>
                <a:endParaRPr lang="en-US" sz="24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startAt="4"/>
                </a:pPr>
                <a:r>
                  <a:rPr lang="en-US" sz="2400" dirty="0">
                    <a:latin typeface="Verdana" panose="020B0604030504040204" pitchFamily="34" charset="0"/>
                    <a:ea typeface="Times New Roman" panose="02020603050405020304" pitchFamily="18" charset="0"/>
                    <a:cs typeface="Times New Roman" panose="02020603050405020304" pitchFamily="18" charset="0"/>
                  </a:rPr>
                  <a:t>Using the </a:t>
                </a:r>
                <a:r>
                  <a:rPr lang="en-US" sz="2400" b="1" i="1" dirty="0">
                    <a:latin typeface="Verdana" panose="020B0604030504040204" pitchFamily="34" charset="0"/>
                    <a:ea typeface="Times New Roman" panose="02020603050405020304" pitchFamily="18" charset="0"/>
                    <a:cs typeface="Times New Roman" panose="02020603050405020304" pitchFamily="18" charset="0"/>
                  </a:rPr>
                  <a:t>associative property of addition</a:t>
                </a:r>
                <a:r>
                  <a:rPr lang="en-US" sz="24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cs typeface="Times New Roman" panose="02020603050405020304" pitchFamily="18" charset="0"/>
                      </a:rPr>
                      <m:t>9</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 + (−2</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𝑥</m:t>
                    </m:r>
                    <m:r>
                      <a:rPr lang="en-US" sz="2400" i="1" dirty="0">
                        <a:latin typeface="Cambria Math" panose="02040503050406030204" pitchFamily="18" charset="0"/>
                        <a:ea typeface="Times New Roman" panose="02020603050405020304" pitchFamily="18" charset="0"/>
                        <a:cs typeface="Times New Roman" panose="02020603050405020304" pitchFamily="18" charset="0"/>
                      </a:rPr>
                      <m:t> + 5)</m:t>
                    </m:r>
                  </m:oMath>
                </a14:m>
                <a:r>
                  <a:rPr lang="en-US" sz="2400" dirty="0">
                    <a:latin typeface="Verdana" panose="020B0604030504040204" pitchFamily="34" charset="0"/>
                    <a:ea typeface="Times New Roman" panose="02020603050405020304" pitchFamily="18" charset="0"/>
                    <a:cs typeface="Times New Roman" panose="02020603050405020304" pitchFamily="18" charset="0"/>
                  </a:rPr>
                  <a:t> can be rewritten as _____________. Both expressions will have the same sum regardless of the value of 𝑥.</a:t>
                </a:r>
              </a:p>
            </p:txBody>
          </p:sp>
        </mc:Choice>
        <mc:Fallback>
          <p:sp>
            <p:nvSpPr>
              <p:cNvPr id="12" name="Rectangle 11">
                <a:extLst>
                  <a:ext uri="{FF2B5EF4-FFF2-40B4-BE49-F238E27FC236}">
                    <a16:creationId xmlns:a16="http://schemas.microsoft.com/office/drawing/2014/main" id="{3EC5D109-F45B-6944-B79D-3B749EDFC949}"/>
                  </a:ext>
                </a:extLst>
              </p:cNvPr>
              <p:cNvSpPr>
                <a:spLocks noRot="1" noChangeAspect="1" noMove="1" noResize="1" noEditPoints="1" noAdjustHandles="1" noChangeArrowheads="1" noChangeShapeType="1" noTextEdit="1"/>
              </p:cNvSpPr>
              <p:nvPr/>
            </p:nvSpPr>
            <p:spPr>
              <a:xfrm>
                <a:off x="914399" y="546966"/>
                <a:ext cx="10913423" cy="5262979"/>
              </a:xfrm>
              <a:prstGeom prst="rect">
                <a:avLst/>
              </a:prstGeom>
              <a:blipFill>
                <a:blip r:embed="rId4"/>
                <a:stretch>
                  <a:fillRect t="-927" r="-782" b="-1738"/>
                </a:stretch>
              </a:blipFill>
            </p:spPr>
            <p:txBody>
              <a:bodyPr/>
              <a:lstStyle/>
              <a:p>
                <a:r>
                  <a:rPr lang="en-US">
                    <a:noFill/>
                  </a:rPr>
                  <a:t> </a:t>
                </a:r>
              </a:p>
            </p:txBody>
          </p:sp>
        </mc:Fallback>
      </mc:AlternateContent>
    </p:spTree>
    <p:extLst>
      <p:ext uri="{BB962C8B-B14F-4D97-AF65-F5344CB8AC3E}">
        <p14:creationId xmlns:p14="http://schemas.microsoft.com/office/powerpoint/2010/main" val="2219150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1F1DA885-A8F2-A948-B14C-68E743E59EFC}"/>
                  </a:ext>
                </a:extLst>
              </p:cNvPr>
              <p:cNvSpPr/>
              <p:nvPr/>
            </p:nvSpPr>
            <p:spPr>
              <a:xfrm>
                <a:off x="914400" y="536925"/>
                <a:ext cx="10515600" cy="5509200"/>
              </a:xfrm>
              <a:prstGeom prst="rect">
                <a:avLst/>
              </a:prstGeom>
            </p:spPr>
            <p:txBody>
              <a:bodyPr wrap="square">
                <a:spAutoFit/>
              </a:bodyPr>
              <a:lstStyle/>
              <a:p>
                <a:pPr marL="914400" indent="-457200">
                  <a:buFont typeface="+mj-lt"/>
                  <a:buAutoNum type="alphaLcPeriod" startAt="7"/>
                </a:pPr>
                <a:r>
                  <a:rPr lang="en-US" sz="2200" dirty="0">
                    <a:latin typeface="Verdana" panose="020B0604030504040204" pitchFamily="34" charset="0"/>
                    <a:ea typeface="Times New Roman" panose="02020603050405020304" pitchFamily="18" charset="0"/>
                  </a:rPr>
                  <a:t>Using the </a:t>
                </a:r>
                <a:r>
                  <a:rPr lang="en-US" sz="2200" b="1" i="1" dirty="0">
                    <a:latin typeface="Verdana" panose="020B0604030504040204" pitchFamily="34" charset="0"/>
                    <a:ea typeface="Times New Roman" panose="02020603050405020304" pitchFamily="18" charset="0"/>
                  </a:rPr>
                  <a:t>associative property of multiplication</a:t>
                </a:r>
                <a:r>
                  <a:rPr lang="en-US" sz="2200" dirty="0">
                    <a:latin typeface="Verdana" panose="020B0604030504040204" pitchFamily="34" charset="0"/>
                    <a:ea typeface="Times New Roman" panose="02020603050405020304" pitchFamily="18" charset="0"/>
                  </a:rPr>
                  <a:t>, </a:t>
                </a:r>
                <a14:m>
                  <m:oMath xmlns:m="http://schemas.openxmlformats.org/officeDocument/2006/math">
                    <m:r>
                      <a:rPr lang="en-US" sz="2200" i="1" dirty="0">
                        <a:latin typeface="Cambria Math" panose="02040503050406030204" pitchFamily="18" charset="0"/>
                        <a:ea typeface="Times New Roman" panose="02020603050405020304" pitchFamily="18" charset="0"/>
                      </a:rPr>
                      <m:t>2 ∙ (7 ∙ 3)</m:t>
                    </m:r>
                  </m:oMath>
                </a14:m>
                <a:r>
                  <a:rPr lang="en-US" sz="2200" dirty="0">
                    <a:latin typeface="Verdana" panose="020B0604030504040204" pitchFamily="34" charset="0"/>
                    <a:ea typeface="Times New Roman" panose="02020603050405020304" pitchFamily="18" charset="0"/>
                  </a:rPr>
                  <a:t> can be rewritten as _____________. Both products are equal to _____________.</a:t>
                </a:r>
              </a:p>
              <a:p>
                <a:pPr marL="914400" lvl="0" indent="-457200"/>
                <a:r>
                  <a:rPr lang="en-US" sz="2200" dirty="0">
                    <a:latin typeface="Verdana" panose="020B0604030504040204" pitchFamily="34" charset="0"/>
                    <a:ea typeface="Times New Roman" panose="02020603050405020304" pitchFamily="18" charset="0"/>
                  </a:rPr>
                  <a:t> </a:t>
                </a:r>
              </a:p>
              <a:p>
                <a:pPr marL="914400" indent="-457200">
                  <a:buFont typeface="+mj-lt"/>
                  <a:buAutoNum type="alphaLcPeriod" startAt="8"/>
                </a:pPr>
                <a:r>
                  <a:rPr lang="en-US" sz="2200" dirty="0">
                    <a:latin typeface="Verdana" panose="020B0604030504040204" pitchFamily="34" charset="0"/>
                    <a:ea typeface="Times New Roman" panose="02020603050405020304" pitchFamily="18" charset="0"/>
                  </a:rPr>
                  <a:t>Using the </a:t>
                </a:r>
                <a:r>
                  <a:rPr lang="en-US" sz="2200" b="1" i="1" dirty="0">
                    <a:latin typeface="Verdana" panose="020B0604030504040204" pitchFamily="34" charset="0"/>
                    <a:ea typeface="Times New Roman" panose="02020603050405020304" pitchFamily="18" charset="0"/>
                  </a:rPr>
                  <a:t>associative property of multiplication</a:t>
                </a:r>
                <a:r>
                  <a:rPr lang="en-US" sz="2200" dirty="0">
                    <a:latin typeface="Verdana" panose="020B0604030504040204" pitchFamily="34" charset="0"/>
                    <a:ea typeface="Times New Roman" panose="02020603050405020304" pitchFamily="18" charset="0"/>
                  </a:rPr>
                  <a:t>, </a:t>
                </a:r>
                <a14:m>
                  <m:oMath xmlns:m="http://schemas.openxmlformats.org/officeDocument/2006/math">
                    <m:r>
                      <a:rPr lang="en-US" sz="2200" i="1" dirty="0">
                        <a:latin typeface="Cambria Math" panose="02040503050406030204" pitchFamily="18" charset="0"/>
                        <a:ea typeface="Times New Roman" panose="02020603050405020304" pitchFamily="18" charset="0"/>
                      </a:rPr>
                      <m:t>(−6)(4</m:t>
                    </m:r>
                    <m:r>
                      <a:rPr lang="en-US" sz="2200" i="1" dirty="0">
                        <a:latin typeface="Cambria Math" panose="02040503050406030204" pitchFamily="18" charset="0"/>
                        <a:ea typeface="Times New Roman" panose="02020603050405020304" pitchFamily="18" charset="0"/>
                      </a:rPr>
                      <m:t>𝑦</m:t>
                    </m:r>
                    <m:r>
                      <a:rPr lang="en-US" sz="2200" i="1" dirty="0">
                        <a:latin typeface="Cambria Math" panose="02040503050406030204" pitchFamily="18" charset="0"/>
                        <a:ea typeface="Times New Roman" panose="02020603050405020304" pitchFamily="18" charset="0"/>
                      </a:rPr>
                      <m:t>)</m:t>
                    </m:r>
                  </m:oMath>
                </a14:m>
                <a:r>
                  <a:rPr lang="en-US" sz="2200" dirty="0">
                    <a:latin typeface="Verdana" panose="020B0604030504040204" pitchFamily="34" charset="0"/>
                    <a:ea typeface="Times New Roman" panose="02020603050405020304" pitchFamily="18" charset="0"/>
                  </a:rPr>
                  <a:t> can be rewritten as _____________. Both expressions will have the same product regardless of the value of 𝑦.</a:t>
                </a:r>
              </a:p>
              <a:p>
                <a:pPr marL="914400" lvl="0" indent="-457200"/>
                <a:r>
                  <a:rPr lang="en-US" sz="2200" dirty="0">
                    <a:latin typeface="Verdana" panose="020B0604030504040204" pitchFamily="34" charset="0"/>
                    <a:ea typeface="Times New Roman" panose="02020603050405020304" pitchFamily="18" charset="0"/>
                  </a:rPr>
                  <a:t> </a:t>
                </a:r>
              </a:p>
              <a:p>
                <a:pPr marL="914400" indent="-457200">
                  <a:buFont typeface="+mj-lt"/>
                  <a:buAutoNum type="alphaLcPeriod" startAt="9"/>
                </a:pPr>
                <a:r>
                  <a:rPr lang="en-US" sz="2200" dirty="0">
                    <a:latin typeface="Verdana" panose="020B0604030504040204" pitchFamily="34" charset="0"/>
                    <a:ea typeface="Times New Roman" panose="02020603050405020304" pitchFamily="18" charset="0"/>
                  </a:rPr>
                  <a:t>Using the </a:t>
                </a:r>
                <a:r>
                  <a:rPr lang="en-US" sz="2200" b="1" i="1" dirty="0">
                    <a:latin typeface="Verdana" panose="020B0604030504040204" pitchFamily="34" charset="0"/>
                    <a:ea typeface="Times New Roman" panose="02020603050405020304" pitchFamily="18" charset="0"/>
                  </a:rPr>
                  <a:t>distributive property of multiplication over addition</a:t>
                </a:r>
                <a:r>
                  <a:rPr lang="en-US" sz="2200" dirty="0">
                    <a:latin typeface="Verdana" panose="020B0604030504040204" pitchFamily="34" charset="0"/>
                    <a:ea typeface="Times New Roman" panose="02020603050405020304" pitchFamily="18" charset="0"/>
                  </a:rPr>
                  <a:t>, </a:t>
                </a:r>
                <a14:m>
                  <m:oMath xmlns:m="http://schemas.openxmlformats.org/officeDocument/2006/math">
                    <m:r>
                      <a:rPr lang="en-US" sz="2200" i="1" dirty="0">
                        <a:latin typeface="Cambria Math" panose="02040503050406030204" pitchFamily="18" charset="0"/>
                        <a:ea typeface="Times New Roman" panose="02020603050405020304" pitchFamily="18" charset="0"/>
                      </a:rPr>
                      <m:t>5(6 + 2)</m:t>
                    </m:r>
                  </m:oMath>
                </a14:m>
                <a:r>
                  <a:rPr lang="en-US" sz="2200" dirty="0">
                    <a:latin typeface="Verdana" panose="020B0604030504040204" pitchFamily="34" charset="0"/>
                    <a:ea typeface="Times New Roman" panose="02020603050405020304" pitchFamily="18" charset="0"/>
                  </a:rPr>
                  <a:t> can be rewritten as _____________. Both expressions have a value of ______________.</a:t>
                </a:r>
              </a:p>
              <a:p>
                <a:pPr marL="914400" lvl="0" indent="-457200"/>
                <a:r>
                  <a:rPr lang="en-US" sz="2200" dirty="0">
                    <a:latin typeface="Verdana" panose="020B0604030504040204" pitchFamily="34" charset="0"/>
                    <a:ea typeface="Times New Roman" panose="02020603050405020304" pitchFamily="18" charset="0"/>
                  </a:rPr>
                  <a:t> </a:t>
                </a:r>
              </a:p>
              <a:p>
                <a:pPr marL="914400" indent="-457200">
                  <a:buFont typeface="+mj-lt"/>
                  <a:buAutoNum type="alphaLcPeriod" startAt="10"/>
                </a:pPr>
                <a:r>
                  <a:rPr lang="en-US" sz="2200" dirty="0">
                    <a:latin typeface="Verdana" panose="020B0604030504040204" pitchFamily="34" charset="0"/>
                    <a:ea typeface="Times New Roman" panose="02020603050405020304" pitchFamily="18" charset="0"/>
                  </a:rPr>
                  <a:t>Using the </a:t>
                </a:r>
                <a:r>
                  <a:rPr lang="en-US" sz="2200" b="1" i="1" dirty="0">
                    <a:latin typeface="Verdana" panose="020B0604030504040204" pitchFamily="34" charset="0"/>
                    <a:ea typeface="Times New Roman" panose="02020603050405020304" pitchFamily="18" charset="0"/>
                  </a:rPr>
                  <a:t>distributive property of multiplication over addition</a:t>
                </a:r>
                <a:r>
                  <a:rPr lang="en-US" sz="2200" dirty="0">
                    <a:latin typeface="Verdana" panose="020B0604030504040204" pitchFamily="34" charset="0"/>
                    <a:ea typeface="Times New Roman" panose="02020603050405020304" pitchFamily="18" charset="0"/>
                  </a:rPr>
                  <a:t>, </a:t>
                </a:r>
                <a14:m>
                  <m:oMath xmlns:m="http://schemas.openxmlformats.org/officeDocument/2006/math">
                    <m:r>
                      <a:rPr lang="en-US" sz="2200" i="1" dirty="0">
                        <a:latin typeface="Cambria Math" panose="02040503050406030204" pitchFamily="18" charset="0"/>
                        <a:ea typeface="Times New Roman" panose="02020603050405020304" pitchFamily="18" charset="0"/>
                      </a:rPr>
                      <m:t>7(3</m:t>
                    </m:r>
                    <m:r>
                      <a:rPr lang="en-US" sz="2200" i="1" dirty="0">
                        <a:latin typeface="Cambria Math" panose="02040503050406030204" pitchFamily="18" charset="0"/>
                        <a:ea typeface="Times New Roman" panose="02020603050405020304" pitchFamily="18" charset="0"/>
                      </a:rPr>
                      <m:t>𝑦</m:t>
                    </m:r>
                    <m:r>
                      <a:rPr lang="en-US" sz="2200" i="1" dirty="0">
                        <a:latin typeface="Cambria Math" panose="02040503050406030204" pitchFamily="18" charset="0"/>
                        <a:ea typeface="Times New Roman" panose="02020603050405020304" pitchFamily="18" charset="0"/>
                      </a:rPr>
                      <m:t> + 8)</m:t>
                    </m:r>
                  </m:oMath>
                </a14:m>
                <a:r>
                  <a:rPr lang="en-US" sz="2200" dirty="0">
                    <a:latin typeface="Verdana" panose="020B0604030504040204" pitchFamily="34" charset="0"/>
                    <a:ea typeface="Times New Roman" panose="02020603050405020304" pitchFamily="18" charset="0"/>
                  </a:rPr>
                  <a:t> can be rewritten as _____________. Both expressions will have the same product regardless of the value of 𝑦.</a:t>
                </a:r>
              </a:p>
            </p:txBody>
          </p:sp>
        </mc:Choice>
        <mc:Fallback>
          <p:sp>
            <p:nvSpPr>
              <p:cNvPr id="2" name="Rectangle 1">
                <a:extLst>
                  <a:ext uri="{FF2B5EF4-FFF2-40B4-BE49-F238E27FC236}">
                    <a16:creationId xmlns:a16="http://schemas.microsoft.com/office/drawing/2014/main" id="{1F1DA885-A8F2-A948-B14C-68E743E59EFC}"/>
                  </a:ext>
                </a:extLst>
              </p:cNvPr>
              <p:cNvSpPr>
                <a:spLocks noRot="1" noChangeAspect="1" noMove="1" noResize="1" noEditPoints="1" noAdjustHandles="1" noChangeArrowheads="1" noChangeShapeType="1" noTextEdit="1"/>
              </p:cNvSpPr>
              <p:nvPr/>
            </p:nvSpPr>
            <p:spPr>
              <a:xfrm>
                <a:off x="914400" y="536925"/>
                <a:ext cx="10515600" cy="5509200"/>
              </a:xfrm>
              <a:prstGeom prst="rect">
                <a:avLst/>
              </a:prstGeom>
              <a:blipFill>
                <a:blip r:embed="rId4"/>
                <a:stretch>
                  <a:fillRect t="-885" r="-58" b="-1327"/>
                </a:stretch>
              </a:blipFill>
            </p:spPr>
            <p:txBody>
              <a:bodyPr/>
              <a:lstStyle/>
              <a:p>
                <a:r>
                  <a:rPr lang="en-US">
                    <a:noFill/>
                  </a:rPr>
                  <a:t> </a:t>
                </a:r>
              </a:p>
            </p:txBody>
          </p:sp>
        </mc:Fallback>
      </mc:AlternateContent>
      <p:sp>
        <p:nvSpPr>
          <p:cNvPr id="13" name="Google Shape;282;g104476d1465_1_17">
            <a:extLst>
              <a:ext uri="{FF2B5EF4-FFF2-40B4-BE49-F238E27FC236}">
                <a16:creationId xmlns:a16="http://schemas.microsoft.com/office/drawing/2014/main" id="{D90C055D-788B-A94F-A883-2B8BCDB7611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78</a:t>
            </a:r>
            <a:endParaRPr i="1" dirty="0">
              <a:latin typeface="Calibri"/>
              <a:ea typeface="Calibri"/>
              <a:cs typeface="Calibri"/>
              <a:sym typeface="Calibri"/>
            </a:endParaRPr>
          </a:p>
        </p:txBody>
      </p:sp>
    </p:spTree>
    <p:extLst>
      <p:ext uri="{BB962C8B-B14F-4D97-AF65-F5344CB8AC3E}">
        <p14:creationId xmlns:p14="http://schemas.microsoft.com/office/powerpoint/2010/main" val="576323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19456"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1F1DA885-A8F2-A948-B14C-68E743E59EFC}"/>
              </a:ext>
            </a:extLst>
          </p:cNvPr>
          <p:cNvSpPr/>
          <p:nvPr/>
        </p:nvSpPr>
        <p:spPr>
          <a:xfrm>
            <a:off x="914400" y="898149"/>
            <a:ext cx="10515600" cy="1631216"/>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rPr>
              <a:t>Discuss with your partner why the associative property and the commutative property do not hold true for subtraction and division. Give an example of each to show mathematically that these properties do not apply to subtraction and division.</a:t>
            </a:r>
          </a:p>
        </p:txBody>
      </p:sp>
      <p:sp>
        <p:nvSpPr>
          <p:cNvPr id="13" name="Google Shape;282;g104476d1465_1_17">
            <a:extLst>
              <a:ext uri="{FF2B5EF4-FFF2-40B4-BE49-F238E27FC236}">
                <a16:creationId xmlns:a16="http://schemas.microsoft.com/office/drawing/2014/main" id="{D90C055D-788B-A94F-A883-2B8BCDB7611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78</a:t>
            </a:r>
            <a:endParaRPr i="1" dirty="0">
              <a:latin typeface="Calibri"/>
              <a:ea typeface="Calibri"/>
              <a:cs typeface="Calibri"/>
              <a:sym typeface="Calibri"/>
            </a:endParaRPr>
          </a:p>
        </p:txBody>
      </p:sp>
    </p:spTree>
    <p:extLst>
      <p:ext uri="{BB962C8B-B14F-4D97-AF65-F5344CB8AC3E}">
        <p14:creationId xmlns:p14="http://schemas.microsoft.com/office/powerpoint/2010/main" val="1985635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1F1DA885-A8F2-A948-B14C-68E743E59EFC}"/>
                  </a:ext>
                </a:extLst>
              </p:cNvPr>
              <p:cNvSpPr/>
              <p:nvPr/>
            </p:nvSpPr>
            <p:spPr>
              <a:xfrm>
                <a:off x="914400" y="862523"/>
                <a:ext cx="10515600" cy="1208472"/>
              </a:xfrm>
              <a:prstGeom prst="rect">
                <a:avLst/>
              </a:prstGeom>
            </p:spPr>
            <p:txBody>
              <a:bodyPr wrap="square">
                <a:spAutoFit/>
              </a:bodyPr>
              <a:lstStyle/>
              <a:p>
                <a:pPr marL="457200" indent="-457200">
                  <a:buFont typeface="+mj-lt"/>
                  <a:buAutoNum type="arabicPeriod" startAt="3"/>
                </a:pPr>
                <a:r>
                  <a:rPr lang="en-US" sz="2400" dirty="0">
                    <a:latin typeface="Verdana" panose="020B0604030504040204" pitchFamily="34" charset="0"/>
                    <a:ea typeface="Times New Roman" panose="02020603050405020304" pitchFamily="18" charset="0"/>
                  </a:rPr>
                  <a:t>Jay gave the example </a:t>
                </a:r>
                <a14:m>
                  <m:oMath xmlns:m="http://schemas.openxmlformats.org/officeDocument/2006/math">
                    <m:r>
                      <a:rPr lang="en-US" sz="2400" i="1" dirty="0">
                        <a:latin typeface="Cambria Math" panose="02040503050406030204" pitchFamily="18" charset="0"/>
                        <a:ea typeface="Times New Roman" panose="02020603050405020304" pitchFamily="18" charset="0"/>
                      </a:rPr>
                      <m:t>6+</m:t>
                    </m:r>
                    <m:sPre>
                      <m:sPrePr>
                        <m:ctrlPr>
                          <a:rPr lang="en-US" sz="2400" i="1" dirty="0">
                            <a:latin typeface="Cambria Math" panose="02040503050406030204" pitchFamily="18" charset="0"/>
                            <a:ea typeface="Times New Roman" panose="02020603050405020304" pitchFamily="18" charset="0"/>
                          </a:rPr>
                        </m:ctrlPr>
                      </m:sPrePr>
                      <m:sub/>
                      <m:sup>
                        <m:r>
                          <a:rPr lang="es-ES" sz="2400" i="1" dirty="0">
                            <a:latin typeface="Cambria Math" panose="02040503050406030204" pitchFamily="18" charset="0"/>
                            <a:ea typeface="Times New Roman" panose="02020603050405020304" pitchFamily="18" charset="0"/>
                          </a:rPr>
                          <m:t>−</m:t>
                        </m:r>
                      </m:sup>
                      <m:e>
                        <m:r>
                          <a:rPr lang="es-ES" sz="2400" i="1" dirty="0">
                            <a:latin typeface="Cambria Math" panose="02040503050406030204" pitchFamily="18" charset="0"/>
                            <a:ea typeface="Times New Roman" panose="02020603050405020304" pitchFamily="18" charset="0"/>
                          </a:rPr>
                          <m:t>11</m:t>
                        </m:r>
                      </m:e>
                    </m:sPre>
                  </m:oMath>
                </a14:m>
                <a:r>
                  <a:rPr lang="en-US" sz="2400" dirty="0">
                    <a:latin typeface="Verdana" panose="020B0604030504040204" pitchFamily="34" charset="0"/>
                    <a:ea typeface="Times New Roman" panose="02020603050405020304" pitchFamily="18" charset="0"/>
                  </a:rPr>
                  <a:t> is equal to</a:t>
                </a:r>
                <a14:m>
                  <m:oMath xmlns:m="http://schemas.openxmlformats.org/officeDocument/2006/math">
                    <m:sPre>
                      <m:sPrePr>
                        <m:ctrlPr>
                          <a:rPr lang="en-US" sz="2400" i="1" dirty="0">
                            <a:latin typeface="Cambria Math" panose="02040503050406030204" pitchFamily="18" charset="0"/>
                            <a:ea typeface="Times New Roman" panose="02020603050405020304" pitchFamily="18" charset="0"/>
                          </a:rPr>
                        </m:ctrlPr>
                      </m:sPrePr>
                      <m:sub/>
                      <m:sup>
                        <m:r>
                          <a:rPr lang="es-ES" sz="2400" i="1" dirty="0">
                            <a:latin typeface="Cambria Math" panose="02040503050406030204" pitchFamily="18" charset="0"/>
                            <a:ea typeface="Times New Roman" panose="02020603050405020304" pitchFamily="18" charset="0"/>
                          </a:rPr>
                          <m:t>−</m:t>
                        </m:r>
                      </m:sup>
                      <m:e>
                        <m:r>
                          <a:rPr lang="es-ES" sz="2400" i="1" dirty="0">
                            <a:latin typeface="Cambria Math" panose="02040503050406030204" pitchFamily="18" charset="0"/>
                            <a:ea typeface="Times New Roman" panose="02020603050405020304" pitchFamily="18" charset="0"/>
                          </a:rPr>
                          <m:t>11</m:t>
                        </m:r>
                      </m:e>
                    </m:sPre>
                    <m:r>
                      <a:rPr lang="en-US" sz="2400" i="1" dirty="0">
                        <a:latin typeface="Cambria Math" panose="02040503050406030204" pitchFamily="18" charset="0"/>
                        <a:ea typeface="Times New Roman" panose="02020603050405020304" pitchFamily="18" charset="0"/>
                      </a:rPr>
                      <m:t>+</m:t>
                    </m:r>
                    <m:r>
                      <a:rPr lang="es-ES" sz="2400" i="1" dirty="0">
                        <a:latin typeface="Cambria Math" panose="02040503050406030204" pitchFamily="18" charset="0"/>
                        <a:ea typeface="Times New Roman" panose="02020603050405020304" pitchFamily="18" charset="0"/>
                      </a:rPr>
                      <m:t>6</m:t>
                    </m:r>
                  </m:oMath>
                </a14:m>
                <a:r>
                  <a:rPr lang="en-US" sz="2400" dirty="0">
                    <a:latin typeface="Verdana" panose="020B0604030504040204" pitchFamily="34" charset="0"/>
                    <a:ea typeface="Times New Roman" panose="02020603050405020304" pitchFamily="18" charset="0"/>
                  </a:rPr>
                  <a:t> to show that subtraction is commutative. Explain to Jay why his example does not show that subtraction is commutative.</a:t>
                </a:r>
              </a:p>
            </p:txBody>
          </p:sp>
        </mc:Choice>
        <mc:Fallback>
          <p:sp>
            <p:nvSpPr>
              <p:cNvPr id="2" name="Rectangle 1">
                <a:extLst>
                  <a:ext uri="{FF2B5EF4-FFF2-40B4-BE49-F238E27FC236}">
                    <a16:creationId xmlns:a16="http://schemas.microsoft.com/office/drawing/2014/main" id="{1F1DA885-A8F2-A948-B14C-68E743E59EFC}"/>
                  </a:ext>
                </a:extLst>
              </p:cNvPr>
              <p:cNvSpPr>
                <a:spLocks noRot="1" noChangeAspect="1" noMove="1" noResize="1" noEditPoints="1" noAdjustHandles="1" noChangeArrowheads="1" noChangeShapeType="1" noTextEdit="1"/>
              </p:cNvSpPr>
              <p:nvPr/>
            </p:nvSpPr>
            <p:spPr>
              <a:xfrm>
                <a:off x="914400" y="862523"/>
                <a:ext cx="10515600" cy="1208472"/>
              </a:xfrm>
              <a:prstGeom prst="rect">
                <a:avLst/>
              </a:prstGeom>
              <a:blipFill>
                <a:blip r:embed="rId4"/>
                <a:stretch>
                  <a:fillRect l="-870" t="-5025" b="-10050"/>
                </a:stretch>
              </a:blipFill>
            </p:spPr>
            <p:txBody>
              <a:bodyPr/>
              <a:lstStyle/>
              <a:p>
                <a:r>
                  <a:rPr lang="en-US">
                    <a:noFill/>
                  </a:rPr>
                  <a:t> </a:t>
                </a:r>
              </a:p>
            </p:txBody>
          </p:sp>
        </mc:Fallback>
      </mc:AlternateContent>
      <p:sp>
        <p:nvSpPr>
          <p:cNvPr id="13" name="Google Shape;282;g104476d1465_1_17">
            <a:extLst>
              <a:ext uri="{FF2B5EF4-FFF2-40B4-BE49-F238E27FC236}">
                <a16:creationId xmlns:a16="http://schemas.microsoft.com/office/drawing/2014/main" id="{D90C055D-788B-A94F-A883-2B8BCDB7611D}"/>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79</a:t>
            </a:r>
            <a:endParaRPr i="1" dirty="0">
              <a:latin typeface="Calibri"/>
              <a:ea typeface="Calibri"/>
              <a:cs typeface="Calibri"/>
              <a:sym typeface="Calibri"/>
            </a:endParaRPr>
          </a:p>
        </p:txBody>
      </p:sp>
    </p:spTree>
    <p:extLst>
      <p:ext uri="{BB962C8B-B14F-4D97-AF65-F5344CB8AC3E}">
        <p14:creationId xmlns:p14="http://schemas.microsoft.com/office/powerpoint/2010/main" val="3046007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3054096"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1FF9CFB8-C79A-5D4D-83F8-43846C68790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79</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76648"/>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9.8.3 Guided Instruction: Equivalent Expressions Using Properties of Operations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F65CEBC6-0C26-3645-AB91-CC52DC9589E3}"/>
                  </a:ext>
                </a:extLst>
              </p:cNvPr>
              <p:cNvSpPr/>
              <p:nvPr/>
            </p:nvSpPr>
            <p:spPr>
              <a:xfrm>
                <a:off x="914400" y="1361497"/>
                <a:ext cx="10515600" cy="4401205"/>
              </a:xfrm>
              <a:prstGeom prst="rect">
                <a:avLst/>
              </a:prstGeom>
            </p:spPr>
            <p:txBody>
              <a:bodyPr wrap="square">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Algebraic expressions are considered equivalent if when evaluating the expression by substituting values in for variables, the resulting values are the same.</a:t>
                </a:r>
              </a:p>
              <a:p>
                <a:r>
                  <a:rPr lang="en-US" sz="2000" dirty="0">
                    <a:latin typeface="Verdana" panose="020B0604030504040204" pitchFamily="34" charset="0"/>
                    <a:ea typeface="Verdana" panose="020B0604030504040204" pitchFamily="34" charset="0"/>
                    <a:cs typeface="Verdana" panose="020B0604030504040204" pitchFamily="34" charset="0"/>
                  </a:rPr>
                  <a:t> </a:t>
                </a:r>
              </a:p>
              <a:p>
                <a:r>
                  <a:rPr lang="en-US" sz="2000" dirty="0">
                    <a:latin typeface="Verdana" panose="020B0604030504040204" pitchFamily="34" charset="0"/>
                    <a:ea typeface="Verdana" panose="020B0604030504040204" pitchFamily="34" charset="0"/>
                    <a:cs typeface="Verdana" panose="020B0604030504040204" pitchFamily="34" charset="0"/>
                  </a:rPr>
                  <a:t>Algebraic expressions are also considered equivalent when one expression is rewritten using one or more of the properties of operations.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Complete each statement.</a:t>
                </a:r>
              </a:p>
              <a:p>
                <a:pPr marL="914400" indent="-457200">
                  <a:lnSpc>
                    <a:spcPct val="250000"/>
                  </a:lnSpc>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property can be used to state that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+2)−3</m:t>
                    </m:r>
                    <m:r>
                      <a:rPr lang="en-US" sz="2000" i="1" dirty="0">
                        <a:latin typeface="Cambria Math" panose="02040503050406030204" pitchFamily="18" charset="0"/>
                        <a:ea typeface="Verdana" panose="020B0604030504040204" pitchFamily="34" charset="0"/>
                        <a:cs typeface="Verdana" panose="020B0604030504040204" pitchFamily="34"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 is equivalent to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+10−3</m:t>
                    </m:r>
                    <m:r>
                      <a:rPr lang="en-US" sz="2000" i="1" dirty="0">
                        <a:latin typeface="Cambria Math" panose="02040503050406030204" pitchFamily="18" charset="0"/>
                        <a:ea typeface="Verdana" panose="020B0604030504040204" pitchFamily="34" charset="0"/>
                        <a:cs typeface="Verdana" panose="020B0604030504040204" pitchFamily="34" charset="0"/>
                      </a:rPr>
                      <m:t>𝑥</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2" name="Rectangle 1">
                <a:extLst>
                  <a:ext uri="{FF2B5EF4-FFF2-40B4-BE49-F238E27FC236}">
                    <a16:creationId xmlns:a16="http://schemas.microsoft.com/office/drawing/2014/main" id="{F65CEBC6-0C26-3645-AB91-CC52DC9589E3}"/>
                  </a:ext>
                </a:extLst>
              </p:cNvPr>
              <p:cNvSpPr>
                <a:spLocks noRot="1" noChangeAspect="1" noMove="1" noResize="1" noEditPoints="1" noAdjustHandles="1" noChangeArrowheads="1" noChangeShapeType="1" noTextEdit="1"/>
              </p:cNvSpPr>
              <p:nvPr/>
            </p:nvSpPr>
            <p:spPr>
              <a:xfrm>
                <a:off x="914400" y="1361497"/>
                <a:ext cx="10515600" cy="4401205"/>
              </a:xfrm>
              <a:prstGeom prst="rect">
                <a:avLst/>
              </a:prstGeom>
              <a:blipFill>
                <a:blip r:embed="rId5"/>
                <a:stretch>
                  <a:fillRect l="-638" t="-693"/>
                </a:stretch>
              </a:blipFill>
            </p:spPr>
            <p:txBody>
              <a:bodyPr/>
              <a:lstStyle/>
              <a:p>
                <a:r>
                  <a:rPr lang="en-US">
                    <a:noFill/>
                  </a:rPr>
                  <a:t> </a:t>
                </a:r>
              </a:p>
            </p:txBody>
          </p:sp>
        </mc:Fallback>
      </mc:AlternateContent>
      <p:sp>
        <p:nvSpPr>
          <p:cNvPr id="18" name="Google Shape;282;g104476d1465_1_17">
            <a:extLst>
              <a:ext uri="{FF2B5EF4-FFF2-40B4-BE49-F238E27FC236}">
                <a16:creationId xmlns:a16="http://schemas.microsoft.com/office/drawing/2014/main" id="{7EB3F1AE-291B-E244-8D87-38A3560E354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79</a:t>
            </a:r>
            <a:endParaRPr i="1" dirty="0">
              <a:latin typeface="Calibri"/>
              <a:ea typeface="Calibri"/>
              <a:cs typeface="Calibri"/>
              <a:sym typeface="Calibri"/>
            </a:endParaRPr>
          </a:p>
        </p:txBody>
      </p:sp>
      <p:pic>
        <p:nvPicPr>
          <p:cNvPr id="4" name="Picture 3" descr="Text&#10;&#10;Description automatically generated with medium confidence">
            <a:extLst>
              <a:ext uri="{FF2B5EF4-FFF2-40B4-BE49-F238E27FC236}">
                <a16:creationId xmlns:a16="http://schemas.microsoft.com/office/drawing/2014/main" id="{1B94C226-71C5-DA44-A067-BF7AA6988A4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2434152" y="3936172"/>
            <a:ext cx="1774209" cy="925033"/>
          </a:xfrm>
          <a:prstGeom prst="rect">
            <a:avLst/>
          </a:prstGeom>
        </p:spPr>
      </p:pic>
    </p:spTree>
    <p:extLst>
      <p:ext uri="{BB962C8B-B14F-4D97-AF65-F5344CB8AC3E}">
        <p14:creationId xmlns:p14="http://schemas.microsoft.com/office/powerpoint/2010/main" val="390245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5" name="Google Shape;282;g104476d1465_1_17">
            <a:extLst>
              <a:ext uri="{FF2B5EF4-FFF2-40B4-BE49-F238E27FC236}">
                <a16:creationId xmlns:a16="http://schemas.microsoft.com/office/drawing/2014/main" id="{AC4FD991-6CC3-DF45-9C50-BB55BF4BD58C}"/>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79</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14" name="Rectangle 13">
                <a:extLst>
                  <a:ext uri="{FF2B5EF4-FFF2-40B4-BE49-F238E27FC236}">
                    <a16:creationId xmlns:a16="http://schemas.microsoft.com/office/drawing/2014/main" id="{02D3422D-4E5D-C34F-8197-7BF9020CDABA}"/>
                  </a:ext>
                </a:extLst>
              </p:cNvPr>
              <p:cNvSpPr/>
              <p:nvPr/>
            </p:nvSpPr>
            <p:spPr>
              <a:xfrm>
                <a:off x="914400" y="337915"/>
                <a:ext cx="10515600" cy="4147930"/>
              </a:xfrm>
              <a:prstGeom prst="rect">
                <a:avLst/>
              </a:prstGeom>
            </p:spPr>
            <p:txBody>
              <a:bodyPr wrap="square">
                <a:spAutoFit/>
              </a:bodyPr>
              <a:lstStyle/>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lnSpc>
                    <a:spcPct val="250000"/>
                  </a:lnSpc>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The                       property can be used to state that </a:t>
                </a:r>
                <a14:m>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2</m:t>
                        </m:r>
                      </m:num>
                      <m:den>
                        <m:r>
                          <a:rPr lang="es-ES" sz="2000" i="1" dirty="0">
                            <a:latin typeface="Cambria Math" panose="02040503050406030204" pitchFamily="18" charset="0"/>
                            <a:ea typeface="Verdana" panose="020B0604030504040204" pitchFamily="34" charset="0"/>
                            <a:cs typeface="Verdana" panose="020B0604030504040204" pitchFamily="34" charset="0"/>
                          </a:rPr>
                          <m:t>3</m:t>
                        </m:r>
                      </m:den>
                    </m:f>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3</m:t>
                        </m:r>
                      </m:num>
                      <m:den>
                        <m:r>
                          <a:rPr lang="es-ES" sz="2000" i="1" dirty="0">
                            <a:latin typeface="Cambria Math" panose="02040503050406030204" pitchFamily="18" charset="0"/>
                            <a:ea typeface="Verdana" panose="020B0604030504040204" pitchFamily="34" charset="0"/>
                            <a:cs typeface="Verdana" panose="020B0604030504040204" pitchFamily="34" charset="0"/>
                          </a:rPr>
                          <m:t>8</m:t>
                        </m:r>
                      </m:den>
                    </m:f>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5</m:t>
                        </m:r>
                      </m:num>
                      <m:den>
                        <m:r>
                          <a:rPr lang="es-ES" sz="2000" i="1" dirty="0">
                            <a:latin typeface="Cambria Math" panose="02040503050406030204" pitchFamily="18" charset="0"/>
                            <a:ea typeface="Verdana" panose="020B0604030504040204" pitchFamily="34" charset="0"/>
                            <a:cs typeface="Verdana" panose="020B0604030504040204" pitchFamily="34" charset="0"/>
                          </a:rPr>
                          <m:t>6</m:t>
                        </m:r>
                      </m:den>
                    </m:f>
                    <m:r>
                      <a:rPr lang="en-US" sz="2000" i="1" dirty="0">
                        <a:latin typeface="Cambria Math" panose="02040503050406030204" pitchFamily="18" charset="0"/>
                        <a:ea typeface="Verdana" panose="020B0604030504040204" pitchFamily="34" charset="0"/>
                        <a:cs typeface="Verdana" panose="020B0604030504040204" pitchFamily="34" charset="0"/>
                      </a:rPr>
                      <m:t> </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is equivalent to </a:t>
                </a:r>
                <a14:m>
                  <m:oMath xmlns:m="http://schemas.openxmlformats.org/officeDocument/2006/math">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2</m:t>
                        </m:r>
                      </m:num>
                      <m:den>
                        <m:r>
                          <a:rPr lang="es-ES" sz="2000" i="1" dirty="0">
                            <a:latin typeface="Cambria Math" panose="02040503050406030204" pitchFamily="18" charset="0"/>
                            <a:ea typeface="Verdana" panose="020B0604030504040204" pitchFamily="34" charset="0"/>
                            <a:cs typeface="Verdana" panose="020B0604030504040204" pitchFamily="34" charset="0"/>
                          </a:rPr>
                          <m:t>3</m:t>
                        </m:r>
                      </m:den>
                    </m:f>
                    <m:r>
                      <a:rPr lang="en-US" sz="2000" i="1" dirty="0">
                        <a:latin typeface="Cambria Math" panose="02040503050406030204" pitchFamily="18" charset="0"/>
                        <a:ea typeface="Verdana" panose="020B0604030504040204" pitchFamily="34" charset="0"/>
                        <a:cs typeface="Verdana" panose="020B0604030504040204" pitchFamily="34" charset="0"/>
                      </a:rPr>
                      <m:t> </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5</m:t>
                        </m:r>
                      </m:num>
                      <m:den>
                        <m:r>
                          <a:rPr lang="es-ES" sz="2000" i="1" dirty="0">
                            <a:latin typeface="Cambria Math" panose="02040503050406030204" pitchFamily="18" charset="0"/>
                            <a:ea typeface="Verdana" panose="020B0604030504040204" pitchFamily="34" charset="0"/>
                            <a:cs typeface="Verdana" panose="020B0604030504040204" pitchFamily="34" charset="0"/>
                          </a:rPr>
                          <m:t>6</m:t>
                        </m:r>
                      </m:den>
                    </m:f>
                    <m:r>
                      <a:rPr lang="en-US" sz="2000" i="1" dirty="0">
                        <a:latin typeface="Cambria Math" panose="02040503050406030204" pitchFamily="18" charset="0"/>
                        <a:ea typeface="Verdana" panose="020B0604030504040204" pitchFamily="34" charset="0"/>
                        <a:cs typeface="Verdana" panose="020B0604030504040204" pitchFamily="34" charset="0"/>
                      </a:rPr>
                      <m:t> </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m:t>
                    </m:r>
                    <m:f>
                      <m:fPr>
                        <m:ctrlPr>
                          <a:rPr lang="en-US" sz="2000" i="1" dirty="0">
                            <a:latin typeface="Cambria Math" panose="02040503050406030204" pitchFamily="18" charset="0"/>
                            <a:ea typeface="Verdana" panose="020B0604030504040204" pitchFamily="34" charset="0"/>
                            <a:cs typeface="Verdana" panose="020B0604030504040204" pitchFamily="34" charset="0"/>
                          </a:rPr>
                        </m:ctrlPr>
                      </m:fPr>
                      <m:num>
                        <m:r>
                          <a:rPr lang="es-ES" sz="2000" i="1" dirty="0">
                            <a:latin typeface="Cambria Math" panose="02040503050406030204" pitchFamily="18" charset="0"/>
                            <a:ea typeface="Verdana" panose="020B0604030504040204" pitchFamily="34" charset="0"/>
                            <a:cs typeface="Verdana" panose="020B0604030504040204" pitchFamily="34" charset="0"/>
                          </a:rPr>
                          <m:t>3</m:t>
                        </m:r>
                      </m:num>
                      <m:den>
                        <m:r>
                          <a:rPr lang="es-ES" sz="2000" i="1" dirty="0">
                            <a:latin typeface="Cambria Math" panose="02040503050406030204" pitchFamily="18" charset="0"/>
                            <a:ea typeface="Verdana" panose="020B0604030504040204" pitchFamily="34" charset="0"/>
                            <a:cs typeface="Verdana" panose="020B0604030504040204" pitchFamily="34" charset="0"/>
                          </a:rPr>
                          <m:t>8</m:t>
                        </m:r>
                      </m:den>
                    </m:f>
                    <m:r>
                      <a:rPr lang="en-US" sz="2000" i="1" dirty="0">
                        <a:latin typeface="Cambria Math" panose="02040503050406030204" pitchFamily="18" charset="0"/>
                        <a:ea typeface="Verdana" panose="020B0604030504040204" pitchFamily="34" charset="0"/>
                        <a:cs typeface="Verdana" panose="020B0604030504040204" pitchFamily="34"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Which properties can be used to show that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−4)+5(3+6</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is equivalent to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2</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+30</m:t>
                    </m:r>
                    <m:r>
                      <a:rPr lang="en-US" sz="2000" i="1" dirty="0">
                        <a:latin typeface="Cambria Math" panose="02040503050406030204" pitchFamily="18" charset="0"/>
                        <a:ea typeface="Verdana" panose="020B0604030504040204" pitchFamily="34" charset="0"/>
                        <a:cs typeface="Verdana" panose="020B0604030504040204" pitchFamily="34" charset="0"/>
                      </a:rPr>
                      <m:t>𝑥</m:t>
                    </m:r>
                    <m:r>
                      <a:rPr lang="en-US" sz="2000" i="1" dirty="0">
                        <a:latin typeface="Cambria Math" panose="02040503050406030204" pitchFamily="18" charset="0"/>
                        <a:ea typeface="Verdana" panose="020B0604030504040204" pitchFamily="34" charset="0"/>
                        <a:cs typeface="Verdana" panose="020B0604030504040204" pitchFamily="34" charset="0"/>
                      </a:rPr>
                      <m:t>−8+15</m:t>
                    </m:r>
                  </m:oMath>
                </a14:m>
                <a:r>
                  <a:rPr lang="en-US" sz="2000" dirty="0">
                    <a:latin typeface="Verdana" panose="020B0604030504040204" pitchFamily="34" charset="0"/>
                    <a:ea typeface="Verdana" panose="020B0604030504040204" pitchFamily="34" charset="0"/>
                    <a:cs typeface="Verdana" panose="020B0604030504040204" pitchFamily="34" charset="0"/>
                  </a:rPr>
                  <a:t>?  </a:t>
                </a:r>
              </a:p>
            </p:txBody>
          </p:sp>
        </mc:Choice>
        <mc:Fallback>
          <p:sp>
            <p:nvSpPr>
              <p:cNvPr id="14" name="Rectangle 13">
                <a:extLst>
                  <a:ext uri="{FF2B5EF4-FFF2-40B4-BE49-F238E27FC236}">
                    <a16:creationId xmlns:a16="http://schemas.microsoft.com/office/drawing/2014/main" id="{02D3422D-4E5D-C34F-8197-7BF9020CDABA}"/>
                  </a:ext>
                </a:extLst>
              </p:cNvPr>
              <p:cNvSpPr>
                <a:spLocks noRot="1" noChangeAspect="1" noMove="1" noResize="1" noEditPoints="1" noAdjustHandles="1" noChangeArrowheads="1" noChangeShapeType="1" noTextEdit="1"/>
              </p:cNvSpPr>
              <p:nvPr/>
            </p:nvSpPr>
            <p:spPr>
              <a:xfrm>
                <a:off x="914400" y="337915"/>
                <a:ext cx="10515600" cy="4147930"/>
              </a:xfrm>
              <a:prstGeom prst="rect">
                <a:avLst/>
              </a:prstGeom>
              <a:blipFill>
                <a:blip r:embed="rId4"/>
                <a:stretch>
                  <a:fillRect l="-638" b="-1615"/>
                </a:stretch>
              </a:blipFill>
            </p:spPr>
            <p:txBody>
              <a:bodyPr/>
              <a:lstStyle/>
              <a:p>
                <a:r>
                  <a:rPr lang="en-US">
                    <a:noFill/>
                  </a:rPr>
                  <a:t> </a:t>
                </a:r>
              </a:p>
            </p:txBody>
          </p:sp>
        </mc:Fallback>
      </mc:AlternateContent>
      <p:pic>
        <p:nvPicPr>
          <p:cNvPr id="16" name="Picture 15" descr="Text&#10;&#10;Description automatically generated with medium confidence">
            <a:extLst>
              <a:ext uri="{FF2B5EF4-FFF2-40B4-BE49-F238E27FC236}">
                <a16:creationId xmlns:a16="http://schemas.microsoft.com/office/drawing/2014/main" id="{691081DE-EFD2-9347-905E-E6BC28D9D21B}"/>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526473" y="1062310"/>
            <a:ext cx="1774209" cy="925033"/>
          </a:xfrm>
          <a:prstGeom prst="rect">
            <a:avLst/>
          </a:prstGeom>
        </p:spPr>
      </p:pic>
    </p:spTree>
    <p:extLst>
      <p:ext uri="{BB962C8B-B14F-4D97-AF65-F5344CB8AC3E}">
        <p14:creationId xmlns:p14="http://schemas.microsoft.com/office/powerpoint/2010/main" val="19790425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3054096"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id="{869A00B0-FE4F-524C-8898-788633040B6E}"/>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13448"/>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3000" y="-5312"/>
            <a:ext cx="105156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9.8.4 Guided Practice: Rewriting Expressions Using Properties of Operations</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56616" y="201168"/>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C8E93443-AE1C-E74A-AE78-CC15B1FA9136}"/>
              </a:ext>
            </a:extLst>
          </p:cNvPr>
          <p:cNvSpPr/>
          <p:nvPr/>
        </p:nvSpPr>
        <p:spPr>
          <a:xfrm>
            <a:off x="914400" y="1320388"/>
            <a:ext cx="10515600" cy="830997"/>
          </a:xfrm>
          <a:prstGeom prst="rect">
            <a:avLst/>
          </a:prstGeom>
        </p:spPr>
        <p:txBody>
          <a:bodyPr wrap="square">
            <a:spAutoFit/>
          </a:bodyPr>
          <a:lstStyle/>
          <a:p>
            <a:pPr marL="463550" indent="-463550">
              <a:buFont typeface="Verdana" panose="020B0604030504040204" pitchFamily="34" charset="0"/>
              <a:buAutoNum type="arabicPeriod"/>
            </a:pPr>
            <a:r>
              <a:rPr lang="en-GB" sz="2400" dirty="0">
                <a:latin typeface="Verdana" panose="020B0604030504040204" pitchFamily="34" charset="0"/>
                <a:ea typeface="Times New Roman" panose="02020603050405020304" pitchFamily="18" charset="0"/>
              </a:rPr>
              <a:t>Write an equivalent expression using a property of operations. State the property used.</a:t>
            </a:r>
          </a:p>
        </p:txBody>
      </p:sp>
      <p:sp>
        <p:nvSpPr>
          <p:cNvPr id="13" name="Google Shape;282;g104476d1465_1_17">
            <a:extLst>
              <a:ext uri="{FF2B5EF4-FFF2-40B4-BE49-F238E27FC236}">
                <a16:creationId xmlns:a16="http://schemas.microsoft.com/office/drawing/2014/main" id="{3AEBAF5A-31A2-944C-A625-977623E161B5}"/>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DA5ACECE-0364-3A4E-9C13-D5A22D1A0036}"/>
                  </a:ext>
                </a:extLst>
              </p:cNvPr>
              <p:cNvGraphicFramePr>
                <a:graphicFrameLocks noGrp="1"/>
              </p:cNvGraphicFramePr>
              <p:nvPr>
                <p:extLst>
                  <p:ext uri="{D42A27DB-BD31-4B8C-83A1-F6EECF244321}">
                    <p14:modId xmlns:p14="http://schemas.microsoft.com/office/powerpoint/2010/main" val="3096127827"/>
                  </p:ext>
                </p:extLst>
              </p:nvPr>
            </p:nvGraphicFramePr>
            <p:xfrm>
              <a:off x="2252738" y="2425852"/>
              <a:ext cx="7800238" cy="3120096"/>
            </p:xfrm>
            <a:graphic>
              <a:graphicData uri="http://schemas.openxmlformats.org/drawingml/2006/table">
                <a:tbl>
                  <a:tblPr firstRow="1" firstCol="1" bandRow="1">
                    <a:tableStyleId>{A91F0D33-8C57-4600-99A7-42BC86742BE1}</a:tableStyleId>
                  </a:tblPr>
                  <a:tblGrid>
                    <a:gridCol w="2647025">
                      <a:extLst>
                        <a:ext uri="{9D8B030D-6E8A-4147-A177-3AD203B41FA5}">
                          <a16:colId xmlns:a16="http://schemas.microsoft.com/office/drawing/2014/main" val="1215042321"/>
                        </a:ext>
                      </a:extLst>
                    </a:gridCol>
                    <a:gridCol w="2772696">
                      <a:extLst>
                        <a:ext uri="{9D8B030D-6E8A-4147-A177-3AD203B41FA5}">
                          <a16:colId xmlns:a16="http://schemas.microsoft.com/office/drawing/2014/main" val="616973191"/>
                        </a:ext>
                      </a:extLst>
                    </a:gridCol>
                    <a:gridCol w="2380517">
                      <a:extLst>
                        <a:ext uri="{9D8B030D-6E8A-4147-A177-3AD203B41FA5}">
                          <a16:colId xmlns:a16="http://schemas.microsoft.com/office/drawing/2014/main" val="4082260585"/>
                        </a:ext>
                      </a:extLst>
                    </a:gridCol>
                  </a:tblGrid>
                  <a:tr h="780024">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Equivalent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Property Used</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031288001"/>
                      </a:ext>
                    </a:extLst>
                  </a:tr>
                  <a:tr h="78002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−6</m:t>
                                </m:r>
                                <m:d>
                                  <m:dPr>
                                    <m:ctrlPr>
                                      <a:rPr lang="en-CO" sz="2000" i="1">
                                        <a:effectLst/>
                                        <a:latin typeface="Cambria Math" panose="02040503050406030204" pitchFamily="18" charset="0"/>
                                      </a:rPr>
                                    </m:ctrlPr>
                                  </m:dPr>
                                  <m:e>
                                    <m:r>
                                      <a:rPr lang="en-US" sz="2000">
                                        <a:effectLst/>
                                        <a:latin typeface="Cambria Math" panose="02040503050406030204" pitchFamily="18" charset="0"/>
                                      </a:rPr>
                                      <m:t>2−3</m:t>
                                    </m:r>
                                    <m:r>
                                      <a:rPr lang="en-US" sz="2000">
                                        <a:effectLst/>
                                        <a:latin typeface="Cambria Math" panose="02040503050406030204" pitchFamily="18" charset="0"/>
                                      </a:rPr>
                                      <m:t>𝑥</m:t>
                                    </m:r>
                                  </m:e>
                                </m:d>
                                <m:r>
                                  <a:rPr lang="en-US" sz="2000">
                                    <a:effectLst/>
                                    <a:latin typeface="Cambria Math" panose="02040503050406030204" pitchFamily="18" charset="0"/>
                                  </a:rPr>
                                  <m:t>+1−</m:t>
                                </m:r>
                                <m:f>
                                  <m:fPr>
                                    <m:ctrlPr>
                                      <a:rPr lang="en-CO" sz="2000" i="1">
                                        <a:effectLst/>
                                        <a:latin typeface="Cambria Math" panose="02040503050406030204" pitchFamily="18" charset="0"/>
                                      </a:rPr>
                                    </m:ctrlPr>
                                  </m:fPr>
                                  <m:num>
                                    <m:r>
                                      <a:rPr lang="en-US" sz="2000">
                                        <a:effectLst/>
                                        <a:latin typeface="Cambria Math" panose="02040503050406030204" pitchFamily="18" charset="0"/>
                                      </a:rPr>
                                      <m:t>𝑥</m:t>
                                    </m:r>
                                  </m:num>
                                  <m:den>
                                    <m:r>
                                      <a:rPr lang="en-US" sz="2000">
                                        <a:effectLst/>
                                        <a:latin typeface="Cambria Math" panose="02040503050406030204" pitchFamily="18" charset="0"/>
                                      </a:rPr>
                                      <m:t>2</m:t>
                                    </m:r>
                                  </m:den>
                                </m:f>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0236802"/>
                      </a:ext>
                    </a:extLst>
                  </a:tr>
                  <a:tr h="78002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12</m:t>
                                </m:r>
                                <m:r>
                                  <a:rPr lang="en-US" sz="2000">
                                    <a:effectLst/>
                                    <a:latin typeface="Cambria Math" panose="02040503050406030204" pitchFamily="18" charset="0"/>
                                  </a:rPr>
                                  <m:t>𝑥</m:t>
                                </m:r>
                                <m:r>
                                  <a:rPr lang="en-US" sz="2000">
                                    <a:effectLst/>
                                    <a:latin typeface="Cambria Math" panose="02040503050406030204" pitchFamily="18" charset="0"/>
                                  </a:rPr>
                                  <m:t>+10+4</m:t>
                                </m:r>
                                <m:r>
                                  <a:rPr lang="en-US" sz="2000">
                                    <a:effectLst/>
                                    <a:latin typeface="Cambria Math" panose="02040503050406030204" pitchFamily="18" charset="0"/>
                                  </a:rPr>
                                  <m:t>𝑥</m:t>
                                </m:r>
                                <m:r>
                                  <a:rPr lang="en-US" sz="2000">
                                    <a:effectLst/>
                                    <a:latin typeface="Cambria Math" panose="02040503050406030204" pitchFamily="18" charset="0"/>
                                  </a:rPr>
                                  <m:t>−17</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5489197"/>
                      </a:ext>
                    </a:extLst>
                  </a:tr>
                  <a:tr h="780024">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m:t>
                                </m:r>
                                <m:r>
                                  <a:rPr lang="en-US" sz="2000">
                                    <a:effectLst/>
                                    <a:latin typeface="Cambria Math" panose="02040503050406030204" pitchFamily="18" charset="0"/>
                                  </a:rPr>
                                  <m:t>𝑥</m:t>
                                </m:r>
                                <m:r>
                                  <a:rPr lang="en-US" sz="2000">
                                    <a:effectLst/>
                                    <a:latin typeface="Cambria Math" panose="02040503050406030204" pitchFamily="18" charset="0"/>
                                  </a:rPr>
                                  <m:t>+</m:t>
                                </m:r>
                                <m:d>
                                  <m:dPr>
                                    <m:ctrlPr>
                                      <a:rPr lang="en-CO" sz="2000" i="1">
                                        <a:effectLst/>
                                        <a:latin typeface="Cambria Math" panose="02040503050406030204" pitchFamily="18" charset="0"/>
                                      </a:rPr>
                                    </m:ctrlPr>
                                  </m:dPr>
                                  <m:e>
                                    <m:r>
                                      <a:rPr lang="en-US" sz="2000">
                                        <a:effectLst/>
                                        <a:latin typeface="Cambria Math" panose="02040503050406030204" pitchFamily="18" charset="0"/>
                                      </a:rPr>
                                      <m:t>3</m:t>
                                    </m:r>
                                    <m:r>
                                      <a:rPr lang="en-US" sz="2000">
                                        <a:effectLst/>
                                        <a:latin typeface="Cambria Math" panose="02040503050406030204" pitchFamily="18" charset="0"/>
                                      </a:rPr>
                                      <m:t>𝑥</m:t>
                                    </m:r>
                                    <m:r>
                                      <a:rPr lang="en-US" sz="2000">
                                        <a:effectLst/>
                                        <a:latin typeface="Cambria Math" panose="02040503050406030204" pitchFamily="18" charset="0"/>
                                      </a:rPr>
                                      <m:t>+9</m:t>
                                    </m:r>
                                  </m:e>
                                </m:d>
                                <m:r>
                                  <a:rPr lang="en-US" sz="2000">
                                    <a:effectLst/>
                                    <a:latin typeface="Cambria Math" panose="02040503050406030204" pitchFamily="18" charset="0"/>
                                  </a:rPr>
                                  <m:t>+2</m:t>
                                </m:r>
                              </m:oMath>
                            </m:oMathPara>
                          </a14:m>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5188349"/>
                      </a:ext>
                    </a:extLst>
                  </a:tr>
                </a:tbl>
              </a:graphicData>
            </a:graphic>
          </p:graphicFrame>
        </mc:Choice>
        <mc:Fallback>
          <p:graphicFrame>
            <p:nvGraphicFramePr>
              <p:cNvPr id="3" name="Table 2">
                <a:extLst>
                  <a:ext uri="{FF2B5EF4-FFF2-40B4-BE49-F238E27FC236}">
                    <a16:creationId xmlns:a16="http://schemas.microsoft.com/office/drawing/2014/main" id="{DA5ACECE-0364-3A4E-9C13-D5A22D1A0036}"/>
                  </a:ext>
                </a:extLst>
              </p:cNvPr>
              <p:cNvGraphicFramePr>
                <a:graphicFrameLocks noGrp="1"/>
              </p:cNvGraphicFramePr>
              <p:nvPr>
                <p:extLst>
                  <p:ext uri="{D42A27DB-BD31-4B8C-83A1-F6EECF244321}">
                    <p14:modId xmlns:p14="http://schemas.microsoft.com/office/powerpoint/2010/main" val="3096127827"/>
                  </p:ext>
                </p:extLst>
              </p:nvPr>
            </p:nvGraphicFramePr>
            <p:xfrm>
              <a:off x="2252738" y="2425852"/>
              <a:ext cx="7800238" cy="3120096"/>
            </p:xfrm>
            <a:graphic>
              <a:graphicData uri="http://schemas.openxmlformats.org/drawingml/2006/table">
                <a:tbl>
                  <a:tblPr firstRow="1" firstCol="1" bandRow="1">
                    <a:tableStyleId>{A91F0D33-8C57-4600-99A7-42BC86742BE1}</a:tableStyleId>
                  </a:tblPr>
                  <a:tblGrid>
                    <a:gridCol w="2647025">
                      <a:extLst>
                        <a:ext uri="{9D8B030D-6E8A-4147-A177-3AD203B41FA5}">
                          <a16:colId xmlns:a16="http://schemas.microsoft.com/office/drawing/2014/main" val="1215042321"/>
                        </a:ext>
                      </a:extLst>
                    </a:gridCol>
                    <a:gridCol w="2772696">
                      <a:extLst>
                        <a:ext uri="{9D8B030D-6E8A-4147-A177-3AD203B41FA5}">
                          <a16:colId xmlns:a16="http://schemas.microsoft.com/office/drawing/2014/main" val="616973191"/>
                        </a:ext>
                      </a:extLst>
                    </a:gridCol>
                    <a:gridCol w="2380517">
                      <a:extLst>
                        <a:ext uri="{9D8B030D-6E8A-4147-A177-3AD203B41FA5}">
                          <a16:colId xmlns:a16="http://schemas.microsoft.com/office/drawing/2014/main" val="4082260585"/>
                        </a:ext>
                      </a:extLst>
                    </a:gridCol>
                  </a:tblGrid>
                  <a:tr h="780024">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Equivalent Expression</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Property Used</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031288001"/>
                      </a:ext>
                    </a:extLst>
                  </a:tr>
                  <a:tr h="780024">
                    <a:tc>
                      <a:txBody>
                        <a:bodyPr/>
                        <a:lstStyle/>
                        <a:p>
                          <a:endParaRPr lang="en-US"/>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30" t="-100000" r="-194943" b="-200000"/>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0236802"/>
                      </a:ext>
                    </a:extLst>
                  </a:tr>
                  <a:tr h="780024">
                    <a:tc>
                      <a:txBody>
                        <a:bodyPr/>
                        <a:lstStyle/>
                        <a:p>
                          <a:endParaRPr lang="en-US"/>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30" t="-201563" r="-194943" b="-101563"/>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5489197"/>
                      </a:ext>
                    </a:extLst>
                  </a:tr>
                  <a:tr h="780024">
                    <a:tc>
                      <a:txBody>
                        <a:bodyPr/>
                        <a:lstStyle/>
                        <a:p>
                          <a:endParaRPr lang="en-US"/>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230" t="-301563" r="-194943" b="-1563"/>
                          </a:stretch>
                        </a:blipFill>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78002" marR="78002"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5188349"/>
                      </a:ext>
                    </a:extLst>
                  </a:tr>
                </a:tbl>
              </a:graphicData>
            </a:graphic>
          </p:graphicFrame>
        </mc:Fallback>
      </mc:AlternateContent>
    </p:spTree>
    <p:extLst>
      <p:ext uri="{BB962C8B-B14F-4D97-AF65-F5344CB8AC3E}">
        <p14:creationId xmlns:p14="http://schemas.microsoft.com/office/powerpoint/2010/main" val="745523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a16="http://schemas.microsoft.com/office/drawing/2014/main" id="{C8E93443-AE1C-E74A-AE78-CC15B1FA9136}"/>
              </a:ext>
            </a:extLst>
          </p:cNvPr>
          <p:cNvSpPr/>
          <p:nvPr/>
        </p:nvSpPr>
        <p:spPr>
          <a:xfrm>
            <a:off x="914400" y="365045"/>
            <a:ext cx="10515600" cy="830997"/>
          </a:xfrm>
          <a:prstGeom prst="rect">
            <a:avLst/>
          </a:prstGeom>
        </p:spPr>
        <p:txBody>
          <a:bodyPr wrap="square">
            <a:spAutoFit/>
          </a:bodyPr>
          <a:lstStyle/>
          <a:p>
            <a:pPr marL="457200" indent="-457200">
              <a:buFont typeface="+mj-lt"/>
              <a:buAutoNum type="arabicPeriod" startAt="2"/>
            </a:pPr>
            <a:r>
              <a:rPr lang="en-GB" sz="2400" dirty="0">
                <a:latin typeface="Verdana" panose="020B0604030504040204" pitchFamily="34" charset="0"/>
                <a:ea typeface="Times New Roman" panose="02020603050405020304" pitchFamily="18" charset="0"/>
              </a:rPr>
              <a:t>Several expressions are given below. Determine which expressions are equivalent using properties of operations.</a:t>
            </a:r>
          </a:p>
        </p:txBody>
      </p:sp>
      <p:sp>
        <p:nvSpPr>
          <p:cNvPr id="13" name="Google Shape;282;g104476d1465_1_17">
            <a:extLst>
              <a:ext uri="{FF2B5EF4-FFF2-40B4-BE49-F238E27FC236}">
                <a16:creationId xmlns:a16="http://schemas.microsoft.com/office/drawing/2014/main" id="{3AEBAF5A-31A2-944C-A625-977623E161B5}"/>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4" name="Table 3">
                <a:extLst>
                  <a:ext uri="{FF2B5EF4-FFF2-40B4-BE49-F238E27FC236}">
                    <a16:creationId xmlns:a16="http://schemas.microsoft.com/office/drawing/2014/main" id="{B39002BB-9692-694B-A220-B187100E90D6}"/>
                  </a:ext>
                </a:extLst>
              </p:cNvPr>
              <p:cNvGraphicFramePr>
                <a:graphicFrameLocks noGrp="1"/>
              </p:cNvGraphicFramePr>
              <p:nvPr>
                <p:extLst>
                  <p:ext uri="{D42A27DB-BD31-4B8C-83A1-F6EECF244321}">
                    <p14:modId xmlns:p14="http://schemas.microsoft.com/office/powerpoint/2010/main" val="4255792968"/>
                  </p:ext>
                </p:extLst>
              </p:nvPr>
            </p:nvGraphicFramePr>
            <p:xfrm>
              <a:off x="2667000" y="1348043"/>
              <a:ext cx="6858000" cy="914400"/>
            </p:xfrm>
            <a:graphic>
              <a:graphicData uri="http://schemas.openxmlformats.org/drawingml/2006/table">
                <a:tbl>
                  <a:tblPr firstRow="1" firstCol="1" bandRow="1">
                    <a:tableStyleId>{A91F0D33-8C57-4600-99A7-42BC86742BE1}</a:tableStyleId>
                  </a:tblPr>
                  <a:tblGrid>
                    <a:gridCol w="2313305">
                      <a:extLst>
                        <a:ext uri="{9D8B030D-6E8A-4147-A177-3AD203B41FA5}">
                          <a16:colId xmlns:a16="http://schemas.microsoft.com/office/drawing/2014/main" val="421391557"/>
                        </a:ext>
                      </a:extLst>
                    </a:gridCol>
                    <a:gridCol w="2313305">
                      <a:extLst>
                        <a:ext uri="{9D8B030D-6E8A-4147-A177-3AD203B41FA5}">
                          <a16:colId xmlns:a16="http://schemas.microsoft.com/office/drawing/2014/main" val="854362436"/>
                        </a:ext>
                      </a:extLst>
                    </a:gridCol>
                    <a:gridCol w="2231390">
                      <a:extLst>
                        <a:ext uri="{9D8B030D-6E8A-4147-A177-3AD203B41FA5}">
                          <a16:colId xmlns:a16="http://schemas.microsoft.com/office/drawing/2014/main" val="2311281752"/>
                        </a:ext>
                      </a:extLst>
                    </a:gridCol>
                  </a:tblGrid>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35</m:t>
                                </m:r>
                                <m:r>
                                  <a:rPr lang="en-US" sz="2000">
                                    <a:effectLst/>
                                    <a:latin typeface="Cambria Math" panose="02040503050406030204" pitchFamily="18" charset="0"/>
                                  </a:rPr>
                                  <m:t>𝑥</m:t>
                                </m:r>
                                <m:r>
                                  <a:rPr lang="en-US" sz="2000">
                                    <a:effectLst/>
                                    <a:latin typeface="Cambria Math" panose="02040503050406030204" pitchFamily="18" charset="0"/>
                                  </a:rPr>
                                  <m:t>+(7</m:t>
                                </m:r>
                                <m:r>
                                  <a:rPr lang="en-US" sz="2000">
                                    <a:effectLst/>
                                    <a:latin typeface="Cambria Math" panose="02040503050406030204" pitchFamily="18" charset="0"/>
                                  </a:rPr>
                                  <m:t>𝑥</m:t>
                                </m:r>
                                <m:r>
                                  <a:rPr lang="en-US" sz="2000">
                                    <a:effectLst/>
                                    <a:latin typeface="Cambria Math" panose="02040503050406030204" pitchFamily="18" charset="0"/>
                                  </a:rPr>
                                  <m:t>+56)</m:t>
                                </m:r>
                              </m:oMath>
                            </m:oMathPara>
                          </a14:m>
                          <a:endParaRPr lang="en-CO"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5(8</m:t>
                                </m:r>
                                <m:r>
                                  <a:rPr lang="en-US" sz="2000">
                                    <a:effectLst/>
                                    <a:latin typeface="Cambria Math" panose="02040503050406030204" pitchFamily="18" charset="0"/>
                                  </a:rPr>
                                  <m:t>𝑥</m:t>
                                </m:r>
                                <m:r>
                                  <a:rPr lang="en-US" sz="2000">
                                    <a:effectLst/>
                                    <a:latin typeface="Cambria Math" panose="02040503050406030204" pitchFamily="18" charset="0"/>
                                  </a:rPr>
                                  <m:t>+7)</m:t>
                                </m:r>
                              </m:oMath>
                            </m:oMathPara>
                          </a14:m>
                          <a:endParaRPr lang="en-CO"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35</m:t>
                                </m:r>
                                <m:r>
                                  <a:rPr lang="en-US" sz="2000">
                                    <a:effectLst/>
                                    <a:latin typeface="Cambria Math" panose="02040503050406030204" pitchFamily="18" charset="0"/>
                                  </a:rPr>
                                  <m:t>𝑥</m:t>
                                </m:r>
                                <m:r>
                                  <a:rPr lang="en-US" sz="2000">
                                    <a:effectLst/>
                                    <a:latin typeface="Cambria Math" panose="02040503050406030204" pitchFamily="18" charset="0"/>
                                  </a:rPr>
                                  <m:t>+56</m:t>
                                </m:r>
                              </m:oMath>
                            </m:oMathPara>
                          </a14:m>
                          <a:endParaRPr lang="en-CO"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9840882"/>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(8</m:t>
                                </m:r>
                                <m:r>
                                  <a:rPr lang="en-US" sz="2000">
                                    <a:effectLst/>
                                    <a:latin typeface="Cambria Math" panose="02040503050406030204" pitchFamily="18" charset="0"/>
                                  </a:rPr>
                                  <m:t>𝑥</m:t>
                                </m:r>
                                <m:r>
                                  <a:rPr lang="en-US" sz="2000">
                                    <a:effectLst/>
                                    <a:latin typeface="Cambria Math" panose="02040503050406030204" pitchFamily="18" charset="0"/>
                                  </a:rPr>
                                  <m:t>+7)∙5</m:t>
                                </m:r>
                              </m:oMath>
                            </m:oMathPara>
                          </a14:m>
                          <a:endParaRPr lang="en-CO"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rPr>
                                  <m:t>7(5</m:t>
                                </m:r>
                                <m:r>
                                  <a:rPr lang="en-US" sz="2000">
                                    <a:effectLst/>
                                    <a:latin typeface="Cambria Math" panose="02040503050406030204" pitchFamily="18" charset="0"/>
                                  </a:rPr>
                                  <m:t>𝑥</m:t>
                                </m:r>
                                <m:r>
                                  <a:rPr lang="en-US" sz="2000">
                                    <a:effectLst/>
                                    <a:latin typeface="Cambria Math" panose="02040503050406030204" pitchFamily="18" charset="0"/>
                                  </a:rPr>
                                  <m:t>+8)</m:t>
                                </m:r>
                              </m:oMath>
                            </m:oMathPara>
                          </a14:m>
                          <a:endParaRPr lang="en-CO" sz="200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d>
                                  <m:dPr>
                                    <m:ctrlPr>
                                      <a:rPr lang="en-CO" sz="2000" i="1">
                                        <a:effectLst/>
                                        <a:latin typeface="Cambria Math" panose="02040503050406030204" pitchFamily="18" charset="0"/>
                                      </a:rPr>
                                    </m:ctrlPr>
                                  </m:dPr>
                                  <m:e>
                                    <m:r>
                                      <a:rPr lang="en-US" sz="2000">
                                        <a:effectLst/>
                                        <a:latin typeface="Cambria Math" panose="02040503050406030204" pitchFamily="18" charset="0"/>
                                      </a:rPr>
                                      <m:t>35</m:t>
                                    </m:r>
                                    <m:r>
                                      <a:rPr lang="en-US" sz="2000">
                                        <a:effectLst/>
                                        <a:latin typeface="Cambria Math" panose="02040503050406030204" pitchFamily="18" charset="0"/>
                                      </a:rPr>
                                      <m:t>𝑥</m:t>
                                    </m:r>
                                    <m:r>
                                      <a:rPr lang="en-US" sz="2000">
                                        <a:effectLst/>
                                        <a:latin typeface="Cambria Math" panose="02040503050406030204" pitchFamily="18" charset="0"/>
                                      </a:rPr>
                                      <m:t>+7</m:t>
                                    </m:r>
                                    <m:r>
                                      <a:rPr lang="en-US" sz="2000">
                                        <a:effectLst/>
                                        <a:latin typeface="Cambria Math" panose="02040503050406030204" pitchFamily="18" charset="0"/>
                                      </a:rPr>
                                      <m:t>𝑥</m:t>
                                    </m:r>
                                  </m:e>
                                </m:d>
                                <m:r>
                                  <a:rPr lang="en-US" sz="2000">
                                    <a:effectLst/>
                                    <a:latin typeface="Cambria Math" panose="02040503050406030204" pitchFamily="18" charset="0"/>
                                  </a:rPr>
                                  <m:t>+56</m:t>
                                </m:r>
                              </m:oMath>
                            </m:oMathPara>
                          </a14:m>
                          <a:endParaRPr lang="en-CO" sz="2000" dirty="0">
                            <a:effectLst/>
                            <a:latin typeface="Times New Roman" panose="02020603050405020304" pitchFamily="18" charset="0"/>
                            <a:ea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4312794"/>
                      </a:ext>
                    </a:extLst>
                  </a:tr>
                </a:tbl>
              </a:graphicData>
            </a:graphic>
          </p:graphicFrame>
        </mc:Choice>
        <mc:Fallback>
          <p:graphicFrame>
            <p:nvGraphicFramePr>
              <p:cNvPr id="4" name="Table 3">
                <a:extLst>
                  <a:ext uri="{FF2B5EF4-FFF2-40B4-BE49-F238E27FC236}">
                    <a16:creationId xmlns:a16="http://schemas.microsoft.com/office/drawing/2014/main" id="{B39002BB-9692-694B-A220-B187100E90D6}"/>
                  </a:ext>
                </a:extLst>
              </p:cNvPr>
              <p:cNvGraphicFramePr>
                <a:graphicFrameLocks noGrp="1"/>
              </p:cNvGraphicFramePr>
              <p:nvPr>
                <p:extLst>
                  <p:ext uri="{D42A27DB-BD31-4B8C-83A1-F6EECF244321}">
                    <p14:modId xmlns:p14="http://schemas.microsoft.com/office/powerpoint/2010/main" val="4255792968"/>
                  </p:ext>
                </p:extLst>
              </p:nvPr>
            </p:nvGraphicFramePr>
            <p:xfrm>
              <a:off x="2667000" y="1348043"/>
              <a:ext cx="6858000" cy="914400"/>
            </p:xfrm>
            <a:graphic>
              <a:graphicData uri="http://schemas.openxmlformats.org/drawingml/2006/table">
                <a:tbl>
                  <a:tblPr firstRow="1" firstCol="1" bandRow="1">
                    <a:tableStyleId>{A91F0D33-8C57-4600-99A7-42BC86742BE1}</a:tableStyleId>
                  </a:tblPr>
                  <a:tblGrid>
                    <a:gridCol w="2313305">
                      <a:extLst>
                        <a:ext uri="{9D8B030D-6E8A-4147-A177-3AD203B41FA5}">
                          <a16:colId xmlns:a16="http://schemas.microsoft.com/office/drawing/2014/main" val="421391557"/>
                        </a:ext>
                      </a:extLst>
                    </a:gridCol>
                    <a:gridCol w="2313305">
                      <a:extLst>
                        <a:ext uri="{9D8B030D-6E8A-4147-A177-3AD203B41FA5}">
                          <a16:colId xmlns:a16="http://schemas.microsoft.com/office/drawing/2014/main" val="854362436"/>
                        </a:ext>
                      </a:extLst>
                    </a:gridCol>
                    <a:gridCol w="2231390">
                      <a:extLst>
                        <a:ext uri="{9D8B030D-6E8A-4147-A177-3AD203B41FA5}">
                          <a16:colId xmlns:a16="http://schemas.microsoft.com/office/drawing/2014/main" val="2311281752"/>
                        </a:ext>
                      </a:extLst>
                    </a:gridCol>
                  </a:tblGrid>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63" t="-1316" r="-196842" b="-106579"/>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263" t="-1316" r="-96842" b="-106579"/>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7923" t="-1316" r="-546" b="-106579"/>
                          </a:stretch>
                        </a:blipFill>
                      </a:tcPr>
                    </a:tc>
                    <a:extLst>
                      <a:ext uri="{0D108BD9-81ED-4DB2-BD59-A6C34878D82A}">
                        <a16:rowId xmlns:a16="http://schemas.microsoft.com/office/drawing/2014/main" val="4279840882"/>
                      </a:ext>
                    </a:extLst>
                  </a:tr>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63" t="-102667" r="-196842" b="-8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00263" t="-102667" r="-96842" b="-8000"/>
                          </a:stretch>
                        </a:blipFill>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07923" t="-102667" r="-546" b="-8000"/>
                          </a:stretch>
                        </a:blipFill>
                      </a:tcPr>
                    </a:tc>
                    <a:extLst>
                      <a:ext uri="{0D108BD9-81ED-4DB2-BD59-A6C34878D82A}">
                        <a16:rowId xmlns:a16="http://schemas.microsoft.com/office/drawing/2014/main" val="2234312794"/>
                      </a:ext>
                    </a:extLst>
                  </a:tr>
                </a:tbl>
              </a:graphicData>
            </a:graphic>
          </p:graphicFrame>
        </mc:Fallback>
      </mc:AlternateContent>
      <p:sp>
        <p:nvSpPr>
          <p:cNvPr id="10" name="Rectangle 9">
            <a:extLst>
              <a:ext uri="{FF2B5EF4-FFF2-40B4-BE49-F238E27FC236}">
                <a16:creationId xmlns:a16="http://schemas.microsoft.com/office/drawing/2014/main" id="{E3E8727E-7AF3-CE45-BCD4-A58C19E585A7}"/>
              </a:ext>
            </a:extLst>
          </p:cNvPr>
          <p:cNvSpPr/>
          <p:nvPr/>
        </p:nvSpPr>
        <p:spPr>
          <a:xfrm>
            <a:off x="914400" y="2494095"/>
            <a:ext cx="10515600" cy="830997"/>
          </a:xfrm>
          <a:prstGeom prst="rect">
            <a:avLst/>
          </a:prstGeom>
        </p:spPr>
        <p:txBody>
          <a:bodyPr wrap="square">
            <a:spAutoFit/>
          </a:bodyPr>
          <a:lstStyle/>
          <a:p>
            <a:pPr marL="463550" lvl="0"/>
            <a:r>
              <a:rPr lang="en-GB" sz="2400" dirty="0">
                <a:latin typeface="Verdana" panose="020B0604030504040204" pitchFamily="34" charset="0"/>
                <a:ea typeface="Times New Roman" panose="02020603050405020304" pitchFamily="18" charset="0"/>
              </a:rPr>
              <a:t>Complete the table by writing the expressions that are equivalent based on the property used.</a:t>
            </a:r>
          </a:p>
        </p:txBody>
      </p:sp>
      <p:graphicFrame>
        <p:nvGraphicFramePr>
          <p:cNvPr id="5" name="Table 4">
            <a:extLst>
              <a:ext uri="{FF2B5EF4-FFF2-40B4-BE49-F238E27FC236}">
                <a16:creationId xmlns:a16="http://schemas.microsoft.com/office/drawing/2014/main" id="{DF213996-2DA9-DE44-8EB9-41DFB30E39B5}"/>
              </a:ext>
            </a:extLst>
          </p:cNvPr>
          <p:cNvGraphicFramePr>
            <a:graphicFrameLocks noGrp="1"/>
          </p:cNvGraphicFramePr>
          <p:nvPr>
            <p:extLst>
              <p:ext uri="{D42A27DB-BD31-4B8C-83A1-F6EECF244321}">
                <p14:modId xmlns:p14="http://schemas.microsoft.com/office/powerpoint/2010/main" val="168390928"/>
              </p:ext>
            </p:extLst>
          </p:nvPr>
        </p:nvGraphicFramePr>
        <p:xfrm>
          <a:off x="2667000" y="3489661"/>
          <a:ext cx="6858000" cy="2680335"/>
        </p:xfrm>
        <a:graphic>
          <a:graphicData uri="http://schemas.openxmlformats.org/drawingml/2006/table">
            <a:tbl>
              <a:tblPr firstRow="1" firstCol="1" bandRow="1">
                <a:tableStyleId>{A91F0D33-8C57-4600-99A7-42BC86742BE1}</a:tableStyleId>
              </a:tblPr>
              <a:tblGrid>
                <a:gridCol w="2332355">
                  <a:extLst>
                    <a:ext uri="{9D8B030D-6E8A-4147-A177-3AD203B41FA5}">
                      <a16:colId xmlns:a16="http://schemas.microsoft.com/office/drawing/2014/main" val="482963475"/>
                    </a:ext>
                  </a:extLst>
                </a:gridCol>
                <a:gridCol w="2443480">
                  <a:extLst>
                    <a:ext uri="{9D8B030D-6E8A-4147-A177-3AD203B41FA5}">
                      <a16:colId xmlns:a16="http://schemas.microsoft.com/office/drawing/2014/main" val="131120582"/>
                    </a:ext>
                  </a:extLst>
                </a:gridCol>
                <a:gridCol w="2082165">
                  <a:extLst>
                    <a:ext uri="{9D8B030D-6E8A-4147-A177-3AD203B41FA5}">
                      <a16:colId xmlns:a16="http://schemas.microsoft.com/office/drawing/2014/main" val="1504066206"/>
                    </a:ext>
                  </a:extLst>
                </a:gridCol>
              </a:tblGrid>
              <a:tr h="622935">
                <a:tc gridSpan="2">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Equivalent Expressions</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hMerge="1">
                  <a:txBody>
                    <a:bodyPr/>
                    <a:lstStyle/>
                    <a:p>
                      <a:endParaRPr lang="en-CO"/>
                    </a:p>
                  </a:txBody>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Property Used</a:t>
                      </a:r>
                      <a:endParaRPr lang="en-CO" sz="2000" b="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2387148356"/>
                  </a:ext>
                </a:extLst>
              </a:tr>
              <a:tr h="685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Associative Property</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1752471"/>
                  </a:ext>
                </a:extLst>
              </a:tr>
              <a:tr h="685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Commutative Property</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8506865"/>
                  </a:ext>
                </a:extLst>
              </a:tr>
              <a:tr h="685800">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a:effectLst/>
                          <a:latin typeface="Verdana" panose="020B0604030504040204" pitchFamily="34" charset="0"/>
                          <a:ea typeface="Verdana" panose="020B0604030504040204" pitchFamily="34" charset="0"/>
                          <a:cs typeface="Verdana" panose="020B0604030504040204" pitchFamily="34" charset="0"/>
                        </a:rPr>
                        <a:t> </a:t>
                      </a:r>
                      <a:endParaRPr lang="en-CO" sz="200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Distributive Property</a:t>
                      </a:r>
                      <a:endParaRPr lang="en-CO" sz="2000"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8341935"/>
                  </a:ext>
                </a:extLst>
              </a:tr>
            </a:tbl>
          </a:graphicData>
        </a:graphic>
      </p:graphicFrame>
    </p:spTree>
    <p:extLst>
      <p:ext uri="{BB962C8B-B14F-4D97-AF65-F5344CB8AC3E}">
        <p14:creationId xmlns:p14="http://schemas.microsoft.com/office/powerpoint/2010/main" val="347593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3054096" y="2898648"/>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id="{4216046E-244F-BB46-961F-4CA5227878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143000" y="193223"/>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E24E5F"/>
                </a:solidFill>
                <a:latin typeface="Verdana"/>
                <a:ea typeface="Verdana"/>
                <a:cs typeface="Verdana"/>
                <a:sym typeface="Verdana"/>
              </a:rPr>
              <a:t>9.8.5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7530A248-17D8-9B4E-B32E-9F5472BCF227}"/>
                  </a:ext>
                </a:extLst>
              </p:cNvPr>
              <p:cNvSpPr/>
              <p:nvPr/>
            </p:nvSpPr>
            <p:spPr>
              <a:xfrm>
                <a:off x="914400" y="1496501"/>
                <a:ext cx="10515600" cy="2093715"/>
              </a:xfrm>
              <a:prstGeom prst="rect">
                <a:avLst/>
              </a:prstGeom>
            </p:spPr>
            <p:txBody>
              <a:bodyPr wrap="square">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Write an equivalent expression using the associative, commutative, or distributive property. State the property used.</a:t>
                </a: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10</m:t>
                    </m:r>
                    <m:r>
                      <a:rPr lang="en-US" sz="2400" i="1" dirty="0">
                        <a:latin typeface="Cambria Math" panose="02040503050406030204" pitchFamily="18" charset="0"/>
                        <a:ea typeface="Verdana" panose="020B0604030504040204" pitchFamily="34" charset="0"/>
                        <a:cs typeface="Verdana" panose="020B0604030504040204" pitchFamily="34" charset="0"/>
                      </a:rPr>
                      <m:t>𝑥</m:t>
                    </m:r>
                    <m:r>
                      <a:rPr lang="en-US" sz="2400" i="1" dirty="0">
                        <a:latin typeface="Cambria Math" panose="02040503050406030204" pitchFamily="18" charset="0"/>
                        <a:ea typeface="Verdana" panose="020B0604030504040204" pitchFamily="34" charset="0"/>
                        <a:cs typeface="Verdana" panose="020B0604030504040204" pitchFamily="34" charset="0"/>
                      </a:rPr>
                      <m:t>+</m:t>
                    </m:r>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2</m:t>
                        </m:r>
                      </m:num>
                      <m:den>
                        <m:r>
                          <a:rPr lang="es-ES" sz="2400" i="1" dirty="0">
                            <a:latin typeface="Cambria Math" panose="02040503050406030204" pitchFamily="18" charset="0"/>
                            <a:ea typeface="Verdana" panose="020B0604030504040204" pitchFamily="34" charset="0"/>
                            <a:cs typeface="Verdana" panose="020B0604030504040204" pitchFamily="34" charset="0"/>
                          </a:rPr>
                          <m:t>5</m:t>
                        </m:r>
                      </m:den>
                    </m:f>
                    <m:r>
                      <a:rPr lang="en-US" sz="2400" i="1" dirty="0">
                        <a:latin typeface="Cambria Math" panose="02040503050406030204" pitchFamily="18" charset="0"/>
                        <a:ea typeface="Verdana" panose="020B0604030504040204" pitchFamily="34" charset="0"/>
                        <a:cs typeface="Verdana" panose="020B0604030504040204" pitchFamily="34" charset="0"/>
                      </a:rPr>
                      <m:t>(−30+15</m:t>
                    </m:r>
                    <m:r>
                      <a:rPr lang="en-US" sz="2400" i="1" dirty="0">
                        <a:latin typeface="Cambria Math" panose="02040503050406030204" pitchFamily="18" charset="0"/>
                        <a:ea typeface="Verdana" panose="020B0604030504040204" pitchFamily="34" charset="0"/>
                        <a:cs typeface="Verdana" panose="020B0604030504040204" pitchFamily="34" charset="0"/>
                      </a:rPr>
                      <m:t>𝑥</m:t>
                    </m:r>
                    <m:r>
                      <a:rPr lang="en-US" sz="2400" i="1" dirty="0">
                        <a:latin typeface="Cambria Math" panose="02040503050406030204" pitchFamily="18" charset="0"/>
                        <a:ea typeface="Verdana" panose="020B0604030504040204" pitchFamily="34" charset="0"/>
                        <a:cs typeface="Verdana" panose="020B0604030504040204" pitchFamily="34" charset="0"/>
                      </a:rPr>
                      <m:t>)</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2" name="Rectangle 1">
                <a:extLst>
                  <a:ext uri="{FF2B5EF4-FFF2-40B4-BE49-F238E27FC236}">
                    <a16:creationId xmlns:a16="http://schemas.microsoft.com/office/drawing/2014/main" id="{7530A248-17D8-9B4E-B32E-9F5472BCF227}"/>
                  </a:ext>
                </a:extLst>
              </p:cNvPr>
              <p:cNvSpPr>
                <a:spLocks noRot="1" noChangeAspect="1" noMove="1" noResize="1" noEditPoints="1" noAdjustHandles="1" noChangeArrowheads="1" noChangeShapeType="1" noTextEdit="1"/>
              </p:cNvSpPr>
              <p:nvPr/>
            </p:nvSpPr>
            <p:spPr>
              <a:xfrm>
                <a:off x="914400" y="1496501"/>
                <a:ext cx="10515600" cy="2093715"/>
              </a:xfrm>
              <a:prstGeom prst="rect">
                <a:avLst/>
              </a:prstGeom>
              <a:blipFill>
                <a:blip r:embed="rId5"/>
                <a:stretch>
                  <a:fillRect l="-870" t="-2326" b="-1163"/>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607F36F8-CEE9-7842-83C9-E33CB2EB688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7530A248-17D8-9B4E-B32E-9F5472BCF227}"/>
                  </a:ext>
                </a:extLst>
              </p:cNvPr>
              <p:cNvSpPr/>
              <p:nvPr/>
            </p:nvSpPr>
            <p:spPr>
              <a:xfrm>
                <a:off x="914400" y="486566"/>
                <a:ext cx="10515600" cy="3230372"/>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(18</m:t>
                    </m:r>
                    <m:r>
                      <a:rPr lang="en-US" sz="2400" i="1" dirty="0">
                        <a:latin typeface="Cambria Math" panose="02040503050406030204" pitchFamily="18" charset="0"/>
                        <a:ea typeface="Verdana" panose="020B0604030504040204" pitchFamily="34" charset="0"/>
                        <a:cs typeface="Verdana" panose="020B0604030504040204" pitchFamily="34" charset="0"/>
                      </a:rPr>
                      <m:t>𝑥</m:t>
                    </m:r>
                    <m:r>
                      <a:rPr lang="en-US" sz="2400" i="1" dirty="0">
                        <a:latin typeface="Cambria Math" panose="02040503050406030204" pitchFamily="18" charset="0"/>
                        <a:ea typeface="Verdana" panose="020B0604030504040204" pitchFamily="34" charset="0"/>
                        <a:cs typeface="Verdana" panose="020B0604030504040204" pitchFamily="34" charset="0"/>
                      </a:rPr>
                      <m:t>+15)+4</m:t>
                    </m:r>
                    <m:r>
                      <a:rPr lang="en-US" sz="2400" i="1" dirty="0">
                        <a:latin typeface="Cambria Math" panose="02040503050406030204" pitchFamily="18" charset="0"/>
                        <a:ea typeface="Verdana" panose="020B0604030504040204" pitchFamily="34" charset="0"/>
                        <a:cs typeface="Verdana" panose="020B0604030504040204" pitchFamily="34" charset="0"/>
                      </a:rPr>
                      <m:t>𝑥</m:t>
                    </m:r>
                    <m:r>
                      <a:rPr lang="en-US" sz="2400" i="1" dirty="0">
                        <a:latin typeface="Cambria Math" panose="02040503050406030204" pitchFamily="18" charset="0"/>
                        <a:ea typeface="Verdana" panose="020B0604030504040204" pitchFamily="34" charset="0"/>
                        <a:cs typeface="Verdana" panose="020B0604030504040204" pitchFamily="34" charset="0"/>
                      </a:rPr>
                      <m:t>−17</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endParaRPr lang="en-US" sz="2400" dirty="0">
                  <a:latin typeface="Verdana" panose="020B0604030504040204" pitchFamily="34" charset="0"/>
                  <a:ea typeface="Verdana" panose="020B0604030504040204" pitchFamily="34" charset="0"/>
                  <a:cs typeface="Verdana" panose="020B0604030504040204" pitchFamily="34" charset="0"/>
                </a:endParaRP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d>
                      <m:dPr>
                        <m:ctrlPr>
                          <a:rPr lang="en-US" sz="2400" i="1" dirty="0">
                            <a:latin typeface="Cambria Math" panose="02040503050406030204" pitchFamily="18" charset="0"/>
                            <a:ea typeface="Verdana" panose="020B0604030504040204" pitchFamily="34" charset="0"/>
                            <a:cs typeface="Verdana" panose="020B0604030504040204" pitchFamily="34" charset="0"/>
                          </a:rPr>
                        </m:ctrlPr>
                      </m:dPr>
                      <m:e>
                        <m:r>
                          <a:rPr lang="es-ES" sz="2400" i="1" dirty="0">
                            <a:latin typeface="Cambria Math" panose="02040503050406030204" pitchFamily="18" charset="0"/>
                            <a:ea typeface="Verdana" panose="020B0604030504040204" pitchFamily="34" charset="0"/>
                            <a:cs typeface="Verdana" panose="020B0604030504040204" pitchFamily="34" charset="0"/>
                          </a:rPr>
                          <m:t>−</m:t>
                        </m:r>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1</m:t>
                            </m:r>
                          </m:num>
                          <m:den>
                            <m:r>
                              <a:rPr lang="es-ES" sz="2400" i="1" dirty="0">
                                <a:latin typeface="Cambria Math" panose="02040503050406030204" pitchFamily="18" charset="0"/>
                                <a:ea typeface="Verdana" panose="020B0604030504040204" pitchFamily="34" charset="0"/>
                                <a:cs typeface="Verdana" panose="020B0604030504040204" pitchFamily="34" charset="0"/>
                              </a:rPr>
                              <m:t>5</m:t>
                            </m:r>
                          </m:den>
                        </m:f>
                        <m:r>
                          <a:rPr lang="en-US" sz="2400" i="1" dirty="0">
                            <a:latin typeface="Cambria Math" panose="02040503050406030204" pitchFamily="18" charset="0"/>
                            <a:ea typeface="Verdana" panose="020B0604030504040204" pitchFamily="34" charset="0"/>
                            <a:cs typeface="Verdana" panose="020B0604030504040204" pitchFamily="34" charset="0"/>
                          </a:rPr>
                          <m:t>𝑥</m:t>
                        </m:r>
                        <m:r>
                          <a:rPr lang="en-US" sz="2400" i="1" dirty="0">
                            <a:latin typeface="Cambria Math" panose="02040503050406030204" pitchFamily="18" charset="0"/>
                            <a:ea typeface="Verdana" panose="020B0604030504040204" pitchFamily="34" charset="0"/>
                            <a:cs typeface="Verdana" panose="020B0604030504040204" pitchFamily="34" charset="0"/>
                          </a:rPr>
                          <m:t> + 6</m:t>
                        </m:r>
                      </m:e>
                    </m:d>
                    <m:r>
                      <a:rPr lang="en-US" sz="2400" i="1" dirty="0">
                        <a:latin typeface="Cambria Math" panose="02040503050406030204" pitchFamily="18" charset="0"/>
                        <a:ea typeface="Verdana" panose="020B0604030504040204" pitchFamily="34" charset="0"/>
                        <a:cs typeface="Verdana" panose="020B0604030504040204" pitchFamily="34" charset="0"/>
                      </a:rPr>
                      <m:t>∙ 5</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2" name="Rectangle 1">
                <a:extLst>
                  <a:ext uri="{FF2B5EF4-FFF2-40B4-BE49-F238E27FC236}">
                    <a16:creationId xmlns:a16="http://schemas.microsoft.com/office/drawing/2014/main" id="{7530A248-17D8-9B4E-B32E-9F5472BCF227}"/>
                  </a:ext>
                </a:extLst>
              </p:cNvPr>
              <p:cNvSpPr>
                <a:spLocks noRot="1" noChangeAspect="1" noMove="1" noResize="1" noEditPoints="1" noAdjustHandles="1" noChangeArrowheads="1" noChangeShapeType="1" noTextEdit="1"/>
              </p:cNvSpPr>
              <p:nvPr/>
            </p:nvSpPr>
            <p:spPr>
              <a:xfrm>
                <a:off x="914400" y="486566"/>
                <a:ext cx="10515600" cy="3230372"/>
              </a:xfrm>
              <a:prstGeom prst="rect">
                <a:avLst/>
              </a:prstGeom>
              <a:blipFill>
                <a:blip r:embed="rId4"/>
                <a:stretch>
                  <a:fillRect l="-870" t="-1698" b="-189"/>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607F36F8-CEE9-7842-83C9-E33CB2EB688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80</a:t>
            </a:r>
            <a:endParaRPr i="1" dirty="0">
              <a:latin typeface="Calibri"/>
              <a:ea typeface="Calibri"/>
              <a:cs typeface="Calibri"/>
              <a:sym typeface="Calibri"/>
            </a:endParaRPr>
          </a:p>
        </p:txBody>
      </p:sp>
    </p:spTree>
    <p:extLst>
      <p:ext uri="{BB962C8B-B14F-4D97-AF65-F5344CB8AC3E}">
        <p14:creationId xmlns:p14="http://schemas.microsoft.com/office/powerpoint/2010/main" val="17281211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7530A248-17D8-9B4E-B32E-9F5472BCF227}"/>
                  </a:ext>
                </a:extLst>
              </p:cNvPr>
              <p:cNvSpPr/>
              <p:nvPr/>
            </p:nvSpPr>
            <p:spPr>
              <a:xfrm>
                <a:off x="914400" y="486567"/>
                <a:ext cx="10515600" cy="3021148"/>
              </a:xfrm>
              <a:prstGeom prst="rect">
                <a:avLst/>
              </a:prstGeom>
            </p:spPr>
            <p:txBody>
              <a:bodyPr wrap="square">
                <a:spAutoFit/>
              </a:bodyPr>
              <a:lstStyle/>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 </m:t>
                    </m:r>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5</m:t>
                        </m:r>
                      </m:num>
                      <m:den>
                        <m:r>
                          <a:rPr lang="es-ES" sz="2400" i="1" dirty="0">
                            <a:latin typeface="Cambria Math" panose="02040503050406030204" pitchFamily="18" charset="0"/>
                            <a:ea typeface="Verdana" panose="020B0604030504040204" pitchFamily="34" charset="0"/>
                            <a:cs typeface="Verdana" panose="020B0604030504040204" pitchFamily="34" charset="0"/>
                          </a:rPr>
                          <m:t>4</m:t>
                        </m:r>
                      </m:den>
                    </m:f>
                    <m:r>
                      <a:rPr lang="en-US" sz="2400" i="1" dirty="0">
                        <a:latin typeface="Cambria Math" panose="02040503050406030204" pitchFamily="18" charset="0"/>
                        <a:ea typeface="Verdana" panose="020B0604030504040204" pitchFamily="34" charset="0"/>
                        <a:cs typeface="Verdana" panose="020B0604030504040204" pitchFamily="34" charset="0"/>
                      </a:rPr>
                      <m:t>𝑛</m:t>
                    </m:r>
                    <m:r>
                      <a:rPr lang="en-US" sz="2400" i="1" dirty="0">
                        <a:latin typeface="Cambria Math" panose="02040503050406030204" pitchFamily="18" charset="0"/>
                        <a:ea typeface="Verdana" panose="020B0604030504040204" pitchFamily="34" charset="0"/>
                        <a:cs typeface="Verdana" panose="020B0604030504040204" pitchFamily="34" charset="0"/>
                      </a:rPr>
                      <m:t>+</m:t>
                    </m:r>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7</m:t>
                        </m:r>
                      </m:num>
                      <m:den>
                        <m:r>
                          <a:rPr lang="es-ES" sz="2400" i="1" dirty="0">
                            <a:latin typeface="Cambria Math" panose="02040503050406030204" pitchFamily="18" charset="0"/>
                            <a:ea typeface="Verdana" panose="020B0604030504040204" pitchFamily="34" charset="0"/>
                            <a:cs typeface="Verdana" panose="020B0604030504040204" pitchFamily="34" charset="0"/>
                          </a:rPr>
                          <m:t>3</m:t>
                        </m:r>
                      </m:den>
                    </m:f>
                    <m:r>
                      <a:rPr lang="en-US" sz="2400" i="1" dirty="0">
                        <a:latin typeface="Cambria Math" panose="02040503050406030204" pitchFamily="18" charset="0"/>
                        <a:ea typeface="Verdana" panose="020B0604030504040204" pitchFamily="34" charset="0"/>
                        <a:cs typeface="Verdana" panose="020B0604030504040204" pitchFamily="34" charset="0"/>
                      </a:rPr>
                      <m:t>−</m:t>
                    </m:r>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11</m:t>
                        </m:r>
                      </m:num>
                      <m:den>
                        <m:r>
                          <a:rPr lang="es-ES" sz="2400" i="1" dirty="0">
                            <a:latin typeface="Cambria Math" panose="02040503050406030204" pitchFamily="18" charset="0"/>
                            <a:ea typeface="Verdana" panose="020B0604030504040204" pitchFamily="34" charset="0"/>
                            <a:cs typeface="Verdana" panose="020B0604030504040204" pitchFamily="34" charset="0"/>
                          </a:rPr>
                          <m:t>2</m:t>
                        </m:r>
                      </m:den>
                    </m:f>
                    <m:r>
                      <a:rPr lang="en-US" sz="2400" i="1" dirty="0">
                        <a:latin typeface="Cambria Math" panose="02040503050406030204" pitchFamily="18" charset="0"/>
                        <a:ea typeface="Verdana" panose="020B0604030504040204" pitchFamily="34" charset="0"/>
                        <a:cs typeface="Verdana" panose="020B0604030504040204" pitchFamily="34" charset="0"/>
                      </a:rPr>
                      <m:t> </m:t>
                    </m:r>
                    <m:r>
                      <a:rPr lang="en-US" sz="2400" i="1" dirty="0">
                        <a:latin typeface="Cambria Math" panose="02040503050406030204" pitchFamily="18" charset="0"/>
                        <a:ea typeface="Verdana" panose="020B0604030504040204" pitchFamily="34" charset="0"/>
                        <a:cs typeface="Verdana" panose="020B0604030504040204" pitchFamily="34" charset="0"/>
                      </a:rPr>
                      <m:t>𝑛</m:t>
                    </m:r>
                    <m:r>
                      <a:rPr lang="en-US" sz="2400" i="1" dirty="0">
                        <a:latin typeface="Cambria Math" panose="02040503050406030204" pitchFamily="18" charset="0"/>
                        <a:ea typeface="Verdana" panose="020B0604030504040204" pitchFamily="34" charset="0"/>
                        <a:cs typeface="Verdana" panose="020B0604030504040204" pitchFamily="34" charset="0"/>
                      </a:rPr>
                      <m:t>−12 </m:t>
                    </m:r>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1</m:t>
                        </m:r>
                      </m:num>
                      <m:den>
                        <m:r>
                          <a:rPr lang="es-ES" sz="2400" i="1" dirty="0">
                            <a:latin typeface="Cambria Math" panose="02040503050406030204" pitchFamily="18" charset="0"/>
                            <a:ea typeface="Verdana" panose="020B0604030504040204" pitchFamily="34" charset="0"/>
                            <a:cs typeface="Verdana" panose="020B0604030504040204" pitchFamily="34" charset="0"/>
                          </a:rPr>
                          <m:t>3</m:t>
                        </m:r>
                      </m:den>
                    </m:f>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r>
                  <a:rPr lang="en-US" sz="24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−3</m:t>
                    </m:r>
                    <m:d>
                      <m:dPr>
                        <m:ctrlPr>
                          <a:rPr lang="en-US" sz="2400" i="1" dirty="0">
                            <a:latin typeface="Cambria Math" panose="02040503050406030204" pitchFamily="18" charset="0"/>
                            <a:ea typeface="Verdana" panose="020B0604030504040204" pitchFamily="34" charset="0"/>
                            <a:cs typeface="Verdana" panose="020B0604030504040204" pitchFamily="34" charset="0"/>
                          </a:rPr>
                        </m:ctrlPr>
                      </m:dPr>
                      <m:e>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1</m:t>
                            </m:r>
                          </m:num>
                          <m:den>
                            <m:r>
                              <a:rPr lang="es-ES" sz="2400" i="1" dirty="0">
                                <a:latin typeface="Cambria Math" panose="02040503050406030204" pitchFamily="18" charset="0"/>
                                <a:ea typeface="Verdana" panose="020B0604030504040204" pitchFamily="34" charset="0"/>
                                <a:cs typeface="Verdana" panose="020B0604030504040204" pitchFamily="34" charset="0"/>
                              </a:rPr>
                              <m:t>2</m:t>
                            </m:r>
                          </m:den>
                        </m:f>
                        <m:r>
                          <a:rPr lang="en-US" sz="2400" i="1" dirty="0">
                            <a:latin typeface="Cambria Math" panose="02040503050406030204" pitchFamily="18" charset="0"/>
                            <a:ea typeface="Verdana" panose="020B0604030504040204" pitchFamily="34" charset="0"/>
                            <a:cs typeface="Verdana" panose="020B0604030504040204" pitchFamily="34" charset="0"/>
                          </a:rPr>
                          <m:t>𝑥</m:t>
                        </m:r>
                        <m:r>
                          <a:rPr lang="en-US" sz="2400" i="1" dirty="0">
                            <a:latin typeface="Cambria Math" panose="02040503050406030204" pitchFamily="18" charset="0"/>
                            <a:ea typeface="Verdana" panose="020B0604030504040204" pitchFamily="34" charset="0"/>
                            <a:cs typeface="Verdana" panose="020B0604030504040204" pitchFamily="34" charset="0"/>
                          </a:rPr>
                          <m:t> + 4</m:t>
                        </m:r>
                      </m:e>
                    </m:d>
                    <m:r>
                      <a:rPr lang="en-US" sz="2400" i="1" dirty="0">
                        <a:latin typeface="Cambria Math" panose="02040503050406030204" pitchFamily="18" charset="0"/>
                        <a:ea typeface="Verdana" panose="020B0604030504040204" pitchFamily="34" charset="0"/>
                        <a:cs typeface="Verdana" panose="020B0604030504040204" pitchFamily="34" charset="0"/>
                      </a:rPr>
                      <m:t>  −  </m:t>
                    </m:r>
                    <m:f>
                      <m:fPr>
                        <m:ctrlPr>
                          <a:rPr lang="en-US" sz="2400" i="1" dirty="0">
                            <a:latin typeface="Cambria Math" panose="02040503050406030204" pitchFamily="18" charset="0"/>
                            <a:ea typeface="Verdana" panose="020B0604030504040204" pitchFamily="34" charset="0"/>
                            <a:cs typeface="Verdana" panose="020B0604030504040204" pitchFamily="34" charset="0"/>
                          </a:rPr>
                        </m:ctrlPr>
                      </m:fPr>
                      <m:num>
                        <m:r>
                          <a:rPr lang="es-ES" sz="2400" i="1" dirty="0">
                            <a:latin typeface="Cambria Math" panose="02040503050406030204" pitchFamily="18" charset="0"/>
                            <a:ea typeface="Verdana" panose="020B0604030504040204" pitchFamily="34" charset="0"/>
                            <a:cs typeface="Verdana" panose="020B0604030504040204" pitchFamily="34" charset="0"/>
                          </a:rPr>
                          <m:t>3</m:t>
                        </m:r>
                      </m:num>
                      <m:den>
                        <m:r>
                          <a:rPr lang="es-ES" sz="2400" i="1" dirty="0">
                            <a:latin typeface="Cambria Math" panose="02040503050406030204" pitchFamily="18" charset="0"/>
                            <a:ea typeface="Verdana" panose="020B0604030504040204" pitchFamily="34" charset="0"/>
                            <a:cs typeface="Verdana" panose="020B0604030504040204" pitchFamily="34" charset="0"/>
                          </a:rPr>
                          <m:t>5</m:t>
                        </m:r>
                      </m:den>
                    </m:f>
                    <m:r>
                      <a:rPr lang="en-US" sz="2400" i="1" dirty="0">
                        <a:latin typeface="Cambria Math" panose="02040503050406030204" pitchFamily="18" charset="0"/>
                        <a:ea typeface="Verdana" panose="020B0604030504040204" pitchFamily="34" charset="0"/>
                        <a:cs typeface="Verdana" panose="020B0604030504040204" pitchFamily="34" charset="0"/>
                      </a:rPr>
                      <m:t> (−1 + 10</m:t>
                    </m:r>
                    <m:r>
                      <a:rPr lang="en-US" sz="2400" i="1" dirty="0">
                        <a:latin typeface="Cambria Math" panose="02040503050406030204" pitchFamily="18" charset="0"/>
                        <a:ea typeface="Verdana" panose="020B0604030504040204" pitchFamily="34" charset="0"/>
                        <a:cs typeface="Verdana" panose="020B0604030504040204" pitchFamily="34" charset="0"/>
                      </a:rPr>
                      <m:t>𝑥</m:t>
                    </m:r>
                    <m:r>
                      <a:rPr lang="en-US" sz="2400" i="1" dirty="0">
                        <a:latin typeface="Cambria Math" panose="02040503050406030204" pitchFamily="18" charset="0"/>
                        <a:ea typeface="Verdana" panose="020B0604030504040204" pitchFamily="34" charset="0"/>
                        <a:cs typeface="Verdana" panose="020B0604030504040204" pitchFamily="34" charset="0"/>
                      </a:rPr>
                      <m:t>)</m:t>
                    </m:r>
                  </m:oMath>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2" name="Rectangle 1">
                <a:extLst>
                  <a:ext uri="{FF2B5EF4-FFF2-40B4-BE49-F238E27FC236}">
                    <a16:creationId xmlns:a16="http://schemas.microsoft.com/office/drawing/2014/main" id="{7530A248-17D8-9B4E-B32E-9F5472BCF227}"/>
                  </a:ext>
                </a:extLst>
              </p:cNvPr>
              <p:cNvSpPr>
                <a:spLocks noRot="1" noChangeAspect="1" noMove="1" noResize="1" noEditPoints="1" noAdjustHandles="1" noChangeArrowheads="1" noChangeShapeType="1" noTextEdit="1"/>
              </p:cNvSpPr>
              <p:nvPr/>
            </p:nvSpPr>
            <p:spPr>
              <a:xfrm>
                <a:off x="914400" y="486567"/>
                <a:ext cx="10515600" cy="3021148"/>
              </a:xfrm>
              <a:prstGeom prst="rect">
                <a:avLst/>
              </a:prstGeom>
              <a:blipFill>
                <a:blip r:embed="rId4"/>
                <a:stretch>
                  <a:fillRect l="-870" b="-404"/>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607F36F8-CEE9-7842-83C9-E33CB2EB688A}"/>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81</a:t>
            </a:r>
            <a:endParaRPr i="1" dirty="0">
              <a:latin typeface="Calibri"/>
              <a:ea typeface="Calibri"/>
              <a:cs typeface="Calibri"/>
              <a:sym typeface="Calibri"/>
            </a:endParaRPr>
          </a:p>
        </p:txBody>
      </p:sp>
    </p:spTree>
    <p:extLst>
      <p:ext uri="{BB962C8B-B14F-4D97-AF65-F5344CB8AC3E}">
        <p14:creationId xmlns:p14="http://schemas.microsoft.com/office/powerpoint/2010/main" val="40309271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087368"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3054096" y="2935224"/>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EFCC6CD7-3972-624A-AEF1-A2489A48675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81</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42999" y="-82571"/>
            <a:ext cx="904602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9.8.6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D9F7A919-8B1E-2741-BB78-98A66295B9F8}"/>
                  </a:ext>
                </a:extLst>
              </p:cNvPr>
              <p:cNvSpPr/>
              <p:nvPr/>
            </p:nvSpPr>
            <p:spPr>
              <a:xfrm>
                <a:off x="914400" y="1243129"/>
                <a:ext cx="10515600" cy="2094291"/>
              </a:xfrm>
              <a:prstGeom prst="rect">
                <a:avLst/>
              </a:prstGeom>
            </p:spPr>
            <p:txBody>
              <a:bodyPr wrap="square">
                <a:spAutoFit/>
              </a:bodyPr>
              <a:lstStyle/>
              <a:p>
                <a:pPr lvl="0"/>
                <a:r>
                  <a:rPr lang="en-US" sz="2400" dirty="0">
                    <a:latin typeface="Verdana" panose="020B0604030504040204" pitchFamily="34" charset="0"/>
                    <a:ea typeface="Times New Roman" panose="02020603050405020304" pitchFamily="18" charset="0"/>
                  </a:rPr>
                  <a:t>Use properties of operations to determine if the expressions are equivalent. </a:t>
                </a:r>
              </a:p>
              <a:p>
                <a:pPr lvl="0"/>
                <a:endParaRPr lang="en-US" sz="2400" dirty="0">
                  <a:latin typeface="Verdana" panose="020B0604030504040204" pitchFamily="34" charset="0"/>
                  <a:ea typeface="Times New Roman" panose="02020603050405020304" pitchFamily="18" charset="0"/>
                </a:endParaRPr>
              </a:p>
              <a:p>
                <a:pPr lvl="0"/>
                <a:endParaRPr lang="en-US" sz="2400" dirty="0">
                  <a:latin typeface="Verdana" panose="020B0604030504040204" pitchFamily="34" charset="0"/>
                  <a:ea typeface="Times New Roman" panose="02020603050405020304" pitchFamily="18" charset="0"/>
                </a:endParaRPr>
              </a:p>
              <a:p>
                <a:pPr marL="342900" indent="-342900">
                  <a:buFont typeface="+mj-lt"/>
                  <a:buAutoNum type="arabicPeriod"/>
                </a:pPr>
                <a:r>
                  <a:rPr lang="en-US" sz="2400" dirty="0">
                    <a:latin typeface="Verdana" panose="020B0604030504040204" pitchFamily="34" charset="0"/>
                    <a:ea typeface="Times New Roman" panose="02020603050405020304" pitchFamily="18" charset="0"/>
                  </a:rPr>
                  <a:t> </a:t>
                </a:r>
                <a14:m>
                  <m:oMath xmlns:m="http://schemas.openxmlformats.org/officeDocument/2006/math">
                    <m:f>
                      <m:fPr>
                        <m:ctrlPr>
                          <a:rPr lang="en-US" sz="2400" i="1" dirty="0">
                            <a:latin typeface="Cambria Math" panose="02040503050406030204" pitchFamily="18" charset="0"/>
                          </a:rPr>
                        </m:ctrlPr>
                      </m:fPr>
                      <m:num>
                        <m:r>
                          <a:rPr lang="es-ES" sz="2400" i="1" dirty="0">
                            <a:latin typeface="Cambria Math" panose="02040503050406030204" pitchFamily="18" charset="0"/>
                          </a:rPr>
                          <m:t>4</m:t>
                        </m:r>
                      </m:num>
                      <m:den>
                        <m:r>
                          <a:rPr lang="es-ES" sz="2400" i="1" dirty="0">
                            <a:latin typeface="Cambria Math" panose="02040503050406030204" pitchFamily="18" charset="0"/>
                          </a:rPr>
                          <m:t>5</m:t>
                        </m:r>
                      </m:den>
                    </m:f>
                    <m:r>
                      <a:rPr lang="en-US" sz="2400" i="1" dirty="0">
                        <a:latin typeface="Cambria Math" panose="02040503050406030204" pitchFamily="18" charset="0"/>
                        <a:ea typeface="Times New Roman" panose="02020603050405020304" pitchFamily="18" charset="0"/>
                      </a:rPr>
                      <m:t>(</m:t>
                    </m:r>
                    <m:r>
                      <a:rPr lang="en-US" sz="2400" i="1" dirty="0">
                        <a:latin typeface="Cambria Math" panose="02040503050406030204" pitchFamily="18" charset="0"/>
                        <a:ea typeface="Times New Roman" panose="02020603050405020304" pitchFamily="18" charset="0"/>
                      </a:rPr>
                      <m:t>𝑥</m:t>
                    </m:r>
                    <m:r>
                      <a:rPr lang="en-US" sz="2400" i="1" dirty="0">
                        <a:latin typeface="Cambria Math" panose="02040503050406030204" pitchFamily="18" charset="0"/>
                        <a:ea typeface="Times New Roman" panose="02020603050405020304" pitchFamily="18" charset="0"/>
                      </a:rPr>
                      <m:t>−1)−</m:t>
                    </m:r>
                    <m:f>
                      <m:fPr>
                        <m:ctrlPr>
                          <a:rPr lang="en-US" sz="2400" i="1" dirty="0">
                            <a:latin typeface="Cambria Math" panose="02040503050406030204" pitchFamily="18" charset="0"/>
                          </a:rPr>
                        </m:ctrlPr>
                      </m:fPr>
                      <m:num>
                        <m:r>
                          <a:rPr lang="es-ES" sz="2400" i="1" dirty="0">
                            <a:latin typeface="Cambria Math" panose="02040503050406030204" pitchFamily="18" charset="0"/>
                          </a:rPr>
                          <m:t>1</m:t>
                        </m:r>
                      </m:num>
                      <m:den>
                        <m:r>
                          <a:rPr lang="es-ES" sz="2400" i="1" dirty="0">
                            <a:latin typeface="Cambria Math" panose="02040503050406030204" pitchFamily="18" charset="0"/>
                          </a:rPr>
                          <m:t>8</m:t>
                        </m:r>
                      </m:den>
                    </m:f>
                    <m:r>
                      <a:rPr lang="en-US" sz="2400" i="1" dirty="0">
                        <a:latin typeface="Cambria Math" panose="02040503050406030204" pitchFamily="18" charset="0"/>
                        <a:ea typeface="Times New Roman" panose="02020603050405020304" pitchFamily="18" charset="0"/>
                      </a:rPr>
                      <m:t>(2</m:t>
                    </m:r>
                    <m:r>
                      <a:rPr lang="en-US" sz="2400" i="1" dirty="0">
                        <a:latin typeface="Cambria Math" panose="02040503050406030204" pitchFamily="18" charset="0"/>
                        <a:ea typeface="Times New Roman" panose="02020603050405020304" pitchFamily="18" charset="0"/>
                      </a:rPr>
                      <m:t>𝑥</m:t>
                    </m:r>
                    <m:r>
                      <a:rPr lang="en-US" sz="2400" i="1" dirty="0">
                        <a:latin typeface="Cambria Math" panose="02040503050406030204" pitchFamily="18" charset="0"/>
                        <a:ea typeface="Times New Roman" panose="02020603050405020304" pitchFamily="18" charset="0"/>
                      </a:rPr>
                      <m:t>+1)</m:t>
                    </m:r>
                  </m:oMath>
                </a14:m>
                <a:r>
                  <a:rPr lang="en-US" sz="2400" dirty="0">
                    <a:latin typeface="Verdana" panose="020B0604030504040204" pitchFamily="34" charset="0"/>
                    <a:ea typeface="Times New Roman" panose="02020603050405020304" pitchFamily="18" charset="0"/>
                  </a:rPr>
                  <a:t>  and  </a:t>
                </a:r>
                <a14:m>
                  <m:oMath xmlns:m="http://schemas.openxmlformats.org/officeDocument/2006/math">
                    <m:f>
                      <m:fPr>
                        <m:ctrlPr>
                          <a:rPr lang="en-US" sz="2400" i="1" dirty="0">
                            <a:latin typeface="Cambria Math" panose="02040503050406030204" pitchFamily="18" charset="0"/>
                          </a:rPr>
                        </m:ctrlPr>
                      </m:fPr>
                      <m:num>
                        <m:r>
                          <a:rPr lang="es-ES" sz="2400" i="1" dirty="0">
                            <a:latin typeface="Cambria Math" panose="02040503050406030204" pitchFamily="18" charset="0"/>
                          </a:rPr>
                          <m:t>11</m:t>
                        </m:r>
                      </m:num>
                      <m:den>
                        <m:r>
                          <a:rPr lang="es-ES" sz="2400" i="1" dirty="0">
                            <a:latin typeface="Cambria Math" panose="02040503050406030204" pitchFamily="18" charset="0"/>
                          </a:rPr>
                          <m:t>20</m:t>
                        </m:r>
                      </m:den>
                    </m:f>
                    <m:r>
                      <a:rPr lang="en-US" sz="2400" i="1" dirty="0">
                        <a:latin typeface="Cambria Math" panose="02040503050406030204" pitchFamily="18" charset="0"/>
                        <a:ea typeface="Times New Roman" panose="02020603050405020304" pitchFamily="18" charset="0"/>
                      </a:rPr>
                      <m:t>𝑥</m:t>
                    </m:r>
                    <m:r>
                      <a:rPr lang="en-US" sz="2400" i="1" dirty="0">
                        <a:latin typeface="Cambria Math" panose="02040503050406030204" pitchFamily="18" charset="0"/>
                        <a:ea typeface="Times New Roman" panose="02020603050405020304" pitchFamily="18" charset="0"/>
                      </a:rPr>
                      <m:t>−</m:t>
                    </m:r>
                    <m:f>
                      <m:fPr>
                        <m:ctrlPr>
                          <a:rPr lang="en-US" sz="2400" i="1" dirty="0">
                            <a:latin typeface="Cambria Math" panose="02040503050406030204" pitchFamily="18" charset="0"/>
                          </a:rPr>
                        </m:ctrlPr>
                      </m:fPr>
                      <m:num>
                        <m:r>
                          <a:rPr lang="es-ES" sz="2400" i="1" dirty="0">
                            <a:latin typeface="Cambria Math" panose="02040503050406030204" pitchFamily="18" charset="0"/>
                          </a:rPr>
                          <m:t>37</m:t>
                        </m:r>
                      </m:num>
                      <m:den>
                        <m:r>
                          <a:rPr lang="es-ES" sz="2400" i="1" dirty="0">
                            <a:latin typeface="Cambria Math" panose="02040503050406030204" pitchFamily="18" charset="0"/>
                          </a:rPr>
                          <m:t>40</m:t>
                        </m:r>
                      </m:den>
                    </m:f>
                  </m:oMath>
                </a14:m>
                <a:endParaRPr lang="en-US" sz="2400" dirty="0">
                  <a:latin typeface="Verdana" panose="020B0604030504040204" pitchFamily="34" charset="0"/>
                  <a:ea typeface="Times New Roman" panose="02020603050405020304" pitchFamily="18" charset="0"/>
                </a:endParaRPr>
              </a:p>
            </p:txBody>
          </p:sp>
        </mc:Choice>
        <mc:Fallback>
          <p:sp>
            <p:nvSpPr>
              <p:cNvPr id="2" name="Rectangle 1">
                <a:extLst>
                  <a:ext uri="{FF2B5EF4-FFF2-40B4-BE49-F238E27FC236}">
                    <a16:creationId xmlns:a16="http://schemas.microsoft.com/office/drawing/2014/main" id="{D9F7A919-8B1E-2741-BB78-98A66295B9F8}"/>
                  </a:ext>
                </a:extLst>
              </p:cNvPr>
              <p:cNvSpPr>
                <a:spLocks noRot="1" noChangeAspect="1" noMove="1" noResize="1" noEditPoints="1" noAdjustHandles="1" noChangeArrowheads="1" noChangeShapeType="1" noTextEdit="1"/>
              </p:cNvSpPr>
              <p:nvPr/>
            </p:nvSpPr>
            <p:spPr>
              <a:xfrm>
                <a:off x="914400" y="1243129"/>
                <a:ext cx="10515600" cy="2094291"/>
              </a:xfrm>
              <a:prstGeom prst="rect">
                <a:avLst/>
              </a:prstGeom>
              <a:blipFill>
                <a:blip r:embed="rId5"/>
                <a:stretch>
                  <a:fillRect l="-870" t="-2332" b="-1458"/>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F719A187-0842-F343-A6A1-7FD23B0B73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81</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mc:Choice xmlns:a14="http://schemas.microsoft.com/office/drawing/2010/main" Requires="a14">
          <p:sp>
            <p:nvSpPr>
              <p:cNvPr id="2" name="Rectangle 1">
                <a:extLst>
                  <a:ext uri="{FF2B5EF4-FFF2-40B4-BE49-F238E27FC236}">
                    <a16:creationId xmlns:a16="http://schemas.microsoft.com/office/drawing/2014/main" id="{D9F7A919-8B1E-2741-BB78-98A66295B9F8}"/>
                  </a:ext>
                </a:extLst>
              </p:cNvPr>
              <p:cNvSpPr/>
              <p:nvPr/>
            </p:nvSpPr>
            <p:spPr>
              <a:xfrm>
                <a:off x="914400" y="956526"/>
                <a:ext cx="10515600" cy="616964"/>
              </a:xfrm>
              <a:prstGeom prst="rect">
                <a:avLst/>
              </a:prstGeom>
            </p:spPr>
            <p:txBody>
              <a:bodyPr wrap="square">
                <a:spAutoFit/>
              </a:bodyPr>
              <a:lstStyle/>
              <a:p>
                <a:pPr marL="457200" indent="-457200">
                  <a:buFont typeface="+mj-lt"/>
                  <a:buAutoNum type="arabicPeriod" startAt="2"/>
                </a:pPr>
                <a:r>
                  <a:rPr lang="en-US" sz="2400" dirty="0">
                    <a:latin typeface="Verdana" panose="020B0604030504040204" pitchFamily="34" charset="0"/>
                    <a:ea typeface="Times New Roman" panose="02020603050405020304" pitchFamily="18" charset="0"/>
                  </a:rPr>
                  <a:t> </a:t>
                </a:r>
                <a14:m>
                  <m:oMath xmlns:m="http://schemas.openxmlformats.org/officeDocument/2006/math">
                    <m:r>
                      <a:rPr lang="en-US" sz="2400" i="1" dirty="0">
                        <a:latin typeface="Cambria Math" panose="02040503050406030204" pitchFamily="18" charset="0"/>
                        <a:ea typeface="Times New Roman" panose="02020603050405020304" pitchFamily="18" charset="0"/>
                      </a:rPr>
                      <m:t>1</m:t>
                    </m:r>
                    <m:f>
                      <m:fPr>
                        <m:ctrlPr>
                          <a:rPr lang="en-US" sz="2400" i="1" dirty="0">
                            <a:latin typeface="Cambria Math" panose="02040503050406030204" pitchFamily="18" charset="0"/>
                          </a:rPr>
                        </m:ctrlPr>
                      </m:fPr>
                      <m:num>
                        <m:r>
                          <a:rPr lang="es-ES" sz="2400" i="1" dirty="0">
                            <a:latin typeface="Cambria Math" panose="02040503050406030204" pitchFamily="18" charset="0"/>
                          </a:rPr>
                          <m:t>3</m:t>
                        </m:r>
                      </m:num>
                      <m:den>
                        <m:r>
                          <a:rPr lang="es-ES" sz="2400" i="1" dirty="0">
                            <a:latin typeface="Cambria Math" panose="02040503050406030204" pitchFamily="18" charset="0"/>
                          </a:rPr>
                          <m:t>10</m:t>
                        </m:r>
                      </m:den>
                    </m:f>
                    <m:r>
                      <a:rPr lang="en-US" sz="2400" i="1" dirty="0">
                        <a:latin typeface="Cambria Math" panose="02040503050406030204" pitchFamily="18" charset="0"/>
                        <a:ea typeface="Times New Roman" panose="02020603050405020304" pitchFamily="18" charset="0"/>
                      </a:rPr>
                      <m:t>𝑥</m:t>
                    </m:r>
                    <m:r>
                      <a:rPr lang="en-US" sz="2400" i="1" dirty="0">
                        <a:latin typeface="Cambria Math" panose="02040503050406030204" pitchFamily="18" charset="0"/>
                        <a:ea typeface="Times New Roman" panose="02020603050405020304" pitchFamily="18" charset="0"/>
                      </a:rPr>
                      <m:t>+ </m:t>
                    </m:r>
                    <m:f>
                      <m:fPr>
                        <m:ctrlPr>
                          <a:rPr lang="en-US" sz="2400" i="1" dirty="0">
                            <a:latin typeface="Cambria Math" panose="02040503050406030204" pitchFamily="18" charset="0"/>
                          </a:rPr>
                        </m:ctrlPr>
                      </m:fPr>
                      <m:num>
                        <m:r>
                          <a:rPr lang="es-ES" sz="2400" i="1" dirty="0">
                            <a:latin typeface="Cambria Math" panose="02040503050406030204" pitchFamily="18" charset="0"/>
                          </a:rPr>
                          <m:t>1</m:t>
                        </m:r>
                      </m:num>
                      <m:den>
                        <m:r>
                          <a:rPr lang="es-ES" sz="2400" i="1" dirty="0">
                            <a:latin typeface="Cambria Math" panose="02040503050406030204" pitchFamily="18" charset="0"/>
                          </a:rPr>
                          <m:t>5</m:t>
                        </m:r>
                      </m:den>
                    </m:f>
                    <m:r>
                      <a:rPr lang="en-US" sz="2400" i="1" dirty="0">
                        <a:latin typeface="Cambria Math" panose="02040503050406030204" pitchFamily="18" charset="0"/>
                        <a:ea typeface="Times New Roman" panose="02020603050405020304" pitchFamily="18" charset="0"/>
                      </a:rPr>
                      <m:t>𝑥</m:t>
                    </m:r>
                    <m:r>
                      <a:rPr lang="en-US" sz="2400" i="1" dirty="0">
                        <a:latin typeface="Cambria Math" panose="02040503050406030204" pitchFamily="18" charset="0"/>
                        <a:ea typeface="Times New Roman" panose="02020603050405020304" pitchFamily="18" charset="0"/>
                      </a:rPr>
                      <m:t>−</m:t>
                    </m:r>
                    <m:f>
                      <m:fPr>
                        <m:ctrlPr>
                          <a:rPr lang="en-US" sz="2400" i="1" dirty="0">
                            <a:latin typeface="Cambria Math" panose="02040503050406030204" pitchFamily="18" charset="0"/>
                          </a:rPr>
                        </m:ctrlPr>
                      </m:fPr>
                      <m:num>
                        <m:r>
                          <a:rPr lang="es-ES" sz="2400" i="1" dirty="0">
                            <a:latin typeface="Cambria Math" panose="02040503050406030204" pitchFamily="18" charset="0"/>
                          </a:rPr>
                          <m:t>1</m:t>
                        </m:r>
                      </m:num>
                      <m:den>
                        <m:r>
                          <a:rPr lang="es-ES" sz="2400" i="1" dirty="0">
                            <a:latin typeface="Cambria Math" panose="02040503050406030204" pitchFamily="18" charset="0"/>
                          </a:rPr>
                          <m:t>10</m:t>
                        </m:r>
                      </m:den>
                    </m:f>
                    <m:r>
                      <a:rPr lang="en-US" sz="2400" i="1" dirty="0">
                        <a:latin typeface="Cambria Math" panose="02040503050406030204" pitchFamily="18" charset="0"/>
                        <a:ea typeface="Times New Roman" panose="02020603050405020304" pitchFamily="18" charset="0"/>
                      </a:rPr>
                      <m:t>−</m:t>
                    </m:r>
                    <m:r>
                      <a:rPr lang="en-US" sz="2400" i="1" dirty="0">
                        <a:latin typeface="Cambria Math" panose="02040503050406030204" pitchFamily="18" charset="0"/>
                        <a:ea typeface="Times New Roman" panose="02020603050405020304" pitchFamily="18" charset="0"/>
                      </a:rPr>
                      <m:t>𝑥</m:t>
                    </m:r>
                    <m:r>
                      <a:rPr lang="en-US" sz="2400" i="1" dirty="0">
                        <a:latin typeface="Cambria Math" panose="02040503050406030204" pitchFamily="18" charset="0"/>
                        <a:ea typeface="Times New Roman" panose="02020603050405020304" pitchFamily="18" charset="0"/>
                      </a:rPr>
                      <m:t>−</m:t>
                    </m:r>
                    <m:f>
                      <m:fPr>
                        <m:ctrlPr>
                          <a:rPr lang="en-US" sz="2400" i="1" dirty="0">
                            <a:latin typeface="Cambria Math" panose="02040503050406030204" pitchFamily="18" charset="0"/>
                          </a:rPr>
                        </m:ctrlPr>
                      </m:fPr>
                      <m:num>
                        <m:r>
                          <a:rPr lang="es-ES" sz="2400" i="1" dirty="0">
                            <a:latin typeface="Cambria Math" panose="02040503050406030204" pitchFamily="18" charset="0"/>
                          </a:rPr>
                          <m:t>1</m:t>
                        </m:r>
                      </m:num>
                      <m:den>
                        <m:r>
                          <a:rPr lang="es-ES" sz="2400" i="1" dirty="0">
                            <a:latin typeface="Cambria Math" panose="02040503050406030204" pitchFamily="18" charset="0"/>
                          </a:rPr>
                          <m:t>10</m:t>
                        </m:r>
                      </m:den>
                    </m:f>
                  </m:oMath>
                </a14:m>
                <a:r>
                  <a:rPr lang="en-US" sz="2400" dirty="0">
                    <a:latin typeface="Verdana" panose="020B0604030504040204" pitchFamily="34" charset="0"/>
                    <a:ea typeface="Times New Roman" panose="02020603050405020304" pitchFamily="18" charset="0"/>
                  </a:rPr>
                  <a:t>   and  </a:t>
                </a:r>
                <a14:m>
                  <m:oMath xmlns:m="http://schemas.openxmlformats.org/officeDocument/2006/math">
                    <m:r>
                      <a:rPr lang="en-US" sz="2400" i="1" dirty="0">
                        <a:latin typeface="Cambria Math" panose="02040503050406030204" pitchFamily="18" charset="0"/>
                        <a:ea typeface="Times New Roman" panose="02020603050405020304" pitchFamily="18" charset="0"/>
                      </a:rPr>
                      <m:t>1</m:t>
                    </m:r>
                    <m:f>
                      <m:fPr>
                        <m:ctrlPr>
                          <a:rPr lang="en-US" sz="2400" i="1" dirty="0">
                            <a:latin typeface="Cambria Math" panose="02040503050406030204" pitchFamily="18" charset="0"/>
                          </a:rPr>
                        </m:ctrlPr>
                      </m:fPr>
                      <m:num>
                        <m:r>
                          <a:rPr lang="es-ES" sz="2400" i="1" dirty="0">
                            <a:latin typeface="Cambria Math" panose="02040503050406030204" pitchFamily="18" charset="0"/>
                          </a:rPr>
                          <m:t>1</m:t>
                        </m:r>
                      </m:num>
                      <m:den>
                        <m:r>
                          <a:rPr lang="es-ES" sz="2400" i="1" dirty="0">
                            <a:latin typeface="Cambria Math" panose="02040503050406030204" pitchFamily="18" charset="0"/>
                          </a:rPr>
                          <m:t>10</m:t>
                        </m:r>
                      </m:den>
                    </m:f>
                    <m:r>
                      <a:rPr lang="en-US" sz="2400" i="1" dirty="0">
                        <a:latin typeface="Cambria Math" panose="02040503050406030204" pitchFamily="18" charset="0"/>
                        <a:ea typeface="Times New Roman" panose="02020603050405020304" pitchFamily="18" charset="0"/>
                      </a:rPr>
                      <m:t>−</m:t>
                    </m:r>
                    <m:f>
                      <m:fPr>
                        <m:ctrlPr>
                          <a:rPr lang="en-US" sz="2400" i="1" dirty="0">
                            <a:latin typeface="Cambria Math" panose="02040503050406030204" pitchFamily="18" charset="0"/>
                          </a:rPr>
                        </m:ctrlPr>
                      </m:fPr>
                      <m:num>
                        <m:r>
                          <a:rPr lang="es-ES" sz="2400" i="1" dirty="0">
                            <a:latin typeface="Cambria Math" panose="02040503050406030204" pitchFamily="18" charset="0"/>
                          </a:rPr>
                          <m:t>4</m:t>
                        </m:r>
                      </m:num>
                      <m:den>
                        <m:r>
                          <a:rPr lang="es-ES" sz="2400" i="1" dirty="0">
                            <a:latin typeface="Cambria Math" panose="02040503050406030204" pitchFamily="18" charset="0"/>
                          </a:rPr>
                          <m:t>5</m:t>
                        </m:r>
                      </m:den>
                    </m:f>
                    <m:r>
                      <a:rPr lang="en-US" sz="2400" i="1" dirty="0">
                        <a:latin typeface="Cambria Math" panose="02040503050406030204" pitchFamily="18" charset="0"/>
                        <a:ea typeface="Times New Roman" panose="02020603050405020304" pitchFamily="18" charset="0"/>
                      </a:rPr>
                      <m:t> </m:t>
                    </m:r>
                    <m:r>
                      <a:rPr lang="en-US" sz="2400" i="1" dirty="0">
                        <a:latin typeface="Cambria Math" panose="02040503050406030204" pitchFamily="18" charset="0"/>
                        <a:ea typeface="Times New Roman" panose="02020603050405020304" pitchFamily="18" charset="0"/>
                      </a:rPr>
                      <m:t>𝑥</m:t>
                    </m:r>
                  </m:oMath>
                </a14:m>
                <a:endParaRPr lang="en-US" sz="2400" dirty="0">
                  <a:latin typeface="Verdana" panose="020B0604030504040204" pitchFamily="34" charset="0"/>
                  <a:ea typeface="Times New Roman" panose="02020603050405020304" pitchFamily="18" charset="0"/>
                </a:endParaRPr>
              </a:p>
            </p:txBody>
          </p:sp>
        </mc:Choice>
        <mc:Fallback>
          <p:sp>
            <p:nvSpPr>
              <p:cNvPr id="2" name="Rectangle 1">
                <a:extLst>
                  <a:ext uri="{FF2B5EF4-FFF2-40B4-BE49-F238E27FC236}">
                    <a16:creationId xmlns:a16="http://schemas.microsoft.com/office/drawing/2014/main" id="{D9F7A919-8B1E-2741-BB78-98A66295B9F8}"/>
                  </a:ext>
                </a:extLst>
              </p:cNvPr>
              <p:cNvSpPr>
                <a:spLocks noRot="1" noChangeAspect="1" noMove="1" noResize="1" noEditPoints="1" noAdjustHandles="1" noChangeArrowheads="1" noChangeShapeType="1" noTextEdit="1"/>
              </p:cNvSpPr>
              <p:nvPr/>
            </p:nvSpPr>
            <p:spPr>
              <a:xfrm>
                <a:off x="914400" y="956526"/>
                <a:ext cx="10515600" cy="616964"/>
              </a:xfrm>
              <a:prstGeom prst="rect">
                <a:avLst/>
              </a:prstGeom>
              <a:blipFill>
                <a:blip r:embed="rId4"/>
                <a:stretch>
                  <a:fillRect l="-870" b="-6931"/>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F719A187-0842-F343-A6A1-7FD23B0B7316}"/>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81</a:t>
            </a:r>
            <a:endParaRPr i="1" dirty="0">
              <a:latin typeface="Calibri"/>
              <a:ea typeface="Calibri"/>
              <a:cs typeface="Calibri"/>
              <a:sym typeface="Calibri"/>
            </a:endParaRPr>
          </a:p>
        </p:txBody>
      </p:sp>
    </p:spTree>
    <p:extLst>
      <p:ext uri="{BB962C8B-B14F-4D97-AF65-F5344CB8AC3E}">
        <p14:creationId xmlns:p14="http://schemas.microsoft.com/office/powerpoint/2010/main" val="1881289926"/>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1370</TotalTime>
  <Words>1154</Words>
  <Application>Microsoft Office PowerPoint</Application>
  <PresentationFormat>Widescreen</PresentationFormat>
  <Paragraphs>181</Paragraphs>
  <Slides>25</Slides>
  <Notes>25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Verdana</vt:lpstr>
      <vt:lpstr>Times New Roman</vt:lpstr>
      <vt:lpstr>Wingdings</vt:lpstr>
      <vt:lpstr>Century Gothic</vt:lpstr>
      <vt:lpstr>Calibri</vt:lpstr>
      <vt:lpstr>Arial Black</vt:lpstr>
      <vt:lpstr>Cambria Math</vt:lpstr>
      <vt:lpstr>Courier New</vt:lpstr>
      <vt:lpstr>Arial</vt:lpstr>
      <vt:lpstr>1_Office Theme</vt:lpstr>
      <vt:lpstr>7th Grade Math  Unit 9, Lesson 8  Equivalent Expressions Using Properties of Operations  Volume 2, pg. 77  </vt:lpstr>
      <vt:lpstr>Benchmark</vt:lpstr>
      <vt:lpstr>PowerPoint Presentation</vt:lpstr>
      <vt:lpstr>PowerPoint Presentation</vt:lpstr>
      <vt:lpstr>Warm-Up</vt:lpstr>
      <vt:lpstr>PowerPoint Presentation</vt:lpstr>
      <vt:lpstr>Refresher</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Guided Practice</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20</cp:revision>
  <dcterms:created xsi:type="dcterms:W3CDTF">2015-03-17T18:51:18Z</dcterms:created>
  <dcterms:modified xsi:type="dcterms:W3CDTF">2022-06-11T22:00:41Z</dcterms:modified>
</cp:coreProperties>
</file>