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6" r:id="rId10"/>
    <p:sldId id="326" r:id="rId11"/>
    <p:sldId id="327" r:id="rId12"/>
    <p:sldId id="358" r:id="rId13"/>
    <p:sldId id="365" r:id="rId14"/>
    <p:sldId id="377" r:id="rId15"/>
    <p:sldId id="289" r:id="rId16"/>
    <p:sldId id="290" r:id="rId17"/>
    <p:sldId id="370" r:id="rId18"/>
    <p:sldId id="356" r:id="rId19"/>
    <p:sldId id="362" r:id="rId20"/>
    <p:sldId id="363" r:id="rId21"/>
    <p:sldId id="376" r:id="rId22"/>
    <p:sldId id="364" r:id="rId23"/>
    <p:sldId id="302" r:id="rId24"/>
    <p:sldId id="303" r:id="rId25"/>
    <p:sldId id="378" r:id="rId26"/>
    <p:sldId id="306" r:id="rId27"/>
    <p:sldId id="307" r:id="rId28"/>
  </p:sldIdLst>
  <p:sldSz cx="12192000" cy="6858000"/>
  <p:notesSz cx="6858000" cy="9144000"/>
  <p:embeddedFontLst>
    <p:embeddedFont>
      <p:font typeface="Arial Black" panose="020B0A04020102020204" pitchFamily="34" charset="0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66"/>
    <p:restoredTop sz="94701"/>
  </p:normalViewPr>
  <p:slideViewPr>
    <p:cSldViewPr snapToGrid="0">
      <p:cViewPr varScale="1">
        <p:scale>
          <a:sx n="81" d="100"/>
          <a:sy n="81" d="100"/>
        </p:scale>
        <p:origin x="98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324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9806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602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582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111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4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44512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0869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5706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0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0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3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Subtracting Linear Expressions with Rational Coefficients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52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025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MA.7.AR.1.1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properties of operations to add and subtract linear expressions with rational coefficients. 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9531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subtract linear expressions with rational coefficients.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8036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9.3.1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914400" y="1523185"/>
            <a:ext cx="86247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Combine like terms.</a:t>
            </a: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2C44EF3-0856-4348-B122-484E5949BD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9736524"/>
                  </p:ext>
                </p:extLst>
              </p:nvPr>
            </p:nvGraphicFramePr>
            <p:xfrm>
              <a:off x="1009372" y="2214944"/>
              <a:ext cx="7632238" cy="75628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16119">
                      <a:extLst>
                        <a:ext uri="{9D8B030D-6E8A-4147-A177-3AD203B41FA5}">
                          <a16:colId xmlns:a16="http://schemas.microsoft.com/office/drawing/2014/main" val="1424837750"/>
                        </a:ext>
                      </a:extLst>
                    </a:gridCol>
                    <a:gridCol w="3816119">
                      <a:extLst>
                        <a:ext uri="{9D8B030D-6E8A-4147-A177-3AD203B41FA5}">
                          <a16:colId xmlns:a16="http://schemas.microsoft.com/office/drawing/2014/main" val="4051322210"/>
                        </a:ext>
                      </a:extLst>
                    </a:gridCol>
                  </a:tblGrid>
                  <a:tr h="756285">
                    <a:tc>
                      <a:txBody>
                        <a:bodyPr/>
                        <a:lstStyle/>
                        <a:p>
                          <a:pPr marL="342900" marR="0" lvl="0" indent="-34290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+4.6</m:t>
                                  </m:r>
                                </m:e>
                              </m:d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CO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−3.25</m:t>
                                  </m:r>
                                </m:e>
                              </m:d>
                            </m:oMath>
                          </a14:m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f>
                                    <m:fPr>
                                      <m:ctrlPr>
                                        <a:rPr lang="en-CO" sz="1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e>
                              </m:d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CO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CO" sz="1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+7</m:t>
                                  </m:r>
                                </m:e>
                              </m:d>
                            </m:oMath>
                          </a14:m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60818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2C44EF3-0856-4348-B122-484E5949BD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9736524"/>
                  </p:ext>
                </p:extLst>
              </p:nvPr>
            </p:nvGraphicFramePr>
            <p:xfrm>
              <a:off x="1009372" y="2214944"/>
              <a:ext cx="7632238" cy="75628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16119">
                      <a:extLst>
                        <a:ext uri="{9D8B030D-6E8A-4147-A177-3AD203B41FA5}">
                          <a16:colId xmlns:a16="http://schemas.microsoft.com/office/drawing/2014/main" val="1424837750"/>
                        </a:ext>
                      </a:extLst>
                    </a:gridCol>
                    <a:gridCol w="3816119">
                      <a:extLst>
                        <a:ext uri="{9D8B030D-6E8A-4147-A177-3AD203B41FA5}">
                          <a16:colId xmlns:a16="http://schemas.microsoft.com/office/drawing/2014/main" val="4051322210"/>
                        </a:ext>
                      </a:extLst>
                    </a:gridCol>
                  </a:tblGrid>
                  <a:tr h="7562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99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1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0818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0D4F70-A5F7-6844-B49C-C7559A2266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598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717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9.3.2 Exploration: Subtracting Expressions with Algebra Tiles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C46F4F-A85A-084E-B29C-01BB2615DE1E}"/>
              </a:ext>
            </a:extLst>
          </p:cNvPr>
          <p:cNvSpPr/>
          <p:nvPr/>
        </p:nvSpPr>
        <p:spPr>
          <a:xfrm>
            <a:off x="914400" y="1634150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Algebra tile representations are given below. Use the algebra tiles to find the difference. 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01E82E5-44E0-F44C-89CC-51BF5F79728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91B935-C960-F14B-AB60-04C0EDD6D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651410"/>
              </p:ext>
            </p:extLst>
          </p:nvPr>
        </p:nvGraphicFramePr>
        <p:xfrm>
          <a:off x="2515806" y="2506539"/>
          <a:ext cx="7016120" cy="40486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94196">
                  <a:extLst>
                    <a:ext uri="{9D8B030D-6E8A-4147-A177-3AD203B41FA5}">
                      <a16:colId xmlns:a16="http://schemas.microsoft.com/office/drawing/2014/main" val="80679702"/>
                    </a:ext>
                  </a:extLst>
                </a:gridCol>
                <a:gridCol w="4421924">
                  <a:extLst>
                    <a:ext uri="{9D8B030D-6E8A-4147-A177-3AD203B41FA5}">
                      <a16:colId xmlns:a16="http://schemas.microsoft.com/office/drawing/2014/main" val="3911544987"/>
                    </a:ext>
                  </a:extLst>
                </a:gridCol>
              </a:tblGrid>
              <a:tr h="21446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 the lines, write the algebraic expression for each representation.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408" marR="574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408" marR="574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97386"/>
                  </a:ext>
                </a:extLst>
              </a:tr>
              <a:tr h="19039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Rearrange the tiles to show subtraction of like tiles together. Draw the representation.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408" marR="574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408" marR="574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5513"/>
                  </a:ext>
                </a:extLst>
              </a:tr>
            </a:tbl>
          </a:graphicData>
        </a:graphic>
      </p:graphicFrame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5853B7F0-70DD-E54C-893A-6BECDE030B3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8852" y="2669451"/>
            <a:ext cx="3271796" cy="179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91541B9-7C1E-4043-A1D5-12779C6D7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E32931-3E5F-7D45-8F74-3FC4094CC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97546"/>
              </p:ext>
            </p:extLst>
          </p:nvPr>
        </p:nvGraphicFramePr>
        <p:xfrm>
          <a:off x="2587940" y="1495543"/>
          <a:ext cx="7016120" cy="4133361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94196">
                  <a:extLst>
                    <a:ext uri="{9D8B030D-6E8A-4147-A177-3AD203B41FA5}">
                      <a16:colId xmlns:a16="http://schemas.microsoft.com/office/drawing/2014/main" val="3612849055"/>
                    </a:ext>
                  </a:extLst>
                </a:gridCol>
                <a:gridCol w="4421924">
                  <a:extLst>
                    <a:ext uri="{9D8B030D-6E8A-4147-A177-3AD203B41FA5}">
                      <a16:colId xmlns:a16="http://schemas.microsoft.com/office/drawing/2014/main" val="1149402355"/>
                    </a:ext>
                  </a:extLst>
                </a:gridCol>
              </a:tblGrid>
              <a:tr h="18207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If necessary, create any zero pairs needed for subtraction.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687295"/>
                  </a:ext>
                </a:extLst>
              </a:tr>
              <a:tr h="231265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Find the difference by subtracting (taking away) like tiles. Write the algebraic representation of the difference.</a:t>
                      </a:r>
                      <a:endParaRPr lang="en-CO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65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6.png">
            <a:extLst>
              <a:ext uri="{FF2B5EF4-FFF2-40B4-BE49-F238E27FC236}">
                <a16:creationId xmlns:a16="http://schemas.microsoft.com/office/drawing/2014/main" id="{CD885E35-1273-CA4A-A68F-6D5C809C135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88920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753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066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9.3.3 Collaboration: Subtracting Expressions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914400" y="1305035"/>
                <a:ext cx="10515600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Noah, Lin, Jada, and Andre are rewriting the expression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+ 8)−(4−9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an equivalent expression with fewer terms. Each student described their work.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085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which students made an error. Describe each student’s error and correct the error.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Noah says, “I dropped the parentheses, combined like terms, and ended up with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.” </a:t>
                </a:r>
                <a:endParaRPr lang="en-US" sz="2000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05035"/>
                <a:ext cx="10515600" cy="2862322"/>
              </a:xfrm>
              <a:prstGeom prst="rect">
                <a:avLst/>
              </a:prstGeom>
              <a:blipFill>
                <a:blip r:embed="rId4"/>
                <a:stretch>
                  <a:fillRect l="-638" t="-1489" r="-290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8897112" y="64289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16.png">
            <a:extLst>
              <a:ext uri="{FF2B5EF4-FFF2-40B4-BE49-F238E27FC236}">
                <a16:creationId xmlns:a16="http://schemas.microsoft.com/office/drawing/2014/main" id="{802CA1BC-631B-2C4F-B076-F3E99F9A84C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3082" cy="753082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CB7D73-5B62-7B47-83C9-C96B5FAB540D}"/>
                  </a:ext>
                </a:extLst>
              </p:cNvPr>
              <p:cNvSpPr txBox="1"/>
              <p:nvPr/>
            </p:nvSpPr>
            <p:spPr>
              <a:xfrm>
                <a:off x="3919124" y="4537303"/>
                <a:ext cx="4636294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O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+ 8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−(4−9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O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+ 8− 4−9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−8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+ 4</m:t>
                      </m:r>
                    </m:oMath>
                  </m:oMathPara>
                </a14:m>
                <a:endParaRPr lang="en-CO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CB7D73-5B62-7B47-83C9-C96B5FAB5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124" y="4537303"/>
                <a:ext cx="4636294" cy="1015663"/>
              </a:xfrm>
              <a:prstGeom prst="rect">
                <a:avLst/>
              </a:prstGeom>
              <a:blipFill>
                <a:blip r:embed="rId6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98B79B3-EB64-EE47-8054-0B4CC74915BE}"/>
                  </a:ext>
                </a:extLst>
              </p:cNvPr>
              <p:cNvSpPr/>
              <p:nvPr/>
            </p:nvSpPr>
            <p:spPr>
              <a:xfrm>
                <a:off x="914400" y="1041883"/>
                <a:ext cx="105156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 says, “I simplified inside the parentheses and ended up with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.”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98B79B3-EB64-EE47-8054-0B4CC7491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041883"/>
                <a:ext cx="10515600" cy="400110"/>
              </a:xfrm>
              <a:prstGeom prst="rect">
                <a:avLst/>
              </a:prstGeom>
              <a:blipFill>
                <a:blip r:embed="rId4"/>
                <a:stretch>
                  <a:fillRect t="-1060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76E591-805C-4E4C-8093-602579BF560C}"/>
                  </a:ext>
                </a:extLst>
              </p:cNvPr>
              <p:cNvSpPr txBox="1"/>
              <p:nvPr/>
            </p:nvSpPr>
            <p:spPr>
              <a:xfrm>
                <a:off x="3777853" y="2383041"/>
                <a:ext cx="463629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O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+ 8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−(4−9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O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O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8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−(−5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O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+ 5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13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CO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76E591-805C-4E4C-8093-602579BF5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853" y="2383041"/>
                <a:ext cx="4636294" cy="1323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150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F1DA885-A8F2-A948-B14C-68E743E59EFC}"/>
                  </a:ext>
                </a:extLst>
              </p:cNvPr>
              <p:cNvSpPr/>
              <p:nvPr/>
            </p:nvSpPr>
            <p:spPr>
              <a:xfrm>
                <a:off x="914400" y="370257"/>
                <a:ext cx="10515600" cy="5940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Jada says, “I know that subtracting is adding the opposite, and ended up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4+10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.”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+ 8)−(4−9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+8)+(−4+9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+8−4+9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4+10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4"/>
                  <a:tabLst>
                    <a:tab pos="569913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Andre says, “I used the distributive property since there is an invisible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) in front of the second parentheses to distribute, but I ended up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.”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+ 8)−(4 − 9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+ 8)−1(4 −9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+8−4+9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+4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F1DA885-A8F2-A948-B14C-68E743E59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70257"/>
                <a:ext cx="10515600" cy="5940088"/>
              </a:xfrm>
              <a:prstGeom prst="rect">
                <a:avLst/>
              </a:prstGeom>
              <a:blipFill>
                <a:blip r:embed="rId4"/>
                <a:stretch>
                  <a:fillRect t="-719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D90C055D-788B-A94F-A883-2B8BCDB7611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6323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1DA885-A8F2-A948-B14C-68E743E59EFC}"/>
              </a:ext>
            </a:extLst>
          </p:cNvPr>
          <p:cNvSpPr/>
          <p:nvPr/>
        </p:nvSpPr>
        <p:spPr>
          <a:xfrm>
            <a:off x="914400" y="370258"/>
            <a:ext cx="10515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When subtracting expressions, use the distributive property to add the opposite. With the algebra tile representations below, model finding the difference by adding the opposite.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D90C055D-788B-A94F-A883-2B8BCDB7611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8C3894-2E29-6E44-B1AE-2D4890EF3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057828"/>
              </p:ext>
            </p:extLst>
          </p:nvPr>
        </p:nvGraphicFramePr>
        <p:xfrm>
          <a:off x="2253425" y="1449401"/>
          <a:ext cx="6643687" cy="4774949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45357">
                  <a:extLst>
                    <a:ext uri="{9D8B030D-6E8A-4147-A177-3AD203B41FA5}">
                      <a16:colId xmlns:a16="http://schemas.microsoft.com/office/drawing/2014/main" val="699357904"/>
                    </a:ext>
                  </a:extLst>
                </a:gridCol>
                <a:gridCol w="4098330">
                  <a:extLst>
                    <a:ext uri="{9D8B030D-6E8A-4147-A177-3AD203B41FA5}">
                      <a16:colId xmlns:a16="http://schemas.microsoft.com/office/drawing/2014/main" val="3222558256"/>
                    </a:ext>
                  </a:extLst>
                </a:gridCol>
              </a:tblGrid>
              <a:tr h="1483109"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 the lines, write the algebraic expression for each representation.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334998"/>
                  </a:ext>
                </a:extLst>
              </a:tr>
              <a:tr h="16294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Rewrite subtracting to adding the opposite by changing (or flipping) the sign of the 2</a:t>
                      </a:r>
                      <a:r>
                        <a:rPr lang="en-US" sz="1800" baseline="30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nd</a:t>
                      </a: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expression. Draw the representation.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7937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690476"/>
                  </a:ext>
                </a:extLst>
              </a:tr>
              <a:tr h="109271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Combine any zero pairs to find the sum. Write the sum.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67965"/>
                  </a:ext>
                </a:extLst>
              </a:tr>
            </a:tbl>
          </a:graphicData>
        </a:graphic>
      </p:graphicFrame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DCD041A-5405-BF48-A53D-B2875E4A1AF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3338" y="1602002"/>
            <a:ext cx="2400301" cy="127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48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FF9CFB8-C79A-5D4D-83F8-43846C687908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7664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9.3.4 Guided Instruction: Subtracting Linear Expressions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5CEBC6-0C26-3645-AB91-CC52DC9589E3}"/>
              </a:ext>
            </a:extLst>
          </p:cNvPr>
          <p:cNvSpPr/>
          <p:nvPr/>
        </p:nvSpPr>
        <p:spPr>
          <a:xfrm>
            <a:off x="914400" y="1361498"/>
            <a:ext cx="10515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subtract linear expressions,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635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 the ______________, or additive inverse of each term in the expression.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63550"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635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distribute a __________ to each term in the expression.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0F8137-E2FE-2946-BD3D-5765F6F402E4}"/>
              </a:ext>
            </a:extLst>
          </p:cNvPr>
          <p:cNvGrpSpPr/>
          <p:nvPr/>
        </p:nvGrpSpPr>
        <p:grpSpPr>
          <a:xfrm>
            <a:off x="2519850" y="2111290"/>
            <a:ext cx="7075130" cy="1062575"/>
            <a:chOff x="2031300" y="3373600"/>
            <a:chExt cx="6629400" cy="8128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2EA9D6-63D2-E34C-8141-8523D88768A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51CB98-3830-734D-B491-BDD63EAA8017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7EB3F1AE-291B-E244-8D87-38A3560E354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8CE891-558F-FB41-8F03-D31983C4CCA2}"/>
              </a:ext>
            </a:extLst>
          </p:cNvPr>
          <p:cNvSpPr/>
          <p:nvPr/>
        </p:nvSpPr>
        <p:spPr>
          <a:xfrm>
            <a:off x="914400" y="461743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show both methods.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AC4FD991-6CC3-DF45-9C50-BB55BF4BD58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E145031-BCF5-0F47-95BA-7601767B66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245462"/>
                  </p:ext>
                </p:extLst>
              </p:nvPr>
            </p:nvGraphicFramePr>
            <p:xfrm>
              <a:off x="2668588" y="1374093"/>
              <a:ext cx="6854825" cy="410146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2180">
                      <a:extLst>
                        <a:ext uri="{9D8B030D-6E8A-4147-A177-3AD203B41FA5}">
                          <a16:colId xmlns:a16="http://schemas.microsoft.com/office/drawing/2014/main" val="2865488618"/>
                        </a:ext>
                      </a:extLst>
                    </a:gridCol>
                    <a:gridCol w="3382645">
                      <a:extLst>
                        <a:ext uri="{9D8B030D-6E8A-4147-A177-3AD203B41FA5}">
                          <a16:colId xmlns:a16="http://schemas.microsoft.com/office/drawing/2014/main" val="206549784"/>
                        </a:ext>
                      </a:extLst>
                    </a:gridCol>
                  </a:tblGrid>
                  <a:tr h="7359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Additive Inverse Method</a:t>
                          </a:r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Applying the Distributive Property</a:t>
                          </a:r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9048206"/>
                      </a:ext>
                    </a:extLst>
                  </a:tr>
                  <a:tr h="3365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+ 5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+ 5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537799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E145031-BCF5-0F47-95BA-7601767B66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245462"/>
                  </p:ext>
                </p:extLst>
              </p:nvPr>
            </p:nvGraphicFramePr>
            <p:xfrm>
              <a:off x="2668588" y="1374093"/>
              <a:ext cx="6854825" cy="410146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2180">
                      <a:extLst>
                        <a:ext uri="{9D8B030D-6E8A-4147-A177-3AD203B41FA5}">
                          <a16:colId xmlns:a16="http://schemas.microsoft.com/office/drawing/2014/main" val="2865488618"/>
                        </a:ext>
                      </a:extLst>
                    </a:gridCol>
                    <a:gridCol w="3382645">
                      <a:extLst>
                        <a:ext uri="{9D8B030D-6E8A-4147-A177-3AD203B41FA5}">
                          <a16:colId xmlns:a16="http://schemas.microsoft.com/office/drawing/2014/main" val="206549784"/>
                        </a:ext>
                      </a:extLst>
                    </a:gridCol>
                  </a:tblGrid>
                  <a:tr h="7359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Additive Inverse Method</a:t>
                          </a:r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Applying the Distributive Property</a:t>
                          </a:r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9048206"/>
                      </a:ext>
                    </a:extLst>
                  </a:tr>
                  <a:tr h="3365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5" t="-22242" r="-97895" b="-3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698" t="-22242" r="-360" b="-3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37799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79042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914400" y="367301"/>
            <a:ext cx="1051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adding and subtracting, parentheses are used to group expressions. Why is the use of parentheses especially important when subtracting?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78244E2-71D0-9D48-A977-8CF152F21B3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3.png" descr="Icon&#10;&#10;Description automatically generated">
            <a:extLst>
              <a:ext uri="{FF2B5EF4-FFF2-40B4-BE49-F238E27FC236}">
                <a16:creationId xmlns:a16="http://schemas.microsoft.com/office/drawing/2014/main" id="{1BECBB16-451F-2F4D-9548-A8FAD314F90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6093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457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9.3.5 Guided Practice: Subtracting Linear Expressions with Rational Coefficients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B67C1-9783-084B-8A75-268E226830AE}"/>
              </a:ext>
            </a:extLst>
          </p:cNvPr>
          <p:cNvSpPr/>
          <p:nvPr/>
        </p:nvSpPr>
        <p:spPr>
          <a:xfrm>
            <a:off x="914400" y="1278086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Find the difference of each expression.</a:t>
            </a: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7252D359-49A5-AF4B-B4D0-4523BF100C6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image13.png" descr="Icon&#10;&#10;Description automatically generated">
            <a:extLst>
              <a:ext uri="{FF2B5EF4-FFF2-40B4-BE49-F238E27FC236}">
                <a16:creationId xmlns:a16="http://schemas.microsoft.com/office/drawing/2014/main" id="{DE9E9237-23D6-2A45-B62F-E3C07A2F61E2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8B08831-AD1F-E84E-B37C-A43243F6F3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6765839"/>
                  </p:ext>
                </p:extLst>
              </p:nvPr>
            </p:nvGraphicFramePr>
            <p:xfrm>
              <a:off x="1876301" y="2085800"/>
              <a:ext cx="7648700" cy="349411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24350">
                      <a:extLst>
                        <a:ext uri="{9D8B030D-6E8A-4147-A177-3AD203B41FA5}">
                          <a16:colId xmlns:a16="http://schemas.microsoft.com/office/drawing/2014/main" val="3239118070"/>
                        </a:ext>
                      </a:extLst>
                    </a:gridCol>
                    <a:gridCol w="3824350">
                      <a:extLst>
                        <a:ext uri="{9D8B030D-6E8A-4147-A177-3AD203B41FA5}">
                          <a16:colId xmlns:a16="http://schemas.microsoft.com/office/drawing/2014/main" val="1516233233"/>
                        </a:ext>
                      </a:extLst>
                    </a:gridCol>
                  </a:tblGrid>
                  <a:tr h="3494114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+ 3.5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8.2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− 6</m:t>
                                  </m:r>
                                </m:e>
                              </m:d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228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75635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8B08831-AD1F-E84E-B37C-A43243F6F3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6765839"/>
                  </p:ext>
                </p:extLst>
              </p:nvPr>
            </p:nvGraphicFramePr>
            <p:xfrm>
              <a:off x="1876301" y="2085800"/>
              <a:ext cx="7648700" cy="349411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24350">
                      <a:extLst>
                        <a:ext uri="{9D8B030D-6E8A-4147-A177-3AD203B41FA5}">
                          <a16:colId xmlns:a16="http://schemas.microsoft.com/office/drawing/2014/main" val="3239118070"/>
                        </a:ext>
                      </a:extLst>
                    </a:gridCol>
                    <a:gridCol w="3824350">
                      <a:extLst>
                        <a:ext uri="{9D8B030D-6E8A-4147-A177-3AD203B41FA5}">
                          <a16:colId xmlns:a16="http://schemas.microsoft.com/office/drawing/2014/main" val="1516233233"/>
                        </a:ext>
                      </a:extLst>
                    </a:gridCol>
                  </a:tblGrid>
                  <a:tr h="34941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9" t="-2439" r="-100318" b="-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9" t="-2439" r="-318" b="-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5635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8135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0770922-D176-3E4B-B233-44AA4FDC8A9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93E9CAA-FA97-6445-AF3D-93ECEEB9B5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0885990"/>
                  </p:ext>
                </p:extLst>
              </p:nvPr>
            </p:nvGraphicFramePr>
            <p:xfrm>
              <a:off x="1888177" y="1261031"/>
              <a:ext cx="7562482" cy="313283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781241">
                      <a:extLst>
                        <a:ext uri="{9D8B030D-6E8A-4147-A177-3AD203B41FA5}">
                          <a16:colId xmlns:a16="http://schemas.microsoft.com/office/drawing/2014/main" val="2843155356"/>
                        </a:ext>
                      </a:extLst>
                    </a:gridCol>
                    <a:gridCol w="3781241">
                      <a:extLst>
                        <a:ext uri="{9D8B030D-6E8A-4147-A177-3AD203B41FA5}">
                          <a16:colId xmlns:a16="http://schemas.microsoft.com/office/drawing/2014/main" val="502582744"/>
                        </a:ext>
                      </a:extLst>
                    </a:gridCol>
                  </a:tblGrid>
                  <a:tr h="3132839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−2 + 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5.3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− 5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4831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43" marR="60443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−7.5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− 3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7 + 3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228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43" marR="60443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07589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93E9CAA-FA97-6445-AF3D-93ECEEB9B5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0885990"/>
                  </p:ext>
                </p:extLst>
              </p:nvPr>
            </p:nvGraphicFramePr>
            <p:xfrm>
              <a:off x="1888177" y="1261031"/>
              <a:ext cx="7562482" cy="313283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781241">
                      <a:extLst>
                        <a:ext uri="{9D8B030D-6E8A-4147-A177-3AD203B41FA5}">
                          <a16:colId xmlns:a16="http://schemas.microsoft.com/office/drawing/2014/main" val="2843155356"/>
                        </a:ext>
                      </a:extLst>
                    </a:gridCol>
                    <a:gridCol w="3781241">
                      <a:extLst>
                        <a:ext uri="{9D8B030D-6E8A-4147-A177-3AD203B41FA5}">
                          <a16:colId xmlns:a16="http://schemas.microsoft.com/office/drawing/2014/main" val="502582744"/>
                        </a:ext>
                      </a:extLst>
                    </a:gridCol>
                  </a:tblGrid>
                  <a:tr h="31328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43" marR="60443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1" t="-388" r="-100322" b="-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43" marR="60443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61" t="-388" r="-322" b="-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07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8689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DE2D3B7-458B-5D47-96F8-1FBA60174668}"/>
                  </a:ext>
                </a:extLst>
              </p:cNvPr>
              <p:cNvSpPr/>
              <p:nvPr/>
            </p:nvSpPr>
            <p:spPr>
              <a:xfrm>
                <a:off x="914400" y="526327"/>
                <a:ext cx="10515600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What is the result when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+ 4.48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is subtracted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−2.2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+ 3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?</a:t>
                </a:r>
              </a:p>
              <a:p>
                <a:pPr marL="349250" indent="-34925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Write the algebraic expression.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Rewrite the expression without parentheses. 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Simplify the expression by rewriting it using the fewest terms possible.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</a:b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DE2D3B7-458B-5D47-96F8-1FBA601746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6327"/>
                <a:ext cx="10515600" cy="4401205"/>
              </a:xfrm>
              <a:prstGeom prst="rect">
                <a:avLst/>
              </a:prstGeom>
              <a:blipFill>
                <a:blip r:embed="rId4"/>
                <a:stretch>
                  <a:fillRect l="-638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2F06AEA-3F6D-6242-817F-87AB1D406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1773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9864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216046E-244F-BB46-961F-4CA5227878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9.3.6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30A248-17D8-9B4E-B32E-9F5472BCF227}"/>
              </a:ext>
            </a:extLst>
          </p:cNvPr>
          <p:cNvSpPr/>
          <p:nvPr/>
        </p:nvSpPr>
        <p:spPr>
          <a:xfrm>
            <a:off x="914400" y="1073420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difference of each expression in simplest form.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07F36F8-CEE9-7842-83C9-E33CB2EB688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FC9BB34-6F10-4643-9498-A7AA6EAE18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1708249"/>
                  </p:ext>
                </p:extLst>
              </p:nvPr>
            </p:nvGraphicFramePr>
            <p:xfrm>
              <a:off x="1497542" y="1907211"/>
              <a:ext cx="6852920" cy="32111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556635">
                      <a:extLst>
                        <a:ext uri="{9D8B030D-6E8A-4147-A177-3AD203B41FA5}">
                          <a16:colId xmlns:a16="http://schemas.microsoft.com/office/drawing/2014/main" val="2303103105"/>
                        </a:ext>
                      </a:extLst>
                    </a:gridCol>
                    <a:gridCol w="3296285">
                      <a:extLst>
                        <a:ext uri="{9D8B030D-6E8A-4147-A177-3AD203B41FA5}">
                          <a16:colId xmlns:a16="http://schemas.microsoft.com/office/drawing/2014/main" val="4254953633"/>
                        </a:ext>
                      </a:extLst>
                    </a:gridCol>
                  </a:tblGrid>
                  <a:tr h="3211195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+ 8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+ 10</m:t>
                                  </m:r>
                                </m:e>
                              </m:d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3 − 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9720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850900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FC9BB34-6F10-4643-9498-A7AA6EAE18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1708249"/>
                  </p:ext>
                </p:extLst>
              </p:nvPr>
            </p:nvGraphicFramePr>
            <p:xfrm>
              <a:off x="1497542" y="1907211"/>
              <a:ext cx="6852920" cy="32111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556635">
                      <a:extLst>
                        <a:ext uri="{9D8B030D-6E8A-4147-A177-3AD203B41FA5}">
                          <a16:colId xmlns:a16="http://schemas.microsoft.com/office/drawing/2014/main" val="2303103105"/>
                        </a:ext>
                      </a:extLst>
                    </a:gridCol>
                    <a:gridCol w="3296285">
                      <a:extLst>
                        <a:ext uri="{9D8B030D-6E8A-4147-A177-3AD203B41FA5}">
                          <a16:colId xmlns:a16="http://schemas.microsoft.com/office/drawing/2014/main" val="4254953633"/>
                        </a:ext>
                      </a:extLst>
                    </a:gridCol>
                  </a:tblGrid>
                  <a:tr h="32111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1" t="-2462" r="-92979" b="-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8133" t="-2462" r="-370" b="-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50900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/>
              <p:nvPr/>
            </p:nvSpPr>
            <p:spPr>
              <a:xfrm>
                <a:off x="914400" y="4454113"/>
                <a:ext cx="10515600" cy="5341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result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subtracted from</a:t>
                </a: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454113"/>
                <a:ext cx="10515600" cy="534121"/>
              </a:xfrm>
              <a:prstGeom prst="rect">
                <a:avLst/>
              </a:prstGeom>
              <a:blipFill>
                <a:blip r:embed="rId4"/>
                <a:stretch>
                  <a:fillRect l="-638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07F36F8-CEE9-7842-83C9-E33CB2EB688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E55880D-EBA6-0D45-9AA9-BB031C592A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8395532"/>
                  </p:ext>
                </p:extLst>
              </p:nvPr>
            </p:nvGraphicFramePr>
            <p:xfrm>
              <a:off x="1876301" y="461390"/>
              <a:ext cx="7932717" cy="32111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17045">
                      <a:extLst>
                        <a:ext uri="{9D8B030D-6E8A-4147-A177-3AD203B41FA5}">
                          <a16:colId xmlns:a16="http://schemas.microsoft.com/office/drawing/2014/main" val="1041330718"/>
                        </a:ext>
                      </a:extLst>
                    </a:gridCol>
                    <a:gridCol w="3815672">
                      <a:extLst>
                        <a:ext uri="{9D8B030D-6E8A-4147-A177-3AD203B41FA5}">
                          <a16:colId xmlns:a16="http://schemas.microsoft.com/office/drawing/2014/main" val="3613367892"/>
                        </a:ext>
                      </a:extLst>
                    </a:gridCol>
                  </a:tblGrid>
                  <a:tr h="3211195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−4.4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− 9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5−2.1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+ 1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CO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− 6</m:t>
                                  </m:r>
                                </m:e>
                              </m:d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9720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175945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E55880D-EBA6-0D45-9AA9-BB031C592A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8395532"/>
                  </p:ext>
                </p:extLst>
              </p:nvPr>
            </p:nvGraphicFramePr>
            <p:xfrm>
              <a:off x="1876301" y="461390"/>
              <a:ext cx="7932717" cy="32111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17045">
                      <a:extLst>
                        <a:ext uri="{9D8B030D-6E8A-4147-A177-3AD203B41FA5}">
                          <a16:colId xmlns:a16="http://schemas.microsoft.com/office/drawing/2014/main" val="1041330718"/>
                        </a:ext>
                      </a:extLst>
                    </a:gridCol>
                    <a:gridCol w="3815672">
                      <a:extLst>
                        <a:ext uri="{9D8B030D-6E8A-4147-A177-3AD203B41FA5}">
                          <a16:colId xmlns:a16="http://schemas.microsoft.com/office/drawing/2014/main" val="3613367892"/>
                        </a:ext>
                      </a:extLst>
                    </a:gridCol>
                  </a:tblGrid>
                  <a:tr h="32111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8" t="-2652" r="-93047" b="-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7974" t="-2652" r="-319" b="-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5945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85648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5224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9.3.7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/>
              <p:nvPr/>
            </p:nvSpPr>
            <p:spPr>
              <a:xfrm>
                <a:off x="914400" y="1386026"/>
                <a:ext cx="10515600" cy="34516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Write the following expressions using the fewest possible terms.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−13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)−(4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(0.7−2.4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)+(−5.32+4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10515600" cy="3451651"/>
              </a:xfrm>
              <a:prstGeom prst="rect">
                <a:avLst/>
              </a:prstGeom>
              <a:blipFill>
                <a:blip r:embed="rId5"/>
                <a:stretch>
                  <a:fillRect l="-603" t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1049</Words>
  <Application>Microsoft Office PowerPoint</Application>
  <PresentationFormat>Widescreen</PresentationFormat>
  <Paragraphs>214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Cambria Math</vt:lpstr>
      <vt:lpstr>Arial</vt:lpstr>
      <vt:lpstr>Verdana</vt:lpstr>
      <vt:lpstr>Times New Roman</vt:lpstr>
      <vt:lpstr>Wingdings</vt:lpstr>
      <vt:lpstr>Century Gothic</vt:lpstr>
      <vt:lpstr>Calibri</vt:lpstr>
      <vt:lpstr>Arial Black</vt:lpstr>
      <vt:lpstr>1_Office Theme</vt:lpstr>
      <vt:lpstr>7th Grade Math  Unit 9, Lesson 3  Subtracting Linear Expressions with Rational Coefficients  Volume 2, pg. 52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20</cp:revision>
  <dcterms:created xsi:type="dcterms:W3CDTF">2015-03-17T18:51:18Z</dcterms:created>
  <dcterms:modified xsi:type="dcterms:W3CDTF">2022-06-11T01:23:34Z</dcterms:modified>
</cp:coreProperties>
</file>