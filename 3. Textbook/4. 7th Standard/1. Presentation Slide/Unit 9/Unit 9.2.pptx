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8" r:id="rId8"/>
    <p:sldId id="311" r:id="rId9"/>
    <p:sldId id="312" r:id="rId10"/>
    <p:sldId id="326" r:id="rId11"/>
    <p:sldId id="327" r:id="rId12"/>
    <p:sldId id="358" r:id="rId13"/>
    <p:sldId id="289" r:id="rId14"/>
    <p:sldId id="290" r:id="rId15"/>
    <p:sldId id="370" r:id="rId16"/>
    <p:sldId id="356" r:id="rId17"/>
    <p:sldId id="362" r:id="rId18"/>
    <p:sldId id="363" r:id="rId19"/>
    <p:sldId id="376" r:id="rId20"/>
    <p:sldId id="364" r:id="rId21"/>
    <p:sldId id="377" r:id="rId22"/>
    <p:sldId id="378" r:id="rId23"/>
    <p:sldId id="302" r:id="rId24"/>
    <p:sldId id="303" r:id="rId25"/>
    <p:sldId id="379" r:id="rId26"/>
    <p:sldId id="306" r:id="rId27"/>
    <p:sldId id="307" r:id="rId28"/>
  </p:sldIdLst>
  <p:sldSz cx="12192000" cy="6858000"/>
  <p:notesSz cx="6858000" cy="9144000"/>
  <p:embeddedFontLst>
    <p:embeddedFont>
      <p:font typeface="Arial Black" panose="020B0A04020102020204" pitchFamily="34" charset="0"/>
      <p:regular r:id="rId30"/>
      <p:bold r:id="rId31"/>
    </p:embeddedFont>
    <p:embeddedFont>
      <p:font typeface="Calibri" panose="020F0502020204030204" pitchFamily="34" charset="0"/>
      <p:regular r:id="rId32"/>
      <p:bold r:id="rId33"/>
      <p:italic r:id="rId34"/>
      <p:boldItalic r:id="rId35"/>
    </p:embeddedFont>
    <p:embeddedFont>
      <p:font typeface="Cambria Math" panose="02040503050406030204" pitchFamily="18" charset="0"/>
      <p:regular r:id="rId36"/>
    </p:embeddedFont>
    <p:embeddedFont>
      <p:font typeface="Century Gothic" panose="020B0502020202020204" pitchFamily="34" charset="0"/>
      <p:regular r:id="rId37"/>
      <p:bold r:id="rId38"/>
      <p:italic r:id="rId39"/>
      <p:boldItalic r:id="rId40"/>
    </p:embeddedFont>
    <p:embeddedFont>
      <p:font typeface="Cutive" panose="020B0604020202020204" charset="0"/>
      <p:regular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EA6"/>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0"/>
    <p:restoredTop sz="94694"/>
  </p:normalViewPr>
  <p:slideViewPr>
    <p:cSldViewPr snapToGrid="0">
      <p:cViewPr varScale="1">
        <p:scale>
          <a:sx n="81" d="100"/>
          <a:sy n="81" d="100"/>
        </p:scale>
        <p:origin x="87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84032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177324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09582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17111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33854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34451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000869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141159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8109681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0460747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50.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0.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7</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9, Lesson 2</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Adding Linear Expressions with Rational Coefficients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46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97002"/>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MA.7.AR.1.1</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Apply properties of operations to add and subtract linear expressions with rational coefficients. </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a:extLst>
              <a:ext uri="{FF2B5EF4-FFF2-40B4-BE49-F238E27FC236}">
                <a16:creationId xmlns:a16="http://schemas.microsoft.com/office/drawing/2014/main" id="{7E42EF11-5FC6-7744-AF68-159F2F06D67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9531"/>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add linear expressions with rational coefficients.</a:t>
            </a:r>
          </a:p>
        </p:txBody>
      </p:sp>
      <p:sp>
        <p:nvSpPr>
          <p:cNvPr id="8" name="Google Shape;282;g104476d1465_1_17">
            <a:extLst>
              <a:ext uri="{FF2B5EF4-FFF2-40B4-BE49-F238E27FC236}">
                <a16:creationId xmlns:a16="http://schemas.microsoft.com/office/drawing/2014/main" id="{6793C8E2-E1C4-B24A-AB6C-B7DBDD28D85B}"/>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8036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BCEEC8C-9B17-C841-8ED4-211C80FA09C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11179"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9.2.1 Warm-Up: Visual Patterns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63879" y="137160"/>
            <a:ext cx="747300" cy="747300"/>
          </a:xfrm>
          <a:prstGeom prst="rect">
            <a:avLst/>
          </a:prstGeom>
          <a:noFill/>
          <a:ln>
            <a:noFill/>
          </a:ln>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353081A1-25B1-2A4B-8FF2-3F1C264A000D}"/>
              </a:ext>
            </a:extLst>
          </p:cNvPr>
          <p:cNvSpPr/>
          <p:nvPr/>
        </p:nvSpPr>
        <p:spPr>
          <a:xfrm>
            <a:off x="914400" y="1567428"/>
            <a:ext cx="8624742"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Three figures are shown.</a:t>
            </a:r>
          </a:p>
        </p:txBody>
      </p:sp>
      <p:sp>
        <p:nvSpPr>
          <p:cNvPr id="14" name="Google Shape;282;g104476d1465_1_17">
            <a:extLst>
              <a:ext uri="{FF2B5EF4-FFF2-40B4-BE49-F238E27FC236}">
                <a16:creationId xmlns:a16="http://schemas.microsoft.com/office/drawing/2014/main" id="{478CDDBB-860A-D748-B9D0-C51751F3670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pic>
        <p:nvPicPr>
          <p:cNvPr id="9" name="image1.png" descr="A screen shot of a window&#10;&#10;Description automatically generated">
            <a:extLst>
              <a:ext uri="{FF2B5EF4-FFF2-40B4-BE49-F238E27FC236}">
                <a16:creationId xmlns:a16="http://schemas.microsoft.com/office/drawing/2014/main" id="{0917F576-DBAC-2347-A47D-C75CA7C83F2C}"/>
              </a:ext>
            </a:extLst>
          </p:cNvPr>
          <p:cNvPicPr/>
          <p:nvPr/>
        </p:nvPicPr>
        <p:blipFill>
          <a:blip r:embed="rId5"/>
          <a:srcRect/>
          <a:stretch>
            <a:fillRect/>
          </a:stretch>
        </p:blipFill>
        <p:spPr>
          <a:xfrm>
            <a:off x="2348231" y="2414991"/>
            <a:ext cx="5757079" cy="2250000"/>
          </a:xfrm>
          <a:prstGeom prst="rect">
            <a:avLst/>
          </a:prstGeom>
          <a:ln/>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9144"/>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4154984"/>
          </a:xfrm>
          <a:prstGeom prst="rect">
            <a:avLst/>
          </a:prstGeom>
          <a:noFill/>
        </p:spPr>
        <p:txBody>
          <a:bodyPr wrap="square" rtlCol="0">
            <a:spAutoFit/>
          </a:bodyPr>
          <a:lstStyle/>
          <a:p>
            <a:pPr marL="463550" indent="-46355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pattern do you see?</a:t>
            </a: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Explain how many small purple squares you think will be in the next figure.</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a:extLst>
              <a:ext uri="{FF2B5EF4-FFF2-40B4-BE49-F238E27FC236}">
                <a16:creationId xmlns:a16="http://schemas.microsoft.com/office/drawing/2014/main" id="{CA7FA3A8-DC78-A94D-B466-9C41BEDD6321}"/>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46</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16352"/>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ED0D4F70-A5F7-6844-B49C-C7559A2266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47</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598"/>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9.2.2 Exploration: Which One Doesn’t Belong?</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1C46F4F-A85A-084E-B29C-01BB2615DE1E}"/>
              </a:ext>
            </a:extLst>
          </p:cNvPr>
          <p:cNvSpPr/>
          <p:nvPr/>
        </p:nvSpPr>
        <p:spPr>
          <a:xfrm>
            <a:off x="914400" y="1634150"/>
            <a:ext cx="10515600" cy="707886"/>
          </a:xfrm>
          <a:prstGeom prst="rect">
            <a:avLst/>
          </a:prstGeom>
        </p:spPr>
        <p:txBody>
          <a:bodyPr wrap="square">
            <a:spAutoFit/>
          </a:bodyPr>
          <a:lstStyle/>
          <a:p>
            <a:pPr marL="463550" indent="-463550">
              <a:buFont typeface="+mj-lt"/>
              <a:buAutoNum type="arabicPeriod"/>
            </a:pPr>
            <a:r>
              <a:rPr lang="en-US" sz="2000" dirty="0">
                <a:latin typeface="Verdana" panose="020B0604030504040204" pitchFamily="34" charset="0"/>
                <a:ea typeface="Times New Roman" panose="02020603050405020304" pitchFamily="18" charset="0"/>
              </a:rPr>
              <a:t>Which expression does not belong with the other three? Explain your reasoning.</a:t>
            </a:r>
          </a:p>
        </p:txBody>
      </p:sp>
      <p:sp>
        <p:nvSpPr>
          <p:cNvPr id="13" name="Google Shape;282;g104476d1465_1_17">
            <a:extLst>
              <a:ext uri="{FF2B5EF4-FFF2-40B4-BE49-F238E27FC236}">
                <a16:creationId xmlns:a16="http://schemas.microsoft.com/office/drawing/2014/main" id="{201E82E5-44E0-F44C-89CC-51BF5F79728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4198031-FC29-0C43-A1D2-FA987EAF9556}"/>
                  </a:ext>
                </a:extLst>
              </p:cNvPr>
              <p:cNvGraphicFramePr>
                <a:graphicFrameLocks noGrp="1"/>
              </p:cNvGraphicFramePr>
              <p:nvPr>
                <p:extLst>
                  <p:ext uri="{D42A27DB-BD31-4B8C-83A1-F6EECF244321}">
                    <p14:modId xmlns:p14="http://schemas.microsoft.com/office/powerpoint/2010/main" val="1663635466"/>
                  </p:ext>
                </p:extLst>
              </p:nvPr>
            </p:nvGraphicFramePr>
            <p:xfrm>
              <a:off x="2843212" y="2807994"/>
              <a:ext cx="6505576" cy="2693670"/>
            </p:xfrm>
            <a:graphic>
              <a:graphicData uri="http://schemas.openxmlformats.org/drawingml/2006/table">
                <a:tbl>
                  <a:tblPr bandRow="1">
                    <a:tableStyleId>{A91F0D33-8C57-4600-99A7-42BC86742BE1}</a:tableStyleId>
                  </a:tblPr>
                  <a:tblGrid>
                    <a:gridCol w="3252788">
                      <a:extLst>
                        <a:ext uri="{9D8B030D-6E8A-4147-A177-3AD203B41FA5}">
                          <a16:colId xmlns:a16="http://schemas.microsoft.com/office/drawing/2014/main" val="3199667627"/>
                        </a:ext>
                      </a:extLst>
                    </a:gridCol>
                    <a:gridCol w="3252788">
                      <a:extLst>
                        <a:ext uri="{9D8B030D-6E8A-4147-A177-3AD203B41FA5}">
                          <a16:colId xmlns:a16="http://schemas.microsoft.com/office/drawing/2014/main" val="1044362164"/>
                        </a:ext>
                      </a:extLst>
                    </a:gridCol>
                  </a:tblGrid>
                  <a:tr h="134683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A</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7−5</m:t>
                                </m:r>
                                <m:r>
                                  <a:rPr lang="en-US" sz="1800">
                                    <a:effectLst/>
                                    <a:latin typeface="Cambria Math" panose="02040503050406030204" pitchFamily="18" charset="0"/>
                                  </a:rPr>
                                  <m:t>𝑥</m:t>
                                </m:r>
                                <m:r>
                                  <a:rPr lang="en-US" sz="1800">
                                    <a:effectLst/>
                                    <a:latin typeface="Cambria Math" panose="02040503050406030204" pitchFamily="18" charset="0"/>
                                  </a:rPr>
                                  <m:t>−3</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B</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CO" sz="1800" i="1">
                                        <a:effectLst/>
                                        <a:latin typeface="Cambria Math" panose="02040503050406030204" pitchFamily="18" charset="0"/>
                                      </a:rPr>
                                    </m:ctrlPr>
                                  </m:fPr>
                                  <m:num>
                                    <m:r>
                                      <a:rPr lang="en-US" sz="1800">
                                        <a:effectLst/>
                                        <a:latin typeface="Cambria Math" panose="02040503050406030204" pitchFamily="18" charset="0"/>
                                      </a:rPr>
                                      <m:t>3</m:t>
                                    </m:r>
                                  </m:num>
                                  <m:den>
                                    <m:r>
                                      <a:rPr lang="en-US" sz="1800">
                                        <a:effectLst/>
                                        <a:latin typeface="Cambria Math" panose="02040503050406030204" pitchFamily="18" charset="0"/>
                                      </a:rPr>
                                      <m:t>2</m:t>
                                    </m:r>
                                  </m:den>
                                </m:f>
                                <m:r>
                                  <a:rPr lang="en-US" sz="1800">
                                    <a:effectLst/>
                                    <a:latin typeface="Cambria Math" panose="02040503050406030204" pitchFamily="18" charset="0"/>
                                  </a:rPr>
                                  <m:t>𝑥</m:t>
                                </m:r>
                                <m:r>
                                  <a:rPr lang="en-US" sz="1800">
                                    <a:effectLst/>
                                    <a:latin typeface="Cambria Math" panose="02040503050406030204" pitchFamily="18" charset="0"/>
                                  </a:rPr>
                                  <m:t>+6−2−6</m:t>
                                </m:r>
                                <m:f>
                                  <m:fPr>
                                    <m:ctrlPr>
                                      <a:rPr lang="en-CO" sz="1800" i="1">
                                        <a:effectLst/>
                                        <a:latin typeface="Cambria Math" panose="02040503050406030204" pitchFamily="18" charset="0"/>
                                      </a:rPr>
                                    </m:ctrlPr>
                                  </m:fPr>
                                  <m:num>
                                    <m:r>
                                      <a:rPr lang="en-US" sz="1800">
                                        <a:effectLst/>
                                        <a:latin typeface="Cambria Math" panose="02040503050406030204" pitchFamily="18" charset="0"/>
                                      </a:rPr>
                                      <m:t>1</m:t>
                                    </m:r>
                                  </m:num>
                                  <m:den>
                                    <m:r>
                                      <a:rPr lang="en-US" sz="1800">
                                        <a:effectLst/>
                                        <a:latin typeface="Cambria Math" panose="02040503050406030204" pitchFamily="18" charset="0"/>
                                      </a:rPr>
                                      <m:t>2</m:t>
                                    </m:r>
                                  </m:den>
                                </m:f>
                                <m:r>
                                  <a:rPr lang="en-US" sz="1800">
                                    <a:effectLst/>
                                    <a:latin typeface="Cambria Math" panose="02040503050406030204" pitchFamily="18" charset="0"/>
                                  </a:rPr>
                                  <m:t>𝑥</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7972088"/>
                      </a:ext>
                    </a:extLst>
                  </a:tr>
                  <a:tr h="1346835">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C</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m:t>
                                </m:r>
                                <m:r>
                                  <a:rPr lang="en-US" sz="1800">
                                    <a:effectLst/>
                                    <a:latin typeface="Cambria Math" panose="02040503050406030204" pitchFamily="18" charset="0"/>
                                  </a:rPr>
                                  <m:t>𝑥</m:t>
                                </m:r>
                                <m:r>
                                  <a:rPr lang="en-US" sz="1800">
                                    <a:effectLst/>
                                    <a:latin typeface="Cambria Math" panose="02040503050406030204" pitchFamily="18" charset="0"/>
                                  </a:rPr>
                                  <m:t>+7.25−4.25</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 D</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r>
                                  <a:rPr lang="en-US" sz="1800">
                                    <a:effectLst/>
                                    <a:latin typeface="Cambria Math" panose="02040503050406030204" pitchFamily="18" charset="0"/>
                                  </a:rPr>
                                  <m:t>𝑥</m:t>
                                </m:r>
                                <m:r>
                                  <a:rPr lang="en-US" sz="1800">
                                    <a:effectLst/>
                                    <a:latin typeface="Cambria Math" panose="02040503050406030204" pitchFamily="18" charset="0"/>
                                  </a:rPr>
                                  <m:t>−3</m:t>
                                </m:r>
                                <m:r>
                                  <a:rPr lang="en-US" sz="1800">
                                    <a:effectLst/>
                                    <a:latin typeface="Cambria Math" panose="02040503050406030204" pitchFamily="18" charset="0"/>
                                  </a:rPr>
                                  <m:t>𝑥</m:t>
                                </m:r>
                                <m:r>
                                  <a:rPr lang="en-US" sz="1800">
                                    <a:effectLst/>
                                    <a:latin typeface="Cambria Math" panose="02040503050406030204" pitchFamily="18" charset="0"/>
                                  </a:rPr>
                                  <m:t>+4</m:t>
                                </m:r>
                              </m:oMath>
                            </m:oMathPara>
                          </a14:m>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7690391"/>
                      </a:ext>
                    </a:extLst>
                  </a:tr>
                </a:tbl>
              </a:graphicData>
            </a:graphic>
          </p:graphicFrame>
        </mc:Choice>
        <mc:Fallback xmlns="">
          <p:graphicFrame>
            <p:nvGraphicFramePr>
              <p:cNvPr id="3" name="Table 2">
                <a:extLst>
                  <a:ext uri="{FF2B5EF4-FFF2-40B4-BE49-F238E27FC236}">
                    <a16:creationId xmlns:a16="http://schemas.microsoft.com/office/drawing/2014/main" id="{04198031-FC29-0C43-A1D2-FA987EAF9556}"/>
                  </a:ext>
                </a:extLst>
              </p:cNvPr>
              <p:cNvGraphicFramePr>
                <a:graphicFrameLocks noGrp="1"/>
              </p:cNvGraphicFramePr>
              <p:nvPr>
                <p:extLst>
                  <p:ext uri="{D42A27DB-BD31-4B8C-83A1-F6EECF244321}">
                    <p14:modId xmlns:p14="http://schemas.microsoft.com/office/powerpoint/2010/main" val="1663635466"/>
                  </p:ext>
                </p:extLst>
              </p:nvPr>
            </p:nvGraphicFramePr>
            <p:xfrm>
              <a:off x="2843212" y="2807994"/>
              <a:ext cx="6505576" cy="2693670"/>
            </p:xfrm>
            <a:graphic>
              <a:graphicData uri="http://schemas.openxmlformats.org/drawingml/2006/table">
                <a:tbl>
                  <a:tblPr bandRow="1">
                    <a:tableStyleId>{A91F0D33-8C57-4600-99A7-42BC86742BE1}</a:tableStyleId>
                  </a:tblPr>
                  <a:tblGrid>
                    <a:gridCol w="3252788">
                      <a:extLst>
                        <a:ext uri="{9D8B030D-6E8A-4147-A177-3AD203B41FA5}">
                          <a16:colId xmlns:a16="http://schemas.microsoft.com/office/drawing/2014/main" val="3199667627"/>
                        </a:ext>
                      </a:extLst>
                    </a:gridCol>
                    <a:gridCol w="3252788">
                      <a:extLst>
                        <a:ext uri="{9D8B030D-6E8A-4147-A177-3AD203B41FA5}">
                          <a16:colId xmlns:a16="http://schemas.microsoft.com/office/drawing/2014/main" val="1044362164"/>
                        </a:ext>
                      </a:extLst>
                    </a:gridCol>
                  </a:tblGrid>
                  <a:tr h="1346835">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t="-5607" r="-100389" b="-10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0000" t="-5607" r="-389" b="-100000"/>
                          </a:stretch>
                        </a:blipFill>
                      </a:tcPr>
                    </a:tc>
                    <a:extLst>
                      <a:ext uri="{0D108BD9-81ED-4DB2-BD59-A6C34878D82A}">
                        <a16:rowId xmlns:a16="http://schemas.microsoft.com/office/drawing/2014/main" val="2227972088"/>
                      </a:ext>
                    </a:extLst>
                  </a:tr>
                  <a:tr h="1346835">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t="-106604" r="-100389" b="-94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00000" t="-106604" r="-389" b="-943"/>
                          </a:stretch>
                        </a:blipFill>
                      </a:tcPr>
                    </a:tc>
                    <a:extLst>
                      <a:ext uri="{0D108BD9-81ED-4DB2-BD59-A6C34878D82A}">
                        <a16:rowId xmlns:a16="http://schemas.microsoft.com/office/drawing/2014/main" val="1637690391"/>
                      </a:ext>
                    </a:extLst>
                  </a:tr>
                </a:tbl>
              </a:graphicData>
            </a:graphic>
          </p:graphicFrame>
        </mc:Fallback>
      </mc:AlternateContent>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448075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47</a:t>
            </a:r>
            <a:endParaRPr i="1" dirty="0">
              <a:latin typeface="Calibri"/>
              <a:ea typeface="Calibri"/>
              <a:cs typeface="Calibri"/>
              <a:sym typeface="Calibri"/>
            </a:endParaRPr>
          </a:p>
        </p:txBody>
      </p:sp>
      <p:pic>
        <p:nvPicPr>
          <p:cNvPr id="7" name="image6.png">
            <a:extLst>
              <a:ext uri="{FF2B5EF4-FFF2-40B4-BE49-F238E27FC236}">
                <a16:creationId xmlns:a16="http://schemas.microsoft.com/office/drawing/2014/main" id="{8F042CD7-44CD-BD45-9781-0862E207027B}"/>
              </a:ext>
            </a:extLst>
          </p:cNvPr>
          <p:cNvPicPr/>
          <p:nvPr/>
        </p:nvPicPr>
        <p:blipFill>
          <a:blip r:embed="rId4"/>
          <a:srcRect/>
          <a:stretch>
            <a:fillRect/>
          </a:stretch>
        </p:blipFill>
        <p:spPr>
          <a:xfrm>
            <a:off x="3054096" y="2788920"/>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62107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39324"/>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9.2.3 Collaboration: Adding Expressions with Algebra Tiles</a:t>
            </a:r>
          </a:p>
        </p:txBody>
      </p:sp>
      <p:sp>
        <p:nvSpPr>
          <p:cNvPr id="2" name="Rectangle 1">
            <a:extLst>
              <a:ext uri="{FF2B5EF4-FFF2-40B4-BE49-F238E27FC236}">
                <a16:creationId xmlns:a16="http://schemas.microsoft.com/office/drawing/2014/main" id="{C0EEC4E3-DFCF-C94C-B80D-045F3E6BF764}"/>
              </a:ext>
            </a:extLst>
          </p:cNvPr>
          <p:cNvSpPr/>
          <p:nvPr/>
        </p:nvSpPr>
        <p:spPr>
          <a:xfrm>
            <a:off x="914400" y="1307897"/>
            <a:ext cx="10515600" cy="1323439"/>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Algebra tile representations of an expression are given. Work with your partner to find the sum by following the steps below.</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47</a:t>
            </a:r>
            <a:endParaRPr i="1" dirty="0">
              <a:latin typeface="Calibri"/>
              <a:ea typeface="Calibri"/>
              <a:cs typeface="Calibri"/>
              <a:sym typeface="Calibri"/>
            </a:endParaRPr>
          </a:p>
        </p:txBody>
      </p:sp>
      <p:pic>
        <p:nvPicPr>
          <p:cNvPr id="12" name="image6.png">
            <a:extLst>
              <a:ext uri="{FF2B5EF4-FFF2-40B4-BE49-F238E27FC236}">
                <a16:creationId xmlns:a16="http://schemas.microsoft.com/office/drawing/2014/main" id="{C78AFF97-FEF2-FB4E-BF15-A588F35E4FF5}"/>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9808" cy="749808"/>
          </a:xfrm>
          <a:prstGeom prst="rect">
            <a:avLst/>
          </a:prstGeom>
          <a:ln/>
        </p:spPr>
      </p:pic>
      <p:graphicFrame>
        <p:nvGraphicFramePr>
          <p:cNvPr id="33" name="Table 32">
            <a:extLst>
              <a:ext uri="{FF2B5EF4-FFF2-40B4-BE49-F238E27FC236}">
                <a16:creationId xmlns:a16="http://schemas.microsoft.com/office/drawing/2014/main" id="{C6245D55-8497-F748-9E35-95FA38293B5A}"/>
              </a:ext>
            </a:extLst>
          </p:cNvPr>
          <p:cNvGraphicFramePr>
            <a:graphicFrameLocks noGrp="1"/>
          </p:cNvGraphicFramePr>
          <p:nvPr>
            <p:extLst>
              <p:ext uri="{D42A27DB-BD31-4B8C-83A1-F6EECF244321}">
                <p14:modId xmlns:p14="http://schemas.microsoft.com/office/powerpoint/2010/main" val="2102236287"/>
              </p:ext>
            </p:extLst>
          </p:nvPr>
        </p:nvGraphicFramePr>
        <p:xfrm>
          <a:off x="1496291" y="2169611"/>
          <a:ext cx="6937710" cy="4573326"/>
        </p:xfrm>
        <a:graphic>
          <a:graphicData uri="http://schemas.openxmlformats.org/drawingml/2006/table">
            <a:tbl>
              <a:tblPr bandRow="1">
                <a:tableStyleId>{A91F0D33-8C57-4600-99A7-42BC86742BE1}</a:tableStyleId>
              </a:tblPr>
              <a:tblGrid>
                <a:gridCol w="1961998">
                  <a:extLst>
                    <a:ext uri="{9D8B030D-6E8A-4147-A177-3AD203B41FA5}">
                      <a16:colId xmlns:a16="http://schemas.microsoft.com/office/drawing/2014/main" val="1092871335"/>
                    </a:ext>
                  </a:extLst>
                </a:gridCol>
                <a:gridCol w="4975712">
                  <a:extLst>
                    <a:ext uri="{9D8B030D-6E8A-4147-A177-3AD203B41FA5}">
                      <a16:colId xmlns:a16="http://schemas.microsoft.com/office/drawing/2014/main" val="2488539984"/>
                    </a:ext>
                  </a:extLst>
                </a:gridCol>
              </a:tblGrid>
              <a:tr h="1551136">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On the lines, write </a:t>
                      </a:r>
                      <a:endParaRPr lang="en-CO" sz="18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the algebraic expression        </a:t>
                      </a:r>
                      <a:endParaRPr lang="en-CO" sz="18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for each representation.</a:t>
                      </a:r>
                      <a:endParaRPr lang="en-CO" sz="18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80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8586080"/>
                  </a:ext>
                </a:extLst>
              </a:tr>
              <a:tr h="1281486">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Rearrange the tiles to group like tiles. Draw the representation.</a:t>
                      </a:r>
                      <a:endParaRPr lang="en-CO" sz="180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5389841"/>
                  </a:ext>
                </a:extLst>
              </a:tr>
              <a:tr h="1281486">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Eliminate any zero pairs to find the sum.</a:t>
                      </a:r>
                      <a:endParaRPr lang="en-CO" sz="18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Write the sum.</a:t>
                      </a:r>
                      <a:endParaRPr lang="en-CO" sz="180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05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9864288"/>
                  </a:ext>
                </a:extLst>
              </a:tr>
            </a:tbl>
          </a:graphicData>
        </a:graphic>
      </p:graphicFrame>
      <p:pic>
        <p:nvPicPr>
          <p:cNvPr id="35" name="Picture 34" descr="Diagram&#10;&#10;Description automatically generated">
            <a:extLst>
              <a:ext uri="{FF2B5EF4-FFF2-40B4-BE49-F238E27FC236}">
                <a16:creationId xmlns:a16="http://schemas.microsoft.com/office/drawing/2014/main" id="{B6EAF30B-1243-5A4B-BCA8-5E3419F7355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43425" y="2523513"/>
            <a:ext cx="3650977" cy="1347328"/>
          </a:xfrm>
          <a:prstGeom prst="rect">
            <a:avLst/>
          </a:prstGeom>
        </p:spPr>
      </p:pic>
    </p:spTree>
    <p:extLst>
      <p:ext uri="{BB962C8B-B14F-4D97-AF65-F5344CB8AC3E}">
        <p14:creationId xmlns:p14="http://schemas.microsoft.com/office/powerpoint/2010/main" val="1364029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48</a:t>
            </a:r>
            <a:endParaRPr i="1" dirty="0">
              <a:latin typeface="Calibri"/>
              <a:ea typeface="Calibri"/>
              <a:cs typeface="Calibri"/>
              <a:sym typeface="Calibri"/>
            </a:endParaRPr>
          </a:p>
        </p:txBody>
      </p:sp>
      <p:sp>
        <p:nvSpPr>
          <p:cNvPr id="13" name="Rectangle 12">
            <a:extLst>
              <a:ext uri="{FF2B5EF4-FFF2-40B4-BE49-F238E27FC236}">
                <a16:creationId xmlns:a16="http://schemas.microsoft.com/office/drawing/2014/main" id="{419E8053-C76C-3340-8B87-98ACE381DFA4}"/>
              </a:ext>
            </a:extLst>
          </p:cNvPr>
          <p:cNvSpPr/>
          <p:nvPr/>
        </p:nvSpPr>
        <p:spPr>
          <a:xfrm>
            <a:off x="914400" y="332495"/>
            <a:ext cx="8264295" cy="707886"/>
          </a:xfrm>
          <a:prstGeom prst="rect">
            <a:avLst/>
          </a:prstGeom>
        </p:spPr>
        <p:txBody>
          <a:bodyPr wrap="square">
            <a:spAutoFit/>
          </a:bodyPr>
          <a:lstStyle/>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p:graphicFrame>
        <p:nvGraphicFramePr>
          <p:cNvPr id="14" name="Table 13">
            <a:extLst>
              <a:ext uri="{FF2B5EF4-FFF2-40B4-BE49-F238E27FC236}">
                <a16:creationId xmlns:a16="http://schemas.microsoft.com/office/drawing/2014/main" id="{0545E79B-AE39-7642-9D40-DB25A319577F}"/>
              </a:ext>
            </a:extLst>
          </p:cNvPr>
          <p:cNvGraphicFramePr>
            <a:graphicFrameLocks noGrp="1"/>
          </p:cNvGraphicFramePr>
          <p:nvPr>
            <p:extLst>
              <p:ext uri="{D42A27DB-BD31-4B8C-83A1-F6EECF244321}">
                <p14:modId xmlns:p14="http://schemas.microsoft.com/office/powerpoint/2010/main" val="1452443086"/>
              </p:ext>
            </p:extLst>
          </p:nvPr>
        </p:nvGraphicFramePr>
        <p:xfrm>
          <a:off x="1585309" y="565346"/>
          <a:ext cx="7178681" cy="4391772"/>
        </p:xfrm>
        <a:graphic>
          <a:graphicData uri="http://schemas.openxmlformats.org/drawingml/2006/table">
            <a:tbl>
              <a:tblPr bandRow="1">
                <a:tableStyleId>{A91F0D33-8C57-4600-99A7-42BC86742BE1}</a:tableStyleId>
              </a:tblPr>
              <a:tblGrid>
                <a:gridCol w="2939761">
                  <a:extLst>
                    <a:ext uri="{9D8B030D-6E8A-4147-A177-3AD203B41FA5}">
                      <a16:colId xmlns:a16="http://schemas.microsoft.com/office/drawing/2014/main" val="1092871335"/>
                    </a:ext>
                  </a:extLst>
                </a:gridCol>
                <a:gridCol w="4238920">
                  <a:extLst>
                    <a:ext uri="{9D8B030D-6E8A-4147-A177-3AD203B41FA5}">
                      <a16:colId xmlns:a16="http://schemas.microsoft.com/office/drawing/2014/main" val="2488539984"/>
                    </a:ext>
                  </a:extLst>
                </a:gridCol>
              </a:tblGrid>
              <a:tr h="1551136">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On the lines, write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algebraic expression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for each representation.</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05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05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8586080"/>
                  </a:ext>
                </a:extLst>
              </a:tr>
              <a:tr h="1281486">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Rearrange the tiles to group like tiles. Draw the representation.</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05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5389841"/>
                  </a:ext>
                </a:extLst>
              </a:tr>
              <a:tr h="1281486">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Eliminate any zero pairs to find the sum.</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Write the sum.</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050" dirty="0">
                        <a:effectLst/>
                        <a:latin typeface="Verdana" panose="020B0604030504040204" pitchFamily="34" charset="0"/>
                        <a:ea typeface="Verdana" panose="020B0604030504040204" pitchFamily="34" charset="0"/>
                        <a:cs typeface="Verdana" panose="020B0604030504040204" pitchFamily="34" charset="0"/>
                      </a:endParaRPr>
                    </a:p>
                  </a:txBody>
                  <a:tcPr marL="67990" marR="6799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9864288"/>
                  </a:ext>
                </a:extLst>
              </a:tr>
            </a:tbl>
          </a:graphicData>
        </a:graphic>
      </p:graphicFrame>
      <p:pic>
        <p:nvPicPr>
          <p:cNvPr id="3" name="Picture 2" descr="Diagram&#10;&#10;Description automatically generated">
            <a:extLst>
              <a:ext uri="{FF2B5EF4-FFF2-40B4-BE49-F238E27FC236}">
                <a16:creationId xmlns:a16="http://schemas.microsoft.com/office/drawing/2014/main" id="{2E50FE4E-672B-6C4F-B355-E4FE9E5AE45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81451" y="863090"/>
            <a:ext cx="3283788" cy="1340648"/>
          </a:xfrm>
          <a:prstGeom prst="rect">
            <a:avLst/>
          </a:prstGeom>
        </p:spPr>
      </p:pic>
    </p:spTree>
    <p:extLst>
      <p:ext uri="{BB962C8B-B14F-4D97-AF65-F5344CB8AC3E}">
        <p14:creationId xmlns:p14="http://schemas.microsoft.com/office/powerpoint/2010/main" val="2219150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849925"/>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1FF9CFB8-C79A-5D4D-83F8-43846C68790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48</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76648"/>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9.2.4 Guided Instruction: Adding Linear Expressions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F65CEBC6-0C26-3645-AB91-CC52DC9589E3}"/>
              </a:ext>
            </a:extLst>
          </p:cNvPr>
          <p:cNvSpPr/>
          <p:nvPr/>
        </p:nvSpPr>
        <p:spPr>
          <a:xfrm>
            <a:off x="914400" y="2111290"/>
            <a:ext cx="10515600" cy="1323439"/>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When adding two expressions, rearrange the terms so that like terms are grouped together. Then add the coefficients of the like variable terms together and add the constants. Zero pairs are eliminated in this process.</a:t>
            </a:r>
          </a:p>
        </p:txBody>
      </p:sp>
      <p:grpSp>
        <p:nvGrpSpPr>
          <p:cNvPr id="10" name="Group 9">
            <a:extLst>
              <a:ext uri="{FF2B5EF4-FFF2-40B4-BE49-F238E27FC236}">
                <a16:creationId xmlns:a16="http://schemas.microsoft.com/office/drawing/2014/main" id="{0A0F8137-E2FE-2946-BD3D-5765F6F402E4}"/>
              </a:ext>
            </a:extLst>
          </p:cNvPr>
          <p:cNvGrpSpPr/>
          <p:nvPr/>
        </p:nvGrpSpPr>
        <p:grpSpPr>
          <a:xfrm>
            <a:off x="2519850" y="2111290"/>
            <a:ext cx="7075130" cy="1062575"/>
            <a:chOff x="2031300" y="3373600"/>
            <a:chExt cx="6629400" cy="812800"/>
          </a:xfrm>
        </p:grpSpPr>
        <p:sp>
          <p:nvSpPr>
            <p:cNvPr id="11" name="Rectangle 10">
              <a:extLst>
                <a:ext uri="{FF2B5EF4-FFF2-40B4-BE49-F238E27FC236}">
                  <a16:creationId xmlns:a16="http://schemas.microsoft.com/office/drawing/2014/main" id="{1E2EA9D6-63D2-E34C-8141-8523D88768A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15" name="Rectangle 14">
              <a:extLst>
                <a:ext uri="{FF2B5EF4-FFF2-40B4-BE49-F238E27FC236}">
                  <a16:creationId xmlns:a16="http://schemas.microsoft.com/office/drawing/2014/main" id="{4651CB98-3830-734D-B491-BDD63EAA8017}"/>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grpSp>
      <p:sp>
        <p:nvSpPr>
          <p:cNvPr id="18" name="Google Shape;282;g104476d1465_1_17">
            <a:extLst>
              <a:ext uri="{FF2B5EF4-FFF2-40B4-BE49-F238E27FC236}">
                <a16:creationId xmlns:a16="http://schemas.microsoft.com/office/drawing/2014/main" id="{7EB3F1AE-291B-E244-8D87-38A3560E354A}"/>
              </a:ext>
            </a:extLst>
          </p:cNvPr>
          <p:cNvSpPr txBox="1"/>
          <p:nvPr/>
        </p:nvSpPr>
        <p:spPr>
          <a:xfrm>
            <a:off x="8897112" y="645276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id="{66FE73D9-697C-B346-B0C1-DF48838C746F}"/>
                  </a:ext>
                </a:extLst>
              </p:cNvPr>
              <p:cNvSpPr/>
              <p:nvPr/>
            </p:nvSpPr>
            <p:spPr>
              <a:xfrm>
                <a:off x="2441893" y="3980413"/>
                <a:ext cx="7308215" cy="1104900"/>
              </a:xfrm>
              <a:prstGeom prst="roundRect">
                <a:avLst>
                  <a:gd name="adj" fmla="val 16667"/>
                </a:avLst>
              </a:prstGeom>
              <a:solidFill>
                <a:srgbClr val="B8E6F5"/>
              </a:solidFill>
              <a:ln w="12700" cap="flat" cmpd="sng">
                <a:solidFill>
                  <a:srgbClr val="B8E6F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t" anchorCtr="0">
                <a:noAutofit/>
              </a:bodyPr>
              <a:lstStyle/>
              <a:p>
                <a:pPr marL="685800"/>
                <a:r>
                  <a:rPr lang="en-US" sz="1800" dirty="0">
                    <a:solidFill>
                      <a:srgbClr val="00619E"/>
                    </a:solidFill>
                    <a:latin typeface="Verdana" panose="020B0604030504040204" pitchFamily="34" charset="0"/>
                    <a:ea typeface="Times New Roman" panose="02020603050405020304" pitchFamily="18" charset="0"/>
                  </a:rPr>
                  <a:t>Subtracting an integer is the same as adding the opposite. For example, the expression </a:t>
                </a:r>
                <a14:m>
                  <m:oMath xmlns:m="http://schemas.openxmlformats.org/officeDocument/2006/math">
                    <m:r>
                      <a:rPr lang="en-US" sz="1800" i="1">
                        <a:solidFill>
                          <a:srgbClr val="00619E"/>
                        </a:solidFill>
                        <a:latin typeface="Cambria Math" panose="02040503050406030204" pitchFamily="18" charset="0"/>
                        <a:ea typeface="Times New Roman" panose="02020603050405020304" pitchFamily="18" charset="0"/>
                      </a:rPr>
                      <m:t>9−13</m:t>
                    </m:r>
                  </m:oMath>
                </a14:m>
                <a:r>
                  <a:rPr lang="en-US" sz="1800" dirty="0">
                    <a:solidFill>
                      <a:srgbClr val="00619E"/>
                    </a:solidFill>
                    <a:latin typeface="Verdana" panose="020B0604030504040204" pitchFamily="34" charset="0"/>
                    <a:ea typeface="Times New Roman" panose="02020603050405020304" pitchFamily="18" charset="0"/>
                  </a:rPr>
                  <a:t> can be rewritten as </a:t>
                </a:r>
                <a14:m>
                  <m:oMath xmlns:m="http://schemas.openxmlformats.org/officeDocument/2006/math">
                    <m:r>
                      <a:rPr lang="en-US" sz="1800" i="1">
                        <a:solidFill>
                          <a:srgbClr val="00619E"/>
                        </a:solidFill>
                        <a:latin typeface="Cambria Math" panose="02040503050406030204" pitchFamily="18" charset="0"/>
                        <a:ea typeface="Times New Roman" panose="02020603050405020304" pitchFamily="18" charset="0"/>
                      </a:rPr>
                      <m:t>9+−13.</m:t>
                    </m:r>
                  </m:oMath>
                </a14:m>
                <a:endParaRPr lang="en-CO" sz="1200" dirty="0">
                  <a:latin typeface="Times New Roman" panose="02020603050405020304" pitchFamily="18" charset="0"/>
                  <a:ea typeface="Times New Roman" panose="02020603050405020304" pitchFamily="18" charset="0"/>
                </a:endParaRPr>
              </a:p>
              <a:p>
                <a:pPr marL="685800"/>
                <a:r>
                  <a:rPr lang="en-US" sz="1200" dirty="0">
                    <a:solidFill>
                      <a:srgbClr val="00619E"/>
                    </a:solidFill>
                    <a:latin typeface="Verdana" panose="020B0604030504040204" pitchFamily="34" charset="0"/>
                    <a:ea typeface="Times New Roman" panose="02020603050405020304" pitchFamily="18" charset="0"/>
                  </a:rPr>
                  <a:t> </a:t>
                </a:r>
                <a:endParaRPr lang="en-CO" sz="1200" dirty="0">
                  <a:latin typeface="Times New Roman" panose="02020603050405020304" pitchFamily="18" charset="0"/>
                  <a:ea typeface="Times New Roman" panose="02020603050405020304" pitchFamily="18" charset="0"/>
                </a:endParaRPr>
              </a:p>
            </p:txBody>
          </p:sp>
        </mc:Choice>
        <mc:Fallback xmlns="">
          <p:sp>
            <p:nvSpPr>
              <p:cNvPr id="17" name="Rounded Rectangle 16">
                <a:extLst>
                  <a:ext uri="{FF2B5EF4-FFF2-40B4-BE49-F238E27FC236}">
                    <a16:creationId xmlns:a16="http://schemas.microsoft.com/office/drawing/2014/main" id="{66FE73D9-697C-B346-B0C1-DF48838C746F}"/>
                  </a:ext>
                </a:extLst>
              </p:cNvPr>
              <p:cNvSpPr>
                <a:spLocks noRot="1" noChangeAspect="1" noMove="1" noResize="1" noEditPoints="1" noAdjustHandles="1" noChangeArrowheads="1" noChangeShapeType="1" noTextEdit="1"/>
              </p:cNvSpPr>
              <p:nvPr/>
            </p:nvSpPr>
            <p:spPr>
              <a:xfrm>
                <a:off x="2441893" y="3980413"/>
                <a:ext cx="7308215" cy="1104900"/>
              </a:xfrm>
              <a:prstGeom prst="roundRect">
                <a:avLst>
                  <a:gd name="adj" fmla="val 16667"/>
                </a:avLst>
              </a:prstGeom>
              <a:blipFill>
                <a:blip r:embed="rId5"/>
                <a:stretch>
                  <a:fillRect/>
                </a:stretch>
              </a:blipFill>
              <a:ln w="12700" cap="flat" cmpd="sng">
                <a:solidFill>
                  <a:srgbClr val="B8E6F5"/>
                </a:solidFill>
                <a:prstDash val="solid"/>
                <a:miter lim="800000"/>
                <a:headEnd type="none" w="sm" len="sm"/>
                <a:tailEnd type="none" w="sm" len="sm"/>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9" name="image15.png" descr="Icon&#10;&#10;Description automatically generated">
            <a:extLst>
              <a:ext uri="{FF2B5EF4-FFF2-40B4-BE49-F238E27FC236}">
                <a16:creationId xmlns:a16="http://schemas.microsoft.com/office/drawing/2014/main" id="{6BD94F00-85EA-B74E-8AC1-6BBD435B6B2F}"/>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2630005" y="4117430"/>
            <a:ext cx="539750" cy="53911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7D8CE891-558F-FB41-8F03-D31983C4CCA2}"/>
              </a:ext>
            </a:extLst>
          </p:cNvPr>
          <p:cNvSpPr/>
          <p:nvPr/>
        </p:nvSpPr>
        <p:spPr>
          <a:xfrm>
            <a:off x="914400" y="998193"/>
            <a:ext cx="7456393" cy="1015663"/>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the sum of the two expressions.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15" name="Google Shape;282;g104476d1465_1_17">
            <a:extLst>
              <a:ext uri="{FF2B5EF4-FFF2-40B4-BE49-F238E27FC236}">
                <a16:creationId xmlns:a16="http://schemas.microsoft.com/office/drawing/2014/main" id="{AC4FD991-6CC3-DF45-9C50-BB55BF4BD58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AA58551E-B2D2-BD4C-BA10-290A555CAF16}"/>
                  </a:ext>
                </a:extLst>
              </p:cNvPr>
              <p:cNvGraphicFramePr>
                <a:graphicFrameLocks noGrp="1"/>
              </p:cNvGraphicFramePr>
              <p:nvPr>
                <p:extLst>
                  <p:ext uri="{D42A27DB-BD31-4B8C-83A1-F6EECF244321}">
                    <p14:modId xmlns:p14="http://schemas.microsoft.com/office/powerpoint/2010/main" val="2372837437"/>
                  </p:ext>
                </p:extLst>
              </p:nvPr>
            </p:nvGraphicFramePr>
            <p:xfrm>
              <a:off x="1900567" y="1506024"/>
              <a:ext cx="6858000" cy="2992120"/>
            </p:xfrm>
            <a:graphic>
              <a:graphicData uri="http://schemas.openxmlformats.org/drawingml/2006/table">
                <a:tbl>
                  <a:tblPr bandRow="1">
                    <a:tableStyleId>{A91F0D33-8C57-4600-99A7-42BC86742BE1}</a:tableStyleId>
                  </a:tblPr>
                  <a:tblGrid>
                    <a:gridCol w="3562985">
                      <a:extLst>
                        <a:ext uri="{9D8B030D-6E8A-4147-A177-3AD203B41FA5}">
                          <a16:colId xmlns:a16="http://schemas.microsoft.com/office/drawing/2014/main" val="2242411397"/>
                        </a:ext>
                      </a:extLst>
                    </a:gridCol>
                    <a:gridCol w="3295015">
                      <a:extLst>
                        <a:ext uri="{9D8B030D-6E8A-4147-A177-3AD203B41FA5}">
                          <a16:colId xmlns:a16="http://schemas.microsoft.com/office/drawing/2014/main" val="1248437229"/>
                        </a:ext>
                      </a:extLst>
                    </a:gridCol>
                  </a:tblGrid>
                  <a:tr h="55372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CO" sz="2000" i="1">
                                        <a:effectLst/>
                                        <a:latin typeface="Cambria Math" panose="02040503050406030204" pitchFamily="18" charset="0"/>
                                      </a:rPr>
                                    </m:ctrlPr>
                                  </m:dPr>
                                  <m:e>
                                    <m:r>
                                      <a:rPr lang="en-US" sz="2000">
                                        <a:effectLst/>
                                        <a:latin typeface="Cambria Math" panose="02040503050406030204" pitchFamily="18" charset="0"/>
                                      </a:rPr>
                                      <m:t>2</m:t>
                                    </m:r>
                                    <m:r>
                                      <a:rPr lang="en-US" sz="2000">
                                        <a:effectLst/>
                                        <a:latin typeface="Cambria Math" panose="02040503050406030204" pitchFamily="18" charset="0"/>
                                      </a:rPr>
                                      <m:t>𝑥</m:t>
                                    </m:r>
                                    <m:r>
                                      <a:rPr lang="en-US" sz="2000">
                                        <a:effectLst/>
                                        <a:latin typeface="Cambria Math" panose="02040503050406030204" pitchFamily="18" charset="0"/>
                                      </a:rPr>
                                      <m:t> + 6</m:t>
                                    </m:r>
                                  </m:e>
                                </m:d>
                                <m:r>
                                  <a:rPr lang="en-US" sz="2000">
                                    <a:effectLst/>
                                    <a:latin typeface="Cambria Math" panose="02040503050406030204" pitchFamily="18" charset="0"/>
                                  </a:rPr>
                                  <m:t> + (5</m:t>
                                </m:r>
                                <m:r>
                                  <a:rPr lang="en-US" sz="2000">
                                    <a:effectLst/>
                                    <a:latin typeface="Cambria Math" panose="02040503050406030204" pitchFamily="18" charset="0"/>
                                  </a:rPr>
                                  <m:t>𝑥</m:t>
                                </m:r>
                                <m:r>
                                  <a:rPr lang="en-US" sz="2000">
                                    <a:effectLst/>
                                    <a:latin typeface="Cambria Math" panose="02040503050406030204" pitchFamily="18" charset="0"/>
                                  </a:rPr>
                                  <m:t> + 4)</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478906454"/>
                      </a:ext>
                    </a:extLst>
                  </a:tr>
                  <a:tr h="113411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 Rearrange the terms so that like terms are together.</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______</m:t>
                                </m:r>
                                <m:r>
                                  <a:rPr lang="en-US" sz="2000">
                                    <a:effectLst/>
                                    <a:latin typeface="Cambria Math" panose="02040503050406030204" pitchFamily="18" charset="0"/>
                                  </a:rPr>
                                  <m:t>𝑥</m:t>
                                </m:r>
                                <m:r>
                                  <a:rPr lang="en-US" sz="2000">
                                    <a:effectLst/>
                                    <a:latin typeface="Cambria Math" panose="02040503050406030204" pitchFamily="18" charset="0"/>
                                  </a:rPr>
                                  <m:t>+______</m:t>
                                </m:r>
                                <m:r>
                                  <a:rPr lang="en-US" sz="2000">
                                    <a:effectLst/>
                                    <a:latin typeface="Cambria Math" panose="02040503050406030204" pitchFamily="18" charset="0"/>
                                  </a:rPr>
                                  <m:t>𝑥</m:t>
                                </m:r>
                                <m:r>
                                  <a:rPr lang="en-US" sz="2000">
                                    <a:effectLst/>
                                    <a:latin typeface="Cambria Math" panose="02040503050406030204" pitchFamily="18" charset="0"/>
                                  </a:rPr>
                                  <m:t>+______+______</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140486"/>
                      </a:ext>
                    </a:extLst>
                  </a:tr>
                  <a:tr h="113411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Simplified Expression: Add the coefficients of the like variable</a:t>
                          </a:r>
                          <a14:m>
                            <m:oMath xmlns:m="http://schemas.openxmlformats.org/officeDocument/2006/math">
                              <m:r>
                                <a:rPr lang="en-US" sz="2000" b="1">
                                  <a:effectLst/>
                                  <a:latin typeface="Cambria Math" panose="02040503050406030204" pitchFamily="18" charset="0"/>
                                </a:rPr>
                                <m:t> </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terms and add the constants.</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______</m:t>
                                </m:r>
                                <m:r>
                                  <a:rPr lang="en-US" sz="2000">
                                    <a:effectLst/>
                                    <a:latin typeface="Cambria Math" panose="02040503050406030204" pitchFamily="18" charset="0"/>
                                  </a:rPr>
                                  <m:t>𝑥</m:t>
                                </m:r>
                                <m:r>
                                  <a:rPr lang="en-US" sz="2000">
                                    <a:effectLst/>
                                    <a:latin typeface="Cambria Math" panose="02040503050406030204" pitchFamily="18" charset="0"/>
                                  </a:rPr>
                                  <m:t>+______</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2651351"/>
                      </a:ext>
                    </a:extLst>
                  </a:tr>
                </a:tbl>
              </a:graphicData>
            </a:graphic>
          </p:graphicFrame>
        </mc:Choice>
        <mc:Fallback>
          <p:graphicFrame>
            <p:nvGraphicFramePr>
              <p:cNvPr id="3" name="Table 2">
                <a:extLst>
                  <a:ext uri="{FF2B5EF4-FFF2-40B4-BE49-F238E27FC236}">
                    <a16:creationId xmlns:a16="http://schemas.microsoft.com/office/drawing/2014/main" id="{AA58551E-B2D2-BD4C-BA10-290A555CAF16}"/>
                  </a:ext>
                </a:extLst>
              </p:cNvPr>
              <p:cNvGraphicFramePr>
                <a:graphicFrameLocks noGrp="1"/>
              </p:cNvGraphicFramePr>
              <p:nvPr>
                <p:extLst>
                  <p:ext uri="{D42A27DB-BD31-4B8C-83A1-F6EECF244321}">
                    <p14:modId xmlns:p14="http://schemas.microsoft.com/office/powerpoint/2010/main" val="2372837437"/>
                  </p:ext>
                </p:extLst>
              </p:nvPr>
            </p:nvGraphicFramePr>
            <p:xfrm>
              <a:off x="1900567" y="1506024"/>
              <a:ext cx="6858000" cy="2992120"/>
            </p:xfrm>
            <a:graphic>
              <a:graphicData uri="http://schemas.openxmlformats.org/drawingml/2006/table">
                <a:tbl>
                  <a:tblPr bandRow="1">
                    <a:tableStyleId>{A91F0D33-8C57-4600-99A7-42BC86742BE1}</a:tableStyleId>
                  </a:tblPr>
                  <a:tblGrid>
                    <a:gridCol w="3562985">
                      <a:extLst>
                        <a:ext uri="{9D8B030D-6E8A-4147-A177-3AD203B41FA5}">
                          <a16:colId xmlns:a16="http://schemas.microsoft.com/office/drawing/2014/main" val="2242411397"/>
                        </a:ext>
                      </a:extLst>
                    </a:gridCol>
                    <a:gridCol w="3295015">
                      <a:extLst>
                        <a:ext uri="{9D8B030D-6E8A-4147-A177-3AD203B41FA5}">
                          <a16:colId xmlns:a16="http://schemas.microsoft.com/office/drawing/2014/main" val="1248437229"/>
                        </a:ext>
                      </a:extLst>
                    </a:gridCol>
                  </a:tblGrid>
                  <a:tr h="55372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318" t="-1099" r="-370" b="-467033"/>
                          </a:stretch>
                        </a:blipFill>
                      </a:tcPr>
                    </a:tc>
                    <a:extLst>
                      <a:ext uri="{0D108BD9-81ED-4DB2-BD59-A6C34878D82A}">
                        <a16:rowId xmlns:a16="http://schemas.microsoft.com/office/drawing/2014/main" val="1478906454"/>
                      </a:ext>
                    </a:extLst>
                  </a:tr>
                  <a:tr h="1219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 Rearrange the terms so that like terms are together.</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318" t="-46000" r="-370" b="-112500"/>
                          </a:stretch>
                        </a:blipFill>
                      </a:tcPr>
                    </a:tc>
                    <a:extLst>
                      <a:ext uri="{0D108BD9-81ED-4DB2-BD59-A6C34878D82A}">
                        <a16:rowId xmlns:a16="http://schemas.microsoft.com/office/drawing/2014/main" val="2625140486"/>
                      </a:ext>
                    </a:extLst>
                  </a:tr>
                  <a:tr h="1219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71" t="-146000" r="-92821" b="-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318" t="-146000" r="-370" b="-12500"/>
                          </a:stretch>
                        </a:blipFill>
                      </a:tcPr>
                    </a:tc>
                    <a:extLst>
                      <a:ext uri="{0D108BD9-81ED-4DB2-BD59-A6C34878D82A}">
                        <a16:rowId xmlns:a16="http://schemas.microsoft.com/office/drawing/2014/main" val="2402651351"/>
                      </a:ext>
                    </a:extLst>
                  </a:tr>
                </a:tbl>
              </a:graphicData>
            </a:graphic>
          </p:graphicFrame>
        </mc:Fallback>
      </mc:AlternateContent>
    </p:spTree>
    <p:extLst>
      <p:ext uri="{BB962C8B-B14F-4D97-AF65-F5344CB8AC3E}">
        <p14:creationId xmlns:p14="http://schemas.microsoft.com/office/powerpoint/2010/main" val="1979042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964DACC8-9278-5D41-A412-4D85903DDDBA}"/>
              </a:ext>
            </a:extLst>
          </p:cNvPr>
          <p:cNvSpPr/>
          <p:nvPr/>
        </p:nvSpPr>
        <p:spPr>
          <a:xfrm>
            <a:off x="914400" y="1011825"/>
            <a:ext cx="7836408" cy="400110"/>
          </a:xfrm>
          <a:prstGeom prst="rect">
            <a:avLst/>
          </a:prstGeom>
        </p:spPr>
        <p:txBody>
          <a:bodyPr wrap="square">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15" name="Google Shape;282;g104476d1465_1_17">
            <a:extLst>
              <a:ext uri="{FF2B5EF4-FFF2-40B4-BE49-F238E27FC236}">
                <a16:creationId xmlns:a16="http://schemas.microsoft.com/office/drawing/2014/main" id="{E493DB5F-375D-8244-B784-A6E29A1A310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76F1EA32-0AF0-1F40-82B2-79060CEDEB35}"/>
                  </a:ext>
                </a:extLst>
              </p:cNvPr>
              <p:cNvGraphicFramePr>
                <a:graphicFrameLocks noGrp="1"/>
              </p:cNvGraphicFramePr>
              <p:nvPr>
                <p:extLst>
                  <p:ext uri="{D42A27DB-BD31-4B8C-83A1-F6EECF244321}">
                    <p14:modId xmlns:p14="http://schemas.microsoft.com/office/powerpoint/2010/main" val="1149082766"/>
                  </p:ext>
                </p:extLst>
              </p:nvPr>
            </p:nvGraphicFramePr>
            <p:xfrm>
              <a:off x="1892808" y="1011825"/>
              <a:ext cx="6858000" cy="3094355"/>
            </p:xfrm>
            <a:graphic>
              <a:graphicData uri="http://schemas.openxmlformats.org/drawingml/2006/table">
                <a:tbl>
                  <a:tblPr bandRow="1">
                    <a:tableStyleId>{A91F0D33-8C57-4600-99A7-42BC86742BE1}</a:tableStyleId>
                  </a:tblPr>
                  <a:tblGrid>
                    <a:gridCol w="3564635">
                      <a:extLst>
                        <a:ext uri="{9D8B030D-6E8A-4147-A177-3AD203B41FA5}">
                          <a16:colId xmlns:a16="http://schemas.microsoft.com/office/drawing/2014/main" val="3967118821"/>
                        </a:ext>
                      </a:extLst>
                    </a:gridCol>
                    <a:gridCol w="3293365">
                      <a:extLst>
                        <a:ext uri="{9D8B030D-6E8A-4147-A177-3AD203B41FA5}">
                          <a16:colId xmlns:a16="http://schemas.microsoft.com/office/drawing/2014/main" val="2780667875"/>
                        </a:ext>
                      </a:extLst>
                    </a:gridCol>
                  </a:tblGrid>
                  <a:tr h="60769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CO" sz="2000" i="1">
                                        <a:effectLst/>
                                        <a:latin typeface="Cambria Math" panose="02040503050406030204" pitchFamily="18" charset="0"/>
                                      </a:rPr>
                                    </m:ctrlPr>
                                  </m:dPr>
                                  <m:e>
                                    <m:r>
                                      <a:rPr lang="en-US" sz="2000">
                                        <a:effectLst/>
                                        <a:latin typeface="Cambria Math" panose="02040503050406030204" pitchFamily="18" charset="0"/>
                                      </a:rPr>
                                      <m:t>−2</m:t>
                                    </m:r>
                                    <m:r>
                                      <a:rPr lang="en-US" sz="2000">
                                        <a:effectLst/>
                                        <a:latin typeface="Cambria Math" panose="02040503050406030204" pitchFamily="18" charset="0"/>
                                      </a:rPr>
                                      <m:t>𝑥</m:t>
                                    </m:r>
                                    <m:r>
                                      <a:rPr lang="en-US" sz="2000">
                                        <a:effectLst/>
                                        <a:latin typeface="Cambria Math" panose="02040503050406030204" pitchFamily="18" charset="0"/>
                                      </a:rPr>
                                      <m:t> + 6</m:t>
                                    </m:r>
                                  </m:e>
                                </m:d>
                                <m:r>
                                  <a:rPr lang="en-US" sz="2000">
                                    <a:effectLst/>
                                    <a:latin typeface="Cambria Math" panose="02040503050406030204" pitchFamily="18" charset="0"/>
                                  </a:rPr>
                                  <m:t> + (5</m:t>
                                </m:r>
                                <m:r>
                                  <a:rPr lang="en-US" sz="2000">
                                    <a:effectLst/>
                                    <a:latin typeface="Cambria Math" panose="02040503050406030204" pitchFamily="18" charset="0"/>
                                  </a:rPr>
                                  <m:t>𝑥</m:t>
                                </m:r>
                                <m:r>
                                  <a:rPr lang="en-US" sz="2000">
                                    <a:effectLst/>
                                    <a:latin typeface="Cambria Math" panose="02040503050406030204" pitchFamily="18" charset="0"/>
                                  </a:rPr>
                                  <m:t> − 4)</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4148585410"/>
                      </a:ext>
                    </a:extLst>
                  </a:tr>
                  <a:tr h="124333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 Rearrange the terms so that like terms are together.</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______</m:t>
                                </m:r>
                                <m:r>
                                  <a:rPr lang="en-US" sz="2000">
                                    <a:effectLst/>
                                    <a:latin typeface="Cambria Math" panose="02040503050406030204" pitchFamily="18" charset="0"/>
                                  </a:rPr>
                                  <m:t>𝑥</m:t>
                                </m:r>
                                <m:r>
                                  <a:rPr lang="en-US" sz="2000">
                                    <a:effectLst/>
                                    <a:latin typeface="Cambria Math" panose="02040503050406030204" pitchFamily="18" charset="0"/>
                                  </a:rPr>
                                  <m:t>+______</m:t>
                                </m:r>
                                <m:r>
                                  <a:rPr lang="en-US" sz="2000">
                                    <a:effectLst/>
                                    <a:latin typeface="Cambria Math" panose="02040503050406030204" pitchFamily="18" charset="0"/>
                                  </a:rPr>
                                  <m:t>𝑥</m:t>
                                </m:r>
                                <m:r>
                                  <a:rPr lang="en-US" sz="2000">
                                    <a:effectLst/>
                                    <a:latin typeface="Cambria Math" panose="02040503050406030204" pitchFamily="18" charset="0"/>
                                  </a:rPr>
                                  <m:t>+______+______</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1217541"/>
                      </a:ext>
                    </a:extLst>
                  </a:tr>
                  <a:tr h="124333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Simplified Expression: Add the coefficients of the like variable</a:t>
                          </a:r>
                          <a14:m>
                            <m:oMath xmlns:m="http://schemas.openxmlformats.org/officeDocument/2006/math">
                              <m:r>
                                <a:rPr lang="en-US" sz="2000" b="1">
                                  <a:effectLst/>
                                  <a:latin typeface="Cambria Math" panose="02040503050406030204" pitchFamily="18" charset="0"/>
                                </a:rPr>
                                <m:t> </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terms and add the constants.</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______</m:t>
                                </m:r>
                                <m:r>
                                  <a:rPr lang="en-US" sz="2000">
                                    <a:effectLst/>
                                    <a:latin typeface="Cambria Math" panose="02040503050406030204" pitchFamily="18" charset="0"/>
                                  </a:rPr>
                                  <m:t>𝑥</m:t>
                                </m:r>
                                <m:r>
                                  <a:rPr lang="en-US" sz="2000">
                                    <a:effectLst/>
                                    <a:latin typeface="Cambria Math" panose="02040503050406030204" pitchFamily="18" charset="0"/>
                                  </a:rPr>
                                  <m:t>+______</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1422665"/>
                      </a:ext>
                    </a:extLst>
                  </a:tr>
                </a:tbl>
              </a:graphicData>
            </a:graphic>
          </p:graphicFrame>
        </mc:Choice>
        <mc:Fallback>
          <p:graphicFrame>
            <p:nvGraphicFramePr>
              <p:cNvPr id="3" name="Table 2">
                <a:extLst>
                  <a:ext uri="{FF2B5EF4-FFF2-40B4-BE49-F238E27FC236}">
                    <a16:creationId xmlns:a16="http://schemas.microsoft.com/office/drawing/2014/main" id="{76F1EA32-0AF0-1F40-82B2-79060CEDEB35}"/>
                  </a:ext>
                </a:extLst>
              </p:cNvPr>
              <p:cNvGraphicFramePr>
                <a:graphicFrameLocks noGrp="1"/>
              </p:cNvGraphicFramePr>
              <p:nvPr>
                <p:extLst>
                  <p:ext uri="{D42A27DB-BD31-4B8C-83A1-F6EECF244321}">
                    <p14:modId xmlns:p14="http://schemas.microsoft.com/office/powerpoint/2010/main" val="1149082766"/>
                  </p:ext>
                </p:extLst>
              </p:nvPr>
            </p:nvGraphicFramePr>
            <p:xfrm>
              <a:off x="1892808" y="1011825"/>
              <a:ext cx="6858000" cy="3094355"/>
            </p:xfrm>
            <a:graphic>
              <a:graphicData uri="http://schemas.openxmlformats.org/drawingml/2006/table">
                <a:tbl>
                  <a:tblPr bandRow="1">
                    <a:tableStyleId>{A91F0D33-8C57-4600-99A7-42BC86742BE1}</a:tableStyleId>
                  </a:tblPr>
                  <a:tblGrid>
                    <a:gridCol w="3564635">
                      <a:extLst>
                        <a:ext uri="{9D8B030D-6E8A-4147-A177-3AD203B41FA5}">
                          <a16:colId xmlns:a16="http://schemas.microsoft.com/office/drawing/2014/main" val="3967118821"/>
                        </a:ext>
                      </a:extLst>
                    </a:gridCol>
                    <a:gridCol w="3293365">
                      <a:extLst>
                        <a:ext uri="{9D8B030D-6E8A-4147-A177-3AD203B41FA5}">
                          <a16:colId xmlns:a16="http://schemas.microsoft.com/office/drawing/2014/main" val="2780667875"/>
                        </a:ext>
                      </a:extLst>
                    </a:gridCol>
                  </a:tblGrid>
                  <a:tr h="60769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318" t="-1000" r="-370" b="-432000"/>
                          </a:stretch>
                        </a:blipFill>
                      </a:tcPr>
                    </a:tc>
                    <a:extLst>
                      <a:ext uri="{0D108BD9-81ED-4DB2-BD59-A6C34878D82A}">
                        <a16:rowId xmlns:a16="http://schemas.microsoft.com/office/drawing/2014/main" val="4148585410"/>
                      </a:ext>
                    </a:extLst>
                  </a:tr>
                  <a:tr h="124333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 Rearrange the terms so that like terms are together.</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318" t="-49510" r="-370" b="-111765"/>
                          </a:stretch>
                        </a:blipFill>
                      </a:tcPr>
                    </a:tc>
                    <a:extLst>
                      <a:ext uri="{0D108BD9-81ED-4DB2-BD59-A6C34878D82A}">
                        <a16:rowId xmlns:a16="http://schemas.microsoft.com/office/drawing/2014/main" val="2151217541"/>
                      </a:ext>
                    </a:extLst>
                  </a:tr>
                  <a:tr h="124333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71" t="-148780" r="-92821" b="-1122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318" t="-148780" r="-370" b="-11220"/>
                          </a:stretch>
                        </a:blipFill>
                      </a:tcPr>
                    </a:tc>
                    <a:extLst>
                      <a:ext uri="{0D108BD9-81ED-4DB2-BD59-A6C34878D82A}">
                        <a16:rowId xmlns:a16="http://schemas.microsoft.com/office/drawing/2014/main" val="3091422665"/>
                      </a:ext>
                    </a:extLst>
                  </a:tr>
                </a:tbl>
              </a:graphicData>
            </a:graphic>
          </p:graphicFrame>
        </mc:Fallback>
      </mc:AlternateContent>
    </p:spTree>
    <p:extLst>
      <p:ext uri="{BB962C8B-B14F-4D97-AF65-F5344CB8AC3E}">
        <p14:creationId xmlns:p14="http://schemas.microsoft.com/office/powerpoint/2010/main" val="3761598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478244E2-71D0-9D48-A977-8CF152F21B3B}"/>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p:sp>
        <p:nvSpPr>
          <p:cNvPr id="8" name="Google Shape;313;g104476d1465_1_39">
            <a:extLst>
              <a:ext uri="{FF2B5EF4-FFF2-40B4-BE49-F238E27FC236}">
                <a16:creationId xmlns:a16="http://schemas.microsoft.com/office/drawing/2014/main" id="{633EF7D2-1380-474F-A811-1521AF16B77E}"/>
              </a:ext>
            </a:extLst>
          </p:cNvPr>
          <p:cNvSpPr txBox="1">
            <a:spLocks/>
          </p:cNvSpPr>
          <p:nvPr/>
        </p:nvSpPr>
        <p:spPr>
          <a:xfrm>
            <a:off x="4270248" y="2766145"/>
            <a:ext cx="44807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4400" b="1" dirty="0">
                <a:solidFill>
                  <a:srgbClr val="33BEA6"/>
                </a:solidFill>
                <a:latin typeface="Verdana"/>
                <a:ea typeface="Verdana"/>
                <a:cs typeface="Verdana"/>
                <a:sym typeface="Verdana"/>
              </a:rPr>
              <a:t>Collaboration</a:t>
            </a:r>
            <a:endParaRPr lang="en-US" sz="4000" b="1" dirty="0">
              <a:solidFill>
                <a:srgbClr val="33BEA6"/>
              </a:solidFill>
              <a:latin typeface="Verdana"/>
              <a:ea typeface="Verdana"/>
              <a:cs typeface="Verdana"/>
              <a:sym typeface="Verdana"/>
            </a:endParaRPr>
          </a:p>
        </p:txBody>
      </p:sp>
      <p:pic>
        <p:nvPicPr>
          <p:cNvPr id="10" name="image6.png">
            <a:extLst>
              <a:ext uri="{FF2B5EF4-FFF2-40B4-BE49-F238E27FC236}">
                <a16:creationId xmlns:a16="http://schemas.microsoft.com/office/drawing/2014/main" id="{E1BA377E-2582-C843-AAA1-9D432DB36151}"/>
              </a:ext>
            </a:extLst>
          </p:cNvPr>
          <p:cNvPicPr/>
          <p:nvPr/>
        </p:nvPicPr>
        <p:blipFill>
          <a:blip r:embed="rId4"/>
          <a:srcRect/>
          <a:stretch>
            <a:fillRect/>
          </a:stretch>
        </p:blipFill>
        <p:spPr>
          <a:xfrm>
            <a:off x="3054096" y="2788920"/>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26093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7B1B67C1-9783-084B-8A75-268E226830AE}"/>
              </a:ext>
            </a:extLst>
          </p:cNvPr>
          <p:cNvSpPr/>
          <p:nvPr/>
        </p:nvSpPr>
        <p:spPr>
          <a:xfrm>
            <a:off x="914400" y="1446986"/>
            <a:ext cx="8581650" cy="1323439"/>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rPr>
              <a:t>Work with your partner to find the sum of the two expressions in simplest form.</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rPr>
              <a:t> </a:t>
            </a:r>
          </a:p>
        </p:txBody>
      </p:sp>
      <p:sp>
        <p:nvSpPr>
          <p:cNvPr id="14" name="Google Shape;282;g104476d1465_1_17">
            <a:extLst>
              <a:ext uri="{FF2B5EF4-FFF2-40B4-BE49-F238E27FC236}">
                <a16:creationId xmlns:a16="http://schemas.microsoft.com/office/drawing/2014/main" id="{7252D359-49A5-AF4B-B4D0-4523BF100C6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p:sp>
        <p:nvSpPr>
          <p:cNvPr id="11" name="Google Shape;343;g103996e1364_0_321">
            <a:extLst>
              <a:ext uri="{FF2B5EF4-FFF2-40B4-BE49-F238E27FC236}">
                <a16:creationId xmlns:a16="http://schemas.microsoft.com/office/drawing/2014/main" id="{4AE074FF-F951-C94D-B99A-B1F398ED06B9}"/>
              </a:ext>
            </a:extLst>
          </p:cNvPr>
          <p:cNvSpPr txBox="1">
            <a:spLocks/>
          </p:cNvSpPr>
          <p:nvPr/>
        </p:nvSpPr>
        <p:spPr>
          <a:xfrm>
            <a:off x="1143000" y="-39324"/>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9.2.5 Collaboration: Adding Linear Expressions</a:t>
            </a:r>
          </a:p>
        </p:txBody>
      </p:sp>
      <p:pic>
        <p:nvPicPr>
          <p:cNvPr id="12" name="image6.png">
            <a:extLst>
              <a:ext uri="{FF2B5EF4-FFF2-40B4-BE49-F238E27FC236}">
                <a16:creationId xmlns:a16="http://schemas.microsoft.com/office/drawing/2014/main" id="{1890987B-0F17-4E43-AAA5-997FEA8A1FAF}"/>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9808" cy="749808"/>
          </a:xfrm>
          <a:prstGeom prst="rect">
            <a:avLst/>
          </a:prstGeom>
          <a:ln/>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16A917FB-5928-EE47-96E1-4F3C0BA2A307}"/>
                  </a:ext>
                </a:extLst>
              </p:cNvPr>
              <p:cNvGraphicFramePr>
                <a:graphicFrameLocks noGrp="1"/>
              </p:cNvGraphicFramePr>
              <p:nvPr>
                <p:extLst>
                  <p:ext uri="{D42A27DB-BD31-4B8C-83A1-F6EECF244321}">
                    <p14:modId xmlns:p14="http://schemas.microsoft.com/office/powerpoint/2010/main" val="215656786"/>
                  </p:ext>
                </p:extLst>
              </p:nvPr>
            </p:nvGraphicFramePr>
            <p:xfrm>
              <a:off x="1874062" y="2354789"/>
              <a:ext cx="6848475" cy="3226435"/>
            </p:xfrm>
            <a:graphic>
              <a:graphicData uri="http://schemas.openxmlformats.org/drawingml/2006/table">
                <a:tbl>
                  <a:tblPr bandRow="1">
                    <a:tableStyleId>{A91F0D33-8C57-4600-99A7-42BC86742BE1}</a:tableStyleId>
                  </a:tblPr>
                  <a:tblGrid>
                    <a:gridCol w="3048070">
                      <a:extLst>
                        <a:ext uri="{9D8B030D-6E8A-4147-A177-3AD203B41FA5}">
                          <a16:colId xmlns:a16="http://schemas.microsoft.com/office/drawing/2014/main" val="2740737697"/>
                        </a:ext>
                      </a:extLst>
                    </a:gridCol>
                    <a:gridCol w="3800405">
                      <a:extLst>
                        <a:ext uri="{9D8B030D-6E8A-4147-A177-3AD203B41FA5}">
                          <a16:colId xmlns:a16="http://schemas.microsoft.com/office/drawing/2014/main" val="740511344"/>
                        </a:ext>
                      </a:extLst>
                    </a:gridCol>
                  </a:tblGrid>
                  <a:tr h="61150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 + (8 −0.4</m:t>
                                </m:r>
                                <m:r>
                                  <a:rPr lang="en-US" sz="2000">
                                    <a:effectLst/>
                                    <a:latin typeface="Cambria Math" panose="02040503050406030204" pitchFamily="18" charset="0"/>
                                  </a:rPr>
                                  <m:t>𝑥</m:t>
                                </m:r>
                                <m:r>
                                  <a:rPr lang="en-US" sz="2000">
                                    <a:effectLst/>
                                    <a:latin typeface="Cambria Math" panose="02040503050406030204" pitchFamily="18" charset="0"/>
                                  </a:rPr>
                                  <m:t>)</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158848740"/>
                      </a:ext>
                    </a:extLst>
                  </a:tr>
                  <a:tr h="13074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1630345"/>
                      </a:ext>
                    </a:extLst>
                  </a:tr>
                  <a:tr h="13074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0890138"/>
                      </a:ext>
                    </a:extLst>
                  </a:tr>
                </a:tbl>
              </a:graphicData>
            </a:graphic>
          </p:graphicFrame>
        </mc:Choice>
        <mc:Fallback>
          <p:graphicFrame>
            <p:nvGraphicFramePr>
              <p:cNvPr id="3" name="Table 2">
                <a:extLst>
                  <a:ext uri="{FF2B5EF4-FFF2-40B4-BE49-F238E27FC236}">
                    <a16:creationId xmlns:a16="http://schemas.microsoft.com/office/drawing/2014/main" id="{16A917FB-5928-EE47-96E1-4F3C0BA2A307}"/>
                  </a:ext>
                </a:extLst>
              </p:cNvPr>
              <p:cNvGraphicFramePr>
                <a:graphicFrameLocks noGrp="1"/>
              </p:cNvGraphicFramePr>
              <p:nvPr>
                <p:extLst>
                  <p:ext uri="{D42A27DB-BD31-4B8C-83A1-F6EECF244321}">
                    <p14:modId xmlns:p14="http://schemas.microsoft.com/office/powerpoint/2010/main" val="215656786"/>
                  </p:ext>
                </p:extLst>
              </p:nvPr>
            </p:nvGraphicFramePr>
            <p:xfrm>
              <a:off x="1874062" y="2354789"/>
              <a:ext cx="6848475" cy="3226435"/>
            </p:xfrm>
            <a:graphic>
              <a:graphicData uri="http://schemas.openxmlformats.org/drawingml/2006/table">
                <a:tbl>
                  <a:tblPr bandRow="1">
                    <a:tableStyleId>{A91F0D33-8C57-4600-99A7-42BC86742BE1}</a:tableStyleId>
                  </a:tblPr>
                  <a:tblGrid>
                    <a:gridCol w="3048070">
                      <a:extLst>
                        <a:ext uri="{9D8B030D-6E8A-4147-A177-3AD203B41FA5}">
                          <a16:colId xmlns:a16="http://schemas.microsoft.com/office/drawing/2014/main" val="2740737697"/>
                        </a:ext>
                      </a:extLst>
                    </a:gridCol>
                    <a:gridCol w="3800405">
                      <a:extLst>
                        <a:ext uri="{9D8B030D-6E8A-4147-A177-3AD203B41FA5}">
                          <a16:colId xmlns:a16="http://schemas.microsoft.com/office/drawing/2014/main" val="740511344"/>
                        </a:ext>
                      </a:extLst>
                    </a:gridCol>
                  </a:tblGrid>
                  <a:tr h="61150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288" t="-1000" r="-321" b="-432000"/>
                          </a:stretch>
                        </a:blipFill>
                      </a:tcPr>
                    </a:tc>
                    <a:extLst>
                      <a:ext uri="{0D108BD9-81ED-4DB2-BD59-A6C34878D82A}">
                        <a16:rowId xmlns:a16="http://schemas.microsoft.com/office/drawing/2014/main" val="1158848740"/>
                      </a:ext>
                    </a:extLst>
                  </a:tr>
                  <a:tr h="13074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1630345"/>
                      </a:ext>
                    </a:extLst>
                  </a:tr>
                  <a:tr h="130746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0890138"/>
                      </a:ext>
                    </a:extLst>
                  </a:tr>
                </a:tbl>
              </a:graphicData>
            </a:graphic>
          </p:graphicFrame>
        </mc:Fallback>
      </mc:AlternateContent>
    </p:spTree>
    <p:extLst>
      <p:ext uri="{BB962C8B-B14F-4D97-AF65-F5344CB8AC3E}">
        <p14:creationId xmlns:p14="http://schemas.microsoft.com/office/powerpoint/2010/main" val="3068135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DD466AFC-52CF-EF48-820B-5F6163D7E309}"/>
              </a:ext>
            </a:extLst>
          </p:cNvPr>
          <p:cNvSpPr/>
          <p:nvPr/>
        </p:nvSpPr>
        <p:spPr>
          <a:xfrm>
            <a:off x="914400" y="1240872"/>
            <a:ext cx="8293396" cy="400110"/>
          </a:xfrm>
          <a:prstGeom prst="rect">
            <a:avLst/>
          </a:prstGeom>
        </p:spPr>
        <p:txBody>
          <a:bodyPr wrap="square">
            <a:spAutoFit/>
          </a:bodyPr>
          <a:lstStyle/>
          <a:p>
            <a:pPr marL="914400" indent="-457200">
              <a:buFont typeface="+mj-lt"/>
              <a:buAutoNum type="alphaLcPeriod" startAt="2"/>
            </a:pPr>
            <a:r>
              <a:rPr lang="en-US" sz="2000" dirty="0">
                <a:latin typeface="Verdana" panose="020B0604030504040204" pitchFamily="34"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p:txBody>
      </p:sp>
      <p:sp>
        <p:nvSpPr>
          <p:cNvPr id="9" name="Google Shape;282;g104476d1465_1_17">
            <a:extLst>
              <a:ext uri="{FF2B5EF4-FFF2-40B4-BE49-F238E27FC236}">
                <a16:creationId xmlns:a16="http://schemas.microsoft.com/office/drawing/2014/main" id="{40770922-D176-3E4B-B233-44AA4FDC8A9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342D3587-E454-904C-B794-BBB8CD726EE0}"/>
                  </a:ext>
                </a:extLst>
              </p:cNvPr>
              <p:cNvGraphicFramePr>
                <a:graphicFrameLocks noGrp="1"/>
              </p:cNvGraphicFramePr>
              <p:nvPr>
                <p:extLst>
                  <p:ext uri="{D42A27DB-BD31-4B8C-83A1-F6EECF244321}">
                    <p14:modId xmlns:p14="http://schemas.microsoft.com/office/powerpoint/2010/main" val="2260034991"/>
                  </p:ext>
                </p:extLst>
              </p:nvPr>
            </p:nvGraphicFramePr>
            <p:xfrm>
              <a:off x="1904629" y="1097572"/>
              <a:ext cx="6838950" cy="3737610"/>
            </p:xfrm>
            <a:graphic>
              <a:graphicData uri="http://schemas.openxmlformats.org/drawingml/2006/table">
                <a:tbl>
                  <a:tblPr bandRow="1">
                    <a:tableStyleId>{A91F0D33-8C57-4600-99A7-42BC86742BE1}</a:tableStyleId>
                  </a:tblPr>
                  <a:tblGrid>
                    <a:gridCol w="3043272">
                      <a:extLst>
                        <a:ext uri="{9D8B030D-6E8A-4147-A177-3AD203B41FA5}">
                          <a16:colId xmlns:a16="http://schemas.microsoft.com/office/drawing/2014/main" val="2556277452"/>
                        </a:ext>
                      </a:extLst>
                    </a:gridCol>
                    <a:gridCol w="3795678">
                      <a:extLst>
                        <a:ext uri="{9D8B030D-6E8A-4147-A177-3AD203B41FA5}">
                          <a16:colId xmlns:a16="http://schemas.microsoft.com/office/drawing/2014/main" val="1379186799"/>
                        </a:ext>
                      </a:extLst>
                    </a:gridCol>
                  </a:tblGrid>
                  <a:tr h="70866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rPr>
                            <a:t>Original Expression</a:t>
                          </a:r>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CO" sz="2000" i="1">
                                        <a:effectLst/>
                                        <a:latin typeface="Cambria Math" panose="02040503050406030204" pitchFamily="18" charset="0"/>
                                      </a:rPr>
                                    </m:ctrlPr>
                                  </m:dPr>
                                  <m:e>
                                    <m:r>
                                      <a:rPr lang="en-US" sz="2000">
                                        <a:effectLst/>
                                        <a:latin typeface="Cambria Math" panose="02040503050406030204" pitchFamily="18" charset="0"/>
                                      </a:rPr>
                                      <m:t>3</m:t>
                                    </m:r>
                                    <m:f>
                                      <m:fPr>
                                        <m:ctrlPr>
                                          <a:rPr lang="en-CO"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r>
                                      <a:rPr lang="en-US" sz="2000">
                                        <a:effectLst/>
                                        <a:latin typeface="Cambria Math" panose="02040503050406030204" pitchFamily="18" charset="0"/>
                                      </a:rPr>
                                      <m:t>𝑥</m:t>
                                    </m:r>
                                    <m:r>
                                      <a:rPr lang="en-US" sz="2000">
                                        <a:effectLst/>
                                        <a:latin typeface="Cambria Math" panose="02040503050406030204" pitchFamily="18" charset="0"/>
                                      </a:rPr>
                                      <m:t>−</m:t>
                                    </m:r>
                                    <m:f>
                                      <m:fPr>
                                        <m:ctrlPr>
                                          <a:rPr lang="en-CO" sz="2000" i="1">
                                            <a:effectLst/>
                                            <a:latin typeface="Cambria Math" panose="02040503050406030204" pitchFamily="18" charset="0"/>
                                          </a:rPr>
                                        </m:ctrlPr>
                                      </m:fPr>
                                      <m:num>
                                        <m:r>
                                          <a:rPr lang="en-US" sz="2000">
                                            <a:effectLst/>
                                            <a:latin typeface="Cambria Math" panose="02040503050406030204" pitchFamily="18" charset="0"/>
                                          </a:rPr>
                                          <m:t>3</m:t>
                                        </m:r>
                                      </m:num>
                                      <m:den>
                                        <m:r>
                                          <a:rPr lang="en-US" sz="2000">
                                            <a:effectLst/>
                                            <a:latin typeface="Cambria Math" panose="02040503050406030204" pitchFamily="18" charset="0"/>
                                          </a:rPr>
                                          <m:t>5</m:t>
                                        </m:r>
                                      </m:den>
                                    </m:f>
                                  </m:e>
                                </m:d>
                                <m:r>
                                  <a:rPr lang="en-US" sz="2000">
                                    <a:effectLst/>
                                    <a:latin typeface="Cambria Math" panose="02040503050406030204" pitchFamily="18" charset="0"/>
                                  </a:rPr>
                                  <m:t>+ </m:t>
                                </m:r>
                                <m:d>
                                  <m:dPr>
                                    <m:ctrlPr>
                                      <a:rPr lang="en-CO" sz="2000" i="1">
                                        <a:effectLst/>
                                        <a:latin typeface="Cambria Math" panose="02040503050406030204" pitchFamily="18" charset="0"/>
                                      </a:rPr>
                                    </m:ctrlPr>
                                  </m:dPr>
                                  <m:e>
                                    <m:r>
                                      <a:rPr lang="en-US" sz="2000">
                                        <a:effectLst/>
                                        <a:latin typeface="Cambria Math" panose="02040503050406030204" pitchFamily="18" charset="0"/>
                                      </a:rPr>
                                      <m:t>2</m:t>
                                    </m:r>
                                    <m:f>
                                      <m:fPr>
                                        <m:ctrlPr>
                                          <a:rPr lang="en-CO"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4</m:t>
                                        </m:r>
                                      </m:den>
                                    </m:f>
                                    <m:r>
                                      <a:rPr lang="en-US" sz="2000">
                                        <a:effectLst/>
                                        <a:latin typeface="Cambria Math" panose="02040503050406030204" pitchFamily="18" charset="0"/>
                                      </a:rPr>
                                      <m:t>𝑥</m:t>
                                    </m:r>
                                    <m:r>
                                      <a:rPr lang="en-US" sz="2000">
                                        <a:effectLst/>
                                        <a:latin typeface="Cambria Math" panose="02040503050406030204" pitchFamily="18" charset="0"/>
                                      </a:rPr>
                                      <m:t> + </m:t>
                                    </m:r>
                                    <m:f>
                                      <m:fPr>
                                        <m:ctrlPr>
                                          <a:rPr lang="en-CO"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3</m:t>
                                        </m:r>
                                      </m:den>
                                    </m:f>
                                  </m:e>
                                </m:d>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038168770"/>
                      </a:ext>
                    </a:extLst>
                  </a:tr>
                  <a:tr h="1514475">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rPr>
                            <a:t>Regrouped Expression</a:t>
                          </a:r>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4064481"/>
                      </a:ext>
                    </a:extLst>
                  </a:tr>
                  <a:tr h="1514475">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rPr>
                            <a:t>Simplified Expression</a:t>
                          </a:r>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6707129"/>
                      </a:ext>
                    </a:extLst>
                  </a:tr>
                </a:tbl>
              </a:graphicData>
            </a:graphic>
          </p:graphicFrame>
        </mc:Choice>
        <mc:Fallback>
          <p:graphicFrame>
            <p:nvGraphicFramePr>
              <p:cNvPr id="3" name="Table 2">
                <a:extLst>
                  <a:ext uri="{FF2B5EF4-FFF2-40B4-BE49-F238E27FC236}">
                    <a16:creationId xmlns:a16="http://schemas.microsoft.com/office/drawing/2014/main" id="{342D3587-E454-904C-B794-BBB8CD726EE0}"/>
                  </a:ext>
                </a:extLst>
              </p:cNvPr>
              <p:cNvGraphicFramePr>
                <a:graphicFrameLocks noGrp="1"/>
              </p:cNvGraphicFramePr>
              <p:nvPr>
                <p:extLst>
                  <p:ext uri="{D42A27DB-BD31-4B8C-83A1-F6EECF244321}">
                    <p14:modId xmlns:p14="http://schemas.microsoft.com/office/powerpoint/2010/main" val="2260034991"/>
                  </p:ext>
                </p:extLst>
              </p:nvPr>
            </p:nvGraphicFramePr>
            <p:xfrm>
              <a:off x="1904629" y="1097572"/>
              <a:ext cx="6838950" cy="3737610"/>
            </p:xfrm>
            <a:graphic>
              <a:graphicData uri="http://schemas.openxmlformats.org/drawingml/2006/table">
                <a:tbl>
                  <a:tblPr bandRow="1">
                    <a:tableStyleId>{A91F0D33-8C57-4600-99A7-42BC86742BE1}</a:tableStyleId>
                  </a:tblPr>
                  <a:tblGrid>
                    <a:gridCol w="3043272">
                      <a:extLst>
                        <a:ext uri="{9D8B030D-6E8A-4147-A177-3AD203B41FA5}">
                          <a16:colId xmlns:a16="http://schemas.microsoft.com/office/drawing/2014/main" val="2556277452"/>
                        </a:ext>
                      </a:extLst>
                    </a:gridCol>
                    <a:gridCol w="3795678">
                      <a:extLst>
                        <a:ext uri="{9D8B030D-6E8A-4147-A177-3AD203B41FA5}">
                          <a16:colId xmlns:a16="http://schemas.microsoft.com/office/drawing/2014/main" val="1379186799"/>
                        </a:ext>
                      </a:extLst>
                    </a:gridCol>
                  </a:tblGrid>
                  <a:tr h="70866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rPr>
                            <a:t>Original Expression</a:t>
                          </a:r>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0417" t="-862" r="-321" b="-431034"/>
                          </a:stretch>
                        </a:blipFill>
                      </a:tcPr>
                    </a:tc>
                    <a:extLst>
                      <a:ext uri="{0D108BD9-81ED-4DB2-BD59-A6C34878D82A}">
                        <a16:rowId xmlns:a16="http://schemas.microsoft.com/office/drawing/2014/main" val="3038168770"/>
                      </a:ext>
                    </a:extLst>
                  </a:tr>
                  <a:tr h="1514475">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rPr>
                            <a:t>Regrouped Expression</a:t>
                          </a:r>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4064481"/>
                      </a:ext>
                    </a:extLst>
                  </a:tr>
                  <a:tr h="1514475">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rPr>
                            <a:t>Simplified Expression</a:t>
                          </a:r>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6707129"/>
                      </a:ext>
                    </a:extLst>
                  </a:tr>
                </a:tbl>
              </a:graphicData>
            </a:graphic>
          </p:graphicFrame>
        </mc:Fallback>
      </mc:AlternateContent>
    </p:spTree>
    <p:extLst>
      <p:ext uri="{BB962C8B-B14F-4D97-AF65-F5344CB8AC3E}">
        <p14:creationId xmlns:p14="http://schemas.microsoft.com/office/powerpoint/2010/main" val="3778689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DDE2D3B7-458B-5D47-96F8-1FBA60174668}"/>
              </a:ext>
            </a:extLst>
          </p:cNvPr>
          <p:cNvSpPr/>
          <p:nvPr/>
        </p:nvSpPr>
        <p:spPr>
          <a:xfrm>
            <a:off x="914400" y="805727"/>
            <a:ext cx="8367823" cy="400110"/>
          </a:xfrm>
          <a:prstGeom prst="rect">
            <a:avLst/>
          </a:prstGeom>
        </p:spPr>
        <p:txBody>
          <a:bodyPr wrap="square">
            <a:spAutoFit/>
          </a:bodyPr>
          <a:lstStyle/>
          <a:p>
            <a:pPr marL="914400" indent="-457200">
              <a:buFont typeface="+mj-lt"/>
              <a:buAutoNum type="alphaLcPeriod" startAt="3"/>
            </a:pPr>
            <a:r>
              <a:rPr lang="en-US" sz="2000" dirty="0">
                <a:latin typeface="Verdana" panose="020B0604030504040204" pitchFamily="34"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p:txBody>
      </p:sp>
      <p:sp>
        <p:nvSpPr>
          <p:cNvPr id="9" name="Google Shape;282;g104476d1465_1_17">
            <a:extLst>
              <a:ext uri="{FF2B5EF4-FFF2-40B4-BE49-F238E27FC236}">
                <a16:creationId xmlns:a16="http://schemas.microsoft.com/office/drawing/2014/main" id="{32F06AEA-3F6D-6242-817F-87AB1D406B0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76DC583E-DEF5-954F-A609-0A767B092830}"/>
                  </a:ext>
                </a:extLst>
              </p:cNvPr>
              <p:cNvGraphicFramePr>
                <a:graphicFrameLocks noGrp="1"/>
              </p:cNvGraphicFramePr>
              <p:nvPr>
                <p:extLst>
                  <p:ext uri="{D42A27DB-BD31-4B8C-83A1-F6EECF244321}">
                    <p14:modId xmlns:p14="http://schemas.microsoft.com/office/powerpoint/2010/main" val="2461812806"/>
                  </p:ext>
                </p:extLst>
              </p:nvPr>
            </p:nvGraphicFramePr>
            <p:xfrm>
              <a:off x="1859540" y="701582"/>
              <a:ext cx="6810375" cy="4140200"/>
            </p:xfrm>
            <a:graphic>
              <a:graphicData uri="http://schemas.openxmlformats.org/drawingml/2006/table">
                <a:tbl>
                  <a:tblPr bandRow="1">
                    <a:tableStyleId>{A91F0D33-8C57-4600-99A7-42BC86742BE1}</a:tableStyleId>
                  </a:tblPr>
                  <a:tblGrid>
                    <a:gridCol w="3031068">
                      <a:extLst>
                        <a:ext uri="{9D8B030D-6E8A-4147-A177-3AD203B41FA5}">
                          <a16:colId xmlns:a16="http://schemas.microsoft.com/office/drawing/2014/main" val="1656505710"/>
                        </a:ext>
                      </a:extLst>
                    </a:gridCol>
                    <a:gridCol w="3779307">
                      <a:extLst>
                        <a:ext uri="{9D8B030D-6E8A-4147-A177-3AD203B41FA5}">
                          <a16:colId xmlns:a16="http://schemas.microsoft.com/office/drawing/2014/main" val="1598814130"/>
                        </a:ext>
                      </a:extLst>
                    </a:gridCol>
                  </a:tblGrid>
                  <a:tr h="7848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CO" sz="2000" i="1">
                                        <a:effectLst/>
                                        <a:latin typeface="Cambria Math" panose="02040503050406030204" pitchFamily="18" charset="0"/>
                                      </a:rPr>
                                    </m:ctrlPr>
                                  </m:dPr>
                                  <m:e>
                                    <m:r>
                                      <a:rPr lang="en-US" sz="2000">
                                        <a:effectLst/>
                                        <a:latin typeface="Cambria Math" panose="02040503050406030204" pitchFamily="18" charset="0"/>
                                      </a:rPr>
                                      <m:t>−5</m:t>
                                    </m:r>
                                    <m:r>
                                      <a:rPr lang="en-US" sz="2000">
                                        <a:effectLst/>
                                        <a:latin typeface="Cambria Math" panose="02040503050406030204" pitchFamily="18" charset="0"/>
                                      </a:rPr>
                                      <m:t>𝑦</m:t>
                                    </m:r>
                                    <m:r>
                                      <a:rPr lang="en-US" sz="2000">
                                        <a:effectLst/>
                                        <a:latin typeface="Cambria Math" panose="02040503050406030204" pitchFamily="18" charset="0"/>
                                      </a:rPr>
                                      <m:t>+2</m:t>
                                    </m:r>
                                  </m:e>
                                </m:d>
                                <m:r>
                                  <a:rPr lang="en-US" sz="2000">
                                    <a:effectLst/>
                                    <a:latin typeface="Cambria Math" panose="02040503050406030204" pitchFamily="18" charset="0"/>
                                  </a:rPr>
                                  <m:t>+</m:t>
                                </m:r>
                                <m:d>
                                  <m:dPr>
                                    <m:ctrlPr>
                                      <a:rPr lang="en-CO" sz="2000" i="1">
                                        <a:effectLst/>
                                        <a:latin typeface="Cambria Math" panose="02040503050406030204" pitchFamily="18" charset="0"/>
                                      </a:rPr>
                                    </m:ctrlPr>
                                  </m:dPr>
                                  <m:e>
                                    <m:r>
                                      <a:rPr lang="en-US" sz="2000">
                                        <a:effectLst/>
                                        <a:latin typeface="Cambria Math" panose="02040503050406030204" pitchFamily="18" charset="0"/>
                                      </a:rPr>
                                      <m:t>5</m:t>
                                    </m:r>
                                    <m:r>
                                      <a:rPr lang="en-US" sz="2000">
                                        <a:effectLst/>
                                        <a:latin typeface="Cambria Math" panose="02040503050406030204" pitchFamily="18" charset="0"/>
                                      </a:rPr>
                                      <m:t>𝑦</m:t>
                                    </m:r>
                                    <m:r>
                                      <a:rPr lang="en-US" sz="2000">
                                        <a:effectLst/>
                                        <a:latin typeface="Cambria Math" panose="02040503050406030204" pitchFamily="18" charset="0"/>
                                      </a:rPr>
                                      <m:t>−8</m:t>
                                    </m:r>
                                  </m:e>
                                </m:d>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382973664"/>
                      </a:ext>
                    </a:extLst>
                  </a:tr>
                  <a:tr h="16776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8686226"/>
                      </a:ext>
                    </a:extLst>
                  </a:tr>
                  <a:tr h="16776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0672012"/>
                      </a:ext>
                    </a:extLst>
                  </a:tr>
                </a:tbl>
              </a:graphicData>
            </a:graphic>
          </p:graphicFrame>
        </mc:Choice>
        <mc:Fallback>
          <p:graphicFrame>
            <p:nvGraphicFramePr>
              <p:cNvPr id="3" name="Table 2">
                <a:extLst>
                  <a:ext uri="{FF2B5EF4-FFF2-40B4-BE49-F238E27FC236}">
                    <a16:creationId xmlns:a16="http://schemas.microsoft.com/office/drawing/2014/main" id="{76DC583E-DEF5-954F-A609-0A767B092830}"/>
                  </a:ext>
                </a:extLst>
              </p:cNvPr>
              <p:cNvGraphicFramePr>
                <a:graphicFrameLocks noGrp="1"/>
              </p:cNvGraphicFramePr>
              <p:nvPr>
                <p:extLst>
                  <p:ext uri="{D42A27DB-BD31-4B8C-83A1-F6EECF244321}">
                    <p14:modId xmlns:p14="http://schemas.microsoft.com/office/powerpoint/2010/main" val="2461812806"/>
                  </p:ext>
                </p:extLst>
              </p:nvPr>
            </p:nvGraphicFramePr>
            <p:xfrm>
              <a:off x="1859540" y="701582"/>
              <a:ext cx="6810375" cy="4140200"/>
            </p:xfrm>
            <a:graphic>
              <a:graphicData uri="http://schemas.openxmlformats.org/drawingml/2006/table">
                <a:tbl>
                  <a:tblPr bandRow="1">
                    <a:tableStyleId>{A91F0D33-8C57-4600-99A7-42BC86742BE1}</a:tableStyleId>
                  </a:tblPr>
                  <a:tblGrid>
                    <a:gridCol w="3031068">
                      <a:extLst>
                        <a:ext uri="{9D8B030D-6E8A-4147-A177-3AD203B41FA5}">
                          <a16:colId xmlns:a16="http://schemas.microsoft.com/office/drawing/2014/main" val="1656505710"/>
                        </a:ext>
                      </a:extLst>
                    </a:gridCol>
                    <a:gridCol w="3779307">
                      <a:extLst>
                        <a:ext uri="{9D8B030D-6E8A-4147-A177-3AD203B41FA5}">
                          <a16:colId xmlns:a16="http://schemas.microsoft.com/office/drawing/2014/main" val="1598814130"/>
                        </a:ext>
                      </a:extLst>
                    </a:gridCol>
                  </a:tblGrid>
                  <a:tr h="78486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0484" t="-775" r="-323" b="-428682"/>
                          </a:stretch>
                        </a:blipFill>
                      </a:tcPr>
                    </a:tc>
                    <a:extLst>
                      <a:ext uri="{0D108BD9-81ED-4DB2-BD59-A6C34878D82A}">
                        <a16:rowId xmlns:a16="http://schemas.microsoft.com/office/drawing/2014/main" val="3382973664"/>
                      </a:ext>
                    </a:extLst>
                  </a:tr>
                  <a:tr h="16776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8686226"/>
                      </a:ext>
                    </a:extLst>
                  </a:tr>
                  <a:tr h="16776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0672012"/>
                      </a:ext>
                    </a:extLst>
                  </a:tr>
                </a:tbl>
              </a:graphicData>
            </a:graphic>
          </p:graphicFrame>
        </mc:Fallback>
      </mc:AlternateContent>
    </p:spTree>
    <p:extLst>
      <p:ext uri="{BB962C8B-B14F-4D97-AF65-F5344CB8AC3E}">
        <p14:creationId xmlns:p14="http://schemas.microsoft.com/office/powerpoint/2010/main" val="621773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DDE2D3B7-458B-5D47-96F8-1FBA60174668}"/>
              </a:ext>
            </a:extLst>
          </p:cNvPr>
          <p:cNvSpPr/>
          <p:nvPr/>
        </p:nvSpPr>
        <p:spPr>
          <a:xfrm>
            <a:off x="914400" y="805727"/>
            <a:ext cx="8367823" cy="400110"/>
          </a:xfrm>
          <a:prstGeom prst="rect">
            <a:avLst/>
          </a:prstGeom>
        </p:spPr>
        <p:txBody>
          <a:bodyPr wrap="square">
            <a:spAutoFit/>
          </a:bodyPr>
          <a:lstStyle/>
          <a:p>
            <a:pPr marL="914400" indent="-457200">
              <a:buFont typeface="+mj-lt"/>
              <a:buAutoNum type="alphaLcPeriod" startAt="4"/>
            </a:pPr>
            <a:r>
              <a:rPr lang="en-US" sz="2000" dirty="0">
                <a:latin typeface="Verdana" panose="020B0604030504040204" pitchFamily="34"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p:txBody>
      </p:sp>
      <p:sp>
        <p:nvSpPr>
          <p:cNvPr id="9" name="Google Shape;282;g104476d1465_1_17">
            <a:extLst>
              <a:ext uri="{FF2B5EF4-FFF2-40B4-BE49-F238E27FC236}">
                <a16:creationId xmlns:a16="http://schemas.microsoft.com/office/drawing/2014/main" id="{32F06AEA-3F6D-6242-817F-87AB1D406B0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E9944A32-2BA3-A348-8C5E-0B1B12AE81AC}"/>
                  </a:ext>
                </a:extLst>
              </p:cNvPr>
              <p:cNvGraphicFramePr>
                <a:graphicFrameLocks noGrp="1"/>
              </p:cNvGraphicFramePr>
              <p:nvPr>
                <p:extLst>
                  <p:ext uri="{D42A27DB-BD31-4B8C-83A1-F6EECF244321}">
                    <p14:modId xmlns:p14="http://schemas.microsoft.com/office/powerpoint/2010/main" val="1777574909"/>
                  </p:ext>
                </p:extLst>
              </p:nvPr>
            </p:nvGraphicFramePr>
            <p:xfrm>
              <a:off x="1949780" y="705776"/>
              <a:ext cx="6819900" cy="4203065"/>
            </p:xfrm>
            <a:graphic>
              <a:graphicData uri="http://schemas.openxmlformats.org/drawingml/2006/table">
                <a:tbl>
                  <a:tblPr bandRow="1">
                    <a:tableStyleId>{A91F0D33-8C57-4600-99A7-42BC86742BE1}</a:tableStyleId>
                  </a:tblPr>
                  <a:tblGrid>
                    <a:gridCol w="3035230">
                      <a:extLst>
                        <a:ext uri="{9D8B030D-6E8A-4147-A177-3AD203B41FA5}">
                          <a16:colId xmlns:a16="http://schemas.microsoft.com/office/drawing/2014/main" val="430251970"/>
                        </a:ext>
                      </a:extLst>
                    </a:gridCol>
                    <a:gridCol w="3784670">
                      <a:extLst>
                        <a:ext uri="{9D8B030D-6E8A-4147-A177-3AD203B41FA5}">
                          <a16:colId xmlns:a16="http://schemas.microsoft.com/office/drawing/2014/main" val="536376857"/>
                        </a:ext>
                      </a:extLst>
                    </a:gridCol>
                  </a:tblGrid>
                  <a:tr h="79692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(0.7−2.4</m:t>
                                </m:r>
                                <m:r>
                                  <a:rPr lang="en-US" sz="2000">
                                    <a:effectLst/>
                                    <a:latin typeface="Cambria Math" panose="02040503050406030204" pitchFamily="18" charset="0"/>
                                  </a:rPr>
                                  <m:t>𝑥</m:t>
                                </m:r>
                                <m:r>
                                  <a:rPr lang="en-US" sz="2000">
                                    <a:effectLst/>
                                    <a:latin typeface="Cambria Math" panose="02040503050406030204" pitchFamily="18" charset="0"/>
                                  </a:rPr>
                                  <m:t>)+(4.1</m:t>
                                </m:r>
                                <m:r>
                                  <a:rPr lang="en-US" sz="2000">
                                    <a:effectLst/>
                                    <a:latin typeface="Cambria Math" panose="02040503050406030204" pitchFamily="18" charset="0"/>
                                  </a:rPr>
                                  <m:t>𝑥</m:t>
                                </m:r>
                                <m:r>
                                  <a:rPr lang="en-US" sz="2000">
                                    <a:effectLst/>
                                    <a:latin typeface="Cambria Math" panose="02040503050406030204" pitchFamily="18" charset="0"/>
                                  </a:rPr>
                                  <m:t>−5.32)</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59382131"/>
                      </a:ext>
                    </a:extLst>
                  </a:tr>
                  <a:tr h="17030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610721"/>
                      </a:ext>
                    </a:extLst>
                  </a:tr>
                  <a:tr h="17030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7835135"/>
                      </a:ext>
                    </a:extLst>
                  </a:tr>
                </a:tbl>
              </a:graphicData>
            </a:graphic>
          </p:graphicFrame>
        </mc:Choice>
        <mc:Fallback>
          <p:graphicFrame>
            <p:nvGraphicFramePr>
              <p:cNvPr id="4" name="Table 3">
                <a:extLst>
                  <a:ext uri="{FF2B5EF4-FFF2-40B4-BE49-F238E27FC236}">
                    <a16:creationId xmlns:a16="http://schemas.microsoft.com/office/drawing/2014/main" id="{E9944A32-2BA3-A348-8C5E-0B1B12AE81AC}"/>
                  </a:ext>
                </a:extLst>
              </p:cNvPr>
              <p:cNvGraphicFramePr>
                <a:graphicFrameLocks noGrp="1"/>
              </p:cNvGraphicFramePr>
              <p:nvPr>
                <p:extLst>
                  <p:ext uri="{D42A27DB-BD31-4B8C-83A1-F6EECF244321}">
                    <p14:modId xmlns:p14="http://schemas.microsoft.com/office/powerpoint/2010/main" val="1777574909"/>
                  </p:ext>
                </p:extLst>
              </p:nvPr>
            </p:nvGraphicFramePr>
            <p:xfrm>
              <a:off x="1949780" y="705776"/>
              <a:ext cx="6819900" cy="4203065"/>
            </p:xfrm>
            <a:graphic>
              <a:graphicData uri="http://schemas.openxmlformats.org/drawingml/2006/table">
                <a:tbl>
                  <a:tblPr bandRow="1">
                    <a:tableStyleId>{A91F0D33-8C57-4600-99A7-42BC86742BE1}</a:tableStyleId>
                  </a:tblPr>
                  <a:tblGrid>
                    <a:gridCol w="3035230">
                      <a:extLst>
                        <a:ext uri="{9D8B030D-6E8A-4147-A177-3AD203B41FA5}">
                          <a16:colId xmlns:a16="http://schemas.microsoft.com/office/drawing/2014/main" val="430251970"/>
                        </a:ext>
                      </a:extLst>
                    </a:gridCol>
                    <a:gridCol w="3784670">
                      <a:extLst>
                        <a:ext uri="{9D8B030D-6E8A-4147-A177-3AD203B41FA5}">
                          <a16:colId xmlns:a16="http://schemas.microsoft.com/office/drawing/2014/main" val="536376857"/>
                        </a:ext>
                      </a:extLst>
                    </a:gridCol>
                  </a:tblGrid>
                  <a:tr h="79692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0225" t="-763" r="-322" b="-429008"/>
                          </a:stretch>
                        </a:blipFill>
                      </a:tcPr>
                    </a:tc>
                    <a:extLst>
                      <a:ext uri="{0D108BD9-81ED-4DB2-BD59-A6C34878D82A}">
                        <a16:rowId xmlns:a16="http://schemas.microsoft.com/office/drawing/2014/main" val="3459382131"/>
                      </a:ext>
                    </a:extLst>
                  </a:tr>
                  <a:tr h="17030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610721"/>
                      </a:ext>
                    </a:extLst>
                  </a:tr>
                  <a:tr h="170307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7835135"/>
                      </a:ext>
                    </a:extLst>
                  </a:tr>
                </a:tbl>
              </a:graphicData>
            </a:graphic>
          </p:graphicFrame>
        </mc:Fallback>
      </mc:AlternateContent>
    </p:spTree>
    <p:extLst>
      <p:ext uri="{BB962C8B-B14F-4D97-AF65-F5344CB8AC3E}">
        <p14:creationId xmlns:p14="http://schemas.microsoft.com/office/powerpoint/2010/main" val="327156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DDE2D3B7-458B-5D47-96F8-1FBA60174668}"/>
              </a:ext>
            </a:extLst>
          </p:cNvPr>
          <p:cNvSpPr/>
          <p:nvPr/>
        </p:nvSpPr>
        <p:spPr>
          <a:xfrm>
            <a:off x="855023" y="805727"/>
            <a:ext cx="8574629" cy="400110"/>
          </a:xfrm>
          <a:prstGeom prst="rect">
            <a:avLst/>
          </a:prstGeom>
        </p:spPr>
        <p:txBody>
          <a:bodyPr wrap="square">
            <a:spAutoFit/>
          </a:bodyPr>
          <a:lstStyle/>
          <a:p>
            <a:pPr marL="914400" indent="-457200">
              <a:buFont typeface="+mj-lt"/>
              <a:buAutoNum type="alphaLcPeriod" startAt="5"/>
            </a:pPr>
            <a:r>
              <a:rPr lang="en-US" sz="2000" dirty="0">
                <a:latin typeface="Verdana" panose="020B0604030504040204" pitchFamily="34"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p:txBody>
      </p:sp>
      <p:sp>
        <p:nvSpPr>
          <p:cNvPr id="9" name="Google Shape;282;g104476d1465_1_17">
            <a:extLst>
              <a:ext uri="{FF2B5EF4-FFF2-40B4-BE49-F238E27FC236}">
                <a16:creationId xmlns:a16="http://schemas.microsoft.com/office/drawing/2014/main" id="{32F06AEA-3F6D-6242-817F-87AB1D406B0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79C52F99-B543-444B-9AF4-982D8F6EB193}"/>
                  </a:ext>
                </a:extLst>
              </p:cNvPr>
              <p:cNvGraphicFramePr>
                <a:graphicFrameLocks noGrp="1"/>
              </p:cNvGraphicFramePr>
              <p:nvPr>
                <p:extLst>
                  <p:ext uri="{D42A27DB-BD31-4B8C-83A1-F6EECF244321}">
                    <p14:modId xmlns:p14="http://schemas.microsoft.com/office/powerpoint/2010/main" val="3188457283"/>
                  </p:ext>
                </p:extLst>
              </p:nvPr>
            </p:nvGraphicFramePr>
            <p:xfrm>
              <a:off x="1905805" y="805727"/>
              <a:ext cx="6473064" cy="4351337"/>
            </p:xfrm>
            <a:graphic>
              <a:graphicData uri="http://schemas.openxmlformats.org/drawingml/2006/table">
                <a:tbl>
                  <a:tblPr bandRow="1">
                    <a:tableStyleId>{A91F0D33-8C57-4600-99A7-42BC86742BE1}</a:tableStyleId>
                  </a:tblPr>
                  <a:tblGrid>
                    <a:gridCol w="2851744">
                      <a:extLst>
                        <a:ext uri="{9D8B030D-6E8A-4147-A177-3AD203B41FA5}">
                          <a16:colId xmlns:a16="http://schemas.microsoft.com/office/drawing/2014/main" val="1464813960"/>
                        </a:ext>
                      </a:extLst>
                    </a:gridCol>
                    <a:gridCol w="3621320">
                      <a:extLst>
                        <a:ext uri="{9D8B030D-6E8A-4147-A177-3AD203B41FA5}">
                          <a16:colId xmlns:a16="http://schemas.microsoft.com/office/drawing/2014/main" val="1850431327"/>
                        </a:ext>
                      </a:extLst>
                    </a:gridCol>
                  </a:tblGrid>
                  <a:tr h="116155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CO" sz="2000" i="1">
                                        <a:effectLst/>
                                        <a:latin typeface="Cambria Math" panose="02040503050406030204" pitchFamily="18" charset="0"/>
                                      </a:rPr>
                                    </m:ctrlPr>
                                  </m:dPr>
                                  <m:e>
                                    <m:f>
                                      <m:fPr>
                                        <m:ctrlPr>
                                          <a:rPr lang="en-CO" sz="2000" i="1">
                                            <a:effectLst/>
                                            <a:latin typeface="Cambria Math" panose="02040503050406030204" pitchFamily="18" charset="0"/>
                                          </a:rPr>
                                        </m:ctrlPr>
                                      </m:fPr>
                                      <m:num>
                                        <m:r>
                                          <a:rPr lang="en-US" sz="2000">
                                            <a:effectLst/>
                                            <a:latin typeface="Cambria Math" panose="02040503050406030204" pitchFamily="18" charset="0"/>
                                          </a:rPr>
                                          <m:t>3</m:t>
                                        </m:r>
                                      </m:num>
                                      <m:den>
                                        <m:r>
                                          <a:rPr lang="en-US" sz="2000">
                                            <a:effectLst/>
                                            <a:latin typeface="Cambria Math" panose="02040503050406030204" pitchFamily="18" charset="0"/>
                                          </a:rPr>
                                          <m:t>4</m:t>
                                        </m:r>
                                      </m:den>
                                    </m:f>
                                    <m:r>
                                      <a:rPr lang="en-US" sz="2000">
                                        <a:effectLst/>
                                        <a:latin typeface="Cambria Math" panose="02040503050406030204" pitchFamily="18" charset="0"/>
                                      </a:rPr>
                                      <m:t>𝑤</m:t>
                                    </m:r>
                                    <m:r>
                                      <a:rPr lang="en-US" sz="2000">
                                        <a:effectLst/>
                                        <a:latin typeface="Cambria Math" panose="02040503050406030204" pitchFamily="18" charset="0"/>
                                      </a:rPr>
                                      <m:t> −5.5</m:t>
                                    </m:r>
                                  </m:e>
                                </m:d>
                                <m:r>
                                  <a:rPr lang="en-US" sz="2000">
                                    <a:effectLst/>
                                    <a:latin typeface="Cambria Math" panose="02040503050406030204" pitchFamily="18" charset="0"/>
                                  </a:rPr>
                                  <m:t>+ </m:t>
                                </m:r>
                                <m:d>
                                  <m:dPr>
                                    <m:ctrlPr>
                                      <a:rPr lang="en-CO" sz="2000" i="1">
                                        <a:effectLst/>
                                        <a:latin typeface="Cambria Math" panose="02040503050406030204" pitchFamily="18" charset="0"/>
                                      </a:rPr>
                                    </m:ctrlPr>
                                  </m:dPr>
                                  <m:e>
                                    <m:r>
                                      <a:rPr lang="en-US" sz="2000">
                                        <a:effectLst/>
                                        <a:latin typeface="Cambria Math" panose="02040503050406030204" pitchFamily="18" charset="0"/>
                                      </a:rPr>
                                      <m:t>−</m:t>
                                    </m:r>
                                    <m:f>
                                      <m:fPr>
                                        <m:ctrlPr>
                                          <a:rPr lang="en-CO"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2</m:t>
                                        </m:r>
                                      </m:den>
                                    </m:f>
                                    <m:r>
                                      <a:rPr lang="en-US" sz="2000">
                                        <a:effectLst/>
                                        <a:latin typeface="Cambria Math" panose="02040503050406030204" pitchFamily="18" charset="0"/>
                                      </a:rPr>
                                      <m:t>𝑤</m:t>
                                    </m:r>
                                    <m:r>
                                      <a:rPr lang="en-US" sz="2000">
                                        <a:effectLst/>
                                        <a:latin typeface="Cambria Math" panose="02040503050406030204" pitchFamily="18" charset="0"/>
                                      </a:rPr>
                                      <m:t> + 4</m:t>
                                    </m:r>
                                  </m:e>
                                </m:d>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646446784"/>
                      </a:ext>
                    </a:extLst>
                  </a:tr>
                  <a:tr h="159489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249811"/>
                      </a:ext>
                    </a:extLst>
                  </a:tr>
                  <a:tr h="159489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8314215"/>
                      </a:ext>
                    </a:extLst>
                  </a:tr>
                </a:tbl>
              </a:graphicData>
            </a:graphic>
          </p:graphicFrame>
        </mc:Choice>
        <mc:Fallback>
          <p:graphicFrame>
            <p:nvGraphicFramePr>
              <p:cNvPr id="3" name="Table 2">
                <a:extLst>
                  <a:ext uri="{FF2B5EF4-FFF2-40B4-BE49-F238E27FC236}">
                    <a16:creationId xmlns:a16="http://schemas.microsoft.com/office/drawing/2014/main" id="{79C52F99-B543-444B-9AF4-982D8F6EB193}"/>
                  </a:ext>
                </a:extLst>
              </p:cNvPr>
              <p:cNvGraphicFramePr>
                <a:graphicFrameLocks noGrp="1"/>
              </p:cNvGraphicFramePr>
              <p:nvPr>
                <p:extLst>
                  <p:ext uri="{D42A27DB-BD31-4B8C-83A1-F6EECF244321}">
                    <p14:modId xmlns:p14="http://schemas.microsoft.com/office/powerpoint/2010/main" val="3188457283"/>
                  </p:ext>
                </p:extLst>
              </p:nvPr>
            </p:nvGraphicFramePr>
            <p:xfrm>
              <a:off x="1905805" y="805727"/>
              <a:ext cx="6473064" cy="4351337"/>
            </p:xfrm>
            <a:graphic>
              <a:graphicData uri="http://schemas.openxmlformats.org/drawingml/2006/table">
                <a:tbl>
                  <a:tblPr bandRow="1">
                    <a:tableStyleId>{A91F0D33-8C57-4600-99A7-42BC86742BE1}</a:tableStyleId>
                  </a:tblPr>
                  <a:tblGrid>
                    <a:gridCol w="2851744">
                      <a:extLst>
                        <a:ext uri="{9D8B030D-6E8A-4147-A177-3AD203B41FA5}">
                          <a16:colId xmlns:a16="http://schemas.microsoft.com/office/drawing/2014/main" val="1464813960"/>
                        </a:ext>
                      </a:extLst>
                    </a:gridCol>
                    <a:gridCol w="3621320">
                      <a:extLst>
                        <a:ext uri="{9D8B030D-6E8A-4147-A177-3AD203B41FA5}">
                          <a16:colId xmlns:a16="http://schemas.microsoft.com/office/drawing/2014/main" val="1850431327"/>
                        </a:ext>
                      </a:extLst>
                    </a:gridCol>
                  </a:tblGrid>
                  <a:tr h="116155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8824" t="-524" r="-336" b="-275393"/>
                          </a:stretch>
                        </a:blipFill>
                      </a:tcPr>
                    </a:tc>
                    <a:extLst>
                      <a:ext uri="{0D108BD9-81ED-4DB2-BD59-A6C34878D82A}">
                        <a16:rowId xmlns:a16="http://schemas.microsoft.com/office/drawing/2014/main" val="1646446784"/>
                      </a:ext>
                    </a:extLst>
                  </a:tr>
                  <a:tr h="159489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Regrouped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249811"/>
                      </a:ext>
                    </a:extLst>
                  </a:tr>
                  <a:tr h="159489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Simplified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4731" marR="6473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8314215"/>
                      </a:ext>
                    </a:extLst>
                  </a:tr>
                </a:tbl>
              </a:graphicData>
            </a:graphic>
          </p:graphicFrame>
        </mc:Fallback>
      </mc:AlternateContent>
    </p:spTree>
    <p:extLst>
      <p:ext uri="{BB962C8B-B14F-4D97-AF65-F5344CB8AC3E}">
        <p14:creationId xmlns:p14="http://schemas.microsoft.com/office/powerpoint/2010/main" val="1929666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3054096" y="2898648"/>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4216046E-244F-BB46-961F-4CA5227878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43000" y="6032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9.2.6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7530A248-17D8-9B4E-B32E-9F5472BCF227}"/>
              </a:ext>
            </a:extLst>
          </p:cNvPr>
          <p:cNvSpPr/>
          <p:nvPr/>
        </p:nvSpPr>
        <p:spPr>
          <a:xfrm>
            <a:off x="914399" y="1073420"/>
            <a:ext cx="10515600"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Find the sum of each expression using the fewest terms possible.  </a:t>
            </a:r>
          </a:p>
        </p:txBody>
      </p:sp>
      <p:sp>
        <p:nvSpPr>
          <p:cNvPr id="10" name="Google Shape;282;g104476d1465_1_17">
            <a:extLst>
              <a:ext uri="{FF2B5EF4-FFF2-40B4-BE49-F238E27FC236}">
                <a16:creationId xmlns:a16="http://schemas.microsoft.com/office/drawing/2014/main" id="{607F36F8-CEE9-7842-83C9-E33CB2EB688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A208A0B9-38BD-0045-9E2C-EF35FB11D519}"/>
                  </a:ext>
                </a:extLst>
              </p:cNvPr>
              <p:cNvGraphicFramePr>
                <a:graphicFrameLocks noGrp="1"/>
              </p:cNvGraphicFramePr>
              <p:nvPr>
                <p:extLst>
                  <p:ext uri="{D42A27DB-BD31-4B8C-83A1-F6EECF244321}">
                    <p14:modId xmlns:p14="http://schemas.microsoft.com/office/powerpoint/2010/main" val="3304116582"/>
                  </p:ext>
                </p:extLst>
              </p:nvPr>
            </p:nvGraphicFramePr>
            <p:xfrm>
              <a:off x="1446793" y="1952802"/>
              <a:ext cx="6226725" cy="3641439"/>
            </p:xfrm>
            <a:graphic>
              <a:graphicData uri="http://schemas.openxmlformats.org/drawingml/2006/table">
                <a:tbl>
                  <a:tblPr bandRow="1">
                    <a:tableStyleId>{A91F0D33-8C57-4600-99A7-42BC86742BE1}</a:tableStyleId>
                  </a:tblPr>
                  <a:tblGrid>
                    <a:gridCol w="3087963">
                      <a:extLst>
                        <a:ext uri="{9D8B030D-6E8A-4147-A177-3AD203B41FA5}">
                          <a16:colId xmlns:a16="http://schemas.microsoft.com/office/drawing/2014/main" val="3958798925"/>
                        </a:ext>
                      </a:extLst>
                    </a:gridCol>
                    <a:gridCol w="3138762">
                      <a:extLst>
                        <a:ext uri="{9D8B030D-6E8A-4147-A177-3AD203B41FA5}">
                          <a16:colId xmlns:a16="http://schemas.microsoft.com/office/drawing/2014/main" val="857838036"/>
                        </a:ext>
                      </a:extLst>
                    </a:gridCol>
                  </a:tblGrid>
                  <a:tr h="1966055">
                    <a:tc>
                      <a:txBody>
                        <a:bodyPr/>
                        <a:lstStyle/>
                        <a:p>
                          <a:pPr marL="342900" marR="0" lvl="0" indent="-342900">
                            <a:spcBef>
                              <a:spcPts val="0"/>
                            </a:spcBef>
                            <a:spcAft>
                              <a:spcPts val="0"/>
                            </a:spcAft>
                            <a:buFont typeface="+mj-lt"/>
                            <a:buAutoNum type="alphaLcPeriod"/>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CO" sz="2000" i="1">
                                      <a:effectLst/>
                                      <a:latin typeface="Cambria Math" panose="02040503050406030204" pitchFamily="18" charset="0"/>
                                    </a:rPr>
                                  </m:ctrlPr>
                                </m:dPr>
                                <m:e>
                                  <m:r>
                                    <a:rPr lang="en-US" sz="2000">
                                      <a:effectLst/>
                                      <a:latin typeface="Cambria Math" panose="02040503050406030204" pitchFamily="18" charset="0"/>
                                    </a:rPr>
                                    <m:t>𝑥</m:t>
                                  </m:r>
                                  <m:r>
                                    <a:rPr lang="en-US" sz="2000">
                                      <a:effectLst/>
                                      <a:latin typeface="Cambria Math" panose="02040503050406030204" pitchFamily="18" charset="0"/>
                                    </a:rPr>
                                    <m:t> + 7</m:t>
                                  </m:r>
                                </m:e>
                              </m:d>
                              <m:r>
                                <a:rPr lang="en-US" sz="2000">
                                  <a:effectLst/>
                                  <a:latin typeface="Cambria Math" panose="02040503050406030204" pitchFamily="18" charset="0"/>
                                </a:rPr>
                                <m:t>+ </m:t>
                              </m:r>
                              <m:d>
                                <m:dPr>
                                  <m:ctrlPr>
                                    <a:rPr lang="en-CO" sz="2000" i="1">
                                      <a:effectLst/>
                                      <a:latin typeface="Cambria Math" panose="02040503050406030204" pitchFamily="18" charset="0"/>
                                    </a:rPr>
                                  </m:ctrlPr>
                                </m:dPr>
                                <m:e>
                                  <m:r>
                                    <a:rPr lang="en-US" sz="2000">
                                      <a:effectLst/>
                                      <a:latin typeface="Cambria Math" panose="02040503050406030204" pitchFamily="18" charset="0"/>
                                    </a:rPr>
                                    <m:t>𝑥</m:t>
                                  </m:r>
                                  <m:r>
                                    <a:rPr lang="en-US" sz="2000">
                                      <a:effectLst/>
                                      <a:latin typeface="Cambria Math" panose="02040503050406030204" pitchFamily="18" charset="0"/>
                                    </a:rPr>
                                    <m:t>−10</m:t>
                                  </m:r>
                                </m:e>
                              </m:d>
                            </m:oMath>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mj-lt"/>
                            <a:buAutoNum type="alphaLcPeriod" startAt="2"/>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CO" sz="2000" i="1">
                                      <a:effectLst/>
                                      <a:latin typeface="Cambria Math" panose="02040503050406030204" pitchFamily="18" charset="0"/>
                                    </a:rPr>
                                  </m:ctrlPr>
                                </m:dPr>
                                <m:e>
                                  <m:r>
                                    <a:rPr lang="en-US" sz="2000">
                                      <a:effectLst/>
                                      <a:latin typeface="Cambria Math" panose="02040503050406030204" pitchFamily="18" charset="0"/>
                                    </a:rPr>
                                    <m:t>3</m:t>
                                  </m:r>
                                  <m:r>
                                    <a:rPr lang="en-US" sz="2000">
                                      <a:effectLst/>
                                      <a:latin typeface="Cambria Math" panose="02040503050406030204" pitchFamily="18" charset="0"/>
                                    </a:rPr>
                                    <m:t>𝑥</m:t>
                                  </m:r>
                                  <m:r>
                                    <a:rPr lang="en-US" sz="2000">
                                      <a:effectLst/>
                                      <a:latin typeface="Cambria Math" panose="02040503050406030204" pitchFamily="18" charset="0"/>
                                    </a:rPr>
                                    <m:t>−5</m:t>
                                  </m:r>
                                </m:e>
                              </m:d>
                              <m:r>
                                <a:rPr lang="en-US" sz="2000">
                                  <a:effectLst/>
                                  <a:latin typeface="Cambria Math" panose="02040503050406030204" pitchFamily="18" charset="0"/>
                                </a:rPr>
                                <m:t>+ </m:t>
                              </m:r>
                              <m:d>
                                <m:dPr>
                                  <m:ctrlPr>
                                    <a:rPr lang="en-CO" sz="2000" i="1">
                                      <a:effectLst/>
                                      <a:latin typeface="Cambria Math" panose="02040503050406030204" pitchFamily="18" charset="0"/>
                                    </a:rPr>
                                  </m:ctrlPr>
                                </m:dPr>
                                <m:e>
                                  <m:r>
                                    <a:rPr lang="en-US" sz="2000">
                                      <a:effectLst/>
                                      <a:latin typeface="Cambria Math" panose="02040503050406030204" pitchFamily="18" charset="0"/>
                                    </a:rPr>
                                    <m:t>5+6</m:t>
                                  </m:r>
                                  <m:r>
                                    <a:rPr lang="en-US" sz="2000">
                                      <a:effectLst/>
                                      <a:latin typeface="Cambria Math" panose="02040503050406030204" pitchFamily="18" charset="0"/>
                                    </a:rPr>
                                    <m:t>𝑥</m:t>
                                  </m:r>
                                </m:e>
                              </m:d>
                            </m:oMath>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55245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55245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552450" marR="0">
                            <a:spcBef>
                              <a:spcPts val="0"/>
                            </a:spcBef>
                            <a:spcAft>
                              <a:spcPts val="0"/>
                            </a:spcAft>
                          </a:pPr>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55245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627897642"/>
                      </a:ext>
                    </a:extLst>
                  </a:tr>
                  <a:tr h="1586363">
                    <a:tc>
                      <a:txBody>
                        <a:bodyPr/>
                        <a:lstStyle/>
                        <a:p>
                          <a:pPr marL="342900" marR="0" lvl="0" indent="-342900">
                            <a:spcBef>
                              <a:spcPts val="0"/>
                            </a:spcBef>
                            <a:spcAft>
                              <a:spcPts val="0"/>
                            </a:spcAft>
                            <a:buFont typeface="+mj-lt"/>
                            <a:buAutoNum type="alphaLcPeriod" startAt="3"/>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CO" sz="2000" i="1">
                                      <a:effectLst/>
                                      <a:latin typeface="Cambria Math" panose="02040503050406030204" pitchFamily="18" charset="0"/>
                                    </a:rPr>
                                  </m:ctrlPr>
                                </m:dPr>
                                <m:e>
                                  <m:r>
                                    <a:rPr lang="en-US" sz="2000">
                                      <a:effectLst/>
                                      <a:latin typeface="Cambria Math" panose="02040503050406030204" pitchFamily="18" charset="0"/>
                                    </a:rPr>
                                    <m:t>1</m:t>
                                  </m:r>
                                  <m:f>
                                    <m:fPr>
                                      <m:ctrlPr>
                                        <a:rPr lang="en-CO" sz="2000" i="1">
                                          <a:effectLst/>
                                          <a:latin typeface="Cambria Math" panose="02040503050406030204" pitchFamily="18" charset="0"/>
                                        </a:rPr>
                                      </m:ctrlPr>
                                    </m:fPr>
                                    <m:num>
                                      <m:r>
                                        <a:rPr lang="en-US" sz="2000">
                                          <a:effectLst/>
                                          <a:latin typeface="Cambria Math" panose="02040503050406030204" pitchFamily="18" charset="0"/>
                                        </a:rPr>
                                        <m:t>6</m:t>
                                      </m:r>
                                    </m:num>
                                    <m:den>
                                      <m:r>
                                        <a:rPr lang="en-US" sz="2000">
                                          <a:effectLst/>
                                          <a:latin typeface="Cambria Math" panose="02040503050406030204" pitchFamily="18" charset="0"/>
                                        </a:rPr>
                                        <m:t>7</m:t>
                                      </m:r>
                                    </m:den>
                                  </m:f>
                                  <m:r>
                                    <a:rPr lang="en-US" sz="2000">
                                      <a:effectLst/>
                                      <a:latin typeface="Cambria Math" panose="02040503050406030204" pitchFamily="18" charset="0"/>
                                    </a:rPr>
                                    <m:t>−</m:t>
                                  </m:r>
                                  <m:r>
                                    <a:rPr lang="en-US" sz="2000">
                                      <a:effectLst/>
                                      <a:latin typeface="Cambria Math" panose="02040503050406030204" pitchFamily="18" charset="0"/>
                                    </a:rPr>
                                    <m:t>𝑦</m:t>
                                  </m:r>
                                </m:e>
                              </m:d>
                              <m:r>
                                <a:rPr lang="en-US" sz="2000">
                                  <a:effectLst/>
                                  <a:latin typeface="Cambria Math" panose="02040503050406030204" pitchFamily="18" charset="0"/>
                                </a:rPr>
                                <m:t>+ </m:t>
                              </m:r>
                              <m:d>
                                <m:dPr>
                                  <m:ctrlPr>
                                    <a:rPr lang="en-CO" sz="2000" i="1">
                                      <a:effectLst/>
                                      <a:latin typeface="Cambria Math" panose="02040503050406030204" pitchFamily="18" charset="0"/>
                                    </a:rPr>
                                  </m:ctrlPr>
                                </m:dPr>
                                <m:e>
                                  <m:r>
                                    <a:rPr lang="en-US" sz="2000">
                                      <a:effectLst/>
                                      <a:latin typeface="Cambria Math" panose="02040503050406030204" pitchFamily="18" charset="0"/>
                                    </a:rPr>
                                    <m:t>4</m:t>
                                  </m:r>
                                  <m:r>
                                    <a:rPr lang="en-US" sz="2000">
                                      <a:effectLst/>
                                      <a:latin typeface="Cambria Math" panose="02040503050406030204" pitchFamily="18" charset="0"/>
                                    </a:rPr>
                                    <m:t>𝑦</m:t>
                                  </m:r>
                                  <m:r>
                                    <a:rPr lang="en-US" sz="2000">
                                      <a:effectLst/>
                                      <a:latin typeface="Cambria Math" panose="02040503050406030204" pitchFamily="18" charset="0"/>
                                    </a:rPr>
                                    <m:t> + </m:t>
                                  </m:r>
                                  <m:f>
                                    <m:fPr>
                                      <m:ctrlPr>
                                        <a:rPr lang="en-CO"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7</m:t>
                                      </m:r>
                                    </m:den>
                                  </m:f>
                                </m:e>
                              </m:d>
                            </m:oMath>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mj-lt"/>
                            <a:buAutoNum type="alphaLcPeriod" startAt="4"/>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CO" sz="2000" i="1">
                                      <a:effectLst/>
                                      <a:latin typeface="Cambria Math" panose="02040503050406030204" pitchFamily="18" charset="0"/>
                                    </a:rPr>
                                  </m:ctrlPr>
                                </m:dPr>
                                <m:e>
                                  <m:r>
                                    <a:rPr lang="en-US" sz="2000">
                                      <a:effectLst/>
                                      <a:latin typeface="Cambria Math" panose="02040503050406030204" pitchFamily="18" charset="0"/>
                                    </a:rPr>
                                    <m:t>4</m:t>
                                  </m:r>
                                  <m:r>
                                    <a:rPr lang="en-US" sz="2000">
                                      <a:effectLst/>
                                      <a:latin typeface="Cambria Math" panose="02040503050406030204" pitchFamily="18" charset="0"/>
                                    </a:rPr>
                                    <m:t>𝑤</m:t>
                                  </m:r>
                                  <m:r>
                                    <a:rPr lang="en-US" sz="2000">
                                      <a:effectLst/>
                                      <a:latin typeface="Cambria Math" panose="02040503050406030204" pitchFamily="18" charset="0"/>
                                    </a:rPr>
                                    <m:t>−6</m:t>
                                  </m:r>
                                </m:e>
                              </m:d>
                              <m:r>
                                <a:rPr lang="en-US" sz="2000">
                                  <a:effectLst/>
                                  <a:latin typeface="Cambria Math" panose="02040503050406030204" pitchFamily="18" charset="0"/>
                                </a:rPr>
                                <m:t>+ </m:t>
                              </m:r>
                              <m:d>
                                <m:dPr>
                                  <m:ctrlPr>
                                    <a:rPr lang="en-CO" sz="2000" i="1">
                                      <a:effectLst/>
                                      <a:latin typeface="Cambria Math" panose="02040503050406030204" pitchFamily="18" charset="0"/>
                                    </a:rPr>
                                  </m:ctrlPr>
                                </m:dPr>
                                <m:e>
                                  <m:r>
                                    <a:rPr lang="en-US" sz="2000">
                                      <a:effectLst/>
                                      <a:latin typeface="Cambria Math" panose="02040503050406030204" pitchFamily="18" charset="0"/>
                                    </a:rPr>
                                    <m:t>−6</m:t>
                                  </m:r>
                                  <m:r>
                                    <a:rPr lang="en-US" sz="2000">
                                      <a:effectLst/>
                                      <a:latin typeface="Cambria Math" panose="02040503050406030204" pitchFamily="18" charset="0"/>
                                    </a:rPr>
                                    <m:t>𝑤</m:t>
                                  </m:r>
                                  <m:r>
                                    <a:rPr lang="en-US" sz="2000">
                                      <a:effectLst/>
                                      <a:latin typeface="Cambria Math" panose="02040503050406030204" pitchFamily="18" charset="0"/>
                                    </a:rPr>
                                    <m:t>−1</m:t>
                                  </m:r>
                                </m:e>
                              </m:d>
                            </m:oMath>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55245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798066821"/>
                      </a:ext>
                    </a:extLst>
                  </a:tr>
                </a:tbl>
              </a:graphicData>
            </a:graphic>
          </p:graphicFrame>
        </mc:Choice>
        <mc:Fallback>
          <p:graphicFrame>
            <p:nvGraphicFramePr>
              <p:cNvPr id="3" name="Table 2">
                <a:extLst>
                  <a:ext uri="{FF2B5EF4-FFF2-40B4-BE49-F238E27FC236}">
                    <a16:creationId xmlns:a16="http://schemas.microsoft.com/office/drawing/2014/main" id="{A208A0B9-38BD-0045-9E2C-EF35FB11D519}"/>
                  </a:ext>
                </a:extLst>
              </p:cNvPr>
              <p:cNvGraphicFramePr>
                <a:graphicFrameLocks noGrp="1"/>
              </p:cNvGraphicFramePr>
              <p:nvPr>
                <p:extLst>
                  <p:ext uri="{D42A27DB-BD31-4B8C-83A1-F6EECF244321}">
                    <p14:modId xmlns:p14="http://schemas.microsoft.com/office/powerpoint/2010/main" val="3304116582"/>
                  </p:ext>
                </p:extLst>
              </p:nvPr>
            </p:nvGraphicFramePr>
            <p:xfrm>
              <a:off x="1446793" y="1952802"/>
              <a:ext cx="6226725" cy="3641439"/>
            </p:xfrm>
            <a:graphic>
              <a:graphicData uri="http://schemas.openxmlformats.org/drawingml/2006/table">
                <a:tbl>
                  <a:tblPr bandRow="1">
                    <a:tableStyleId>{A91F0D33-8C57-4600-99A7-42BC86742BE1}</a:tableStyleId>
                  </a:tblPr>
                  <a:tblGrid>
                    <a:gridCol w="3087963">
                      <a:extLst>
                        <a:ext uri="{9D8B030D-6E8A-4147-A177-3AD203B41FA5}">
                          <a16:colId xmlns:a16="http://schemas.microsoft.com/office/drawing/2014/main" val="3958798925"/>
                        </a:ext>
                      </a:extLst>
                    </a:gridCol>
                    <a:gridCol w="3138762">
                      <a:extLst>
                        <a:ext uri="{9D8B030D-6E8A-4147-A177-3AD203B41FA5}">
                          <a16:colId xmlns:a16="http://schemas.microsoft.com/office/drawing/2014/main" val="857838036"/>
                        </a:ext>
                      </a:extLst>
                    </a:gridCol>
                  </a:tblGrid>
                  <a:tr h="1966055">
                    <a:tc>
                      <a:txBody>
                        <a:bodyPr/>
                        <a:lstStyle/>
                        <a:p>
                          <a:endParaRPr lang="en-US"/>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4334" r="-101578" b="-85139"/>
                          </a:stretch>
                        </a:blipFill>
                      </a:tcPr>
                    </a:tc>
                    <a:tc>
                      <a:txBody>
                        <a:bodyPr/>
                        <a:lstStyle/>
                        <a:p>
                          <a:endParaRPr lang="en-US"/>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98447" t="-4334" b="-85139"/>
                          </a:stretch>
                        </a:blipFill>
                      </a:tcPr>
                    </a:tc>
                    <a:extLst>
                      <a:ext uri="{0D108BD9-81ED-4DB2-BD59-A6C34878D82A}">
                        <a16:rowId xmlns:a16="http://schemas.microsoft.com/office/drawing/2014/main" val="2627897642"/>
                      </a:ext>
                    </a:extLst>
                  </a:tr>
                  <a:tr h="1675384">
                    <a:tc>
                      <a:txBody>
                        <a:bodyPr/>
                        <a:lstStyle/>
                        <a:p>
                          <a:endParaRPr lang="en-US"/>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122545" r="-101578"/>
                          </a:stretch>
                        </a:blipFill>
                      </a:tcPr>
                    </a:tc>
                    <a:tc>
                      <a:txBody>
                        <a:bodyPr/>
                        <a:lstStyle/>
                        <a:p>
                          <a:endParaRPr lang="en-US"/>
                        </a:p>
                      </a:txBody>
                      <a:tcPr marL="32476" marR="32476"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98447" t="-122545"/>
                          </a:stretch>
                        </a:blipFill>
                      </a:tcPr>
                    </a:tc>
                    <a:extLst>
                      <a:ext uri="{0D108BD9-81ED-4DB2-BD59-A6C34878D82A}">
                        <a16:rowId xmlns:a16="http://schemas.microsoft.com/office/drawing/2014/main" val="2798066821"/>
                      </a:ext>
                    </a:extLst>
                  </a:tr>
                </a:tbl>
              </a:graphicData>
            </a:graphic>
          </p:graphicFrame>
        </mc:Fallback>
      </mc:AlternateContent>
    </p:spTree>
    <p:extLst>
      <p:ext uri="{BB962C8B-B14F-4D97-AF65-F5344CB8AC3E}">
        <p14:creationId xmlns:p14="http://schemas.microsoft.com/office/powerpoint/2010/main" val="3101299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a16="http://schemas.microsoft.com/office/drawing/2014/main" id="{607F36F8-CEE9-7842-83C9-E33CB2EB688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51</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E7E50C93-D2C2-354B-A332-0164BFCFA779}"/>
                  </a:ext>
                </a:extLst>
              </p:cNvPr>
              <p:cNvGraphicFramePr>
                <a:graphicFrameLocks noGrp="1"/>
              </p:cNvGraphicFramePr>
              <p:nvPr>
                <p:extLst>
                  <p:ext uri="{D42A27DB-BD31-4B8C-83A1-F6EECF244321}">
                    <p14:modId xmlns:p14="http://schemas.microsoft.com/office/powerpoint/2010/main" val="2619289205"/>
                  </p:ext>
                </p:extLst>
              </p:nvPr>
            </p:nvGraphicFramePr>
            <p:xfrm>
              <a:off x="1481757" y="1013856"/>
              <a:ext cx="7415355" cy="3592354"/>
            </p:xfrm>
            <a:graphic>
              <a:graphicData uri="http://schemas.openxmlformats.org/drawingml/2006/table">
                <a:tbl>
                  <a:tblPr bandRow="1">
                    <a:tableStyleId>{A91F0D33-8C57-4600-99A7-42BC86742BE1}</a:tableStyleId>
                  </a:tblPr>
                  <a:tblGrid>
                    <a:gridCol w="3979070">
                      <a:extLst>
                        <a:ext uri="{9D8B030D-6E8A-4147-A177-3AD203B41FA5}">
                          <a16:colId xmlns:a16="http://schemas.microsoft.com/office/drawing/2014/main" val="2095586344"/>
                        </a:ext>
                      </a:extLst>
                    </a:gridCol>
                    <a:gridCol w="3436285">
                      <a:extLst>
                        <a:ext uri="{9D8B030D-6E8A-4147-A177-3AD203B41FA5}">
                          <a16:colId xmlns:a16="http://schemas.microsoft.com/office/drawing/2014/main" val="696269658"/>
                        </a:ext>
                      </a:extLst>
                    </a:gridCol>
                  </a:tblGrid>
                  <a:tr h="3592354">
                    <a:tc>
                      <a:txBody>
                        <a:bodyPr/>
                        <a:lstStyle/>
                        <a:p>
                          <a:pPr marL="342900" marR="0" lvl="0" indent="-342900">
                            <a:spcBef>
                              <a:spcPts val="0"/>
                            </a:spcBef>
                            <a:spcAft>
                              <a:spcPts val="0"/>
                            </a:spcAft>
                            <a:buFont typeface="+mj-lt"/>
                            <a:buAutoNum type="alphaLcPeriod" startAt="5"/>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(9−4.6</m:t>
                              </m:r>
                              <m:r>
                                <a:rPr lang="en-US" sz="2000">
                                  <a:effectLst/>
                                  <a:latin typeface="Cambria Math" panose="02040503050406030204" pitchFamily="18" charset="0"/>
                                </a:rPr>
                                <m:t>𝑥</m:t>
                              </m:r>
                              <m:r>
                                <a:rPr lang="en-US" sz="2000">
                                  <a:effectLst/>
                                  <a:latin typeface="Cambria Math" panose="02040503050406030204" pitchFamily="18" charset="0"/>
                                </a:rPr>
                                <m:t>) + (−5.3</m:t>
                              </m:r>
                              <m:r>
                                <a:rPr lang="en-US" sz="2000">
                                  <a:effectLst/>
                                  <a:latin typeface="Cambria Math" panose="02040503050406030204" pitchFamily="18" charset="0"/>
                                </a:rPr>
                                <m:t>𝑥</m:t>
                              </m:r>
                              <m:r>
                                <a:rPr lang="en-US" sz="2000">
                                  <a:effectLst/>
                                  <a:latin typeface="Cambria Math" panose="02040503050406030204" pitchFamily="18" charset="0"/>
                                </a:rPr>
                                <m:t>−7)</m:t>
                              </m:r>
                            </m:oMath>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mj-lt"/>
                            <a:buAutoNum type="alphaLcPeriod" startAt="6"/>
                          </a:pP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CO" sz="2000" i="1">
                                      <a:effectLst/>
                                      <a:latin typeface="Cambria Math" panose="02040503050406030204" pitchFamily="18" charset="0"/>
                                    </a:rPr>
                                  </m:ctrlPr>
                                </m:dPr>
                                <m:e>
                                  <m:r>
                                    <a:rPr lang="en-US" sz="2000">
                                      <a:effectLst/>
                                      <a:latin typeface="Cambria Math" panose="02040503050406030204" pitchFamily="18" charset="0"/>
                                    </a:rPr>
                                    <m:t>−</m:t>
                                  </m:r>
                                  <m:f>
                                    <m:fPr>
                                      <m:ctrlPr>
                                        <a:rPr lang="en-CO" sz="2000" i="1">
                                          <a:effectLst/>
                                          <a:latin typeface="Cambria Math" panose="02040503050406030204" pitchFamily="18" charset="0"/>
                                        </a:rPr>
                                      </m:ctrlPr>
                                    </m:fPr>
                                    <m:num>
                                      <m:r>
                                        <a:rPr lang="en-US" sz="2000">
                                          <a:effectLst/>
                                          <a:latin typeface="Cambria Math" panose="02040503050406030204" pitchFamily="18" charset="0"/>
                                        </a:rPr>
                                        <m:t>5</m:t>
                                      </m:r>
                                    </m:num>
                                    <m:den>
                                      <m:r>
                                        <a:rPr lang="en-US" sz="2000">
                                          <a:effectLst/>
                                          <a:latin typeface="Cambria Math" panose="02040503050406030204" pitchFamily="18" charset="0"/>
                                        </a:rPr>
                                        <m:t>2</m:t>
                                      </m:r>
                                    </m:den>
                                  </m:f>
                                  <m:r>
                                    <a:rPr lang="en-US" sz="2000">
                                      <a:effectLst/>
                                      <a:latin typeface="Cambria Math" panose="02040503050406030204" pitchFamily="18" charset="0"/>
                                    </a:rPr>
                                    <m:t>𝑘</m:t>
                                  </m:r>
                                  <m:r>
                                    <a:rPr lang="en-US" sz="2000">
                                      <a:effectLst/>
                                      <a:latin typeface="Cambria Math" panose="02040503050406030204" pitchFamily="18" charset="0"/>
                                    </a:rPr>
                                    <m:t>−7</m:t>
                                  </m:r>
                                </m:e>
                              </m:d>
                              <m:r>
                                <a:rPr lang="en-US" sz="2000">
                                  <a:effectLst/>
                                  <a:latin typeface="Cambria Math" panose="02040503050406030204" pitchFamily="18" charset="0"/>
                                </a:rPr>
                                <m:t>+ </m:t>
                              </m:r>
                              <m:d>
                                <m:dPr>
                                  <m:ctrlPr>
                                    <a:rPr lang="en-CO" sz="2000" i="1">
                                      <a:effectLst/>
                                      <a:latin typeface="Cambria Math" panose="02040503050406030204" pitchFamily="18" charset="0"/>
                                    </a:rPr>
                                  </m:ctrlPr>
                                </m:dPr>
                                <m:e>
                                  <m:f>
                                    <m:fPr>
                                      <m:ctrlPr>
                                        <a:rPr lang="en-CO" sz="2000" i="1">
                                          <a:effectLst/>
                                          <a:latin typeface="Cambria Math" panose="02040503050406030204" pitchFamily="18" charset="0"/>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5</m:t>
                                      </m:r>
                                    </m:den>
                                  </m:f>
                                  <m:r>
                                    <a:rPr lang="en-US" sz="2000">
                                      <a:effectLst/>
                                      <a:latin typeface="Cambria Math" panose="02040503050406030204" pitchFamily="18" charset="0"/>
                                    </a:rPr>
                                    <m:t>𝑘</m:t>
                                  </m:r>
                                  <m:r>
                                    <a:rPr lang="en-US" sz="2000">
                                      <a:effectLst/>
                                      <a:latin typeface="Cambria Math" panose="02040503050406030204" pitchFamily="18" charset="0"/>
                                    </a:rPr>
                                    <m:t> + 4</m:t>
                                  </m:r>
                                </m:e>
                              </m:d>
                            </m:oMath>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p>
                          <a:pPr marL="55245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76327289"/>
                      </a:ext>
                    </a:extLst>
                  </a:tr>
                </a:tbl>
              </a:graphicData>
            </a:graphic>
          </p:graphicFrame>
        </mc:Choice>
        <mc:Fallback>
          <p:graphicFrame>
            <p:nvGraphicFramePr>
              <p:cNvPr id="4" name="Table 3">
                <a:extLst>
                  <a:ext uri="{FF2B5EF4-FFF2-40B4-BE49-F238E27FC236}">
                    <a16:creationId xmlns:a16="http://schemas.microsoft.com/office/drawing/2014/main" id="{E7E50C93-D2C2-354B-A332-0164BFCFA779}"/>
                  </a:ext>
                </a:extLst>
              </p:cNvPr>
              <p:cNvGraphicFramePr>
                <a:graphicFrameLocks noGrp="1"/>
              </p:cNvGraphicFramePr>
              <p:nvPr>
                <p:extLst>
                  <p:ext uri="{D42A27DB-BD31-4B8C-83A1-F6EECF244321}">
                    <p14:modId xmlns:p14="http://schemas.microsoft.com/office/powerpoint/2010/main" val="2619289205"/>
                  </p:ext>
                </p:extLst>
              </p:nvPr>
            </p:nvGraphicFramePr>
            <p:xfrm>
              <a:off x="1481757" y="1013856"/>
              <a:ext cx="7415355" cy="3592354"/>
            </p:xfrm>
            <a:graphic>
              <a:graphicData uri="http://schemas.openxmlformats.org/drawingml/2006/table">
                <a:tbl>
                  <a:tblPr bandRow="1">
                    <a:tableStyleId>{A91F0D33-8C57-4600-99A7-42BC86742BE1}</a:tableStyleId>
                  </a:tblPr>
                  <a:tblGrid>
                    <a:gridCol w="3979070">
                      <a:extLst>
                        <a:ext uri="{9D8B030D-6E8A-4147-A177-3AD203B41FA5}">
                          <a16:colId xmlns:a16="http://schemas.microsoft.com/office/drawing/2014/main" val="2095586344"/>
                        </a:ext>
                      </a:extLst>
                    </a:gridCol>
                    <a:gridCol w="3436285">
                      <a:extLst>
                        <a:ext uri="{9D8B030D-6E8A-4147-A177-3AD203B41FA5}">
                          <a16:colId xmlns:a16="http://schemas.microsoft.com/office/drawing/2014/main" val="696269658"/>
                        </a:ext>
                      </a:extLst>
                    </a:gridCol>
                  </a:tblGrid>
                  <a:tr h="3592354">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373" r="-86371"/>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15780" t="-2373"/>
                          </a:stretch>
                        </a:blipFill>
                      </a:tcPr>
                    </a:tc>
                    <a:extLst>
                      <a:ext uri="{0D108BD9-81ED-4DB2-BD59-A6C34878D82A}">
                        <a16:rowId xmlns:a16="http://schemas.microsoft.com/office/drawing/2014/main" val="3076327289"/>
                      </a:ext>
                    </a:extLst>
                  </a:tr>
                </a:tbl>
              </a:graphicData>
            </a:graphic>
          </p:graphicFrame>
        </mc:Fallback>
      </mc:AlternateContent>
    </p:spTree>
    <p:extLst>
      <p:ext uri="{BB962C8B-B14F-4D97-AF65-F5344CB8AC3E}">
        <p14:creationId xmlns:p14="http://schemas.microsoft.com/office/powerpoint/2010/main" val="2340064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5224"/>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EFCC6CD7-3972-624A-AEF1-A2489A48675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51</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9.2.7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D9F7A919-8B1E-2741-BB78-98A66295B9F8}"/>
                  </a:ext>
                </a:extLst>
              </p:cNvPr>
              <p:cNvSpPr/>
              <p:nvPr/>
            </p:nvSpPr>
            <p:spPr>
              <a:xfrm>
                <a:off x="914400" y="1243129"/>
                <a:ext cx="10515600" cy="1450910"/>
              </a:xfrm>
              <a:prstGeom prst="rect">
                <a:avLst/>
              </a:prstGeom>
            </p:spPr>
            <p:txBody>
              <a:bodyPr wrap="square">
                <a:spAutoFit/>
              </a:bodyPr>
              <a:lstStyle/>
              <a:p>
                <a:pPr marL="463550" indent="-463550">
                  <a:buFont typeface="+mj-lt"/>
                  <a:buAutoNum type="arabicPeriod"/>
                </a:pPr>
                <a:r>
                  <a:rPr lang="en-US" sz="2000" dirty="0">
                    <a:latin typeface="Verdana" panose="020B0604030504040204" pitchFamily="34" charset="0"/>
                    <a:ea typeface="Times New Roman" panose="02020603050405020304" pitchFamily="18" charset="0"/>
                  </a:rPr>
                  <a:t>Your friend finds the sum of </a:t>
                </a:r>
                <a14:m>
                  <m:oMath xmlns:m="http://schemas.openxmlformats.org/officeDocument/2006/math">
                    <m:r>
                      <a:rPr lang="en-US" sz="2000" i="1" dirty="0">
                        <a:latin typeface="Cambria Math" panose="02040503050406030204" pitchFamily="18" charset="0"/>
                        <a:ea typeface="Times New Roman" panose="02020603050405020304" pitchFamily="18" charset="0"/>
                      </a:rPr>
                      <m:t>(−2 </m:t>
                    </m:r>
                    <m:f>
                      <m:fPr>
                        <m:ctrlPr>
                          <a:rPr lang="en-US" sz="2000" i="1" dirty="0">
                            <a:latin typeface="Cambria Math" panose="02040503050406030204" pitchFamily="18" charset="0"/>
                          </a:rPr>
                        </m:ctrlPr>
                      </m:fPr>
                      <m:num>
                        <m:r>
                          <a:rPr lang="es-ES" sz="2000" i="1" dirty="0">
                            <a:latin typeface="Cambria Math" panose="02040503050406030204" pitchFamily="18" charset="0"/>
                          </a:rPr>
                          <m:t>1</m:t>
                        </m:r>
                      </m:num>
                      <m:den>
                        <m:r>
                          <a:rPr lang="es-ES" sz="2000" i="1" dirty="0">
                            <a:latin typeface="Cambria Math" panose="02040503050406030204" pitchFamily="18" charset="0"/>
                          </a:rPr>
                          <m:t>2</m:t>
                        </m:r>
                      </m:den>
                    </m:f>
                    <m:r>
                      <a:rPr lang="en-US" sz="2000" i="1" dirty="0">
                        <a:latin typeface="Cambria Math" panose="02040503050406030204" pitchFamily="18" charset="0"/>
                        <a:ea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+7.1)+(4</m:t>
                    </m:r>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−5.2) </m:t>
                    </m:r>
                  </m:oMath>
                </a14:m>
                <a:r>
                  <a:rPr lang="en-US" sz="2000" dirty="0">
                    <a:latin typeface="Verdana" panose="020B0604030504040204" pitchFamily="34" charset="0"/>
                    <a:ea typeface="Times New Roman" panose="02020603050405020304" pitchFamily="18" charset="0"/>
                  </a:rPr>
                  <a:t>to be </a:t>
                </a:r>
                <a14:m>
                  <m:oMath xmlns:m="http://schemas.openxmlformats.org/officeDocument/2006/math">
                    <m:r>
                      <a:rPr lang="en-US" sz="2000" i="1" dirty="0">
                        <a:latin typeface="Cambria Math" panose="02040503050406030204" pitchFamily="18" charset="0"/>
                        <a:ea typeface="Times New Roman" panose="02020603050405020304" pitchFamily="18" charset="0"/>
                      </a:rPr>
                      <m:t>−</m:t>
                    </m:r>
                    <m:f>
                      <m:fPr>
                        <m:ctrlPr>
                          <a:rPr lang="en-US" sz="2000" i="1" dirty="0">
                            <a:latin typeface="Cambria Math" panose="02040503050406030204" pitchFamily="18" charset="0"/>
                          </a:rPr>
                        </m:ctrlPr>
                      </m:fPr>
                      <m:num>
                        <m:r>
                          <a:rPr lang="es-ES" sz="2000" i="1" dirty="0">
                            <a:latin typeface="Cambria Math" panose="02040503050406030204" pitchFamily="18" charset="0"/>
                          </a:rPr>
                          <m:t>3</m:t>
                        </m:r>
                      </m:num>
                      <m:den>
                        <m:r>
                          <a:rPr lang="es-ES" sz="2000" i="1" dirty="0">
                            <a:latin typeface="Cambria Math" panose="02040503050406030204" pitchFamily="18" charset="0"/>
                          </a:rPr>
                          <m:t>2</m:t>
                        </m:r>
                      </m:den>
                    </m:f>
                    <m:r>
                      <a:rPr lang="en-US" sz="2000" i="1" dirty="0">
                        <a:latin typeface="Cambria Math" panose="02040503050406030204" pitchFamily="18" charset="0"/>
                        <a:ea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rPr>
                      <m:t>𝑥</m:t>
                    </m:r>
                    <m:r>
                      <a:rPr lang="en-US" sz="2000" i="1" dirty="0">
                        <a:latin typeface="Cambria Math" panose="02040503050406030204" pitchFamily="18" charset="0"/>
                        <a:ea typeface="Times New Roman" panose="02020603050405020304" pitchFamily="18" charset="0"/>
                      </a:rPr>
                      <m:t>+1.9</m:t>
                    </m:r>
                  </m:oMath>
                </a14:m>
                <a:r>
                  <a:rPr lang="en-US" sz="2000" dirty="0">
                    <a:latin typeface="Verdana" panose="020B0604030504040204" pitchFamily="34" charset="0"/>
                    <a:ea typeface="Times New Roman" panose="02020603050405020304" pitchFamily="18" charset="0"/>
                  </a:rPr>
                  <a:t>.</a:t>
                </a:r>
              </a:p>
              <a:p>
                <a:pPr marL="342900" indent="-342900">
                  <a:buFont typeface="+mj-lt"/>
                  <a:buAutoNum type="arabicPeriod"/>
                </a:pPr>
                <a:endParaRPr lang="en-US" sz="2000" dirty="0">
                  <a:latin typeface="Verdana" panose="020B0604030504040204" pitchFamily="34" charset="0"/>
                  <a:ea typeface="Times New Roman" panose="02020603050405020304" pitchFamily="18" charset="0"/>
                </a:endParaRPr>
              </a:p>
              <a:p>
                <a:pPr marL="463550" lvl="0"/>
                <a:r>
                  <a:rPr lang="en-US" sz="2000" dirty="0">
                    <a:latin typeface="Verdana" panose="020B0604030504040204" pitchFamily="34" charset="0"/>
                    <a:ea typeface="Times New Roman" panose="02020603050405020304" pitchFamily="18" charset="0"/>
                  </a:rPr>
                  <a:t>Write a detailed note to your friend explaining why their answer is correct or why it is incorrect.</a:t>
                </a:r>
              </a:p>
            </p:txBody>
          </p:sp>
        </mc:Choice>
        <mc:Fallback>
          <p:sp>
            <p:nvSpPr>
              <p:cNvPr id="2" name="Rectangle 1">
                <a:extLst>
                  <a:ext uri="{FF2B5EF4-FFF2-40B4-BE49-F238E27FC236}">
                    <a16:creationId xmlns:a16="http://schemas.microsoft.com/office/drawing/2014/main" id="{D9F7A919-8B1E-2741-BB78-98A66295B9F8}"/>
                  </a:ext>
                </a:extLst>
              </p:cNvPr>
              <p:cNvSpPr>
                <a:spLocks noRot="1" noChangeAspect="1" noMove="1" noResize="1" noEditPoints="1" noAdjustHandles="1" noChangeArrowheads="1" noChangeShapeType="1" noTextEdit="1"/>
              </p:cNvSpPr>
              <p:nvPr/>
            </p:nvSpPr>
            <p:spPr>
              <a:xfrm>
                <a:off x="914400" y="1243129"/>
                <a:ext cx="10515600" cy="1450910"/>
              </a:xfrm>
              <a:prstGeom prst="rect">
                <a:avLst/>
              </a:prstGeom>
              <a:blipFill>
                <a:blip r:embed="rId5"/>
                <a:stretch>
                  <a:fillRect l="-638" r="-754" b="-6723"/>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51</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1409</TotalTime>
  <Words>905</Words>
  <Application>Microsoft Office PowerPoint</Application>
  <PresentationFormat>Widescreen</PresentationFormat>
  <Paragraphs>219</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Cambria Math</vt:lpstr>
      <vt:lpstr>Arial</vt:lpstr>
      <vt:lpstr>Verdana</vt:lpstr>
      <vt:lpstr>Times New Roman</vt:lpstr>
      <vt:lpstr>Wingdings</vt:lpstr>
      <vt:lpstr>Century Gothic</vt:lpstr>
      <vt:lpstr>Cutive</vt:lpstr>
      <vt:lpstr>Calibri</vt:lpstr>
      <vt:lpstr>Arial Black</vt:lpstr>
      <vt:lpstr>1_Office Theme</vt:lpstr>
      <vt:lpstr>7th Grade Math  Unit 9, Lesson 2  Adding Linear Expressions with Rational Coefficients  Volume 2, pg. 46  </vt:lpstr>
      <vt:lpstr>Benchmark</vt:lpstr>
      <vt:lpstr>PowerPoint Presentation</vt:lpstr>
      <vt:lpstr>PowerPoint Presentation</vt:lpstr>
      <vt:lpstr>Warm-Up</vt:lpstr>
      <vt:lpstr>PowerPoint Presentation</vt:lpstr>
      <vt:lpstr>PowerPoint Presentation</vt:lpstr>
      <vt:lpstr>Exploration</vt:lpstr>
      <vt:lpstr>PowerPoint Presentation</vt:lpstr>
      <vt:lpstr>Collaboration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19</cp:revision>
  <dcterms:created xsi:type="dcterms:W3CDTF">2015-03-17T18:51:18Z</dcterms:created>
  <dcterms:modified xsi:type="dcterms:W3CDTF">2022-06-11T00:54:42Z</dcterms:modified>
</cp:coreProperties>
</file>