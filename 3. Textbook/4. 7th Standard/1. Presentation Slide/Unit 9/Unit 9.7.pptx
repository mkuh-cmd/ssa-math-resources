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5" r:id="rId4"/>
    <p:sldId id="286" r:id="rId5"/>
    <p:sldId id="261" r:id="rId6"/>
    <p:sldId id="287" r:id="rId7"/>
    <p:sldId id="326" r:id="rId8"/>
    <p:sldId id="327" r:id="rId9"/>
    <p:sldId id="358" r:id="rId10"/>
    <p:sldId id="311" r:id="rId11"/>
    <p:sldId id="312" r:id="rId12"/>
    <p:sldId id="366" r:id="rId13"/>
    <p:sldId id="367" r:id="rId14"/>
    <p:sldId id="368" r:id="rId15"/>
    <p:sldId id="289" r:id="rId16"/>
    <p:sldId id="290" r:id="rId17"/>
    <p:sldId id="370" r:id="rId18"/>
    <p:sldId id="356" r:id="rId19"/>
    <p:sldId id="374" r:id="rId20"/>
    <p:sldId id="375" r:id="rId21"/>
    <p:sldId id="376" r:id="rId22"/>
    <p:sldId id="323" r:id="rId23"/>
    <p:sldId id="324" r:id="rId24"/>
    <p:sldId id="377" r:id="rId25"/>
    <p:sldId id="302" r:id="rId26"/>
    <p:sldId id="303" r:id="rId27"/>
    <p:sldId id="378" r:id="rId28"/>
    <p:sldId id="306" r:id="rId29"/>
    <p:sldId id="307" r:id="rId30"/>
  </p:sldIdLst>
  <p:sldSz cx="12192000" cy="6858000"/>
  <p:notesSz cx="6858000" cy="9144000"/>
  <p:embeddedFontLst>
    <p:embeddedFont>
      <p:font typeface="Arial Black" panose="020B0A04020102020204" pitchFamily="34" charset="0"/>
      <p:regular r:id="rId32"/>
      <p:bold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  <p:embeddedFont>
      <p:font typeface="Century Gothic" panose="020B0502020202020204" pitchFamily="34" charset="0"/>
      <p:regular r:id="rId39"/>
      <p:bold r:id="rId40"/>
      <p:italic r:id="rId41"/>
      <p:boldItalic r:id="rId42"/>
    </p:embeddedFont>
    <p:embeddedFont>
      <p:font typeface="Verdana" panose="020B060403050404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9" autoAdjust="0"/>
    <p:restoredTop sz="94724"/>
  </p:normalViewPr>
  <p:slideViewPr>
    <p:cSldViewPr snapToGrid="0">
      <p:cViewPr varScale="1">
        <p:scale>
          <a:sx n="81" d="100"/>
          <a:sy n="81" d="100"/>
        </p:scale>
        <p:origin x="75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032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289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7324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83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84607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92199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95826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28215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47687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80001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2314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97957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commons.wikimedia.org/wiki/File:Mu%E1%B8%A5ammad_ibn_M%C5%ABs%C4%81_al-Khw%C4%81rizm%C4%AB.png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7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Equivalent Linear Expressions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70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97002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634100" y="1560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925" y="3048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399" y="1600200"/>
            <a:ext cx="103909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MA.7.AR.1.2</a:t>
            </a:r>
          </a:p>
          <a:p>
            <a:pPr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whether two linear expressions are equivalent.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37332" y="142153"/>
            <a:ext cx="984234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E42EF11-5FC6-7744-AF68-159F2F06D67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9531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verify using substitution that linear expressions are equivalent. 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793C8E2-E1C4-B24A-AB6C-B7DBDD28D85B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BCEEC8C-9B17-C841-8ED4-211C80FA09C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9.7.1 Warm-Up: Origins of Algebra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17165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3081A1-25B1-2A4B-8FF2-3F1C264A000D}"/>
              </a:ext>
            </a:extLst>
          </p:cNvPr>
          <p:cNvSpPr/>
          <p:nvPr/>
        </p:nvSpPr>
        <p:spPr>
          <a:xfrm>
            <a:off x="914400" y="1534645"/>
            <a:ext cx="678990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word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algebra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comes from the Arabic word </a:t>
            </a:r>
            <a:r>
              <a:rPr lang="ar-AE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الجبر</a:t>
            </a:r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 al-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jabr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which means, “the restoring of broken parts.” The word algebra comes from the title of a book written by a Persian mathematician named Muhammad ibn Musa al-Khwarizmi in the 9</a:t>
            </a:r>
            <a:r>
              <a:rPr lang="en-US" sz="2400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century.</a:t>
            </a:r>
          </a:p>
        </p:txBody>
      </p:sp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478CDDBB-860A-D748-B9D0-C51751F3670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27394B-E078-E246-93D9-340A8ADA775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842374" y="1511725"/>
            <a:ext cx="1937385" cy="257746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2F4C1A5-68BB-9248-8251-B8C6E110A496}"/>
              </a:ext>
            </a:extLst>
          </p:cNvPr>
          <p:cNvSpPr/>
          <p:nvPr/>
        </p:nvSpPr>
        <p:spPr>
          <a:xfrm>
            <a:off x="914400" y="4573267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Based on what you know about algebraic expressions and equations, explain why you think this meaning of the Arabic word makes sense to describe algebra.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66" name="Picture 2" descr="Icon&#10;&#10;Description automatically generated">
            <a:extLst>
              <a:ext uri="{FF2B5EF4-FFF2-40B4-BE49-F238E27FC236}">
                <a16:creationId xmlns:a16="http://schemas.microsoft.com/office/drawing/2014/main" id="{8E68AE2B-31C4-664C-9668-81B7C167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66145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107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3932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9.7.2 Refresher: Evaluating Algebraic Expressions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522B94A7-8145-AF4C-A130-4689EF53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/>
              <p:nvPr/>
            </p:nvSpPr>
            <p:spPr>
              <a:xfrm>
                <a:off x="914400" y="1305036"/>
                <a:ext cx="1051560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Evaluate each expression for the given value of 𝑥.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05036"/>
                <a:ext cx="10515600" cy="1569660"/>
              </a:xfrm>
              <a:prstGeom prst="rect">
                <a:avLst/>
              </a:prstGeom>
              <a:blipFill>
                <a:blip r:embed="rId5"/>
                <a:stretch>
                  <a:fillRect l="-870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4029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595F5A3-8517-A649-B3E5-8F39D89AF441}"/>
                  </a:ext>
                </a:extLst>
              </p:cNvPr>
              <p:cNvSpPr/>
              <p:nvPr/>
            </p:nvSpPr>
            <p:spPr>
              <a:xfrm>
                <a:off x="914400" y="761550"/>
                <a:ext cx="10515600" cy="32052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 𝑥=−1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)∙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595F5A3-8517-A649-B3E5-8F39D89AF4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761550"/>
                <a:ext cx="10515600" cy="3205236"/>
              </a:xfrm>
              <a:prstGeom prst="rect">
                <a:avLst/>
              </a:prstGeom>
              <a:blipFill>
                <a:blip r:embed="rId4"/>
                <a:stretch>
                  <a:fillRect l="-870" t="-1711" b="-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9150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D0D4F70-A5F7-6844-B49C-C7559A2266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16.png">
            <a:extLst>
              <a:ext uri="{FF2B5EF4-FFF2-40B4-BE49-F238E27FC236}">
                <a16:creationId xmlns:a16="http://schemas.microsoft.com/office/drawing/2014/main" id="{8731CD33-60E7-5349-A322-38CB4F258795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06423"/>
            <a:ext cx="1156228" cy="11562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1598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9.7.3 Collaboration: Evaluating Equivalent Expressions Using Substitution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C46F4F-A85A-084E-B29C-01BB2615DE1E}"/>
              </a:ext>
            </a:extLst>
          </p:cNvPr>
          <p:cNvSpPr/>
          <p:nvPr/>
        </p:nvSpPr>
        <p:spPr>
          <a:xfrm>
            <a:off x="914400" y="1386026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46355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With your partner, complete the table by choosing who will be Partner A or Partner B to determine if the expressions are equivalent. </a:t>
            </a: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201E82E5-44E0-F44C-89CC-51BF5F79728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E4B2F91-0AB8-A649-A67E-BBD9C50503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625589"/>
                  </p:ext>
                </p:extLst>
              </p:nvPr>
            </p:nvGraphicFramePr>
            <p:xfrm>
              <a:off x="1530729" y="2658208"/>
              <a:ext cx="8444543" cy="396680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403908">
                      <a:extLst>
                        <a:ext uri="{9D8B030D-6E8A-4147-A177-3AD203B41FA5}">
                          <a16:colId xmlns:a16="http://schemas.microsoft.com/office/drawing/2014/main" val="1422157211"/>
                        </a:ext>
                      </a:extLst>
                    </a:gridCol>
                    <a:gridCol w="2675786">
                      <a:extLst>
                        <a:ext uri="{9D8B030D-6E8A-4147-A177-3AD203B41FA5}">
                          <a16:colId xmlns:a16="http://schemas.microsoft.com/office/drawing/2014/main" val="3079529627"/>
                        </a:ext>
                      </a:extLst>
                    </a:gridCol>
                    <a:gridCol w="2534378">
                      <a:extLst>
                        <a:ext uri="{9D8B030D-6E8A-4147-A177-3AD203B41FA5}">
                          <a16:colId xmlns:a16="http://schemas.microsoft.com/office/drawing/2014/main" val="1793320753"/>
                        </a:ext>
                      </a:extLst>
                    </a:gridCol>
                    <a:gridCol w="1830471">
                      <a:extLst>
                        <a:ext uri="{9D8B030D-6E8A-4147-A177-3AD203B41FA5}">
                          <a16:colId xmlns:a16="http://schemas.microsoft.com/office/drawing/2014/main" val="4112228594"/>
                        </a:ext>
                      </a:extLst>
                    </a:gridCol>
                  </a:tblGrid>
                  <a:tr h="66999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Partner and</a:t>
                          </a:r>
                          <a:endParaRPr lang="en-CO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Value</a:t>
                          </a:r>
                          <a:endParaRPr lang="en-CO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𝟖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𝟒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𝟔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O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Equivalent?</a:t>
                          </a:r>
                          <a:endParaRPr lang="en-CO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294528"/>
                      </a:ext>
                    </a:extLst>
                  </a:tr>
                  <a:tr h="153465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24218089"/>
                      </a:ext>
                    </a:extLst>
                  </a:tr>
                  <a:tr h="15177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=5</m:t>
                                </m:r>
                              </m:oMath>
                            </m:oMathPara>
                          </a14:m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185935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E4B2F91-0AB8-A649-A67E-BBD9C50503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625589"/>
                  </p:ext>
                </p:extLst>
              </p:nvPr>
            </p:nvGraphicFramePr>
            <p:xfrm>
              <a:off x="1530729" y="2658208"/>
              <a:ext cx="8444543" cy="396680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403908">
                      <a:extLst>
                        <a:ext uri="{9D8B030D-6E8A-4147-A177-3AD203B41FA5}">
                          <a16:colId xmlns:a16="http://schemas.microsoft.com/office/drawing/2014/main" val="1422157211"/>
                        </a:ext>
                      </a:extLst>
                    </a:gridCol>
                    <a:gridCol w="2675786">
                      <a:extLst>
                        <a:ext uri="{9D8B030D-6E8A-4147-A177-3AD203B41FA5}">
                          <a16:colId xmlns:a16="http://schemas.microsoft.com/office/drawing/2014/main" val="3079529627"/>
                        </a:ext>
                      </a:extLst>
                    </a:gridCol>
                    <a:gridCol w="2534378">
                      <a:extLst>
                        <a:ext uri="{9D8B030D-6E8A-4147-A177-3AD203B41FA5}">
                          <a16:colId xmlns:a16="http://schemas.microsoft.com/office/drawing/2014/main" val="1793320753"/>
                        </a:ext>
                      </a:extLst>
                    </a:gridCol>
                    <a:gridCol w="1830471">
                      <a:extLst>
                        <a:ext uri="{9D8B030D-6E8A-4147-A177-3AD203B41FA5}">
                          <a16:colId xmlns:a16="http://schemas.microsoft.com/office/drawing/2014/main" val="411222859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Partner and</a:t>
                          </a:r>
                          <a:endParaRPr lang="en-CO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Value</a:t>
                          </a:r>
                          <a:endParaRPr lang="en-CO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2500" t="-8667" r="-163182" b="-33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61298" t="-8667" r="-72596" b="-33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Equivalent?</a:t>
                          </a:r>
                          <a:endParaRPr lang="en-CO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294528"/>
                      </a:ext>
                    </a:extLst>
                  </a:tr>
                  <a:tr h="15346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35" t="-64683" r="-503478" b="-99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24218089"/>
                      </a:ext>
                    </a:extLst>
                  </a:tr>
                  <a:tr h="1517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35" t="-166667" r="-503478" b="-8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1859352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image16.png">
            <a:extLst>
              <a:ext uri="{FF2B5EF4-FFF2-40B4-BE49-F238E27FC236}">
                <a16:creationId xmlns:a16="http://schemas.microsoft.com/office/drawing/2014/main" id="{8451074E-6669-E549-BDCF-6A3918743138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318179"/>
            <a:ext cx="758257" cy="75825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91541B9-7C1E-4043-A1D5-12779C6D7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9DFA717-09B3-B849-8E59-A427869E0E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1663586"/>
                  </p:ext>
                </p:extLst>
              </p:nvPr>
            </p:nvGraphicFramePr>
            <p:xfrm>
              <a:off x="2243250" y="1489466"/>
              <a:ext cx="7705500" cy="387071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281042">
                      <a:extLst>
                        <a:ext uri="{9D8B030D-6E8A-4147-A177-3AD203B41FA5}">
                          <a16:colId xmlns:a16="http://schemas.microsoft.com/office/drawing/2014/main" val="980533571"/>
                        </a:ext>
                      </a:extLst>
                    </a:gridCol>
                    <a:gridCol w="2441608">
                      <a:extLst>
                        <a:ext uri="{9D8B030D-6E8A-4147-A177-3AD203B41FA5}">
                          <a16:colId xmlns:a16="http://schemas.microsoft.com/office/drawing/2014/main" val="1520508862"/>
                        </a:ext>
                      </a:extLst>
                    </a:gridCol>
                    <a:gridCol w="2312577">
                      <a:extLst>
                        <a:ext uri="{9D8B030D-6E8A-4147-A177-3AD203B41FA5}">
                          <a16:colId xmlns:a16="http://schemas.microsoft.com/office/drawing/2014/main" val="3524829041"/>
                        </a:ext>
                      </a:extLst>
                    </a:gridCol>
                    <a:gridCol w="1670273">
                      <a:extLst>
                        <a:ext uri="{9D8B030D-6E8A-4147-A177-3AD203B41FA5}">
                          <a16:colId xmlns:a16="http://schemas.microsoft.com/office/drawing/2014/main" val="136126041"/>
                        </a:ext>
                      </a:extLst>
                    </a:gridCol>
                  </a:tblGrid>
                  <a:tr h="193535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=−5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16848353"/>
                      </a:ext>
                    </a:extLst>
                  </a:tr>
                  <a:tr h="193535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=(−2)</m:t>
                                </m:r>
                              </m:oMath>
                            </m:oMathPara>
                          </a14:m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9317623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9DFA717-09B3-B849-8E59-A427869E0E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1663586"/>
                  </p:ext>
                </p:extLst>
              </p:nvPr>
            </p:nvGraphicFramePr>
            <p:xfrm>
              <a:off x="2243250" y="1489466"/>
              <a:ext cx="7705500" cy="387071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281042">
                      <a:extLst>
                        <a:ext uri="{9D8B030D-6E8A-4147-A177-3AD203B41FA5}">
                          <a16:colId xmlns:a16="http://schemas.microsoft.com/office/drawing/2014/main" val="980533571"/>
                        </a:ext>
                      </a:extLst>
                    </a:gridCol>
                    <a:gridCol w="2441608">
                      <a:extLst>
                        <a:ext uri="{9D8B030D-6E8A-4147-A177-3AD203B41FA5}">
                          <a16:colId xmlns:a16="http://schemas.microsoft.com/office/drawing/2014/main" val="1520508862"/>
                        </a:ext>
                      </a:extLst>
                    </a:gridCol>
                    <a:gridCol w="2312577">
                      <a:extLst>
                        <a:ext uri="{9D8B030D-6E8A-4147-A177-3AD203B41FA5}">
                          <a16:colId xmlns:a16="http://schemas.microsoft.com/office/drawing/2014/main" val="3524829041"/>
                        </a:ext>
                      </a:extLst>
                    </a:gridCol>
                    <a:gridCol w="1670273">
                      <a:extLst>
                        <a:ext uri="{9D8B030D-6E8A-4147-A177-3AD203B41FA5}">
                          <a16:colId xmlns:a16="http://schemas.microsoft.com/office/drawing/2014/main" val="136126041"/>
                        </a:ext>
                      </a:extLst>
                    </a:gridCol>
                  </a:tblGrid>
                  <a:tr h="19353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6" t="-314" r="-503810" b="-100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16848353"/>
                      </a:ext>
                    </a:extLst>
                  </a:tr>
                  <a:tr h="19353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6" t="-100314" r="-503810" b="-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9317623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65538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DD30458-F2CD-AA4E-8439-03C4ABDE9142}"/>
                  </a:ext>
                </a:extLst>
              </p:cNvPr>
              <p:cNvSpPr/>
              <p:nvPr/>
            </p:nvSpPr>
            <p:spPr>
              <a:xfrm>
                <a:off x="914400" y="533212"/>
                <a:ext cx="10515600" cy="54476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6725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Complete the statement to describe the results in the last column of the table.</a:t>
                </a:r>
              </a:p>
              <a:p>
                <a:pPr marL="498475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3550">
                  <a:lnSpc>
                    <a:spcPct val="25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Depending on the value being substituted into the expressions, the evaluated expressions 		   had the same value as each other. </a:t>
                </a:r>
              </a:p>
              <a:p>
                <a:pPr marL="14288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14288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71488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What do the results tell you about the expressions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8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+ 4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−2 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2(6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?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DD30458-F2CD-AA4E-8439-03C4ABDE91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33212"/>
                <a:ext cx="10515600" cy="5447645"/>
              </a:xfrm>
              <a:prstGeom prst="rect">
                <a:avLst/>
              </a:prstGeom>
              <a:blipFill>
                <a:blip r:embed="rId4"/>
                <a:stretch>
                  <a:fillRect l="-754" t="-895" r="-754" b="-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8B73DB-0DF7-EE46-891E-B7CF14DC748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9DBB2ABC-0248-8443-92AC-8F93BFD8E69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9491" y="2560645"/>
            <a:ext cx="1984467" cy="116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43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D3CFD391-E431-9C4A-9934-6764E12AD45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2F34796-5C68-564E-98C7-8B7E278F6003}"/>
                  </a:ext>
                </a:extLst>
              </p:cNvPr>
              <p:cNvSpPr/>
              <p:nvPr/>
            </p:nvSpPr>
            <p:spPr>
              <a:xfrm>
                <a:off x="914400" y="411293"/>
                <a:ext cx="10515600" cy="45243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6725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Rewrite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8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+4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by combining the like terms.</a:t>
                </a: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Use the distributive property to rewrite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2(6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. </a:t>
                </a: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Discuss with your partner how the two expressions verify the results from your table.  </a:t>
                </a:r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2F34796-5C68-564E-98C7-8B7E278F60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1293"/>
                <a:ext cx="10515600" cy="4524315"/>
              </a:xfrm>
              <a:prstGeom prst="rect">
                <a:avLst/>
              </a:prstGeom>
              <a:blipFill>
                <a:blip r:embed="rId4"/>
                <a:stretch>
                  <a:fillRect l="-754" t="-1211" b="-2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9476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1FF9CFB8-C79A-5D4D-83F8-43846C68790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73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9.1.3 Guided Instruction: Determining Equivalent Expressions Using Substitution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14997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65CEBC6-0C26-3645-AB91-CC52DC9589E3}"/>
                  </a:ext>
                </a:extLst>
              </p:cNvPr>
              <p:cNvSpPr/>
              <p:nvPr/>
            </p:nvSpPr>
            <p:spPr>
              <a:xfrm>
                <a:off x="914400" y="1361497"/>
                <a:ext cx="10515600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two expressions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+4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2(6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−1)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equivalent, but not equal. The expressions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equal.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difference between 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equivalence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equality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65CEBC6-0C26-3645-AB91-CC52DC9589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61497"/>
                <a:ext cx="10515600" cy="1938992"/>
              </a:xfrm>
              <a:prstGeom prst="rect">
                <a:avLst/>
              </a:prstGeom>
              <a:blipFill>
                <a:blip r:embed="rId5"/>
                <a:stretch>
                  <a:fillRect l="-870" t="-2830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0A0F8137-E2FE-2946-BD3D-5765F6F402E4}"/>
              </a:ext>
            </a:extLst>
          </p:cNvPr>
          <p:cNvGrpSpPr/>
          <p:nvPr/>
        </p:nvGrpSpPr>
        <p:grpSpPr>
          <a:xfrm>
            <a:off x="2519850" y="2111290"/>
            <a:ext cx="7075130" cy="1062575"/>
            <a:chOff x="2031300" y="3373600"/>
            <a:chExt cx="6629400" cy="8128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2EA9D6-63D2-E34C-8141-8523D88768A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651CB98-3830-734D-B491-BDD63EAA8017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</p:grp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7EB3F1AE-291B-E244-8D87-38A3560E354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Rectangle: Rounded Corners 114">
            <a:extLst>
              <a:ext uri="{FF2B5EF4-FFF2-40B4-BE49-F238E27FC236}">
                <a16:creationId xmlns:a16="http://schemas.microsoft.com/office/drawing/2014/main" id="{B2755952-01B6-6946-A7C3-AC8ED2D2A81D}"/>
              </a:ext>
            </a:extLst>
          </p:cNvPr>
          <p:cNvSpPr/>
          <p:nvPr/>
        </p:nvSpPr>
        <p:spPr>
          <a:xfrm>
            <a:off x="2125495" y="3686373"/>
            <a:ext cx="7944780" cy="1810130"/>
          </a:xfrm>
          <a:prstGeom prst="roundRect">
            <a:avLst/>
          </a:prstGeom>
          <a:solidFill>
            <a:srgbClr val="B8E6F5"/>
          </a:solidFill>
          <a:ln>
            <a:solidFill>
              <a:srgbClr val="B8E6F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742950"/>
            <a:r>
              <a:rPr lang="en-US" sz="2000" dirty="0">
                <a:solidFill>
                  <a:srgbClr val="00619E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Algebraic expressions are </a:t>
            </a:r>
            <a:r>
              <a:rPr lang="en-US" sz="2000" b="1" dirty="0">
                <a:solidFill>
                  <a:srgbClr val="00619E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equivalent </a:t>
            </a:r>
            <a:r>
              <a:rPr lang="en-US" sz="2000" dirty="0">
                <a:solidFill>
                  <a:srgbClr val="00619E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if they have different terms but are equal when evaluated using the same value for the variables. Algebraic expressions are </a:t>
            </a:r>
            <a:r>
              <a:rPr lang="en-US" sz="2000" b="1" dirty="0">
                <a:solidFill>
                  <a:srgbClr val="00619E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equal </a:t>
            </a:r>
            <a:r>
              <a:rPr lang="en-US" sz="2000" dirty="0">
                <a:solidFill>
                  <a:srgbClr val="00619E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if they have the same terms and operations.</a:t>
            </a:r>
            <a:endParaRPr lang="en-CO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9" name="image3.png" descr="Icon&#10;&#10;Description automatically generated">
            <a:extLst>
              <a:ext uri="{FF2B5EF4-FFF2-40B4-BE49-F238E27FC236}">
                <a16:creationId xmlns:a16="http://schemas.microsoft.com/office/drawing/2014/main" id="{251EFCD7-1422-A646-96B5-93090D23514F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42350" y="3867525"/>
            <a:ext cx="539750" cy="5397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D8CE891-558F-FB41-8F03-D31983C4CCA2}"/>
                  </a:ext>
                </a:extLst>
              </p:cNvPr>
              <p:cNvSpPr/>
              <p:nvPr/>
            </p:nvSpPr>
            <p:spPr>
              <a:xfrm>
                <a:off x="914400" y="364589"/>
                <a:ext cx="1051560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whether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5 − 3(2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+ 1)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+ 2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equivalent using substitution of numerical values.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D8CE891-558F-FB41-8F03-D31983C4C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64589"/>
                <a:ext cx="10515600" cy="1569660"/>
              </a:xfrm>
              <a:prstGeom prst="rect">
                <a:avLst/>
              </a:prstGeom>
              <a:blipFill>
                <a:blip r:embed="rId4"/>
                <a:stretch>
                  <a:fillRect l="-870" t="-3502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AC4FD991-6CC3-DF45-9C50-BB55BF4BD58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52CFB78-1BEA-2042-ABF6-956F61EF6E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8024446"/>
                  </p:ext>
                </p:extLst>
              </p:nvPr>
            </p:nvGraphicFramePr>
            <p:xfrm>
              <a:off x="2270760" y="2087188"/>
              <a:ext cx="7650480" cy="435133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35602">
                      <a:extLst>
                        <a:ext uri="{9D8B030D-6E8A-4147-A177-3AD203B41FA5}">
                          <a16:colId xmlns:a16="http://schemas.microsoft.com/office/drawing/2014/main" val="4099107112"/>
                        </a:ext>
                      </a:extLst>
                    </a:gridCol>
                    <a:gridCol w="2844152">
                      <a:extLst>
                        <a:ext uri="{9D8B030D-6E8A-4147-A177-3AD203B41FA5}">
                          <a16:colId xmlns:a16="http://schemas.microsoft.com/office/drawing/2014/main" val="1019772529"/>
                        </a:ext>
                      </a:extLst>
                    </a:gridCol>
                    <a:gridCol w="2870726">
                      <a:extLst>
                        <a:ext uri="{9D8B030D-6E8A-4147-A177-3AD203B41FA5}">
                          <a16:colId xmlns:a16="http://schemas.microsoft.com/office/drawing/2014/main" val="3454141462"/>
                        </a:ext>
                      </a:extLst>
                    </a:gridCol>
                  </a:tblGrid>
                  <a:tr h="4432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981741"/>
                      </a:ext>
                    </a:extLst>
                  </a:tr>
                  <a:tr h="1302689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What is the value when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?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7938099"/>
                      </a:ext>
                    </a:extLst>
                  </a:tr>
                  <a:tr h="1302689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What is the value when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f>
                                <m:fPr>
                                  <m:ctrlPr>
                                    <a:rPr lang="en-CO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?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16405430"/>
                      </a:ext>
                    </a:extLst>
                  </a:tr>
                  <a:tr h="1302689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Choose another value for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substitute.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457253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52CFB78-1BEA-2042-ABF6-956F61EF6E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8024446"/>
                  </p:ext>
                </p:extLst>
              </p:nvPr>
            </p:nvGraphicFramePr>
            <p:xfrm>
              <a:off x="2270760" y="2087188"/>
              <a:ext cx="7650480" cy="435133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35602">
                      <a:extLst>
                        <a:ext uri="{9D8B030D-6E8A-4147-A177-3AD203B41FA5}">
                          <a16:colId xmlns:a16="http://schemas.microsoft.com/office/drawing/2014/main" val="4099107112"/>
                        </a:ext>
                      </a:extLst>
                    </a:gridCol>
                    <a:gridCol w="2844152">
                      <a:extLst>
                        <a:ext uri="{9D8B030D-6E8A-4147-A177-3AD203B41FA5}">
                          <a16:colId xmlns:a16="http://schemas.microsoft.com/office/drawing/2014/main" val="1019772529"/>
                        </a:ext>
                      </a:extLst>
                    </a:gridCol>
                    <a:gridCol w="2870726">
                      <a:extLst>
                        <a:ext uri="{9D8B030D-6E8A-4147-A177-3AD203B41FA5}">
                          <a16:colId xmlns:a16="http://schemas.microsoft.com/office/drawing/2014/main" val="3454141462"/>
                        </a:ext>
                      </a:extLst>
                    </a:gridCol>
                  </a:tblGrid>
                  <a:tr h="44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4" t="-1370" r="-295597" b="-9041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8308" t="-1370" r="-101285" b="-9041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6879" t="-1370" r="-425" b="-9041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981741"/>
                      </a:ext>
                    </a:extLst>
                  </a:tr>
                  <a:tr h="13026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4" t="-34579" r="-295597" b="-2084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7938099"/>
                      </a:ext>
                    </a:extLst>
                  </a:tr>
                  <a:tr h="13026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4" t="-134579" r="-295597" b="-1084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16405430"/>
                      </a:ext>
                    </a:extLst>
                  </a:tr>
                  <a:tr h="13026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4" t="-234579" r="-295597" b="-84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457253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79042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64DACC8-9278-5D41-A412-4D85903DDDBA}"/>
              </a:ext>
            </a:extLst>
          </p:cNvPr>
          <p:cNvSpPr/>
          <p:nvPr/>
        </p:nvSpPr>
        <p:spPr>
          <a:xfrm>
            <a:off x="914400" y="955945"/>
            <a:ext cx="78364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if the expressions are equivalent.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E493DB5F-375D-8244-B784-A6E29A1A310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1598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64DACC8-9278-5D41-A412-4D85903DDDBA}"/>
                  </a:ext>
                </a:extLst>
              </p:cNvPr>
              <p:cNvSpPr/>
              <p:nvPr/>
            </p:nvSpPr>
            <p:spPr>
              <a:xfrm>
                <a:off x="914400" y="529225"/>
                <a:ext cx="10515600" cy="48936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the expressions were equal when “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” was substituted for 𝑥.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the advantages and disadvantages of using “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” to substitute for a variable to check for equivalence. 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64DACC8-9278-5D41-A412-4D85903DDD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9225"/>
                <a:ext cx="10515600" cy="4893647"/>
              </a:xfrm>
              <a:prstGeom prst="rect">
                <a:avLst/>
              </a:prstGeom>
              <a:blipFill>
                <a:blip r:embed="rId4"/>
                <a:stretch>
                  <a:fillRect t="-1121" r="-1681" b="-1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E493DB5F-375D-8244-B784-A6E29A1A310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9239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64DACC8-9278-5D41-A412-4D85903DDDBA}"/>
                  </a:ext>
                </a:extLst>
              </p:cNvPr>
              <p:cNvSpPr/>
              <p:nvPr/>
            </p:nvSpPr>
            <p:spPr>
              <a:xfrm>
                <a:off x="914400" y="529226"/>
                <a:ext cx="1051560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whether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 +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(4 − 2)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(3−7) + 5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equivalent using substitution of numerical values.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64DACC8-9278-5D41-A412-4D85903DDD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9226"/>
                <a:ext cx="10515600" cy="1569660"/>
              </a:xfrm>
              <a:prstGeom prst="rect">
                <a:avLst/>
              </a:prstGeom>
              <a:blipFill>
                <a:blip r:embed="rId4"/>
                <a:stretch>
                  <a:fillRect l="-870" t="-3502" r="-986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E493DB5F-375D-8244-B784-A6E29A1A310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F237DBE-407C-8548-8658-74F29AB8E8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9988003"/>
                  </p:ext>
                </p:extLst>
              </p:nvPr>
            </p:nvGraphicFramePr>
            <p:xfrm>
              <a:off x="2606714" y="2345773"/>
              <a:ext cx="7056120" cy="410432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00005">
                      <a:extLst>
                        <a:ext uri="{9D8B030D-6E8A-4147-A177-3AD203B41FA5}">
                          <a16:colId xmlns:a16="http://schemas.microsoft.com/office/drawing/2014/main" val="1602952616"/>
                        </a:ext>
                      </a:extLst>
                    </a:gridCol>
                    <a:gridCol w="2617049">
                      <a:extLst>
                        <a:ext uri="{9D8B030D-6E8A-4147-A177-3AD203B41FA5}">
                          <a16:colId xmlns:a16="http://schemas.microsoft.com/office/drawing/2014/main" val="2139318443"/>
                        </a:ext>
                      </a:extLst>
                    </a:gridCol>
                    <a:gridCol w="2539066">
                      <a:extLst>
                        <a:ext uri="{9D8B030D-6E8A-4147-A177-3AD203B41FA5}">
                          <a16:colId xmlns:a16="http://schemas.microsoft.com/office/drawing/2014/main" val="2194512433"/>
                        </a:ext>
                      </a:extLst>
                    </a:gridCol>
                  </a:tblGrid>
                  <a:tr h="41811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7547263"/>
                      </a:ext>
                    </a:extLst>
                  </a:tr>
                  <a:tr h="1228737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What is the value when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=1 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?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5459483"/>
                      </a:ext>
                    </a:extLst>
                  </a:tr>
                  <a:tr h="1228737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What is the value when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 0 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?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80454364"/>
                      </a:ext>
                    </a:extLst>
                  </a:tr>
                  <a:tr h="1228737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Choose another value for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substitute.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6150942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F237DBE-407C-8548-8658-74F29AB8E8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9988003"/>
                  </p:ext>
                </p:extLst>
              </p:nvPr>
            </p:nvGraphicFramePr>
            <p:xfrm>
              <a:off x="2606714" y="2345773"/>
              <a:ext cx="7056120" cy="410432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00005">
                      <a:extLst>
                        <a:ext uri="{9D8B030D-6E8A-4147-A177-3AD203B41FA5}">
                          <a16:colId xmlns:a16="http://schemas.microsoft.com/office/drawing/2014/main" val="1602952616"/>
                        </a:ext>
                      </a:extLst>
                    </a:gridCol>
                    <a:gridCol w="2617049">
                      <a:extLst>
                        <a:ext uri="{9D8B030D-6E8A-4147-A177-3AD203B41FA5}">
                          <a16:colId xmlns:a16="http://schemas.microsoft.com/office/drawing/2014/main" val="2139318443"/>
                        </a:ext>
                      </a:extLst>
                    </a:gridCol>
                    <a:gridCol w="2539066">
                      <a:extLst>
                        <a:ext uri="{9D8B030D-6E8A-4147-A177-3AD203B41FA5}">
                          <a16:colId xmlns:a16="http://schemas.microsoft.com/office/drawing/2014/main" val="2194512433"/>
                        </a:ext>
                      </a:extLst>
                    </a:gridCol>
                  </a:tblGrid>
                  <a:tr h="4181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1" t="-1449" r="-272115" b="-9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2791" t="-1449" r="-97442" b="-9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8177" t="-1449" r="-480" b="-9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7547263"/>
                      </a:ext>
                    </a:extLst>
                  </a:tr>
                  <a:tr h="12287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1" t="-34653" r="-272115" b="-211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5459483"/>
                      </a:ext>
                    </a:extLst>
                  </a:tr>
                  <a:tr h="12287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1" t="-134653" r="-272115" b="-111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80454364"/>
                      </a:ext>
                    </a:extLst>
                  </a:tr>
                  <a:tr h="12287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1" t="-234653" r="-272115" b="-11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615094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38192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64DACC8-9278-5D41-A412-4D85903DDDBA}"/>
              </a:ext>
            </a:extLst>
          </p:cNvPr>
          <p:cNvSpPr/>
          <p:nvPr/>
        </p:nvSpPr>
        <p:spPr>
          <a:xfrm>
            <a:off x="914400" y="824945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values are best to use when substituting values in for the variable to check for equivalency?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E493DB5F-375D-8244-B784-A6E29A1A310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1925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869A00B0-FE4F-524C-8898-788633040B6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531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9.7.5 Guided Practice: Determining Equivalent Expressions Using Substitution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E93443-AE1C-E74A-AE78-CC15B1FA9136}"/>
              </a:ext>
            </a:extLst>
          </p:cNvPr>
          <p:cNvSpPr/>
          <p:nvPr/>
        </p:nvSpPr>
        <p:spPr>
          <a:xfrm>
            <a:off x="914400" y="1320389"/>
            <a:ext cx="10515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Verdana" panose="020B0604030504040204" pitchFamily="34" charset="0"/>
              <a:buAutoNum type="arabicPeriod"/>
            </a:pPr>
            <a:r>
              <a:rPr lang="en-GB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Consider the three expressions below. Determine whether the expressions are equivalent by substituting the given value of 𝑥. </a:t>
            </a:r>
          </a:p>
          <a:p>
            <a:pPr lvl="0"/>
            <a:endParaRPr lang="en-GB" sz="20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GB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Complete the table.</a:t>
            </a: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AEBAF5A-31A2-944C-A625-977623E161B5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3BA6452-93EF-8B42-BD75-10A2019ED2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3170969"/>
                  </p:ext>
                </p:extLst>
              </p:nvPr>
            </p:nvGraphicFramePr>
            <p:xfrm>
              <a:off x="1711180" y="2806653"/>
              <a:ext cx="7428899" cy="385112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299145">
                      <a:extLst>
                        <a:ext uri="{9D8B030D-6E8A-4147-A177-3AD203B41FA5}">
                          <a16:colId xmlns:a16="http://schemas.microsoft.com/office/drawing/2014/main" val="2842940232"/>
                        </a:ext>
                      </a:extLst>
                    </a:gridCol>
                    <a:gridCol w="2543151">
                      <a:extLst>
                        <a:ext uri="{9D8B030D-6E8A-4147-A177-3AD203B41FA5}">
                          <a16:colId xmlns:a16="http://schemas.microsoft.com/office/drawing/2014/main" val="1568049374"/>
                        </a:ext>
                      </a:extLst>
                    </a:gridCol>
                    <a:gridCol w="1612731">
                      <a:extLst>
                        <a:ext uri="{9D8B030D-6E8A-4147-A177-3AD203B41FA5}">
                          <a16:colId xmlns:a16="http://schemas.microsoft.com/office/drawing/2014/main" val="432757133"/>
                        </a:ext>
                      </a:extLst>
                    </a:gridCol>
                    <a:gridCol w="1973872">
                      <a:extLst>
                        <a:ext uri="{9D8B030D-6E8A-4147-A177-3AD203B41FA5}">
                          <a16:colId xmlns:a16="http://schemas.microsoft.com/office/drawing/2014/main" val="226338777"/>
                        </a:ext>
                      </a:extLst>
                    </a:gridCol>
                  </a:tblGrid>
                  <a:tr h="66686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7755715"/>
                      </a:ext>
                    </a:extLst>
                  </a:tr>
                  <a:tr h="80100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08927121"/>
                      </a:ext>
                    </a:extLst>
                  </a:tr>
                  <a:tr h="80100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=−2.75</m:t>
                                </m:r>
                              </m:oMath>
                            </m:oMathPara>
                          </a14:m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56456514"/>
                      </a:ext>
                    </a:extLst>
                  </a:tr>
                  <a:tr h="15822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357214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3BA6452-93EF-8B42-BD75-10A2019ED2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3170969"/>
                  </p:ext>
                </p:extLst>
              </p:nvPr>
            </p:nvGraphicFramePr>
            <p:xfrm>
              <a:off x="1711180" y="2806653"/>
              <a:ext cx="7428899" cy="385112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299145">
                      <a:extLst>
                        <a:ext uri="{9D8B030D-6E8A-4147-A177-3AD203B41FA5}">
                          <a16:colId xmlns:a16="http://schemas.microsoft.com/office/drawing/2014/main" val="2842940232"/>
                        </a:ext>
                      </a:extLst>
                    </a:gridCol>
                    <a:gridCol w="2543151">
                      <a:extLst>
                        <a:ext uri="{9D8B030D-6E8A-4147-A177-3AD203B41FA5}">
                          <a16:colId xmlns:a16="http://schemas.microsoft.com/office/drawing/2014/main" val="1568049374"/>
                        </a:ext>
                      </a:extLst>
                    </a:gridCol>
                    <a:gridCol w="1612731">
                      <a:extLst>
                        <a:ext uri="{9D8B030D-6E8A-4147-A177-3AD203B41FA5}">
                          <a16:colId xmlns:a16="http://schemas.microsoft.com/office/drawing/2014/main" val="432757133"/>
                        </a:ext>
                      </a:extLst>
                    </a:gridCol>
                    <a:gridCol w="1973872">
                      <a:extLst>
                        <a:ext uri="{9D8B030D-6E8A-4147-A177-3AD203B41FA5}">
                          <a16:colId xmlns:a16="http://schemas.microsoft.com/office/drawing/2014/main" val="226338777"/>
                        </a:ext>
                      </a:extLst>
                    </a:gridCol>
                  </a:tblGrid>
                  <a:tr h="66686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69" t="-909" r="-473709" b="-4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1196" t="-909" r="-141388" b="-4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8491" t="-909" r="-123019" b="-4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76852" t="-909" r="-617" b="-47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7755715"/>
                      </a:ext>
                    </a:extLst>
                  </a:tr>
                  <a:tr h="801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69" t="-84733" r="-473709" b="-3007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08927121"/>
                      </a:ext>
                    </a:extLst>
                  </a:tr>
                  <a:tr h="801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69" t="-183333" r="-473709" b="-19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56456514"/>
                      </a:ext>
                    </a:extLst>
                  </a:tr>
                  <a:tr h="15822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69" t="-143846" r="-473709" b="-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357214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8E93443-AE1C-E74A-AE78-CC15B1FA9136}"/>
                  </a:ext>
                </a:extLst>
              </p:cNvPr>
              <p:cNvSpPr/>
              <p:nvPr/>
            </p:nvSpPr>
            <p:spPr>
              <a:xfrm>
                <a:off x="914400" y="421229"/>
                <a:ext cx="10515600" cy="23761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61963">
                  <a:buFont typeface="+mj-lt"/>
                  <a:buAutoNum type="alphaLcPeriod" startAt="2"/>
                </a:pPr>
                <a:r>
                  <a:rPr lang="en-GB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What conclusion can you draw about the expressions from the information in the table?</a:t>
                </a:r>
              </a:p>
              <a:p>
                <a:pPr marL="342900" indent="-342900">
                  <a:buFont typeface="+mj-lt"/>
                  <a:buAutoNum type="alphaLcPeriod" startAt="2"/>
                </a:pPr>
                <a:endParaRPr lang="en-GB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lphaLcPeriod" startAt="2"/>
                </a:pPr>
                <a:endParaRPr lang="en-GB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lvl="0"/>
                <a:endParaRPr lang="en-GB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r>
                  <a:rPr lang="en-GB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Determine whether the expressions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(15</m:t>
                    </m:r>
                    <m:r>
                      <a:rPr lang="en-GB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GB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− 30</m:t>
                    </m:r>
                    <m:r>
                      <a:rPr lang="en-GB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en-GB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)+10</m:t>
                    </m:r>
                    <m:r>
                      <a:rPr lang="en-GB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GB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4(4</m:t>
                    </m:r>
                    <m:r>
                      <a:rPr lang="en-GB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GB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−2</m:t>
                    </m:r>
                    <m:r>
                      <a:rPr lang="en-GB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en-GB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GB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are equivalent.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8E93443-AE1C-E74A-AE78-CC15B1FA91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21229"/>
                <a:ext cx="10515600" cy="2376163"/>
              </a:xfrm>
              <a:prstGeom prst="rect">
                <a:avLst/>
              </a:prstGeom>
              <a:blipFill>
                <a:blip r:embed="rId4"/>
                <a:stretch>
                  <a:fillRect l="-638" t="-1795" b="-3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AEBAF5A-31A2-944C-A625-977623E161B5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9984BC8-9BB2-EB40-97A7-575C58582F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8966659"/>
                  </p:ext>
                </p:extLst>
              </p:nvPr>
            </p:nvGraphicFramePr>
            <p:xfrm>
              <a:off x="1800201" y="2960310"/>
              <a:ext cx="7190310" cy="360021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263516">
                      <a:extLst>
                        <a:ext uri="{9D8B030D-6E8A-4147-A177-3AD203B41FA5}">
                          <a16:colId xmlns:a16="http://schemas.microsoft.com/office/drawing/2014/main" val="1389919444"/>
                        </a:ext>
                      </a:extLst>
                    </a:gridCol>
                    <a:gridCol w="3076678">
                      <a:extLst>
                        <a:ext uri="{9D8B030D-6E8A-4147-A177-3AD203B41FA5}">
                          <a16:colId xmlns:a16="http://schemas.microsoft.com/office/drawing/2014/main" val="928085710"/>
                        </a:ext>
                      </a:extLst>
                    </a:gridCol>
                    <a:gridCol w="2850116">
                      <a:extLst>
                        <a:ext uri="{9D8B030D-6E8A-4147-A177-3AD203B41FA5}">
                          <a16:colId xmlns:a16="http://schemas.microsoft.com/office/drawing/2014/main" val="4282676134"/>
                        </a:ext>
                      </a:extLst>
                    </a:gridCol>
                  </a:tblGrid>
                  <a:tr h="61467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𝟏𝟓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1417731"/>
                      </a:ext>
                    </a:extLst>
                  </a:tr>
                  <a:tr h="149277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=−2</m:t>
                                </m:r>
                              </m:oMath>
                            </m:oMathPara>
                          </a14:m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9934506"/>
                      </a:ext>
                    </a:extLst>
                  </a:tr>
                  <a:tr h="149277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9548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9984BC8-9BB2-EB40-97A7-575C58582F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8966659"/>
                  </p:ext>
                </p:extLst>
              </p:nvPr>
            </p:nvGraphicFramePr>
            <p:xfrm>
              <a:off x="1800201" y="2960310"/>
              <a:ext cx="7190310" cy="360021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263516">
                      <a:extLst>
                        <a:ext uri="{9D8B030D-6E8A-4147-A177-3AD203B41FA5}">
                          <a16:colId xmlns:a16="http://schemas.microsoft.com/office/drawing/2014/main" val="1389919444"/>
                        </a:ext>
                      </a:extLst>
                    </a:gridCol>
                    <a:gridCol w="3076678">
                      <a:extLst>
                        <a:ext uri="{9D8B030D-6E8A-4147-A177-3AD203B41FA5}">
                          <a16:colId xmlns:a16="http://schemas.microsoft.com/office/drawing/2014/main" val="928085710"/>
                        </a:ext>
                      </a:extLst>
                    </a:gridCol>
                    <a:gridCol w="2850116">
                      <a:extLst>
                        <a:ext uri="{9D8B030D-6E8A-4147-A177-3AD203B41FA5}">
                          <a16:colId xmlns:a16="http://schemas.microsoft.com/office/drawing/2014/main" val="4282676134"/>
                        </a:ext>
                      </a:extLst>
                    </a:gridCol>
                  </a:tblGrid>
                  <a:tr h="614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83" t="-990" r="-471014" b="-4881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1188" t="-990" r="-93069" b="-4881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2350" t="-990" r="-427" b="-4881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1417731"/>
                      </a:ext>
                    </a:extLst>
                  </a:tr>
                  <a:tr h="14927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83" t="-41463" r="-471014" b="-100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9934506"/>
                      </a:ext>
                    </a:extLst>
                  </a:tr>
                  <a:tr h="14927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83" t="-142041" r="-471014" b="-8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9548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59676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9864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216046E-244F-BB46-961F-4CA5227878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3000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9.7.6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530A248-17D8-9B4E-B32E-9F5472BCF227}"/>
              </a:ext>
            </a:extLst>
          </p:cNvPr>
          <p:cNvSpPr/>
          <p:nvPr/>
        </p:nvSpPr>
        <p:spPr>
          <a:xfrm>
            <a:off x="914400" y="1073420"/>
            <a:ext cx="10515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which expressions are equivalent by substituting the same values for the variable. 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07F36F8-CEE9-7842-83C9-E33CB2EB688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Calendar&#10;&#10;Description automatically generated">
            <a:extLst>
              <a:ext uri="{FF2B5EF4-FFF2-40B4-BE49-F238E27FC236}">
                <a16:creationId xmlns:a16="http://schemas.microsoft.com/office/drawing/2014/main" id="{AAB87653-3E6D-554C-8492-FABCA0AB208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2952" y="1882368"/>
            <a:ext cx="5045914" cy="481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530A248-17D8-9B4E-B32E-9F5472BCF227}"/>
              </a:ext>
            </a:extLst>
          </p:cNvPr>
          <p:cNvSpPr/>
          <p:nvPr/>
        </p:nvSpPr>
        <p:spPr>
          <a:xfrm>
            <a:off x="914400" y="868680"/>
            <a:ext cx="105156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each statement using the expressions from the table.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6355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 is equivalent to _________________</a:t>
            </a:r>
          </a:p>
          <a:p>
            <a:pPr marL="46355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6355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 is equivalent to _________________</a:t>
            </a:r>
          </a:p>
          <a:p>
            <a:pPr marL="463550"/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 is equivalent to _________________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07F36F8-CEE9-7842-83C9-E33CB2EB688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2521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2074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FCC6CD7-3972-624A-AEF1-A2489A48675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22887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9.7.7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F7A919-8B1E-2741-BB78-98A66295B9F8}"/>
              </a:ext>
            </a:extLst>
          </p:cNvPr>
          <p:cNvSpPr/>
          <p:nvPr/>
        </p:nvSpPr>
        <p:spPr>
          <a:xfrm>
            <a:off x="914400" y="1243129"/>
            <a:ext cx="10515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46355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Rate yourself using the scale below on today’s learning target.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</a:p>
          <a:p>
            <a:pPr marL="46355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I can verify using substitution that linear expressions are equivalent.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719A187-0842-F343-A6A1-7FD23B0B73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11B19ADA-C723-4B4A-A889-3358404510C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5854" y="3104474"/>
            <a:ext cx="6373906" cy="156153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22594BC-CAF8-E240-8FC8-49A427A23C97}"/>
              </a:ext>
            </a:extLst>
          </p:cNvPr>
          <p:cNvSpPr/>
          <p:nvPr/>
        </p:nvSpPr>
        <p:spPr>
          <a:xfrm>
            <a:off x="1014984" y="5207899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Write an explanation of why you rated yourself where you did.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1168</Words>
  <Application>Microsoft Office PowerPoint</Application>
  <PresentationFormat>Widescreen</PresentationFormat>
  <Paragraphs>256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Cambria Math</vt:lpstr>
      <vt:lpstr>Courier New</vt:lpstr>
      <vt:lpstr>Arial</vt:lpstr>
      <vt:lpstr>Verdana</vt:lpstr>
      <vt:lpstr>Times New Roman</vt:lpstr>
      <vt:lpstr>Wingdings</vt:lpstr>
      <vt:lpstr>Century Gothic</vt:lpstr>
      <vt:lpstr>Calibri</vt:lpstr>
      <vt:lpstr>Arial Black</vt:lpstr>
      <vt:lpstr>1_Office Theme</vt:lpstr>
      <vt:lpstr>7th Grade Math  Unit 9, Lesson 7  Equivalent Linear Expressions  Volume 2, pg. 70  </vt:lpstr>
      <vt:lpstr>Benchmark</vt:lpstr>
      <vt:lpstr>PowerPoint Presentation</vt:lpstr>
      <vt:lpstr>PowerPoint Presentation</vt:lpstr>
      <vt:lpstr>Warm-Up</vt:lpstr>
      <vt:lpstr>PowerPoint Presentation</vt:lpstr>
      <vt:lpstr>Refresher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21</cp:revision>
  <dcterms:created xsi:type="dcterms:W3CDTF">2015-03-17T18:51:18Z</dcterms:created>
  <dcterms:modified xsi:type="dcterms:W3CDTF">2022-06-11T21:32:34Z</dcterms:modified>
</cp:coreProperties>
</file>