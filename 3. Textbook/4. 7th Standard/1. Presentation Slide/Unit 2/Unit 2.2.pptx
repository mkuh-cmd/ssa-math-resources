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32" r:id="rId11"/>
    <p:sldId id="333" r:id="rId12"/>
    <p:sldId id="334" r:id="rId13"/>
    <p:sldId id="335" r:id="rId14"/>
    <p:sldId id="336" r:id="rId15"/>
    <p:sldId id="329" r:id="rId16"/>
    <p:sldId id="330" r:id="rId17"/>
    <p:sldId id="331" r:id="rId18"/>
    <p:sldId id="323" r:id="rId19"/>
    <p:sldId id="324" r:id="rId20"/>
    <p:sldId id="325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20"/>
    <p:restoredTop sz="94694"/>
  </p:normalViewPr>
  <p:slideViewPr>
    <p:cSldViewPr snapToGrid="0">
      <p:cViewPr varScale="1">
        <p:scale>
          <a:sx n="56" d="100"/>
          <a:sy n="56" d="100"/>
        </p:scale>
        <p:origin x="96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94591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5.png"/><Relationship Id="rId7" Type="http://schemas.openxmlformats.org/officeDocument/2006/relationships/hyperlink" Target="https://commons.wikimedia.org/wiki/File:One_die.jpe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jpeg"/><Relationship Id="rId5" Type="http://schemas.openxmlformats.org/officeDocument/2006/relationships/hyperlink" Target="http://flickr.com/photos/matthiasxc/3600940260" TargetMode="Externa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Sample Space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MA.7.DP.2.1 </a:t>
            </a:r>
          </a:p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Calibri Light"/>
                <a:sym typeface="Verdana"/>
              </a:rPr>
              <a:t>	</a:t>
            </a:r>
            <a:r>
              <a:rPr lang="en-US" sz="3500" dirty="0">
                <a:solidFill>
                  <a:srgbClr val="000000"/>
                </a:solidFill>
                <a:latin typeface="Verdana"/>
                <a:ea typeface="Verdana"/>
                <a:cs typeface="Calibri Light"/>
              </a:rPr>
              <a:t>Determine the sample space for a simple 	experiment.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7" y="1808252"/>
            <a:ext cx="9414750" cy="399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6735" y="1600200"/>
            <a:ext cx="999675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/>
                <a:ea typeface="Cambria Math"/>
                <a:cs typeface="Calibri"/>
              </a:rPr>
              <a:t>I </a:t>
            </a:r>
            <a:r>
              <a:rPr lang="en-US" sz="3500" dirty="0">
                <a:latin typeface="Verdana"/>
                <a:ea typeface="Cambria Math"/>
                <a:cs typeface="Calibri Light"/>
              </a:rPr>
              <a:t>can determine the sample space for a simple experiment.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6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77116" y="88117"/>
            <a:ext cx="92260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2.2.1 Warm-Up: Which Game Would You Choose?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816" y="3773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51066" y="1464619"/>
                <a:ext cx="10800000" cy="363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Two games are described.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Game 1: A player flips a coin and wins if it lands on 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heads.</a:t>
                </a:r>
              </a:p>
              <a:p>
                <a:pPr marL="1617663" indent="-1160463">
                  <a:spcBef>
                    <a:spcPts val="1200"/>
                  </a:spcBef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Game 2: A player rolls a standard number cube and wins if it lands on a number that is divisible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3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457200" indent="1200150"/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Which game would you rather play?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Explain your reasoning.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66" y="1464619"/>
                <a:ext cx="10800000" cy="3631763"/>
              </a:xfrm>
              <a:prstGeom prst="rect">
                <a:avLst/>
              </a:prstGeom>
              <a:blipFill rotWithShape="1">
                <a:blip r:embed="rId4"/>
                <a:stretch>
                  <a:fillRect l="-564" t="-1007" b="-20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90614" y="85640"/>
            <a:ext cx="1049553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2.2.2 Exploration: Simple Experiments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597" y="372363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37711" y="1386025"/>
            <a:ext cx="112399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Work with your partner to complete the following.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Discuss the sample space for both games from the Warm-Up with your partner.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Write the sample space for each in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875586"/>
              </p:ext>
            </p:extLst>
          </p:nvPr>
        </p:nvGraphicFramePr>
        <p:xfrm>
          <a:off x="1605228" y="2872656"/>
          <a:ext cx="6838950" cy="34137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Random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Process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Sample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Space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Flipping a</a:t>
                      </a:r>
                      <a:r>
                        <a:rPr lang="en-PH" sz="2000" baseline="0" dirty="0">
                          <a:latin typeface="Verdana" pitchFamily="34" charset="0"/>
                          <a:ea typeface="Verdana" pitchFamily="34" charset="0"/>
                        </a:rPr>
                        <a:t> </a:t>
                      </a:r>
                      <a:br>
                        <a:rPr lang="en-PH" sz="2000" baseline="0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baseline="0" dirty="0">
                          <a:latin typeface="Verdana" pitchFamily="34" charset="0"/>
                          <a:ea typeface="Verdana" pitchFamily="34" charset="0"/>
                        </a:rPr>
                        <a:t>Coin</a:t>
                      </a:r>
                    </a:p>
                    <a:p>
                      <a:endParaRPr lang="en-PH" sz="2000" baseline="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baseline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Rolling a </a:t>
                      </a:r>
                      <a:b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Standard </a:t>
                      </a:r>
                      <a:b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Number </a:t>
                      </a:r>
                      <a:b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Cube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 descr="Old Quarter Tail (Back) | Matthias | Flickr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965060" y="3637677"/>
            <a:ext cx="902335" cy="904875"/>
          </a:xfrm>
          <a:prstGeom prst="rect">
            <a:avLst/>
          </a:prstGeom>
        </p:spPr>
      </p:pic>
      <p:pic>
        <p:nvPicPr>
          <p:cNvPr id="13" name="Picture 12" descr="File:One die.jpeg - Wikimedia Commons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078422" y="5189040"/>
            <a:ext cx="859790" cy="844550"/>
          </a:xfrm>
          <a:prstGeom prst="rect">
            <a:avLst/>
          </a:prstGeom>
        </p:spPr>
      </p:pic>
      <p:pic>
        <p:nvPicPr>
          <p:cNvPr id="15" name="Google Shape;311;g104476d1465_1_39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52366" y="380533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possible outcomes in the event of landing on heads in Game 1 from the Warm-Up?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What fraction of the possible outcomes from Game 1 results </a:t>
            </a:r>
            <a:br>
              <a:rPr lang="en-US" sz="2400" dirty="0">
                <a:latin typeface="Verdana"/>
                <a:ea typeface="Verdana"/>
                <a:cs typeface="Verdana"/>
              </a:rPr>
            </a:br>
            <a:r>
              <a:rPr lang="en-US" sz="2400" dirty="0">
                <a:latin typeface="Verdana"/>
                <a:ea typeface="Verdana"/>
                <a:cs typeface="Verdana"/>
              </a:rPr>
              <a:t>in a win?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346" y="376240"/>
                <a:ext cx="1080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What are the possible outcomes in the event of rolling a number divisible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in Game 2 from the Warm-Up?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What fraction of the possible outcomes from Game 2 results in a win?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46" y="376240"/>
                <a:ext cx="10800000" cy="3785652"/>
              </a:xfrm>
              <a:prstGeom prst="rect">
                <a:avLst/>
              </a:prstGeom>
              <a:blipFill rotWithShape="1">
                <a:blip r:embed="rId3"/>
                <a:stretch>
                  <a:fillRect t="-1288" r="-1525" b="-273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132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3899" y="379428"/>
                <a:ext cx="10800000" cy="3863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Based on your answers to Parts B-E, complete the statement.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A player has a greater likelihood of winning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because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PH" sz="2400" i="1">
                            <a:latin typeface="Cambria Math"/>
                            <a:ea typeface="Cambria Math"/>
                          </a:rPr>
                          <m:t>         </m:t>
                        </m:r>
                      </m:num>
                      <m:den>
                        <m:r>
                          <a:rPr lang="en-PH" sz="2400" i="1">
                            <a:latin typeface="Cambria Math"/>
                            <a:ea typeface="Cambria Math"/>
                          </a:rPr>
                          <m:t> </m:t>
                        </m:r>
                      </m:den>
                    </m:f>
                    <m:r>
                      <a:rPr lang="en-US" sz="2400" i="1">
                        <a:latin typeface="Cambria Math"/>
                        <a:ea typeface="Cambria Math"/>
                        <a:cs typeface="Verdana"/>
                      </a:rPr>
                      <m:t>&gt;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PH" sz="2400" i="1">
                            <a:latin typeface="Cambria Math"/>
                            <a:ea typeface="Cambria Math"/>
                          </a:rPr>
                          <m:t>         </m:t>
                        </m:r>
                      </m:num>
                      <m:den>
                        <m:r>
                          <a:rPr lang="en-PH" sz="2400" i="1">
                            <a:latin typeface="Cambria Math"/>
                            <a:ea typeface="Cambria Math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How could Game 2 be modified so the likelihood of winning either game is the same?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99" y="379428"/>
                <a:ext cx="10800000" cy="3863686"/>
              </a:xfrm>
              <a:prstGeom prst="rect">
                <a:avLst/>
              </a:prstGeom>
              <a:blipFill rotWithShape="1">
                <a:blip r:embed="rId3"/>
                <a:stretch>
                  <a:fillRect t="-1262" b="-25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90538" y="890447"/>
            <a:ext cx="1878614" cy="97657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7000"/>
              </a:lnSpc>
              <a:buFont typeface="Courier New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Game 1</a:t>
            </a:r>
            <a:endParaRPr lang="en-US" sz="2400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Game 2</a:t>
            </a:r>
            <a:endParaRPr lang="en-US" sz="2400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pic>
        <p:nvPicPr>
          <p:cNvPr id="9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4898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3031" y="382556"/>
            <a:ext cx="10800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With your partner, determine who is partner A and who is partner B. For this activity, you and your partner will pull slips of paper from a bag.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Make a guess about what is on the slips of paper.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Without looking in the bag, partner A should take out one of the papers and show it to partner B. Both partners record what was printed on the paper in the first row of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71438"/>
              </p:ext>
            </p:extLst>
          </p:nvPr>
        </p:nvGraphicFramePr>
        <p:xfrm>
          <a:off x="1594042" y="2944601"/>
          <a:ext cx="7560000" cy="35640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Who?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What is printed on the paper?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A, Choice 1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B, Choice 1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A, Choice 2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B, Choice 2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A, Choice 3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B, Choice 3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9928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3899" y="386935"/>
            <a:ext cx="1080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1200"/>
              </a:spcBef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Partner A should put the paper back into the bag. Then, partner B should take out one of the papers and show it to partner A for both to record in the table.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After both partners have made their first selection and put it back in the bag, make a revised guess of the sample space.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Continue taking turns and recording the results in the table until each partner has taken three turns.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Make a revised guess of the sample space.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9408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3899" y="381558"/>
            <a:ext cx="108000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r>
              <a:rPr lang="en-US" sz="2000" dirty="0">
                <a:latin typeface="Verdana"/>
                <a:ea typeface="Verdana"/>
                <a:cs typeface="Verdana"/>
              </a:rPr>
              <a:t>Rate your confidence in your last guess using the </a:t>
            </a:r>
            <a:r>
              <a:rPr lang="en-US" sz="2000" dirty="0" err="1">
                <a:latin typeface="Verdana"/>
                <a:ea typeface="Verdana"/>
                <a:cs typeface="Verdana"/>
              </a:rPr>
              <a:t>emoji</a:t>
            </a:r>
            <a:r>
              <a:rPr lang="en-US" sz="2000" dirty="0">
                <a:latin typeface="Verdana"/>
                <a:ea typeface="Verdana"/>
                <a:cs typeface="Verdana"/>
              </a:rPr>
              <a:t> scale.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r>
              <a:rPr lang="en-US" sz="2000" dirty="0">
                <a:latin typeface="Verdana"/>
                <a:ea typeface="Verdana"/>
                <a:cs typeface="Verdana"/>
              </a:rPr>
              <a:t>Discuss with your partner what you could do to make a better guess of the sample space. Write at least two strategies you discussed.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r>
              <a:rPr lang="en-US" sz="2000" dirty="0">
                <a:latin typeface="Verdana"/>
                <a:ea typeface="Verdana"/>
                <a:cs typeface="Verdana"/>
              </a:rPr>
              <a:t>Look at all the papers in the bag. Write the sample space.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52101" y="893884"/>
            <a:ext cx="7300051" cy="2149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6376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4390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85583" y="86863"/>
            <a:ext cx="84787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2.2.3 Bring It Together: Defining Simple Experiments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544915" y="1488237"/>
            <a:ext cx="10800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The games from the exploration are all considered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simple experiments</a:t>
            </a:r>
            <a:r>
              <a:rPr lang="en-US" sz="2000" dirty="0">
                <a:latin typeface="Verdana"/>
                <a:ea typeface="Verdana"/>
                <a:cs typeface="Verdana"/>
              </a:rPr>
              <a:t>.</a:t>
            </a: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</a:rPr>
              <a:t>In a simple experiment, each outcome in the sample space is equally likely to happen; however, events, which are subsets of the sample space, may have different likelihoods of happening. This is called probability.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5775" y="37480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1689095" y="2098591"/>
            <a:ext cx="7271677" cy="1403183"/>
            <a:chOff x="1389023" y="2783217"/>
            <a:chExt cx="7271677" cy="1403183"/>
          </a:xfrm>
        </p:grpSpPr>
        <p:sp>
          <p:nvSpPr>
            <p:cNvPr id="13" name="Rectangle 12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>
                  <a:latin typeface="Cambria Math"/>
                  <a:ea typeface="Cambria Math"/>
                  <a:cs typeface="Cambria Math"/>
                </a:rPr>
                <a:t> 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1389023" y="2783217"/>
              <a:ext cx="7271677" cy="1403183"/>
              <a:chOff x="-642277" y="-590383"/>
              <a:chExt cx="7271677" cy="1403183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-642277" y="-590383"/>
                <a:ext cx="7271676" cy="962873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108000" rIns="91425" bIns="0" anchor="ctr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A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simple experiment</a:t>
                </a: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 is an action that has a definite outcome that cannot be predicted with certainty.</a:t>
                </a:r>
                <a:endParaRPr lang="en-US" sz="1800" dirty="0">
                  <a:latin typeface="Cambria Math"/>
                  <a:ea typeface="Cambria Math"/>
                  <a:cs typeface="Cambria Math"/>
                </a:endParaRPr>
              </a:p>
            </p:txBody>
          </p:sp>
        </p:grpSp>
      </p:grpSp>
      <p:sp>
        <p:nvSpPr>
          <p:cNvPr id="26" name="Rounded Rectangle 25"/>
          <p:cNvSpPr/>
          <p:nvPr/>
        </p:nvSpPr>
        <p:spPr>
          <a:xfrm>
            <a:off x="1689095" y="4594106"/>
            <a:ext cx="7271677" cy="962873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08000" rIns="91425" bIns="0" anchor="ctr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The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probability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of an event is a measure of the likelihood the event will occur.</a:t>
            </a:r>
            <a:endParaRPr lang="en-US" sz="18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7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539467" y="380534"/>
            <a:ext cx="10800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Consider the simple experiment involving pulling papers from the bag in the Exploration.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Explain whether all of the possible outcomes in the sample space were equally likely or not.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Explain which of the following events would have been more likely to happen in that experiment – pulling out a paper with a vowel on it or pulling out a paper with a consonant on it.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4556649"/>
                  </p:ext>
                </p:extLst>
              </p:nvPr>
            </p:nvGraphicFramePr>
            <p:xfrm>
              <a:off x="1129702" y="2000151"/>
              <a:ext cx="7315200" cy="4328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766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38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Simple Experiment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Sample</a:t>
                          </a:r>
                          <a:r>
                            <a:rPr lang="en-PH" sz="2000" b="1" baseline="0" dirty="0">
                              <a:latin typeface="Verdana" pitchFamily="34" charset="0"/>
                              <a:ea typeface="Verdana" pitchFamily="34" charset="0"/>
                            </a:rPr>
                            <a:t> Space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Spinning the </a:t>
                          </a:r>
                          <a:b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spinner</a:t>
                          </a:r>
                        </a:p>
                        <a:p>
                          <a:endParaRPr lang="en-PH" sz="2000" baseline="0" dirty="0">
                            <a:solidFill>
                              <a:srgbClr val="000000"/>
                            </a:solidFill>
                            <a:effectLst/>
                            <a:latin typeface="Verdana"/>
                            <a:ea typeface="Verdana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Rolling a fair </a:t>
                          </a:r>
                          <a:b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-sided die</a:t>
                          </a:r>
                        </a:p>
                        <a:p>
                          <a:endParaRPr lang="en-PH" sz="2000" dirty="0">
                            <a:solidFill>
                              <a:srgbClr val="000000"/>
                            </a:solidFill>
                            <a:effectLst/>
                            <a:latin typeface="Verdana"/>
                            <a:ea typeface="Verdana"/>
                          </a:endParaRPr>
                        </a:p>
                        <a:p>
                          <a:endParaRPr lang="en-PH" sz="2000" dirty="0">
                            <a:solidFill>
                              <a:srgbClr val="000000"/>
                            </a:solidFill>
                            <a:effectLst/>
                            <a:latin typeface="Verdana"/>
                            <a:ea typeface="Verdana"/>
                          </a:endParaRPr>
                        </a:p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4556649"/>
                  </p:ext>
                </p:extLst>
              </p:nvPr>
            </p:nvGraphicFramePr>
            <p:xfrm>
              <a:off x="1129702" y="2000151"/>
              <a:ext cx="7315200" cy="4328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766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385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Simple Experiment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Sample</a:t>
                          </a:r>
                          <a:r>
                            <a:rPr lang="en-PH" sz="2000" b="1" baseline="0" dirty="0">
                              <a:latin typeface="Verdana" pitchFamily="34" charset="0"/>
                              <a:ea typeface="Verdana" pitchFamily="34" charset="0"/>
                            </a:rPr>
                            <a:t> Space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Spinning the </a:t>
                          </a:r>
                          <a:b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spinner</a:t>
                          </a:r>
                        </a:p>
                        <a:p>
                          <a:endParaRPr lang="en-PH" sz="2000" baseline="0" dirty="0">
                            <a:solidFill>
                              <a:srgbClr val="000000"/>
                            </a:solidFill>
                            <a:effectLst/>
                            <a:latin typeface="Verdana"/>
                            <a:ea typeface="Verdana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25397" r="-99171" b="-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85883" y="86863"/>
            <a:ext cx="104118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2.2.4 Guided Practice: Determining Sample Space of Simple Experiments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043" y="37480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44915" y="1460856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For each simple experiment in the table, determine the sample space.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4" name="Picture 13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8694" y="4788702"/>
            <a:ext cx="1468120" cy="143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11;g104476d1465_1_39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3309" y="2624622"/>
            <a:ext cx="163830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35169" y="371945"/>
            <a:ext cx="3517195" cy="3517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52364" y="371945"/>
            <a:ext cx="10800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following.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Given the sample space of {Reese’s, Snickers,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Twix, Kit Kat}, label the game wheel so that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there is a fair chance of winning each candy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bar as a prize.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Explain how you determined the labels for the game board.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3472" y="4932829"/>
            <a:ext cx="192405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68077" y="88117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551" y="37731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44914" y="1464619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For each simple experiment in the table, determine the sample space.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763208"/>
              </p:ext>
            </p:extLst>
          </p:nvPr>
        </p:nvGraphicFramePr>
        <p:xfrm>
          <a:off x="1132118" y="2044807"/>
          <a:ext cx="7315200" cy="43281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Simple Experiment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Sample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Space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Selecting a day of the week from a deck of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cards with each day written on one card</a:t>
                      </a:r>
                    </a:p>
                    <a:p>
                      <a:pPr algn="ctr"/>
                      <a:endParaRPr lang="en-PH" sz="2000" baseline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Flipping an integer chip</a:t>
                      </a:r>
                    </a:p>
                    <a:p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61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/>
          <p:cNvSpPr txBox="1"/>
          <p:nvPr/>
        </p:nvSpPr>
        <p:spPr>
          <a:xfrm>
            <a:off x="8952152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1053</Words>
  <Application>Microsoft Office PowerPoint</Application>
  <PresentationFormat>Widescreen</PresentationFormat>
  <Paragraphs>172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 Black</vt:lpstr>
      <vt:lpstr>Verdana</vt:lpstr>
      <vt:lpstr>Courier New</vt:lpstr>
      <vt:lpstr>Century Gothic</vt:lpstr>
      <vt:lpstr>Arial</vt:lpstr>
      <vt:lpstr>Cambria Math</vt:lpstr>
      <vt:lpstr>Calibri</vt:lpstr>
      <vt:lpstr>1_Office Theme</vt:lpstr>
      <vt:lpstr>7th Grade Math  Unit 2, Lesson 2  Determining Sample Space  Volume 1, pg. 42  </vt:lpstr>
      <vt:lpstr>PowerPoint Presentation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39</cp:revision>
  <dcterms:created xsi:type="dcterms:W3CDTF">2015-03-17T18:51:18Z</dcterms:created>
  <dcterms:modified xsi:type="dcterms:W3CDTF">2022-07-11T01:38:04Z</dcterms:modified>
</cp:coreProperties>
</file>