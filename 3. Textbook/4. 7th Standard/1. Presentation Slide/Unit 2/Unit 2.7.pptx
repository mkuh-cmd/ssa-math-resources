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11" r:id="rId8"/>
    <p:sldId id="312" r:id="rId9"/>
    <p:sldId id="313" r:id="rId10"/>
    <p:sldId id="332" r:id="rId11"/>
    <p:sldId id="333" r:id="rId12"/>
    <p:sldId id="334" r:id="rId13"/>
    <p:sldId id="335" r:id="rId14"/>
    <p:sldId id="336" r:id="rId15"/>
    <p:sldId id="337" r:id="rId16"/>
    <p:sldId id="329" r:id="rId17"/>
    <p:sldId id="330" r:id="rId18"/>
    <p:sldId id="331" r:id="rId19"/>
    <p:sldId id="338" r:id="rId20"/>
    <p:sldId id="289" r:id="rId21"/>
    <p:sldId id="290" r:id="rId22"/>
    <p:sldId id="308" r:id="rId23"/>
    <p:sldId id="320" r:id="rId24"/>
    <p:sldId id="321" r:id="rId25"/>
    <p:sldId id="322" r:id="rId26"/>
    <p:sldId id="306" r:id="rId27"/>
    <p:sldId id="307" r:id="rId28"/>
  </p:sldIdLst>
  <p:sldSz cx="12192000" cy="6858000"/>
  <p:notesSz cx="6858000" cy="9144000"/>
  <p:embeddedFontLst>
    <p:embeddedFont>
      <p:font typeface="Arial Black" panose="020B0A04020102020204" pitchFamily="34" charset="0"/>
      <p:bold r:id="rId30"/>
    </p:embeddedFont>
    <p:embeddedFont>
      <p:font typeface="Calibri" panose="020F0502020204030204" pitchFamily="34" charset="0"/>
      <p:regular r:id="rId31"/>
      <p:bold r:id="rId32"/>
      <p:italic r:id="rId33"/>
      <p:boldItalic r:id="rId34"/>
    </p:embeddedFont>
    <p:embeddedFont>
      <p:font typeface="Cambria" panose="02040503050406030204" pitchFamily="18" charset="0"/>
      <p:regular r:id="rId35"/>
      <p:bold r:id="rId36"/>
      <p:italic r:id="rId37"/>
      <p:boldItalic r:id="rId38"/>
    </p:embeddedFont>
    <p:embeddedFont>
      <p:font typeface="Cambria Math" panose="02040503050406030204" pitchFamily="18" charset="0"/>
      <p:regular r:id="rId39"/>
    </p:embeddedFont>
    <p:embeddedFont>
      <p:font typeface="Century Gothic" panose="020B0502020202020204" pitchFamily="34" charset="0"/>
      <p:regular r:id="rId40"/>
      <p:bold r:id="rId41"/>
      <p:italic r:id="rId42"/>
      <p:boldItalic r:id="rId43"/>
    </p:embeddedFont>
    <p:embeddedFont>
      <p:font typeface="Verdana" panose="020B060403050404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7"/>
    <a:srgbClr val="FCBD1E"/>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123" autoAdjust="0"/>
    <p:restoredTop sz="94719" autoAdjust="0"/>
  </p:normalViewPr>
  <p:slideViewPr>
    <p:cSldViewPr snapToGrid="0">
      <p:cViewPr varScale="1">
        <p:scale>
          <a:sx n="53" d="100"/>
          <a:sy n="53" d="100"/>
        </p:scale>
        <p:origin x="102" y="294"/>
      </p:cViewPr>
      <p:guideLst>
        <p:guide orient="horz" pos="2160"/>
        <p:guide pos="3840"/>
      </p:guideLst>
    </p:cSldViewPr>
  </p:slideViewPr>
  <p:notesTextViewPr>
    <p:cViewPr>
      <p:scale>
        <a:sx n="1" d="1"/>
        <a:sy n="1" d="1"/>
      </p:scale>
      <p:origin x="0" y="0"/>
    </p:cViewPr>
  </p:notesTextViewPr>
  <p:sorterViewPr>
    <p:cViewPr>
      <p:scale>
        <a:sx n="100" d="100"/>
        <a:sy n="100" d="100"/>
      </p:scale>
      <p:origin x="0" y="251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602607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8406461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840646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91886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8480710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5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0.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29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5" name="Picture 4"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6" name="Google Shape;261;g104476d1465_0_0"/>
          <p:cNvSpPr txBox="1">
            <a:spLocks/>
          </p:cNvSpPr>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2, Lesson 7</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Experimental and Theoretical Probability</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67</a:t>
            </a:r>
          </a:p>
          <a:p>
            <a:pPr algn="ctr">
              <a:lnSpc>
                <a:spcPct val="100000"/>
              </a:lnSpc>
              <a:buClr>
                <a:srgbClr val="000000"/>
              </a:buClr>
            </a:pPr>
            <a:endParaRPr lang="en-US" sz="34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67</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9;g104476d1465_1_17"/>
          <p:cNvSpPr txBox="1">
            <a:spLocks/>
          </p:cNvSpPr>
          <p:nvPr/>
        </p:nvSpPr>
        <p:spPr>
          <a:xfrm>
            <a:off x="1151917"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buFont typeface="Century Gothic"/>
              <a:buNone/>
            </a:pPr>
            <a:r>
              <a:rPr lang="en-US" sz="4700" b="1" dirty="0">
                <a:solidFill>
                  <a:srgbClr val="54B5D1"/>
                </a:solidFill>
                <a:latin typeface="Verdana"/>
                <a:ea typeface="Verdana"/>
                <a:cs typeface="Verdana"/>
                <a:sym typeface="Verdana"/>
              </a:rPr>
              <a:t>Benchmarks</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4">
            <a:alphaModFix/>
          </a:blip>
          <a:stretch>
            <a:fillRect/>
          </a:stretch>
        </p:blipFill>
        <p:spPr>
          <a:xfrm>
            <a:off x="328417"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a:ea typeface="Verdana"/>
                <a:cs typeface="Verdana"/>
                <a:sym typeface="Verdana"/>
              </a:rPr>
              <a:t>MA.7.DP.2.3 </a:t>
            </a:r>
          </a:p>
          <a:p>
            <a:pPr marL="0" indent="0">
              <a:buSzPts val="1100"/>
              <a:buNone/>
            </a:pPr>
            <a:r>
              <a:rPr lang="en-US" sz="3600" dirty="0">
                <a:solidFill>
                  <a:schemeClr val="tx1"/>
                </a:solidFill>
                <a:latin typeface="Verdana"/>
                <a:ea typeface="Verdana"/>
                <a:cs typeface="Verdana"/>
                <a:sym typeface="Verdana"/>
              </a:rPr>
              <a:t>	Find the theoretical probability of an 	event related to a simple experiment.</a:t>
            </a:r>
          </a:p>
          <a:p>
            <a:pPr marL="0" indent="0">
              <a:buSzPts val="1100"/>
              <a:buNone/>
            </a:pPr>
            <a:endParaRPr lang="en-US" sz="3600" dirty="0">
              <a:solidFill>
                <a:schemeClr val="tx1"/>
              </a:solidFill>
              <a:latin typeface="Verdana"/>
              <a:ea typeface="Verdana"/>
              <a:cs typeface="Verdana"/>
              <a:sym typeface="Verdana"/>
            </a:endParaRPr>
          </a:p>
          <a:p>
            <a:pPr marL="0" indent="0">
              <a:buSzPts val="1100"/>
              <a:buNone/>
            </a:pPr>
            <a:r>
              <a:rPr lang="en-US" sz="3600" dirty="0">
                <a:solidFill>
                  <a:schemeClr val="tx1"/>
                </a:solidFill>
                <a:latin typeface="Verdana"/>
                <a:ea typeface="Verdana"/>
                <a:cs typeface="Verdana"/>
                <a:sym typeface="Verdana"/>
              </a:rPr>
              <a:t>MA.7.DP.2.4 </a:t>
            </a:r>
          </a:p>
          <a:p>
            <a:pPr marL="0" indent="0">
              <a:buSzPts val="1100"/>
              <a:buNone/>
            </a:pPr>
            <a:r>
              <a:rPr lang="en-US" sz="3600" dirty="0">
                <a:solidFill>
                  <a:schemeClr val="tx1"/>
                </a:solidFill>
                <a:latin typeface="Verdana"/>
                <a:ea typeface="Verdana"/>
                <a:cs typeface="Verdana"/>
                <a:sym typeface="Verdana"/>
              </a:rPr>
              <a:t>	Use a simulation of a simple 	experiment to find experimental 	probabilities and compare them to 	theoretical probabilities.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78;g104476d1465_1_17">
            <a:extLst>
              <a:ext uri="{FF2B5EF4-FFF2-40B4-BE49-F238E27FC236}">
                <a16:creationId xmlns:a16="http://schemas.microsoft.com/office/drawing/2014/main" id="{79998D09-ED40-CB40-ADB3-2C926DC27F8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67</a:t>
            </a:r>
            <a:endParaRPr i="1" dirty="0">
              <a:latin typeface="Calibri"/>
              <a:ea typeface="Calibri"/>
              <a:cs typeface="Calibri"/>
              <a:sym typeface="Calibri"/>
            </a:endParaRPr>
          </a:p>
        </p:txBody>
      </p:sp>
      <p:pic>
        <p:nvPicPr>
          <p:cNvPr id="10" name="Google Shape;281;g104476d1465_1_17"/>
          <p:cNvPicPr preferRelativeResize="0"/>
          <p:nvPr/>
        </p:nvPicPr>
        <p:blipFill>
          <a:blip r:embed="rId4">
            <a:alphaModFix/>
          </a:blip>
          <a:stretch>
            <a:fillRect/>
          </a:stretch>
        </p:blipFill>
        <p:spPr>
          <a:xfrm>
            <a:off x="329567" y="372300"/>
            <a:ext cx="747300" cy="747300"/>
          </a:xfrm>
          <a:prstGeom prst="rect">
            <a:avLst/>
          </a:prstGeom>
          <a:noFill/>
          <a:ln>
            <a:noFill/>
          </a:ln>
          <a:effectLst>
            <a:outerShdw blurRad="57150" dist="19050" dir="5400000" algn="bl" rotWithShape="0">
              <a:srgbClr val="000000">
                <a:alpha val="50000"/>
              </a:srgbClr>
            </a:outerShdw>
          </a:effectLst>
        </p:spPr>
      </p:pic>
      <p:sp>
        <p:nvSpPr>
          <p:cNvPr id="13"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4"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8;g104476d1465_1_17">
            <a:extLst>
              <a:ext uri="{FF2B5EF4-FFF2-40B4-BE49-F238E27FC236}">
                <a16:creationId xmlns:a16="http://schemas.microsoft.com/office/drawing/2014/main" id="{4411E69F-FF2D-4E45-A95C-56414991DB11}"/>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67</a:t>
            </a:r>
            <a:endParaRPr i="1" dirty="0">
              <a:latin typeface="Calibri"/>
              <a:ea typeface="Calibri"/>
              <a:cs typeface="Calibri"/>
              <a:sym typeface="Calibri"/>
            </a:endParaRPr>
          </a:p>
        </p:txBody>
      </p:sp>
      <p:sp>
        <p:nvSpPr>
          <p:cNvPr id="16" name="Google Shape;301;g103996e1364_0_16">
            <a:extLst>
              <a:ext uri="{FF2B5EF4-FFF2-40B4-BE49-F238E27FC236}">
                <a16:creationId xmlns:a16="http://schemas.microsoft.com/office/drawing/2014/main" id="{5771FBFA-7311-BB45-8AFF-04B380531EE6}"/>
              </a:ext>
            </a:extLst>
          </p:cNvPr>
          <p:cNvSpPr txBox="1">
            <a:spLocks/>
          </p:cNvSpPr>
          <p:nvPr/>
        </p:nvSpPr>
        <p:spPr>
          <a:xfrm>
            <a:off x="1108371"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7"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26209" y="319860"/>
            <a:ext cx="747300" cy="747300"/>
          </a:xfrm>
          <a:prstGeom prst="rect">
            <a:avLst/>
          </a:prstGeom>
          <a:noFill/>
          <a:ln>
            <a:noFill/>
          </a:ln>
          <a:effectLst>
            <a:outerShdw blurRad="50800" dist="38100" dir="2700000" algn="tl" rotWithShape="0">
              <a:prstClr val="black">
                <a:alpha val="40000"/>
              </a:prstClr>
            </a:outerShdw>
          </a:effectLst>
        </p:spPr>
      </p:pic>
      <p:sp>
        <p:nvSpPr>
          <p:cNvPr id="18" name="Google Shape;302;g103996e1364_0_16">
            <a:extLst>
              <a:ext uri="{FF2B5EF4-FFF2-40B4-BE49-F238E27FC236}">
                <a16:creationId xmlns:a16="http://schemas.microsoft.com/office/drawing/2014/main" id="{9B7C98EC-F13C-9146-B728-D7044DB4247D}"/>
              </a:ext>
            </a:extLst>
          </p:cNvPr>
          <p:cNvSpPr txBox="1">
            <a:spLocks/>
          </p:cNvSpPr>
          <p:nvPr/>
        </p:nvSpPr>
        <p:spPr>
          <a:xfrm>
            <a:off x="444682" y="160020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ct val="100000"/>
              <a:buFont typeface="Verdana"/>
              <a:buChar char="❏"/>
            </a:pPr>
            <a:r>
              <a:rPr lang="en-US" sz="3200" dirty="0">
                <a:solidFill>
                  <a:schemeClr val="tx1"/>
                </a:solidFill>
                <a:latin typeface="Verdana"/>
                <a:ea typeface="Verdana"/>
                <a:cs typeface="Verdana"/>
                <a:sym typeface="Verdana"/>
              </a:rPr>
              <a:t>I can perform a simulation to determine an experimental probability.</a:t>
            </a:r>
          </a:p>
          <a:p>
            <a:pPr marL="685800" indent="-679450">
              <a:buClr>
                <a:srgbClr val="434343"/>
              </a:buClr>
              <a:buSzPct val="100000"/>
            </a:pPr>
            <a:endParaRPr lang="en-US" sz="3200" dirty="0">
              <a:solidFill>
                <a:schemeClr val="tx1"/>
              </a:solidFill>
              <a:latin typeface="Verdana"/>
              <a:ea typeface="Verdana"/>
              <a:cs typeface="Verdana"/>
              <a:sym typeface="Verdana"/>
            </a:endParaRPr>
          </a:p>
          <a:p>
            <a:pPr marL="685800" indent="-679450">
              <a:buClr>
                <a:srgbClr val="434343"/>
              </a:buClr>
              <a:buSzPct val="100000"/>
              <a:buFont typeface="Verdana"/>
              <a:buChar char="❏"/>
            </a:pPr>
            <a:r>
              <a:rPr lang="en-US" sz="3200" dirty="0">
                <a:solidFill>
                  <a:schemeClr val="tx1"/>
                </a:solidFill>
                <a:latin typeface="Verdana"/>
                <a:ea typeface="Verdana"/>
                <a:cs typeface="Verdana"/>
                <a:sym typeface="Verdana"/>
              </a:rPr>
              <a:t>I can find the theoretical probability of an event.</a:t>
            </a:r>
          </a:p>
          <a:p>
            <a:pPr marL="685800" indent="-679450">
              <a:buClr>
                <a:srgbClr val="434343"/>
              </a:buClr>
              <a:buSzPct val="100000"/>
            </a:pPr>
            <a:endParaRPr lang="en-US" sz="3200" dirty="0">
              <a:solidFill>
                <a:schemeClr val="tx1"/>
              </a:solidFill>
              <a:latin typeface="Verdana"/>
              <a:ea typeface="Verdana"/>
              <a:cs typeface="Verdana"/>
              <a:sym typeface="Verdana"/>
            </a:endParaRPr>
          </a:p>
          <a:p>
            <a:pPr marL="685800" indent="-679450">
              <a:buClr>
                <a:srgbClr val="434343"/>
              </a:buClr>
              <a:buSzPct val="100000"/>
              <a:buFont typeface="Verdana"/>
              <a:buChar char="❏"/>
            </a:pPr>
            <a:r>
              <a:rPr lang="en-US" sz="3200" dirty="0">
                <a:solidFill>
                  <a:schemeClr val="tx1"/>
                </a:solidFill>
                <a:latin typeface="Verdana"/>
                <a:ea typeface="Verdana"/>
                <a:cs typeface="Verdana"/>
                <a:sym typeface="Verdana"/>
              </a:rPr>
              <a:t>I can compare the experimental probability from a simulation to the theoretical probability of a simple experiment.</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67</a:t>
            </a:r>
            <a:endParaRPr i="1" dirty="0">
              <a:latin typeface="Calibri"/>
              <a:ea typeface="Calibri"/>
              <a:cs typeface="Calibri"/>
              <a:sym typeface="Calibri"/>
            </a:endParaRPr>
          </a:p>
        </p:txBody>
      </p:sp>
      <p:pic>
        <p:nvPicPr>
          <p:cNvPr id="7"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7332"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2.7.1 Warm-Up: Marbles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730267" y="1374302"/>
            <a:ext cx="10800846" cy="267765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Fill in the blanks in the statements below so the probability of drawing a red marble from either bag is the same. Use any number </a:t>
            </a:r>
            <a:r>
              <a:rPr lang="en-US" sz="2400" dirty="0">
                <a:latin typeface="Cambria Math" pitchFamily="18" charset="0"/>
                <a:ea typeface="Cambria Math" pitchFamily="18" charset="0"/>
                <a:cs typeface="Verdana" panose="020B0604030504040204" pitchFamily="34" charset="0"/>
              </a:rPr>
              <a:t>1</a:t>
            </a:r>
            <a:r>
              <a:rPr lang="en-US" sz="2400" dirty="0">
                <a:latin typeface="Verdana" panose="020B0604030504040204" pitchFamily="34" charset="0"/>
                <a:ea typeface="Verdana" panose="020B0604030504040204" pitchFamily="34" charset="0"/>
                <a:cs typeface="Verdana" panose="020B0604030504040204" pitchFamily="34" charset="0"/>
              </a:rPr>
              <a:t> through </a:t>
            </a:r>
            <a:r>
              <a:rPr lang="en-US" sz="2400" dirty="0">
                <a:latin typeface="Cambria Math" pitchFamily="18" charset="0"/>
                <a:ea typeface="Cambria Math" pitchFamily="18" charset="0"/>
                <a:cs typeface="Verdana" panose="020B0604030504040204" pitchFamily="34" charset="0"/>
              </a:rPr>
              <a:t>9</a:t>
            </a:r>
            <a:r>
              <a:rPr lang="en-US" sz="2400" dirty="0">
                <a:latin typeface="Verdana" panose="020B0604030504040204" pitchFamily="34" charset="0"/>
                <a:ea typeface="Verdana" panose="020B0604030504040204" pitchFamily="34" charset="0"/>
                <a:cs typeface="Verdana" panose="020B0604030504040204" pitchFamily="34" charset="0"/>
              </a:rPr>
              <a:t> at most one time each.</a:t>
            </a:r>
          </a:p>
          <a:p>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a:lnSpc>
                <a:spcPct val="150000"/>
              </a:lnSpc>
            </a:pPr>
            <a:r>
              <a:rPr lang="en-US" sz="2400" dirty="0">
                <a:latin typeface="Verdana" panose="020B0604030504040204" pitchFamily="34" charset="0"/>
                <a:ea typeface="Verdana" panose="020B0604030504040204" pitchFamily="34" charset="0"/>
                <a:cs typeface="Verdana" panose="020B0604030504040204" pitchFamily="34" charset="0"/>
              </a:rPr>
              <a:t>There are _____ red marbles and _____ blue marbles in Bag A. There are _____ red marbles and _____ green marbles in Bag B.</a:t>
            </a:r>
          </a:p>
        </p:txBody>
      </p:sp>
      <p:sp>
        <p:nvSpPr>
          <p:cNvPr id="10" name="Google Shape;278;g104476d1465_1_17">
            <a:extLst>
              <a:ext uri="{FF2B5EF4-FFF2-40B4-BE49-F238E27FC236}">
                <a16:creationId xmlns:a16="http://schemas.microsoft.com/office/drawing/2014/main" id="{733F64CC-F62E-3D45-B066-56DBFBB732F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67</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68</a:t>
            </a:r>
            <a:endParaRPr i="1" dirty="0">
              <a:latin typeface="Calibri"/>
              <a:ea typeface="Calibri"/>
              <a:cs typeface="Calibri"/>
              <a:sym typeface="Calibri"/>
            </a:endParaRPr>
          </a:p>
        </p:txBody>
      </p:sp>
      <p:sp>
        <p:nvSpPr>
          <p:cNvPr id="7" name="Google Shape;313;g104476d1465_1_39"/>
          <p:cNvSpPr txBox="1">
            <a:spLocks/>
          </p:cNvSpPr>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9"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44861" y="2850881"/>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42286" y="32550"/>
            <a:ext cx="10949714" cy="108948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2.7.2 Exploration: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Playing the Long Game</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732743" y="1490008"/>
                <a:ext cx="10798369" cy="1569660"/>
              </a:xfrm>
              <a:prstGeom prst="rect">
                <a:avLst/>
              </a:prstGeom>
              <a:noFill/>
            </p:spPr>
            <p:txBody>
              <a:bodyPr wrap="square" rtlCol="0">
                <a:spAutoFit/>
              </a:bodyPr>
              <a:lstStyle/>
              <a:p>
                <a:r>
                  <a:rPr lang="en-US" sz="2400" dirty="0">
                    <a:latin typeface="Verdana"/>
                    <a:ea typeface="Times New Roman"/>
                    <a:cs typeface="Cambria"/>
                  </a:rPr>
                  <a:t>Samaria plays a game with a fair</a:t>
                </a:r>
                <a14:m>
                  <m:oMath xmlns:m="http://schemas.openxmlformats.org/officeDocument/2006/math">
                    <m:r>
                      <a:rPr lang="en-US" sz="2400" i="1">
                        <a:latin typeface="Cambria Math"/>
                        <a:ea typeface="Times New Roman"/>
                        <a:cs typeface="Cambria"/>
                      </a:rPr>
                      <m:t> </m:t>
                    </m:r>
                  </m:oMath>
                </a14:m>
                <a:r>
                  <a:rPr lang="en-US" sz="2400" dirty="0">
                    <a:latin typeface="Verdana"/>
                    <a:ea typeface="Times New Roman"/>
                    <a:cs typeface="Cambria"/>
                  </a:rPr>
                  <a:t>six-sided die in which she only wins if she rolls a </a:t>
                </a:r>
                <a14:m>
                  <m:oMath xmlns:m="http://schemas.openxmlformats.org/officeDocument/2006/math">
                    <m:r>
                      <a:rPr lang="en-US" sz="2400" i="1">
                        <a:latin typeface="Cambria Math"/>
                        <a:ea typeface="Times New Roman"/>
                        <a:cs typeface="Cambria"/>
                      </a:rPr>
                      <m:t>1</m:t>
                    </m:r>
                  </m:oMath>
                </a14:m>
                <a:r>
                  <a:rPr lang="en-US" sz="2400" dirty="0">
                    <a:latin typeface="Verdana"/>
                    <a:ea typeface="Times New Roman"/>
                    <a:cs typeface="Cambria"/>
                  </a:rPr>
                  <a:t> or a </a:t>
                </a:r>
                <a14:m>
                  <m:oMath xmlns:m="http://schemas.openxmlformats.org/officeDocument/2006/math">
                    <m:r>
                      <a:rPr lang="en-US" sz="2400" i="1">
                        <a:latin typeface="Cambria Math"/>
                        <a:ea typeface="Times New Roman"/>
                        <a:cs typeface="Cambria"/>
                      </a:rPr>
                      <m:t>2</m:t>
                    </m:r>
                  </m:oMath>
                </a14:m>
                <a:r>
                  <a:rPr lang="en-US" sz="2400" dirty="0">
                    <a:latin typeface="Verdana"/>
                    <a:ea typeface="Times New Roman"/>
                    <a:cs typeface="Cambria"/>
                  </a:rPr>
                  <a:t>.</a:t>
                </a:r>
              </a:p>
              <a:p>
                <a:endParaRPr lang="en-PH" sz="2400" dirty="0">
                  <a:latin typeface="Verdana"/>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a:ea typeface="Times New Roman"/>
                    <a:cs typeface="Cambria"/>
                  </a:rPr>
                  <a:t>List the outcomes in the sample space for rolling the fair die.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 xmlns:a16="http://schemas.microsoft.com/office/drawing/2014/main" xmlns:a14="http://schemas.microsoft.com/office/drawing/2010/main" id="{152D1D4D-DCB8-A246-B186-D40316579D77}"/>
                  </a:ext>
                </a:extLst>
              </p:cNvPr>
              <p:cNvSpPr txBox="1">
                <a:spLocks noRot="1" noChangeAspect="1" noMove="1" noResize="1" noEditPoints="1" noAdjustHandles="1" noChangeArrowheads="1" noChangeShapeType="1" noTextEdit="1"/>
              </p:cNvSpPr>
              <p:nvPr/>
            </p:nvSpPr>
            <p:spPr>
              <a:xfrm>
                <a:off x="732743" y="1490008"/>
                <a:ext cx="10798369" cy="1569660"/>
              </a:xfrm>
              <a:prstGeom prst="rect">
                <a:avLst/>
              </a:prstGeom>
              <a:blipFill rotWithShape="1">
                <a:blip r:embed="rId5"/>
                <a:stretch>
                  <a:fillRect l="-847" t="-3488" b="-7752"/>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519FE075-E2FF-7B4C-8C80-17BA7226159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68</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327425" y="383623"/>
            <a:ext cx="11700451" cy="4524315"/>
          </a:xfrm>
          <a:prstGeom prst="rect">
            <a:avLst/>
          </a:prstGeom>
          <a:noFill/>
        </p:spPr>
        <p:txBody>
          <a:bodyPr wrap="square" rtlCol="0">
            <a:spAutoFit/>
          </a:bodyPr>
          <a:lstStyle/>
          <a:p>
            <a:pPr marL="457200" indent="-457200">
              <a:buFont typeface="+mj-lt"/>
              <a:buAutoNum type="arabicPeriod" startAt="2"/>
            </a:pPr>
            <a:r>
              <a:rPr lang="en-US" sz="2400" dirty="0">
                <a:latin typeface="Verdana"/>
                <a:ea typeface="Times New Roman"/>
                <a:cs typeface="Cambria"/>
              </a:rPr>
              <a:t>Discuss the probability of Samaria winning the game with your partner or group. Then, complete the statement.</a:t>
            </a:r>
          </a:p>
          <a:p>
            <a:pPr marL="457200" indent="-457200">
              <a:buFont typeface="+mj-lt"/>
              <a:buAutoNum type="arabicPeriod" startAt="2"/>
            </a:pPr>
            <a:endParaRPr lang="en-US" sz="2400" dirty="0">
              <a:latin typeface="Verdana"/>
              <a:ea typeface="Times New Roman"/>
              <a:cs typeface="Cambria"/>
            </a:endParaRPr>
          </a:p>
          <a:p>
            <a:pPr marL="457200">
              <a:lnSpc>
                <a:spcPct val="150000"/>
              </a:lnSpc>
            </a:pPr>
            <a:r>
              <a:rPr lang="en-US" sz="2400" dirty="0">
                <a:latin typeface="Verdana"/>
                <a:ea typeface="Times New Roman"/>
                <a:cs typeface="Cambria"/>
              </a:rPr>
              <a:t>The probability Samaria wins the game, represented as a fraction, is ____ because there are ____ possible winning outcomes out of ____ total possible outcomes from rolling the die.</a:t>
            </a:r>
          </a:p>
          <a:p>
            <a:pPr marL="457200">
              <a:lnSpc>
                <a:spcPct val="150000"/>
              </a:lnSpc>
            </a:pPr>
            <a:endParaRPr lang="en-US" sz="2400" dirty="0">
              <a:latin typeface="Verdana"/>
              <a:ea typeface="Times New Roman"/>
              <a:cs typeface="Cambria"/>
            </a:endParaRPr>
          </a:p>
          <a:p>
            <a:pPr marL="457200" indent="-457200">
              <a:buFont typeface="+mj-lt"/>
              <a:buAutoNum type="arabicPeriod" startAt="3"/>
            </a:pPr>
            <a:r>
              <a:rPr lang="en-US" sz="2400" dirty="0">
                <a:latin typeface="Verdana"/>
                <a:ea typeface="Times New Roman"/>
                <a:cs typeface="Cambria"/>
              </a:rPr>
              <a:t>If Samaria is given the option to flip a coin and win if it comes up heads, explain whether or not that would be a better option for her to win using probability.</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68</a:t>
            </a:r>
            <a:endParaRPr i="1" dirty="0">
              <a:latin typeface="Calibri"/>
              <a:ea typeface="Calibri"/>
              <a:cs typeface="Calibri"/>
              <a:sym typeface="Calibri"/>
            </a:endParaRPr>
          </a:p>
        </p:txBody>
      </p:sp>
    </p:spTree>
    <p:extLst>
      <p:ext uri="{BB962C8B-B14F-4D97-AF65-F5344CB8AC3E}">
        <p14:creationId xmlns:p14="http://schemas.microsoft.com/office/powerpoint/2010/main" val="687834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07210" y="322068"/>
                <a:ext cx="11403435" cy="4401205"/>
              </a:xfrm>
              <a:prstGeom prst="rect">
                <a:avLst/>
              </a:prstGeom>
              <a:noFill/>
            </p:spPr>
            <p:txBody>
              <a:bodyPr wrap="square" rtlCol="0">
                <a:spAutoFit/>
              </a:bodyPr>
              <a:lstStyle/>
              <a:p>
                <a:pPr marL="457200" indent="-457200">
                  <a:buFont typeface="+mj-lt"/>
                  <a:buAutoNum type="arabicPeriod" startAt="4"/>
                </a:pPr>
                <a:r>
                  <a:rPr lang="en-US" sz="2400" dirty="0">
                    <a:latin typeface="Verdana"/>
                    <a:ea typeface="Times New Roman"/>
                    <a:cs typeface="Cambria"/>
                  </a:rPr>
                  <a:t>With your partner or group, follow these instructions </a:t>
                </a:r>
                <a14:m>
                  <m:oMath xmlns:m="http://schemas.openxmlformats.org/officeDocument/2006/math">
                    <m:r>
                      <a:rPr lang="en-US" sz="2400" i="1">
                        <a:latin typeface="Cambria Math"/>
                        <a:ea typeface="Times New Roman"/>
                        <a:cs typeface="Cambria"/>
                      </a:rPr>
                      <m:t>10</m:t>
                    </m:r>
                  </m:oMath>
                </a14:m>
                <a:r>
                  <a:rPr lang="en-US" sz="2400" dirty="0">
                    <a:latin typeface="Verdana"/>
                    <a:ea typeface="Times New Roman"/>
                    <a:cs typeface="Cambria"/>
                  </a:rPr>
                  <a:t> times to create the graph.</a:t>
                </a:r>
              </a:p>
              <a:p>
                <a:pPr marL="800100" indent="-342900">
                  <a:spcBef>
                    <a:spcPts val="1200"/>
                  </a:spcBef>
                  <a:buFont typeface="Arial"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One person rolls the number cube. Everyone records the outcome.</a:t>
                </a:r>
              </a:p>
              <a:p>
                <a:pPr marL="800100" indent="-342900">
                  <a:spcBef>
                    <a:spcPts val="1200"/>
                  </a:spcBef>
                  <a:buFont typeface="Arial"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Calculate the fraction of all rolls that are wins for Samaria so far. Approximate the fraction with a decimal value rounded to the hundredths place using a calculator. Record both the fraction and the decimal in the last column of the table.</a:t>
                </a:r>
              </a:p>
              <a:p>
                <a:pPr marL="800100" indent="-342900">
                  <a:spcBef>
                    <a:spcPts val="1200"/>
                  </a:spcBef>
                  <a:buFont typeface="Arial"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On the graph, plot the number of rolls and the fraction of rolls that were wins.</a:t>
                </a:r>
              </a:p>
              <a:p>
                <a:pPr marL="800100" indent="-342900">
                  <a:spcBef>
                    <a:spcPts val="1200"/>
                  </a:spcBef>
                  <a:buFont typeface="Arial"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Pass the number cube to the next person in the group.</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07210" y="322068"/>
                <a:ext cx="11403435" cy="4401205"/>
              </a:xfrm>
              <a:prstGeom prst="rect">
                <a:avLst/>
              </a:prstGeom>
              <a:blipFill>
                <a:blip r:embed="rId4"/>
                <a:stretch>
                  <a:fillRect l="-779" t="-1153" r="-890" b="-2305"/>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68</a:t>
            </a:r>
            <a:endParaRPr i="1" dirty="0">
              <a:latin typeface="Calibri"/>
              <a:ea typeface="Calibri"/>
              <a:cs typeface="Calibri"/>
              <a:sym typeface="Calibri"/>
            </a:endParaRPr>
          </a:p>
        </p:txBody>
      </p:sp>
    </p:spTree>
    <p:extLst>
      <p:ext uri="{BB962C8B-B14F-4D97-AF65-F5344CB8AC3E}">
        <p14:creationId xmlns:p14="http://schemas.microsoft.com/office/powerpoint/2010/main" val="3641886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3816862366"/>
              </p:ext>
            </p:extLst>
          </p:nvPr>
        </p:nvGraphicFramePr>
        <p:xfrm>
          <a:off x="2578608" y="374089"/>
          <a:ext cx="7680960" cy="4876800"/>
        </p:xfrm>
        <a:graphic>
          <a:graphicData uri="http://schemas.openxmlformats.org/drawingml/2006/table">
            <a:tbl>
              <a:tblPr firstRow="1" bandRow="1">
                <a:tableStyleId>{A91F0D33-8C57-4600-99A7-42BC86742BE1}</a:tableStyleId>
              </a:tblPr>
              <a:tblGrid>
                <a:gridCol w="914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370840">
                <a:tc>
                  <a:txBody>
                    <a:bodyPr/>
                    <a:lstStyle/>
                    <a:p>
                      <a:pPr algn="ctr"/>
                      <a:r>
                        <a:rPr lang="en-PH" sz="2000" b="1" dirty="0">
                          <a:latin typeface="Verdana" pitchFamily="34" charset="0"/>
                          <a:ea typeface="Verdana" pitchFamily="34" charset="0"/>
                        </a:rPr>
                        <a:t>Roll</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Outcome</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Total Number </a:t>
                      </a:r>
                      <a:br>
                        <a:rPr lang="en-PH" sz="2000" b="1" dirty="0">
                          <a:latin typeface="Verdana" pitchFamily="34" charset="0"/>
                          <a:ea typeface="Verdana" pitchFamily="34" charset="0"/>
                        </a:rPr>
                      </a:br>
                      <a:r>
                        <a:rPr lang="en-PH" sz="2000" b="1" dirty="0">
                          <a:latin typeface="Verdana" pitchFamily="34" charset="0"/>
                          <a:ea typeface="Verdana" pitchFamily="34" charset="0"/>
                        </a:rPr>
                        <a:t>of Wins for Samaria</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Fraction of Games Played</a:t>
                      </a:r>
                      <a:r>
                        <a:rPr lang="en-PH" sz="2000" b="1" baseline="0" dirty="0">
                          <a:latin typeface="Verdana" pitchFamily="34" charset="0"/>
                          <a:ea typeface="Verdana" pitchFamily="34" charset="0"/>
                        </a:rPr>
                        <a:t> that </a:t>
                      </a:r>
                      <a:br>
                        <a:rPr lang="en-PH" sz="2000" b="1" baseline="0" dirty="0">
                          <a:latin typeface="Verdana" pitchFamily="34" charset="0"/>
                          <a:ea typeface="Verdana" pitchFamily="34" charset="0"/>
                        </a:rPr>
                      </a:br>
                      <a:r>
                        <a:rPr lang="en-PH" sz="2000" b="1" baseline="0" dirty="0">
                          <a:latin typeface="Verdana" pitchFamily="34" charset="0"/>
                          <a:ea typeface="Verdana" pitchFamily="34" charset="0"/>
                        </a:rPr>
                        <a:t>are Wins</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a:r>
                        <a:rPr lang="en-PH" sz="2000" b="1" dirty="0">
                          <a:latin typeface="Verdana" pitchFamily="34" charset="0"/>
                          <a:ea typeface="Verdana" pitchFamily="34" charset="0"/>
                        </a:rPr>
                        <a:t>1</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PH" sz="2000" b="1" dirty="0">
                          <a:latin typeface="Verdana" pitchFamily="34" charset="0"/>
                          <a:ea typeface="Verdana" pitchFamily="34" charset="0"/>
                        </a:rPr>
                        <a:t>2</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PH" sz="2000" b="1" dirty="0">
                          <a:latin typeface="Verdana" pitchFamily="34" charset="0"/>
                          <a:ea typeface="Verdana" pitchFamily="34" charset="0"/>
                        </a:rPr>
                        <a:t>3</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PH" sz="2000" b="1" dirty="0">
                          <a:latin typeface="Verdana" pitchFamily="34" charset="0"/>
                          <a:ea typeface="Verdana" pitchFamily="34" charset="0"/>
                        </a:rPr>
                        <a:t>4</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PH" sz="2000" b="1" dirty="0">
                          <a:latin typeface="Verdana" pitchFamily="34" charset="0"/>
                          <a:ea typeface="Verdana" pitchFamily="34" charset="0"/>
                        </a:rPr>
                        <a:t>5</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PH" sz="2000" b="1" dirty="0">
                          <a:latin typeface="Verdana" pitchFamily="34" charset="0"/>
                          <a:ea typeface="Verdana" pitchFamily="34" charset="0"/>
                        </a:rPr>
                        <a:t>6</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en-PH" sz="2000" b="1" dirty="0">
                          <a:latin typeface="Verdana" pitchFamily="34" charset="0"/>
                          <a:ea typeface="Verdana" pitchFamily="34" charset="0"/>
                        </a:rPr>
                        <a:t>7</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PH" sz="2000" b="1" dirty="0">
                          <a:latin typeface="Verdana" pitchFamily="34" charset="0"/>
                          <a:ea typeface="Verdana" pitchFamily="34" charset="0"/>
                        </a:rPr>
                        <a:t>8</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ctr"/>
                      <a:r>
                        <a:rPr lang="en-PH" sz="2000" b="1" dirty="0">
                          <a:latin typeface="Verdana" pitchFamily="34" charset="0"/>
                          <a:ea typeface="Verdana" pitchFamily="34" charset="0"/>
                        </a:rPr>
                        <a:t>9</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pPr algn="ctr"/>
                      <a:r>
                        <a:rPr lang="en-PH" sz="2000" b="1" dirty="0">
                          <a:latin typeface="Verdana" pitchFamily="34" charset="0"/>
                          <a:ea typeface="Verdana" pitchFamily="34" charset="0"/>
                        </a:rPr>
                        <a:t>10</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68</a:t>
            </a:r>
            <a:endParaRPr i="1" dirty="0">
              <a:latin typeface="Calibri"/>
              <a:ea typeface="Calibri"/>
              <a:cs typeface="Calibri"/>
              <a:sym typeface="Calibri"/>
            </a:endParaRPr>
          </a:p>
        </p:txBody>
      </p:sp>
    </p:spTree>
    <p:extLst>
      <p:ext uri="{BB962C8B-B14F-4D97-AF65-F5344CB8AC3E}">
        <p14:creationId xmlns:p14="http://schemas.microsoft.com/office/powerpoint/2010/main" val="1948565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44D12CB6-7E65-7742-A366-7CDB25327756}"/>
              </a:ext>
            </a:extLst>
          </p:cNvPr>
          <p:cNvSpPr/>
          <p:nvPr/>
        </p:nvSpPr>
        <p:spPr>
          <a:xfrm>
            <a:off x="2277"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574926" y="358775"/>
            <a:ext cx="7759976" cy="471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69</a:t>
            </a:r>
            <a:endParaRPr i="1" dirty="0">
              <a:latin typeface="Calibri"/>
              <a:ea typeface="Calibri"/>
              <a:cs typeface="Calibri"/>
              <a:sym typeface="Calibri"/>
            </a:endParaRPr>
          </a:p>
        </p:txBody>
      </p:sp>
    </p:spTree>
    <p:extLst>
      <p:ext uri="{BB962C8B-B14F-4D97-AF65-F5344CB8AC3E}">
        <p14:creationId xmlns:p14="http://schemas.microsoft.com/office/powerpoint/2010/main" val="1114277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07211" y="514766"/>
                <a:ext cx="11040020" cy="3785652"/>
              </a:xfrm>
              <a:prstGeom prst="rect">
                <a:avLst/>
              </a:prstGeom>
              <a:noFill/>
            </p:spPr>
            <p:txBody>
              <a:bodyPr wrap="square" rtlCol="0">
                <a:spAutoFit/>
              </a:bodyPr>
              <a:lstStyle/>
              <a:p>
                <a:pPr marL="457200" indent="-457200">
                  <a:buFont typeface="+mj-lt"/>
                  <a:buAutoNum type="arabicPeriod" startAt="5"/>
                </a:pPr>
                <a:r>
                  <a:rPr lang="en-US" sz="2400" dirty="0">
                    <a:latin typeface="Verdana"/>
                    <a:ea typeface="Times New Roman"/>
                    <a:cs typeface="Cambria"/>
                  </a:rPr>
                  <a:t>With your partner or group, discuss what you notice is happening with the points on the graph.</a:t>
                </a:r>
              </a:p>
              <a:p>
                <a:pPr marL="457200" indent="-457200">
                  <a:buFont typeface="+mj-lt"/>
                  <a:buAutoNum type="arabicPeriod" startAt="5"/>
                </a:pPr>
                <a:endParaRPr lang="en-US" sz="2400" dirty="0">
                  <a:latin typeface="Verdana"/>
                  <a:ea typeface="Times New Roman"/>
                  <a:cs typeface="Cambria"/>
                </a:endParaRPr>
              </a:p>
              <a:p>
                <a:pPr marL="914400" indent="-457200">
                  <a:buFont typeface="+mj-lt"/>
                  <a:buAutoNum type="alphaLcPeriod"/>
                </a:pPr>
                <a:r>
                  <a:rPr lang="en-US" sz="2400" dirty="0">
                    <a:latin typeface="Verdana"/>
                    <a:ea typeface="Times New Roman"/>
                    <a:cs typeface="Cambria"/>
                  </a:rPr>
                  <a:t>After </a:t>
                </a:r>
                <a14:m>
                  <m:oMath xmlns:m="http://schemas.openxmlformats.org/officeDocument/2006/math">
                    <m:r>
                      <a:rPr lang="en-US" sz="2400" i="1">
                        <a:latin typeface="Cambria Math"/>
                        <a:ea typeface="Times New Roman"/>
                        <a:cs typeface="Cambria"/>
                      </a:rPr>
                      <m:t>10</m:t>
                    </m:r>
                  </m:oMath>
                </a14:m>
                <a:r>
                  <a:rPr lang="en-US" sz="2400" dirty="0">
                    <a:latin typeface="Verdana"/>
                    <a:ea typeface="Times New Roman"/>
                    <a:cs typeface="Cambria"/>
                  </a:rPr>
                  <a:t> rolls, what fraction of the total rolls were a win?</a:t>
                </a: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a:ea typeface="Times New Roman"/>
                    <a:cs typeface="Cambria"/>
                  </a:rPr>
                  <a:t>How close is this fraction to the probability that Samaria will win?</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07211" y="514766"/>
                <a:ext cx="11040020" cy="3785652"/>
              </a:xfrm>
              <a:prstGeom prst="rect">
                <a:avLst/>
              </a:prstGeom>
              <a:blipFill>
                <a:blip r:embed="rId4"/>
                <a:stretch>
                  <a:fillRect l="-804" t="-1338" b="-3010"/>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69</a:t>
            </a:r>
            <a:endParaRPr i="1" dirty="0">
              <a:latin typeface="Calibri"/>
              <a:ea typeface="Calibri"/>
              <a:cs typeface="Calibri"/>
              <a:sym typeface="Calibri"/>
            </a:endParaRPr>
          </a:p>
        </p:txBody>
      </p:sp>
    </p:spTree>
    <p:extLst>
      <p:ext uri="{BB962C8B-B14F-4D97-AF65-F5344CB8AC3E}">
        <p14:creationId xmlns:p14="http://schemas.microsoft.com/office/powerpoint/2010/main" val="4064598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600995" y="395918"/>
                <a:ext cx="11321374" cy="707886"/>
              </a:xfrm>
              <a:prstGeom prst="rect">
                <a:avLst/>
              </a:prstGeom>
              <a:noFill/>
            </p:spPr>
            <p:txBody>
              <a:bodyPr wrap="square" rtlCol="0">
                <a:spAutoFit/>
              </a:bodyPr>
              <a:lstStyle/>
              <a:p>
                <a:pPr marL="457200" indent="-457200">
                  <a:buFont typeface="+mj-lt"/>
                  <a:buAutoNum type="arabicPeriod" startAt="6"/>
                </a:pPr>
                <a:r>
                  <a:rPr lang="en-US" sz="2000" dirty="0">
                    <a:latin typeface="Verdana"/>
                    <a:ea typeface="Times New Roman"/>
                    <a:cs typeface="Cambria"/>
                  </a:rPr>
                  <a:t>Roll the number cube </a:t>
                </a:r>
                <a14:m>
                  <m:oMath xmlns:m="http://schemas.openxmlformats.org/officeDocument/2006/math">
                    <m:r>
                      <a:rPr lang="en-US" sz="2000" i="1">
                        <a:latin typeface="Cambria Math"/>
                        <a:ea typeface="Times New Roman"/>
                        <a:cs typeface="Cambria"/>
                      </a:rPr>
                      <m:t>10</m:t>
                    </m:r>
                  </m:oMath>
                </a14:m>
                <a:r>
                  <a:rPr lang="en-US" sz="2000" dirty="0">
                    <a:latin typeface="Verdana"/>
                    <a:ea typeface="Times New Roman"/>
                    <a:cs typeface="Cambria"/>
                  </a:rPr>
                  <a:t> more times. Record your results in this table and add them to the graph from earlier.</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600995" y="395918"/>
                <a:ext cx="11321374" cy="707886"/>
              </a:xfrm>
              <a:prstGeom prst="rect">
                <a:avLst/>
              </a:prstGeom>
              <a:blipFill>
                <a:blip r:embed="rId4"/>
                <a:stretch>
                  <a:fillRect l="-561" t="-5357" b="-16071"/>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6" name="Table 5"/>
          <p:cNvGraphicFramePr>
            <a:graphicFrameLocks noGrp="1"/>
          </p:cNvGraphicFramePr>
          <p:nvPr>
            <p:extLst>
              <p:ext uri="{D42A27DB-BD31-4B8C-83A1-F6EECF244321}">
                <p14:modId xmlns:p14="http://schemas.microsoft.com/office/powerpoint/2010/main" val="2745997190"/>
              </p:ext>
            </p:extLst>
          </p:nvPr>
        </p:nvGraphicFramePr>
        <p:xfrm>
          <a:off x="2578608" y="1231339"/>
          <a:ext cx="7680960" cy="4876800"/>
        </p:xfrm>
        <a:graphic>
          <a:graphicData uri="http://schemas.openxmlformats.org/drawingml/2006/table">
            <a:tbl>
              <a:tblPr firstRow="1" bandRow="1">
                <a:tableStyleId>{A91F0D33-8C57-4600-99A7-42BC86742BE1}</a:tableStyleId>
              </a:tblPr>
              <a:tblGrid>
                <a:gridCol w="914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370840">
                <a:tc>
                  <a:txBody>
                    <a:bodyPr/>
                    <a:lstStyle/>
                    <a:p>
                      <a:pPr algn="ctr"/>
                      <a:r>
                        <a:rPr lang="en-PH" sz="2000" b="1" dirty="0">
                          <a:latin typeface="Verdana" pitchFamily="34" charset="0"/>
                          <a:ea typeface="Verdana" pitchFamily="34" charset="0"/>
                        </a:rPr>
                        <a:t>Roll</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Outcome</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Total Number </a:t>
                      </a:r>
                      <a:br>
                        <a:rPr lang="en-PH" sz="2000" b="1" dirty="0">
                          <a:latin typeface="Verdana" pitchFamily="34" charset="0"/>
                          <a:ea typeface="Verdana" pitchFamily="34" charset="0"/>
                        </a:rPr>
                      </a:br>
                      <a:r>
                        <a:rPr lang="en-PH" sz="2000" b="1" dirty="0">
                          <a:latin typeface="Verdana" pitchFamily="34" charset="0"/>
                          <a:ea typeface="Verdana" pitchFamily="34" charset="0"/>
                        </a:rPr>
                        <a:t>of Wins for Samaria</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Fraction of Games Played</a:t>
                      </a:r>
                      <a:r>
                        <a:rPr lang="en-PH" sz="2000" b="1" baseline="0" dirty="0">
                          <a:latin typeface="Verdana" pitchFamily="34" charset="0"/>
                          <a:ea typeface="Verdana" pitchFamily="34" charset="0"/>
                        </a:rPr>
                        <a:t> that </a:t>
                      </a:r>
                      <a:br>
                        <a:rPr lang="en-PH" sz="2000" b="1" baseline="0" dirty="0">
                          <a:latin typeface="Verdana" pitchFamily="34" charset="0"/>
                          <a:ea typeface="Verdana" pitchFamily="34" charset="0"/>
                        </a:rPr>
                      </a:br>
                      <a:r>
                        <a:rPr lang="en-PH" sz="2000" b="1" baseline="0" dirty="0">
                          <a:latin typeface="Verdana" pitchFamily="34" charset="0"/>
                          <a:ea typeface="Verdana" pitchFamily="34" charset="0"/>
                        </a:rPr>
                        <a:t>are Wins</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0">
                <a:tc>
                  <a:txBody>
                    <a:bodyPr/>
                    <a:lstStyle/>
                    <a:p>
                      <a:pPr algn="ctr"/>
                      <a:r>
                        <a:rPr lang="en-PH" sz="2000" b="1" dirty="0">
                          <a:latin typeface="Verdana" pitchFamily="34" charset="0"/>
                          <a:ea typeface="Verdana" pitchFamily="34" charset="0"/>
                        </a:rPr>
                        <a:t>11</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en-PH" sz="2000" b="1" dirty="0">
                          <a:latin typeface="Verdana" pitchFamily="34" charset="0"/>
                          <a:ea typeface="Verdana" pitchFamily="34" charset="0"/>
                        </a:rPr>
                        <a:t>12</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a:r>
                        <a:rPr lang="en-PH" sz="2000" b="1" dirty="0">
                          <a:latin typeface="Verdana" pitchFamily="34" charset="0"/>
                          <a:ea typeface="Verdana" pitchFamily="34" charset="0"/>
                        </a:rPr>
                        <a:t>13</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a:r>
                        <a:rPr lang="en-PH" sz="2000" b="1" dirty="0">
                          <a:latin typeface="Verdana" pitchFamily="34" charset="0"/>
                          <a:ea typeface="Verdana" pitchFamily="34" charset="0"/>
                        </a:rPr>
                        <a:t>14</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algn="ctr"/>
                      <a:r>
                        <a:rPr lang="en-PH" sz="2000" b="1" dirty="0">
                          <a:latin typeface="Verdana" pitchFamily="34" charset="0"/>
                          <a:ea typeface="Verdana" pitchFamily="34" charset="0"/>
                        </a:rPr>
                        <a:t>15</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gn="ctr"/>
                      <a:r>
                        <a:rPr lang="en-PH" sz="2000" b="1" dirty="0">
                          <a:latin typeface="Verdana" pitchFamily="34" charset="0"/>
                          <a:ea typeface="Verdana" pitchFamily="34" charset="0"/>
                        </a:rPr>
                        <a:t>16</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algn="ctr"/>
                      <a:r>
                        <a:rPr lang="en-PH" sz="2000" b="1" dirty="0">
                          <a:latin typeface="Verdana" pitchFamily="34" charset="0"/>
                          <a:ea typeface="Verdana" pitchFamily="34" charset="0"/>
                        </a:rPr>
                        <a:t>17</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a:r>
                        <a:rPr lang="en-PH" sz="2000" b="1" dirty="0">
                          <a:latin typeface="Verdana" pitchFamily="34" charset="0"/>
                          <a:ea typeface="Verdana" pitchFamily="34" charset="0"/>
                        </a:rPr>
                        <a:t>18</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a:r>
                        <a:rPr lang="en-PH" sz="2000" b="1" dirty="0">
                          <a:latin typeface="Verdana" pitchFamily="34" charset="0"/>
                          <a:ea typeface="Verdana" pitchFamily="34" charset="0"/>
                        </a:rPr>
                        <a:t>19</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algn="ctr"/>
                      <a:r>
                        <a:rPr lang="en-PH" sz="2000" b="1" dirty="0">
                          <a:latin typeface="Verdana" pitchFamily="34" charset="0"/>
                          <a:ea typeface="Verdana" pitchFamily="34" charset="0"/>
                        </a:rPr>
                        <a:t>20</a:t>
                      </a: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endParaRPr lang="en-US" sz="2000" b="1">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marT="36576" marB="3657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69</a:t>
            </a:r>
            <a:endParaRPr i="1" dirty="0">
              <a:latin typeface="Calibri"/>
              <a:ea typeface="Calibri"/>
              <a:cs typeface="Calibri"/>
              <a:sym typeface="Calibri"/>
            </a:endParaRPr>
          </a:p>
        </p:txBody>
      </p:sp>
    </p:spTree>
    <p:extLst>
      <p:ext uri="{BB962C8B-B14F-4D97-AF65-F5344CB8AC3E}">
        <p14:creationId xmlns:p14="http://schemas.microsoft.com/office/powerpoint/2010/main" val="276922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30657" y="397535"/>
                <a:ext cx="11321373" cy="3046988"/>
              </a:xfrm>
              <a:prstGeom prst="rect">
                <a:avLst/>
              </a:prstGeom>
              <a:noFill/>
            </p:spPr>
            <p:txBody>
              <a:bodyPr wrap="square" rtlCol="0">
                <a:spAutoFit/>
              </a:bodyPr>
              <a:lstStyle/>
              <a:p>
                <a:pPr marL="457200" indent="-457200">
                  <a:buFont typeface="+mj-lt"/>
                  <a:buAutoNum type="arabicPeriod" startAt="7"/>
                </a:pPr>
                <a:r>
                  <a:rPr lang="en-US" sz="2400" dirty="0">
                    <a:latin typeface="Verdana"/>
                    <a:ea typeface="Times New Roman"/>
                    <a:cs typeface="Cambria"/>
                  </a:rPr>
                  <a:t>Observe any trends on the graph after </a:t>
                </a:r>
                <a14:m>
                  <m:oMath xmlns:m="http://schemas.openxmlformats.org/officeDocument/2006/math">
                    <m:r>
                      <a:rPr lang="en-US" sz="2400" i="1">
                        <a:latin typeface="Cambria Math"/>
                        <a:ea typeface="Times New Roman"/>
                        <a:cs typeface="Cambria"/>
                      </a:rPr>
                      <m:t>20</m:t>
                    </m:r>
                  </m:oMath>
                </a14:m>
                <a:r>
                  <a:rPr lang="en-US" sz="2400" dirty="0">
                    <a:latin typeface="Verdana"/>
                    <a:ea typeface="Times New Roman"/>
                    <a:cs typeface="Cambria"/>
                  </a:rPr>
                  <a:t> rolls.</a:t>
                </a:r>
              </a:p>
              <a:p>
                <a:pPr marL="457200" indent="-457200">
                  <a:buFont typeface="+mj-lt"/>
                  <a:buAutoNum type="arabicPeriod" startAt="7"/>
                </a:pPr>
                <a:endParaRPr lang="en-US" sz="2400" dirty="0">
                  <a:latin typeface="Verdana"/>
                  <a:ea typeface="Times New Roman"/>
                  <a:cs typeface="Cambria"/>
                </a:endParaRPr>
              </a:p>
              <a:p>
                <a:pPr marL="914400" indent="-457200">
                  <a:buFont typeface="+mj-lt"/>
                  <a:buAutoNum type="alphaLcPeriod"/>
                </a:pPr>
                <a:r>
                  <a:rPr lang="en-US" sz="2400" dirty="0">
                    <a:latin typeface="Verdana"/>
                    <a:ea typeface="Times New Roman"/>
                    <a:cs typeface="Cambria"/>
                  </a:rPr>
                  <a:t>After </a:t>
                </a:r>
                <a14:m>
                  <m:oMath xmlns:m="http://schemas.openxmlformats.org/officeDocument/2006/math">
                    <m:r>
                      <a:rPr lang="en-US" sz="2400" i="1">
                        <a:latin typeface="Cambria Math"/>
                        <a:ea typeface="Times New Roman"/>
                        <a:cs typeface="Cambria"/>
                      </a:rPr>
                      <m:t>20</m:t>
                    </m:r>
                  </m:oMath>
                </a14:m>
                <a:r>
                  <a:rPr lang="en-US" sz="2400" dirty="0">
                    <a:latin typeface="Verdana"/>
                    <a:ea typeface="Times New Roman"/>
                    <a:cs typeface="Cambria"/>
                  </a:rPr>
                  <a:t> rolls, what fraction of the total rolls was a win?</a:t>
                </a: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a:ea typeface="Times New Roman"/>
                    <a:cs typeface="Cambria"/>
                  </a:rPr>
                  <a:t>How close is this fraction to the probability that Samaria will win?</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30657" y="397535"/>
                <a:ext cx="11321373" cy="3046988"/>
              </a:xfrm>
              <a:prstGeom prst="rect">
                <a:avLst/>
              </a:prstGeom>
              <a:blipFill>
                <a:blip r:embed="rId4"/>
                <a:stretch>
                  <a:fillRect l="-784" t="-1660" b="-3320"/>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69</a:t>
            </a:r>
            <a:endParaRPr i="1" dirty="0">
              <a:latin typeface="Calibri"/>
              <a:ea typeface="Calibri"/>
              <a:cs typeface="Calibri"/>
              <a:sym typeface="Calibri"/>
            </a:endParaRPr>
          </a:p>
        </p:txBody>
      </p:sp>
    </p:spTree>
    <p:extLst>
      <p:ext uri="{BB962C8B-B14F-4D97-AF65-F5344CB8AC3E}">
        <p14:creationId xmlns:p14="http://schemas.microsoft.com/office/powerpoint/2010/main" val="2189720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70</a:t>
            </a:r>
            <a:endParaRPr i="1" dirty="0">
              <a:latin typeface="Calibri"/>
              <a:ea typeface="Calibri"/>
              <a:cs typeface="Calibri"/>
              <a:sym typeface="Calibri"/>
            </a:endParaRPr>
          </a:p>
        </p:txBody>
      </p:sp>
      <p:sp>
        <p:nvSpPr>
          <p:cNvPr id="8" name="Google Shape;313;g104476d1465_1_39"/>
          <p:cNvSpPr txBox="1">
            <a:spLocks/>
          </p:cNvSpPr>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26B7D4"/>
                </a:solidFill>
                <a:latin typeface="Verdana"/>
                <a:ea typeface="Verdana"/>
                <a:cs typeface="Verdana"/>
                <a:sym typeface="Verdana"/>
              </a:rPr>
              <a:t>Bring It Together</a:t>
            </a:r>
            <a:endParaRPr lang="en-US" sz="5100" b="1" dirty="0">
              <a:solidFill>
                <a:srgbClr val="26B7D4"/>
              </a:solidFill>
              <a:latin typeface="Verdana"/>
              <a:ea typeface="Verdana"/>
              <a:cs typeface="Verdana"/>
              <a:sym typeface="Verdana"/>
            </a:endParaRPr>
          </a:p>
        </p:txBody>
      </p:sp>
      <p:pic>
        <p:nvPicPr>
          <p:cNvPr id="9"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4390" y="284875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562" y="125542"/>
            <a:ext cx="10321391"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2.7.3 Bring It Together: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Playing the Long Game</a:t>
            </a:r>
          </a:p>
        </p:txBody>
      </p:sp>
      <p:sp>
        <p:nvSpPr>
          <p:cNvPr id="8" name="TextBox 7">
            <a:extLst>
              <a:ext uri="{FF2B5EF4-FFF2-40B4-BE49-F238E27FC236}">
                <a16:creationId xmlns:a16="http://schemas.microsoft.com/office/drawing/2014/main" id="{669E00F9-F39F-5043-888E-B0A2D8C9AE0F}"/>
              </a:ext>
            </a:extLst>
          </p:cNvPr>
          <p:cNvSpPr txBox="1"/>
          <p:nvPr/>
        </p:nvSpPr>
        <p:spPr>
          <a:xfrm>
            <a:off x="1237562" y="1643934"/>
            <a:ext cx="11976295" cy="2862322"/>
          </a:xfrm>
          <a:prstGeom prst="rect">
            <a:avLst/>
          </a:prstGeom>
          <a:noFill/>
        </p:spPr>
        <p:txBody>
          <a:bodyPr wrap="square" rtlCol="0">
            <a:spAutoFit/>
          </a:bodyPr>
          <a:lstStyle/>
          <a:p>
            <a:r>
              <a:rPr lang="en-US" sz="2000" dirty="0">
                <a:latin typeface="Verdana"/>
                <a:ea typeface="Times New Roman"/>
                <a:cs typeface="Cambria"/>
              </a:rPr>
              <a:t>A sample graph from a </a:t>
            </a:r>
            <a:br>
              <a:rPr lang="en-US" sz="2000" dirty="0">
                <a:latin typeface="Verdana"/>
                <a:ea typeface="Times New Roman"/>
                <a:cs typeface="Cambria"/>
              </a:rPr>
            </a:br>
            <a:r>
              <a:rPr lang="en-US" sz="2000" dirty="0">
                <a:latin typeface="Verdana"/>
                <a:ea typeface="Times New Roman"/>
                <a:cs typeface="Cambria"/>
              </a:rPr>
              <a:t>group who performed the </a:t>
            </a:r>
            <a:br>
              <a:rPr lang="en-US" sz="2000" dirty="0">
                <a:latin typeface="Verdana"/>
                <a:ea typeface="Times New Roman"/>
                <a:cs typeface="Cambria"/>
              </a:rPr>
            </a:br>
            <a:r>
              <a:rPr lang="en-US" sz="2000" dirty="0">
                <a:latin typeface="Verdana"/>
                <a:ea typeface="Times New Roman"/>
                <a:cs typeface="Cambria"/>
              </a:rPr>
              <a:t>same simple experiment </a:t>
            </a:r>
            <a:br>
              <a:rPr lang="en-US" sz="2000" dirty="0">
                <a:latin typeface="Verdana"/>
                <a:ea typeface="Times New Roman"/>
                <a:cs typeface="Cambria"/>
              </a:rPr>
            </a:br>
            <a:r>
              <a:rPr lang="en-US" sz="2000" dirty="0">
                <a:latin typeface="Verdana"/>
                <a:ea typeface="Times New Roman"/>
                <a:cs typeface="Cambria"/>
              </a:rPr>
              <a:t>in the previous activity </a:t>
            </a:r>
            <a:br>
              <a:rPr lang="en-US" sz="2000" dirty="0">
                <a:latin typeface="Verdana"/>
                <a:ea typeface="Times New Roman"/>
                <a:cs typeface="Cambria"/>
              </a:rPr>
            </a:br>
            <a:r>
              <a:rPr lang="en-US" sz="2000" dirty="0">
                <a:latin typeface="Verdana"/>
                <a:ea typeface="Times New Roman"/>
                <a:cs typeface="Cambria"/>
              </a:rPr>
              <a:t>is shown.</a:t>
            </a:r>
          </a:p>
          <a:p>
            <a:endParaRPr lang="en-PH" sz="2000" dirty="0">
              <a:latin typeface="Verdana"/>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a:ea typeface="Times New Roman"/>
                <a:cs typeface="Cambria"/>
              </a:rPr>
              <a:t>What does the green </a:t>
            </a:r>
            <a:br>
              <a:rPr lang="en-US" sz="2000" dirty="0">
                <a:latin typeface="Verdana"/>
                <a:ea typeface="Times New Roman"/>
                <a:cs typeface="Cambria"/>
              </a:rPr>
            </a:br>
            <a:r>
              <a:rPr lang="en-US" sz="2000" dirty="0">
                <a:latin typeface="Verdana"/>
                <a:ea typeface="Times New Roman"/>
                <a:cs typeface="Cambria"/>
              </a:rPr>
              <a:t>dotted line represent </a:t>
            </a:r>
            <a:br>
              <a:rPr lang="en-US" sz="2000" dirty="0">
                <a:latin typeface="Verdana"/>
                <a:ea typeface="Times New Roman"/>
                <a:cs typeface="Cambria"/>
              </a:rPr>
            </a:br>
            <a:r>
              <a:rPr lang="en-US" sz="2000" dirty="0">
                <a:latin typeface="Verdana"/>
                <a:ea typeface="Times New Roman"/>
                <a:cs typeface="Cambria"/>
              </a:rPr>
              <a:t>on the graph?</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78;g104476d1465_1_17">
            <a:extLst>
              <a:ext uri="{FF2B5EF4-FFF2-40B4-BE49-F238E27FC236}">
                <a16:creationId xmlns:a16="http://schemas.microsoft.com/office/drawing/2014/main" id="{320606D7-FA1D-5D44-AD19-A87F7EA7DDF3}"/>
              </a:ext>
            </a:extLst>
          </p:cNvPr>
          <p:cNvSpPr/>
          <p:nvPr/>
        </p:nvSpPr>
        <p:spPr>
          <a:xfrm>
            <a:off x="2277"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2" descr="Icon&#10;&#10;Description automatically generated">
            <a:extLst>
              <a:ext uri="{FF2B5EF4-FFF2-40B4-BE49-F238E27FC236}">
                <a16:creationId xmlns:a16="http://schemas.microsoft.com/office/drawing/2014/main" id="{108F4C35-3A24-A244-BB28-81EF2D36CAC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50"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593080" y="1386026"/>
            <a:ext cx="4794504" cy="3640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70</a:t>
            </a:r>
            <a:endParaRPr i="1" dirty="0">
              <a:latin typeface="Calibri"/>
              <a:ea typeface="Calibri"/>
              <a:cs typeface="Calibri"/>
              <a:sym typeface="Calibri"/>
            </a:endParaRPr>
          </a:p>
        </p:txBody>
      </p:sp>
    </p:spTree>
    <p:extLst>
      <p:ext uri="{BB962C8B-B14F-4D97-AF65-F5344CB8AC3E}">
        <p14:creationId xmlns:p14="http://schemas.microsoft.com/office/powerpoint/2010/main" val="3399856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A08C1C0E-C7C0-F14B-88E2-57B6133AD69D}"/>
              </a:ext>
            </a:extLst>
          </p:cNvPr>
          <p:cNvSpPr txBox="1"/>
          <p:nvPr/>
        </p:nvSpPr>
        <p:spPr>
          <a:xfrm>
            <a:off x="443600" y="485202"/>
            <a:ext cx="11748399" cy="1169551"/>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Cambria"/>
              </a:rPr>
              <a:t>Consider the data from all of the groups performing the experiment.</a:t>
            </a:r>
          </a:p>
          <a:p>
            <a:pPr marL="914400" indent="-457200">
              <a:spcBef>
                <a:spcPts val="1200"/>
              </a:spcBef>
              <a:buFont typeface="+mj-lt"/>
              <a:buAutoNum type="alphaLcPeriod"/>
            </a:pPr>
            <a:r>
              <a:rPr lang="en-US" sz="2000" dirty="0">
                <a:latin typeface="Verdana"/>
                <a:ea typeface="Times New Roman"/>
                <a:cs typeface="Cambria"/>
              </a:rPr>
              <a:t>Complete the table below with your class by adding the overall data from each group. The first row has already been completed using the sample data above.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9E4C3D56-1DA8-9443-9950-361D67B05B62}"/>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555730016"/>
                  </p:ext>
                </p:extLst>
              </p:nvPr>
            </p:nvGraphicFramePr>
            <p:xfrm>
              <a:off x="2843079" y="2056514"/>
              <a:ext cx="6949440" cy="3997389"/>
            </p:xfrm>
            <a:graphic>
              <a:graphicData uri="http://schemas.openxmlformats.org/drawingml/2006/table">
                <a:tbl>
                  <a:tblPr firstRow="1" bandRow="1">
                    <a:tableStyleId>{A91F0D33-8C57-4600-99A7-42BC86742BE1}</a:tableStyleId>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70840">
                    <a:tc>
                      <a:txBody>
                        <a:bodyPr/>
                        <a:lstStyle/>
                        <a:p>
                          <a:pPr algn="ctr"/>
                          <a:r>
                            <a:rPr lang="en-PH" sz="2000" b="1" dirty="0">
                              <a:latin typeface="Verdana" pitchFamily="34" charset="0"/>
                              <a:ea typeface="Verdana" pitchFamily="34" charset="0"/>
                            </a:rPr>
                            <a:t>Group</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Total</a:t>
                          </a:r>
                          <a:r>
                            <a:rPr lang="en-PH" sz="2000" b="1" baseline="0" dirty="0">
                              <a:latin typeface="Verdana" pitchFamily="34" charset="0"/>
                              <a:ea typeface="Verdana" pitchFamily="34" charset="0"/>
                            </a:rPr>
                            <a:t> Number of Wins for Samaria</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Cambria"/>
                            </a:rPr>
                            <a:t>Fraction of </a:t>
                          </a:r>
                          <a:br>
                            <a:rPr lang="en-US" sz="2000" b="1" dirty="0">
                              <a:effectLst/>
                              <a:latin typeface="Verdana"/>
                              <a:ea typeface="Times New Roman"/>
                              <a:cs typeface="Cambria"/>
                            </a:rPr>
                          </a:br>
                          <a:r>
                            <a:rPr lang="en-US" sz="2000" b="1" dirty="0">
                              <a:effectLst/>
                              <a:latin typeface="Verdana"/>
                              <a:ea typeface="Times New Roman"/>
                              <a:cs typeface="Cambria"/>
                            </a:rPr>
                            <a:t>Games Played </a:t>
                          </a:r>
                          <a:br>
                            <a:rPr lang="en-US" sz="2000" b="1" dirty="0">
                              <a:effectLst/>
                              <a:latin typeface="Verdana"/>
                              <a:ea typeface="Times New Roman"/>
                              <a:cs typeface="Cambria"/>
                            </a:rPr>
                          </a:br>
                          <a:r>
                            <a:rPr lang="en-US" sz="2000" b="1" dirty="0">
                              <a:effectLst/>
                              <a:latin typeface="Verdana"/>
                              <a:ea typeface="Times New Roman"/>
                              <a:cs typeface="Cambria"/>
                            </a:rPr>
                            <a:t>that are Wins</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a:r>
                            <a:rPr lang="en-PH" sz="2000" b="0" dirty="0">
                              <a:latin typeface="Verdana" pitchFamily="34" charset="0"/>
                              <a:ea typeface="Verdana" pitchFamily="34" charset="0"/>
                            </a:rPr>
                            <a:t>Sample Data</a:t>
                          </a:r>
                          <a:endParaRPr lang="en-US" sz="2000" b="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7</m:t>
                                </m:r>
                              </m:oMath>
                            </m:oMathPara>
                          </a14:m>
                          <a:endParaRPr lang="en-US" sz="2000" b="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14:m>
                            <m:oMath xmlns:m="http://schemas.openxmlformats.org/officeDocument/2006/math">
                              <m:f>
                                <m:fPr>
                                  <m:ctrlPr>
                                    <a:rPr lang="en-US" sz="2000" b="0" i="1" smtClean="0">
                                      <a:latin typeface="Cambria Math" panose="02040503050406030204" pitchFamily="18" charset="0"/>
                                      <a:ea typeface="Verdana" pitchFamily="34" charset="0"/>
                                    </a:rPr>
                                  </m:ctrlPr>
                                </m:fPr>
                                <m:num>
                                  <m:r>
                                    <a:rPr lang="en-PH" sz="2000" b="0" i="1" smtClean="0">
                                      <a:latin typeface="Cambria Math"/>
                                      <a:ea typeface="Verdana" pitchFamily="34" charset="0"/>
                                    </a:rPr>
                                    <m:t>7</m:t>
                                  </m:r>
                                </m:num>
                                <m:den>
                                  <m:r>
                                    <a:rPr lang="en-PH" sz="2000" b="0" i="1" smtClean="0">
                                      <a:latin typeface="Cambria Math"/>
                                      <a:ea typeface="Verdana" pitchFamily="34" charset="0"/>
                                    </a:rPr>
                                    <m:t>20</m:t>
                                  </m:r>
                                </m:den>
                              </m:f>
                              <m:r>
                                <a:rPr lang="en-PH" sz="2000" b="0" i="1" smtClean="0">
                                  <a:latin typeface="Cambria Math"/>
                                  <a:ea typeface="Verdana" pitchFamily="34" charset="0"/>
                                </a:rPr>
                                <m:t>=0.35</m:t>
                              </m:r>
                            </m:oMath>
                          </a14:m>
                          <a:r>
                            <a:rPr lang="en-US" sz="2000" b="0" dirty="0">
                              <a:latin typeface="Verdana" pitchFamily="34" charset="0"/>
                              <a:ea typeface="Verdana"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555730016"/>
                  </p:ext>
                </p:extLst>
              </p:nvPr>
            </p:nvGraphicFramePr>
            <p:xfrm>
              <a:off x="2843079" y="2056514"/>
              <a:ext cx="6949440" cy="3997389"/>
            </p:xfrm>
            <a:graphic>
              <a:graphicData uri="http://schemas.openxmlformats.org/drawingml/2006/table">
                <a:tbl>
                  <a:tblPr firstRow="1" bandRow="1">
                    <a:tableStyleId>{A91F0D33-8C57-4600-99A7-42BC86742BE1}</a:tableStyleId>
                  </a:tblPr>
                  <a:tblGrid>
                    <a:gridCol w="1828800">
                      <a:extLst>
                        <a:ext uri="{9D8B030D-6E8A-4147-A177-3AD203B41FA5}">
                          <a16:colId xmlns="" xmlns:a16="http://schemas.microsoft.com/office/drawing/2014/main" xmlns:a14="http://schemas.microsoft.com/office/drawing/2010/main" val="20000"/>
                        </a:ext>
                      </a:extLst>
                    </a:gridCol>
                    <a:gridCol w="2194560">
                      <a:extLst>
                        <a:ext uri="{9D8B030D-6E8A-4147-A177-3AD203B41FA5}">
                          <a16:colId xmlns="" xmlns:a16="http://schemas.microsoft.com/office/drawing/2014/main" xmlns:a14="http://schemas.microsoft.com/office/drawing/2010/main" val="20001"/>
                        </a:ext>
                      </a:extLst>
                    </a:gridCol>
                    <a:gridCol w="2926080">
                      <a:extLst>
                        <a:ext uri="{9D8B030D-6E8A-4147-A177-3AD203B41FA5}">
                          <a16:colId xmlns="" xmlns:a16="http://schemas.microsoft.com/office/drawing/2014/main" xmlns:a14="http://schemas.microsoft.com/office/drawing/2010/main" val="20002"/>
                        </a:ext>
                      </a:extLst>
                    </a:gridCol>
                  </a:tblGrid>
                  <a:tr h="1097280">
                    <a:tc>
                      <a:txBody>
                        <a:bodyPr/>
                        <a:lstStyle/>
                        <a:p>
                          <a:pPr algn="ctr"/>
                          <a:r>
                            <a:rPr lang="en-PH" sz="2000" b="1" dirty="0">
                              <a:latin typeface="Verdana" pitchFamily="34" charset="0"/>
                              <a:ea typeface="Verdana" pitchFamily="34" charset="0"/>
                            </a:rPr>
                            <a:t>Group</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Total</a:t>
                          </a:r>
                          <a:r>
                            <a:rPr lang="en-PH" sz="2000" b="1" baseline="0" dirty="0">
                              <a:latin typeface="Verdana" pitchFamily="34" charset="0"/>
                              <a:ea typeface="Verdana" pitchFamily="34" charset="0"/>
                            </a:rPr>
                            <a:t> Number of Wins for Samaria</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Cambria"/>
                            </a:rPr>
                            <a:t>Fraction of </a:t>
                          </a:r>
                          <a:br>
                            <a:rPr lang="en-US" sz="2000" b="1" dirty="0">
                              <a:effectLst/>
                              <a:latin typeface="Verdana"/>
                              <a:ea typeface="Times New Roman"/>
                              <a:cs typeface="Cambria"/>
                            </a:rPr>
                          </a:br>
                          <a:r>
                            <a:rPr lang="en-US" sz="2000" b="1" dirty="0">
                              <a:effectLst/>
                              <a:latin typeface="Verdana"/>
                              <a:ea typeface="Times New Roman"/>
                              <a:cs typeface="Cambria"/>
                            </a:rPr>
                            <a:t>Games Played </a:t>
                          </a:r>
                          <a:br>
                            <a:rPr lang="en-US" sz="2000" b="1" dirty="0">
                              <a:effectLst/>
                              <a:latin typeface="Verdana"/>
                              <a:ea typeface="Times New Roman"/>
                              <a:cs typeface="Cambria"/>
                            </a:rPr>
                          </a:br>
                          <a:r>
                            <a:rPr lang="en-US" sz="2000" b="1" dirty="0">
                              <a:effectLst/>
                              <a:latin typeface="Verdana"/>
                              <a:ea typeface="Times New Roman"/>
                              <a:cs typeface="Cambria"/>
                            </a:rPr>
                            <a:t>that are Wins</a:t>
                          </a:r>
                          <a:endParaRPr lang="en-US" sz="20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xmlns:a14="http://schemas.microsoft.com/office/drawing/2010/main" val="10000"/>
                      </a:ext>
                    </a:extLst>
                  </a:tr>
                  <a:tr h="522669">
                    <a:tc>
                      <a:txBody>
                        <a:bodyPr/>
                        <a:lstStyle/>
                        <a:p>
                          <a:pPr algn="ctr"/>
                          <a:r>
                            <a:rPr lang="en-PH" sz="2000" b="0" dirty="0">
                              <a:latin typeface="Verdana" pitchFamily="34" charset="0"/>
                              <a:ea typeface="Verdana" pitchFamily="34" charset="0"/>
                            </a:rPr>
                            <a:t>Sample Data</a:t>
                          </a:r>
                          <a:endParaRPr lang="en-US" sz="2000" b="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83333" t="-209302" r="-133611" b="-45465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37500" t="-209302" r="-208" b="-454651"/>
                          </a:stretch>
                        </a:blipFill>
                      </a:tcPr>
                    </a:tc>
                    <a:extLst>
                      <a:ext uri="{0D108BD9-81ED-4DB2-BD59-A6C34878D82A}">
                        <a16:rowId xmlns="" xmlns:a16="http://schemas.microsoft.com/office/drawing/2014/main" xmlns:a14="http://schemas.microsoft.com/office/drawing/2010/main" val="10001"/>
                      </a:ext>
                    </a:extLst>
                  </a:tr>
                  <a:tr h="396240">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2"/>
                      </a:ext>
                    </a:extLst>
                  </a:tr>
                  <a:tr h="396240">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3"/>
                      </a:ext>
                    </a:extLst>
                  </a:tr>
                  <a:tr h="396240">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4"/>
                      </a:ext>
                    </a:extLst>
                  </a:tr>
                  <a:tr h="396240">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5"/>
                      </a:ext>
                    </a:extLst>
                  </a:tr>
                  <a:tr h="396240">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6"/>
                      </a:ext>
                    </a:extLst>
                  </a:tr>
                  <a:tr h="396240">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7"/>
                      </a:ext>
                    </a:extLst>
                  </a:tr>
                </a:tbl>
              </a:graphicData>
            </a:graphic>
          </p:graphicFrame>
        </mc:Fallback>
      </mc:AlternateContent>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70</a:t>
            </a:r>
            <a:endParaRPr i="1" dirty="0">
              <a:latin typeface="Calibri"/>
              <a:ea typeface="Calibri"/>
              <a:cs typeface="Calibri"/>
              <a:sym typeface="Calibri"/>
            </a:endParaRPr>
          </a:p>
        </p:txBody>
      </p:sp>
    </p:spTree>
    <p:extLst>
      <p:ext uri="{BB962C8B-B14F-4D97-AF65-F5344CB8AC3E}">
        <p14:creationId xmlns:p14="http://schemas.microsoft.com/office/powerpoint/2010/main" val="772273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A08C1C0E-C7C0-F14B-88E2-57B6133AD69D}"/>
              </a:ext>
            </a:extLst>
          </p:cNvPr>
          <p:cNvSpPr txBox="1"/>
          <p:nvPr/>
        </p:nvSpPr>
        <p:spPr>
          <a:xfrm>
            <a:off x="642892" y="458956"/>
            <a:ext cx="11045015" cy="5016758"/>
          </a:xfrm>
          <a:prstGeom prst="rect">
            <a:avLst/>
          </a:prstGeom>
          <a:noFill/>
        </p:spPr>
        <p:txBody>
          <a:bodyPr wrap="square" rtlCol="0">
            <a:spAutoFit/>
          </a:bodyPr>
          <a:lstStyle/>
          <a:p>
            <a:pPr marL="914400" indent="-457200">
              <a:spcBef>
                <a:spcPts val="1200"/>
              </a:spcBef>
              <a:buFont typeface="+mj-lt"/>
              <a:buAutoNum type="alphaLcPeriod" startAt="2"/>
            </a:pPr>
            <a:r>
              <a:rPr lang="en-US" sz="2000" dirty="0">
                <a:latin typeface="Verdana"/>
                <a:ea typeface="Times New Roman"/>
                <a:cs typeface="Cambria"/>
              </a:rPr>
              <a:t>Write the fraction that represents the total number of wins out of the total number of games played by all groups.</a:t>
            </a:r>
          </a:p>
          <a:p>
            <a:pPr marL="914400" indent="-457200">
              <a:spcBef>
                <a:spcPts val="1200"/>
              </a:spcBef>
              <a:buFont typeface="+mj-lt"/>
              <a:buAutoNum type="alphaLcPeriod" startAt="2"/>
            </a:pPr>
            <a:endParaRPr lang="en-PH" sz="2000" dirty="0">
              <a:latin typeface="Verdana"/>
              <a:ea typeface="Times New Roman"/>
              <a:cs typeface="Cambria"/>
            </a:endParaRPr>
          </a:p>
          <a:p>
            <a:pPr marL="914400" indent="-457200">
              <a:spcBef>
                <a:spcPts val="1200"/>
              </a:spcBef>
              <a:buFont typeface="+mj-lt"/>
              <a:buAutoNum type="alphaLcPeriod" startAt="2"/>
            </a:pPr>
            <a:endParaRPr lang="en-PH" sz="2000" dirty="0">
              <a:latin typeface="Verdana"/>
              <a:ea typeface="Times New Roman"/>
              <a:cs typeface="Cambria"/>
            </a:endParaRPr>
          </a:p>
          <a:p>
            <a:pPr marL="914400" indent="-457200">
              <a:spcBef>
                <a:spcPts val="1200"/>
              </a:spcBef>
              <a:buFont typeface="+mj-lt"/>
              <a:buAutoNum type="alphaLcPeriod" startAt="2"/>
            </a:pPr>
            <a:endParaRPr lang="en-US" sz="2000" dirty="0">
              <a:latin typeface="Verdana"/>
              <a:ea typeface="Times New Roman"/>
              <a:cs typeface="Cambria"/>
            </a:endParaRPr>
          </a:p>
          <a:p>
            <a:pPr marL="914400" indent="-457200">
              <a:spcBef>
                <a:spcPts val="1200"/>
              </a:spcBef>
              <a:buFont typeface="+mj-lt"/>
              <a:buAutoNum type="alphaLcPeriod" startAt="2"/>
            </a:pPr>
            <a:r>
              <a:rPr lang="en-US" sz="2000" dirty="0">
                <a:latin typeface="Verdana"/>
                <a:ea typeface="Times New Roman"/>
                <a:cs typeface="Cambria"/>
              </a:rPr>
              <a:t>How close is this fraction to the probability that Samaria will win?</a:t>
            </a:r>
          </a:p>
          <a:p>
            <a:pPr marL="914400" indent="-457200">
              <a:spcBef>
                <a:spcPts val="1200"/>
              </a:spcBef>
              <a:buFont typeface="+mj-lt"/>
              <a:buAutoNum type="alphaLcPeriod" startAt="2"/>
            </a:pPr>
            <a:endParaRPr lang="en-PH" sz="2000" dirty="0">
              <a:latin typeface="Verdana"/>
              <a:ea typeface="Verdana" panose="020B0604030504040204" pitchFamily="34" charset="0"/>
              <a:cs typeface="Verdana" panose="020B0604030504040204" pitchFamily="34" charset="0"/>
            </a:endParaRPr>
          </a:p>
          <a:p>
            <a:pPr marL="914400" indent="-457200">
              <a:spcBef>
                <a:spcPts val="1200"/>
              </a:spcBef>
              <a:buFont typeface="+mj-lt"/>
              <a:buAutoNum type="alphaLcPeriod" startAt="2"/>
            </a:pPr>
            <a:endParaRPr lang="en-PH" sz="2000" dirty="0">
              <a:latin typeface="Verdana"/>
              <a:ea typeface="Verdana" panose="020B0604030504040204" pitchFamily="34" charset="0"/>
              <a:cs typeface="Verdana" panose="020B0604030504040204" pitchFamily="34" charset="0"/>
            </a:endParaRPr>
          </a:p>
          <a:p>
            <a:pPr marL="914400" indent="-457200">
              <a:spcBef>
                <a:spcPts val="1200"/>
              </a:spcBef>
              <a:buFont typeface="+mj-lt"/>
              <a:buAutoNum type="alphaLcPeriod" startAt="2"/>
            </a:pPr>
            <a:endParaRPr lang="en-PH" sz="2000" dirty="0">
              <a:latin typeface="Verdana"/>
              <a:ea typeface="Verdana" panose="020B0604030504040204" pitchFamily="34" charset="0"/>
              <a:cs typeface="Verdana" panose="020B0604030504040204" pitchFamily="34" charset="0"/>
            </a:endParaRPr>
          </a:p>
          <a:p>
            <a:pPr>
              <a:spcBef>
                <a:spcPts val="1200"/>
              </a:spcBef>
            </a:pPr>
            <a:r>
              <a:rPr lang="en-US" sz="2000" dirty="0">
                <a:latin typeface="Verdana"/>
                <a:ea typeface="Times New Roman"/>
                <a:cs typeface="Cambria"/>
              </a:rPr>
              <a:t>The probability for an event represents the proportion of the time it is expected for the event to occur in the long run, over many trials. It does not mean that is exactly how many times the event will actually occur.</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9E4C3D56-1DA8-9443-9950-361D67B05B62}"/>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70</a:t>
            </a:r>
            <a:endParaRPr i="1" dirty="0">
              <a:latin typeface="Calibri"/>
              <a:ea typeface="Calibri"/>
              <a:cs typeface="Calibri"/>
              <a:sym typeface="Calibri"/>
            </a:endParaRPr>
          </a:p>
        </p:txBody>
      </p:sp>
    </p:spTree>
    <p:extLst>
      <p:ext uri="{BB962C8B-B14F-4D97-AF65-F5344CB8AC3E}">
        <p14:creationId xmlns:p14="http://schemas.microsoft.com/office/powerpoint/2010/main" val="71079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71</a:t>
            </a:r>
            <a:endParaRPr i="1" dirty="0">
              <a:latin typeface="Calibri"/>
              <a:ea typeface="Calibri"/>
              <a:cs typeface="Calibri"/>
              <a:sym typeface="Calibri"/>
            </a:endParaRPr>
          </a:p>
        </p:txBody>
      </p:sp>
      <p:sp>
        <p:nvSpPr>
          <p:cNvPr id="8"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0"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2" y="140873"/>
            <a:ext cx="10954668" cy="8678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2.7.4 Guided Instruction: Experimental and Theoretical Probability</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730266" y="1132012"/>
            <a:ext cx="11086596" cy="400110"/>
          </a:xfrm>
          <a:prstGeom prst="rect">
            <a:avLst/>
          </a:prstGeom>
          <a:noFill/>
        </p:spPr>
        <p:txBody>
          <a:bodyPr wrap="square" rtlCol="0">
            <a:spAutoFit/>
          </a:bodyPr>
          <a:lstStyle/>
          <a:p>
            <a:r>
              <a:rPr lang="en-US" sz="2000" dirty="0">
                <a:latin typeface="Verdana"/>
                <a:ea typeface="Times New Roman"/>
                <a:cs typeface="Cambria"/>
              </a:rPr>
              <a:t>Consider the terms defined below and how they relate to the previous Exploration.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a16="http://schemas.microsoft.com/office/drawing/2014/main" id="{2260A17C-F127-D647-A05B-7BB351158843}"/>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8" name="Group 7"/>
          <p:cNvGrpSpPr/>
          <p:nvPr/>
        </p:nvGrpSpPr>
        <p:grpSpPr>
          <a:xfrm>
            <a:off x="2178630" y="1897981"/>
            <a:ext cx="7770120" cy="2678725"/>
            <a:chOff x="1966439" y="2844136"/>
            <a:chExt cx="7770120" cy="2678725"/>
          </a:xfrm>
        </p:grpSpPr>
        <p:sp>
          <p:nvSpPr>
            <p:cNvPr id="11" name="Rectangle 10"/>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Cambria"/>
                </a:rPr>
                <a:t> </a:t>
              </a:r>
            </a:p>
          </p:txBody>
        </p:sp>
        <p:grpSp>
          <p:nvGrpSpPr>
            <p:cNvPr id="14" name="Group 13"/>
            <p:cNvGrpSpPr/>
            <p:nvPr/>
          </p:nvGrpSpPr>
          <p:grpSpPr>
            <a:xfrm>
              <a:off x="1966439" y="2844136"/>
              <a:ext cx="7770120" cy="2678725"/>
              <a:chOff x="-64861" y="-529464"/>
              <a:chExt cx="7770120" cy="2678725"/>
            </a:xfrm>
          </p:grpSpPr>
          <p:sp>
            <p:nvSpPr>
              <p:cNvPr id="15" name="Rectangle 14"/>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Cambria"/>
                  </a:rPr>
                  <a:t> </a:t>
                </a:r>
              </a:p>
            </p:txBody>
          </p:sp>
          <mc:AlternateContent xmlns:mc="http://schemas.openxmlformats.org/markup-compatibility/2006" xmlns:a14="http://schemas.microsoft.com/office/drawing/2010/main">
            <mc:Choice Requires="a14">
              <p:sp>
                <p:nvSpPr>
                  <p:cNvPr id="16" name="Rounded Rectangle 15"/>
                  <p:cNvSpPr/>
                  <p:nvPr/>
                </p:nvSpPr>
                <p:spPr>
                  <a:xfrm>
                    <a:off x="-64861" y="-529464"/>
                    <a:ext cx="7770120" cy="267872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108000" rIns="91425" bIns="0" anchor="ctr" anchorCtr="0">
                    <a:spAutoFit/>
                  </a:bodyPr>
                  <a:lstStyle/>
                  <a:p>
                    <a:pPr marL="685800">
                      <a:spcAft>
                        <a:spcPts val="1000"/>
                      </a:spcAft>
                    </a:pPr>
                    <a:r>
                      <a:rPr lang="en-US" sz="2000" dirty="0">
                        <a:solidFill>
                          <a:srgbClr val="6C993D"/>
                        </a:solidFill>
                        <a:latin typeface="Verdana"/>
                        <a:ea typeface="Verdana"/>
                        <a:cs typeface="Verdana"/>
                      </a:rPr>
                      <a:t>A </a:t>
                    </a:r>
                    <a:r>
                      <a:rPr lang="en-US" sz="2000" b="1" i="1" dirty="0">
                        <a:solidFill>
                          <a:srgbClr val="6C993D"/>
                        </a:solidFill>
                        <a:latin typeface="Verdana"/>
                        <a:ea typeface="Verdana"/>
                        <a:cs typeface="Verdana"/>
                      </a:rPr>
                      <a:t>theoretical probability</a:t>
                    </a:r>
                    <a:r>
                      <a:rPr lang="en-US" sz="2000" dirty="0">
                        <a:solidFill>
                          <a:srgbClr val="6C993D"/>
                        </a:solidFill>
                        <a:latin typeface="Verdana"/>
                        <a:ea typeface="Verdana"/>
                        <a:cs typeface="Verdana"/>
                      </a:rPr>
                      <a:t> is a number between </a:t>
                    </a:r>
                    <a14:m>
                      <m:oMath xmlns:m="http://schemas.openxmlformats.org/officeDocument/2006/math">
                        <m:r>
                          <a:rPr lang="en-US" sz="2000" i="1">
                            <a:solidFill>
                              <a:srgbClr val="6C993D"/>
                            </a:solidFill>
                            <a:latin typeface="Cambria Math"/>
                            <a:ea typeface="Verdana"/>
                            <a:cs typeface="Verdana"/>
                          </a:rPr>
                          <m:t>0</m:t>
                        </m:r>
                      </m:oMath>
                    </a14:m>
                    <a:r>
                      <a:rPr lang="en-US" sz="2000" dirty="0">
                        <a:solidFill>
                          <a:srgbClr val="6C993D"/>
                        </a:solidFill>
                        <a:latin typeface="Verdana"/>
                        <a:ea typeface="Verdana"/>
                        <a:cs typeface="Verdana"/>
                      </a:rPr>
                      <a:t> and </a:t>
                    </a:r>
                    <a14:m>
                      <m:oMath xmlns:m="http://schemas.openxmlformats.org/officeDocument/2006/math">
                        <m:r>
                          <a:rPr lang="en-US" sz="2000" i="1">
                            <a:solidFill>
                              <a:srgbClr val="6C993D"/>
                            </a:solidFill>
                            <a:latin typeface="Cambria Math"/>
                            <a:ea typeface="Verdana"/>
                            <a:cs typeface="Verdana"/>
                          </a:rPr>
                          <m:t>1</m:t>
                        </m:r>
                      </m:oMath>
                    </a14:m>
                    <a:r>
                      <a:rPr lang="en-US" sz="2000" dirty="0">
                        <a:solidFill>
                          <a:srgbClr val="6C993D"/>
                        </a:solidFill>
                        <a:latin typeface="Verdana"/>
                        <a:ea typeface="Verdana"/>
                        <a:cs typeface="Verdana"/>
                      </a:rPr>
                      <a:t> that represents the likelihood of an event in a theoretical model based on a sample space. If all outcomes in the sample space are equally likely, then the theoretical probability of an event is the ratio of the number of outcomes in the event to the number of outcomes in the sample space.</a:t>
                    </a:r>
                    <a:endParaRPr lang="en-US" dirty="0">
                      <a:latin typeface="Cambria"/>
                      <a:ea typeface="Times New Roman"/>
                      <a:cs typeface="Cambria"/>
                    </a:endParaRPr>
                  </a:p>
                </p:txBody>
              </p:sp>
            </mc:Choice>
            <mc:Fallback xmlns="">
              <p:sp>
                <p:nvSpPr>
                  <p:cNvPr id="16" name="Rounded Rectangle 15"/>
                  <p:cNvSpPr>
                    <a:spLocks noRot="1" noChangeAspect="1" noMove="1" noResize="1" noEditPoints="1" noAdjustHandles="1" noChangeArrowheads="1" noChangeShapeType="1" noTextEdit="1"/>
                  </p:cNvSpPr>
                  <p:nvPr/>
                </p:nvSpPr>
                <p:spPr>
                  <a:xfrm>
                    <a:off x="-64861" y="-529464"/>
                    <a:ext cx="7770120" cy="2678725"/>
                  </a:xfrm>
                  <a:prstGeom prst="roundRect">
                    <a:avLst>
                      <a:gd name="adj" fmla="val 16667"/>
                    </a:avLst>
                  </a:prstGeom>
                  <a:blipFill rotWithShape="1">
                    <a:blip r:embed="rId5"/>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pic>
            <p:nvPicPr>
              <p:cNvPr id="17" name="Shape 7" descr="Icon&#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74839" y="-269875"/>
                <a:ext cx="539750" cy="539750"/>
              </a:xfrm>
              <a:prstGeom prst="rect">
                <a:avLst/>
              </a:prstGeom>
              <a:noFill/>
              <a:ln>
                <a:noFill/>
              </a:ln>
              <a:effectLst>
                <a:outerShdw blurRad="50800" dist="38100" dir="2700000" algn="tl" rotWithShape="0">
                  <a:prstClr val="black">
                    <a:alpha val="40000"/>
                  </a:prstClr>
                </a:outerShdw>
              </a:effectLst>
            </p:spPr>
          </p:pic>
        </p:grpSp>
      </p:grpSp>
      <p:sp>
        <p:nvSpPr>
          <p:cNvPr id="2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71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8" name="Rounded Rectangle 17"/>
              <p:cNvSpPr/>
              <p:nvPr/>
            </p:nvSpPr>
            <p:spPr>
              <a:xfrm>
                <a:off x="2178630" y="4760250"/>
                <a:ext cx="7770120" cy="165716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91440" rIns="91425" bIns="45700" anchor="ctr" anchorCtr="0">
                <a:spAutoFit/>
              </a:bodyPr>
              <a:lstStyle/>
              <a:p>
                <a:pPr marL="685800">
                  <a:spcAft>
                    <a:spcPts val="1000"/>
                  </a:spcAft>
                </a:pPr>
                <a:r>
                  <a:rPr lang="en-US" sz="2000" dirty="0">
                    <a:solidFill>
                      <a:srgbClr val="6C993D"/>
                    </a:solidFill>
                    <a:latin typeface="Verdana" pitchFamily="34" charset="0"/>
                    <a:ea typeface="Verdana" pitchFamily="34" charset="0"/>
                    <a:cs typeface="Verdana"/>
                  </a:rPr>
                  <a:t>An </a:t>
                </a:r>
                <a:r>
                  <a:rPr lang="en-US" sz="2000" b="1" i="1" dirty="0">
                    <a:solidFill>
                      <a:srgbClr val="6C993D"/>
                    </a:solidFill>
                    <a:latin typeface="Verdana" pitchFamily="34" charset="0"/>
                    <a:ea typeface="Verdana" pitchFamily="34" charset="0"/>
                    <a:cs typeface="Verdana"/>
                  </a:rPr>
                  <a:t>experimental probability</a:t>
                </a:r>
                <a:r>
                  <a:rPr lang="en-US" sz="2000" dirty="0">
                    <a:solidFill>
                      <a:srgbClr val="6C993D"/>
                    </a:solidFill>
                    <a:latin typeface="Verdana" pitchFamily="34" charset="0"/>
                    <a:ea typeface="Verdana" pitchFamily="34" charset="0"/>
                    <a:cs typeface="Verdana"/>
                  </a:rPr>
                  <a:t> is a number between </a:t>
                </a:r>
                <a14:m>
                  <m:oMath xmlns:m="http://schemas.openxmlformats.org/officeDocument/2006/math">
                    <m:r>
                      <a:rPr lang="en-US" sz="2000" i="1">
                        <a:solidFill>
                          <a:srgbClr val="6C993D"/>
                        </a:solidFill>
                        <a:latin typeface="Cambria Math"/>
                        <a:ea typeface="Verdana"/>
                        <a:cs typeface="Verdana"/>
                      </a:rPr>
                      <m:t>0</m:t>
                    </m:r>
                  </m:oMath>
                </a14:m>
                <a:r>
                  <a:rPr lang="en-US" sz="2000" dirty="0">
                    <a:solidFill>
                      <a:srgbClr val="6C993D"/>
                    </a:solidFill>
                    <a:latin typeface="Verdana" pitchFamily="34" charset="0"/>
                    <a:ea typeface="Verdana" pitchFamily="34" charset="0"/>
                    <a:cs typeface="Verdana"/>
                  </a:rPr>
                  <a:t> and </a:t>
                </a:r>
                <a14:m>
                  <m:oMath xmlns:m="http://schemas.openxmlformats.org/officeDocument/2006/math">
                    <m:r>
                      <a:rPr lang="en-US" sz="2000" i="1">
                        <a:solidFill>
                          <a:srgbClr val="6C993D"/>
                        </a:solidFill>
                        <a:latin typeface="Cambria Math"/>
                        <a:ea typeface="Verdana"/>
                        <a:cs typeface="Verdana"/>
                      </a:rPr>
                      <m:t>1</m:t>
                    </m:r>
                  </m:oMath>
                </a14:m>
                <a:r>
                  <a:rPr lang="en-US" sz="2000" dirty="0">
                    <a:solidFill>
                      <a:srgbClr val="6C993D"/>
                    </a:solidFill>
                    <a:latin typeface="Verdana" pitchFamily="34" charset="0"/>
                    <a:ea typeface="Verdana" pitchFamily="34" charset="0"/>
                    <a:cs typeface="Verdana"/>
                  </a:rPr>
                  <a:t> that shows the ratio of the number of times an event occurs to the total number of trials or times the activity is performed.</a:t>
                </a:r>
                <a:endParaRPr lang="en-US" dirty="0">
                  <a:latin typeface="Verdana" pitchFamily="34" charset="0"/>
                  <a:ea typeface="Verdana" pitchFamily="34" charset="0"/>
                  <a:cs typeface="Cambria"/>
                </a:endParaRPr>
              </a:p>
            </p:txBody>
          </p:sp>
        </mc:Choice>
        <mc:Fallback xmlns="">
          <p:sp>
            <p:nvSpPr>
              <p:cNvPr id="18" name="Rounded Rectangle 17"/>
              <p:cNvSpPr>
                <a:spLocks noRot="1" noChangeAspect="1" noMove="1" noResize="1" noEditPoints="1" noAdjustHandles="1" noChangeArrowheads="1" noChangeShapeType="1" noTextEdit="1"/>
              </p:cNvSpPr>
              <p:nvPr/>
            </p:nvSpPr>
            <p:spPr>
              <a:xfrm>
                <a:off x="2178630" y="4760250"/>
                <a:ext cx="7770120" cy="1657169"/>
              </a:xfrm>
              <a:prstGeom prst="roundRect">
                <a:avLst>
                  <a:gd name="adj" fmla="val 16667"/>
                </a:avLst>
              </a:prstGeom>
              <a:blipFill>
                <a:blip r:embed="rId7"/>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9" name="Shape 7" descr="Icon&#10;&#10;Description automatically generated"/>
          <p:cNvPicPr/>
          <p:nvPr/>
        </p:nvPicPr>
        <p:blipFill rotWithShape="1">
          <a:blip r:embed="rId6" cstate="screen">
            <a:alphaModFix/>
            <a:extLst>
              <a:ext uri="{28A0092B-C50C-407E-A947-70E740481C1C}">
                <a14:useLocalDpi xmlns:a14="http://schemas.microsoft.com/office/drawing/2010/main"/>
              </a:ext>
            </a:extLst>
          </a:blip>
          <a:srcRect/>
          <a:stretch/>
        </p:blipFill>
        <p:spPr>
          <a:xfrm>
            <a:off x="2318330" y="4985142"/>
            <a:ext cx="539750" cy="53975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02457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572555" y="382655"/>
                <a:ext cx="9931322" cy="5030095"/>
              </a:xfrm>
              <a:prstGeom prst="rect">
                <a:avLst/>
              </a:prstGeom>
              <a:noFill/>
            </p:spPr>
            <p:txBody>
              <a:bodyPr wrap="square" rtlCol="0">
                <a:spAutoFit/>
              </a:bodyPr>
              <a:lstStyle/>
              <a:p>
                <a:pPr marL="457200" indent="-457200">
                  <a:lnSpc>
                    <a:spcPct val="250000"/>
                  </a:lnSpc>
                  <a:buFont typeface="+mj-lt"/>
                  <a:buAutoNum type="arabicPeriod"/>
                </a:pPr>
                <a:r>
                  <a:rPr lang="en-US" sz="2000" dirty="0">
                    <a:latin typeface="Verdana"/>
                    <a:ea typeface="Verdana"/>
                    <a:cs typeface="Verdana"/>
                  </a:rPr>
                  <a:t>Use the definitions to complete the statements.</a:t>
                </a:r>
              </a:p>
              <a:p>
                <a:pPr marL="457200">
                  <a:lnSpc>
                    <a:spcPct val="250000"/>
                  </a:lnSpc>
                </a:pPr>
                <a:r>
                  <a:rPr lang="en-US" sz="2000" dirty="0">
                    <a:latin typeface="Verdana"/>
                    <a:ea typeface="Verdana"/>
                    <a:cs typeface="Verdana"/>
                  </a:rPr>
                  <a:t>In the Exploration, the			   probability of</a:t>
                </a:r>
                <a:br>
                  <a:rPr lang="en-US" sz="2000" dirty="0">
                    <a:latin typeface="Verdana"/>
                    <a:ea typeface="Verdana"/>
                    <a:cs typeface="Verdana"/>
                  </a:rPr>
                </a:br>
                <a:r>
                  <a:rPr lang="en-US" sz="2000" dirty="0">
                    <a:latin typeface="Verdana"/>
                    <a:ea typeface="Verdana"/>
                    <a:cs typeface="Verdana"/>
                  </a:rPr>
                  <a:t>Samaria winning the game was </a:t>
                </a:r>
                <a14:m>
                  <m:oMath xmlns:m="http://schemas.openxmlformats.org/officeDocument/2006/math">
                    <m:f>
                      <m:fPr>
                        <m:ctrlPr>
                          <a:rPr lang="en-US" sz="2000" i="1">
                            <a:latin typeface="Cambria Math" panose="02040503050406030204" pitchFamily="18" charset="0"/>
                            <a:ea typeface="Verdana"/>
                            <a:cs typeface="Verdana"/>
                          </a:rPr>
                        </m:ctrlPr>
                      </m:fPr>
                      <m:num>
                        <m:r>
                          <a:rPr lang="en-US" sz="2000" i="1">
                            <a:latin typeface="Cambria Math"/>
                            <a:ea typeface="Verdana"/>
                            <a:cs typeface="Verdana"/>
                          </a:rPr>
                          <m:t>1</m:t>
                        </m:r>
                      </m:num>
                      <m:den>
                        <m:r>
                          <a:rPr lang="en-US" sz="2000" i="1">
                            <a:latin typeface="Cambria Math"/>
                            <a:ea typeface="Verdana"/>
                            <a:cs typeface="Verdana"/>
                          </a:rPr>
                          <m:t>3</m:t>
                        </m:r>
                      </m:den>
                    </m:f>
                  </m:oMath>
                </a14:m>
                <a:r>
                  <a:rPr lang="en-US" sz="2000" dirty="0">
                    <a:latin typeface="Verdana"/>
                    <a:ea typeface="Verdana"/>
                    <a:cs typeface="Verdana"/>
                  </a:rPr>
                  <a:t> because there were</a:t>
                </a:r>
                <a:br>
                  <a:rPr lang="en-US" sz="2000" dirty="0">
                    <a:latin typeface="Verdana"/>
                    <a:ea typeface="Verdana"/>
                    <a:cs typeface="Verdana"/>
                  </a:rPr>
                </a:br>
                <a:r>
                  <a:rPr lang="en-US" sz="2000" dirty="0">
                    <a:latin typeface="Verdana"/>
                    <a:ea typeface="Verdana"/>
                    <a:cs typeface="Verdana"/>
                  </a:rPr>
                  <a:t>	     possible outcomes out of		in the sample</a:t>
                </a:r>
                <a:br>
                  <a:rPr lang="en-US" sz="2000" dirty="0">
                    <a:latin typeface="Verdana"/>
                    <a:ea typeface="Verdana"/>
                    <a:cs typeface="Verdana"/>
                  </a:rPr>
                </a:br>
                <a:r>
                  <a:rPr lang="en-US" sz="2000" dirty="0">
                    <a:latin typeface="Verdana"/>
                    <a:ea typeface="Verdana"/>
                    <a:cs typeface="Verdana"/>
                  </a:rPr>
                  <a:t>space that won. By performing the activity, each group determined 		       probability for the experiment.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572555" y="382655"/>
                <a:ext cx="9931322" cy="5030095"/>
              </a:xfrm>
              <a:prstGeom prst="rect">
                <a:avLst/>
              </a:prstGeom>
              <a:blipFill>
                <a:blip r:embed="rId3"/>
                <a:stretch>
                  <a:fillRect l="-766"/>
                </a:stretch>
              </a:blipFill>
            </p:spPr>
            <p:txBody>
              <a:bodyPr/>
              <a:lstStyle/>
              <a:p>
                <a:r>
                  <a:rPr lang="en-US">
                    <a:noFill/>
                  </a:rPr>
                  <a:t> </a:t>
                </a:r>
              </a:p>
            </p:txBody>
          </p:sp>
        </mc:Fallback>
      </mc:AlternateContent>
      <p:sp>
        <p:nvSpPr>
          <p:cNvPr id="10" name="Rounded Rectangle 9"/>
          <p:cNvSpPr/>
          <p:nvPr/>
        </p:nvSpPr>
        <p:spPr>
          <a:xfrm>
            <a:off x="4118181" y="1292740"/>
            <a:ext cx="2227238" cy="783193"/>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28600" indent="-228600">
              <a:buFont typeface="Courier New" pitchFamily="49" charset="0"/>
              <a:buChar char="o"/>
            </a:pPr>
            <a:r>
              <a:rPr lang="en-US" sz="2000" dirty="0">
                <a:solidFill>
                  <a:srgbClr val="000000"/>
                </a:solidFill>
                <a:latin typeface="Verdana"/>
                <a:ea typeface="Times New Roman"/>
                <a:cs typeface="Cambria"/>
              </a:rPr>
              <a:t>experimental</a:t>
            </a:r>
            <a:endParaRPr lang="en-US" sz="2000" dirty="0">
              <a:latin typeface="Cambria"/>
              <a:ea typeface="Times New Roman"/>
              <a:cs typeface="Cambria"/>
            </a:endParaRPr>
          </a:p>
          <a:p>
            <a:pPr marL="228600" indent="-228600">
              <a:spcAft>
                <a:spcPts val="1000"/>
              </a:spcAft>
              <a:buFont typeface="Courier New" pitchFamily="49" charset="0"/>
              <a:buChar char="o"/>
            </a:pPr>
            <a:r>
              <a:rPr lang="en-US" sz="2000" dirty="0">
                <a:solidFill>
                  <a:srgbClr val="000000"/>
                </a:solidFill>
                <a:latin typeface="Verdana"/>
                <a:ea typeface="Times New Roman"/>
                <a:cs typeface="Cambria"/>
              </a:rPr>
              <a:t>theoretical</a:t>
            </a:r>
            <a:endParaRPr lang="en-US" sz="2000" dirty="0">
              <a:latin typeface="Cambria"/>
              <a:ea typeface="Times New Roman"/>
              <a:cs typeface="Cambria"/>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A7817ACE-0EAD-F54B-BF54-D1C44606A01D}"/>
              </a:ext>
            </a:extLst>
          </p:cNvPr>
          <p:cNvSpPr/>
          <p:nvPr/>
        </p:nvSpPr>
        <p:spPr>
          <a:xfrm>
            <a:off x="955"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Rounded Rectangle 10"/>
          <p:cNvSpPr/>
          <p:nvPr/>
        </p:nvSpPr>
        <p:spPr>
          <a:xfrm>
            <a:off x="1112520" y="2933700"/>
            <a:ext cx="762000" cy="990600"/>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2</a:t>
            </a:r>
          </a:p>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3</a:t>
            </a:r>
          </a:p>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6</a:t>
            </a:r>
            <a:endParaRPr lang="en-US" sz="2000" dirty="0">
              <a:solidFill>
                <a:schemeClr val="tx1"/>
              </a:solidFill>
              <a:latin typeface="Cambria Math" pitchFamily="18" charset="0"/>
              <a:ea typeface="Cambria Math" pitchFamily="18" charset="0"/>
              <a:cs typeface="Cambria"/>
            </a:endParaRPr>
          </a:p>
        </p:txBody>
      </p:sp>
      <p:sp>
        <p:nvSpPr>
          <p:cNvPr id="13" name="Rounded Rectangle 12"/>
          <p:cNvSpPr/>
          <p:nvPr/>
        </p:nvSpPr>
        <p:spPr>
          <a:xfrm>
            <a:off x="5334000" y="2947525"/>
            <a:ext cx="762000" cy="990600"/>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2</a:t>
            </a:r>
          </a:p>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3</a:t>
            </a:r>
          </a:p>
          <a:p>
            <a:pPr marL="228600" indent="-228600">
              <a:buFont typeface="Courier New" pitchFamily="49" charset="0"/>
              <a:buChar char="o"/>
            </a:pPr>
            <a:r>
              <a:rPr lang="en-PH" sz="2000" dirty="0">
                <a:solidFill>
                  <a:schemeClr val="tx1"/>
                </a:solidFill>
                <a:latin typeface="Cambria Math" pitchFamily="18" charset="0"/>
                <a:ea typeface="Cambria Math" pitchFamily="18" charset="0"/>
                <a:cs typeface="Cambria"/>
              </a:rPr>
              <a:t>6</a:t>
            </a:r>
            <a:endParaRPr lang="en-US" sz="2000" dirty="0">
              <a:solidFill>
                <a:schemeClr val="tx1"/>
              </a:solidFill>
              <a:latin typeface="Cambria Math" pitchFamily="18" charset="0"/>
              <a:ea typeface="Cambria Math" pitchFamily="18" charset="0"/>
              <a:cs typeface="Cambria"/>
            </a:endParaRPr>
          </a:p>
        </p:txBody>
      </p:sp>
      <p:sp>
        <p:nvSpPr>
          <p:cNvPr id="14"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71</a:t>
            </a:r>
            <a:endParaRPr i="1" dirty="0">
              <a:latin typeface="Calibri"/>
              <a:ea typeface="Calibri"/>
              <a:cs typeface="Calibri"/>
              <a:sym typeface="Calibri"/>
            </a:endParaRPr>
          </a:p>
        </p:txBody>
      </p:sp>
      <p:sp>
        <p:nvSpPr>
          <p:cNvPr id="12" name="Rounded Rectangle 11"/>
          <p:cNvSpPr/>
          <p:nvPr/>
        </p:nvSpPr>
        <p:spPr>
          <a:xfrm>
            <a:off x="760769" y="4629557"/>
            <a:ext cx="2227502" cy="783193"/>
          </a:xfrm>
          <a:prstGeom prst="round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28600" indent="-228600">
              <a:buFont typeface="Courier New" pitchFamily="49" charset="0"/>
              <a:buChar char="o"/>
            </a:pPr>
            <a:r>
              <a:rPr lang="en-US" sz="2000" dirty="0">
                <a:solidFill>
                  <a:srgbClr val="000000"/>
                </a:solidFill>
                <a:latin typeface="Verdana"/>
                <a:ea typeface="Times New Roman"/>
                <a:cs typeface="Cambria"/>
              </a:rPr>
              <a:t>experimental</a:t>
            </a:r>
            <a:endParaRPr lang="en-US" sz="2000" dirty="0">
              <a:latin typeface="Cambria"/>
              <a:ea typeface="Times New Roman"/>
              <a:cs typeface="Cambria"/>
            </a:endParaRPr>
          </a:p>
          <a:p>
            <a:pPr marL="228600" indent="-228600">
              <a:spcAft>
                <a:spcPts val="1000"/>
              </a:spcAft>
              <a:buFont typeface="Courier New" pitchFamily="49" charset="0"/>
              <a:buChar char="o"/>
            </a:pPr>
            <a:r>
              <a:rPr lang="en-US" sz="2000" dirty="0">
                <a:solidFill>
                  <a:srgbClr val="000000"/>
                </a:solidFill>
                <a:latin typeface="Verdana"/>
                <a:ea typeface="Times New Roman"/>
                <a:cs typeface="Cambria"/>
              </a:rPr>
              <a:t>theoretical</a:t>
            </a:r>
            <a:endParaRPr lang="en-US" sz="2000" dirty="0">
              <a:latin typeface="Cambria"/>
              <a:ea typeface="Times New Roman"/>
              <a:cs typeface="Cambria"/>
            </a:endParaRPr>
          </a:p>
        </p:txBody>
      </p:sp>
    </p:spTree>
    <p:extLst>
      <p:ext uri="{BB962C8B-B14F-4D97-AF65-F5344CB8AC3E}">
        <p14:creationId xmlns:p14="http://schemas.microsoft.com/office/powerpoint/2010/main" val="3393813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endParaRPr i="1" dirty="0">
              <a:latin typeface="Calibri"/>
              <a:ea typeface="Calibri"/>
              <a:cs typeface="Calibri"/>
              <a:sym typeface="Calibri"/>
            </a:endParaRPr>
          </a:p>
        </p:txBody>
      </p:sp>
      <p:sp>
        <p:nvSpPr>
          <p:cNvPr id="7" name="Google Shape;313;g104476d1465_1_39"/>
          <p:cNvSpPr txBox="1">
            <a:spLocks/>
          </p:cNvSpPr>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3BEA6"/>
                </a:solidFill>
                <a:latin typeface="Verdana"/>
                <a:ea typeface="Verdana"/>
                <a:cs typeface="Verdana"/>
                <a:sym typeface="Verdana"/>
              </a:rPr>
              <a:t>Try It</a:t>
            </a:r>
            <a:endParaRPr lang="en-US" sz="5100" b="1" dirty="0">
              <a:solidFill>
                <a:srgbClr val="33BEA6"/>
              </a:solidFill>
              <a:latin typeface="Verdana"/>
              <a:ea typeface="Verdana"/>
              <a:cs typeface="Verdana"/>
              <a:sym typeface="Verdana"/>
            </a:endParaRPr>
          </a:p>
        </p:txBody>
      </p:sp>
      <p:pic>
        <p:nvPicPr>
          <p:cNvPr id="9"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858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9840" y="25322"/>
            <a:ext cx="1072942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2.7.5 Try It: Experimental and Theoretical Probability</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731520" y="1351022"/>
                <a:ext cx="11237742" cy="1874103"/>
              </a:xfrm>
              <a:prstGeom prst="rect">
                <a:avLst/>
              </a:prstGeom>
              <a:noFill/>
            </p:spPr>
            <p:txBody>
              <a:bodyPr wrap="square" rtlCol="0">
                <a:spAutoFit/>
              </a:bodyPr>
              <a:lstStyle/>
              <a:p>
                <a:pPr marL="457200" indent="-457200">
                  <a:buFont typeface="+mj-lt"/>
                  <a:buAutoNum type="arabicPeriod"/>
                </a:pPr>
                <a:r>
                  <a:rPr lang="en-US" sz="2400" dirty="0" err="1">
                    <a:latin typeface="Verdana"/>
                    <a:ea typeface="Times New Roman"/>
                    <a:cs typeface="Cambria"/>
                  </a:rPr>
                  <a:t>Deepa</a:t>
                </a:r>
                <a:r>
                  <a:rPr lang="en-US" sz="2400" dirty="0">
                    <a:latin typeface="Verdana"/>
                    <a:ea typeface="Times New Roman"/>
                    <a:cs typeface="Cambria"/>
                  </a:rPr>
                  <a:t> wants to know if flipping a quarter really does have a probability of </a:t>
                </a:r>
                <a14:m>
                  <m:oMath xmlns:m="http://schemas.openxmlformats.org/officeDocument/2006/math">
                    <m:f>
                      <m:fPr>
                        <m:ctrlPr>
                          <a:rPr lang="en-US" sz="2400" i="1">
                            <a:latin typeface="Cambria Math" panose="02040503050406030204" pitchFamily="18" charset="0"/>
                          </a:rPr>
                        </m:ctrlPr>
                      </m:fPr>
                      <m:num>
                        <m:r>
                          <a:rPr lang="en-US" sz="2400" i="1">
                            <a:latin typeface="Cambria Math"/>
                            <a:ea typeface="Times New Roman"/>
                            <a:cs typeface="Cambria"/>
                          </a:rPr>
                          <m:t>1</m:t>
                        </m:r>
                      </m:num>
                      <m:den>
                        <m:r>
                          <a:rPr lang="en-US" sz="2400" i="1">
                            <a:latin typeface="Cambria Math"/>
                            <a:ea typeface="Times New Roman"/>
                            <a:cs typeface="Cambria"/>
                          </a:rPr>
                          <m:t>2</m:t>
                        </m:r>
                      </m:den>
                    </m:f>
                  </m:oMath>
                </a14:m>
                <a:r>
                  <a:rPr lang="en-US" sz="2400" dirty="0">
                    <a:latin typeface="Verdana"/>
                    <a:ea typeface="Times New Roman"/>
                    <a:cs typeface="Cambria"/>
                  </a:rPr>
                  <a:t> of landing heads-up, so she flips a quarter </a:t>
                </a:r>
                <a14:m>
                  <m:oMath xmlns:m="http://schemas.openxmlformats.org/officeDocument/2006/math">
                    <m:r>
                      <a:rPr lang="en-US" sz="2400" i="1">
                        <a:latin typeface="Cambria Math"/>
                        <a:ea typeface="Times New Roman"/>
                        <a:cs typeface="Cambria"/>
                      </a:rPr>
                      <m:t>10</m:t>
                    </m:r>
                  </m:oMath>
                </a14:m>
                <a:r>
                  <a:rPr lang="en-US" sz="2400" dirty="0">
                    <a:latin typeface="Verdana"/>
                    <a:ea typeface="Times New Roman"/>
                    <a:cs typeface="Cambria"/>
                  </a:rPr>
                  <a:t> times. It lands heads-up </a:t>
                </a:r>
                <a14:m>
                  <m:oMath xmlns:m="http://schemas.openxmlformats.org/officeDocument/2006/math">
                    <m:r>
                      <a:rPr lang="en-US" sz="2400" i="1">
                        <a:latin typeface="Cambria Math"/>
                        <a:ea typeface="Times New Roman"/>
                        <a:cs typeface="Cambria"/>
                      </a:rPr>
                      <m:t>3</m:t>
                    </m:r>
                  </m:oMath>
                </a14:m>
                <a:r>
                  <a:rPr lang="en-US" sz="2400" dirty="0">
                    <a:latin typeface="Verdana"/>
                    <a:ea typeface="Times New Roman"/>
                    <a:cs typeface="Cambria"/>
                  </a:rPr>
                  <a:t> times and tails-up </a:t>
                </a:r>
                <a14:m>
                  <m:oMath xmlns:m="http://schemas.openxmlformats.org/officeDocument/2006/math">
                    <m:r>
                      <a:rPr lang="en-US" sz="2400" i="1">
                        <a:latin typeface="Cambria Math"/>
                        <a:ea typeface="Times New Roman"/>
                        <a:cs typeface="Cambria"/>
                      </a:rPr>
                      <m:t>7</m:t>
                    </m:r>
                  </m:oMath>
                </a14:m>
                <a:r>
                  <a:rPr lang="en-US" sz="2400" dirty="0">
                    <a:latin typeface="Verdana"/>
                    <a:ea typeface="Times New Roman"/>
                    <a:cs typeface="Cambria"/>
                  </a:rPr>
                  <a:t> times. Explain whether or not she has proven that the probability of landing heads up is not </a:t>
                </a:r>
                <a14:m>
                  <m:oMath xmlns:m="http://schemas.openxmlformats.org/officeDocument/2006/math">
                    <m:f>
                      <m:fPr>
                        <m:ctrlPr>
                          <a:rPr lang="en-US" sz="2400" i="1">
                            <a:latin typeface="Cambria Math" panose="02040503050406030204" pitchFamily="18" charset="0"/>
                          </a:rPr>
                        </m:ctrlPr>
                      </m:fPr>
                      <m:num>
                        <m:r>
                          <a:rPr lang="en-US" sz="2400" i="1">
                            <a:latin typeface="Cambria Math"/>
                            <a:ea typeface="Times New Roman"/>
                            <a:cs typeface="Cambria"/>
                          </a:rPr>
                          <m:t>1</m:t>
                        </m:r>
                      </m:num>
                      <m:den>
                        <m:r>
                          <a:rPr lang="en-US" sz="2400" i="1">
                            <a:latin typeface="Cambria Math"/>
                            <a:ea typeface="Times New Roman"/>
                            <a:cs typeface="Cambria"/>
                          </a:rPr>
                          <m:t>2</m:t>
                        </m:r>
                      </m:den>
                    </m:f>
                  </m:oMath>
                </a14:m>
                <a:r>
                  <a:rPr lang="en-US" sz="2400" dirty="0">
                    <a:latin typeface="Verdana"/>
                    <a:ea typeface="Times New Roman"/>
                    <a:cs typeface="Cambria"/>
                  </a:rPr>
                  <a: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731520" y="1351022"/>
                <a:ext cx="11237742" cy="1874103"/>
              </a:xfrm>
              <a:prstGeom prst="rect">
                <a:avLst/>
              </a:prstGeom>
              <a:blipFill>
                <a:blip r:embed="rId5"/>
                <a:stretch>
                  <a:fillRect l="-903" t="-2703" b="-2027"/>
                </a:stretch>
              </a:blipFill>
            </p:spPr>
            <p:txBody>
              <a:bodyPr/>
              <a:lstStyle/>
              <a:p>
                <a:r>
                  <a:rPr lang="en-US">
                    <a:noFill/>
                  </a:rPr>
                  <a:t> </a:t>
                </a:r>
              </a:p>
            </p:txBody>
          </p:sp>
        </mc:Fallback>
      </mc:AlternateContent>
      <p:sp>
        <p:nvSpPr>
          <p:cNvPr id="12" name="Google Shape;278;g104476d1465_1_17">
            <a:extLst>
              <a:ext uri="{FF2B5EF4-FFF2-40B4-BE49-F238E27FC236}">
                <a16:creationId xmlns:a16="http://schemas.microsoft.com/office/drawing/2014/main" id="{F37EE21E-8B35-FE4A-9307-F19691384C89}"/>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endParaRPr i="1" dirty="0">
              <a:latin typeface="Calibri"/>
              <a:ea typeface="Calibri"/>
              <a:cs typeface="Calibri"/>
              <a:sym typeface="Calibri"/>
            </a:endParaRPr>
          </a:p>
        </p:txBody>
      </p:sp>
    </p:spTree>
    <p:extLst>
      <p:ext uri="{BB962C8B-B14F-4D97-AF65-F5344CB8AC3E}">
        <p14:creationId xmlns:p14="http://schemas.microsoft.com/office/powerpoint/2010/main" val="3840359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467048" y="443491"/>
                <a:ext cx="11420152"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Cambria"/>
                  </a:rPr>
                  <a:t>A spinner is spun </a:t>
                </a:r>
                <a14:m>
                  <m:oMath xmlns:m="http://schemas.openxmlformats.org/officeDocument/2006/math">
                    <m:r>
                      <a:rPr lang="en-US" sz="2000" i="1">
                        <a:latin typeface="Cambria Math"/>
                        <a:ea typeface="Times New Roman"/>
                        <a:cs typeface="Cambria"/>
                      </a:rPr>
                      <m:t>40</m:t>
                    </m:r>
                  </m:oMath>
                </a14:m>
                <a:r>
                  <a:rPr lang="en-US" sz="2000" dirty="0">
                    <a:latin typeface="Verdana"/>
                    <a:ea typeface="Times New Roman"/>
                    <a:cs typeface="Cambria"/>
                  </a:rPr>
                  <a:t> times for a game. The graph shows the fraction of games that are wins.</a:t>
                </a: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457200" indent="-457200">
                  <a:buFont typeface="+mj-lt"/>
                  <a:buAutoNum type="arabicPeriod" startAt="2"/>
                </a:pPr>
                <a:endParaRPr lang="en-PH" sz="2000" dirty="0">
                  <a:latin typeface="Verdana"/>
                  <a:ea typeface="Times New Roman"/>
                  <a:cs typeface="Cambria"/>
                </a:endParaRPr>
              </a:p>
              <a:p>
                <a:pPr marL="914400" indent="-457200">
                  <a:buFont typeface="+mj-lt"/>
                  <a:buAutoNum type="alphaLcPeriod"/>
                </a:pPr>
                <a:r>
                  <a:rPr lang="en-US" sz="2000" dirty="0">
                    <a:latin typeface="Verdana"/>
                    <a:ea typeface="Times New Roman"/>
                    <a:cs typeface="Cambria"/>
                  </a:rPr>
                  <a:t>Estimate the probability of a spin winning this game based on the graph.</a:t>
                </a:r>
              </a:p>
              <a:p>
                <a:pPr marL="914400" indent="-457200">
                  <a:buFont typeface="+mj-lt"/>
                  <a:buAutoNum type="alphaLcPeriod"/>
                </a:pPr>
                <a:endParaRPr lang="en-PH" sz="2000" dirty="0">
                  <a:latin typeface="Verdana"/>
                  <a:ea typeface="Times New Roman"/>
                  <a:cs typeface="Cambria"/>
                </a:endParaRPr>
              </a:p>
              <a:p>
                <a:pPr marL="914400" indent="-457200">
                  <a:buFont typeface="+mj-lt"/>
                  <a:buAutoNum type="alphaLcPeriod"/>
                </a:pPr>
                <a:endParaRPr lang="en-US" sz="2000" dirty="0">
                  <a:latin typeface="Verdana"/>
                  <a:ea typeface="Times New Roman"/>
                  <a:cs typeface="Cambria"/>
                </a:endParaRPr>
              </a:p>
              <a:p>
                <a:pPr marL="914400" indent="-457200">
                  <a:buFont typeface="+mj-lt"/>
                  <a:buAutoNum type="alphaLcPeriod"/>
                </a:pPr>
                <a:r>
                  <a:rPr lang="en-US" sz="2000" dirty="0">
                    <a:latin typeface="Verdana"/>
                    <a:ea typeface="Times New Roman"/>
                    <a:cs typeface="Cambria"/>
                  </a:rPr>
                  <a:t>What type of probability is your estimate?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22347CCE-34A7-8044-BA67-B5895157AE55}"/>
                  </a:ext>
                </a:extLst>
              </p:cNvPr>
              <p:cNvSpPr txBox="1">
                <a:spLocks noRot="1" noChangeAspect="1" noMove="1" noResize="1" noEditPoints="1" noAdjustHandles="1" noChangeArrowheads="1" noChangeShapeType="1" noTextEdit="1"/>
              </p:cNvSpPr>
              <p:nvPr/>
            </p:nvSpPr>
            <p:spPr>
              <a:xfrm>
                <a:off x="467048" y="443491"/>
                <a:ext cx="11420152" cy="5324535"/>
              </a:xfrm>
              <a:prstGeom prst="rect">
                <a:avLst/>
              </a:prstGeom>
              <a:blipFill>
                <a:blip r:embed="rId4"/>
                <a:stretch>
                  <a:fillRect l="-555" t="-714" b="-952"/>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DBC627A-4143-AD4E-B8AF-FA569ACE060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074"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310906" y="1211525"/>
            <a:ext cx="5732436" cy="3021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endParaRPr i="1" dirty="0">
              <a:latin typeface="Calibri"/>
              <a:ea typeface="Calibri"/>
              <a:cs typeface="Calibri"/>
              <a:sym typeface="Calibri"/>
            </a:endParaRPr>
          </a:p>
        </p:txBody>
      </p:sp>
    </p:spTree>
    <p:extLst>
      <p:ext uri="{BB962C8B-B14F-4D97-AF65-F5344CB8AC3E}">
        <p14:creationId xmlns:p14="http://schemas.microsoft.com/office/powerpoint/2010/main" val="2161466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endParaRPr i="1" dirty="0">
              <a:latin typeface="Calibri"/>
              <a:ea typeface="Calibri"/>
              <a:cs typeface="Calibri"/>
              <a:sym typeface="Calibri"/>
            </a:endParaRPr>
          </a:p>
        </p:txBody>
      </p:sp>
      <p:sp>
        <p:nvSpPr>
          <p:cNvPr id="9"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0"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28438" y="279372"/>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2.7.6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730265" y="1327409"/>
            <a:ext cx="11215549" cy="1200329"/>
          </a:xfrm>
          <a:prstGeom prst="rect">
            <a:avLst/>
          </a:prstGeom>
          <a:noFill/>
        </p:spPr>
        <p:txBody>
          <a:bodyPr wrap="square" rtlCol="0">
            <a:spAutoFit/>
          </a:bodyPr>
          <a:lstStyle/>
          <a:p>
            <a:pPr marL="457200" indent="-457200">
              <a:buFont typeface="+mj-lt"/>
              <a:buAutoNum type="arabicPeriod"/>
            </a:pPr>
            <a:r>
              <a:rPr lang="en-US" sz="2400" dirty="0">
                <a:latin typeface="Verdana"/>
                <a:ea typeface="Verdana"/>
                <a:cs typeface="Verdana"/>
              </a:rPr>
              <a:t>Your friend was absent today and will need the notes from class. Write a quick note to help them understand the difference between the theoretical and experimental probability of a simple experiment.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a16="http://schemas.microsoft.com/office/drawing/2014/main" id="{69767437-9B0B-9D43-A596-1373A90D9FE8}"/>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72</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1348</TotalTime>
  <Words>1357</Words>
  <Application>Microsoft Office PowerPoint</Application>
  <PresentationFormat>Widescreen</PresentationFormat>
  <Paragraphs>200</Paragraphs>
  <Slides>27</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Cambria</vt:lpstr>
      <vt:lpstr>Arial Black</vt:lpstr>
      <vt:lpstr>Verdana</vt:lpstr>
      <vt:lpstr>Courier New</vt:lpstr>
      <vt:lpstr>Century Gothic</vt:lpstr>
      <vt:lpstr>Arial</vt:lpstr>
      <vt:lpstr>Cambria Math</vt:lpstr>
      <vt:lpstr>Calibri</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45</cp:revision>
  <dcterms:created xsi:type="dcterms:W3CDTF">2015-03-17T18:51:18Z</dcterms:created>
  <dcterms:modified xsi:type="dcterms:W3CDTF">2022-07-11T01:30:37Z</dcterms:modified>
</cp:coreProperties>
</file>