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08" r:id="rId10"/>
    <p:sldId id="326" r:id="rId11"/>
    <p:sldId id="327" r:id="rId12"/>
    <p:sldId id="323" r:id="rId13"/>
    <p:sldId id="324" r:id="rId14"/>
    <p:sldId id="325" r:id="rId15"/>
    <p:sldId id="328" r:id="rId16"/>
    <p:sldId id="314" r:id="rId17"/>
    <p:sldId id="315" r:id="rId18"/>
    <p:sldId id="316" r:id="rId19"/>
    <p:sldId id="329" r:id="rId20"/>
    <p:sldId id="302" r:id="rId21"/>
    <p:sldId id="303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A040201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Verdana" panose="020B060403050404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55" autoAdjust="0"/>
    <p:restoredTop sz="94707" autoAdjust="0"/>
  </p:normalViewPr>
  <p:slideViewPr>
    <p:cSldViewPr snapToGrid="0">
      <p:cViewPr varScale="1">
        <p:scale>
          <a:sx n="56" d="100"/>
          <a:sy n="56" d="100"/>
        </p:scale>
        <p:origin x="72" y="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13522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32443" y="2363472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Converting Between Repeating Decimals and Fractions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52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47964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MA.7.NSO.1.2 </a:t>
            </a:r>
          </a:p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	Rewrite rational numbers in different but 	equivalent forms including fractions, mixed 	numbers, repeating decimals, and 	percentages to solve mathematical and 	real-world problems.</a:t>
            </a:r>
            <a:endParaRPr lang="en-US" sz="35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" name="Google Shape;279;g104476d1465_1_17"/>
          <p:cNvSpPr txBox="1">
            <a:spLocks/>
          </p:cNvSpPr>
          <p:nvPr/>
        </p:nvSpPr>
        <p:spPr>
          <a:xfrm>
            <a:off x="1151917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41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7" y="159639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</a:t>
            </a:r>
            <a:b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</a:b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</a:t>
            </a:r>
            <a:b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</a:b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to help understand and connect mathematical concepts.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56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8872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52581" y="1592501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/>
                <a:ea typeface="Verdana"/>
                <a:cs typeface="Verdana"/>
              </a:rPr>
              <a:t>I can rewrite rational numbers in different but equivalent forms, including repeating decimals.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83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3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2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79883" y="88117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2.4.1 Warm-Up: Error Analysis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583" y="37731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38018" y="1464619"/>
                <a:ext cx="10800000" cy="4604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Isaiah used a scientific calculator to find the decimal equivalent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16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 The calculator screen displayed “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2.666666667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”. Isaiah wrote the following equation on his paper: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16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=2.666666667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Explain why Isaiah’s equation is incorrect.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What advice would you give Isaiah when using a calculator to find decimal equivalents in the future?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18" y="1464619"/>
                <a:ext cx="10800000" cy="4604787"/>
              </a:xfrm>
              <a:prstGeom prst="rect">
                <a:avLst/>
              </a:prstGeom>
              <a:blipFill rotWithShape="1">
                <a:blip r:embed="rId4"/>
                <a:stretch>
                  <a:fillRect l="-847" t="-105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82931" y="88117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2.4.2 Guided Instruction: Rewriting Repeating Decimals as Fractions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583" y="37731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0435" y="1462110"/>
                <a:ext cx="10800000" cy="4867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When given a repeating decimal, equations can be used to find its equivalent value represented as a fraction.</a:t>
                </a:r>
              </a:p>
              <a:p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Consider the decimal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0.0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6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 Some fraction is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0.0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6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, which can be represented by the equation,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=0.0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6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=0.0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6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, complete the step shown to determine what value is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10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</a:p>
              <a:p>
                <a:pPr marL="457200"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B0F0"/>
                          </a:solidFill>
                          <a:latin typeface="Cambria Math"/>
                          <a:ea typeface="Verdana"/>
                          <a:cs typeface="Verdana"/>
                        </a:rPr>
                        <m:t>10∙</m:t>
                      </m:r>
                      <m:r>
                        <a:rPr lang="en-US" sz="2000" i="1">
                          <a:latin typeface="Cambria Math"/>
                          <a:ea typeface="Verdana"/>
                          <a:cs typeface="Verdana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Verdana"/>
                          <a:cs typeface="Verdana"/>
                        </a:rPr>
                        <m:t>=0.0</m:t>
                      </m:r>
                      <m:acc>
                        <m:accPr>
                          <m:chr m:val="̅"/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/>
                              <a:cs typeface="Verdana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/>
                              <a:ea typeface="Verdana"/>
                              <a:cs typeface="Verdana"/>
                            </a:rPr>
                            <m:t>6</m:t>
                          </m:r>
                        </m:e>
                      </m:acc>
                      <m:r>
                        <a:rPr lang="en-US" sz="2000" i="1">
                          <a:solidFill>
                            <a:srgbClr val="00B0F0"/>
                          </a:solidFill>
                          <a:latin typeface="Cambria Math"/>
                          <a:ea typeface="Verdana"/>
                          <a:cs typeface="Verdana"/>
                        </a:rPr>
                        <m:t>∙10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57300" indent="58738"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B0F0"/>
                          </a:solidFill>
                          <a:latin typeface="Cambria Math"/>
                          <a:ea typeface="Verdana"/>
                          <a:cs typeface="Verdana"/>
                        </a:rPr>
                        <m:t>10</m:t>
                      </m:r>
                      <m:r>
                        <a:rPr lang="en-US" sz="2000" i="1">
                          <a:solidFill>
                            <a:srgbClr val="00B0F0"/>
                          </a:solidFill>
                          <a:latin typeface="Cambria Math"/>
                          <a:ea typeface="Verdana"/>
                          <a:cs typeface="Verdana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Verdana"/>
                          <a:cs typeface="Verdana"/>
                        </a:rPr>
                        <m:t>=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lnSpc>
                    <a:spcPct val="150000"/>
                  </a:lnSpc>
                  <a:spcBef>
                    <a:spcPts val="1200"/>
                  </a:spcBef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Determine what value is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100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/>
                </a:endParaRPr>
              </a:p>
              <a:p>
                <a:pPr marL="457200"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F79646"/>
                          </a:solidFill>
                          <a:latin typeface="Cambria Math"/>
                          <a:ea typeface="Verdana"/>
                          <a:cs typeface="Verdana"/>
                        </a:rPr>
                        <m:t>______∙</m:t>
                      </m:r>
                      <m:r>
                        <a:rPr lang="en-US" sz="2000" i="1">
                          <a:latin typeface="Cambria Math"/>
                          <a:ea typeface="Verdana"/>
                          <a:cs typeface="Verdana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Verdana"/>
                          <a:cs typeface="Verdana"/>
                        </a:rPr>
                        <m:t>=0.0</m:t>
                      </m:r>
                      <m:acc>
                        <m:accPr>
                          <m:chr m:val="̅"/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/>
                              <a:cs typeface="Verdana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/>
                              <a:ea typeface="Verdana"/>
                              <a:cs typeface="Verdana"/>
                            </a:rPr>
                            <m:t>6</m:t>
                          </m:r>
                        </m:e>
                      </m:acc>
                      <m:r>
                        <a:rPr lang="en-US" sz="2000" i="1">
                          <a:solidFill>
                            <a:srgbClr val="F79646"/>
                          </a:solidFill>
                          <a:latin typeface="Cambria Math"/>
                          <a:ea typeface="Verdana"/>
                          <a:cs typeface="Verdana"/>
                        </a:rPr>
                        <m:t>∙______</m:t>
                      </m:r>
                    </m:oMath>
                  </m:oMathPara>
                </a14:m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1427163"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F79646"/>
                          </a:solidFill>
                          <a:latin typeface="Cambria Math"/>
                          <a:ea typeface="Verdana"/>
                          <a:cs typeface="Verdana"/>
                        </a:rPr>
                        <m:t>100</m:t>
                      </m:r>
                      <m:r>
                        <a:rPr lang="en-US" sz="2000" i="1">
                          <a:solidFill>
                            <a:srgbClr val="F79646"/>
                          </a:solidFill>
                          <a:latin typeface="Cambria Math"/>
                          <a:ea typeface="Verdana"/>
                          <a:cs typeface="Verdana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Verdana"/>
                          <a:cs typeface="Verdana"/>
                        </a:rPr>
                        <m:t>=</m:t>
                      </m:r>
                    </m:oMath>
                  </m:oMathPara>
                </a14:m>
                <a:endParaRPr lang="en-US" sz="2000" dirty="0">
                  <a:latin typeface="Verdana"/>
                  <a:ea typeface="Verdana"/>
                  <a:cs typeface="Verdana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35" y="1462110"/>
                <a:ext cx="10800000" cy="4867166"/>
              </a:xfrm>
              <a:prstGeom prst="rect">
                <a:avLst/>
              </a:prstGeom>
              <a:blipFill rotWithShape="1">
                <a:blip r:embed="rId4"/>
                <a:stretch>
                  <a:fillRect l="-621" t="-62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755824" y="4247949"/>
            <a:ext cx="914400" cy="45720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755824" y="5788882"/>
            <a:ext cx="914400" cy="457200"/>
          </a:xfrm>
          <a:prstGeom prst="rect">
            <a:avLst/>
          </a:prstGeom>
          <a:noFill/>
          <a:ln w="12700">
            <a:solidFill>
              <a:srgbClr val="F796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45854" y="392269"/>
                <a:ext cx="10800000" cy="374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These relationships can be used to 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represented as a fraction. Complete the steps shown.</a:t>
                </a:r>
              </a:p>
              <a:p>
                <a:pPr marL="3175" algn="ctr"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F79646"/>
                          </a:solidFill>
                          <a:latin typeface="Cambria Math"/>
                          <a:ea typeface="Verdana"/>
                          <a:cs typeface="Verdana"/>
                        </a:rPr>
                        <m:t>100</m:t>
                      </m:r>
                      <m:r>
                        <a:rPr lang="en-US" sz="2000" i="1">
                          <a:solidFill>
                            <a:srgbClr val="F79646"/>
                          </a:solidFill>
                          <a:latin typeface="Cambria Math"/>
                          <a:ea typeface="Verdana"/>
                          <a:cs typeface="Verdana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Verdana"/>
                          <a:cs typeface="Verdana"/>
                        </a:rPr>
                        <m:t>−</m:t>
                      </m:r>
                      <m:r>
                        <a:rPr lang="en-US" sz="2000" i="1">
                          <a:solidFill>
                            <a:srgbClr val="00B0F0"/>
                          </a:solidFill>
                          <a:latin typeface="Cambria Math"/>
                          <a:ea typeface="Verdana"/>
                          <a:cs typeface="Verdana"/>
                        </a:rPr>
                        <m:t>10</m:t>
                      </m:r>
                      <m:r>
                        <a:rPr lang="en-US" sz="2000" i="1">
                          <a:solidFill>
                            <a:srgbClr val="00B0F0"/>
                          </a:solidFill>
                          <a:latin typeface="Cambria Math"/>
                          <a:ea typeface="Verdana"/>
                          <a:cs typeface="Verdana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Verdana"/>
                          <a:cs typeface="Verdana"/>
                        </a:rPr>
                        <m:t>=                   −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175" algn="ctr">
                  <a:lnSpc>
                    <a:spcPct val="150000"/>
                  </a:lnSpc>
                  <a:tabLst>
                    <a:tab pos="2598738" algn="l"/>
                  </a:tabLst>
                </a:pPr>
                <a:r>
                  <a:rPr lang="en-US" sz="2000" dirty="0">
                    <a:solidFill>
                      <a:srgbClr val="7030A0"/>
                    </a:solidFill>
                    <a:latin typeface="Verdana"/>
                    <a:ea typeface="Verdana"/>
                    <a:cs typeface="Verdana"/>
                  </a:rPr>
                  <a:t>____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7030A0"/>
                        </a:solidFill>
                        <a:latin typeface="Cambria Math"/>
                        <a:ea typeface="Verdana"/>
                        <a:cs typeface="Verdana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Verdana"/>
                    <a:ea typeface="Verdana"/>
                    <a:cs typeface="Verdana"/>
                  </a:rPr>
                  <a:t> = _____</a:t>
                </a:r>
              </a:p>
              <a:p>
                <a:pPr algn="ctr"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C0504D"/>
                          </a:solidFill>
                          <a:latin typeface="Cambria Math"/>
                          <a:ea typeface="Verdana"/>
                          <a:cs typeface="Verdana"/>
                        </a:rPr>
                        <m:t>𝑥</m:t>
                      </m:r>
                      <m:r>
                        <a:rPr lang="en-US" sz="2000" i="1">
                          <a:solidFill>
                            <a:srgbClr val="C0504D"/>
                          </a:solidFill>
                          <a:latin typeface="Cambria Math"/>
                          <a:ea typeface="Verdana"/>
                          <a:cs typeface="Verdana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C0504D"/>
                              </a:solidFill>
                              <a:latin typeface="Cambria Math" panose="02040503050406030204" pitchFamily="18" charset="0"/>
                              <a:ea typeface="Verdana"/>
                              <a:cs typeface="Verdana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C0504D"/>
                              </a:solidFill>
                              <a:latin typeface="Cambria Math"/>
                              <a:ea typeface="Verdana"/>
                              <a:cs typeface="Verdana"/>
                            </a:rPr>
                            <m:t>                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C0504D"/>
                              </a:solidFill>
                              <a:latin typeface="Cambria Math"/>
                              <a:ea typeface="Verdana"/>
                              <a:cs typeface="Verdana"/>
                            </a:rPr>
                            <m:t>              </m:t>
                          </m:r>
                        </m:den>
                      </m:f>
                    </m:oMath>
                  </m:oMathPara>
                </a14:m>
                <a:endParaRPr lang="en-PH" sz="2000" dirty="0">
                  <a:solidFill>
                    <a:srgbClr val="C0504D"/>
                  </a:solidFill>
                  <a:latin typeface="Verdana" panose="020B0604030504040204" pitchFamily="34" charset="0"/>
                  <a:ea typeface="Verdana"/>
                  <a:cs typeface="Verdana"/>
                </a:endParaRPr>
              </a:p>
              <a:p>
                <a:pPr marL="914400" indent="-457200">
                  <a:lnSpc>
                    <a:spcPct val="250000"/>
                  </a:lnSpc>
                  <a:buFont typeface="+mj-lt"/>
                  <a:buAutoNum type="alphaLcPeriod" startAt="4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Rewrite the solution as a fraction in simplest form..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54" y="392269"/>
                <a:ext cx="10800000" cy="3746860"/>
              </a:xfrm>
              <a:prstGeom prst="rect">
                <a:avLst/>
              </a:prstGeom>
              <a:blipFill rotWithShape="1">
                <a:blip r:embed="rId3"/>
                <a:stretch>
                  <a:fillRect t="-97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6156466" y="1312393"/>
            <a:ext cx="2218944" cy="457200"/>
            <a:chOff x="4754802" y="1208869"/>
            <a:chExt cx="2218944" cy="457200"/>
          </a:xfrm>
        </p:grpSpPr>
        <p:sp>
          <p:nvSpPr>
            <p:cNvPr id="6" name="Rectangle 5"/>
            <p:cNvSpPr/>
            <p:nvPr/>
          </p:nvSpPr>
          <p:spPr>
            <a:xfrm>
              <a:off x="6059346" y="1208869"/>
              <a:ext cx="914400" cy="457200"/>
            </a:xfrm>
            <a:prstGeom prst="rect">
              <a:avLst/>
            </a:prstGeom>
            <a:noFill/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754802" y="1208869"/>
              <a:ext cx="914400" cy="457200"/>
            </a:xfrm>
            <a:prstGeom prst="rect">
              <a:avLst/>
            </a:prstGeom>
            <a:noFill/>
            <a:ln w="12700">
              <a:solidFill>
                <a:srgbClr val="F796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/>
                <a:t>c</a:t>
              </a:r>
              <a:endParaRPr lang="en-US" dirty="0"/>
            </a:p>
          </p:txBody>
        </p:sp>
      </p:grpSp>
      <p:sp>
        <p:nvSpPr>
          <p:cNvPr id="9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45854" y="377993"/>
                <a:ext cx="10800000" cy="449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Consider the repeating decimal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0.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36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=0.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36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, complete each equation.</a:t>
                </a:r>
              </a:p>
              <a:p>
                <a:pPr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PH" sz="2000" i="1">
                          <a:latin typeface="Cambria Math"/>
                          <a:ea typeface="Verdana"/>
                          <a:cs typeface="Verdana"/>
                        </a:rPr>
                        <m:t>𝑥</m:t>
                      </m:r>
                      <m:r>
                        <a:rPr lang="en-PH" sz="2000" i="1">
                          <a:latin typeface="Cambria Math"/>
                          <a:ea typeface="Verdana"/>
                          <a:cs typeface="Verdana"/>
                        </a:rPr>
                        <m:t>=0.</m:t>
                      </m:r>
                      <m:bar>
                        <m:barPr>
                          <m:pos m:val="top"/>
                          <m:ctrlPr>
                            <a:rPr lang="en-PH" sz="2000" i="1">
                              <a:latin typeface="Cambria Math" panose="02040503050406030204" pitchFamily="18" charset="0"/>
                              <a:ea typeface="Verdana"/>
                            </a:rPr>
                          </m:ctrlPr>
                        </m:barPr>
                        <m:e>
                          <m:r>
                            <a:rPr lang="en-PH" sz="2000" i="1">
                              <a:latin typeface="Cambria Math"/>
                              <a:ea typeface="Verdana"/>
                            </a:rPr>
                            <m:t>36</m:t>
                          </m:r>
                        </m:e>
                      </m:bar>
                    </m:oMath>
                  </m:oMathPara>
                </a14:m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/>
                        <a:cs typeface="Verdana"/>
                      </a:rPr>
                      <m:t>10</m:t>
                    </m:r>
                    <m:r>
                      <a:rPr lang="en-PH" sz="2000" i="1">
                        <a:latin typeface="Cambria Math"/>
                        <a:ea typeface="Verdana"/>
                        <a:cs typeface="Verdana"/>
                      </a:rPr>
                      <m:t>𝑥</m:t>
                    </m:r>
                    <m:r>
                      <a:rPr lang="en-PH" sz="2000" i="1">
                        <a:latin typeface="Cambria Math"/>
                        <a:ea typeface="Verdana"/>
                        <a:cs typeface="Verdana"/>
                      </a:rPr>
                      <m:t>= 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__________</a:t>
                </a:r>
              </a:p>
              <a:p>
                <a:pPr algn="ctr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/>
                        <a:cs typeface="Verdana"/>
                      </a:rPr>
                      <m:t>100</m:t>
                    </m:r>
                    <m:r>
                      <a:rPr lang="en-PH" sz="2000" i="1">
                        <a:latin typeface="Cambria Math"/>
                        <a:ea typeface="Verdana"/>
                        <a:cs typeface="Verdana"/>
                      </a:rPr>
                      <m:t>𝑥</m:t>
                    </m:r>
                    <m:r>
                      <a:rPr lang="en-PH" sz="2000" i="1">
                        <a:latin typeface="Cambria Math"/>
                        <a:ea typeface="Verdana"/>
                        <a:cs typeface="Verdana"/>
                      </a:rPr>
                      <m:t>= 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__________</a:t>
                </a:r>
              </a:p>
              <a:p>
                <a:pPr marL="2743200">
                  <a:lnSpc>
                    <a:spcPct val="200000"/>
                  </a:lnSpc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Which two values, when subtracted, would result in the repeating portion of the decimal being eliminated?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54" y="377993"/>
                <a:ext cx="10800000" cy="4493346"/>
              </a:xfrm>
              <a:prstGeom prst="rect">
                <a:avLst/>
              </a:prstGeom>
              <a:blipFill rotWithShape="1">
                <a:blip r:embed="rId3"/>
                <a:stretch>
                  <a:fillRect l="-621" t="-81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1036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45854" y="382536"/>
                <a:ext cx="10800000" cy="4029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Use two of the relationships represented in the equations in Part A to complete the steps to find the fraction equivalent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0.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36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</a:p>
              <a:p>
                <a:pPr algn="ctr">
                  <a:lnSpc>
                    <a:spcPct val="250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itchFamily="18" charset="0"/>
                          <a:ea typeface="Cambria Math" pitchFamily="18" charset="0"/>
                          <a:cs typeface="Verdana"/>
                        </a:rPr>
                        <m:t>_________−_________= _________− _________</m:t>
                      </m:r>
                    </m:oMath>
                  </m:oMathPara>
                </a14:m>
                <a:endParaRPr lang="en-US" sz="2000" dirty="0">
                  <a:latin typeface="Cambria Math" pitchFamily="18" charset="0"/>
                  <a:ea typeface="Cambria Math" pitchFamily="18" charset="0"/>
                  <a:cs typeface="Verdan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itchFamily="18" charset="0"/>
                        <a:ea typeface="Cambria Math" pitchFamily="18" charset="0"/>
                        <a:cs typeface="Verdana"/>
                      </a:rPr>
                      <m:t>_________</m:t>
                    </m:r>
                    <m:r>
                      <a:rPr lang="en-US" sz="2000" i="1">
                        <a:latin typeface="Cambria Math" pitchFamily="18" charset="0"/>
                        <a:ea typeface="Cambria Math" pitchFamily="18" charset="0"/>
                        <a:cs typeface="Verdana"/>
                      </a:rPr>
                      <m:t>𝑥</m:t>
                    </m:r>
                  </m:oMath>
                </a14:m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Verdana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itchFamily="18" charset="0"/>
                        <a:ea typeface="Cambria Math" pitchFamily="18" charset="0"/>
                        <a:cs typeface="Verdana"/>
                      </a:rPr>
                      <m:t>_________</m:t>
                    </m:r>
                  </m:oMath>
                </a14:m>
                <a:endParaRPr lang="en-US" sz="2000" dirty="0">
                  <a:latin typeface="Cambria Math" pitchFamily="18" charset="0"/>
                  <a:ea typeface="Cambria Math" pitchFamily="18" charset="0"/>
                  <a:cs typeface="Verdana"/>
                </a:endParaRPr>
              </a:p>
              <a:p>
                <a:pPr algn="ctr"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  <a:ea typeface="Verdana"/>
                          <a:cs typeface="Verdana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Verdana"/>
                          <a:cs typeface="Verdana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/>
                              <a:cs typeface="Verdana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  <a:ea typeface="Verdana"/>
                              <a:cs typeface="Verdana"/>
                            </a:rPr>
                            <m:t>                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Verdana"/>
                              <a:cs typeface="Verdana"/>
                            </a:rPr>
                            <m:t>              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spcBef>
                    <a:spcPts val="2400"/>
                  </a:spcBef>
                  <a:buFont typeface="+mj-lt"/>
                  <a:buAutoNum type="alphaLcPeriod" startAt="4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Rewrite the solution as a fraction in simplest form, if possible.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54" y="382536"/>
                <a:ext cx="10800000" cy="4029693"/>
              </a:xfrm>
              <a:prstGeom prst="rect">
                <a:avLst/>
              </a:prstGeom>
              <a:blipFill rotWithShape="1">
                <a:blip r:embed="rId3"/>
                <a:stretch>
                  <a:fillRect t="-90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3060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02372" y="89371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2.4.3 Guided Practice: Rewriting Repeating Decimals as Fractions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2583" y="37731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48371" y="1468224"/>
                <a:ext cx="10079257" cy="41855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Consider the repeating decimal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0.3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8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=0.3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8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, complete each equation.</a:t>
                </a:r>
              </a:p>
              <a:p>
                <a:pPr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PH" sz="2000" i="1">
                          <a:latin typeface="Cambria Math"/>
                          <a:ea typeface="Verdana"/>
                          <a:cs typeface="Verdana"/>
                        </a:rPr>
                        <m:t>𝑥</m:t>
                      </m:r>
                      <m:r>
                        <a:rPr lang="en-PH" sz="2000" i="1">
                          <a:latin typeface="Cambria Math"/>
                          <a:ea typeface="Verdana"/>
                          <a:cs typeface="Verdana"/>
                        </a:rPr>
                        <m:t>=0.3</m:t>
                      </m:r>
                      <m:bar>
                        <m:barPr>
                          <m:pos m:val="top"/>
                          <m:ctrlPr>
                            <a:rPr lang="en-PH" sz="2000" i="1">
                              <a:latin typeface="Cambria Math" panose="02040503050406030204" pitchFamily="18" charset="0"/>
                              <a:ea typeface="Verdana"/>
                            </a:rPr>
                          </m:ctrlPr>
                        </m:barPr>
                        <m:e>
                          <m:r>
                            <a:rPr lang="en-PH" sz="2000" i="1">
                              <a:latin typeface="Cambria Math"/>
                              <a:ea typeface="Verdana"/>
                            </a:rPr>
                            <m:t>8</m:t>
                          </m:r>
                        </m:e>
                      </m:bar>
                    </m:oMath>
                  </m:oMathPara>
                </a14:m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/>
                        <a:cs typeface="Verdana"/>
                      </a:rPr>
                      <m:t>10</m:t>
                    </m:r>
                    <m:r>
                      <a:rPr lang="en-PH" sz="2000" i="1">
                        <a:latin typeface="Cambria Math"/>
                        <a:ea typeface="Verdana"/>
                        <a:cs typeface="Verdana"/>
                      </a:rPr>
                      <m:t>𝑥</m:t>
                    </m:r>
                    <m:r>
                      <a:rPr lang="en-PH" sz="2000" i="1">
                        <a:latin typeface="Cambria Math"/>
                        <a:ea typeface="Verdana"/>
                        <a:cs typeface="Verdana"/>
                      </a:rPr>
                      <m:t>= 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__________</a:t>
                </a:r>
              </a:p>
              <a:p>
                <a:pPr algn="ctr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/>
                        <a:cs typeface="Verdana"/>
                      </a:rPr>
                      <m:t>100</m:t>
                    </m:r>
                    <m:r>
                      <a:rPr lang="en-PH" sz="2000" i="1">
                        <a:latin typeface="Cambria Math"/>
                        <a:ea typeface="Verdana"/>
                        <a:cs typeface="Verdana"/>
                      </a:rPr>
                      <m:t>𝑥</m:t>
                    </m:r>
                    <m:r>
                      <a:rPr lang="en-PH" sz="2000" i="1">
                        <a:latin typeface="Cambria Math"/>
                        <a:ea typeface="Verdana"/>
                        <a:cs typeface="Verdana"/>
                      </a:rPr>
                      <m:t>= 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__________</a:t>
                </a:r>
              </a:p>
              <a:p>
                <a:pPr marL="2743200">
                  <a:lnSpc>
                    <a:spcPct val="200000"/>
                  </a:lnSpc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Which two values, when subtracted, would result in the repeating portion of the decimal being eliminated?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371" y="1468224"/>
                <a:ext cx="10079257" cy="4185569"/>
              </a:xfrm>
              <a:prstGeom prst="rect">
                <a:avLst/>
              </a:prstGeom>
              <a:blipFill rotWithShape="1">
                <a:blip r:embed="rId4"/>
                <a:stretch>
                  <a:fillRect l="-665" t="-875" b="-174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545854" y="384004"/>
                <a:ext cx="10410013" cy="4422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Use two of the relationships represented in the equations in Part A to complete the steps to find the fraction equivalent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0.3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8</m:t>
                        </m:r>
                      </m:e>
                    </m:acc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</a:t>
                </a:r>
              </a:p>
              <a:p>
                <a:pPr algn="ctr">
                  <a:lnSpc>
                    <a:spcPct val="250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itchFamily="18" charset="0"/>
                          <a:ea typeface="Cambria Math" pitchFamily="18" charset="0"/>
                          <a:cs typeface="Verdana"/>
                        </a:rPr>
                        <m:t>_________−_________= _________− _________</m:t>
                      </m:r>
                    </m:oMath>
                  </m:oMathPara>
                </a14:m>
                <a:endParaRPr lang="en-US" sz="2400" dirty="0">
                  <a:latin typeface="Cambria Math" pitchFamily="18" charset="0"/>
                  <a:ea typeface="Cambria Math" pitchFamily="18" charset="0"/>
                  <a:cs typeface="Verdan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  <a:cs typeface="Verdana"/>
                      </a:rPr>
                      <m:t>_________</m:t>
                    </m:r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  <a:cs typeface="Verdana"/>
                      </a:rPr>
                      <m:t>𝑥</m:t>
                    </m:r>
                  </m:oMath>
                </a14:m>
                <a:r>
                  <a:rPr lang="en-US" sz="2400" dirty="0">
                    <a:latin typeface="Cambria Math" pitchFamily="18" charset="0"/>
                    <a:ea typeface="Cambria Math" pitchFamily="18" charset="0"/>
                    <a:cs typeface="Verdana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  <a:cs typeface="Verdana"/>
                      </a:rPr>
                      <m:t>_________</m:t>
                    </m:r>
                  </m:oMath>
                </a14:m>
                <a:endParaRPr lang="en-US" sz="2400" dirty="0">
                  <a:latin typeface="Cambria Math" pitchFamily="18" charset="0"/>
                  <a:ea typeface="Cambria Math" pitchFamily="18" charset="0"/>
                  <a:cs typeface="Verdana"/>
                </a:endParaRPr>
              </a:p>
              <a:p>
                <a:pPr algn="ctr"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  <a:ea typeface="Verdana"/>
                          <a:cs typeface="Verdana"/>
                        </a:rPr>
                        <m:t>𝑥</m:t>
                      </m:r>
                      <m:r>
                        <a:rPr lang="en-US" sz="2400" i="1">
                          <a:latin typeface="Cambria Math"/>
                          <a:ea typeface="Verdana"/>
                          <a:cs typeface="Verdana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Verdana"/>
                              <a:cs typeface="Verdana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  <a:ea typeface="Verdana"/>
                              <a:cs typeface="Verdana"/>
                            </a:rPr>
                            <m:t>                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  <a:ea typeface="Verdana"/>
                              <a:cs typeface="Verdana"/>
                            </a:rPr>
                            <m:t>              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54" y="384004"/>
                <a:ext cx="10410013" cy="4422173"/>
              </a:xfrm>
              <a:prstGeom prst="rect">
                <a:avLst/>
              </a:prstGeom>
              <a:blipFill rotWithShape="1">
                <a:blip r:embed="rId3"/>
                <a:stretch>
                  <a:fillRect t="-1103" r="-93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545854" y="381748"/>
                <a:ext cx="10800000" cy="4155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Rewrite the solution as a fraction in simplest form, if possible.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Write the fraction or mixed number that is equivalent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14.3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8</m:t>
                        </m:r>
                      </m:e>
                    </m:acc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54" y="381748"/>
                <a:ext cx="10800000" cy="4155753"/>
              </a:xfrm>
              <a:prstGeom prst="rect">
                <a:avLst/>
              </a:prstGeom>
              <a:blipFill rotWithShape="1">
                <a:blip r:embed="rId3"/>
                <a:stretch>
                  <a:fillRect t="-1175" r="-112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3778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2372" y="89371"/>
            <a:ext cx="847870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2.4.4 Collaboration: Fractions, Decimals, and Percentages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2583" y="37731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41482" y="1463365"/>
                <a:ext cx="10800000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/>
                    <a:ea typeface="Verdana"/>
                    <a:cs typeface="Verdana"/>
                  </a:rPr>
                  <a:t>Work with your partner to complete the following.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In a standard deck of Uno cards, there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24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action cards that include “Skip,” “Draw Two,” and “Reverse.” There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108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cards in an Uno deck.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What fraction of the Uno cards are action cards?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Express your answer to part a as a decimal and a percentage.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82" y="1463365"/>
                <a:ext cx="10800000" cy="3170099"/>
              </a:xfrm>
              <a:prstGeom prst="rect">
                <a:avLst/>
              </a:prstGeom>
              <a:blipFill rotWithShape="1">
                <a:blip r:embed="rId4"/>
                <a:stretch>
                  <a:fillRect l="-621" t="-9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6A18DD6C-446D-A641-972C-BC7EF386945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618973"/>
              </p:ext>
            </p:extLst>
          </p:nvPr>
        </p:nvGraphicFramePr>
        <p:xfrm>
          <a:off x="1569508" y="4136726"/>
          <a:ext cx="6096000" cy="17068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Decimal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Percent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5854" y="376797"/>
                <a:ext cx="10800000" cy="3632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Discuss with your partner why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22%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would be an incorrect equivalent value and summarize your discussion in the space below.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 err="1">
                    <a:latin typeface="Verdana"/>
                    <a:ea typeface="Verdana"/>
                    <a:cs typeface="Verdana"/>
                  </a:rPr>
                  <a:t>Aliyah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played a game using one standard die. There is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33.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3</m:t>
                        </m:r>
                      </m:e>
                    </m:acc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%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chance of winning the game on any roll.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Express the chances of winning the game as a fraction and a decimal.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54" y="376797"/>
                <a:ext cx="10800000" cy="3632469"/>
              </a:xfrm>
              <a:prstGeom prst="rect">
                <a:avLst/>
              </a:prstGeom>
              <a:blipFill rotWithShape="1">
                <a:blip r:embed="rId3"/>
                <a:stretch>
                  <a:fillRect l="-621" t="-10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C2F4C951-E46B-E944-87E2-3B81D09643B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19261"/>
              </p:ext>
            </p:extLst>
          </p:nvPr>
        </p:nvGraphicFramePr>
        <p:xfrm>
          <a:off x="1589617" y="3545912"/>
          <a:ext cx="6096000" cy="17068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Decimal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Percent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5854" y="380069"/>
            <a:ext cx="10800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Which representation – decimal, fraction, or percentage – is the easiest way to describe the chance of a winning roll?</a:t>
            </a: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What are the possible results in the sample space when rolling a standard six-sided die?</a:t>
            </a: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Discuss with your partner what you think the rules of </a:t>
            </a:r>
            <a:r>
              <a:rPr lang="en-US" sz="2000" dirty="0" err="1">
                <a:latin typeface="Verdana"/>
                <a:ea typeface="Verdana"/>
                <a:cs typeface="Verdana"/>
              </a:rPr>
              <a:t>Aliyah’s</a:t>
            </a:r>
            <a:r>
              <a:rPr lang="en-US" sz="2000" dirty="0">
                <a:latin typeface="Verdana"/>
                <a:ea typeface="Verdana"/>
                <a:cs typeface="Verdana"/>
              </a:rPr>
              <a:t> game might be. Then, complete the statement with one possibility.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To win the game, </a:t>
            </a:r>
            <a:r>
              <a:rPr lang="en-US" sz="2000" dirty="0" err="1">
                <a:latin typeface="Verdana"/>
                <a:ea typeface="Verdana"/>
                <a:cs typeface="Verdana"/>
              </a:rPr>
              <a:t>Aliyah</a:t>
            </a:r>
            <a:r>
              <a:rPr lang="en-US" sz="2000" dirty="0">
                <a:latin typeface="Verdana"/>
                <a:ea typeface="Verdana"/>
                <a:cs typeface="Verdana"/>
              </a:rPr>
              <a:t> must roll ________________________________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___________________________________________________________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___________________________________________________________.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C2F4C951-E46B-E944-87E2-3B81D09643B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3546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82391" y="377317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2.4.5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091" y="377317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49949" y="1463169"/>
                <a:ext cx="10800000" cy="3940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In a package of Skittles, Carmela found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21%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of them were red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Cambria Math"/>
                        <a:cs typeface="Cambria Math"/>
                      </a:rPr>
                      <m:t>0.1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accPr>
                      <m:e>
                        <m:r>
                          <a:rPr lang="en-US" sz="2000">
                            <a:latin typeface="Cambria Math"/>
                            <a:ea typeface="Cambria Math"/>
                            <a:cs typeface="Cambria Math"/>
                          </a:rPr>
                          <m:t>6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were green.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What fraction of the Skittles was red?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What fraction of the Skittles was green?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Cambria Math"/>
                    <a:cs typeface="Cambria Math"/>
                  </a:rPr>
                  <a:t>She found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17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60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skittles are purple. What percent of the Skittles are purple?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49" y="1463169"/>
                <a:ext cx="10800000" cy="3940246"/>
              </a:xfrm>
              <a:prstGeom prst="rect">
                <a:avLst/>
              </a:prstGeom>
              <a:blipFill rotWithShape="1">
                <a:blip r:embed="rId4"/>
                <a:stretch>
                  <a:fillRect l="-564" t="-929" b="-185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134A47CD-5DBB-654A-843E-9182A1B8FB7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90212" y="89371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2.4.6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12" y="377317"/>
            <a:ext cx="747300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45854" y="1465873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Complete the table.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7093491"/>
                  </p:ext>
                </p:extLst>
              </p:nvPr>
            </p:nvGraphicFramePr>
            <p:xfrm>
              <a:off x="1165453" y="2013368"/>
              <a:ext cx="7386297" cy="4143504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6746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746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746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62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Decimal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Percent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Fraction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Mixed Number, </a:t>
                          </a:r>
                          <a:b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if Possible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377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PH" sz="2000" b="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63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37756">
                    <a:tc>
                      <a:txBody>
                        <a:bodyPr/>
                        <a:lstStyle/>
                        <a:p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12.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PH" sz="2000" b="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12</m:t>
                                    </m:r>
                                  </m:e>
                                </m:bar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37756">
                    <a:tc>
                      <a:txBody>
                        <a:bodyPr/>
                        <a:lstStyle/>
                        <a:p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16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37756"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ea typeface="Verdana" pitchFamily="34" charset="0"/>
                            </a:rPr>
                            <a:t> </a:t>
                          </a:r>
                          <a:r>
                            <a:rPr lang="en-US" sz="2000" dirty="0">
                              <a:latin typeface="Cambria Math" pitchFamily="18" charset="0"/>
                              <a:ea typeface="Cambria Math" pitchFamily="18" charset="0"/>
                            </a:rPr>
                            <a:t>9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0" smtClean="0">
                                  <a:latin typeface="Cambria Math"/>
                                  <a:ea typeface="Verdana" pitchFamily="34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22</m:t>
                                  </m:r>
                                </m:den>
                              </m:f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7093491"/>
                  </p:ext>
                </p:extLst>
              </p:nvPr>
            </p:nvGraphicFramePr>
            <p:xfrm>
              <a:off x="1165453" y="2013368"/>
              <a:ext cx="7386297" cy="4143504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67469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67469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67469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2362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Decimal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Percent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Fraction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Mixed Number, </a:t>
                          </a:r>
                          <a:b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if Possible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8377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94203" r="-340727" b="-2985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837756">
                    <a:tc>
                      <a:txBody>
                        <a:bodyPr/>
                        <a:lstStyle/>
                        <a:p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95620" r="-240727" b="-200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837756">
                    <a:tc>
                      <a:txBody>
                        <a:bodyPr/>
                        <a:lstStyle/>
                        <a:p>
                          <a:endParaRPr lang="en-US" sz="200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0730" t="-293478" r="-141606" b="-992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837756"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2371" t="-3963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Google Shape;282;g104476d1465_1_17"/>
          <p:cNvSpPr txBox="1"/>
          <p:nvPr/>
        </p:nvSpPr>
        <p:spPr>
          <a:xfrm>
            <a:off x="8889924" y="64901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815" y="61568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1055</Words>
  <Application>Microsoft Office PowerPoint</Application>
  <PresentationFormat>Widescreen</PresentationFormat>
  <Paragraphs>168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 Black</vt:lpstr>
      <vt:lpstr>Verdana</vt:lpstr>
      <vt:lpstr>Century Gothic</vt:lpstr>
      <vt:lpstr>Arial</vt:lpstr>
      <vt:lpstr>Cambria Math</vt:lpstr>
      <vt:lpstr>Calibri</vt:lpstr>
      <vt:lpstr>1_Office Theme</vt:lpstr>
      <vt:lpstr>7th Grade Math  Unit 2, Lesson 4  Converting Between Repeating Decimals and Fractions  Volume 1, pg. 52  </vt:lpstr>
      <vt:lpstr>PowerPoint Presentation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38</cp:revision>
  <dcterms:created xsi:type="dcterms:W3CDTF">2015-03-17T18:51:18Z</dcterms:created>
  <dcterms:modified xsi:type="dcterms:W3CDTF">2022-07-11T01:44:15Z</dcterms:modified>
</cp:coreProperties>
</file>