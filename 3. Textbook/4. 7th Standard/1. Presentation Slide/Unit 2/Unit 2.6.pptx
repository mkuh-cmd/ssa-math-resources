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317" r:id="rId9"/>
    <p:sldId id="318" r:id="rId10"/>
    <p:sldId id="319" r:id="rId11"/>
    <p:sldId id="323" r:id="rId12"/>
    <p:sldId id="324" r:id="rId13"/>
    <p:sldId id="325" r:id="rId14"/>
    <p:sldId id="326" r:id="rId15"/>
    <p:sldId id="327" r:id="rId16"/>
    <p:sldId id="328" r:id="rId17"/>
    <p:sldId id="302" r:id="rId18"/>
    <p:sldId id="303" r:id="rId19"/>
    <p:sldId id="309" r:id="rId20"/>
    <p:sldId id="306" r:id="rId21"/>
    <p:sldId id="307" r:id="rId22"/>
    <p:sldId id="310" r:id="rId23"/>
  </p:sldIdLst>
  <p:sldSz cx="12192000" cy="6858000"/>
  <p:notesSz cx="6858000" cy="9144000"/>
  <p:embeddedFontLst>
    <p:embeddedFont>
      <p:font typeface="Arial Black" panose="020B0A04020102020204" pitchFamily="34" charset="0"/>
      <p:bold r:id="rId25"/>
    </p:embeddedFont>
    <p:embeddedFont>
      <p:font typeface="Calibri" panose="020F0502020204030204" pitchFamily="34" charset="0"/>
      <p:regular r:id="rId26"/>
      <p:bold r:id="rId27"/>
      <p:italic r:id="rId28"/>
      <p:boldItalic r:id="rId29"/>
    </p:embeddedFont>
    <p:embeddedFont>
      <p:font typeface="Cambria Math" panose="02040503050406030204" pitchFamily="18" charset="0"/>
      <p:regular r:id="rId30"/>
    </p:embeddedFont>
    <p:embeddedFont>
      <p:font typeface="Century Gothic" panose="020B050202020202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23"/>
    <p:restoredTop sz="94719"/>
  </p:normalViewPr>
  <p:slideViewPr>
    <p:cSldViewPr snapToGrid="0">
      <p:cViewPr varScale="1">
        <p:scale>
          <a:sx n="53" d="100"/>
          <a:sy n="53" d="100"/>
        </p:scale>
        <p:origin x="102" y="29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4840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54045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54045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2, Lesson 6</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Comparing Probabilities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63</a:t>
            </a:r>
          </a:p>
          <a:p>
            <a:pPr algn="ctr">
              <a:lnSpc>
                <a:spcPct val="100000"/>
              </a:lnSpc>
              <a:buClr>
                <a:srgbClr val="000000"/>
              </a:buClr>
            </a:pPr>
            <a:endParaRPr lang="en-US" sz="34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latin typeface="Verdana"/>
                <a:ea typeface="Times New Roman"/>
                <a:cs typeface="Times New Roman"/>
              </a:rPr>
              <a:t>MA.7.DP.2.2 </a:t>
            </a:r>
          </a:p>
          <a:p>
            <a:pPr marL="0" indent="0">
              <a:buSzPts val="1100"/>
              <a:buNone/>
            </a:pPr>
            <a:r>
              <a:rPr lang="en-US" sz="3500" dirty="0">
                <a:latin typeface="Verdana"/>
                <a:ea typeface="Times New Roman"/>
                <a:cs typeface="Times New Roman"/>
              </a:rPr>
              <a:t>	Given the probability of a chance event, 	interpret the likelihood of it occurring. 	Compare the probabilities of chance 	events.</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pic>
        <p:nvPicPr>
          <p:cNvPr id="10" name="Google Shape;281;g104476d1465_1_17"/>
          <p:cNvPicPr preferRelativeResize="0"/>
          <p:nvPr/>
        </p:nvPicPr>
        <p:blipFill>
          <a:blip r:embed="rId4">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3" name="Google Shape;295;g103996e1364_0_10">
            <a:extLst>
              <a:ext uri="{FF2B5EF4-FFF2-40B4-BE49-F238E27FC236}">
                <a16:creationId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4"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a:t>
            </a:r>
            <a:b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rPr>
              <a:t>real-world contexts.</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8;g104476d1465_1_17">
            <a:extLst>
              <a:ext uri="{FF2B5EF4-FFF2-40B4-BE49-F238E27FC236}">
                <a16:creationId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sp>
        <p:nvSpPr>
          <p:cNvPr id="11" name="Google Shape;301;g103996e1364_0_16">
            <a:extLst>
              <a:ext uri="{FF2B5EF4-FFF2-40B4-BE49-F238E27FC236}">
                <a16:creationId xmlns:a16="http://schemas.microsoft.com/office/drawing/2014/main"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3"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302;g103996e1364_0_16">
            <a:extLst>
              <a:ext uri="{FF2B5EF4-FFF2-40B4-BE49-F238E27FC236}">
                <a16:creationId xmlns:a16="http://schemas.microsoft.com/office/drawing/2014/main"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8650" indent="-628650">
              <a:buClr>
                <a:srgbClr val="434343"/>
              </a:buClr>
              <a:buSzPts val="3500"/>
              <a:buFont typeface="Verdana"/>
              <a:buChar char="❏"/>
            </a:pPr>
            <a:r>
              <a:rPr lang="en-US" sz="3500" dirty="0">
                <a:solidFill>
                  <a:schemeClr val="tx1"/>
                </a:solidFill>
                <a:latin typeface="Verdana"/>
                <a:ea typeface="Verdana"/>
                <a:cs typeface="Verdana"/>
                <a:sym typeface="Verdana"/>
              </a:rPr>
              <a:t>I can interpret the likelihood of a chance event occurring using probability.</a:t>
            </a: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a:p>
            <a:pPr marL="628650" indent="-628650">
              <a:buClr>
                <a:srgbClr val="434343"/>
              </a:buClr>
              <a:buSzPts val="3500"/>
              <a:buFont typeface="Verdana"/>
              <a:buChar char="❏"/>
            </a:pPr>
            <a:r>
              <a:rPr lang="en-US" sz="3500" dirty="0">
                <a:solidFill>
                  <a:schemeClr val="tx1"/>
                </a:solidFill>
                <a:latin typeface="Verdana"/>
                <a:ea typeface="Verdana"/>
                <a:cs typeface="Verdana"/>
                <a:sym typeface="Verdana"/>
              </a:rPr>
              <a:t>I can compare probabilities of chance events.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3916" y="-88032"/>
            <a:ext cx="1002854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2.6.1 Warm-Up: Statisticians Careers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730266" y="1362579"/>
            <a:ext cx="10800318" cy="3046988"/>
          </a:xfrm>
          <a:prstGeom prst="rect">
            <a:avLst/>
          </a:prstGeom>
          <a:noFill/>
        </p:spPr>
        <p:txBody>
          <a:bodyPr wrap="square" rtlCol="0">
            <a:spAutoFit/>
          </a:bodyPr>
          <a:lstStyle/>
          <a:p>
            <a:r>
              <a:rPr lang="en-US" sz="2400" dirty="0">
                <a:latin typeface="Verdana"/>
                <a:ea typeface="Times New Roman"/>
                <a:cs typeface="Times New Roman"/>
              </a:rPr>
              <a:t>Statisticians turn data into understandable and useful information. The government, health care industry, sports broadcasting, and many businesses have statisticians who analyze data to predict trends. Statisticians help businesses and industries with </a:t>
            </a:r>
            <a:br>
              <a:rPr lang="en-US" sz="2400" dirty="0">
                <a:latin typeface="Verdana"/>
                <a:ea typeface="Times New Roman"/>
                <a:cs typeface="Times New Roman"/>
              </a:rPr>
            </a:br>
            <a:r>
              <a:rPr lang="en-US" sz="2400" dirty="0">
                <a:latin typeface="Verdana"/>
                <a:ea typeface="Times New Roman"/>
                <a:cs typeface="Times New Roman"/>
              </a:rPr>
              <a:t>decision-making based on analysis.</a:t>
            </a:r>
          </a:p>
          <a:p>
            <a:endParaRPr lang="en-US" sz="2400" dirty="0">
              <a:latin typeface="Verdana"/>
              <a:ea typeface="Times New Roman"/>
              <a:cs typeface="Times New Roman"/>
            </a:endParaRPr>
          </a:p>
          <a:p>
            <a:pPr marL="457200" indent="-457200">
              <a:buFont typeface="+mj-lt"/>
              <a:buAutoNum type="arabicPeriod"/>
            </a:pPr>
            <a:r>
              <a:rPr lang="en-US" sz="2400" dirty="0">
                <a:latin typeface="Verdana"/>
                <a:ea typeface="Times New Roman"/>
                <a:cs typeface="Times New Roman"/>
              </a:rPr>
              <a:t>What are some real-world examples where you have seen statistics used?</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78;g104476d1465_1_17">
            <a:extLst>
              <a:ext uri="{FF2B5EF4-FFF2-40B4-BE49-F238E27FC236}">
                <a16:creationId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448596" y="543840"/>
            <a:ext cx="11262758" cy="3416320"/>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Times New Roman"/>
              </a:rPr>
              <a:t>Consider an industry you are interested in working in someday.</a:t>
            </a:r>
          </a:p>
          <a:p>
            <a:pPr marL="457200" indent="-457200">
              <a:buFont typeface="+mj-lt"/>
              <a:buAutoNum type="arabicPeriod" startAt="2"/>
            </a:pPr>
            <a:endParaRPr lang="en-US" sz="2400" dirty="0">
              <a:latin typeface="Verdana"/>
              <a:ea typeface="Times New Roman"/>
              <a:cs typeface="Times New Roman"/>
            </a:endParaRPr>
          </a:p>
          <a:p>
            <a:pPr marL="914400" indent="-457200">
              <a:buFont typeface="+mj-lt"/>
              <a:buAutoNum type="alphaLcPeriod"/>
            </a:pPr>
            <a:r>
              <a:rPr lang="en-US" sz="2400" dirty="0">
                <a:latin typeface="Verdana"/>
                <a:ea typeface="Times New Roman"/>
                <a:cs typeface="Times New Roman"/>
              </a:rPr>
              <a:t>What industry are you considering?</a:t>
            </a: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endParaRPr lang="en-PH" sz="2400" dirty="0">
              <a:latin typeface="Verdana"/>
              <a:ea typeface="Verdana" panose="020B0604030504040204" pitchFamily="34" charset="0"/>
              <a:cs typeface="Times New Roman"/>
            </a:endParaRPr>
          </a:p>
          <a:p>
            <a:pPr marL="914400" indent="-457200">
              <a:buFont typeface="+mj-lt"/>
              <a:buAutoNum type="alphaLcPeriod"/>
            </a:pPr>
            <a:r>
              <a:rPr lang="en-US" sz="2400" dirty="0">
                <a:latin typeface="Verdana"/>
                <a:ea typeface="Times New Roman"/>
                <a:cs typeface="Times New Roman"/>
              </a:rPr>
              <a:t>What is at least one way you could see trends in data and analysis of statistics used in this industry?</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endParaRPr i="1" dirty="0">
              <a:latin typeface="Calibri"/>
              <a:ea typeface="Calibri"/>
              <a:cs typeface="Calibri"/>
              <a:sym typeface="Calibri"/>
            </a:endParaRPr>
          </a:p>
        </p:txBody>
      </p:sp>
      <p:sp>
        <p:nvSpPr>
          <p:cNvPr id="11"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Activity</a:t>
            </a:r>
            <a:endParaRPr lang="en-US" sz="5100" b="1" dirty="0">
              <a:solidFill>
                <a:srgbClr val="33BEA6"/>
              </a:solidFill>
              <a:latin typeface="Verdana"/>
              <a:ea typeface="Verdana"/>
              <a:cs typeface="Verdana"/>
              <a:sym typeface="Verdana"/>
            </a:endParaRPr>
          </a:p>
        </p:txBody>
      </p:sp>
      <p:pic>
        <p:nvPicPr>
          <p:cNvPr id="1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111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6424" y="-10013"/>
            <a:ext cx="110855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2.6.2 Activity: Likelihood of Chance Events</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731520" y="1315687"/>
            <a:ext cx="10799064" cy="3323987"/>
          </a:xfrm>
          <a:prstGeom prst="rect">
            <a:avLst/>
          </a:prstGeom>
          <a:noFill/>
        </p:spPr>
        <p:txBody>
          <a:bodyPr wrap="square" rtlCol="0">
            <a:spAutoFit/>
          </a:bodyPr>
          <a:lstStyle/>
          <a:p>
            <a:r>
              <a:rPr lang="en-US" sz="2000" dirty="0">
                <a:latin typeface="Verdana"/>
                <a:ea typeface="Helvetica Neue"/>
                <a:cs typeface="Helvetica Neue"/>
              </a:rPr>
              <a:t>Work with your partner or group to order the events on the cards from least likely to most likely.</a:t>
            </a:r>
          </a:p>
          <a:p>
            <a:pPr>
              <a:spcBef>
                <a:spcPts val="1200"/>
              </a:spcBef>
            </a:pPr>
            <a:r>
              <a:rPr lang="en-US" sz="2000" dirty="0">
                <a:latin typeface="Verdana"/>
                <a:ea typeface="Helvetica Neue"/>
                <a:cs typeface="Helvetica Neue"/>
              </a:rPr>
              <a:t>After ordering the events, work with your partner or group to complete the following using the events from the card sort.</a:t>
            </a:r>
          </a:p>
          <a:p>
            <a:pPr marL="457200" indent="-457200">
              <a:spcBef>
                <a:spcPts val="1200"/>
              </a:spcBef>
              <a:buFont typeface="+mj-lt"/>
              <a:buAutoNum type="arabicPeriod"/>
            </a:pPr>
            <a:r>
              <a:rPr lang="en-US" sz="2000" dirty="0">
                <a:latin typeface="Verdana"/>
                <a:ea typeface="Helvetica Neue"/>
                <a:cs typeface="Helvetica Neue"/>
              </a:rPr>
              <a:t>Explain which event(s), if any, can be described as “impossible.”</a:t>
            </a:r>
          </a:p>
          <a:p>
            <a:pPr marL="457200" indent="-457200">
              <a:spcBef>
                <a:spcPts val="1200"/>
              </a:spcBef>
              <a:buFont typeface="+mj-lt"/>
              <a:buAutoNum type="arabicPeriod"/>
            </a:pPr>
            <a:endParaRPr lang="en-PH" sz="2000" dirty="0">
              <a:latin typeface="Verdana"/>
              <a:ea typeface="Verdana" panose="020B0604030504040204" pitchFamily="34" charset="0"/>
              <a:cs typeface="Verdana" panose="020B0604030504040204" pitchFamily="34" charset="0"/>
            </a:endParaRPr>
          </a:p>
          <a:p>
            <a:pPr marL="457200" indent="-457200">
              <a:spcBef>
                <a:spcPts val="1200"/>
              </a:spcBef>
              <a:buFont typeface="+mj-lt"/>
              <a:buAutoNum type="arabicPeriod"/>
            </a:pPr>
            <a:endParaRPr lang="en-PH" sz="2000" dirty="0">
              <a:latin typeface="Verdana"/>
              <a:ea typeface="Verdana" panose="020B0604030504040204" pitchFamily="34" charset="0"/>
              <a:cs typeface="Verdana" panose="020B0604030504040204" pitchFamily="34" charset="0"/>
            </a:endParaRPr>
          </a:p>
          <a:p>
            <a:pPr marL="457200" indent="-457200">
              <a:spcBef>
                <a:spcPts val="1200"/>
              </a:spcBef>
              <a:buFont typeface="+mj-lt"/>
              <a:buAutoNum type="arabicPeriod"/>
            </a:pPr>
            <a:r>
              <a:rPr lang="en-US" sz="2000" dirty="0">
                <a:latin typeface="Verdana"/>
                <a:ea typeface="Helvetica Neue"/>
                <a:cs typeface="Helvetica Neue"/>
              </a:rPr>
              <a:t>Explain which event(s), if any, can be described as “certain.”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78;g104476d1465_1_17">
            <a:extLst>
              <a:ext uri="{FF2B5EF4-FFF2-40B4-BE49-F238E27FC236}">
                <a16:creationId xmlns:a16="http://schemas.microsoft.com/office/drawing/2014/main" id="{2834ACB5-9863-9B4D-A302-444ED7CCE577}"/>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6C08EE3-8247-C14E-9600-35165D5C8679}"/>
              </a:ext>
            </a:extLst>
          </p:cNvPr>
          <p:cNvSpPr txBox="1"/>
          <p:nvPr/>
        </p:nvSpPr>
        <p:spPr>
          <a:xfrm>
            <a:off x="560832" y="384407"/>
            <a:ext cx="11197414" cy="4093428"/>
          </a:xfrm>
          <a:prstGeom prst="rect">
            <a:avLst/>
          </a:prstGeom>
          <a:noFill/>
        </p:spPr>
        <p:txBody>
          <a:bodyPr wrap="square" rtlCol="0">
            <a:spAutoFit/>
          </a:bodyPr>
          <a:lstStyle/>
          <a:p>
            <a:pPr marL="457200" indent="-457200">
              <a:buSzPts val="1800"/>
              <a:buFont typeface="+mj-lt"/>
              <a:buAutoNum type="arabicPeriod" startAt="3"/>
            </a:pPr>
            <a:r>
              <a:rPr lang="en-US" sz="2000" dirty="0">
                <a:latin typeface="Verdana"/>
                <a:ea typeface="Helvetica Neue"/>
                <a:cs typeface="Helvetica Neue"/>
              </a:rPr>
              <a:t>Explain which event(s), if any, can be described as “equally likely as not.”</a:t>
            </a: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r>
              <a:rPr lang="en-US" sz="2000" dirty="0">
                <a:latin typeface="Verdana"/>
                <a:ea typeface="Helvetica Neue"/>
                <a:cs typeface="Helvetica Neue"/>
              </a:rPr>
              <a:t>Express the likelihood of a randomly chosen word in a novel beginning with the letter T, as a percentage.</a:t>
            </a:r>
          </a:p>
          <a:p>
            <a:pPr marL="457200" indent="-457200">
              <a:buSzPts val="1800"/>
              <a:buFont typeface="+mj-lt"/>
              <a:buAutoNum type="arabicPeriod" startAt="3"/>
            </a:pPr>
            <a:endParaRPr lang="en-PH"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endParaRPr lang="en-US" sz="2000" dirty="0">
              <a:latin typeface="Verdana"/>
              <a:ea typeface="Helvetica Neue"/>
              <a:cs typeface="Helvetica Neue"/>
            </a:endParaRPr>
          </a:p>
          <a:p>
            <a:pPr marL="457200" indent="-457200">
              <a:buSzPts val="1800"/>
              <a:buFont typeface="+mj-lt"/>
              <a:buAutoNum type="arabicPeriod" startAt="3"/>
            </a:pPr>
            <a:r>
              <a:rPr lang="en-US" sz="2000" dirty="0">
                <a:latin typeface="Verdana"/>
                <a:ea typeface="Helvetica Neue"/>
                <a:cs typeface="Helvetica Neue"/>
              </a:rPr>
              <a:t>Express the likelihood of a randomly selected person being left-handed, as a decimal.</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9DDCE86C-AC17-F84F-84C9-3604F0100B34}"/>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endParaRPr i="1" dirty="0">
              <a:latin typeface="Calibri"/>
              <a:ea typeface="Calibri"/>
              <a:cs typeface="Calibri"/>
              <a:sym typeface="Calibri"/>
            </a:endParaRPr>
          </a:p>
        </p:txBody>
      </p:sp>
    </p:spTree>
    <p:extLst>
      <p:ext uri="{BB962C8B-B14F-4D97-AF65-F5344CB8AC3E}">
        <p14:creationId xmlns:p14="http://schemas.microsoft.com/office/powerpoint/2010/main" val="2771154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endParaRPr i="1" dirty="0">
              <a:latin typeface="Calibri"/>
              <a:ea typeface="Calibri"/>
              <a:cs typeface="Calibri"/>
              <a:sym typeface="Calibri"/>
            </a:endParaRPr>
          </a:p>
        </p:txBody>
      </p:sp>
      <p:sp>
        <p:nvSpPr>
          <p:cNvPr id="11"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12"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28438" y="0"/>
            <a:ext cx="110635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2.6.3 Guided Practice: Interpreting and Comparing Probabilities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731520" y="1325700"/>
            <a:ext cx="6583230"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spinner is shown with the probabilities of landing on each space given as a decimal.</a:t>
            </a: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2438"/>
            <a:r>
              <a:rPr lang="en-US" sz="2400" dirty="0">
                <a:latin typeface="Verdana"/>
                <a:ea typeface="Times New Roman"/>
                <a:cs typeface="Times New Roman"/>
              </a:rPr>
              <a:t>Use the spinner to complete the table by identifying the missing events, probabilities, and descriptions of likelihood.</a:t>
            </a:r>
            <a:endParaRPr lang="en-PH" sz="24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78;g104476d1465_1_17">
            <a:extLst>
              <a:ext uri="{FF2B5EF4-FFF2-40B4-BE49-F238E27FC236}">
                <a16:creationId xmlns:a16="http://schemas.microsoft.com/office/drawing/2014/main" id="{46CE9362-15C8-D54E-981B-E2717DFC6652}"/>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27" name="Picture 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722020" y="1325700"/>
            <a:ext cx="3570791" cy="360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677350957"/>
                  </p:ext>
                </p:extLst>
              </p:nvPr>
            </p:nvGraphicFramePr>
            <p:xfrm>
              <a:off x="1932432" y="386281"/>
              <a:ext cx="8257032" cy="5608320"/>
            </p:xfrm>
            <a:graphic>
              <a:graphicData uri="http://schemas.openxmlformats.org/drawingml/2006/table">
                <a:tbl>
                  <a:tblPr firstRow="1" bandRow="1">
                    <a:tableStyleId>{A91F0D33-8C57-4600-99A7-42BC86742BE1}</a:tableStyleId>
                  </a:tblPr>
                  <a:tblGrid>
                    <a:gridCol w="3209544">
                      <a:extLst>
                        <a:ext uri="{9D8B030D-6E8A-4147-A177-3AD203B41FA5}">
                          <a16:colId xmlns:a16="http://schemas.microsoft.com/office/drawing/2014/main" val="20000"/>
                        </a:ext>
                      </a:extLst>
                    </a:gridCol>
                    <a:gridCol w="1837944">
                      <a:extLst>
                        <a:ext uri="{9D8B030D-6E8A-4147-A177-3AD203B41FA5}">
                          <a16:colId xmlns:a16="http://schemas.microsoft.com/office/drawing/2014/main" val="20001"/>
                        </a:ext>
                      </a:extLst>
                    </a:gridCol>
                    <a:gridCol w="3209544">
                      <a:extLst>
                        <a:ext uri="{9D8B030D-6E8A-4147-A177-3AD203B41FA5}">
                          <a16:colId xmlns:a16="http://schemas.microsoft.com/office/drawing/2014/main" val="20002"/>
                        </a:ext>
                      </a:extLst>
                    </a:gridCol>
                  </a:tblGrid>
                  <a:tr h="370840">
                    <a:tc>
                      <a:txBody>
                        <a:bodyPr/>
                        <a:lstStyle/>
                        <a:p>
                          <a:pPr algn="ctr"/>
                          <a:r>
                            <a:rPr lang="en-PH" sz="2000" b="1" dirty="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(________________________)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50%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(orange)</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30%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(yellow)</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677350957"/>
                  </p:ext>
                </p:extLst>
              </p:nvPr>
            </p:nvGraphicFramePr>
            <p:xfrm>
              <a:off x="1932432" y="386281"/>
              <a:ext cx="8257032" cy="5608320"/>
            </p:xfrm>
            <a:graphic>
              <a:graphicData uri="http://schemas.openxmlformats.org/drawingml/2006/table">
                <a:tbl>
                  <a:tblPr firstRow="1" bandRow="1">
                    <a:tableStyleId>{A91F0D33-8C57-4600-99A7-42BC86742BE1}</a:tableStyleId>
                  </a:tblPr>
                  <a:tblGrid>
                    <a:gridCol w="3209544">
                      <a:extLst>
                        <a:ext uri="{9D8B030D-6E8A-4147-A177-3AD203B41FA5}">
                          <a16:colId xmlns:a16="http://schemas.microsoft.com/office/drawing/2014/main" val="20000"/>
                        </a:ext>
                      </a:extLst>
                    </a:gridCol>
                    <a:gridCol w="1837944">
                      <a:extLst>
                        <a:ext uri="{9D8B030D-6E8A-4147-A177-3AD203B41FA5}">
                          <a16:colId xmlns:a16="http://schemas.microsoft.com/office/drawing/2014/main" val="20001"/>
                        </a:ext>
                      </a:extLst>
                    </a:gridCol>
                    <a:gridCol w="3209544">
                      <a:extLst>
                        <a:ext uri="{9D8B030D-6E8A-4147-A177-3AD203B41FA5}">
                          <a16:colId xmlns:a16="http://schemas.microsoft.com/office/drawing/2014/main" val="20002"/>
                        </a:ext>
                      </a:extLst>
                    </a:gridCol>
                  </a:tblGrid>
                  <a:tr h="487680">
                    <a:tc>
                      <a:txBody>
                        <a:bodyPr/>
                        <a:lstStyle/>
                        <a:p>
                          <a:pPr algn="ctr"/>
                          <a:r>
                            <a:rPr lang="en-PH" sz="2000" b="1" dirty="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5" t="-29851" r="-157708" b="-205970"/>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5172" t="-29851" r="-175172" b="-205970"/>
                          </a:stretch>
                        </a:blipFill>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5" t="-128889" r="-157708" b="-104444"/>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5172" t="-128889" r="-175172" b="-104444"/>
                          </a:stretch>
                        </a:blipFill>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5" t="-228889" r="-157708" b="-4444"/>
                          </a:stretch>
                        </a:blipFill>
                      </a:tcPr>
                    </a:tc>
                    <a:tc>
                      <a:txBody>
                        <a:bodyPr/>
                        <a:lstStyle/>
                        <a:p>
                          <a:pPr algn="ctr"/>
                          <a:r>
                            <a:rPr lang="en-PH" sz="2000" dirty="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01E1BEEC-C47B-3A48-99B3-7CB267A11974}"/>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endParaRPr i="1" dirty="0">
              <a:latin typeface="Calibri"/>
              <a:ea typeface="Calibri"/>
              <a:cs typeface="Calibri"/>
              <a:sym typeface="Calibri"/>
            </a:endParaRPr>
          </a:p>
        </p:txBody>
      </p:sp>
    </p:spTree>
    <p:extLst>
      <p:ext uri="{BB962C8B-B14F-4D97-AF65-F5344CB8AC3E}">
        <p14:creationId xmlns:p14="http://schemas.microsoft.com/office/powerpoint/2010/main" val="1918385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67343067"/>
                  </p:ext>
                </p:extLst>
              </p:nvPr>
            </p:nvGraphicFramePr>
            <p:xfrm>
              <a:off x="1932432" y="386281"/>
              <a:ext cx="8257032" cy="5608320"/>
            </p:xfrm>
            <a:graphic>
              <a:graphicData uri="http://schemas.openxmlformats.org/drawingml/2006/table">
                <a:tbl>
                  <a:tblPr firstRow="1" bandRow="1">
                    <a:tableStyleId>{A91F0D33-8C57-4600-99A7-42BC86742BE1}</a:tableStyleId>
                  </a:tblPr>
                  <a:tblGrid>
                    <a:gridCol w="3209544">
                      <a:extLst>
                        <a:ext uri="{9D8B030D-6E8A-4147-A177-3AD203B41FA5}">
                          <a16:colId xmlns:a16="http://schemas.microsoft.com/office/drawing/2014/main" val="20000"/>
                        </a:ext>
                      </a:extLst>
                    </a:gridCol>
                    <a:gridCol w="1837944">
                      <a:extLst>
                        <a:ext uri="{9D8B030D-6E8A-4147-A177-3AD203B41FA5}">
                          <a16:colId xmlns:a16="http://schemas.microsoft.com/office/drawing/2014/main" val="20001"/>
                        </a:ext>
                      </a:extLst>
                    </a:gridCol>
                    <a:gridCol w="3209544">
                      <a:extLst>
                        <a:ext uri="{9D8B030D-6E8A-4147-A177-3AD203B41FA5}">
                          <a16:colId xmlns:a16="http://schemas.microsoft.com/office/drawing/2014/main" val="20002"/>
                        </a:ext>
                      </a:extLst>
                    </a:gridCol>
                  </a:tblGrid>
                  <a:tr h="370840">
                    <a:tc>
                      <a:txBody>
                        <a:bodyPr/>
                        <a:lstStyle/>
                        <a:p>
                          <a:pPr algn="ctr"/>
                          <a:r>
                            <a:rPr lang="en-PH" sz="2000" b="1" dirty="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(________________________)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20%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(purple or orange)</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80%</m:t>
                                </m:r>
                              </m:oMath>
                            </m:oMathPara>
                          </a14:m>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14:m>
                            <m:oMath xmlns:m="http://schemas.openxmlformats.org/officeDocument/2006/math">
                              <m:r>
                                <a:rPr lang="en-PH" sz="2000" b="0" i="1" smtClean="0">
                                  <a:latin typeface="Cambria Math"/>
                                  <a:ea typeface="Cambria Math" pitchFamily="18" charset="0"/>
                                </a:rPr>
                                <m:t>𝑃</m:t>
                              </m:r>
                            </m:oMath>
                          </a14:m>
                          <a:r>
                            <a:rPr lang="en-PH" sz="2000" dirty="0">
                              <a:latin typeface="Cambria Math" pitchFamily="18" charset="0"/>
                              <a:ea typeface="Cambria Math" pitchFamily="18" charset="0"/>
                            </a:rPr>
                            <a:t>(</a:t>
                          </a:r>
                          <a:r>
                            <a:rPr lang="en-PH" sz="2000" dirty="0" err="1">
                              <a:latin typeface="Cambria Math" pitchFamily="18" charset="0"/>
                              <a:ea typeface="Cambria Math" pitchFamily="18" charset="0"/>
                            </a:rPr>
                            <a:t>color</a:t>
                          </a:r>
                          <a:r>
                            <a:rPr lang="en-PH" sz="2000" dirty="0">
                              <a:latin typeface="Cambria Math" pitchFamily="18" charset="0"/>
                              <a:ea typeface="Cambria Math" pitchFamily="18" charset="0"/>
                            </a:rPr>
                            <a:t>)</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67343067"/>
                  </p:ext>
                </p:extLst>
              </p:nvPr>
            </p:nvGraphicFramePr>
            <p:xfrm>
              <a:off x="1932432" y="386281"/>
              <a:ext cx="8257032" cy="5608320"/>
            </p:xfrm>
            <a:graphic>
              <a:graphicData uri="http://schemas.openxmlformats.org/drawingml/2006/table">
                <a:tbl>
                  <a:tblPr firstRow="1" bandRow="1">
                    <a:tableStyleId>{A91F0D33-8C57-4600-99A7-42BC86742BE1}</a:tableStyleId>
                  </a:tblPr>
                  <a:tblGrid>
                    <a:gridCol w="3209544">
                      <a:extLst>
                        <a:ext uri="{9D8B030D-6E8A-4147-A177-3AD203B41FA5}">
                          <a16:colId xmlns:a16="http://schemas.microsoft.com/office/drawing/2014/main" val="20000"/>
                        </a:ext>
                      </a:extLst>
                    </a:gridCol>
                    <a:gridCol w="1837944">
                      <a:extLst>
                        <a:ext uri="{9D8B030D-6E8A-4147-A177-3AD203B41FA5}">
                          <a16:colId xmlns:a16="http://schemas.microsoft.com/office/drawing/2014/main" val="20001"/>
                        </a:ext>
                      </a:extLst>
                    </a:gridCol>
                    <a:gridCol w="3209544">
                      <a:extLst>
                        <a:ext uri="{9D8B030D-6E8A-4147-A177-3AD203B41FA5}">
                          <a16:colId xmlns:a16="http://schemas.microsoft.com/office/drawing/2014/main" val="20002"/>
                        </a:ext>
                      </a:extLst>
                    </a:gridCol>
                  </a:tblGrid>
                  <a:tr h="487680">
                    <a:tc>
                      <a:txBody>
                        <a:bodyPr/>
                        <a:lstStyle/>
                        <a:p>
                          <a:pPr algn="ctr"/>
                          <a:r>
                            <a:rPr lang="en-PH" sz="2000" b="1" dirty="0">
                              <a:latin typeface="Verdana" pitchFamily="34" charset="0"/>
                              <a:ea typeface="Verdana" pitchFamily="34" charset="0"/>
                            </a:rPr>
                            <a:t>Event</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Probability</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000" b="1" dirty="0">
                              <a:latin typeface="Verdana" pitchFamily="34" charset="0"/>
                              <a:ea typeface="Verdana" pitchFamily="34" charset="0"/>
                            </a:rPr>
                            <a:t>Likelihood</a:t>
                          </a:r>
                          <a:endParaRPr lang="en-US" sz="2000" b="1"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5" t="-29851" r="-157708" b="-205970"/>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5172" t="-29851" r="-175172" b="-205970"/>
                          </a:stretch>
                        </a:blipFill>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5" t="-128889" r="-157708" b="-104444"/>
                          </a:stretch>
                        </a:blipFill>
                      </a:tcPr>
                    </a:tc>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5172" t="-128889" r="-175172" b="-104444"/>
                          </a:stretch>
                        </a:blipFill>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7068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5" t="-228889" r="-157708" b="-4444"/>
                          </a:stretch>
                        </a:blipFill>
                      </a:tcPr>
                    </a:tc>
                    <a:tc>
                      <a:txBody>
                        <a:bodyPr/>
                        <a:lstStyle/>
                        <a:p>
                          <a:pPr algn="ctr"/>
                          <a:r>
                            <a:rPr lang="en-PH" sz="2000" dirty="0">
                              <a:latin typeface="Cambria Math" pitchFamily="18" charset="0"/>
                              <a:ea typeface="Cambria Math" pitchFamily="18" charset="0"/>
                            </a:rPr>
                            <a:t>_________%</a:t>
                          </a:r>
                          <a:endParaRPr lang="en-US" sz="2000" dirty="0">
                            <a:latin typeface="Cambria Math" pitchFamily="18" charset="0"/>
                            <a:ea typeface="Cambria Math"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impossible</a:t>
                          </a:r>
                        </a:p>
                        <a:p>
                          <a:pPr marL="287338" lvl="0" indent="-287338">
                            <a:spcAft>
                              <a:spcPts val="0"/>
                            </a:spcAft>
                            <a:buFont typeface="Courier New" pitchFamily="49" charset="0"/>
                            <a:buChar char="o"/>
                            <a:tabLst/>
                          </a:pPr>
                          <a:r>
                            <a:rPr lang="en-US" sz="2000" dirty="0">
                              <a:effectLst/>
                              <a:latin typeface="Verdana" pitchFamily="34" charset="0"/>
                              <a:ea typeface="Verdana" pitchFamily="34" charset="0"/>
                              <a:cs typeface="Times New Roman"/>
                            </a:rPr>
                            <a:t>unlikely</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equally likely as not</a:t>
                          </a:r>
                        </a:p>
                        <a:p>
                          <a:pPr marL="287338" lvl="0" indent="-287338">
                            <a:spcAft>
                              <a:spcPts val="0"/>
                            </a:spcAft>
                            <a:buFont typeface="Courier New" pitchFamily="49" charset="0"/>
                            <a:buChar char="o"/>
                          </a:pPr>
                          <a:r>
                            <a:rPr lang="en-US" sz="2000" dirty="0">
                              <a:effectLst/>
                              <a:latin typeface="Verdana" pitchFamily="34" charset="0"/>
                              <a:ea typeface="Verdana" pitchFamily="34" charset="0"/>
                              <a:cs typeface="Times New Roman"/>
                            </a:rPr>
                            <a:t>likely</a:t>
                          </a:r>
                        </a:p>
                        <a:p>
                          <a:pPr marL="287338" lvl="0" indent="-287338">
                            <a:spcAft>
                              <a:spcPts val="1000"/>
                            </a:spcAft>
                            <a:buFont typeface="Courier New" pitchFamily="49" charset="0"/>
                            <a:buChar char="o"/>
                          </a:pPr>
                          <a:r>
                            <a:rPr lang="en-US" sz="2000" dirty="0">
                              <a:effectLst/>
                              <a:latin typeface="Verdana" pitchFamily="34" charset="0"/>
                              <a:ea typeface="Verdana" pitchFamily="34" charset="0"/>
                              <a:cs typeface="Times New Roman"/>
                            </a:rPr>
                            <a:t>certain</a:t>
                          </a:r>
                          <a:endParaRPr lang="en-US" sz="2000" dirty="0">
                            <a:latin typeface="Verdana" pitchFamily="34" charset="0"/>
                            <a:ea typeface="Verdana" pitchFamily="34"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01E1BEEC-C47B-3A48-99B3-7CB267A11974}"/>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endParaRPr i="1" dirty="0">
              <a:latin typeface="Calibri"/>
              <a:ea typeface="Calibri"/>
              <a:cs typeface="Calibri"/>
              <a:sym typeface="Calibri"/>
            </a:endParaRPr>
          </a:p>
        </p:txBody>
      </p:sp>
    </p:spTree>
    <p:extLst>
      <p:ext uri="{BB962C8B-B14F-4D97-AF65-F5344CB8AC3E}">
        <p14:creationId xmlns:p14="http://schemas.microsoft.com/office/powerpoint/2010/main" val="833149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908304" y="612844"/>
                <a:ext cx="10756158"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Times New Roman"/>
                    <a:cs typeface="Times New Roman"/>
                  </a:rPr>
                  <a:t>For each scenario, circle the event that is more likely. If the events are equally likely, circle both.</a:t>
                </a:r>
              </a:p>
              <a:p>
                <a:pPr marL="914400" indent="-457200">
                  <a:spcBef>
                    <a:spcPts val="1200"/>
                  </a:spcBef>
                  <a:buFont typeface="+mj-lt"/>
                  <a:buAutoNum type="alphaLcPeriod"/>
                </a:pPr>
                <a:r>
                  <a:rPr lang="en-US" sz="2000" dirty="0">
                    <a:latin typeface="Verdana"/>
                    <a:ea typeface="Times New Roman"/>
                    <a:cs typeface="Times New Roman"/>
                  </a:rPr>
                  <a:t>Alex and Elvis play baseball. Based on their statistics, Alex’s probability of hitting a home run is </a:t>
                </a:r>
                <a14:m>
                  <m:oMath xmlns:m="http://schemas.openxmlformats.org/officeDocument/2006/math">
                    <m:r>
                      <a:rPr lang="en-US" sz="2000" i="1">
                        <a:latin typeface="Cambria Math"/>
                        <a:ea typeface="Times New Roman"/>
                        <a:cs typeface="Times New Roman"/>
                      </a:rPr>
                      <m:t>0.27</m:t>
                    </m:r>
                  </m:oMath>
                </a14:m>
                <a:r>
                  <a:rPr lang="en-US" sz="2000" dirty="0">
                    <a:latin typeface="Verdana"/>
                    <a:ea typeface="Times New Roman"/>
                    <a:cs typeface="Times New Roman"/>
                  </a:rPr>
                  <a:t>. The probability of Elvis hitting a home run is </a:t>
                </a:r>
                <a14:m>
                  <m:oMath xmlns:m="http://schemas.openxmlformats.org/officeDocument/2006/math">
                    <m:r>
                      <a:rPr lang="en-US" sz="2000" i="1">
                        <a:latin typeface="Cambria Math"/>
                        <a:ea typeface="Times New Roman"/>
                        <a:cs typeface="Times New Roman"/>
                      </a:rPr>
                      <m:t>14%</m:t>
                    </m:r>
                  </m:oMath>
                </a14:m>
                <a:r>
                  <a:rPr lang="en-US" sz="2000" dirty="0">
                    <a:latin typeface="Verdana"/>
                    <a:ea typeface="Times New Roman"/>
                    <a:cs typeface="Times New Roman"/>
                  </a:rPr>
                  <a:t>. Which choice is more likely on their next at bat?</a:t>
                </a: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US" sz="2000" dirty="0">
                  <a:latin typeface="Verdana"/>
                  <a:ea typeface="Times New Roman"/>
                  <a:cs typeface="Times New Roman"/>
                </a:endParaRPr>
              </a:p>
              <a:p>
                <a:pPr marL="914400" indent="-457200">
                  <a:spcBef>
                    <a:spcPts val="1200"/>
                  </a:spcBef>
                  <a:buFont typeface="+mj-lt"/>
                  <a:buAutoNum type="alphaLcPeriod"/>
                </a:pPr>
                <a:r>
                  <a:rPr lang="en-US" sz="2000" dirty="0">
                    <a:latin typeface="Verdana"/>
                    <a:ea typeface="Times New Roman"/>
                    <a:cs typeface="Times New Roman"/>
                  </a:rPr>
                  <a:t>A meteorologist states there is a </a:t>
                </a:r>
                <a14:m>
                  <m:oMath xmlns:m="http://schemas.openxmlformats.org/officeDocument/2006/math">
                    <m:r>
                      <a:rPr lang="en-US" sz="2000" i="1">
                        <a:latin typeface="Cambria Math"/>
                        <a:ea typeface="Times New Roman"/>
                        <a:cs typeface="Times New Roman"/>
                      </a:rPr>
                      <m:t>50%</m:t>
                    </m:r>
                  </m:oMath>
                </a14:m>
                <a:r>
                  <a:rPr lang="en-US" sz="2000" dirty="0">
                    <a:latin typeface="Verdana"/>
                    <a:ea typeface="Times New Roman"/>
                    <a:cs typeface="Times New Roman"/>
                  </a:rPr>
                  <a:t> chance for rain tomorrow. Which choice is more likely to happen?</a:t>
                </a: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PH" sz="2000" dirty="0">
                  <a:latin typeface="Verdana"/>
                  <a:ea typeface="Times New Roman"/>
                  <a:cs typeface="Times New Roman"/>
                </a:endParaRPr>
              </a:p>
              <a:p>
                <a:pPr marL="914400" indent="-457200">
                  <a:spcBef>
                    <a:spcPts val="1200"/>
                  </a:spcBef>
                  <a:buFont typeface="+mj-lt"/>
                  <a:buAutoNum type="alphaLcPeriod"/>
                </a:pPr>
                <a:endParaRPr lang="en-US" sz="2000" dirty="0">
                  <a:latin typeface="Verdana"/>
                  <a:ea typeface="Times New Roman"/>
                  <a:cs typeface="Times New Roman"/>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908304" y="612844"/>
                <a:ext cx="10756158" cy="5324535"/>
              </a:xfrm>
              <a:prstGeom prst="rect">
                <a:avLst/>
              </a:prstGeom>
              <a:blipFill>
                <a:blip r:embed="rId4"/>
                <a:stretch>
                  <a:fillRect l="-590" t="-714" r="-117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043877334"/>
              </p:ext>
            </p:extLst>
          </p:nvPr>
        </p:nvGraphicFramePr>
        <p:xfrm>
          <a:off x="2956560" y="2727960"/>
          <a:ext cx="6858000" cy="701040"/>
        </p:xfrm>
        <a:graphic>
          <a:graphicData uri="http://schemas.openxmlformats.org/drawingml/2006/table">
            <a:tbl>
              <a:tblPr firstRow="1" bandRow="1">
                <a:tableStyleId>{A91F0D33-8C57-4600-99A7-42BC86742BE1}</a:tableStyleId>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34377">
                <a:tc>
                  <a:txBody>
                    <a:bodyPr/>
                    <a:lstStyle/>
                    <a:p>
                      <a:pPr algn="ctr"/>
                      <a:r>
                        <a:rPr lang="en-US" sz="2000" dirty="0">
                          <a:effectLst/>
                          <a:latin typeface="Verdana"/>
                          <a:ea typeface="Times New Roman"/>
                          <a:cs typeface="Times New Roman"/>
                        </a:rPr>
                        <a:t>Alex hits a </a:t>
                      </a:r>
                      <a:br>
                        <a:rPr lang="en-US" sz="2000" dirty="0">
                          <a:effectLst/>
                          <a:latin typeface="Verdana"/>
                          <a:ea typeface="Times New Roman"/>
                          <a:cs typeface="Times New Roman"/>
                        </a:rPr>
                      </a:br>
                      <a:r>
                        <a:rPr lang="en-US" sz="2000" dirty="0">
                          <a:effectLst/>
                          <a:latin typeface="Verdana"/>
                          <a:ea typeface="Times New Roman"/>
                          <a:cs typeface="Times New Roman"/>
                        </a:rPr>
                        <a:t>home run.</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Verdana" pitchFamily="34" charset="0"/>
                          <a:ea typeface="Verdana" pitchFamily="34" charset="0"/>
                        </a:rPr>
                        <a:t>or</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effectLst/>
                          <a:latin typeface="Verdana"/>
                          <a:ea typeface="Times New Roman"/>
                          <a:cs typeface="Times New Roman"/>
                        </a:rPr>
                        <a:t>Elvis hits a </a:t>
                      </a:r>
                      <a:br>
                        <a:rPr lang="en-US" sz="2000" dirty="0">
                          <a:effectLst/>
                          <a:latin typeface="Verdana"/>
                          <a:ea typeface="Times New Roman"/>
                          <a:cs typeface="Times New Roman"/>
                        </a:rPr>
                      </a:br>
                      <a:r>
                        <a:rPr lang="en-US" sz="2000" dirty="0">
                          <a:effectLst/>
                          <a:latin typeface="Verdana"/>
                          <a:ea typeface="Times New Roman"/>
                          <a:cs typeface="Times New Roman"/>
                        </a:rPr>
                        <a:t>home run.</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909928042"/>
              </p:ext>
            </p:extLst>
          </p:nvPr>
        </p:nvGraphicFramePr>
        <p:xfrm>
          <a:off x="2956560" y="4843076"/>
          <a:ext cx="6858000" cy="701040"/>
        </p:xfrm>
        <a:graphic>
          <a:graphicData uri="http://schemas.openxmlformats.org/drawingml/2006/table">
            <a:tbl>
              <a:tblPr firstRow="1" bandRow="1">
                <a:tableStyleId>{A91F0D33-8C57-4600-99A7-42BC86742BE1}</a:tableStyleId>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algn="ctr"/>
                      <a:r>
                        <a:rPr lang="en-US" sz="2000" dirty="0">
                          <a:effectLst/>
                          <a:latin typeface="Verdana"/>
                          <a:ea typeface="Times New Roman"/>
                          <a:cs typeface="Times New Roman"/>
                        </a:rPr>
                        <a:t>It will rain tomorrow.</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000" dirty="0">
                          <a:latin typeface="Verdana" pitchFamily="34" charset="0"/>
                          <a:ea typeface="Verdana" pitchFamily="34" charset="0"/>
                        </a:rPr>
                        <a:t>or</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effectLst/>
                          <a:latin typeface="Verdana"/>
                          <a:ea typeface="Times New Roman"/>
                          <a:cs typeface="Times New Roman"/>
                        </a:rPr>
                        <a:t>It will not rain tomorrow.</a:t>
                      </a:r>
                      <a:endParaRPr lang="en-US" sz="20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endParaRPr i="1" dirty="0">
              <a:latin typeface="Calibri"/>
              <a:ea typeface="Calibri"/>
              <a:cs typeface="Calibri"/>
              <a:sym typeface="Calibri"/>
            </a:endParaRPr>
          </a:p>
        </p:txBody>
      </p:sp>
    </p:spTree>
    <p:extLst>
      <p:ext uri="{BB962C8B-B14F-4D97-AF65-F5344CB8AC3E}">
        <p14:creationId xmlns:p14="http://schemas.microsoft.com/office/powerpoint/2010/main" val="1931868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08C67FCF-92C3-654A-BF40-5BDF7A4F9271}"/>
              </a:ext>
            </a:extLst>
          </p:cNvPr>
          <p:cNvSpPr txBox="1"/>
          <p:nvPr/>
        </p:nvSpPr>
        <p:spPr>
          <a:xfrm>
            <a:off x="225476" y="421920"/>
            <a:ext cx="11661723" cy="830997"/>
          </a:xfrm>
          <a:prstGeom prst="rect">
            <a:avLst/>
          </a:prstGeom>
          <a:noFill/>
        </p:spPr>
        <p:txBody>
          <a:bodyPr wrap="square" rtlCol="0">
            <a:spAutoFit/>
          </a:bodyPr>
          <a:lstStyle/>
          <a:p>
            <a:pPr marL="914400" indent="-457200">
              <a:spcBef>
                <a:spcPts val="1200"/>
              </a:spcBef>
              <a:buFont typeface="+mj-lt"/>
              <a:buAutoNum type="alphaLcPeriod" startAt="3"/>
            </a:pPr>
            <a:r>
              <a:rPr lang="en-US" sz="2400" dirty="0">
                <a:latin typeface="Verdana"/>
                <a:ea typeface="Times New Roman"/>
                <a:cs typeface="Times New Roman"/>
              </a:rPr>
              <a:t>Shawn is calling the coin toss before his football game. Which choice is more likely to occur?</a:t>
            </a:r>
          </a:p>
        </p:txBody>
      </p:sp>
      <p:sp>
        <p:nvSpPr>
          <p:cNvPr id="7" name="Google Shape;278;g104476d1465_1_17">
            <a:extLst>
              <a:ext uri="{FF2B5EF4-FFF2-40B4-BE49-F238E27FC236}">
                <a16:creationId xmlns:a16="http://schemas.microsoft.com/office/drawing/2014/main" id="{252468F9-493F-EA4F-B8D7-90F86F60BDF9}"/>
              </a:ext>
            </a:extLst>
          </p:cNvPr>
          <p:cNvSpPr/>
          <p:nvPr/>
        </p:nvSpPr>
        <p:spPr>
          <a:xfrm>
            <a:off x="2277"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p:cNvGraphicFramePr>
            <a:graphicFrameLocks noGrp="1"/>
          </p:cNvGraphicFramePr>
          <p:nvPr>
            <p:extLst>
              <p:ext uri="{D42A27DB-BD31-4B8C-83A1-F6EECF244321}">
                <p14:modId xmlns:p14="http://schemas.microsoft.com/office/powerpoint/2010/main" val="1711994064"/>
              </p:ext>
            </p:extLst>
          </p:nvPr>
        </p:nvGraphicFramePr>
        <p:xfrm>
          <a:off x="2496000" y="1847850"/>
          <a:ext cx="7200000" cy="1188720"/>
        </p:xfrm>
        <a:graphic>
          <a:graphicData uri="http://schemas.openxmlformats.org/drawingml/2006/table">
            <a:tbl>
              <a:tblPr firstRow="1" bandRow="1">
                <a:tableStyleId>{A91F0D33-8C57-4600-99A7-42BC86742BE1}</a:tableStyleId>
              </a:tblPr>
              <a:tblGrid>
                <a:gridCol w="288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2880000">
                  <a:extLst>
                    <a:ext uri="{9D8B030D-6E8A-4147-A177-3AD203B41FA5}">
                      <a16:colId xmlns:a16="http://schemas.microsoft.com/office/drawing/2014/main" val="20002"/>
                    </a:ext>
                  </a:extLst>
                </a:gridCol>
              </a:tblGrid>
              <a:tr h="370840">
                <a:tc>
                  <a:txBody>
                    <a:bodyPr/>
                    <a:lstStyle/>
                    <a:p>
                      <a:pPr algn="ctr"/>
                      <a:r>
                        <a:rPr lang="en-US" sz="2400" dirty="0">
                          <a:effectLst/>
                          <a:latin typeface="Verdana"/>
                          <a:ea typeface="Times New Roman"/>
                          <a:cs typeface="Times New Roman"/>
                        </a:rPr>
                        <a:t>The coin will land on its edge.</a:t>
                      </a:r>
                      <a:endParaRPr lang="en-US" sz="24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PH" sz="2400" dirty="0">
                          <a:latin typeface="Verdana" pitchFamily="34" charset="0"/>
                          <a:ea typeface="Verdana" pitchFamily="34" charset="0"/>
                        </a:rPr>
                        <a:t>or</a:t>
                      </a:r>
                      <a:endParaRPr lang="en-US" sz="24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effectLst/>
                          <a:latin typeface="Verdana"/>
                          <a:ea typeface="Times New Roman"/>
                          <a:cs typeface="Times New Roman"/>
                        </a:rPr>
                        <a:t>The coin will land on either heads </a:t>
                      </a:r>
                      <a:br>
                        <a:rPr lang="en-US" sz="2400" dirty="0">
                          <a:effectLst/>
                          <a:latin typeface="Verdana"/>
                          <a:ea typeface="Times New Roman"/>
                          <a:cs typeface="Times New Roman"/>
                        </a:rPr>
                      </a:br>
                      <a:r>
                        <a:rPr lang="en-US" sz="2400" dirty="0">
                          <a:effectLst/>
                          <a:latin typeface="Verdana"/>
                          <a:ea typeface="Times New Roman"/>
                          <a:cs typeface="Times New Roman"/>
                        </a:rPr>
                        <a:t>or tails.</a:t>
                      </a:r>
                      <a:endParaRPr lang="en-US" sz="2400" dirty="0">
                        <a:latin typeface="Verdana" pitchFamily="34" charset="0"/>
                        <a:ea typeface="Verdana"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endParaRPr i="1" dirty="0">
              <a:latin typeface="Calibri"/>
              <a:ea typeface="Calibri"/>
              <a:cs typeface="Calibri"/>
              <a:sym typeface="Calibri"/>
            </a:endParaRPr>
          </a:p>
        </p:txBody>
      </p:sp>
    </p:spTree>
    <p:extLst>
      <p:ext uri="{BB962C8B-B14F-4D97-AF65-F5344CB8AC3E}">
        <p14:creationId xmlns:p14="http://schemas.microsoft.com/office/powerpoint/2010/main" val="2747248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66</a:t>
            </a:r>
            <a:endParaRPr i="1" dirty="0">
              <a:latin typeface="Calibri"/>
              <a:ea typeface="Calibri"/>
              <a:cs typeface="Calibri"/>
              <a:sym typeface="Calibri"/>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0"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37332"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2.6.4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730265" y="1394747"/>
                <a:ext cx="11168657" cy="2308324"/>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cs typeface="Times New Roman"/>
                  </a:rPr>
                  <a:t>The probability that Lawrence makes a free throw when playing basketball is </a:t>
                </a:r>
                <a14:m>
                  <m:oMath xmlns:m="http://schemas.openxmlformats.org/officeDocument/2006/math">
                    <m:r>
                      <a:rPr lang="en-US" sz="2400" i="1">
                        <a:latin typeface="Cambria Math"/>
                        <a:ea typeface="Times New Roman"/>
                        <a:cs typeface="Times New Roman"/>
                      </a:rPr>
                      <m:t>60%</m:t>
                    </m:r>
                  </m:oMath>
                </a14:m>
                <a:r>
                  <a:rPr lang="en-US" sz="2400" dirty="0">
                    <a:latin typeface="Verdana"/>
                    <a:ea typeface="Times New Roman"/>
                    <a:cs typeface="Times New Roman"/>
                  </a:rPr>
                  <a:t>. The likelihood that he makes a 3-point shot is </a:t>
                </a:r>
                <a14:m>
                  <m:oMath xmlns:m="http://schemas.openxmlformats.org/officeDocument/2006/math">
                    <m:r>
                      <a:rPr lang="en-US" sz="2400" i="1">
                        <a:latin typeface="Cambria Math"/>
                        <a:ea typeface="Times New Roman"/>
                        <a:cs typeface="Times New Roman"/>
                      </a:rPr>
                      <m:t>0.345</m:t>
                    </m:r>
                  </m:oMath>
                </a14:m>
                <a:r>
                  <a:rPr lang="en-US" sz="2400" dirty="0">
                    <a:latin typeface="Verdana"/>
                    <a:ea typeface="Times New Roman"/>
                    <a:cs typeface="Times New Roman"/>
                  </a:rPr>
                  <a:t>.</a:t>
                </a:r>
              </a:p>
              <a:p>
                <a:pPr marL="457200"/>
                <a:endParaRPr lang="en-US" sz="2400" dirty="0">
                  <a:latin typeface="Verdana"/>
                  <a:ea typeface="Times New Roman"/>
                  <a:cs typeface="Times New Roman"/>
                </a:endParaRPr>
              </a:p>
              <a:p>
                <a:pPr marL="457200"/>
                <a:r>
                  <a:rPr lang="en-US" sz="2400" dirty="0">
                    <a:latin typeface="Verdana"/>
                    <a:ea typeface="Times New Roman"/>
                    <a:cs typeface="Times New Roman"/>
                  </a:rPr>
                  <a:t>Explain which event is more likely, Lawrence making a free throw or making a 3-point shot.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730265" y="1394747"/>
                <a:ext cx="11168657" cy="2308324"/>
              </a:xfrm>
              <a:prstGeom prst="rect">
                <a:avLst/>
              </a:prstGeom>
              <a:blipFill>
                <a:blip r:embed="rId5"/>
                <a:stretch>
                  <a:fillRect l="-909" t="-1639" r="-1818" b="-4918"/>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134A47CD-5DBB-654A-843E-9182A1B8FB7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08C67FCF-92C3-654A-BF40-5BDF7A4F9271}"/>
              </a:ext>
            </a:extLst>
          </p:cNvPr>
          <p:cNvSpPr txBox="1"/>
          <p:nvPr/>
        </p:nvSpPr>
        <p:spPr>
          <a:xfrm>
            <a:off x="584278" y="362560"/>
            <a:ext cx="10951230" cy="2308324"/>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Times New Roman"/>
                <a:cs typeface="Times New Roman"/>
              </a:rPr>
              <a:t>The probabilities of five events are shown.</a:t>
            </a:r>
          </a:p>
          <a:p>
            <a:pPr marL="457200" indent="-457200">
              <a:buFont typeface="+mj-lt"/>
              <a:buAutoNum type="arabicPeriod" startAt="2"/>
            </a:pPr>
            <a:endParaRPr lang="en-PH" sz="2400" dirty="0">
              <a:latin typeface="Verdana"/>
              <a:ea typeface="Verdana" panose="020B0604030504040204" pitchFamily="34" charset="0"/>
              <a:cs typeface="Times New Roman"/>
            </a:endParaRPr>
          </a:p>
          <a:p>
            <a:pPr marL="457200" indent="-457200">
              <a:buFont typeface="+mj-lt"/>
              <a:buAutoNum type="arabicPeriod" startAt="2"/>
            </a:pPr>
            <a:endParaRPr lang="en-PH" sz="2400" dirty="0">
              <a:latin typeface="Verdana"/>
              <a:ea typeface="Verdana" panose="020B0604030504040204" pitchFamily="34" charset="0"/>
              <a:cs typeface="Times New Roman"/>
            </a:endParaRPr>
          </a:p>
          <a:p>
            <a:pPr marL="457200" indent="-457200">
              <a:buFont typeface="+mj-lt"/>
              <a:buAutoNum type="arabicPeriod" startAt="2"/>
            </a:pPr>
            <a:endParaRPr lang="en-PH" sz="2400" dirty="0">
              <a:latin typeface="Verdana"/>
              <a:ea typeface="Verdana" panose="020B0604030504040204" pitchFamily="34" charset="0"/>
              <a:cs typeface="Times New Roman"/>
            </a:endParaRPr>
          </a:p>
          <a:p>
            <a:pPr marL="457200"/>
            <a:endParaRPr lang="en-US" sz="2400" dirty="0">
              <a:latin typeface="Verdana"/>
              <a:ea typeface="Times New Roman"/>
              <a:cs typeface="Times New Roman"/>
            </a:endParaRPr>
          </a:p>
          <a:p>
            <a:pPr marL="457200"/>
            <a:r>
              <a:rPr lang="en-US" sz="2400" dirty="0">
                <a:latin typeface="Verdana"/>
                <a:ea typeface="Times New Roman"/>
                <a:cs typeface="Times New Roman"/>
              </a:rPr>
              <a:t>List the probabilities in order from least to greatest.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252468F9-493F-EA4F-B8D7-90F86F60BDF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42043740"/>
                  </p:ext>
                </p:extLst>
              </p:nvPr>
            </p:nvGraphicFramePr>
            <p:xfrm>
              <a:off x="2382090" y="1413560"/>
              <a:ext cx="7427820" cy="528765"/>
            </p:xfrm>
            <a:graphic>
              <a:graphicData uri="http://schemas.openxmlformats.org/drawingml/2006/table">
                <a:tbl>
                  <a:tblPr firstRow="1" bandRow="1">
                    <a:tableStyleId>{A91F0D33-8C57-4600-99A7-42BC86742BE1}</a:tableStyleId>
                  </a:tblPr>
                  <a:tblGrid>
                    <a:gridCol w="1468335">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68335">
                      <a:extLst>
                        <a:ext uri="{9D8B030D-6E8A-4147-A177-3AD203B41FA5}">
                          <a16:colId xmlns:a16="http://schemas.microsoft.com/office/drawing/2014/main" val="20002"/>
                        </a:ext>
                      </a:extLst>
                    </a:gridCol>
                    <a:gridCol w="1468335">
                      <a:extLst>
                        <a:ext uri="{9D8B030D-6E8A-4147-A177-3AD203B41FA5}">
                          <a16:colId xmlns:a16="http://schemas.microsoft.com/office/drawing/2014/main" val="20003"/>
                        </a:ext>
                      </a:extLst>
                    </a:gridCol>
                    <a:gridCol w="1468335">
                      <a:extLst>
                        <a:ext uri="{9D8B030D-6E8A-4147-A177-3AD203B41FA5}">
                          <a16:colId xmlns:a16="http://schemas.microsoft.com/office/drawing/2014/main" val="20004"/>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60%</m:t>
                                </m:r>
                              </m:oMath>
                            </m:oMathPara>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 xmlns:m="http://schemas.openxmlformats.org/officeDocument/2006/math">
                              <m:r>
                                <a:rPr lang="en-PH" sz="2000" b="0" i="1" smtClean="0">
                                  <a:latin typeface="Cambria Math"/>
                                  <a:ea typeface="Verdana" pitchFamily="34" charset="0"/>
                                </a:rPr>
                                <m:t>8</m:t>
                              </m:r>
                            </m:oMath>
                          </a14:m>
                          <a:r>
                            <a:rPr lang="en-PH" sz="2000" dirty="0">
                              <a:latin typeface="Verdana" pitchFamily="34" charset="0"/>
                              <a:ea typeface="Verdana" pitchFamily="34" charset="0"/>
                            </a:rPr>
                            <a:t> out of </a:t>
                          </a:r>
                          <a14:m>
                            <m:oMath xmlns:m="http://schemas.openxmlformats.org/officeDocument/2006/math">
                              <m:r>
                                <a:rPr lang="en-PH" sz="2000" b="0" i="1" smtClean="0">
                                  <a:latin typeface="Cambria Math"/>
                                  <a:ea typeface="Verdana" pitchFamily="34" charset="0"/>
                                </a:rPr>
                                <m:t>10</m:t>
                              </m:r>
                            </m:oMath>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0.37</m:t>
                                </m:r>
                              </m:oMath>
                            </m:oMathPara>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20%</m:t>
                                </m:r>
                              </m:oMath>
                            </m:oMathPara>
                          </a14:m>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 xmlns:m="http://schemas.openxmlformats.org/officeDocument/2006/math">
                              <m:f>
                                <m:fPr>
                                  <m:ctrlPr>
                                    <a:rPr lang="en-US" sz="2000" i="1" smtClean="0">
                                      <a:latin typeface="Cambria Math" panose="02040503050406030204" pitchFamily="18" charset="0"/>
                                      <a:ea typeface="Verdana" pitchFamily="34" charset="0"/>
                                    </a:rPr>
                                  </m:ctrlPr>
                                </m:fPr>
                                <m:num>
                                  <m:r>
                                    <a:rPr lang="en-PH" sz="2000" b="0" i="1" smtClean="0">
                                      <a:latin typeface="Cambria Math"/>
                                      <a:ea typeface="Verdana" pitchFamily="34" charset="0"/>
                                    </a:rPr>
                                    <m:t>5</m:t>
                                  </m:r>
                                </m:num>
                                <m:den>
                                  <m:r>
                                    <a:rPr lang="en-PH" sz="2000" b="0" i="1" smtClean="0">
                                      <a:latin typeface="Cambria Math"/>
                                      <a:ea typeface="Verdana" pitchFamily="34" charset="0"/>
                                    </a:rPr>
                                    <m:t>6</m:t>
                                  </m:r>
                                </m:den>
                              </m:f>
                            </m:oMath>
                          </a14:m>
                          <a:r>
                            <a:rPr lang="en-US" sz="2000" dirty="0">
                              <a:latin typeface="Verdana" pitchFamily="34" charset="0"/>
                              <a:ea typeface="Verdana" pitchFamily="34" charset="0"/>
                            </a:rPr>
                            <a: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42043740"/>
                  </p:ext>
                </p:extLst>
              </p:nvPr>
            </p:nvGraphicFramePr>
            <p:xfrm>
              <a:off x="2382090" y="1413560"/>
              <a:ext cx="7427820" cy="528765"/>
            </p:xfrm>
            <a:graphic>
              <a:graphicData uri="http://schemas.openxmlformats.org/drawingml/2006/table">
                <a:tbl>
                  <a:tblPr firstRow="1" bandRow="1">
                    <a:tableStyleId>{A91F0D33-8C57-4600-99A7-42BC86742BE1}</a:tableStyleId>
                  </a:tblPr>
                  <a:tblGrid>
                    <a:gridCol w="1468335">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68335">
                      <a:extLst>
                        <a:ext uri="{9D8B030D-6E8A-4147-A177-3AD203B41FA5}">
                          <a16:colId xmlns:a16="http://schemas.microsoft.com/office/drawing/2014/main" val="20002"/>
                        </a:ext>
                      </a:extLst>
                    </a:gridCol>
                    <a:gridCol w="1468335">
                      <a:extLst>
                        <a:ext uri="{9D8B030D-6E8A-4147-A177-3AD203B41FA5}">
                          <a16:colId xmlns:a16="http://schemas.microsoft.com/office/drawing/2014/main" val="20003"/>
                        </a:ext>
                      </a:extLst>
                    </a:gridCol>
                    <a:gridCol w="1468335">
                      <a:extLst>
                        <a:ext uri="{9D8B030D-6E8A-4147-A177-3AD203B41FA5}">
                          <a16:colId xmlns:a16="http://schemas.microsoft.com/office/drawing/2014/main" val="20004"/>
                        </a:ext>
                      </a:extLst>
                    </a:gridCol>
                  </a:tblGrid>
                  <a:tr h="52876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r="-406224" b="-795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94510" r="-283922" b="-795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04959" r="-199174" b="-795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6224" r="-100000" b="-795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406224" b="-7955"/>
                          </a:stretch>
                        </a:blipFill>
                      </a:tcPr>
                    </a:tc>
                    <a:extLst>
                      <a:ext uri="{0D108BD9-81ED-4DB2-BD59-A6C34878D82A}">
                        <a16:rowId xmlns:a16="http://schemas.microsoft.com/office/drawing/2014/main" val="10000"/>
                      </a:ext>
                    </a:extLst>
                  </a:tr>
                </a:tbl>
              </a:graphicData>
            </a:graphic>
          </p:graphicFrame>
        </mc:Fallback>
      </mc:AlternateContent>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endParaRPr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endParaRPr i="1" dirty="0">
              <a:latin typeface="Calibri"/>
              <a:ea typeface="Calibri"/>
              <a:cs typeface="Calibri"/>
              <a:sym typeface="Calibri"/>
            </a:endParaRPr>
          </a:p>
        </p:txBody>
      </p:sp>
      <p:sp>
        <p:nvSpPr>
          <p:cNvPr id="9"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0"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5055" y="-88716"/>
            <a:ext cx="106003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2.6.5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730266" y="1383712"/>
                <a:ext cx="11105118" cy="830997"/>
              </a:xfrm>
              <a:prstGeom prst="rect">
                <a:avLst/>
              </a:prstGeom>
              <a:noFill/>
            </p:spPr>
            <p:txBody>
              <a:bodyPr wrap="square" rtlCol="0">
                <a:spAutoFit/>
              </a:bodyPr>
              <a:lstStyle/>
              <a:p>
                <a:pPr marL="457200" indent="-457200">
                  <a:buFont typeface="+mj-lt"/>
                  <a:buAutoNum type="arabicPeriod"/>
                </a:pPr>
                <a:r>
                  <a:rPr lang="en-US" sz="2400" dirty="0">
                    <a:latin typeface="Verdana"/>
                    <a:ea typeface="Times New Roman"/>
                    <a:cs typeface="Times New Roman"/>
                  </a:rPr>
                  <a:t>There are </a:t>
                </a:r>
                <a14:m>
                  <m:oMath xmlns:m="http://schemas.openxmlformats.org/officeDocument/2006/math">
                    <m:r>
                      <a:rPr lang="en-US" sz="2400" i="1">
                        <a:latin typeface="Cambria Math"/>
                        <a:ea typeface="Times New Roman"/>
                        <a:cs typeface="Times New Roman"/>
                      </a:rPr>
                      <m:t>25</m:t>
                    </m:r>
                  </m:oMath>
                </a14:m>
                <a:r>
                  <a:rPr lang="en-US" sz="2400" dirty="0">
                    <a:latin typeface="Verdana"/>
                    <a:ea typeface="Times New Roman"/>
                    <a:cs typeface="Times New Roman"/>
                  </a:rPr>
                  <a:t> prime numbers between </a:t>
                </a:r>
                <a14:m>
                  <m:oMath xmlns:m="http://schemas.openxmlformats.org/officeDocument/2006/math">
                    <m:r>
                      <a:rPr lang="en-US" sz="2400" i="1">
                        <a:latin typeface="Cambria Math"/>
                        <a:ea typeface="Times New Roman"/>
                        <a:cs typeface="Times New Roman"/>
                      </a:rPr>
                      <m:t>1</m:t>
                    </m:r>
                  </m:oMath>
                </a14:m>
                <a:r>
                  <a:rPr lang="en-US" sz="2400" dirty="0">
                    <a:latin typeface="Verdana"/>
                    <a:ea typeface="Times New Roman"/>
                    <a:cs typeface="Times New Roman"/>
                  </a:rPr>
                  <a:t> and </a:t>
                </a:r>
                <a14:m>
                  <m:oMath xmlns:m="http://schemas.openxmlformats.org/officeDocument/2006/math">
                    <m:r>
                      <a:rPr lang="en-US" sz="2400" i="1">
                        <a:latin typeface="Cambria Math"/>
                        <a:ea typeface="Times New Roman"/>
                        <a:cs typeface="Times New Roman"/>
                      </a:rPr>
                      <m:t>100</m:t>
                    </m:r>
                  </m:oMath>
                </a14:m>
                <a:r>
                  <a:rPr lang="en-US" sz="2400" dirty="0">
                    <a:latin typeface="Verdana"/>
                    <a:ea typeface="Times New Roman"/>
                    <a:cs typeface="Times New Roman"/>
                  </a:rPr>
                  <a:t>. There are </a:t>
                </a:r>
                <a14:m>
                  <m:oMath xmlns:m="http://schemas.openxmlformats.org/officeDocument/2006/math">
                    <m:r>
                      <a:rPr lang="en-US" sz="2400" i="1">
                        <a:latin typeface="Cambria Math"/>
                        <a:ea typeface="Times New Roman"/>
                        <a:cs typeface="Times New Roman"/>
                      </a:rPr>
                      <m:t>46</m:t>
                    </m:r>
                  </m:oMath>
                </a14:m>
                <a:r>
                  <a:rPr lang="en-US" sz="2400" dirty="0">
                    <a:latin typeface="Verdana"/>
                    <a:ea typeface="Times New Roman"/>
                    <a:cs typeface="Times New Roman"/>
                  </a:rPr>
                  <a:t> prime numbers between </a:t>
                </a:r>
                <a14:m>
                  <m:oMath xmlns:m="http://schemas.openxmlformats.org/officeDocument/2006/math">
                    <m:r>
                      <a:rPr lang="en-US" sz="2400" i="1">
                        <a:latin typeface="Cambria Math"/>
                        <a:ea typeface="Times New Roman"/>
                        <a:cs typeface="Times New Roman"/>
                      </a:rPr>
                      <m:t>1</m:t>
                    </m:r>
                  </m:oMath>
                </a14:m>
                <a:r>
                  <a:rPr lang="en-US" sz="2400" dirty="0">
                    <a:latin typeface="Verdana"/>
                    <a:ea typeface="Times New Roman"/>
                    <a:cs typeface="Times New Roman"/>
                  </a:rPr>
                  <a:t> and </a:t>
                </a:r>
                <a14:m>
                  <m:oMath xmlns:m="http://schemas.openxmlformats.org/officeDocument/2006/math">
                    <m:r>
                      <a:rPr lang="en-US" sz="2400" i="1">
                        <a:latin typeface="Cambria Math"/>
                        <a:ea typeface="Times New Roman"/>
                        <a:cs typeface="Times New Roman"/>
                      </a:rPr>
                      <m:t>200</m:t>
                    </m:r>
                  </m:oMath>
                </a14:m>
                <a:r>
                  <a:rPr lang="en-US" sz="2400" dirty="0">
                    <a:latin typeface="Verdana"/>
                    <a:ea typeface="Times New Roman"/>
                    <a:cs typeface="Times New Roman"/>
                  </a:rPr>
                  <a:t>. Two events are shown.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730266" y="1383712"/>
                <a:ext cx="11105118" cy="830997"/>
              </a:xfrm>
              <a:prstGeom prst="rect">
                <a:avLst/>
              </a:prstGeom>
              <a:blipFill>
                <a:blip r:embed="rId5"/>
                <a:stretch>
                  <a:fillRect l="-913" t="-4478" r="-1712" b="-14925"/>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69767437-9B0B-9D43-A596-1373A90D9FE8}"/>
              </a:ext>
            </a:extLst>
          </p:cNvPr>
          <p:cNvSpPr/>
          <p:nvPr/>
        </p:nvSpPr>
        <p:spPr>
          <a:xfrm>
            <a:off x="2277"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81068539"/>
                  </p:ext>
                </p:extLst>
              </p:nvPr>
            </p:nvGraphicFramePr>
            <p:xfrm>
              <a:off x="2602000" y="2730770"/>
              <a:ext cx="7465926" cy="2103120"/>
            </p:xfrm>
            <a:graphic>
              <a:graphicData uri="http://schemas.openxmlformats.org/drawingml/2006/table">
                <a:tbl>
                  <a:tblPr firstRow="1" bandRow="1">
                    <a:tableStyleId>{A91F0D33-8C57-4600-99A7-42BC86742BE1}</a:tableStyleId>
                  </a:tblPr>
                  <a:tblGrid>
                    <a:gridCol w="3732963">
                      <a:extLst>
                        <a:ext uri="{9D8B030D-6E8A-4147-A177-3AD203B41FA5}">
                          <a16:colId xmlns:a16="http://schemas.microsoft.com/office/drawing/2014/main" val="20000"/>
                        </a:ext>
                      </a:extLst>
                    </a:gridCol>
                    <a:gridCol w="3732963">
                      <a:extLst>
                        <a:ext uri="{9D8B030D-6E8A-4147-A177-3AD203B41FA5}">
                          <a16:colId xmlns:a16="http://schemas.microsoft.com/office/drawing/2014/main" val="20001"/>
                        </a:ext>
                      </a:extLst>
                    </a:gridCol>
                  </a:tblGrid>
                  <a:tr h="370840">
                    <a:tc>
                      <a:txBody>
                        <a:bodyPr/>
                        <a:lstStyle/>
                        <a:p>
                          <a:pPr algn="ctr"/>
                          <a:r>
                            <a:rPr lang="en-PH" sz="2400" b="1" dirty="0">
                              <a:latin typeface="Verdana" pitchFamily="34" charset="0"/>
                              <a:ea typeface="Verdana" pitchFamily="34" charset="0"/>
                            </a:rPr>
                            <a:t>Event A</a:t>
                          </a:r>
                          <a:endParaRPr lang="en-US" sz="24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400" b="1" dirty="0">
                              <a:latin typeface="Verdana" pitchFamily="34" charset="0"/>
                              <a:ea typeface="Verdana" pitchFamily="34" charset="0"/>
                            </a:rPr>
                            <a:t>Event B</a:t>
                          </a:r>
                          <a:endParaRPr lang="en-US" sz="24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370840">
                    <a:tc>
                      <a:txBody>
                        <a:bodyPr/>
                        <a:lstStyle/>
                        <a:p>
                          <a:r>
                            <a:rPr lang="en-US" sz="2400" dirty="0">
                              <a:effectLst/>
                              <a:latin typeface="Verdana"/>
                              <a:ea typeface="Times New Roman"/>
                              <a:cs typeface="Times New Roman"/>
                            </a:rPr>
                            <a:t>A computer produces a random number between </a:t>
                          </a:r>
                          <a14:m>
                            <m:oMath xmlns:m="http://schemas.openxmlformats.org/officeDocument/2006/math">
                              <m:r>
                                <a:rPr lang="en-US" sz="2400" i="1">
                                  <a:effectLst/>
                                  <a:latin typeface="Cambria Math"/>
                                  <a:ea typeface="Times New Roman"/>
                                  <a:cs typeface="Times New Roman"/>
                                </a:rPr>
                                <m:t>1</m:t>
                              </m:r>
                            </m:oMath>
                          </a14:m>
                          <a:r>
                            <a:rPr lang="en-US" sz="2400" dirty="0">
                              <a:effectLst/>
                              <a:latin typeface="Verdana"/>
                              <a:ea typeface="Times New Roman"/>
                              <a:cs typeface="Times New Roman"/>
                            </a:rPr>
                            <a:t> and </a:t>
                          </a:r>
                          <a14:m>
                            <m:oMath xmlns:m="http://schemas.openxmlformats.org/officeDocument/2006/math">
                              <m:r>
                                <a:rPr lang="en-US" sz="2400" i="1">
                                  <a:effectLst/>
                                  <a:latin typeface="Cambria Math"/>
                                  <a:ea typeface="Times New Roman"/>
                                  <a:cs typeface="Times New Roman"/>
                                </a:rPr>
                                <m:t>100</m:t>
                              </m:r>
                            </m:oMath>
                          </a14:m>
                          <a:r>
                            <a:rPr lang="en-US" sz="2400" dirty="0">
                              <a:effectLst/>
                              <a:latin typeface="Verdana"/>
                              <a:ea typeface="Times New Roman"/>
                              <a:cs typeface="Times New Roman"/>
                            </a:rPr>
                            <a:t> that is prime.</a:t>
                          </a:r>
                          <a:endParaRPr lang="en-US" sz="24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2400" dirty="0">
                              <a:effectLst/>
                              <a:latin typeface="Verdana"/>
                              <a:ea typeface="Times New Roman"/>
                              <a:cs typeface="Times New Roman"/>
                            </a:rPr>
                            <a:t>A computer produces a random number between </a:t>
                          </a:r>
                          <a14:m>
                            <m:oMath xmlns:m="http://schemas.openxmlformats.org/officeDocument/2006/math">
                              <m:r>
                                <a:rPr lang="en-US" sz="2400" i="1">
                                  <a:effectLst/>
                                  <a:latin typeface="Cambria Math"/>
                                  <a:ea typeface="Times New Roman"/>
                                  <a:cs typeface="Times New Roman"/>
                                </a:rPr>
                                <m:t>1</m:t>
                              </m:r>
                            </m:oMath>
                          </a14:m>
                          <a:r>
                            <a:rPr lang="en-US" sz="2400" dirty="0">
                              <a:effectLst/>
                              <a:latin typeface="Verdana"/>
                              <a:ea typeface="Times New Roman"/>
                              <a:cs typeface="Times New Roman"/>
                            </a:rPr>
                            <a:t> and </a:t>
                          </a:r>
                          <a14:m>
                            <m:oMath xmlns:m="http://schemas.openxmlformats.org/officeDocument/2006/math">
                              <m:r>
                                <a:rPr lang="en-US" sz="2400" i="1">
                                  <a:effectLst/>
                                  <a:latin typeface="Cambria Math"/>
                                  <a:ea typeface="Times New Roman"/>
                                  <a:cs typeface="Times New Roman"/>
                                </a:rPr>
                                <m:t>200</m:t>
                              </m:r>
                            </m:oMath>
                          </a14:m>
                          <a:r>
                            <a:rPr lang="en-US" sz="2400" dirty="0">
                              <a:effectLst/>
                              <a:latin typeface="Verdana"/>
                              <a:ea typeface="Times New Roman"/>
                              <a:cs typeface="Times New Roman"/>
                            </a:rPr>
                            <a:t> that is prime.</a:t>
                          </a:r>
                          <a:endParaRPr lang="en-US" sz="24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81068539"/>
                  </p:ext>
                </p:extLst>
              </p:nvPr>
            </p:nvGraphicFramePr>
            <p:xfrm>
              <a:off x="2602000" y="2730770"/>
              <a:ext cx="7465926" cy="2103120"/>
            </p:xfrm>
            <a:graphic>
              <a:graphicData uri="http://schemas.openxmlformats.org/drawingml/2006/table">
                <a:tbl>
                  <a:tblPr firstRow="1" bandRow="1">
                    <a:tableStyleId>{A91F0D33-8C57-4600-99A7-42BC86742BE1}</a:tableStyleId>
                  </a:tblPr>
                  <a:tblGrid>
                    <a:gridCol w="3732963">
                      <a:extLst>
                        <a:ext uri="{9D8B030D-6E8A-4147-A177-3AD203B41FA5}">
                          <a16:colId xmlns:a16="http://schemas.microsoft.com/office/drawing/2014/main" xmlns:a14="http://schemas.microsoft.com/office/drawing/2010/main" xmlns="" val="20000"/>
                        </a:ext>
                      </a:extLst>
                    </a:gridCol>
                    <a:gridCol w="3732963">
                      <a:extLst>
                        <a:ext uri="{9D8B030D-6E8A-4147-A177-3AD203B41FA5}">
                          <a16:colId xmlns:a16="http://schemas.microsoft.com/office/drawing/2014/main" xmlns:a14="http://schemas.microsoft.com/office/drawing/2010/main" xmlns="" val="20001"/>
                        </a:ext>
                      </a:extLst>
                    </a:gridCol>
                  </a:tblGrid>
                  <a:tr h="548640">
                    <a:tc>
                      <a:txBody>
                        <a:bodyPr/>
                        <a:lstStyle/>
                        <a:p>
                          <a:pPr algn="ctr"/>
                          <a:r>
                            <a:rPr lang="en-PH" sz="2400" b="1" dirty="0">
                              <a:latin typeface="Verdana" pitchFamily="34" charset="0"/>
                              <a:ea typeface="Verdana" pitchFamily="34" charset="0"/>
                            </a:rPr>
                            <a:t>Event A</a:t>
                          </a:r>
                          <a:endParaRPr lang="en-US" sz="24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PH" sz="2400" b="1" dirty="0">
                              <a:latin typeface="Verdana" pitchFamily="34" charset="0"/>
                              <a:ea typeface="Verdana" pitchFamily="34" charset="0"/>
                            </a:rPr>
                            <a:t>Event B</a:t>
                          </a:r>
                          <a:endParaRPr lang="en-US" sz="2400" b="1" dirty="0">
                            <a:latin typeface="Verdana" pitchFamily="34" charset="0"/>
                            <a:ea typeface="Verdana"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55448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63" t="-35686" r="-99837" b="-9020"/>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327" t="-35686" b="-9020"/>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11"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809439" y="563535"/>
                <a:ext cx="10721146" cy="4093428"/>
              </a:xfrm>
              <a:prstGeom prst="rect">
                <a:avLst/>
              </a:prstGeom>
              <a:noFill/>
            </p:spPr>
            <p:txBody>
              <a:bodyPr wrap="square" rtlCol="0">
                <a:spAutoFit/>
              </a:bodyPr>
              <a:lstStyle/>
              <a:p>
                <a:r>
                  <a:rPr lang="en-US" sz="2000" dirty="0">
                    <a:latin typeface="Verdana"/>
                    <a:ea typeface="Times New Roman"/>
                    <a:cs typeface="Times New Roman"/>
                  </a:rPr>
                  <a:t>Ava said Event B is more likely to occur because there are </a:t>
                </a:r>
                <a14:m>
                  <m:oMath xmlns:m="http://schemas.openxmlformats.org/officeDocument/2006/math">
                    <m:r>
                      <a:rPr lang="en-US" sz="2000" i="1">
                        <a:latin typeface="Cambria Math"/>
                        <a:ea typeface="Times New Roman"/>
                        <a:cs typeface="Times New Roman"/>
                      </a:rPr>
                      <m:t>46</m:t>
                    </m:r>
                  </m:oMath>
                </a14:m>
                <a:r>
                  <a:rPr lang="en-US" sz="2000" dirty="0">
                    <a:latin typeface="Verdana"/>
                    <a:ea typeface="Times New Roman"/>
                    <a:cs typeface="Times New Roman"/>
                  </a:rPr>
                  <a:t> possible outcomes in the event compared to only </a:t>
                </a:r>
                <a14:m>
                  <m:oMath xmlns:m="http://schemas.openxmlformats.org/officeDocument/2006/math">
                    <m:r>
                      <a:rPr lang="en-US" sz="2000" i="1">
                        <a:latin typeface="Cambria Math"/>
                        <a:ea typeface="Times New Roman"/>
                        <a:cs typeface="Times New Roman"/>
                      </a:rPr>
                      <m:t>25</m:t>
                    </m:r>
                  </m:oMath>
                </a14:m>
                <a:r>
                  <a:rPr lang="en-US" sz="2000" dirty="0">
                    <a:latin typeface="Verdana"/>
                    <a:ea typeface="Times New Roman"/>
                    <a:cs typeface="Times New Roman"/>
                  </a:rPr>
                  <a:t> in Event A. Oscar said Event A is more likely because </a:t>
                </a:r>
                <a14:m>
                  <m:oMath xmlns:m="http://schemas.openxmlformats.org/officeDocument/2006/math">
                    <m:r>
                      <a:rPr lang="en-US" sz="2000" i="1">
                        <a:latin typeface="Cambria Math"/>
                        <a:ea typeface="Times New Roman"/>
                        <a:cs typeface="Times New Roman"/>
                      </a:rPr>
                      <m:t>𝑃</m:t>
                    </m:r>
                    <m:d>
                      <m:dPr>
                        <m:ctrlPr>
                          <a:rPr lang="en-US" sz="2000" i="1">
                            <a:latin typeface="Cambria Math" panose="02040503050406030204" pitchFamily="18" charset="0"/>
                          </a:rPr>
                        </m:ctrlPr>
                      </m:dPr>
                      <m:e>
                        <m:r>
                          <m:rPr>
                            <m:sty m:val="p"/>
                          </m:rPr>
                          <a:rPr lang="en-US" sz="2000">
                            <a:latin typeface="Cambria Math"/>
                            <a:ea typeface="Times New Roman"/>
                            <a:cs typeface="Times New Roman"/>
                          </a:rPr>
                          <m:t>A</m:t>
                        </m:r>
                      </m:e>
                    </m:d>
                    <m:r>
                      <a:rPr lang="en-US" sz="2000" i="1">
                        <a:latin typeface="Cambria Math"/>
                        <a:ea typeface="Times New Roman"/>
                        <a:cs typeface="Times New Roman"/>
                      </a:rPr>
                      <m:t>=0.25</m:t>
                    </m:r>
                  </m:oMath>
                </a14:m>
                <a:r>
                  <a:rPr lang="en-US" sz="2000" dirty="0">
                    <a:latin typeface="Verdana"/>
                    <a:ea typeface="Times New Roman"/>
                    <a:cs typeface="Times New Roman"/>
                  </a:rPr>
                  <a:t> and </a:t>
                </a:r>
                <a14:m>
                  <m:oMath xmlns:m="http://schemas.openxmlformats.org/officeDocument/2006/math">
                    <m:r>
                      <a:rPr lang="en-US" sz="2000" i="1">
                        <a:latin typeface="Cambria Math"/>
                        <a:ea typeface="Times New Roman"/>
                        <a:cs typeface="Times New Roman"/>
                      </a:rPr>
                      <m:t>𝑃</m:t>
                    </m:r>
                    <m:d>
                      <m:dPr>
                        <m:ctrlPr>
                          <a:rPr lang="en-US" sz="2000" i="1">
                            <a:latin typeface="Cambria Math" panose="02040503050406030204" pitchFamily="18" charset="0"/>
                          </a:rPr>
                        </m:ctrlPr>
                      </m:dPr>
                      <m:e>
                        <m:r>
                          <m:rPr>
                            <m:sty m:val="p"/>
                          </m:rPr>
                          <a:rPr lang="en-US" sz="2000">
                            <a:latin typeface="Cambria Math"/>
                            <a:ea typeface="Times New Roman"/>
                            <a:cs typeface="Times New Roman"/>
                          </a:rPr>
                          <m:t>B</m:t>
                        </m:r>
                      </m:e>
                    </m:d>
                    <m:r>
                      <a:rPr lang="en-US" sz="2000" i="1">
                        <a:latin typeface="Cambria Math"/>
                        <a:ea typeface="Times New Roman"/>
                        <a:cs typeface="Times New Roman"/>
                      </a:rPr>
                      <m:t>=0.23</m:t>
                    </m:r>
                  </m:oMath>
                </a14:m>
                <a:r>
                  <a:rPr lang="en-US" sz="2000" dirty="0">
                    <a:latin typeface="Verdana"/>
                    <a:ea typeface="Times New Roman"/>
                    <a:cs typeface="Times New Roman"/>
                  </a:rPr>
                  <a:t>.</a:t>
                </a:r>
              </a:p>
              <a:p>
                <a:pPr marL="457200" indent="-457200"/>
                <a:endParaRPr lang="en-PH" sz="2000" dirty="0">
                  <a:latin typeface="Verdana"/>
                  <a:ea typeface="Verdana" panose="020B0604030504040204" pitchFamily="34" charset="0"/>
                  <a:cs typeface="Times New Roman"/>
                </a:endParaRPr>
              </a:p>
              <a:p>
                <a:pPr marL="457200" indent="-457200">
                  <a:buFont typeface="+mj-lt"/>
                  <a:buAutoNum type="alphaLcPeriod"/>
                </a:pPr>
                <a:r>
                  <a:rPr lang="en-US" sz="2000" dirty="0">
                    <a:latin typeface="Verdana"/>
                    <a:ea typeface="Times New Roman"/>
                    <a:cs typeface="Times New Roman"/>
                  </a:rPr>
                  <a:t>Explain who is correct.</a:t>
                </a:r>
              </a:p>
              <a:p>
                <a:pPr marL="457200" indent="-457200">
                  <a:buFont typeface="+mj-lt"/>
                  <a:buAutoNum type="alphaLcPeriod"/>
                </a:pPr>
                <a:endParaRPr lang="en-PH" sz="2000" dirty="0">
                  <a:latin typeface="Verdana"/>
                  <a:ea typeface="Verdana" panose="020B0604030504040204" pitchFamily="34" charset="0"/>
                  <a:cs typeface="Times New Roman"/>
                </a:endParaRPr>
              </a:p>
              <a:p>
                <a:pPr marL="457200" indent="-457200">
                  <a:buFont typeface="+mj-lt"/>
                  <a:buAutoNum type="alphaLcPeriod"/>
                </a:pPr>
                <a:endParaRPr lang="en-PH" sz="2000" dirty="0">
                  <a:latin typeface="Verdana"/>
                  <a:ea typeface="Verdana" panose="020B0604030504040204" pitchFamily="34" charset="0"/>
                  <a:cs typeface="Times New Roman"/>
                </a:endParaRPr>
              </a:p>
              <a:p>
                <a:pPr marL="457200" indent="-457200">
                  <a:buFont typeface="+mj-lt"/>
                  <a:buAutoNum type="alphaLcPeriod"/>
                </a:pPr>
                <a:endParaRPr lang="en-PH" sz="2000" dirty="0">
                  <a:latin typeface="Verdana"/>
                  <a:ea typeface="Verdana" panose="020B0604030504040204" pitchFamily="34" charset="0"/>
                  <a:cs typeface="Times New Roman"/>
                </a:endParaRPr>
              </a:p>
              <a:p>
                <a:pPr marL="457200" indent="-457200">
                  <a:buFont typeface="+mj-lt"/>
                  <a:buAutoNum type="alphaLcPeriod"/>
                </a:pPr>
                <a:endParaRPr lang="en-PH" sz="2000" dirty="0">
                  <a:latin typeface="Verdana"/>
                  <a:ea typeface="Verdana" panose="020B0604030504040204" pitchFamily="34" charset="0"/>
                  <a:cs typeface="Times New Roman"/>
                </a:endParaRPr>
              </a:p>
              <a:p>
                <a:pPr marL="457200" indent="-457200">
                  <a:buFont typeface="+mj-lt"/>
                  <a:buAutoNum type="alphaLcPeriod"/>
                </a:pPr>
                <a:endParaRPr lang="en-PH" sz="2000" dirty="0">
                  <a:latin typeface="Verdana"/>
                  <a:ea typeface="Verdana" panose="020B0604030504040204" pitchFamily="34" charset="0"/>
                  <a:cs typeface="Times New Roman"/>
                </a:endParaRPr>
              </a:p>
              <a:p>
                <a:pPr marL="457200" indent="-457200">
                  <a:buFont typeface="+mj-lt"/>
                  <a:buAutoNum type="alphaLcPeriod"/>
                </a:pPr>
                <a:endParaRPr lang="en-PH" sz="2000" dirty="0">
                  <a:latin typeface="Verdana"/>
                  <a:ea typeface="Verdana" panose="020B0604030504040204" pitchFamily="34" charset="0"/>
                  <a:cs typeface="Times New Roman"/>
                </a:endParaRPr>
              </a:p>
              <a:p>
                <a:pPr marL="457200" indent="-457200">
                  <a:buFont typeface="+mj-lt"/>
                  <a:buAutoNum type="alphaLcPeriod"/>
                </a:pPr>
                <a:r>
                  <a:rPr lang="en-US" sz="2000" dirty="0">
                    <a:latin typeface="Verdana"/>
                    <a:ea typeface="Times New Roman"/>
                    <a:cs typeface="Times New Roman"/>
                  </a:rPr>
                  <a:t>Write a short note to the student who was incorrect explaining the error </a:t>
                </a:r>
                <a:br>
                  <a:rPr lang="en-US" sz="2000" dirty="0">
                    <a:latin typeface="Verdana"/>
                    <a:ea typeface="Times New Roman"/>
                    <a:cs typeface="Times New Roman"/>
                  </a:rPr>
                </a:br>
                <a:r>
                  <a:rPr lang="en-US" sz="2000" dirty="0">
                    <a:latin typeface="Verdana"/>
                    <a:ea typeface="Times New Roman"/>
                    <a:cs typeface="Times New Roman"/>
                  </a:rPr>
                  <a:t>they made.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4CE9D117-FAE6-F74F-940B-9CD1479755BE}"/>
                  </a:ext>
                </a:extLst>
              </p:cNvPr>
              <p:cNvSpPr txBox="1">
                <a:spLocks noRot="1" noChangeAspect="1" noMove="1" noResize="1" noEditPoints="1" noAdjustHandles="1" noChangeArrowheads="1" noChangeShapeType="1" noTextEdit="1"/>
              </p:cNvSpPr>
              <p:nvPr/>
            </p:nvSpPr>
            <p:spPr>
              <a:xfrm>
                <a:off x="809439" y="563535"/>
                <a:ext cx="10721146" cy="4093428"/>
              </a:xfrm>
              <a:prstGeom prst="rect">
                <a:avLst/>
              </a:prstGeom>
              <a:blipFill rotWithShape="1">
                <a:blip r:embed="rId4"/>
                <a:stretch>
                  <a:fillRect l="-625" t="-744" b="-1637"/>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BEF6C55E-B3A1-F64B-8B75-315832270770}"/>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endParaRPr i="1" dirty="0">
              <a:latin typeface="Calibri"/>
              <a:ea typeface="Calibri"/>
              <a:cs typeface="Calibri"/>
              <a:sym typeface="Calibri"/>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1398</TotalTime>
  <Words>988</Words>
  <Application>Microsoft Office PowerPoint</Application>
  <PresentationFormat>Widescreen</PresentationFormat>
  <Paragraphs>190</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 Black</vt:lpstr>
      <vt:lpstr>Verdana</vt:lpstr>
      <vt:lpstr>Courier New</vt:lpstr>
      <vt:lpstr>Century Gothic</vt:lpstr>
      <vt:lpstr>Arial</vt:lpstr>
      <vt:lpstr>Cambria Math</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43</cp:revision>
  <dcterms:created xsi:type="dcterms:W3CDTF">2015-03-17T18:51:18Z</dcterms:created>
  <dcterms:modified xsi:type="dcterms:W3CDTF">2022-07-11T01:50:25Z</dcterms:modified>
</cp:coreProperties>
</file>