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13" r:id="rId11"/>
    <p:sldId id="332" r:id="rId12"/>
    <p:sldId id="333" r:id="rId13"/>
    <p:sldId id="334" r:id="rId14"/>
    <p:sldId id="339" r:id="rId15"/>
    <p:sldId id="329" r:id="rId16"/>
    <p:sldId id="330" r:id="rId17"/>
    <p:sldId id="331" r:id="rId18"/>
    <p:sldId id="335" r:id="rId19"/>
    <p:sldId id="289" r:id="rId20"/>
    <p:sldId id="290" r:id="rId21"/>
    <p:sldId id="308" r:id="rId22"/>
    <p:sldId id="340" r:id="rId23"/>
    <p:sldId id="336" r:id="rId24"/>
    <p:sldId id="320" r:id="rId25"/>
    <p:sldId id="321" r:id="rId26"/>
    <p:sldId id="322" r:id="rId27"/>
    <p:sldId id="337" r:id="rId28"/>
    <p:sldId id="338" r:id="rId29"/>
    <p:sldId id="306" r:id="rId30"/>
    <p:sldId id="307" r:id="rId31"/>
  </p:sldIdLst>
  <p:sldSz cx="12192000" cy="6858000"/>
  <p:notesSz cx="6858000" cy="9144000"/>
  <p:embeddedFontLst>
    <p:embeddedFont>
      <p:font typeface="Arial Black" panose="020B0A04020102020204" pitchFamily="34" charset="0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" panose="02040503050406030204" pitchFamily="18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Century Gothic" panose="020B0502020202020204" pitchFamily="34" charset="0"/>
      <p:regular r:id="rId43"/>
      <p:bold r:id="rId44"/>
      <p:italic r:id="rId45"/>
      <p:boldItalic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34587" autoAdjust="0"/>
    <p:restoredTop sz="94694" autoAdjust="0"/>
  </p:normalViewPr>
  <p:slideViewPr>
    <p:cSldViewPr snapToGrid="0">
      <p:cViewPr varScale="1">
        <p:scale>
          <a:sx n="60" d="100"/>
          <a:sy n="60" d="100"/>
        </p:scale>
        <p:origin x="90" y="2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51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06752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Probability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latin typeface="Verdana"/>
                <a:ea typeface="Times New Roman"/>
                <a:cs typeface="Times New Roman"/>
              </a:rPr>
              <a:t>MA.7.DP.2.2</a:t>
            </a:r>
          </a:p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Times New Roman"/>
                <a:sym typeface="Verdana"/>
              </a:rPr>
              <a:t>	</a:t>
            </a: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the probability of a chance event, interpret 	the likelihood of it occurring. Compare the 	probabilities of chance events.</a:t>
            </a:r>
          </a:p>
          <a:p>
            <a:pPr indent="0">
              <a:buNone/>
            </a:pPr>
            <a:endParaRPr lang="en-US" sz="28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800" dirty="0">
                <a:latin typeface="Verdana"/>
                <a:ea typeface="Times New Roman"/>
                <a:cs typeface="Times New Roman"/>
              </a:rPr>
              <a:t>MA.7.NSO.1.2 </a:t>
            </a:r>
          </a:p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Times New Roman"/>
                <a:sym typeface="Verdana"/>
              </a:rPr>
              <a:t>	</a:t>
            </a: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Rewrite rational numbers in different but 	equivalent forms including fractions, mixed 	numbers, repeating decimals, and percentages to 	solve mathematical and real-world problems.</a:t>
            </a:r>
            <a:endParaRPr lang="en-US" sz="28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express the probability of a chance event using a fraction, percentage, or decimal.</a:t>
            </a:r>
          </a:p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compare probabilities of chance events.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3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77335" y="104490"/>
            <a:ext cx="99376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22" y="3936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45854" y="146331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Some of the cards in the card game SET are shown.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7335" y="1975930"/>
            <a:ext cx="6405434" cy="3493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5854" y="378931"/>
            <a:ext cx="83271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What do you notice?</a:t>
            </a: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What do you wonder?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77599" y="106967"/>
            <a:ext cx="84787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2.5.2 Exploration: Representing Probabilities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5345" y="39369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44915" y="1464113"/>
                <a:ext cx="10800000" cy="3199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When performing simple experiments, all of the outcomes have the same likelihood of happening. For example, when flipping a fair coin, the sample space includes two possible outcomes, {heads, tails}. Each outcome has an equal chance of happening. Therefore, the chance of landing on heads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because this event represents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outcome out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possible outcomes. Represented as a decimal or a percentage, the chance of landing on heads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0.5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50%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, respectively.</a:t>
                </a:r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15" y="1464113"/>
                <a:ext cx="10800000" cy="3199209"/>
              </a:xfrm>
              <a:prstGeom prst="rect">
                <a:avLst/>
              </a:prstGeom>
              <a:blipFill rotWithShape="1">
                <a:blip r:embed="rId4"/>
                <a:stretch>
                  <a:fillRect l="-847" t="-1524" r="-56" b="-323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5854" y="379306"/>
                <a:ext cx="10800000" cy="2074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Work with your partner to complete the following.</a:t>
                </a:r>
              </a:p>
              <a:p>
                <a:pPr marL="457200" indent="-457200">
                  <a:spcBef>
                    <a:spcPts val="24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From the percentages listed below, determine the percent chance of each event occurring. Each value is used once.</a:t>
                </a:r>
              </a:p>
              <a:p>
                <a:pPr marL="457200" algn="ctr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16.</m:t>
                    </m:r>
                    <m:bar>
                      <m:barPr>
                        <m:pos m:val="top"/>
                        <m:ctrlPr>
                          <a:rPr lang="en-PH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barPr>
                      <m:e>
                        <m:r>
                          <a:rPr lang="en-PH" sz="2400" i="1" dirty="0">
                            <a:latin typeface="Cambria Math"/>
                            <a:ea typeface="Verdana" panose="020B0604030504040204" pitchFamily="34" charset="0"/>
                          </a:rPr>
                          <m:t>6</m:t>
                        </m:r>
                      </m:e>
                    </m:bar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33.</m:t>
                    </m:r>
                    <m:bar>
                      <m:barPr>
                        <m:pos m:val="top"/>
                        <m:ctrlPr>
                          <a:rPr lang="en-PH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barPr>
                      <m:e>
                        <m:r>
                          <a:rPr lang="en-PH" sz="2400" i="1" dirty="0">
                            <a:latin typeface="Cambria Math"/>
                            <a:ea typeface="Verdana" panose="020B0604030504040204" pitchFamily="34" charset="0"/>
                          </a:rPr>
                          <m:t>3</m:t>
                        </m:r>
                      </m:e>
                    </m:bar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54" y="379306"/>
                <a:ext cx="10800000" cy="2074863"/>
              </a:xfrm>
              <a:prstGeom prst="rect">
                <a:avLst/>
              </a:prstGeom>
              <a:blipFill rotWithShape="1">
                <a:blip r:embed="rId3"/>
                <a:stretch>
                  <a:fillRect l="-903" t="-2346" r="-146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770862"/>
              </p:ext>
            </p:extLst>
          </p:nvPr>
        </p:nvGraphicFramePr>
        <p:xfrm>
          <a:off x="1160328" y="2650067"/>
          <a:ext cx="7920570" cy="280416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612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0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Event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Percent Chance</a:t>
                      </a: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When given three doors with only one containing a prize behind it, what is the chance of opening the prize-winning door?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eriod" startAt="2"/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When reaching into a dark closet with </a:t>
                      </a:r>
                      <a:b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five pairs of shoes, what is the chance of pulling out a left shoe?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0041365"/>
                  </p:ext>
                </p:extLst>
              </p:nvPr>
            </p:nvGraphicFramePr>
            <p:xfrm>
              <a:off x="1152729" y="368357"/>
              <a:ext cx="7920570" cy="3505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1205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Percent Chance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3"/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prompted to randomly select a crayon from a group of red, blue, and yellow crayons, what is the chance you choose a purple crayon?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4"/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rolling a fair six-sided die, what is the chance of landing 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5"/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flipping a coin, what is the chance of landing on either heads or tails?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0041365"/>
                  </p:ext>
                </p:extLst>
              </p:nvPr>
            </p:nvGraphicFramePr>
            <p:xfrm>
              <a:off x="1152729" y="368357"/>
              <a:ext cx="7920570" cy="3505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12057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Percent Chance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3"/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prompted to randomly select a crayon from a group of red, blue, and yellow crayons, what is the chance you choose a purple crayon?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0000" r="-29482" b="-1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5"/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flipping a coin, what is the chance of landing on either heads or tails?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3869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5854" y="379706"/>
            <a:ext cx="10800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Plot and label a point to represent the percent chance of each event happening from the previous question. Use the letters labeling each event.</a:t>
            </a: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Consider the event from question 1 that is least likely to occur.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Which event is the least likely to happen?</a:t>
            </a: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76137" y="1227350"/>
            <a:ext cx="7539433" cy="1105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2045988" y="2675053"/>
            <a:ext cx="7782201" cy="1657169"/>
            <a:chOff x="0" y="-117385"/>
            <a:chExt cx="7782201" cy="1657169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-117385"/>
              <a:ext cx="7782201" cy="1657169"/>
              <a:chOff x="0" y="-129963"/>
              <a:chExt cx="7782201" cy="1834723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Times New Roman"/>
                  </a:rPr>
                  <a:t> 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Times New Roman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ounded Rectangle 14"/>
                  <p:cNvSpPr/>
                  <p:nvPr/>
                </p:nvSpPr>
                <p:spPr>
                  <a:xfrm>
                    <a:off x="0" y="-129963"/>
                    <a:ext cx="7782201" cy="1834723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B8E6F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91440" rIns="91425" bIns="45700" anchor="ctr" anchorCtr="0">
                    <a:spAutoFit/>
                  </a:bodyPr>
                  <a:lstStyle/>
                  <a:p>
                    <a:pPr marL="742950">
                      <a:spcAft>
                        <a:spcPts val="1000"/>
                      </a:spcAft>
                    </a:pP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The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probability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 of an event is a measure of the likelihood the event will occur. Probabilities are expressed using numbers from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0</m:t>
                        </m:r>
                      </m:oMath>
                    </a14:m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 to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1</m:t>
                        </m:r>
                      </m:oMath>
                    </a14:m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 as a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decimal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,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percentage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, or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fraction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.</a:t>
                    </a:r>
                    <a:endParaRPr lang="en-US" dirty="0">
                      <a:latin typeface="Cambria"/>
                      <a:ea typeface="Times New Roman"/>
                      <a:cs typeface="Times New Roman"/>
                    </a:endParaRPr>
                  </a:p>
                </p:txBody>
              </p:sp>
            </mc:Choice>
            <mc:Fallback xmlns="">
              <p:sp>
                <p:nvSpPr>
                  <p:cNvPr id="15" name="Rounded Rectangle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-129963"/>
                    <a:ext cx="7782201" cy="1834723"/>
                  </a:xfrm>
                  <a:prstGeom prst="roundRect">
                    <a:avLst>
                      <a:gd name="adj" fmla="val 16667"/>
                    </a:avLst>
                  </a:prstGeom>
                  <a:blipFill rotWithShape="1"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image15.png" descr="Icon&#10;&#10;Description automatically generated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65100" y="177800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7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9676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5854" y="386766"/>
            <a:ext cx="10800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Describe, using sentences, the likelihood of this event happening.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Discuss with your partner whether or not it is possible to have a probability less than this.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4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Consider the event from question 1 that is most likely to occur.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Which event is the most likely to occur?</a:t>
            </a:r>
            <a:endParaRPr lang="en-PH" sz="2000" dirty="0">
              <a:latin typeface="Verdana"/>
              <a:ea typeface="Times New Roman"/>
              <a:cs typeface="Times New Roman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9717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5854" y="383046"/>
            <a:ext cx="10800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Describe, in sentences, the likelihood of this event happening.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Discuss with your partner whether or not it is possible to have a probability greater than this.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5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Which event has the same likelihood of happening or not happening?</a:t>
            </a:r>
            <a:endParaRPr lang="en-PH" sz="2000" dirty="0">
              <a:latin typeface="Verdana"/>
              <a:ea typeface="Times New Roman"/>
              <a:cs typeface="Times New Roman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3522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92828" y="105744"/>
            <a:ext cx="83271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2.5.3 Bring It Together: Representing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43109" y="1467958"/>
                <a:ext cx="10800000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Complete the statements.</a:t>
                </a:r>
              </a:p>
              <a:p>
                <a:pPr marL="457200">
                  <a:spcBef>
                    <a:spcPts val="1200"/>
                  </a:spcBef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probability of an event can be any number between 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 A probability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means it is		          for the event to occur. A probability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means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it is                        the event will occur.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09" y="1467958"/>
                <a:ext cx="10800000" cy="2708434"/>
              </a:xfrm>
              <a:prstGeom prst="rect">
                <a:avLst/>
              </a:prstGeom>
              <a:blipFill rotWithShape="1">
                <a:blip r:embed="rId3"/>
                <a:stretch>
                  <a:fillRect l="-564" t="-1351" r="-1298" b="-315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-12827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5345" y="39369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3171141" y="2588713"/>
            <a:ext cx="1877384" cy="7747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certain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66700" indent="-2667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impossible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89862" y="3532584"/>
            <a:ext cx="1877384" cy="7747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certain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66700" indent="-2667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impossible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550333" y="539162"/>
                <a:ext cx="108000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4500"/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closer a probability is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the	         likely it is to occur, while the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closer it is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the	       likely it is to occur. A probability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0.5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means the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event is</a:t>
                </a: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33" y="539162"/>
                <a:ext cx="108000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t="-1064" r="-1185" b="-27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89221" y="381766"/>
            <a:ext cx="1151324" cy="7747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more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spcAft>
                <a:spcPts val="1000"/>
              </a:spcAft>
              <a:buFont typeface="Courier New"/>
              <a:buChar char="o"/>
            </a:pPr>
            <a:r>
              <a:rPr lang="en-PH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less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72641" y="1582973"/>
            <a:ext cx="1151324" cy="7747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more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spcAft>
                <a:spcPts val="1000"/>
              </a:spcAft>
              <a:buFont typeface="Courier New"/>
              <a:buChar char="o"/>
            </a:pPr>
            <a:r>
              <a:rPr lang="en-PH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less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47976" y="2572994"/>
            <a:ext cx="3856492" cy="1123712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likely.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unlikely.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spcAft>
                <a:spcPts val="1000"/>
              </a:spcAft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neither likely nor unlikely.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552365" y="377942"/>
                <a:ext cx="10800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Probabilities can be represented by decimals, percentages, or fractions with equivalent values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65" y="377942"/>
                <a:ext cx="10800000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621" t="-4310" b="-1465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-2367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53440" y="1334388"/>
            <a:ext cx="8197850" cy="298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8270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00144" y="4049917"/>
            <a:ext cx="1642110" cy="2256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2060449" y="1532473"/>
            <a:ext cx="8188701" cy="2522284"/>
            <a:chOff x="-1" y="-175292"/>
            <a:chExt cx="8188701" cy="2522284"/>
          </a:xfrm>
        </p:grpSpPr>
        <p:grpSp>
          <p:nvGrpSpPr>
            <p:cNvPr id="11" name="Group 10"/>
            <p:cNvGrpSpPr/>
            <p:nvPr/>
          </p:nvGrpSpPr>
          <p:grpSpPr>
            <a:xfrm>
              <a:off x="-1" y="-175292"/>
              <a:ext cx="8188701" cy="2522284"/>
              <a:chOff x="-1" y="-194074"/>
              <a:chExt cx="8188701" cy="2792531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Times New Roman"/>
                  </a:rPr>
                  <a:t> 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Times New Roman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ounded Rectangle 16"/>
                  <p:cNvSpPr/>
                  <p:nvPr/>
                </p:nvSpPr>
                <p:spPr>
                  <a:xfrm>
                    <a:off x="-1" y="-194074"/>
                    <a:ext cx="8188701" cy="2792531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B8E6F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108000" rIns="91425" bIns="0" anchor="ctr" anchorCtr="0">
                    <a:spAutoFit/>
                  </a:bodyPr>
                  <a:lstStyle/>
                  <a:p>
                    <a:pPr marL="742950">
                      <a:spcAft>
                        <a:spcPts val="1000"/>
                      </a:spcAft>
                    </a:pPr>
                    <a:r>
                      <a:rPr lang="en-US" sz="2000" dirty="0">
                        <a:solidFill>
                          <a:srgbClr val="0075BF"/>
                        </a:solidFill>
                        <a:latin typeface="Verdana" pitchFamily="34" charset="0"/>
                        <a:ea typeface="Verdana" pitchFamily="34" charset="0"/>
                        <a:cs typeface="Verdana"/>
                      </a:rPr>
                      <a:t>The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 pitchFamily="34" charset="0"/>
                        <a:ea typeface="Verdana" pitchFamily="34" charset="0"/>
                        <a:cs typeface="Verdana"/>
                      </a:rPr>
                      <a:t>probability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 pitchFamily="34" charset="0"/>
                        <a:ea typeface="Verdana" pitchFamily="34" charset="0"/>
                        <a:cs typeface="Verdana"/>
                      </a:rPr>
                      <a:t> of an event occurring, notated as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𝑃</m:t>
                        </m:r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𝑒𝑣𝑒𝑛𝑡</m:t>
                        </m:r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)</m:t>
                        </m:r>
                      </m:oMath>
                    </a14:m>
                    <a:r>
                      <a:rPr lang="en-US" sz="2000" dirty="0">
                        <a:solidFill>
                          <a:srgbClr val="0075BF"/>
                        </a:solidFill>
                        <a:latin typeface="Verdana" pitchFamily="34" charset="0"/>
                        <a:ea typeface="Verdana" pitchFamily="34" charset="0"/>
                        <a:cs typeface="Verdana"/>
                      </a:rPr>
                      <a:t>, is determined by dividing the number of outcomes in the event by the possible outcomes in the sample space.</a:t>
                    </a:r>
                    <a:endParaRPr lang="en-US" sz="2000" dirty="0">
                      <a:latin typeface="Verdana" pitchFamily="34" charset="0"/>
                      <a:ea typeface="Verdana" pitchFamily="34" charset="0"/>
                      <a:cs typeface="Times New Roman"/>
                    </a:endParaRPr>
                  </a:p>
                  <a:p>
                    <a:pPr marL="742950"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/>
                              <a:ea typeface="Verdana"/>
                              <a:cs typeface="Verdana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/>
                              <a:ea typeface="Verdana"/>
                              <a:cs typeface="Verdana"/>
                            </a:rPr>
                            <m:t>= 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number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of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outcomes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in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the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event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total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possible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outcomes</m:t>
                              </m:r>
                            </m:den>
                          </m:f>
                        </m:oMath>
                      </m:oMathPara>
                    </a14:m>
                    <a:endParaRPr lang="en-US" sz="2000" dirty="0">
                      <a:latin typeface="Verdana" pitchFamily="34" charset="0"/>
                      <a:ea typeface="Verdana" pitchFamily="34" charset="0"/>
                      <a:cs typeface="Times New Roman"/>
                    </a:endParaRPr>
                  </a:p>
                </p:txBody>
              </p:sp>
            </mc:Choice>
            <mc:Fallback xmlns="">
              <p:sp>
                <p:nvSpPr>
                  <p:cNvPr id="17" name="Rounded Rectangle 1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-194074"/>
                    <a:ext cx="8188701" cy="2792531"/>
                  </a:xfrm>
                  <a:prstGeom prst="roundRect">
                    <a:avLst>
                      <a:gd name="adj" fmla="val 16667"/>
                    </a:avLst>
                  </a:prstGeom>
                  <a:blipFill rotWithShape="1"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4" name="image15.png" descr="Icon&#10;&#10;Description automatically generated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65100" y="86360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72645" y="109444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2.5.4 Guided Instruction: Expressing Probabilities of Events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5345" y="3986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2254" y="4374400"/>
                <a:ext cx="108000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Harper is playing a game where she draws a lettered tile out of a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bag without looking.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notation 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</m:t>
                    </m:r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this context means “the probability of pulling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out a tile with the letter A on it.”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54" y="4374400"/>
                <a:ext cx="10800000" cy="1631216"/>
              </a:xfrm>
              <a:prstGeom prst="rect">
                <a:avLst/>
              </a:prstGeom>
              <a:blipFill rotWithShape="1">
                <a:blip r:embed="rId7"/>
                <a:stretch>
                  <a:fillRect l="-621" t="-1873" b="-599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2943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40953" y="377484"/>
                <a:ext cx="1080000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Find the probability of each event, represented as a fraction.</a:t>
                </a:r>
              </a:p>
              <a:p>
                <a:endParaRPr lang="en-US" sz="2000" i="1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/>
                <a:r>
                  <a:rPr lang="en-PH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itchFamily="34" charset="0"/>
                        <a:cs typeface="Verdana" pitchFamily="34" charset="0"/>
                      </a:rPr>
                      <m:t>𝑃</m:t>
                    </m:r>
                  </m:oMath>
                </a14:m>
                <a:r>
                  <a:rPr lang="en-PH" sz="2000" dirty="0">
                    <a:latin typeface="Cambria Math" pitchFamily="18" charset="0"/>
                    <a:ea typeface="Cambria Math" pitchFamily="18" charset="0"/>
                    <a:cs typeface="Verdana" pitchFamily="34" charset="0"/>
                  </a:rPr>
                  <a:t>(A)</a:t>
                </a:r>
                <a:endParaRPr lang="en-US" sz="2000" dirty="0">
                  <a:latin typeface="Cambria Math" pitchFamily="18" charset="0"/>
                  <a:ea typeface="Cambria Math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30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Verdana" panose="020B0604030504040204" pitchFamily="34" charset="0"/>
                  </a:rPr>
                  <a:t>(B)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lnSpc>
                    <a:spcPct val="30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Verdana" panose="020B0604030504040204" pitchFamily="34" charset="0"/>
                  </a:rPr>
                  <a:t>(M)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lnSpc>
                    <a:spcPct val="30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Verdana" panose="020B0604030504040204" pitchFamily="34" charset="0"/>
                  </a:rPr>
                  <a:t>(vowel)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lnSpc>
                    <a:spcPct val="30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Verdana" panose="020B0604030504040204" pitchFamily="34" charset="0"/>
                  </a:rPr>
                  <a:t>(letter)</a:t>
                </a:r>
              </a:p>
              <a:p>
                <a:pPr marL="457200" indent="-457200">
                  <a:spcBef>
                    <a:spcPts val="2400"/>
                  </a:spcBef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53" y="377484"/>
                <a:ext cx="10800000" cy="5940088"/>
              </a:xfrm>
              <a:prstGeom prst="rect">
                <a:avLst/>
              </a:prstGeom>
              <a:blipFill rotWithShape="1">
                <a:blip r:embed="rId3"/>
                <a:stretch>
                  <a:fillRect l="-621" t="-61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46969" y="391591"/>
            <a:ext cx="108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Consider the probability of pulling a tile with a consonant on it.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Complete the table to find the fraction, decimal, and percentage equivalents of the probability.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>
              <a:spcBef>
                <a:spcPts val="1200"/>
              </a:spcBef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The probability of this event is a repeating decimal. When this occurs, the decimal or percentage representation is typically rounded.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60214"/>
                  </p:ext>
                </p:extLst>
              </p:nvPr>
            </p:nvGraphicFramePr>
            <p:xfrm>
              <a:off x="1578718" y="1691545"/>
              <a:ext cx="7277100" cy="14935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192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192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192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192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Decimal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Percent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PH" sz="2000" dirty="0">
                              <a:latin typeface="Cambria Math" pitchFamily="18" charset="0"/>
                              <a:ea typeface="Cambria Math" pitchFamily="18" charset="0"/>
                            </a:rPr>
                            <a:t>(consonant)</a:t>
                          </a:r>
                        </a:p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60214"/>
                  </p:ext>
                </p:extLst>
              </p:nvPr>
            </p:nvGraphicFramePr>
            <p:xfrm>
              <a:off x="1578718" y="1691545"/>
              <a:ext cx="7277100" cy="14935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192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8192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8192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8192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Decimal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Percent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34" t="-48485" r="-299331" b="-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0639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39494" y="377785"/>
                <a:ext cx="10800000" cy="381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𝑃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Times New Roman"/>
                        <a:cs typeface="Times New Roman"/>
                      </a:rPr>
                      <m:t>consonant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represented as a decimal rounded to the nearest hundredth?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𝑃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Times New Roman"/>
                        <a:cs typeface="Times New Roman"/>
                      </a:rPr>
                      <m:t>consonant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represented as a percentage rounded to the nearest tenth?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4" y="377785"/>
                <a:ext cx="10800000" cy="3816429"/>
              </a:xfrm>
              <a:prstGeom prst="rect">
                <a:avLst/>
              </a:prstGeom>
              <a:blipFill rotWithShape="1">
                <a:blip r:embed="rId3"/>
                <a:stretch>
                  <a:fillRect t="-1438" b="-271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8832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83585" y="108190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2.5.5 Try It: Expressing Probabilities of Events in Different Forms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3777" y="39613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33767" y="1467758"/>
                <a:ext cx="10800000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The probability of rolling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on a standard six-sided die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16.67%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, rounded to the nearest hundredth. </a:t>
                </a:r>
                <a:r>
                  <a:rPr lang="en-US" sz="2400" dirty="0" err="1">
                    <a:latin typeface="Verdana"/>
                    <a:ea typeface="Times New Roman"/>
                    <a:cs typeface="Times New Roman"/>
                  </a:rPr>
                  <a:t>Maisie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says that this probability is greater than an event whose probability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0.6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because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Times New Roman"/>
                        <a:cs typeface="Times New Roman"/>
                      </a:rPr>
                      <m:t>16.67</m:t>
                    </m:r>
                    <m:r>
                      <a:rPr lang="en-PH" sz="2400" i="1">
                        <a:latin typeface="Cambria Math"/>
                        <a:ea typeface="Cambria Math"/>
                        <a:cs typeface="Times New Roman"/>
                      </a:rPr>
                      <m:t>&gt;0.6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>
                  <a:spcBef>
                    <a:spcPts val="1200"/>
                  </a:spcBef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Explain whether you agree or disagree with </a:t>
                </a:r>
                <a:r>
                  <a:rPr lang="en-US" sz="2400" dirty="0" err="1">
                    <a:latin typeface="Verdana"/>
                    <a:ea typeface="Times New Roman"/>
                    <a:cs typeface="Times New Roman"/>
                  </a:rPr>
                  <a:t>Maisie’s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conclusion. Support your argument by showing your work.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67" y="1467758"/>
                <a:ext cx="10800000" cy="2462213"/>
              </a:xfrm>
              <a:prstGeom prst="rect">
                <a:avLst/>
              </a:prstGeom>
              <a:blipFill rotWithShape="1">
                <a:blip r:embed="rId4"/>
                <a:stretch>
                  <a:fillRect l="-903" t="-2228" b="-470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F37EE21E-8B35-FE4A-9307-F19691384C8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545854" y="383105"/>
            <a:ext cx="10800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The probabilities of five events are given.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Order the values of the probabilities from least to greatest.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DBC627A-4143-AD4E-B8AF-FA569ACE060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0820345"/>
                  </p:ext>
                </p:extLst>
              </p:nvPr>
            </p:nvGraphicFramePr>
            <p:xfrm>
              <a:off x="1159764" y="1004662"/>
              <a:ext cx="7624250" cy="15849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5248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A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B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C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42.9</m:t>
                                </m:r>
                                <m:r>
                                  <a:rPr lang="en-PH" sz="2000" b="0" i="0" smtClean="0">
                                    <a:latin typeface="Cambria Math"/>
                                    <a:ea typeface="Verdana" pitchFamily="34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0820345"/>
                  </p:ext>
                </p:extLst>
              </p:nvPr>
            </p:nvGraphicFramePr>
            <p:xfrm>
              <a:off x="1159764" y="1004662"/>
              <a:ext cx="7624250" cy="15849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5248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A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B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C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45000" r="-400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45000" r="-300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9203" t="-45000" r="-199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00400" t="-45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00400" t="-4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7.png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77" t="8554" r="10550" b="6515"/>
          <a:stretch/>
        </p:blipFill>
        <p:spPr bwMode="auto">
          <a:xfrm>
            <a:off x="1707409" y="1422543"/>
            <a:ext cx="1092835" cy="11099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545854" y="383573"/>
            <a:ext cx="108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Match the probabilities with the events described in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DBC627A-4143-AD4E-B8AF-FA569ACE060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9869613"/>
                  </p:ext>
                </p:extLst>
              </p:nvPr>
            </p:nvGraphicFramePr>
            <p:xfrm>
              <a:off x="1592411" y="955945"/>
              <a:ext cx="8280225" cy="537830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4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2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Probability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effectLst/>
                            <a:latin typeface="Verdana"/>
                            <a:ea typeface="Times New Roman"/>
                            <a:cs typeface="Times New Roman"/>
                          </a:endParaRPr>
                        </a:p>
                        <a:p>
                          <a:pPr algn="l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Landing on green on the spinner shown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Arial"/>
                          </a:endParaRPr>
                        </a:p>
                        <a:p>
                          <a:pPr algn="l"/>
                          <a:endParaRPr lang="en-US" sz="2000" dirty="0">
                            <a:effectLst/>
                            <a:latin typeface="Verdana"/>
                            <a:ea typeface="Times New Roman"/>
                            <a:cs typeface="Times New Roman"/>
                          </a:endParaRPr>
                        </a:p>
                      </a:txBody>
                      <a:tcPr marL="1371600"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Pulling a blue marble from a bag containing equal numbers of red, orange, yellow, green, and blue marbles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Landing on a factor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when rolling a fair ten-sided die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Picking a card with a vowel on it from a set of cards with each letter in the word FLORIDA on it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Landing on a number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on a standard six-sided die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9869613"/>
                  </p:ext>
                </p:extLst>
              </p:nvPr>
            </p:nvGraphicFramePr>
            <p:xfrm>
              <a:off x="1592411" y="955945"/>
              <a:ext cx="8280225" cy="537830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4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8002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Probability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274064"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effectLst/>
                            <a:latin typeface="Verdana"/>
                            <a:ea typeface="Times New Roman"/>
                            <a:cs typeface="Times New Roman"/>
                          </a:endParaRPr>
                        </a:p>
                        <a:p>
                          <a:pPr algn="l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Landing on green on the spinner shown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Arial"/>
                          </a:endParaRPr>
                        </a:p>
                        <a:p>
                          <a:pPr algn="l"/>
                          <a:endParaRPr lang="en-US" sz="2000" dirty="0">
                            <a:effectLst/>
                            <a:latin typeface="Verdana"/>
                            <a:ea typeface="Times New Roman"/>
                            <a:cs typeface="Times New Roman"/>
                          </a:endParaRPr>
                        </a:p>
                      </a:txBody>
                      <a:tcPr marL="1371600"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Pulling a blue marble from a bag containing equal numbers of red, orange, yellow, green, and blue marbles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0000" r="-27726" b="-200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Picking a card with a vowel on it from a set of cards with each letter in the word FLORIDA on it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99324" r="-27726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5385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545854" y="388833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Explain which event is the least likely to occur based on the probabilities.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DBC627A-4143-AD4E-B8AF-FA569ACE060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947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77599" y="109444"/>
            <a:ext cx="83271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299" y="3986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43360" y="1460545"/>
            <a:ext cx="10800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Times New Roman"/>
                <a:cs typeface="Times New Roman"/>
              </a:rPr>
              <a:t>Draw an </a:t>
            </a:r>
            <a:r>
              <a:rPr lang="en-US" sz="2000" b="1" dirty="0">
                <a:latin typeface="Verdana"/>
                <a:ea typeface="Times New Roman"/>
                <a:cs typeface="Times New Roman"/>
              </a:rPr>
              <a:t>X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on each line to indicate where your current level of understanding is related to each target.</a:t>
            </a:r>
          </a:p>
          <a:p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I can express the probability of a chance event using a fraction, percentage, or decimal.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I can compare probabilities of chance events.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158846" y="4035649"/>
            <a:ext cx="75516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862169"/>
              </p:ext>
            </p:extLst>
          </p:nvPr>
        </p:nvGraphicFramePr>
        <p:xfrm>
          <a:off x="2309572" y="3353370"/>
          <a:ext cx="7267575" cy="548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need help.</a:t>
                      </a:r>
                    </a:p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can’t get started.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I’m getting there, but </a:t>
                      </a:r>
                      <a:b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need more practice.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understand this</a:t>
                      </a:r>
                    </a:p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and I feel confident.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2158846" y="5845399"/>
            <a:ext cx="75516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92419"/>
              </p:ext>
            </p:extLst>
          </p:nvPr>
        </p:nvGraphicFramePr>
        <p:xfrm>
          <a:off x="2300884" y="5136374"/>
          <a:ext cx="7267575" cy="548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need help.</a:t>
                      </a:r>
                    </a:p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can’t get started.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I’m getting there, but </a:t>
                      </a:r>
                      <a:b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need more practice.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understand this</a:t>
                      </a:r>
                    </a:p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and I feel confident.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Google Shape;282;g104476d1465_1_17"/>
          <p:cNvSpPr txBox="1"/>
          <p:nvPr/>
        </p:nvSpPr>
        <p:spPr>
          <a:xfrm>
            <a:off x="8889924" y="65000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82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1508</Words>
  <Application>Microsoft Office PowerPoint</Application>
  <PresentationFormat>Widescreen</PresentationFormat>
  <Paragraphs>230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Cambria</vt:lpstr>
      <vt:lpstr>Arial Black</vt:lpstr>
      <vt:lpstr>Verdana</vt:lpstr>
      <vt:lpstr>Courier New</vt:lpstr>
      <vt:lpstr>Century Gothic</vt:lpstr>
      <vt:lpstr>Arial</vt:lpstr>
      <vt:lpstr>Cambria Math</vt:lpstr>
      <vt:lpstr>Calibri</vt:lpstr>
      <vt:lpstr>1_Office Theme</vt:lpstr>
      <vt:lpstr>7th Grade Math  Unit 2, Lesson 5  Probability  Volume 1, pg. 57  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43</cp:revision>
  <dcterms:created xsi:type="dcterms:W3CDTF">2015-03-17T18:51:18Z</dcterms:created>
  <dcterms:modified xsi:type="dcterms:W3CDTF">2022-07-11T01:48:01Z</dcterms:modified>
</cp:coreProperties>
</file>