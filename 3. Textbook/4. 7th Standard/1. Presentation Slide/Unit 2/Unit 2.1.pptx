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289" r:id="rId9"/>
    <p:sldId id="290" r:id="rId10"/>
    <p:sldId id="308" r:id="rId11"/>
    <p:sldId id="332" r:id="rId12"/>
    <p:sldId id="333" r:id="rId13"/>
    <p:sldId id="334" r:id="rId14"/>
    <p:sldId id="335" r:id="rId15"/>
    <p:sldId id="336" r:id="rId16"/>
    <p:sldId id="311" r:id="rId17"/>
    <p:sldId id="312" r:id="rId18"/>
    <p:sldId id="313" r:id="rId19"/>
    <p:sldId id="317" r:id="rId20"/>
    <p:sldId id="318" r:id="rId21"/>
    <p:sldId id="319" r:id="rId22"/>
    <p:sldId id="337" r:id="rId23"/>
    <p:sldId id="338" r:id="rId24"/>
    <p:sldId id="306" r:id="rId25"/>
    <p:sldId id="307" r:id="rId26"/>
  </p:sldIdLst>
  <p:sldSz cx="12192000" cy="6858000"/>
  <p:notesSz cx="6858000" cy="9144000"/>
  <p:embeddedFontLst>
    <p:embeddedFont>
      <p:font typeface="Arial Black" panose="020B0A04020102020204" pitchFamily="34" charset="0"/>
      <p:bold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Cambria Math" panose="02040503050406030204" pitchFamily="18" charset="0"/>
      <p:regular r:id="rId33"/>
    </p:embeddedFont>
    <p:embeddedFont>
      <p:font typeface="Century Gothic" panose="020B0502020202020204" pitchFamily="34" charset="0"/>
      <p:regular r:id="rId34"/>
      <p:bold r:id="rId35"/>
      <p:italic r:id="rId36"/>
      <p:boldItalic r:id="rId37"/>
    </p:embeddedFont>
    <p:embeddedFont>
      <p:font typeface="Verdana" panose="020B0604030504040204" pitchFamily="3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BEA6"/>
    <a:srgbClr val="CB0597"/>
    <a:srgbClr val="F79647"/>
    <a:srgbClr val="FCBD1E"/>
    <a:srgbClr val="C9DF6F"/>
    <a:srgbClr val="417DBF"/>
    <a:srgbClr val="3F2A67"/>
    <a:srgbClr val="E24E5F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828"/>
    <p:restoredTop sz="94694"/>
  </p:normalViewPr>
  <p:slideViewPr>
    <p:cSldViewPr snapToGrid="0">
      <p:cViewPr varScale="1">
        <p:scale>
          <a:sx n="54" d="100"/>
          <a:sy n="54" d="100"/>
        </p:scale>
        <p:origin x="102" y="2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5039871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30581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02437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30514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if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4674870" y="2054277"/>
            <a:ext cx="710549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2, Lesson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Exploring 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Sample Space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37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38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8248" y="616290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6889" y="1727200"/>
            <a:ext cx="11200977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MA.7.DP.2.1</a:t>
            </a:r>
          </a:p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	Determine the sample space for a simple 	 	experiment.</a:t>
            </a:r>
            <a:endParaRPr lang="en-US" sz="3500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" name="Google Shape;279;g104476d1465_1_17"/>
          <p:cNvSpPr txBox="1">
            <a:spLocks/>
          </p:cNvSpPr>
          <p:nvPr/>
        </p:nvSpPr>
        <p:spPr>
          <a:xfrm>
            <a:off x="1158599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5099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074420" y="1596390"/>
            <a:ext cx="1037844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</a:t>
            </a:r>
            <a:b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</a:b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</a:t>
            </a:r>
            <a:b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real-world contexts.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79998D09-ED40-CB40-ADB3-2C926DC27F8F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938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8248" y="616290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6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12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7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1770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971550" y="1600200"/>
            <a:ext cx="92392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71500" indent="-5651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determine all possible outcomes of a given scenario.</a:t>
            </a:r>
          </a:p>
          <a:p>
            <a:pPr marL="571500" indent="-565150">
              <a:buClr>
                <a:srgbClr val="434343"/>
              </a:buClr>
              <a:buSzPts val="3500"/>
              <a:buFont typeface="Verdana"/>
              <a:buChar char="❏"/>
            </a:pP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571500" indent="-5651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determine whether or not a simple experiment is fair.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4411E69F-FF2D-4E45-A95C-56414991DB11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938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8248" y="616290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09128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6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966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38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8248" y="616290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83658" y="60325"/>
            <a:ext cx="8766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2.1.1 Warm-Up: </a:t>
            </a:r>
            <a:b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Carolyn Beatrice Parker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358" y="349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541792" y="1386025"/>
            <a:ext cx="764547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Carolyn Beatrice Parker, born in Gainesville, FL in 1917, was the first African American woman known to receive a graduate degree in physics and subsequently work on the top-secret government project known as the Manhattan Project. Before earning her master’s degree in physics, she earned a master’s degree in mathematics and was also a teacher in Florida.</a:t>
            </a: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733F64CC-F62E-3D45-B066-56DBFBB732F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9" name="Picture 8" descr="A picture containing text, wall, person, person&#10;&#10;Description automatically generated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61641" y="1386025"/>
            <a:ext cx="2744470" cy="28562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541792" y="3724680"/>
            <a:ext cx="78994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itchFamily="34" charset="0"/>
                <a:ea typeface="Verdana" pitchFamily="34" charset="0"/>
              </a:rPr>
              <a:t>In 2020, an elementary school in Gainesville, FL was </a:t>
            </a:r>
            <a:br>
              <a:rPr lang="en-US" sz="2000" dirty="0">
                <a:latin typeface="Verdana" pitchFamily="34" charset="0"/>
                <a:ea typeface="Verdana" pitchFamily="34" charset="0"/>
              </a:rPr>
            </a:br>
            <a:r>
              <a:rPr lang="en-US" sz="2000" dirty="0">
                <a:latin typeface="Verdana" pitchFamily="34" charset="0"/>
                <a:ea typeface="Verdana" pitchFamily="34" charset="0"/>
              </a:rPr>
              <a:t>re-named in her honor. At this time, 11 of the 21 elementary schools in the Alachua County Public School system were named after people.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4" name="Google Shape;282;g104476d1465_1_17"/>
          <p:cNvSpPr txBox="1"/>
          <p:nvPr/>
        </p:nvSpPr>
        <p:spPr>
          <a:xfrm>
            <a:off x="88938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8248" y="616290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1029" y="400667"/>
                <a:ext cx="10949940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Without performing any calculations, select the statement that best describes the percentage of the elementary schools in Alachua County that were named after people as of 2020.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0100" indent="-342900">
                  <a:buFont typeface="Courier New" pitchFamily="49" charset="0"/>
                  <a:buChar char="o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significantly less than </a:t>
                </a:r>
                <a14:m>
                  <m:oMath xmlns:m="http://schemas.openxmlformats.org/officeDocument/2006/math">
                    <m:r>
                      <a:rPr lang="en-PH" sz="24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50%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0100" indent="-342900">
                  <a:buFont typeface="Courier New" pitchFamily="49" charset="0"/>
                  <a:buChar char="o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slightly less than </a:t>
                </a:r>
                <a14:m>
                  <m:oMath xmlns:m="http://schemas.openxmlformats.org/officeDocument/2006/math">
                    <m:r>
                      <a:rPr lang="en-PH" sz="24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50%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0100" indent="-342900">
                  <a:buFont typeface="Courier New" pitchFamily="49" charset="0"/>
                  <a:buChar char="o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exactly </a:t>
                </a:r>
                <a14:m>
                  <m:oMath xmlns:m="http://schemas.openxmlformats.org/officeDocument/2006/math">
                    <m:r>
                      <a:rPr lang="en-PH" sz="24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50%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0100" indent="-342900">
                  <a:buFont typeface="Courier New" pitchFamily="49" charset="0"/>
                  <a:buChar char="o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slightly more than </a:t>
                </a:r>
                <a14:m>
                  <m:oMath xmlns:m="http://schemas.openxmlformats.org/officeDocument/2006/math">
                    <m:r>
                      <a:rPr lang="en-PH" sz="24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50%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0100" indent="-342900">
                  <a:buFont typeface="Courier New" pitchFamily="49" charset="0"/>
                  <a:buChar char="o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significantly more than </a:t>
                </a:r>
                <a14:m>
                  <m:oMath xmlns:m="http://schemas.openxmlformats.org/officeDocument/2006/math">
                    <m:r>
                      <a:rPr lang="en-PH" sz="24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50%</m:t>
                    </m:r>
                  </m:oMath>
                </a14:m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0100" indent="-342900">
                  <a:buFont typeface="Courier New" pitchFamily="49" charset="0"/>
                  <a:buChar char="o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Explain your reasoning.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29" y="400667"/>
                <a:ext cx="10949940" cy="4154984"/>
              </a:xfrm>
              <a:prstGeom prst="rect">
                <a:avLst/>
              </a:prstGeom>
              <a:blipFill rotWithShape="1">
                <a:blip r:embed="rId3"/>
                <a:stretch>
                  <a:fillRect l="-891" t="-1175" b="-249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B2481D9-8B52-C443-ABEF-765D2549936D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938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8248" y="616290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938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8248" y="616290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7.png"/>
          <p:cNvPicPr/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577" t="8554" r="10550" b="6515"/>
          <a:stretch/>
        </p:blipFill>
        <p:spPr bwMode="auto">
          <a:xfrm>
            <a:off x="8301550" y="1785934"/>
            <a:ext cx="3021330" cy="30670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77116" y="188098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2.1.2 Guided Instruction: Determining Outcomes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9816" y="36131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01B13E8-EC8D-E443-A329-C5E3593DD13A}"/>
              </a:ext>
            </a:extLst>
          </p:cNvPr>
          <p:cNvSpPr txBox="1"/>
          <p:nvPr/>
        </p:nvSpPr>
        <p:spPr>
          <a:xfrm>
            <a:off x="540903" y="2592858"/>
            <a:ext cx="89562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spinner divided into four equal areas is shown.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many outcomes are there from spinning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spinner?</a:t>
            </a: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2260A17C-F127-D647-A05B-7BB351158843}"/>
              </a:ext>
            </a:extLst>
          </p:cNvPr>
          <p:cNvSpPr/>
          <p:nvPr/>
        </p:nvSpPr>
        <p:spPr>
          <a:xfrm>
            <a:off x="-1035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559686" y="1785934"/>
            <a:ext cx="6788277" cy="880565"/>
            <a:chOff x="2031300" y="3305835"/>
            <a:chExt cx="6788277" cy="880565"/>
          </a:xfrm>
        </p:grpSpPr>
        <p:sp>
          <p:nvSpPr>
            <p:cNvPr id="14" name="Rectangle 13"/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40" rIns="91425" bIns="0" anchor="ctr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600">
                  <a:latin typeface="Cambria Math"/>
                  <a:ea typeface="Cambria Math"/>
                  <a:cs typeface="Cambria Math"/>
                </a:rPr>
                <a:t> 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2031300" y="3305835"/>
              <a:ext cx="6788277" cy="598518"/>
            </a:xfrm>
            <a:prstGeom prst="roundRect">
              <a:avLst>
                <a:gd name="adj" fmla="val 16667"/>
              </a:avLst>
            </a:prstGeom>
            <a:solidFill>
              <a:srgbClr val="E2EED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108000" rIns="91425" bIns="0" anchor="ctr" anchorCtr="0">
              <a:sp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US" sz="2000" dirty="0">
                  <a:solidFill>
                    <a:srgbClr val="6C993D"/>
                  </a:solidFill>
                  <a:latin typeface="Verdana"/>
                  <a:ea typeface="Verdana"/>
                  <a:cs typeface="Verdana"/>
                </a:rPr>
                <a:t>An </a:t>
              </a:r>
              <a:r>
                <a:rPr lang="en-US" sz="2000" b="1" i="1" dirty="0">
                  <a:solidFill>
                    <a:srgbClr val="6C993D"/>
                  </a:solidFill>
                  <a:latin typeface="Verdana"/>
                  <a:ea typeface="Verdana"/>
                  <a:cs typeface="Verdana"/>
                </a:rPr>
                <a:t>outcome</a:t>
              </a:r>
              <a:r>
                <a:rPr lang="en-US" sz="2000" dirty="0">
                  <a:solidFill>
                    <a:srgbClr val="6C993D"/>
                  </a:solidFill>
                  <a:latin typeface="Verdana"/>
                  <a:ea typeface="Verdana"/>
                  <a:cs typeface="Verdana"/>
                </a:rPr>
                <a:t> is a possible result of an experiment.</a:t>
              </a:r>
              <a:endParaRPr lang="en-US" sz="1800" dirty="0">
                <a:latin typeface="Cambria Math"/>
                <a:ea typeface="Cambria Math"/>
                <a:cs typeface="Cambria Math"/>
              </a:endParaRPr>
            </a:p>
          </p:txBody>
        </p:sp>
      </p:grpSp>
      <p:sp>
        <p:nvSpPr>
          <p:cNvPr id="12" name="Google Shape;282;g104476d1465_1_17"/>
          <p:cNvSpPr txBox="1"/>
          <p:nvPr/>
        </p:nvSpPr>
        <p:spPr>
          <a:xfrm>
            <a:off x="88938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8248" y="616290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541262" y="1991303"/>
            <a:ext cx="104315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With your partner, discuss the sample space for the spinner. Write a list of the possible outcomes.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-405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932432" y="381257"/>
            <a:ext cx="8327136" cy="1327228"/>
          </a:xfrm>
          <a:prstGeom prst="roundRect">
            <a:avLst>
              <a:gd name="adj" fmla="val 16667"/>
            </a:avLst>
          </a:prstGeom>
          <a:solidFill>
            <a:srgbClr val="E2EED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108000" rIns="91425" bIns="0" anchor="ctr" anchorCtr="0">
            <a:spAutoFit/>
          </a:bodyPr>
          <a:lstStyle/>
          <a:p>
            <a:pPr marL="685800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6C993D"/>
                </a:solidFill>
                <a:latin typeface="Verdana"/>
                <a:ea typeface="Verdana"/>
                <a:cs typeface="Verdana"/>
              </a:rPr>
              <a:t>In a probability model for a random process, the </a:t>
            </a:r>
            <a:r>
              <a:rPr lang="en-US" sz="2000" b="1" i="1" dirty="0">
                <a:solidFill>
                  <a:srgbClr val="6C993D"/>
                </a:solidFill>
                <a:latin typeface="Verdana"/>
                <a:ea typeface="Verdana"/>
                <a:cs typeface="Verdana"/>
              </a:rPr>
              <a:t>sample space</a:t>
            </a:r>
            <a:r>
              <a:rPr lang="en-US" sz="2000" dirty="0">
                <a:solidFill>
                  <a:srgbClr val="6C993D"/>
                </a:solidFill>
                <a:latin typeface="Verdana"/>
                <a:ea typeface="Verdana"/>
                <a:cs typeface="Verdana"/>
              </a:rPr>
              <a:t> is a list of the individual outcomes that are being considered.</a:t>
            </a:r>
            <a:endParaRPr lang="en-US" sz="1800" dirty="0">
              <a:latin typeface="Cambria Math"/>
              <a:ea typeface="Cambria Math"/>
              <a:cs typeface="Cambria Math"/>
            </a:endParaRPr>
          </a:p>
        </p:txBody>
      </p:sp>
      <p:pic>
        <p:nvPicPr>
          <p:cNvPr id="9" name="Shape 7" descr="Icon&#10;&#10;Description automatically generated"/>
          <p:cNvPicPr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83586" y="542622"/>
            <a:ext cx="605826" cy="62279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Google Shape;282;g104476d1465_1_17"/>
          <p:cNvSpPr txBox="1"/>
          <p:nvPr/>
        </p:nvSpPr>
        <p:spPr>
          <a:xfrm>
            <a:off x="88938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8248" y="616290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544386" y="1989271"/>
            <a:ext cx="976807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many outcomes are included in the event that the spinner lands on blue?</a:t>
            </a:r>
          </a:p>
          <a:p>
            <a:pPr marL="914400" indent="-457200">
              <a:buFont typeface="+mj-lt"/>
              <a:buAutoNum type="alphaLcPeriod" startAt="3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Verdana"/>
                <a:cs typeface="Verdana"/>
              </a:rPr>
              <a:t>Primary colors include yellow, blue, and red. How many outcomes are included in the event that the spinner lands on a primary color?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932432" y="380669"/>
            <a:ext cx="8327136" cy="1359783"/>
          </a:xfrm>
          <a:prstGeom prst="roundRect">
            <a:avLst>
              <a:gd name="adj" fmla="val 16667"/>
            </a:avLst>
          </a:prstGeom>
          <a:solidFill>
            <a:srgbClr val="E2EED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108000" rIns="91425" bIns="0" anchor="ctr" anchorCtr="0">
            <a:spAutoFit/>
          </a:bodyPr>
          <a:lstStyle/>
          <a:p>
            <a:pPr marL="685800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6C993D"/>
                </a:solidFill>
                <a:latin typeface="Verdana"/>
                <a:ea typeface="Verdana"/>
                <a:cs typeface="Verdana"/>
              </a:rPr>
              <a:t>An </a:t>
            </a:r>
            <a:r>
              <a:rPr lang="en-US" sz="2000" b="1" i="1" dirty="0">
                <a:solidFill>
                  <a:srgbClr val="6C993D"/>
                </a:solidFill>
                <a:latin typeface="Verdana"/>
                <a:ea typeface="Verdana"/>
                <a:cs typeface="Verdana"/>
              </a:rPr>
              <a:t>event</a:t>
            </a:r>
            <a:r>
              <a:rPr lang="en-US" sz="2000" dirty="0">
                <a:solidFill>
                  <a:srgbClr val="6C993D"/>
                </a:solidFill>
                <a:latin typeface="Verdana"/>
                <a:ea typeface="Verdana"/>
                <a:cs typeface="Verdana"/>
              </a:rPr>
              <a:t> is a set of possible outcomes resulting from an experiment. In general, an event is any subset of a sample space.</a:t>
            </a:r>
            <a:endParaRPr lang="en-US" sz="2000" dirty="0">
              <a:latin typeface="Cambria Math"/>
              <a:ea typeface="Cambria Math"/>
              <a:cs typeface="Cambria Math"/>
            </a:endParaRPr>
          </a:p>
        </p:txBody>
      </p:sp>
      <p:pic>
        <p:nvPicPr>
          <p:cNvPr id="9" name="Shape 7" descr="Icon&#10;&#10;Description automatically generated"/>
          <p:cNvPicPr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86401" y="665178"/>
            <a:ext cx="567152" cy="55402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Google Shape;282;g104476d1465_1_17"/>
          <p:cNvSpPr txBox="1"/>
          <p:nvPr/>
        </p:nvSpPr>
        <p:spPr>
          <a:xfrm>
            <a:off x="88938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8248" y="616290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07813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543899" y="288745"/>
            <a:ext cx="85069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Doug’s parents created a set of cards with chores on them. Each Saturday, Doug chooses a card to determine his chore.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652978"/>
              </p:ext>
            </p:extLst>
          </p:nvPr>
        </p:nvGraphicFramePr>
        <p:xfrm>
          <a:off x="1155531" y="1194642"/>
          <a:ext cx="6810435" cy="5263033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15476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5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76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5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76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65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476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53907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Mow the yard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Dust and vacuum the house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Clean the bathrooms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Clean your bedroom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90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907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Clean your bedroom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Mow the yard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Weed the garden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Mow the yard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90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907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Clean the bathrooms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Parents’ choice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BE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Dust and vacuum the house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Free day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3468" marR="6346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0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Google Shape;282;g104476d1465_1_17"/>
          <p:cNvSpPr txBox="1"/>
          <p:nvPr/>
        </p:nvSpPr>
        <p:spPr>
          <a:xfrm>
            <a:off x="88938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8248" y="616290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486854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542450" y="369714"/>
            <a:ext cx="968528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are the possible outcomes for the chore cards?</a:t>
            </a:r>
          </a:p>
          <a:p>
            <a:pPr marL="457200" indent="-457200">
              <a:buFont typeface="+mj-lt"/>
              <a:buAutoNum type="alphaLcPeriod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/>
                <a:ea typeface="Verdana"/>
                <a:cs typeface="Verdana"/>
              </a:rPr>
              <a:t>Which outcomes have more than one card?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938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8248" y="616290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51703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547115" y="383107"/>
            <a:ext cx="1068815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Verdana"/>
                <a:cs typeface="Verdana"/>
              </a:rPr>
              <a:t>On a particularly hot Saturday, Doug is hoping he doesn’t select an outdoor chore. Which outcomes could be included </a:t>
            </a:r>
            <a:br>
              <a:rPr lang="en-US" sz="2400" dirty="0">
                <a:latin typeface="Verdana"/>
                <a:ea typeface="Verdana"/>
                <a:cs typeface="Verdana"/>
              </a:rPr>
            </a:br>
            <a:r>
              <a:rPr lang="en-US" sz="2400" dirty="0">
                <a:latin typeface="Verdana"/>
                <a:ea typeface="Verdana"/>
                <a:cs typeface="Verdana"/>
              </a:rPr>
              <a:t>in the event that he chooses an outdoor chore?</a:t>
            </a: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Verdana"/>
                <a:cs typeface="Verdana"/>
              </a:rPr>
              <a:t>How many outcomes could be included in the event that Doug chooses an indoor chore?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38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8248" y="616290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043686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538649" y="370287"/>
                <a:ext cx="11204618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Use the word bank to complete the summary of key concepts below.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0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0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0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457200">
                  <a:lnSpc>
                    <a:spcPct val="250000"/>
                  </a:lnSpc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To determine the </a:t>
                </a:r>
                <a:r>
                  <a:rPr lang="en-US" sz="2000" b="1" dirty="0">
                    <a:latin typeface="Verdana"/>
                    <a:ea typeface="Verdana"/>
                    <a:cs typeface="Verdana"/>
                  </a:rPr>
                  <a:t>________________</a:t>
                </a:r>
                <a:r>
                  <a:rPr lang="en-US" sz="2000" dirty="0">
                    <a:latin typeface="Verdana"/>
                    <a:ea typeface="Verdana"/>
                    <a:cs typeface="Verdana"/>
                  </a:rPr>
                  <a:t> of a simple experiment, find all the </a:t>
                </a:r>
                <a:r>
                  <a:rPr lang="en-US" sz="2000" b="1" dirty="0">
                    <a:latin typeface="Verdana"/>
                    <a:ea typeface="Verdana"/>
                    <a:cs typeface="Verdana"/>
                  </a:rPr>
                  <a:t>______________</a:t>
                </a:r>
                <a:r>
                  <a:rPr lang="en-US" sz="2000" dirty="0">
                    <a:latin typeface="Verdana"/>
                    <a:ea typeface="Verdana"/>
                    <a:cs typeface="Verdana"/>
                  </a:rPr>
                  <a:t> that are possible and write them as a </a:t>
                </a:r>
                <a:r>
                  <a:rPr lang="en-US" sz="2000" b="1" dirty="0">
                    <a:latin typeface="Verdana"/>
                    <a:ea typeface="Verdana"/>
                    <a:cs typeface="Verdana"/>
                  </a:rPr>
                  <a:t>_______________.</a:t>
                </a:r>
                <a:r>
                  <a:rPr lang="en-US" sz="2000" dirty="0">
                    <a:latin typeface="Verdana"/>
                    <a:ea typeface="Verdana"/>
                    <a:cs typeface="Verdana"/>
                  </a:rPr>
                  <a:t>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An </a:t>
                </a:r>
                <a:r>
                  <a:rPr lang="en-US" sz="2000" b="1" dirty="0">
                    <a:latin typeface="Verdana"/>
                    <a:ea typeface="Verdana"/>
                    <a:cs typeface="Verdana"/>
                  </a:rPr>
                  <a:t>_______________</a:t>
                </a:r>
                <a:r>
                  <a:rPr lang="en-US" sz="2000" dirty="0">
                    <a:latin typeface="Verdana"/>
                    <a:ea typeface="Verdana"/>
                    <a:cs typeface="Verdana"/>
                  </a:rPr>
                  <a:t> is a subset of the sample space, such as rolling an even number on 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6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-sided die.</a:t>
                </a: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649" y="370287"/>
                <a:ext cx="11204618" cy="4708981"/>
              </a:xfrm>
              <a:prstGeom prst="rect">
                <a:avLst/>
              </a:prstGeom>
              <a:blipFill rotWithShape="1">
                <a:blip r:embed="rId3"/>
                <a:stretch>
                  <a:fillRect l="-544" t="-77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678839" y="1127256"/>
            <a:ext cx="6111435" cy="68215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37160" rIns="91425" bIns="45700" anchor="ctr" anchorCtr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latin typeface="Verdana"/>
                <a:ea typeface="Verdana"/>
                <a:cs typeface="Verdana"/>
              </a:rPr>
              <a:t>event     outcomes     sample space     set</a:t>
            </a:r>
            <a:endParaRPr lang="en-US" sz="1800" dirty="0">
              <a:latin typeface="Cambria Math"/>
              <a:ea typeface="Cambria Math"/>
              <a:cs typeface="Cambria Math"/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38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8248" y="616290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461111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44861" y="2850881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38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8248" y="616290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78784" y="94193"/>
            <a:ext cx="930097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2.1.3 Exploration: Digging Deeper into Outcomes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6530" y="380916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2D1D4D-DCB8-A246-B186-D40316579D77}"/>
              </a:ext>
            </a:extLst>
          </p:cNvPr>
          <p:cNvSpPr txBox="1"/>
          <p:nvPr/>
        </p:nvSpPr>
        <p:spPr>
          <a:xfrm>
            <a:off x="566664" y="1467838"/>
            <a:ext cx="832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/>
                <a:ea typeface="Verdana"/>
                <a:cs typeface="Verdana"/>
              </a:rPr>
              <a:t>Two spinners are shown.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519FE075-E2FF-7B4C-8C80-17BA7226159F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1835" y="2109569"/>
            <a:ext cx="7254869" cy="4176122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8938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8248" y="616290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546946" y="374089"/>
            <a:ext cx="1080000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</a:rPr>
              <a:t>Work with your partner to compare and contrast the features of the two spinners.</a:t>
            </a: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</a:rPr>
              <a:t>One of the spinners is considered a fair spinner. Complete the sentence by selecting the fair spinner and writing an explanation.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/>
            <a:r>
              <a:rPr lang="en-US" sz="2000" dirty="0">
                <a:latin typeface="Verdana"/>
                <a:ea typeface="Verdana"/>
                <a:cs typeface="Verdana"/>
              </a:rPr>
              <a:t>		       is the fair spinner because _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__________________________</a:t>
            </a:r>
            <a:br>
              <a:rPr lang="en-US" sz="2000" dirty="0">
                <a:latin typeface="Verdana" pitchFamily="34" charset="0"/>
                <a:ea typeface="Verdana" pitchFamily="34" charset="0"/>
              </a:rPr>
            </a:br>
            <a:br>
              <a:rPr lang="en-US" sz="2000" dirty="0">
                <a:latin typeface="Verdana" pitchFamily="34" charset="0"/>
                <a:ea typeface="Verdana" pitchFamily="34" charset="0"/>
              </a:rPr>
            </a:br>
            <a:r>
              <a:rPr lang="en-US" sz="2000" dirty="0">
                <a:latin typeface="Verdana" pitchFamily="34" charset="0"/>
                <a:ea typeface="Verdana" pitchFamily="34" charset="0"/>
              </a:rPr>
              <a:t>_____________________________.</a:t>
            </a:r>
            <a:endParaRPr lang="en-PH" sz="2000" dirty="0">
              <a:latin typeface="Verdana" pitchFamily="34" charset="0"/>
              <a:ea typeface="Verdana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861892"/>
              </p:ext>
            </p:extLst>
          </p:nvPr>
        </p:nvGraphicFramePr>
        <p:xfrm>
          <a:off x="1131147" y="1362808"/>
          <a:ext cx="7458075" cy="2309016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3724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Similarities</a:t>
                      </a:r>
                      <a:endParaRPr lang="en-US" sz="2000" b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8580" marR="68580"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Differences</a:t>
                      </a:r>
                      <a:endParaRPr lang="en-US" sz="2000" b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8580" marR="68580"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1131147" y="5063173"/>
            <a:ext cx="1818465" cy="830821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36538" indent="-293688">
              <a:lnSpc>
                <a:spcPct val="107000"/>
              </a:lnSpc>
              <a:buFont typeface="Courier New" pitchFamily="49" charset="0"/>
              <a:buChar char="o"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Spinner A</a:t>
            </a:r>
            <a:endParaRPr lang="en-US" sz="2000" dirty="0">
              <a:latin typeface="Verdana" pitchFamily="34" charset="0"/>
              <a:ea typeface="Verdana" pitchFamily="34" charset="0"/>
              <a:cs typeface="Cambria Math"/>
            </a:endParaRPr>
          </a:p>
          <a:p>
            <a:pPr marL="236538" indent="-293688">
              <a:lnSpc>
                <a:spcPct val="107000"/>
              </a:lnSpc>
              <a:buFont typeface="Courier New" pitchFamily="49" charset="0"/>
              <a:buChar char="o"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Spinner B</a:t>
            </a:r>
            <a:endParaRPr lang="en-US" sz="2000" dirty="0">
              <a:latin typeface="Verdana" pitchFamily="34" charset="0"/>
              <a:ea typeface="Verdana" pitchFamily="34" charset="0"/>
              <a:cs typeface="Cambria Math"/>
            </a:endParaRP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938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8248" y="616290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78348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3693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38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8248" y="616290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61115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91038" y="106113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2.1.4 Activity: Gallery Walk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1748" y="379632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3547ABD-563B-A148-B65C-C7679A7B43D4}"/>
              </a:ext>
            </a:extLst>
          </p:cNvPr>
          <p:cNvSpPr txBox="1"/>
          <p:nvPr/>
        </p:nvSpPr>
        <p:spPr>
          <a:xfrm>
            <a:off x="542873" y="1386026"/>
            <a:ext cx="10800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determine the sample space for each game and whether the game is fair. Fill in the chart with your answers.</a:t>
            </a:r>
          </a:p>
        </p:txBody>
      </p:sp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2834ACB5-9863-9B4D-A302-444ED7CCE577}"/>
              </a:ext>
            </a:extLst>
          </p:cNvPr>
          <p:cNvSpPr/>
          <p:nvPr/>
        </p:nvSpPr>
        <p:spPr>
          <a:xfrm>
            <a:off x="1019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156709"/>
              </p:ext>
            </p:extLst>
          </p:nvPr>
        </p:nvGraphicFramePr>
        <p:xfrm>
          <a:off x="1169409" y="2287271"/>
          <a:ext cx="8081011" cy="3145155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2095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95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62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745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Game Name</a:t>
                      </a:r>
                      <a:endParaRPr lang="en-US" sz="2000" b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6298" marR="66298"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Sample Space</a:t>
                      </a:r>
                      <a:endParaRPr lang="en-US" sz="2000" b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6298" marR="66298"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Is it fair?</a:t>
                      </a:r>
                      <a:endParaRPr lang="en-US" sz="2000" b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6298" marR="66298"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229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 err="1">
                          <a:effectLst/>
                          <a:latin typeface="Verdana" pitchFamily="34" charset="0"/>
                          <a:ea typeface="Verdana" pitchFamily="34" charset="0"/>
                        </a:rPr>
                        <a:t>Skee</a:t>
                      </a: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-Ball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6298" marR="66298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6298" marR="66298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6298" marR="66298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Card Draw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6298" marR="66298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6298" marR="66298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6298" marR="66298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Google Shape;282;g104476d1465_1_17"/>
          <p:cNvSpPr txBox="1"/>
          <p:nvPr/>
        </p:nvSpPr>
        <p:spPr>
          <a:xfrm>
            <a:off x="88938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8248" y="616290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699352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DDCE86C-AC17-F84F-84C9-3604F0100B34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836137"/>
              </p:ext>
            </p:extLst>
          </p:nvPr>
        </p:nvGraphicFramePr>
        <p:xfrm>
          <a:off x="1169027" y="400155"/>
          <a:ext cx="8082000" cy="3145155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209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745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Game Name</a:t>
                      </a:r>
                      <a:endParaRPr lang="en-US" sz="2000" b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6298" marR="66298"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Sample Space</a:t>
                      </a:r>
                      <a:endParaRPr lang="en-US" sz="2000" b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6298" marR="66298"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Is it fair?</a:t>
                      </a:r>
                      <a:endParaRPr lang="en-US" sz="2000" b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6298" marR="66298"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229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Prize Wheel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6298" marR="66298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6298" marR="66298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6298" marR="66298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Rubber Ducks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6298" marR="66298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6298" marR="66298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6298" marR="66298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Google Shape;282;g104476d1465_1_17"/>
          <p:cNvSpPr txBox="1"/>
          <p:nvPr/>
        </p:nvSpPr>
        <p:spPr>
          <a:xfrm>
            <a:off x="88938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8248" y="616290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711547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541263" y="380242"/>
            <a:ext cx="108000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/>
                <a:ea typeface="Verdana"/>
                <a:cs typeface="Verdana"/>
              </a:rPr>
              <a:t>Which game has the largest sample space?</a:t>
            </a: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/>
                <a:ea typeface="Verdana"/>
                <a:cs typeface="Verdana"/>
              </a:rPr>
              <a:t>Discuss with your partner which game’s sample space was the most difficult to determine.</a:t>
            </a: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/>
                <a:ea typeface="Verdana"/>
                <a:cs typeface="Verdana"/>
              </a:rPr>
              <a:t>Carnivals include many games similar to these. What do you notice about the fairness of such games?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938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8248" y="616290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051432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551763" y="381557"/>
            <a:ext cx="108000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sz="2000" dirty="0">
                <a:latin typeface="Verdana"/>
                <a:ea typeface="Verdana"/>
                <a:cs typeface="Verdana"/>
              </a:rPr>
              <a:t>Find another pair of partners to form a group of four. Compare your responses on whether each game is fair and discuss your reasoning. Record one similarity and one difference you notice in your reasoning.</a:t>
            </a:r>
          </a:p>
          <a:p>
            <a:pPr marL="457200" indent="-457200">
              <a:buFont typeface="+mj-lt"/>
              <a:buAutoNum type="arabicPeriod" startAt="5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5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5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5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5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5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5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5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5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5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5"/>
            </a:pPr>
            <a:r>
              <a:rPr lang="en-US" sz="2000" dirty="0">
                <a:latin typeface="Verdana"/>
                <a:ea typeface="Verdana"/>
                <a:cs typeface="Verdana"/>
              </a:rPr>
              <a:t>Future lessons in this unit will explore probabilities with fair coins, fair dice, and fair spinners. Describe what you think it means for a coin, a die, or a spinner to be fair.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577085"/>
              </p:ext>
            </p:extLst>
          </p:nvPr>
        </p:nvGraphicFramePr>
        <p:xfrm>
          <a:off x="1164093" y="1531228"/>
          <a:ext cx="7458075" cy="2309016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3724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Similarity</a:t>
                      </a:r>
                      <a:endParaRPr lang="en-US" sz="2000" b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8580" marR="68580"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Difference</a:t>
                      </a:r>
                      <a:endParaRPr lang="en-US" sz="2000" b="1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8580" marR="68580"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Google Shape;282;g104476d1465_1_17"/>
          <p:cNvSpPr txBox="1"/>
          <p:nvPr/>
        </p:nvSpPr>
        <p:spPr>
          <a:xfrm>
            <a:off x="88938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8248" y="616290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387768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890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38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8248" y="616290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079532" y="92284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2.1.5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2232" y="38148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51763" y="1453924"/>
            <a:ext cx="10800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each statement based on your understanding at this point.</a:t>
            </a:r>
          </a:p>
          <a:p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Cambria Math"/>
                <a:cs typeface="Cambria Math"/>
              </a:rPr>
              <a:t>I am still unsure about ____________________________________________</a:t>
            </a:r>
            <a:br>
              <a:rPr lang="en-US" sz="2000" dirty="0">
                <a:latin typeface="Verdana"/>
                <a:ea typeface="Cambria Math"/>
                <a:cs typeface="Cambria Math"/>
              </a:rPr>
            </a:br>
            <a:br>
              <a:rPr lang="en-US" sz="2000" dirty="0">
                <a:latin typeface="Verdana"/>
                <a:ea typeface="Cambria Math"/>
                <a:cs typeface="Cambria Math"/>
              </a:rPr>
            </a:br>
            <a:r>
              <a:rPr lang="en-US" sz="2000" dirty="0">
                <a:latin typeface="Verdana"/>
                <a:ea typeface="Cambria Math"/>
                <a:cs typeface="Cambria Math"/>
              </a:rPr>
              <a:t>______________________________________________________________</a:t>
            </a:r>
            <a:br>
              <a:rPr lang="en-US" sz="2000" dirty="0">
                <a:latin typeface="Verdana"/>
                <a:ea typeface="Cambria Math"/>
                <a:cs typeface="Cambria Math"/>
              </a:rPr>
            </a:br>
            <a:br>
              <a:rPr lang="en-US" sz="2000" dirty="0">
                <a:latin typeface="Verdana"/>
                <a:ea typeface="Cambria Math"/>
                <a:cs typeface="Cambria Math"/>
              </a:rPr>
            </a:br>
            <a:r>
              <a:rPr lang="en-US" sz="2000" dirty="0">
                <a:latin typeface="Verdana"/>
                <a:ea typeface="Cambria Math"/>
                <a:cs typeface="Cambria Math"/>
              </a:rPr>
              <a:t>______________________________________________________________.</a:t>
            </a: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Cambria Math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One question I have that will help me better understand is _______________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/>
                <a:ea typeface="Cambria Math"/>
                <a:cs typeface="Cambria Math"/>
              </a:rPr>
              <a:t>______________________________________________________________</a:t>
            </a:r>
            <a:br>
              <a:rPr lang="en-US" sz="2000" dirty="0">
                <a:latin typeface="Verdana"/>
                <a:ea typeface="Cambria Math"/>
                <a:cs typeface="Cambria Math"/>
              </a:rPr>
            </a:br>
            <a:br>
              <a:rPr lang="en-US" sz="2000" dirty="0">
                <a:latin typeface="Verdana"/>
                <a:ea typeface="Cambria Math"/>
                <a:cs typeface="Cambria Math"/>
              </a:rPr>
            </a:br>
            <a:r>
              <a:rPr lang="en-US" sz="2000" dirty="0">
                <a:latin typeface="Verdana"/>
                <a:ea typeface="Cambria Math"/>
                <a:cs typeface="Cambria Math"/>
              </a:rPr>
              <a:t>_____________________________________________________________?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69767437-9B0B-9D43-A596-1373A90D9FE8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38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8248" y="616290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1426</TotalTime>
  <Words>1126</Words>
  <Application>Microsoft Office PowerPoint</Application>
  <PresentationFormat>Widescreen</PresentationFormat>
  <Paragraphs>226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 Black</vt:lpstr>
      <vt:lpstr>Verdana</vt:lpstr>
      <vt:lpstr>Courier New</vt:lpstr>
      <vt:lpstr>Century Gothic</vt:lpstr>
      <vt:lpstr>Arial</vt:lpstr>
      <vt:lpstr>Cambria Math</vt:lpstr>
      <vt:lpstr>Calibri</vt:lpstr>
      <vt:lpstr>1_Office Theme</vt:lpstr>
      <vt:lpstr>7th Grade Math  Unit 2, Lesson 1  Exploring  Sample Space  Volume 1, pg. 37  </vt:lpstr>
      <vt:lpstr>PowerPoint Presentation</vt:lpstr>
      <vt:lpstr>PowerPoint Presentation</vt:lpstr>
      <vt:lpstr>PowerPoint Presentation</vt:lpstr>
      <vt:lpstr>Warm-Up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Exploration</vt:lpstr>
      <vt:lpstr>PowerPoint Presentation</vt:lpstr>
      <vt:lpstr>PowerPoint Presentation</vt:lpstr>
      <vt:lpstr>Activity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42</cp:revision>
  <dcterms:created xsi:type="dcterms:W3CDTF">2015-03-17T18:51:18Z</dcterms:created>
  <dcterms:modified xsi:type="dcterms:W3CDTF">2022-07-11T01:34:10Z</dcterms:modified>
</cp:coreProperties>
</file>