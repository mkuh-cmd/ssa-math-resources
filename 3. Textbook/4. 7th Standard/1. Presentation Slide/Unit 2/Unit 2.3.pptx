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26" r:id="rId9"/>
    <p:sldId id="327" r:id="rId10"/>
    <p:sldId id="328" r:id="rId11"/>
    <p:sldId id="332" r:id="rId12"/>
    <p:sldId id="333" r:id="rId13"/>
    <p:sldId id="289" r:id="rId14"/>
    <p:sldId id="290" r:id="rId15"/>
    <p:sldId id="308" r:id="rId16"/>
    <p:sldId id="334" r:id="rId17"/>
    <p:sldId id="335" r:id="rId18"/>
    <p:sldId id="336" r:id="rId19"/>
    <p:sldId id="311" r:id="rId20"/>
    <p:sldId id="312" r:id="rId21"/>
    <p:sldId id="313" r:id="rId22"/>
    <p:sldId id="337" r:id="rId23"/>
    <p:sldId id="338" r:id="rId24"/>
    <p:sldId id="339" r:id="rId25"/>
    <p:sldId id="340" r:id="rId26"/>
    <p:sldId id="329" r:id="rId27"/>
    <p:sldId id="330" r:id="rId28"/>
    <p:sldId id="331" r:id="rId29"/>
    <p:sldId id="306" r:id="rId30"/>
    <p:sldId id="307" r:id="rId31"/>
  </p:sldIdLst>
  <p:sldSz cx="12192000" cy="6858000"/>
  <p:notesSz cx="6858000" cy="9144000"/>
  <p:embeddedFontLst>
    <p:embeddedFont>
      <p:font typeface="Arial Black" panose="020B0A04020102020204" pitchFamily="34" charset="0"/>
      <p:bold r:id="rId33"/>
    </p:embeddedFont>
    <p:embeddedFont>
      <p:font typeface="Calibri" panose="020F0502020204030204" pitchFamily="34" charset="0"/>
      <p:regular r:id="rId34"/>
      <p:bold r:id="rId35"/>
      <p:italic r:id="rId36"/>
      <p:boldItalic r:id="rId37"/>
    </p:embeddedFont>
    <p:embeddedFont>
      <p:font typeface="Cambria" panose="02040503050406030204" pitchFamily="18" charset="0"/>
      <p:regular r:id="rId38"/>
      <p:bold r:id="rId39"/>
      <p:italic r:id="rId40"/>
      <p:boldItalic r:id="rId41"/>
    </p:embeddedFont>
    <p:embeddedFont>
      <p:font typeface="Cambria Math" panose="02040503050406030204" pitchFamily="18" charset="0"/>
      <p:regular r:id="rId42"/>
    </p:embeddedFont>
    <p:embeddedFont>
      <p:font typeface="Century Gothic" panose="020B0502020202020204" pitchFamily="34" charset="0"/>
      <p:regular r:id="rId43"/>
      <p:bold r:id="rId44"/>
      <p:italic r:id="rId45"/>
      <p:boldItalic r:id="rId46"/>
    </p:embeddedFont>
    <p:embeddedFont>
      <p:font typeface="Verdana" panose="020B0604030504040204" pitchFamily="34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9647"/>
    <a:srgbClr val="FCBD1E"/>
    <a:srgbClr val="C9DF6F"/>
    <a:srgbClr val="417DBF"/>
    <a:srgbClr val="3F2A67"/>
    <a:srgbClr val="E24E5F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589"/>
    <p:restoredTop sz="94694"/>
  </p:normalViewPr>
  <p:slideViewPr>
    <p:cSldViewPr snapToGrid="0">
      <p:cViewPr varScale="1">
        <p:scale>
          <a:sx n="51" d="100"/>
          <a:sy n="51" d="100"/>
        </p:scale>
        <p:origin x="114" y="24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font" Target="fonts/font15.fntdata"/><Relationship Id="rId50" Type="http://schemas.openxmlformats.org/officeDocument/2006/relationships/font" Target="fonts/font18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font" Target="fonts/font16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49" Type="http://schemas.openxmlformats.org/officeDocument/2006/relationships/font" Target="fonts/font17.fntdata"/><Relationship Id="rId5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2109317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40320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72897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706172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706172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706172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81965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15227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064612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2, Lesson 3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Rewriting Numbers in Equivalent Forms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47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910682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MA.7.NSO.1.2 </a:t>
            </a:r>
          </a:p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	Rewrite rational numbers in 	different but equivalent forms 	including fractions, mixed 	numbers, repeating decimals, and 	percentages to solve mathematical 	and real-world problems.</a:t>
            </a:r>
            <a:endParaRPr lang="en-US" sz="3500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" name="Google Shape;279;g104476d1465_1_17"/>
          <p:cNvSpPr txBox="1">
            <a:spLocks/>
          </p:cNvSpPr>
          <p:nvPr/>
        </p:nvSpPr>
        <p:spPr>
          <a:xfrm>
            <a:off x="11434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lang="en-US"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9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4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2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282;g104476d1465_1_17"/>
          <p:cNvSpPr txBox="1"/>
          <p:nvPr/>
        </p:nvSpPr>
        <p:spPr>
          <a:xfrm>
            <a:off x="8893800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45750" y="1596390"/>
            <a:ext cx="108000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</a:t>
            </a:r>
            <a:b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</a:b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and others.</a:t>
            </a:r>
          </a:p>
          <a:p>
            <a:pPr marL="457200">
              <a:buSzPts val="523"/>
            </a:pP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</a:t>
            </a:r>
            <a:b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</a:b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to help understand and connect mathematical concepts.</a:t>
            </a:r>
          </a:p>
        </p:txBody>
      </p:sp>
      <p:sp>
        <p:nvSpPr>
          <p:cNvPr id="12" name="Google Shape;278;g104476d1465_1_17">
            <a:extLst>
              <a:ext uri="{FF2B5EF4-FFF2-40B4-BE49-F238E27FC236}">
                <a16:creationId xmlns:a16="http://schemas.microsoft.com/office/drawing/2014/main" id="{79998D09-ED40-CB40-ADB3-2C926DC27F8F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10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45750" y="129667"/>
            <a:ext cx="922336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2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282;g104476d1465_1_17"/>
          <p:cNvSpPr txBox="1"/>
          <p:nvPr/>
        </p:nvSpPr>
        <p:spPr>
          <a:xfrm>
            <a:off x="8893800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36666" y="1600200"/>
            <a:ext cx="108000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28650" indent="-62230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rewrite rational numbers in different but equivalent forms, including repeating decimals.</a:t>
            </a:r>
          </a:p>
          <a:p>
            <a:pPr marL="628650" indent="-622300">
              <a:buClr>
                <a:srgbClr val="434343"/>
              </a:buClr>
              <a:buSzPts val="3500"/>
              <a:buFont typeface="Verdana"/>
              <a:buChar char="❏"/>
            </a:pPr>
            <a:endParaRPr lang="en-US" sz="35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628650" indent="-62230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explore patterns in fractions whose decimal equivalent is repeating.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4411E69F-FF2D-4E45-A95C-56414991DB11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098871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3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709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2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6" name="Google Shape;282;g104476d1465_1_17"/>
          <p:cNvSpPr txBox="1"/>
          <p:nvPr/>
        </p:nvSpPr>
        <p:spPr>
          <a:xfrm>
            <a:off x="8893800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2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93800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63596" y="95837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2.3.1 Warm-Up: Gone Fishing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296" y="38503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565254" y="1468110"/>
                <a:ext cx="10800000" cy="2092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Wayne and his dad have been fishing for two hours. In that time, they have caught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Verdana"/>
                        <a:cs typeface="Verdana"/>
                      </a:rPr>
                      <m:t>9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bluegills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Verdana"/>
                        <a:cs typeface="Verdana"/>
                      </a:rPr>
                      <m:t>1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yellow perch.</a:t>
                </a:r>
              </a:p>
              <a:p>
                <a:pPr marL="914400" indent="-457200">
                  <a:spcBef>
                    <a:spcPts val="1200"/>
                  </a:spcBef>
                  <a:buFont typeface="+mj-lt"/>
                  <a:buAutoNum type="alphaLcPeriod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The next time Wayne gets a bite, what kind of fish do you think it will be? Explain your reasoning.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54" y="1468110"/>
                <a:ext cx="10800000" cy="2092881"/>
              </a:xfrm>
              <a:prstGeom prst="rect">
                <a:avLst/>
              </a:prstGeom>
              <a:blipFill rotWithShape="1">
                <a:blip r:embed="rId4"/>
                <a:stretch>
                  <a:fillRect l="-903" t="-2332" r="-1186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733F64CC-F62E-3D45-B066-56DBFBB732F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2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/>
          <p:cNvSpPr txBox="1"/>
          <p:nvPr/>
        </p:nvSpPr>
        <p:spPr>
          <a:xfrm>
            <a:off x="8893800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66664" y="376042"/>
            <a:ext cx="1080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/>
                <a:ea typeface="Verdana"/>
                <a:cs typeface="Verdana"/>
              </a:rPr>
              <a:t>Complete the table to represent the portion of the fish caught in the first two hours that were bluegills in three different ways.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9B2481D9-8B52-C443-ABEF-765D2549936D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1856290"/>
              </p:ext>
            </p:extLst>
          </p:nvPr>
        </p:nvGraphicFramePr>
        <p:xfrm>
          <a:off x="1612088" y="1753775"/>
          <a:ext cx="8640000" cy="421944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28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0000">
                <a:tc gridSpan="3"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Portion of Fish That are Bluegills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Fraction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Decimal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Percentage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2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2;g104476d1465_1_17"/>
          <p:cNvSpPr txBox="1"/>
          <p:nvPr/>
        </p:nvSpPr>
        <p:spPr>
          <a:xfrm>
            <a:off x="8893800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397376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Refresher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266" name="Picture 2" descr="Icon&#10;&#10;Description automatically generated">
            <a:extLst>
              <a:ext uri="{FF2B5EF4-FFF2-40B4-BE49-F238E27FC236}">
                <a16:creationId xmlns:a16="http://schemas.microsoft.com/office/drawing/2014/main" id="{8E68AE2B-31C4-664C-9668-81B7C1673C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46386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2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93800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62107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84687" y="95837"/>
            <a:ext cx="1074447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2.3.2 Refresher: Rewriting Rational Numbers in Different Equivalent Forms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DC51FF2-AD43-3B4B-B9DE-330920D33388}"/>
                  </a:ext>
                </a:extLst>
              </p:cNvPr>
              <p:cNvSpPr txBox="1"/>
              <p:nvPr/>
            </p:nvSpPr>
            <p:spPr>
              <a:xfrm>
                <a:off x="503988" y="1477657"/>
                <a:ext cx="10800000" cy="38943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/>
                    <a:ea typeface="Verdana"/>
                    <a:cs typeface="Verdana"/>
                  </a:rPr>
                  <a:t>Rational numbers can be expressed as fractions, decimals, or percentages. Probabilities can be expressed using these forms as well.</a:t>
                </a:r>
              </a:p>
              <a:p>
                <a:pPr marL="457200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Andrés and Jolie are discussing how to write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/>
                            <a:cs typeface="Verdana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/>
                            <a:ea typeface="Verdana"/>
                            <a:cs typeface="Verdana"/>
                          </a:rPr>
                          <m:t>17</m:t>
                        </m:r>
                      </m:num>
                      <m:den>
                        <m:r>
                          <a:rPr lang="en-US" sz="2000" i="1">
                            <a:latin typeface="Cambria Math"/>
                            <a:ea typeface="Verdana"/>
                            <a:cs typeface="Verdana"/>
                          </a:rPr>
                          <m:t>20</m:t>
                        </m:r>
                      </m:den>
                    </m:f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as a decimal.</a:t>
                </a:r>
              </a:p>
              <a:p>
                <a:pPr marL="457200">
                  <a:spcBef>
                    <a:spcPts val="2400"/>
                  </a:spcBef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Andrés says he can use long division to divide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17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by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20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to get the decimal.</a:t>
                </a:r>
              </a:p>
              <a:p>
                <a:pPr marL="457200">
                  <a:spcBef>
                    <a:spcPts val="2400"/>
                  </a:spcBef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Jolie says she can write an equivalent fraction with a denominator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100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by multiplying by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/>
                            <a:cs typeface="Verdana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/>
                            <a:ea typeface="Verdana"/>
                            <a:cs typeface="Verdana"/>
                          </a:rPr>
                          <m:t>5</m:t>
                        </m:r>
                      </m:num>
                      <m:den>
                        <m:r>
                          <a:rPr lang="en-US" sz="2000" i="1">
                            <a:latin typeface="Cambria Math"/>
                            <a:ea typeface="Verdana"/>
                            <a:cs typeface="Verdana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, then writing the number of hundredths as a decimal.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DC51FF2-AD43-3B4B-B9DE-330920D333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988" y="1477657"/>
                <a:ext cx="10800000" cy="3894336"/>
              </a:xfrm>
              <a:prstGeom prst="rect">
                <a:avLst/>
              </a:prstGeom>
              <a:blipFill rotWithShape="1">
                <a:blip r:embed="rId3"/>
                <a:stretch>
                  <a:fillRect l="-621" t="-78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2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282;g104476d1465_1_17"/>
          <p:cNvSpPr txBox="1"/>
          <p:nvPr/>
        </p:nvSpPr>
        <p:spPr>
          <a:xfrm>
            <a:off x="8893800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278;g104476d1465_1_17">
            <a:extLst>
              <a:ext uri="{FF2B5EF4-FFF2-40B4-BE49-F238E27FC236}">
                <a16:creationId xmlns:a16="http://schemas.microsoft.com/office/drawing/2014/main" id="{021CC1F2-CA8B-744A-9D8A-E95BEA8B18D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6" name="Picture 2" descr="Icon&#10;&#10;Description automatically generated">
            <a:extLst>
              <a:ext uri="{FF2B5EF4-FFF2-40B4-BE49-F238E27FC236}">
                <a16:creationId xmlns:a16="http://schemas.microsoft.com/office/drawing/2014/main" id="{522B94A7-8145-AF4C-A130-4689EF537F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6296" y="383783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4029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16EAAB6-B932-C047-9261-EF734547974E}"/>
                  </a:ext>
                </a:extLst>
              </p:cNvPr>
              <p:cNvSpPr txBox="1"/>
              <p:nvPr/>
            </p:nvSpPr>
            <p:spPr>
              <a:xfrm>
                <a:off x="528252" y="381488"/>
                <a:ext cx="10800000" cy="45916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whether one, both, or neither of these strategies would work.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Rewrite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Verdana"/>
                            <a:cs typeface="Verdana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  <a:ea typeface="Verdana"/>
                            <a:cs typeface="Verdana"/>
                          </a:rPr>
                          <m:t>17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  <a:ea typeface="Verdana"/>
                            <a:cs typeface="Verdana"/>
                          </a:rPr>
                          <m:t>20</m:t>
                        </m:r>
                      </m:den>
                    </m:f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in its equivalent decimal form. Show your work.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PH" sz="24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spcAft>
                    <a:spcPts val="1000"/>
                  </a:spcAft>
                  <a:buFont typeface="+mj-lt"/>
                  <a:buAutoNum type="arabicPeriod" startAt="2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Complete the statement.</a:t>
                </a:r>
                <a:endParaRPr lang="en-US" sz="1600" dirty="0">
                  <a:latin typeface="Cambria"/>
                  <a:ea typeface="Times New Roman"/>
                  <a:cs typeface="Cambria"/>
                </a:endParaRPr>
              </a:p>
              <a:p>
                <a:pPr marL="457200">
                  <a:spcBef>
                    <a:spcPts val="1200"/>
                  </a:spcBef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A percentage is a ratio expressed as a fraction with a </a:t>
                </a:r>
                <a:br>
                  <a:rPr lang="en-US" sz="2400" dirty="0">
                    <a:latin typeface="Verdana"/>
                    <a:ea typeface="Verdana"/>
                    <a:cs typeface="Verdana"/>
                  </a:rPr>
                </a:br>
                <a:br>
                  <a:rPr lang="en-US" sz="2400" dirty="0">
                    <a:latin typeface="Verdana"/>
                    <a:ea typeface="Verdana"/>
                    <a:cs typeface="Verdana"/>
                  </a:rPr>
                </a:br>
                <a:r>
                  <a:rPr lang="en-US" sz="2400" dirty="0">
                    <a:latin typeface="Verdana"/>
                    <a:ea typeface="Verdana"/>
                    <a:cs typeface="Verdana"/>
                  </a:rPr>
                  <a:t>denominator of ______. 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16EAAB6-B932-C047-9261-EF73454797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252" y="381488"/>
                <a:ext cx="10800000" cy="4591642"/>
              </a:xfrm>
              <a:prstGeom prst="rect">
                <a:avLst/>
              </a:prstGeom>
              <a:blipFill rotWithShape="1">
                <a:blip r:embed="rId3"/>
                <a:stretch>
                  <a:fillRect l="-903" t="-1062" b="-2125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2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93800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021CC1F2-CA8B-744A-9D8A-E95BEA8B18D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52717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6EAAB6-B932-C047-9261-EF734547974E}"/>
              </a:ext>
            </a:extLst>
          </p:cNvPr>
          <p:cNvSpPr txBox="1"/>
          <p:nvPr/>
        </p:nvSpPr>
        <p:spPr>
          <a:xfrm>
            <a:off x="530698" y="378868"/>
            <a:ext cx="5905613" cy="29905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1000"/>
              </a:spcAft>
              <a:buFont typeface="+mj-lt"/>
              <a:buAutoNum type="arabicPeriod" startAt="3"/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There are many strategies that can be used to rewrite rational numbers in different forms. Some of them are included below.</a:t>
            </a:r>
          </a:p>
          <a:p>
            <a:pPr marL="914400" indent="-457200">
              <a:spcAft>
                <a:spcPts val="1000"/>
              </a:spcAft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Work with your partner to match each phrase in the column on the left with a strategy in the column on the </a:t>
            </a:r>
            <a:br>
              <a:rPr lang="en-US" sz="2000" dirty="0">
                <a:latin typeface="Verdana"/>
                <a:ea typeface="Verdana"/>
                <a:cs typeface="Verdana"/>
              </a:rPr>
            </a:br>
            <a:r>
              <a:rPr lang="en-US" sz="2000" dirty="0">
                <a:latin typeface="Verdana"/>
                <a:ea typeface="Verdana"/>
                <a:cs typeface="Verdana"/>
              </a:rPr>
              <a:t>right. Draw arrows to make each match.</a:t>
            </a:r>
            <a:endParaRPr lang="en-US" sz="2000" dirty="0">
              <a:latin typeface="Verdana" pitchFamily="34" charset="0"/>
              <a:ea typeface="Verdana" pitchFamily="34" charset="0"/>
              <a:cs typeface="Cambria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021CC1F2-CA8B-744A-9D8A-E95BEA8B18D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64293" y="378868"/>
            <a:ext cx="4566405" cy="4434893"/>
          </a:xfrm>
          <a:prstGeom prst="rect">
            <a:avLst/>
          </a:prstGeom>
        </p:spPr>
      </p:pic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2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93800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671008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021CC1F2-CA8B-744A-9D8A-E95BEA8B18D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6EAAB6-B932-C047-9261-EF734547974E}"/>
              </a:ext>
            </a:extLst>
          </p:cNvPr>
          <p:cNvSpPr txBox="1"/>
          <p:nvPr/>
        </p:nvSpPr>
        <p:spPr>
          <a:xfrm>
            <a:off x="537563" y="383890"/>
            <a:ext cx="10800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spcAft>
                <a:spcPts val="1000"/>
              </a:spcAft>
              <a:buFont typeface="+mj-lt"/>
              <a:buAutoNum type="alphaLcPeriod" startAt="2"/>
            </a:pPr>
            <a:r>
              <a:rPr lang="en-US" sz="2000" dirty="0">
                <a:latin typeface="Verdana"/>
                <a:ea typeface="Verdana"/>
                <a:cs typeface="Verdana"/>
              </a:rPr>
              <a:t>Choose one phrase from the list on the left and complete it using a different strategy than what you matched it with above. Your strategy can be different from those listed above.</a:t>
            </a:r>
            <a:endParaRPr lang="en-US" sz="2000" dirty="0">
              <a:latin typeface="Verdana" pitchFamily="34" charset="0"/>
              <a:ea typeface="Verdana" pitchFamily="34" charset="0"/>
              <a:cs typeface="Cambria"/>
            </a:endParaRPr>
          </a:p>
        </p:txBody>
      </p:sp>
      <p:pic>
        <p:nvPicPr>
          <p:cNvPr id="6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2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2;g104476d1465_1_17"/>
          <p:cNvSpPr txBox="1"/>
          <p:nvPr/>
        </p:nvSpPr>
        <p:spPr>
          <a:xfrm>
            <a:off x="8893800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01992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06841" y="284575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2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2;g104476d1465_1_17"/>
          <p:cNvSpPr txBox="1"/>
          <p:nvPr/>
        </p:nvSpPr>
        <p:spPr>
          <a:xfrm>
            <a:off x="8893800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66104" y="9709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2.3.3 Guided Instruction: Repeating Decimals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8804" y="38629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531152" y="1635496"/>
                <a:ext cx="10800000" cy="36661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2400" dirty="0">
                  <a:latin typeface="Verdana"/>
                  <a:ea typeface="Times New Roman"/>
                  <a:cs typeface="Cambria"/>
                </a:endParaRPr>
              </a:p>
              <a:p>
                <a:endParaRPr lang="en-US" sz="2400" dirty="0">
                  <a:latin typeface="Verdana"/>
                  <a:ea typeface="Times New Roman"/>
                  <a:cs typeface="Cambria"/>
                </a:endParaRPr>
              </a:p>
              <a:p>
                <a:endParaRPr lang="en-US" sz="2400" dirty="0">
                  <a:latin typeface="Verdana"/>
                  <a:ea typeface="Times New Roman"/>
                  <a:cs typeface="Cambri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sz="2400" dirty="0">
                    <a:latin typeface="Verdana"/>
                    <a:ea typeface="Times New Roman"/>
                    <a:cs typeface="Cambria"/>
                  </a:rPr>
                  <a:t>Rational numbers can be written as a fraction,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  <a:ea typeface="Cambria"/>
                            <a:cs typeface="Cambria"/>
                          </a:rPr>
                          <m:t>𝑎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  <a:ea typeface="Cambria"/>
                            <a:cs typeface="Cambria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sz="2400" dirty="0">
                    <a:latin typeface="Verdana"/>
                    <a:ea typeface="Times New Roman"/>
                    <a:cs typeface="Cambria"/>
                  </a:rPr>
                  <a:t>,</a:t>
                </a:r>
                <a:r>
                  <a:rPr lang="en-US" sz="2400" dirty="0">
                    <a:latin typeface="Verdana"/>
                    <a:ea typeface="Cambria"/>
                    <a:cs typeface="Cambria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"/>
                        <a:cs typeface="Cambria"/>
                      </a:rPr>
                      <m:t>𝑎</m:t>
                    </m:r>
                  </m:oMath>
                </a14:m>
                <a:r>
                  <a:rPr lang="en-US" sz="2400" dirty="0">
                    <a:latin typeface="Verdana"/>
                    <a:ea typeface="Cambria"/>
                    <a:cs typeface="Cambria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"/>
                        <a:cs typeface="Cambria"/>
                      </a:rPr>
                      <m:t>𝑏</m:t>
                    </m:r>
                  </m:oMath>
                </a14:m>
                <a:r>
                  <a:rPr lang="en-US" sz="2400" dirty="0">
                    <a:latin typeface="Verdana"/>
                    <a:ea typeface="Cambria"/>
                    <a:cs typeface="Cambria"/>
                  </a:rPr>
                  <a:t> are integers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"/>
                        <a:cs typeface="Cambria"/>
                      </a:rPr>
                      <m:t>𝑏</m:t>
                    </m:r>
                    <m:r>
                      <a:rPr lang="en-US" sz="2400" i="1">
                        <a:latin typeface="Cambria Math"/>
                        <a:ea typeface="Cambria"/>
                        <a:cs typeface="Cambria"/>
                      </a:rPr>
                      <m:t>≠0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Cambria"/>
                  </a:rPr>
                  <a:t>, </a:t>
                </a:r>
                <a:r>
                  <a:rPr lang="en-US" sz="2400" dirty="0">
                    <a:latin typeface="Verdana"/>
                    <a:ea typeface="Cambria"/>
                    <a:cs typeface="Cambria"/>
                  </a:rPr>
                  <a:t>or as a decimal. In decimal form, rational numbers either terminate or repeat.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152" y="1635496"/>
                <a:ext cx="10800000" cy="3666132"/>
              </a:xfrm>
              <a:prstGeom prst="rect">
                <a:avLst/>
              </a:prstGeom>
              <a:blipFill rotWithShape="1">
                <a:blip r:embed="rId4"/>
                <a:stretch>
                  <a:fillRect l="-84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/>
          <p:cNvGrpSpPr/>
          <p:nvPr/>
        </p:nvGrpSpPr>
        <p:grpSpPr>
          <a:xfrm>
            <a:off x="2236975" y="1635496"/>
            <a:ext cx="7388353" cy="1078287"/>
            <a:chOff x="1651592" y="3270282"/>
            <a:chExt cx="7388814" cy="1003787"/>
          </a:xfrm>
        </p:grpSpPr>
        <p:grpSp>
          <p:nvGrpSpPr>
            <p:cNvPr id="11" name="Group 10"/>
            <p:cNvGrpSpPr/>
            <p:nvPr/>
          </p:nvGrpSpPr>
          <p:grpSpPr>
            <a:xfrm>
              <a:off x="1651592" y="3270282"/>
              <a:ext cx="7388814" cy="1003787"/>
              <a:chOff x="-379708" y="-103318"/>
              <a:chExt cx="7388814" cy="1003787"/>
            </a:xfrm>
          </p:grpSpPr>
          <p:sp>
            <p:nvSpPr>
              <p:cNvPr id="14" name="Rectangle 13"/>
              <p:cNvSpPr/>
              <p:nvPr/>
            </p:nvSpPr>
            <p:spPr>
              <a:xfrm>
                <a:off x="0" y="0"/>
                <a:ext cx="66294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/>
                    <a:ea typeface="Times New Roman"/>
                    <a:cs typeface="Cambria"/>
                  </a:rPr>
                  <a:t> </a:t>
                </a:r>
              </a:p>
            </p:txBody>
          </p:sp>
          <p:sp>
            <p:nvSpPr>
              <p:cNvPr id="15" name="Rounded Rectangle 14"/>
              <p:cNvSpPr/>
              <p:nvPr/>
            </p:nvSpPr>
            <p:spPr>
              <a:xfrm>
                <a:off x="-379708" y="-103318"/>
                <a:ext cx="7388814" cy="1003787"/>
              </a:xfrm>
              <a:prstGeom prst="roundRect">
                <a:avLst>
                  <a:gd name="adj" fmla="val 16667"/>
                </a:avLst>
              </a:prstGeom>
              <a:solidFill>
                <a:srgbClr val="E2EED5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spcFirstLastPara="1" wrap="square" lIns="91425" tIns="91440" rIns="91425" bIns="45700" anchor="ctr" anchorCtr="0">
                <a:spAutoFit/>
              </a:bodyPr>
              <a:lstStyle/>
              <a:p>
                <a:pPr marL="742950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US" sz="2000" dirty="0">
                    <a:solidFill>
                      <a:srgbClr val="6C993D"/>
                    </a:solidFill>
                    <a:latin typeface="Verdana"/>
                    <a:ea typeface="Cambria"/>
                    <a:cs typeface="Cambria"/>
                  </a:rPr>
                  <a:t>A </a:t>
                </a:r>
                <a:r>
                  <a:rPr lang="en-US" sz="2000" b="1" i="1" dirty="0">
                    <a:solidFill>
                      <a:srgbClr val="6C993D"/>
                    </a:solidFill>
                    <a:latin typeface="Verdana"/>
                    <a:ea typeface="Cambria"/>
                    <a:cs typeface="Cambria"/>
                  </a:rPr>
                  <a:t>rational number</a:t>
                </a:r>
                <a:r>
                  <a:rPr lang="en-US" sz="2000" dirty="0">
                    <a:solidFill>
                      <a:srgbClr val="6C993D"/>
                    </a:solidFill>
                    <a:latin typeface="Verdana"/>
                    <a:ea typeface="Cambria"/>
                    <a:cs typeface="Cambria"/>
                  </a:rPr>
                  <a:t> is a real number that can be expressed as a ratio of two integers.</a:t>
                </a:r>
                <a:endParaRPr lang="en-US" sz="2000" dirty="0">
                  <a:latin typeface="Cambria"/>
                  <a:ea typeface="Times New Roman"/>
                  <a:cs typeface="Cambria"/>
                </a:endParaRPr>
              </a:p>
            </p:txBody>
          </p:sp>
          <p:pic>
            <p:nvPicPr>
              <p:cNvPr id="16" name="Shape 7" descr="Icon&#10;&#10;Description automatically generated"/>
              <p:cNvPicPr preferRelativeResize="0"/>
              <p:nvPr/>
            </p:nvPicPr>
            <p:blipFill rotWithShape="1">
              <a:blip r:embed="rId5" cstate="screen">
                <a:alphaModFix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-190151" y="108922"/>
                <a:ext cx="539750" cy="49295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</p:grpSp>
      <p:pic>
        <p:nvPicPr>
          <p:cNvPr id="18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2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9" name="Google Shape;282;g104476d1465_1_17"/>
          <p:cNvSpPr txBox="1"/>
          <p:nvPr/>
        </p:nvSpPr>
        <p:spPr>
          <a:xfrm>
            <a:off x="8893800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528251" y="377601"/>
            <a:ext cx="108000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</a:rPr>
              <a:t>Consider the fractions in the table shown.</a:t>
            </a:r>
          </a:p>
          <a:p>
            <a:pPr marL="914400" indent="-457200">
              <a:spcBef>
                <a:spcPts val="1200"/>
              </a:spcBef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Rewrite each fraction in its equivalent decimal form. Then, indicate whether each decimal is a terminating or repeating decimal. If a decimal repeats digits in a pattern, use an ellipse (...) to indicate that the pattern continues.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6968052"/>
                  </p:ext>
                </p:extLst>
              </p:nvPr>
            </p:nvGraphicFramePr>
            <p:xfrm>
              <a:off x="1591923" y="2292551"/>
              <a:ext cx="8640000" cy="318008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Fraction Form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Decimal Form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Terminating or Repeating?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  <a:ea typeface="Verdana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PH" sz="20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PH" sz="20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228600" marB="2286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228600" marB="2286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lvl="0" indent="-228600">
                            <a:spcAft>
                              <a:spcPts val="100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terminating</a:t>
                          </a:r>
                          <a:endParaRPr lang="en-US" sz="1400" dirty="0">
                            <a:effectLst/>
                            <a:latin typeface="Cambria"/>
                            <a:ea typeface="Times New Roman"/>
                            <a:cs typeface="Cambria"/>
                          </a:endParaRPr>
                        </a:p>
                        <a:p>
                          <a:pPr marL="228600" indent="-228600">
                            <a:buFont typeface="Courier New" pitchFamily="49" charset="0"/>
                            <a:buChar char="o"/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repeating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228600" marB="2286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  <a:ea typeface="Verdana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PH" sz="20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PH" sz="20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228600" marB="2286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228600" marB="2286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lvl="0" indent="-228600">
                            <a:spcAft>
                              <a:spcPts val="100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terminating</a:t>
                          </a:r>
                          <a:endParaRPr lang="en-US" sz="1400" dirty="0">
                            <a:effectLst/>
                            <a:latin typeface="Cambria"/>
                            <a:ea typeface="Times New Roman"/>
                            <a:cs typeface="Cambria"/>
                          </a:endParaRPr>
                        </a:p>
                        <a:p>
                          <a:pPr marL="228600" indent="-228600">
                            <a:buFont typeface="Courier New" pitchFamily="49" charset="0"/>
                            <a:buChar char="o"/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repeating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228600" marB="2286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6968052"/>
                  </p:ext>
                </p:extLst>
              </p:nvPr>
            </p:nvGraphicFramePr>
            <p:xfrm>
              <a:off x="1591923" y="2292551"/>
              <a:ext cx="8640000" cy="318008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</a:tblGrid>
                  <a:tr h="7924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Fraction Form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Decimal Form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Terminating or Repeating?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1193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228600" marB="2286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66327" r="-200424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228600" marB="2286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lvl="0" indent="-228600">
                            <a:spcAft>
                              <a:spcPts val="100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terminating</a:t>
                          </a:r>
                          <a:endParaRPr lang="en-US" sz="1400" dirty="0">
                            <a:effectLst/>
                            <a:latin typeface="Cambria"/>
                            <a:ea typeface="Times New Roman"/>
                            <a:cs typeface="Cambria"/>
                          </a:endParaRPr>
                        </a:p>
                        <a:p>
                          <a:pPr marL="228600" indent="-228600">
                            <a:buFont typeface="Courier New" pitchFamily="49" charset="0"/>
                            <a:buChar char="o"/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repeating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228600" marB="2286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1193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228600" marB="2286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166327" r="-2004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228600" marB="2286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lvl="0" indent="-228600">
                            <a:spcAft>
                              <a:spcPts val="100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terminating</a:t>
                          </a:r>
                          <a:endParaRPr lang="en-US" sz="1400" dirty="0">
                            <a:effectLst/>
                            <a:latin typeface="Cambria"/>
                            <a:ea typeface="Times New Roman"/>
                            <a:cs typeface="Cambria"/>
                          </a:endParaRPr>
                        </a:p>
                        <a:p>
                          <a:pPr marL="228600" indent="-228600">
                            <a:buFont typeface="Courier New" pitchFamily="49" charset="0"/>
                            <a:buChar char="o"/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repeating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228600" marB="2286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2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2;g104476d1465_1_17"/>
          <p:cNvSpPr txBox="1"/>
          <p:nvPr/>
        </p:nvSpPr>
        <p:spPr>
          <a:xfrm>
            <a:off x="8893800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2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93800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11257931"/>
                  </p:ext>
                </p:extLst>
              </p:nvPr>
            </p:nvGraphicFramePr>
            <p:xfrm>
              <a:off x="1590495" y="376749"/>
              <a:ext cx="8640000" cy="437388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Fraction Form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Decimal Form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Terminating or Repeating?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  <a:ea typeface="Verdana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PH" sz="20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PH" sz="20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228600" marB="2286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228600" marB="2286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lvl="0" indent="-228600">
                            <a:spcAft>
                              <a:spcPts val="100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terminating</a:t>
                          </a:r>
                          <a:endParaRPr lang="en-US" sz="1400" dirty="0">
                            <a:effectLst/>
                            <a:latin typeface="Cambria"/>
                            <a:ea typeface="Times New Roman"/>
                            <a:cs typeface="Cambria"/>
                          </a:endParaRPr>
                        </a:p>
                        <a:p>
                          <a:pPr marL="228600" indent="-228600">
                            <a:buFont typeface="Courier New" pitchFamily="49" charset="0"/>
                            <a:buChar char="o"/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repeating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228600" marB="2286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  <a:ea typeface="Verdana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PH" sz="20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38</m:t>
                                    </m:r>
                                  </m:num>
                                  <m:den>
                                    <m:r>
                                      <a:rPr lang="en-PH" sz="20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228600" marB="2286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228600" marB="2286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lvl="0" indent="-228600">
                            <a:spcAft>
                              <a:spcPts val="100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terminating</a:t>
                          </a:r>
                          <a:endParaRPr lang="en-US" sz="1400" dirty="0">
                            <a:effectLst/>
                            <a:latin typeface="Cambria"/>
                            <a:ea typeface="Times New Roman"/>
                            <a:cs typeface="Cambria"/>
                          </a:endParaRPr>
                        </a:p>
                        <a:p>
                          <a:pPr marL="228600" indent="-228600">
                            <a:buFont typeface="Courier New" pitchFamily="49" charset="0"/>
                            <a:buChar char="o"/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repeating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228600" marB="2286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  <a:ea typeface="Verdana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PH" sz="20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lang="en-PH" sz="20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228600" marB="2286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228600" marB="2286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lvl="0" indent="-228600">
                            <a:spcAft>
                              <a:spcPts val="100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terminating</a:t>
                          </a:r>
                          <a:endParaRPr lang="en-US" sz="1400" dirty="0">
                            <a:effectLst/>
                            <a:latin typeface="Cambria"/>
                            <a:ea typeface="Times New Roman"/>
                            <a:cs typeface="Cambria"/>
                          </a:endParaRPr>
                        </a:p>
                        <a:p>
                          <a:pPr marL="228600" indent="-228600">
                            <a:buFont typeface="Courier New" pitchFamily="49" charset="0"/>
                            <a:buChar char="o"/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repeating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228600" marB="2286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11257931"/>
                  </p:ext>
                </p:extLst>
              </p:nvPr>
            </p:nvGraphicFramePr>
            <p:xfrm>
              <a:off x="1590495" y="376749"/>
              <a:ext cx="8640000" cy="437388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</a:tblGrid>
                  <a:tr h="7924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Fraction Form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Decimal Form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Terminating or Repeating?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1193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228600" marB="2286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12" t="-66837" r="-200424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228600" marB="2286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lvl="0" indent="-228600">
                            <a:spcAft>
                              <a:spcPts val="100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terminating</a:t>
                          </a:r>
                          <a:endParaRPr lang="en-US" sz="1400" dirty="0">
                            <a:effectLst/>
                            <a:latin typeface="Cambria"/>
                            <a:ea typeface="Times New Roman"/>
                            <a:cs typeface="Cambria"/>
                          </a:endParaRPr>
                        </a:p>
                        <a:p>
                          <a:pPr marL="228600" indent="-228600">
                            <a:buFont typeface="Courier New" pitchFamily="49" charset="0"/>
                            <a:buChar char="o"/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repeating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228600" marB="2286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1193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228600" marB="2286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12" t="-167692" r="-200424" b="-1010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228600" marB="2286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lvl="0" indent="-228600">
                            <a:spcAft>
                              <a:spcPts val="100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terminating</a:t>
                          </a:r>
                          <a:endParaRPr lang="en-US" sz="1400" dirty="0">
                            <a:effectLst/>
                            <a:latin typeface="Cambria"/>
                            <a:ea typeface="Times New Roman"/>
                            <a:cs typeface="Cambria"/>
                          </a:endParaRPr>
                        </a:p>
                        <a:p>
                          <a:pPr marL="228600" indent="-228600">
                            <a:buFont typeface="Courier New" pitchFamily="49" charset="0"/>
                            <a:buChar char="o"/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repeating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228600" marB="2286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1193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228600" marB="2286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12" t="-266327" r="-200424" b="-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228600" marB="2286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28600" lvl="0" indent="-228600">
                            <a:spcAft>
                              <a:spcPts val="1000"/>
                            </a:spcAft>
                            <a:buFont typeface="Courier New"/>
                            <a:buChar char="o"/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terminating</a:t>
                          </a:r>
                          <a:endParaRPr lang="en-US" sz="1400" dirty="0">
                            <a:effectLst/>
                            <a:latin typeface="Cambria"/>
                            <a:ea typeface="Times New Roman"/>
                            <a:cs typeface="Cambria"/>
                          </a:endParaRPr>
                        </a:p>
                        <a:p>
                          <a:pPr marL="228600" indent="-228600">
                            <a:buFont typeface="Courier New" pitchFamily="49" charset="0"/>
                            <a:buChar char="o"/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repeating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228600" marB="22860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03783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531152" y="372091"/>
                <a:ext cx="10800000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spcBef>
                    <a:spcPts val="1200"/>
                  </a:spcBef>
                  <a:buFont typeface="+mj-lt"/>
                  <a:buAutoNum type="alphaLcPeriod" startAt="2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Circle the fractions in the table that are greater than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1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. Then, rewrite each as a mixed number.</a:t>
                </a:r>
              </a:p>
              <a:p>
                <a:pPr marL="914400" indent="-457200">
                  <a:spcBef>
                    <a:spcPts val="1200"/>
                  </a:spcBef>
                  <a:buFont typeface="+mj-lt"/>
                  <a:buAutoNum type="alphaLcPeriod" startAt="2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indent="-457200">
                  <a:spcBef>
                    <a:spcPts val="1200"/>
                  </a:spcBef>
                  <a:buFont typeface="+mj-lt"/>
                  <a:buAutoNum type="alphaLcPeriod" startAt="2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indent="-457200">
                  <a:spcBef>
                    <a:spcPts val="1200"/>
                  </a:spcBef>
                  <a:buFont typeface="+mj-lt"/>
                  <a:buAutoNum type="alphaLcPeriod" startAt="2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Based on your work in Part A, explain whether it is possible for a repeating decimal to ever terminate.</a:t>
                </a:r>
              </a:p>
              <a:p>
                <a:pPr marL="914400" indent="-457200">
                  <a:spcBef>
                    <a:spcPts val="1200"/>
                  </a:spcBef>
                  <a:buFont typeface="+mj-lt"/>
                  <a:buAutoNum type="alphaLcPeriod" startAt="2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indent="-457200">
                  <a:spcBef>
                    <a:spcPts val="1200"/>
                  </a:spcBef>
                  <a:buFont typeface="+mj-lt"/>
                  <a:buAutoNum type="alphaLcPeriod" startAt="2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indent="-457200">
                  <a:spcBef>
                    <a:spcPts val="1200"/>
                  </a:spcBef>
                  <a:buFont typeface="+mj-lt"/>
                  <a:buAutoNum type="alphaLcPeriod" startAt="2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Discuss with your partner any patterns you notice about the denominators of fractions whose decimal equivalent is repeating.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152" y="372091"/>
                <a:ext cx="10800000" cy="4401205"/>
              </a:xfrm>
              <a:prstGeom prst="rect">
                <a:avLst/>
              </a:prstGeom>
              <a:blipFill rotWithShape="1">
                <a:blip r:embed="rId3"/>
                <a:stretch>
                  <a:fillRect t="-831" r="-395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2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93800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305786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531152" y="380354"/>
                <a:ext cx="10800000" cy="50852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>
                  <a:spcBef>
                    <a:spcPts val="1200"/>
                  </a:spcBef>
                </a:pPr>
                <a:endParaRPr lang="en-PH" sz="2000" dirty="0">
                  <a:latin typeface="Verdana"/>
                  <a:ea typeface="Verdana"/>
                  <a:cs typeface="Verdana"/>
                </a:endParaRPr>
              </a:p>
              <a:p>
                <a:pPr>
                  <a:spcBef>
                    <a:spcPts val="1200"/>
                  </a:spcBef>
                </a:pPr>
                <a:endParaRPr lang="en-PH" sz="2000" dirty="0">
                  <a:latin typeface="Verdana"/>
                  <a:ea typeface="Verdana"/>
                  <a:cs typeface="Verdana"/>
                </a:endParaRPr>
              </a:p>
              <a:p>
                <a:pPr>
                  <a:spcBef>
                    <a:spcPts val="3600"/>
                  </a:spcBef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Repeating decimals are written with a bar over the digits that repeat. For example, the fraction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/>
                            <a:cs typeface="Verdana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/>
                            <a:ea typeface="Verdana"/>
                            <a:cs typeface="Verdana"/>
                          </a:rPr>
                          <m:t>13</m:t>
                        </m:r>
                      </m:num>
                      <m:den>
                        <m:r>
                          <a:rPr lang="en-US" sz="2000" i="1">
                            <a:latin typeface="Cambria Math"/>
                            <a:ea typeface="Verdana"/>
                            <a:cs typeface="Verdana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is expressed 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2.1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/>
                            <a:cs typeface="Verdana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/>
                            <a:ea typeface="Verdana"/>
                            <a:cs typeface="Verdana"/>
                          </a:rPr>
                          <m:t>6</m:t>
                        </m:r>
                      </m:e>
                    </m:acc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when written as a decimal because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6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is the digit that repeats infinitely.</a:t>
                </a:r>
              </a:p>
              <a:p>
                <a:pPr marL="457200" indent="-457200">
                  <a:lnSpc>
                    <a:spcPct val="150000"/>
                  </a:lnSpc>
                  <a:spcBef>
                    <a:spcPts val="1200"/>
                  </a:spcBef>
                  <a:buFont typeface="+mj-lt"/>
                  <a:buAutoNum type="arabicPeriod" startAt="2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Isabel divided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85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by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99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to rewrite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/>
                            <a:cs typeface="Verdana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/>
                            <a:ea typeface="Verdana"/>
                            <a:cs typeface="Verdana"/>
                          </a:rPr>
                          <m:t>85</m:t>
                        </m:r>
                      </m:num>
                      <m:den>
                        <m:r>
                          <a:rPr lang="en-US" sz="2000" i="1">
                            <a:latin typeface="Cambria Math"/>
                            <a:ea typeface="Verdana"/>
                            <a:cs typeface="Verdana"/>
                          </a:rPr>
                          <m:t>99</m:t>
                        </m:r>
                      </m:den>
                    </m:f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in decimal form. 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She found the resulting pattern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0.858585…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Write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/>
                            <a:cs typeface="Verdana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/>
                            <a:ea typeface="Verdana"/>
                            <a:cs typeface="Verdana"/>
                          </a:rPr>
                          <m:t>85</m:t>
                        </m:r>
                      </m:num>
                      <m:den>
                        <m:r>
                          <a:rPr lang="en-US" sz="2000" i="1">
                            <a:latin typeface="Cambria Math"/>
                            <a:ea typeface="Verdana"/>
                            <a:cs typeface="Verdana"/>
                          </a:rPr>
                          <m:t>99</m:t>
                        </m:r>
                      </m:den>
                    </m:f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in its equivalent decimal form.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152" y="380354"/>
                <a:ext cx="10800000" cy="5085238"/>
              </a:xfrm>
              <a:prstGeom prst="rect">
                <a:avLst/>
              </a:prstGeom>
              <a:blipFill rotWithShape="1">
                <a:blip r:embed="rId3"/>
                <a:stretch>
                  <a:fillRect l="-56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6" name="Group 5"/>
          <p:cNvGrpSpPr/>
          <p:nvPr/>
        </p:nvGrpSpPr>
        <p:grpSpPr>
          <a:xfrm>
            <a:off x="1957952" y="380354"/>
            <a:ext cx="7946400" cy="1316650"/>
            <a:chOff x="0" y="-149059"/>
            <a:chExt cx="7946400" cy="131669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8" name="Group 7"/>
            <p:cNvGrpSpPr/>
            <p:nvPr/>
          </p:nvGrpSpPr>
          <p:grpSpPr>
            <a:xfrm>
              <a:off x="0" y="-149059"/>
              <a:ext cx="7946400" cy="1316691"/>
              <a:chOff x="0" y="-149158"/>
              <a:chExt cx="7946400" cy="1317566"/>
            </a:xfrm>
          </p:grpSpPr>
          <p:sp>
            <p:nvSpPr>
              <p:cNvPr id="10" name="Rectangle 9"/>
              <p:cNvSpPr/>
              <p:nvPr/>
            </p:nvSpPr>
            <p:spPr>
              <a:xfrm>
                <a:off x="0" y="0"/>
                <a:ext cx="6629400" cy="786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/>
                    <a:ea typeface="Times New Roman"/>
                    <a:cs typeface="Cambria"/>
                  </a:rPr>
                  <a:t> </a:t>
                </a:r>
              </a:p>
            </p:txBody>
          </p:sp>
          <p:sp>
            <p:nvSpPr>
              <p:cNvPr id="11" name="Rounded Rectangle 10"/>
              <p:cNvSpPr/>
              <p:nvPr/>
            </p:nvSpPr>
            <p:spPr>
              <a:xfrm>
                <a:off x="0" y="-149158"/>
                <a:ext cx="7946400" cy="1317566"/>
              </a:xfrm>
              <a:prstGeom prst="roundRect">
                <a:avLst>
                  <a:gd name="adj" fmla="val 16667"/>
                </a:avLst>
              </a:prstGeom>
              <a:solidFill>
                <a:srgbClr val="B8E6F5"/>
              </a:solidFill>
              <a:ln>
                <a:noFill/>
              </a:ln>
            </p:spPr>
            <p:txBody>
              <a:bodyPr spcFirstLastPara="1" wrap="square" lIns="91425" tIns="91440" rIns="91425" bIns="45700" anchor="ctr" anchorCtr="0">
                <a:spAutoFit/>
              </a:bodyPr>
              <a:lstStyle/>
              <a:p>
                <a:pPr marL="742950">
                  <a:spcAft>
                    <a:spcPts val="1000"/>
                  </a:spcAft>
                </a:pPr>
                <a:r>
                  <a:rPr lang="en-US" sz="2000" dirty="0">
                    <a:solidFill>
                      <a:srgbClr val="0075BF"/>
                    </a:solidFill>
                    <a:latin typeface="Verdana"/>
                    <a:ea typeface="Verdana"/>
                    <a:cs typeface="Verdana"/>
                  </a:rPr>
                  <a:t>A number with a decimal that never ends but has a pattern that repeats infinitely is called a </a:t>
                </a:r>
                <a:r>
                  <a:rPr lang="en-US" sz="2000" b="1" dirty="0">
                    <a:solidFill>
                      <a:srgbClr val="0075BF"/>
                    </a:solidFill>
                    <a:latin typeface="Verdana"/>
                    <a:ea typeface="Verdana"/>
                    <a:cs typeface="Verdana"/>
                  </a:rPr>
                  <a:t>repeating decimal.</a:t>
                </a:r>
                <a:endParaRPr lang="en-US" dirty="0">
                  <a:latin typeface="Cambria"/>
                  <a:ea typeface="Times New Roman"/>
                  <a:cs typeface="Cambria"/>
                </a:endParaRPr>
              </a:p>
            </p:txBody>
          </p:sp>
        </p:grpSp>
        <p:pic>
          <p:nvPicPr>
            <p:cNvPr id="9" name="Picture 8" descr="Icon&#10;&#10;Description automatically generated"/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0471" y="99231"/>
              <a:ext cx="539750" cy="53975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2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282;g104476d1465_1_17"/>
          <p:cNvSpPr txBox="1"/>
          <p:nvPr/>
        </p:nvSpPr>
        <p:spPr>
          <a:xfrm>
            <a:off x="8893800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344023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22047" y="2850881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44861" y="2850881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2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93800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89642" y="99568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2.3.4 Exploration: Patterns in Repeating Decimals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8804" y="386291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2D1D4D-DCB8-A246-B186-D40316579D77}"/>
              </a:ext>
            </a:extLst>
          </p:cNvPr>
          <p:cNvSpPr txBox="1"/>
          <p:nvPr/>
        </p:nvSpPr>
        <p:spPr>
          <a:xfrm>
            <a:off x="531152" y="1462641"/>
            <a:ext cx="108000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Times New Roman"/>
                <a:cs typeface="Verdana"/>
              </a:rPr>
              <a:t>Work with your partner to complete the following.</a:t>
            </a:r>
          </a:p>
          <a:p>
            <a:pPr marL="914400" indent="-457200">
              <a:spcBef>
                <a:spcPts val="1200"/>
              </a:spcBef>
              <a:buFont typeface="+mj-lt"/>
              <a:buAutoNum type="alphaLcPeriod"/>
            </a:pPr>
            <a:r>
              <a:rPr lang="en-US" sz="2000" dirty="0">
                <a:latin typeface="Verdana"/>
                <a:ea typeface="Times New Roman"/>
                <a:cs typeface="Verdana"/>
              </a:rPr>
              <a:t>Use a scientific calculator to find the decimal equivalent of each fraction.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519FE075-E2FF-7B4C-8C80-17BA7226159F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09109167"/>
                  </p:ext>
                </p:extLst>
              </p:nvPr>
            </p:nvGraphicFramePr>
            <p:xfrm>
              <a:off x="1580848" y="2499780"/>
              <a:ext cx="6096000" cy="2754249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9240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1719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Verdana"/>
                            </a:rPr>
                            <a:t>Fraction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Verdana"/>
                            </a:rPr>
                            <a:t>Decimal Equivalent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  <a:ea typeface="Verdana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PH" sz="20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PH" sz="20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  <a:ea typeface="Verdana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PH" sz="20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PH" sz="20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  <a:ea typeface="Verdana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PH" sz="20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PH" sz="20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09109167"/>
                  </p:ext>
                </p:extLst>
              </p:nvPr>
            </p:nvGraphicFramePr>
            <p:xfrm>
              <a:off x="1580848" y="2499780"/>
              <a:ext cx="6096000" cy="2754249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92405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417195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4876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Verdana"/>
                            </a:rPr>
                            <a:t>Fraction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Verdana"/>
                            </a:rPr>
                            <a:t>Decimal Equivalent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75552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64516" r="-21677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75552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164516" r="-216772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75552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264516" r="-2167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2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282;g104476d1465_1_17"/>
          <p:cNvSpPr txBox="1"/>
          <p:nvPr/>
        </p:nvSpPr>
        <p:spPr>
          <a:xfrm>
            <a:off x="8893800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31152" y="3420832"/>
                <a:ext cx="108000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/>
                    <a:ea typeface="Times New Roman"/>
                    <a:cs typeface="Verdana"/>
                  </a:rPr>
                  <a:t>Describe the relationship observed between fractions with a denominator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Verdana"/>
                      </a:rPr>
                      <m:t>9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Verdana"/>
                  </a:rPr>
                  <a:t> and their decimal equivalents.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152" y="3420832"/>
                <a:ext cx="10800000" cy="707886"/>
              </a:xfrm>
              <a:prstGeom prst="rect">
                <a:avLst/>
              </a:prstGeom>
              <a:blipFill rotWithShape="1">
                <a:blip r:embed="rId3"/>
                <a:stretch>
                  <a:fillRect t="-5172" r="-1242" b="-14655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45999715"/>
                  </p:ext>
                </p:extLst>
              </p:nvPr>
            </p:nvGraphicFramePr>
            <p:xfrm>
              <a:off x="1646720" y="374089"/>
              <a:ext cx="6096000" cy="2759393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9240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1719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654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Verdana"/>
                            </a:rPr>
                            <a:t>Fraction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Verdana"/>
                            </a:rPr>
                            <a:t>Decimal Equivalent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  <a:ea typeface="Verdana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PH" sz="20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PH" sz="20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  <a:ea typeface="Verdana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PH" sz="20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PH" sz="20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  <a:ea typeface="Verdana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PH" sz="20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lang="en-PH" sz="20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45999715"/>
                  </p:ext>
                </p:extLst>
              </p:nvPr>
            </p:nvGraphicFramePr>
            <p:xfrm>
              <a:off x="1646720" y="374089"/>
              <a:ext cx="6096000" cy="2759393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92405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417195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4876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Verdana"/>
                            </a:rPr>
                            <a:t>Fraction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Verdana"/>
                            </a:rPr>
                            <a:t>Decimal Equivalent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75444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64516" r="-216772" b="-20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7617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163200" r="-216772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75552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265323" r="-216772" b="-8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8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2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2;g104476d1465_1_17"/>
          <p:cNvSpPr txBox="1"/>
          <p:nvPr/>
        </p:nvSpPr>
        <p:spPr>
          <a:xfrm>
            <a:off x="8893800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878348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531152" y="392898"/>
            <a:ext cx="108000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3"/>
            </a:pPr>
            <a:r>
              <a:rPr lang="en-US" sz="2000" dirty="0">
                <a:latin typeface="Verdana"/>
                <a:ea typeface="Times New Roman"/>
                <a:cs typeface="Verdana"/>
              </a:rPr>
              <a:t>Without performing any calculations, predict the decimal equivalent for each fraction in the table.</a:t>
            </a:r>
          </a:p>
          <a:p>
            <a:pPr marL="914400" indent="-457200">
              <a:buFont typeface="+mj-lt"/>
              <a:buAutoNum type="alphaLcPeriod" startAt="3"/>
            </a:pPr>
            <a:endParaRPr lang="en-PH" sz="2000" dirty="0"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PH" sz="2000" dirty="0"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PH" sz="2000" dirty="0"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PH" sz="2000" dirty="0"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PH" sz="2000" dirty="0"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PH" sz="2000" dirty="0"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PH" sz="2000" dirty="0"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PH" sz="2000" dirty="0"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PH" sz="2000" dirty="0"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PH" sz="2000" dirty="0"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r>
              <a:rPr lang="en-US" sz="2000" dirty="0">
                <a:latin typeface="Verdana"/>
                <a:ea typeface="Times New Roman"/>
                <a:cs typeface="Verdana"/>
              </a:rPr>
              <a:t>Verify your predictions using your calculator.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47215324"/>
                  </p:ext>
                </p:extLst>
              </p:nvPr>
            </p:nvGraphicFramePr>
            <p:xfrm>
              <a:off x="1582635" y="1273275"/>
              <a:ext cx="6096000" cy="2332673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9240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1719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Verdana"/>
                            </a:rPr>
                            <a:t>Fraction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Verdana"/>
                            </a:rPr>
                            <a:t>Decimal Equivalent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  <a:ea typeface="Verdana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PH" sz="20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en-PH" sz="20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9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 </a:t>
                          </a: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0" dirty="0">
                              <a:latin typeface="Cambria Math" pitchFamily="18" charset="0"/>
                              <a:ea typeface="Cambria Math" pitchFamily="18" charset="0"/>
                            </a:rPr>
                            <a:t>3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PH" sz="2000" b="0" i="1" smtClean="0">
                                      <a:latin typeface="Cambria Math" panose="02040503050406030204" pitchFamily="18" charset="0"/>
                                      <a:ea typeface="Verdana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PH" sz="20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PH" sz="20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9</m:t>
                                  </m:r>
                                </m:den>
                              </m:f>
                            </m:oMath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0" dirty="0">
                              <a:latin typeface="Cambria Math" pitchFamily="18" charset="0"/>
                              <a:ea typeface="Cambria Math" pitchFamily="18" charset="0"/>
                            </a:rPr>
                            <a:t>17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PH" sz="2000" b="0" i="1" smtClean="0">
                                      <a:latin typeface="Cambria Math" panose="02040503050406030204" pitchFamily="18" charset="0"/>
                                      <a:ea typeface="Verdana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PH" sz="20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8</m:t>
                                  </m:r>
                                </m:num>
                                <m:den>
                                  <m:r>
                                    <a:rPr lang="en-PH" sz="20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9</m:t>
                                  </m:r>
                                </m:den>
                              </m:f>
                            </m:oMath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47215324"/>
                  </p:ext>
                </p:extLst>
              </p:nvPr>
            </p:nvGraphicFramePr>
            <p:xfrm>
              <a:off x="1582635" y="1273275"/>
              <a:ext cx="6096000" cy="2332673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92405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417195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4876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Verdana"/>
                            </a:rPr>
                            <a:t>Fraction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Verdana"/>
                            </a:rPr>
                            <a:t>Decimal Equivalent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61385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16" t="-80198" r="-216456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6155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16" t="-180198" r="-216456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6155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16" t="-280198" r="-2164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2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2;g104476d1465_1_17"/>
          <p:cNvSpPr txBox="1"/>
          <p:nvPr/>
        </p:nvSpPr>
        <p:spPr>
          <a:xfrm>
            <a:off x="8893800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075834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42949" y="383797"/>
                <a:ext cx="10800000" cy="33970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/>
                    <a:ea typeface="Times New Roman"/>
                    <a:cs typeface="Verdana"/>
                  </a:rPr>
                  <a:t>Discuss with your partner how the values in the previous question could be used to determine the decimal equivalents for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/>
                            <a:ea typeface="Times New Roman"/>
                            <a:cs typeface="Verdana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/>
                            <a:ea typeface="Times New Roman"/>
                            <a:cs typeface="Verdana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>
                    <a:latin typeface="Verdana"/>
                    <a:ea typeface="Times New Roman"/>
                    <a:cs typeface="Verdana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/>
                            <a:ea typeface="Times New Roman"/>
                            <a:cs typeface="Verdana"/>
                          </a:rPr>
                          <m:t>2</m:t>
                        </m:r>
                      </m:num>
                      <m:den>
                        <m:r>
                          <a:rPr lang="en-US" sz="2000" i="1">
                            <a:latin typeface="Cambria Math"/>
                            <a:ea typeface="Times New Roman"/>
                            <a:cs typeface="Verdana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>
                    <a:latin typeface="Verdana"/>
                    <a:ea typeface="Times New Roman"/>
                    <a:cs typeface="Verdana"/>
                  </a:rPr>
                  <a:t>.</a:t>
                </a:r>
              </a:p>
              <a:p>
                <a:pPr marL="914400" indent="-457200">
                  <a:spcBef>
                    <a:spcPts val="1200"/>
                  </a:spcBef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Times New Roman"/>
                    <a:cs typeface="Verdana"/>
                  </a:rPr>
                  <a:t>Complete the equations.</a:t>
                </a:r>
              </a:p>
              <a:p>
                <a:pPr marL="914400">
                  <a:lnSpc>
                    <a:spcPct val="150000"/>
                  </a:lnSpc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en-PH" sz="2000" i="1">
                              <a:latin typeface="Cambria Math"/>
                              <a:ea typeface="Verdana" panose="020B060403050404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PH" sz="2000" i="1">
                              <a:latin typeface="Cambria Math"/>
                              <a:ea typeface="Verdana" panose="020B0604030504040204" pitchFamily="34" charset="0"/>
                            </a:rPr>
                            <m:t>3</m:t>
                          </m:r>
                        </m:den>
                      </m:f>
                      <m:r>
                        <a:rPr lang="en-PH" sz="2000" i="1">
                          <a:latin typeface="Cambria Math"/>
                          <a:ea typeface="Verdana" panose="020B0604030504040204" pitchFamily="34" charset="0"/>
                        </a:rPr>
                        <m:t>= </m:t>
                      </m:r>
                      <m:f>
                        <m:fPr>
                          <m:ctrlPr>
                            <a:rPr lang="en-PH" sz="2000" i="1"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en-PH" sz="2000" i="1">
                              <a:latin typeface="Cambria Math"/>
                              <a:ea typeface="Verdana" panose="020B0604030504040204" pitchFamily="34" charset="0"/>
                            </a:rPr>
                            <m:t> </m:t>
                          </m:r>
                        </m:num>
                        <m:den>
                          <m:r>
                            <a:rPr lang="en-PH" sz="2000" i="1">
                              <a:latin typeface="Cambria Math"/>
                              <a:ea typeface="Verdana" panose="020B0604030504040204" pitchFamily="34" charset="0"/>
                            </a:rPr>
                            <m:t>9</m:t>
                          </m:r>
                        </m:den>
                      </m:f>
                      <m:r>
                        <a:rPr lang="en-PH" sz="2000" i="1">
                          <a:latin typeface="Cambria Math"/>
                          <a:ea typeface="Verdana" panose="020B0604030504040204" pitchFamily="34" charset="0"/>
                        </a:rPr>
                        <m:t>                       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en-PH" sz="2000" i="1">
                              <a:latin typeface="Cambria Math"/>
                              <a:ea typeface="Verdana" panose="020B0604030504040204" pitchFamily="34" charset="0"/>
                            </a:rPr>
                            <m:t>2</m:t>
                          </m:r>
                        </m:num>
                        <m:den>
                          <m:r>
                            <a:rPr lang="en-PH" sz="2000" i="1">
                              <a:latin typeface="Cambria Math"/>
                              <a:ea typeface="Verdana" panose="020B0604030504040204" pitchFamily="34" charset="0"/>
                            </a:rPr>
                            <m:t>3</m:t>
                          </m:r>
                        </m:den>
                      </m:f>
                      <m:r>
                        <a:rPr lang="en-PH" sz="2000" i="1">
                          <a:latin typeface="Cambria Math"/>
                          <a:ea typeface="Verdana" panose="020B0604030504040204" pitchFamily="34" charset="0"/>
                        </a:rPr>
                        <m:t>= </m:t>
                      </m:r>
                      <m:f>
                        <m:fPr>
                          <m:ctrlPr>
                            <a:rPr lang="en-PH" sz="2000" i="1"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en-PH" sz="2000" i="1">
                              <a:latin typeface="Cambria Math"/>
                              <a:ea typeface="Verdana" panose="020B0604030504040204" pitchFamily="34" charset="0"/>
                            </a:rPr>
                            <m:t> </m:t>
                          </m:r>
                        </m:num>
                        <m:den>
                          <m:r>
                            <a:rPr lang="en-PH" sz="2000" i="1">
                              <a:latin typeface="Cambria Math"/>
                              <a:ea typeface="Verdana" panose="020B0604030504040204" pitchFamily="34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>
                  <a:lnSpc>
                    <a:spcPct val="150000"/>
                  </a:lnSpc>
                  <a:spcBef>
                    <a:spcPts val="1200"/>
                  </a:spcBef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lnSpc>
                    <a:spcPct val="150000"/>
                  </a:lnSpc>
                  <a:spcBef>
                    <a:spcPts val="1200"/>
                  </a:spcBef>
                  <a:buFont typeface="+mj-lt"/>
                  <a:buAutoNum type="alphaLcPeriod" startAt="2"/>
                </a:pPr>
                <a:r>
                  <a:rPr lang="en-US" sz="2000" dirty="0">
                    <a:latin typeface="Verdana"/>
                    <a:ea typeface="Times New Roman"/>
                    <a:cs typeface="Verdana"/>
                  </a:rPr>
                  <a:t>Complete the table.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949" y="383797"/>
                <a:ext cx="10800000" cy="3397084"/>
              </a:xfrm>
              <a:prstGeom prst="rect">
                <a:avLst/>
              </a:prstGeom>
              <a:blipFill rotWithShape="1">
                <a:blip r:embed="rId3"/>
                <a:stretch>
                  <a:fillRect l="-564" t="-1077" b="-539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80897829"/>
                  </p:ext>
                </p:extLst>
              </p:nvPr>
            </p:nvGraphicFramePr>
            <p:xfrm>
              <a:off x="1583185" y="3780359"/>
              <a:ext cx="6096000" cy="2331848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9240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1719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Verdana"/>
                            </a:rPr>
                            <a:t>Fraction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Verdana"/>
                            </a:rPr>
                            <a:t>Decimal Equivalent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  <a:ea typeface="Verdana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PH" sz="20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PH" sz="20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 </a:t>
                          </a: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PH" sz="2000" b="0" i="1" smtClean="0">
                                      <a:latin typeface="Cambria Math" panose="02040503050406030204" pitchFamily="18" charset="0"/>
                                      <a:ea typeface="Verdana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PH" sz="20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PH" sz="20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 </a:t>
                          </a: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0" dirty="0">
                              <a:ea typeface="Verdana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PH" sz="2000" b="0" i="1" smtClean="0">
                                      <a:latin typeface="Cambria Math" panose="02040503050406030204" pitchFamily="18" charset="0"/>
                                      <a:ea typeface="Verdana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PH" sz="20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en-PH" sz="20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PH" sz="2000" b="0" i="1" smtClean="0">
                                  <a:latin typeface="Cambria Math"/>
                                  <a:ea typeface="Verdana" pitchFamily="34" charset="0"/>
                                </a:rPr>
                                <m:t>=       </m:t>
                              </m:r>
                              <m:f>
                                <m:fPr>
                                  <m:ctrlPr>
                                    <a:rPr lang="en-PH" sz="2000" b="0" i="1" smtClean="0">
                                      <a:latin typeface="Cambria Math" panose="02040503050406030204" pitchFamily="18" charset="0"/>
                                      <a:ea typeface="Verdana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PH" sz="20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 </m:t>
                                  </m:r>
                                </m:num>
                                <m:den>
                                  <m:r>
                                    <a:rPr lang="en-PH" sz="20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80897829"/>
                  </p:ext>
                </p:extLst>
              </p:nvPr>
            </p:nvGraphicFramePr>
            <p:xfrm>
              <a:off x="1583185" y="3780359"/>
              <a:ext cx="6096000" cy="2331848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92405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417195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4876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Verdana"/>
                            </a:rPr>
                            <a:t>Fraction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Verdana"/>
                            </a:rPr>
                            <a:t>Decimal Equivalent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61487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16" t="-79208" r="-216456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6155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16" t="-179208" r="-216456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61379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16" t="-279208" r="-2164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Rectangle 1"/>
          <p:cNvSpPr/>
          <p:nvPr/>
        </p:nvSpPr>
        <p:spPr>
          <a:xfrm>
            <a:off x="2571542" y="5626824"/>
            <a:ext cx="300990" cy="368300"/>
          </a:xfrm>
          <a:prstGeom prst="rect">
            <a:avLst/>
          </a:prstGeom>
          <a:noFill/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2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2;g104476d1465_1_17"/>
          <p:cNvSpPr txBox="1"/>
          <p:nvPr/>
        </p:nvSpPr>
        <p:spPr>
          <a:xfrm>
            <a:off x="8893800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166056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6086" y="933200"/>
            <a:ext cx="7837714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45465" y="383615"/>
                <a:ext cx="10800000" cy="43767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/>
                    <a:ea typeface="Times New Roman"/>
                    <a:cs typeface="Verdana"/>
                  </a:rPr>
                  <a:t>Three number lines are shown.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000" dirty="0">
                  <a:latin typeface="Verdana"/>
                  <a:ea typeface="Times New Roman"/>
                  <a:cs typeface="Verdana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000" dirty="0">
                  <a:latin typeface="Verdana"/>
                  <a:ea typeface="Times New Roman"/>
                  <a:cs typeface="Verdana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000" dirty="0">
                  <a:latin typeface="Verdana"/>
                  <a:ea typeface="Times New Roman"/>
                  <a:cs typeface="Verdana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000" dirty="0">
                  <a:latin typeface="Verdana"/>
                  <a:ea typeface="Times New Roman"/>
                  <a:cs typeface="Verdana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000" dirty="0">
                  <a:latin typeface="Verdana"/>
                  <a:ea typeface="Times New Roman"/>
                  <a:cs typeface="Verdana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000" dirty="0">
                  <a:latin typeface="Verdana"/>
                  <a:ea typeface="Times New Roman"/>
                  <a:cs typeface="Verdana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000" dirty="0">
                  <a:latin typeface="Verdana"/>
                  <a:ea typeface="Times New Roman"/>
                  <a:cs typeface="Verdana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000" dirty="0">
                  <a:latin typeface="Verdana"/>
                  <a:ea typeface="Times New Roman"/>
                  <a:cs typeface="Verdana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000" dirty="0">
                  <a:latin typeface="Verdana"/>
                  <a:ea typeface="Times New Roman"/>
                  <a:cs typeface="Verdana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000" dirty="0">
                  <a:latin typeface="Verdana"/>
                  <a:ea typeface="Times New Roman"/>
                  <a:cs typeface="Verdana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/>
                  <a:ea typeface="Times New Roman"/>
                  <a:cs typeface="Verdana"/>
                </a:endParaRPr>
              </a:p>
              <a:p>
                <a:pPr marL="914400" indent="-457200">
                  <a:spcBef>
                    <a:spcPts val="1200"/>
                  </a:spcBef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Times New Roman"/>
                    <a:cs typeface="Verdana"/>
                  </a:rPr>
                  <a:t>Explain what the decimal equivalent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/>
                            <a:ea typeface="Times New Roman"/>
                            <a:cs typeface="Verdana"/>
                          </a:rPr>
                          <m:t>2</m:t>
                        </m:r>
                      </m:num>
                      <m:den>
                        <m:r>
                          <a:rPr lang="en-US" sz="2000" i="1">
                            <a:latin typeface="Cambria Math"/>
                            <a:ea typeface="Times New Roman"/>
                            <a:cs typeface="Verdana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sz="2000" dirty="0">
                    <a:latin typeface="Verdana"/>
                    <a:ea typeface="Times New Roman"/>
                    <a:cs typeface="Verdana"/>
                  </a:rPr>
                  <a:t> is using the number lines.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465" y="383615"/>
                <a:ext cx="10800000" cy="4376711"/>
              </a:xfrm>
              <a:prstGeom prst="rect">
                <a:avLst/>
              </a:prstGeom>
              <a:blipFill rotWithShape="1">
                <a:blip r:embed="rId4"/>
                <a:stretch>
                  <a:fillRect l="-564" t="-836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2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2;g104476d1465_1_17"/>
          <p:cNvSpPr txBox="1"/>
          <p:nvPr/>
        </p:nvSpPr>
        <p:spPr>
          <a:xfrm>
            <a:off x="8893800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269471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31150" y="383461"/>
                <a:ext cx="10800000" cy="5225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00113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/>
                    <a:ea typeface="Times New Roman"/>
                    <a:cs typeface="Verdana"/>
                  </a:rPr>
                  <a:t>The decimal equivalent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/>
                            <a:ea typeface="Times New Roman"/>
                            <a:cs typeface="Verdana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/>
                            <a:ea typeface="Times New Roman"/>
                            <a:cs typeface="Verdana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sz="2000" dirty="0">
                    <a:latin typeface="Verdana"/>
                    <a:ea typeface="Times New Roman"/>
                    <a:cs typeface="Verdana"/>
                  </a:rPr>
                  <a:t> is also a repeating decimal. Work with your partner to predict the decimal equivalent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/>
                            <a:ea typeface="Times New Roman"/>
                            <a:cs typeface="Verdana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/>
                            <a:ea typeface="Times New Roman"/>
                            <a:cs typeface="Verdana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sz="2000" dirty="0">
                    <a:latin typeface="Verdana"/>
                    <a:ea typeface="Times New Roman"/>
                    <a:cs typeface="Verdana"/>
                  </a:rPr>
                  <a:t> based on the value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/>
                            <a:ea typeface="Times New Roman"/>
                            <a:cs typeface="Verdana"/>
                          </a:rPr>
                          <m:t>2</m:t>
                        </m:r>
                      </m:num>
                      <m:den>
                        <m:r>
                          <a:rPr lang="en-US" sz="2000" i="1">
                            <a:latin typeface="Cambria Math"/>
                            <a:ea typeface="Times New Roman"/>
                            <a:cs typeface="Verdana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sz="2000" dirty="0">
                    <a:latin typeface="Verdana"/>
                    <a:ea typeface="Times New Roman"/>
                    <a:cs typeface="Verdana"/>
                  </a:rPr>
                  <a:t>.</a:t>
                </a:r>
              </a:p>
              <a:p>
                <a:pPr marL="900113" indent="-457200">
                  <a:buFont typeface="+mj-lt"/>
                  <a:buAutoNum type="alphaLcPeriod" startAt="2"/>
                </a:pPr>
                <a:endParaRPr lang="en-PH" sz="2000" dirty="0">
                  <a:latin typeface="Verdana"/>
                  <a:ea typeface="Times New Roman"/>
                  <a:cs typeface="Verdana"/>
                </a:endParaRPr>
              </a:p>
              <a:p>
                <a:pPr marL="900113" indent="-457200">
                  <a:buFont typeface="+mj-lt"/>
                  <a:buAutoNum type="alphaLcPeriod" startAt="2"/>
                </a:pPr>
                <a:endParaRPr lang="en-PH" sz="2000" dirty="0">
                  <a:latin typeface="Verdana"/>
                  <a:ea typeface="Times New Roman"/>
                  <a:cs typeface="Verdana"/>
                </a:endParaRPr>
              </a:p>
              <a:p>
                <a:pPr marL="900113" indent="-457200">
                  <a:buFont typeface="+mj-lt"/>
                  <a:buAutoNum type="alphaLcPeriod" startAt="2"/>
                </a:pPr>
                <a:endParaRPr lang="en-US" sz="2000" dirty="0">
                  <a:latin typeface="Verdana"/>
                  <a:ea typeface="Times New Roman"/>
                  <a:cs typeface="Verdana"/>
                </a:endParaRPr>
              </a:p>
              <a:p>
                <a:pPr marL="900113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/>
                    <a:ea typeface="Times New Roman"/>
                    <a:cs typeface="Verdana"/>
                  </a:rPr>
                  <a:t>Use a calculator to find the decimal equivalent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/>
                            <a:ea typeface="Times New Roman"/>
                            <a:cs typeface="Verdana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/>
                            <a:ea typeface="Times New Roman"/>
                            <a:cs typeface="Verdana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sz="2000" dirty="0">
                    <a:latin typeface="Verdana"/>
                    <a:ea typeface="Times New Roman"/>
                    <a:cs typeface="Verdana"/>
                  </a:rPr>
                  <a:t>. Write the value in decimal form.</a:t>
                </a:r>
              </a:p>
              <a:p>
                <a:pPr marL="900113" indent="-457200">
                  <a:buFont typeface="+mj-lt"/>
                  <a:buAutoNum type="alphaLcPeriod" startAt="2"/>
                </a:pPr>
                <a:endParaRPr lang="en-PH" sz="2000" dirty="0">
                  <a:latin typeface="Verdana"/>
                  <a:ea typeface="Times New Roman"/>
                  <a:cs typeface="Verdana"/>
                </a:endParaRPr>
              </a:p>
              <a:p>
                <a:pPr marL="900113" indent="-457200">
                  <a:buFont typeface="+mj-lt"/>
                  <a:buAutoNum type="alphaLcPeriod" startAt="2"/>
                </a:pPr>
                <a:endParaRPr lang="en-PH" sz="2000" dirty="0">
                  <a:latin typeface="Verdana"/>
                  <a:ea typeface="Times New Roman"/>
                  <a:cs typeface="Verdana"/>
                </a:endParaRPr>
              </a:p>
              <a:p>
                <a:pPr marL="900113" indent="-457200">
                  <a:buFont typeface="+mj-lt"/>
                  <a:buAutoNum type="alphaLcPeriod" startAt="2"/>
                </a:pPr>
                <a:endParaRPr lang="en-US" sz="2000" dirty="0">
                  <a:latin typeface="Verdana"/>
                  <a:ea typeface="Times New Roman"/>
                  <a:cs typeface="Verdana"/>
                </a:endParaRPr>
              </a:p>
              <a:p>
                <a:pPr marL="900113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/>
                    <a:ea typeface="Times New Roman"/>
                    <a:cs typeface="Verdana"/>
                  </a:rPr>
                  <a:t>Explain whether the decimal equivalent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/>
                            <a:ea typeface="Times New Roman"/>
                            <a:cs typeface="Verdana"/>
                          </a:rPr>
                          <m:t>3</m:t>
                        </m:r>
                      </m:num>
                      <m:den>
                        <m:r>
                          <a:rPr lang="en-US" sz="2000" i="1">
                            <a:latin typeface="Cambria Math"/>
                            <a:ea typeface="Times New Roman"/>
                            <a:cs typeface="Verdana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sz="2000" dirty="0">
                    <a:latin typeface="Verdana"/>
                    <a:ea typeface="Times New Roman"/>
                    <a:cs typeface="Verdana"/>
                  </a:rPr>
                  <a:t> is a repeating or terminating decimal.</a:t>
                </a:r>
              </a:p>
              <a:p>
                <a:pPr marL="900113" indent="-457200">
                  <a:buFont typeface="+mj-lt"/>
                  <a:buAutoNum type="alphaLcPeriod" startAt="2"/>
                </a:pPr>
                <a:endParaRPr lang="en-PH" sz="2000" dirty="0">
                  <a:latin typeface="Verdana"/>
                  <a:ea typeface="Times New Roman"/>
                  <a:cs typeface="Verdana"/>
                </a:endParaRPr>
              </a:p>
              <a:p>
                <a:pPr marL="900113" indent="-457200">
                  <a:buFont typeface="+mj-lt"/>
                  <a:buAutoNum type="alphaLcPeriod" startAt="2"/>
                </a:pPr>
                <a:endParaRPr lang="en-PH" sz="2000" dirty="0">
                  <a:latin typeface="Verdana"/>
                  <a:ea typeface="Times New Roman"/>
                  <a:cs typeface="Verdana"/>
                </a:endParaRPr>
              </a:p>
              <a:p>
                <a:pPr marL="900113" indent="-457200">
                  <a:buFont typeface="+mj-lt"/>
                  <a:buAutoNum type="alphaLcPeriod" startAt="2"/>
                </a:pPr>
                <a:endParaRPr lang="en-US" sz="2000" dirty="0">
                  <a:latin typeface="Verdana"/>
                  <a:ea typeface="Times New Roman"/>
                  <a:cs typeface="Verdana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150" y="383461"/>
                <a:ext cx="10800000" cy="5225277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2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93800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389614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572226" y="2852923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Bring It Together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314" name="Picture 2" descr="Icon&#10;&#10;Description automatically generated">
            <a:extLst>
              <a:ext uri="{FF2B5EF4-FFF2-40B4-BE49-F238E27FC236}">
                <a16:creationId xmlns:a16="http://schemas.microsoft.com/office/drawing/2014/main" id="{31E4CCCA-703A-4C46-A49C-ABEAC0061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07186" y="2939701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2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93800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560658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02529" y="95837"/>
            <a:ext cx="108000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2.3.5 Bring It Together: Patterns in Repeating Decimals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9E00F9-F39F-5043-888E-B0A2D8C9AE0F}"/>
                  </a:ext>
                </a:extLst>
              </p:cNvPr>
              <p:cNvSpPr txBox="1"/>
              <p:nvPr/>
            </p:nvSpPr>
            <p:spPr>
              <a:xfrm>
                <a:off x="534263" y="1465927"/>
                <a:ext cx="10800000" cy="27643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/>
                    <a:ea typeface="Times New Roman"/>
                    <a:cs typeface="Verdana"/>
                  </a:rPr>
                  <a:t>In the Exploration, you observed most fractions with denominators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Verdana"/>
                      </a:rPr>
                      <m:t>3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Verdana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Verdana"/>
                      </a:rPr>
                      <m:t>6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Verdana"/>
                  </a:rPr>
                  <a:t>, 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Verdana"/>
                      </a:rPr>
                      <m:t>9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Verdana"/>
                  </a:rPr>
                  <a:t> have a decimal equivalent that repeats.</a:t>
                </a:r>
              </a:p>
              <a:p>
                <a:pPr marL="457200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Times New Roman"/>
                    <a:cs typeface="Verdana"/>
                  </a:rPr>
                  <a:t>Based on your observations, circle the fractions below that you predict also have repeating decimal equivalents.</a:t>
                </a:r>
              </a:p>
              <a:p>
                <a:pPr marL="457200"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en-PH" sz="2400" i="1">
                              <a:latin typeface="Cambria Math"/>
                              <a:ea typeface="Verdana" panose="020B060403050404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PH" sz="2400" i="1">
                              <a:latin typeface="Cambria Math"/>
                              <a:ea typeface="Verdana" panose="020B0604030504040204" pitchFamily="34" charset="0"/>
                            </a:rPr>
                            <m:t>11</m:t>
                          </m:r>
                        </m:den>
                      </m:f>
                      <m:r>
                        <a:rPr lang="en-PH" sz="2400" i="1">
                          <a:latin typeface="Cambria Math"/>
                          <a:ea typeface="Verdana" panose="020B0604030504040204" pitchFamily="34" charset="0"/>
                        </a:rPr>
                        <m:t>             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en-PH" sz="2400" i="1">
                              <a:latin typeface="Cambria Math"/>
                              <a:ea typeface="Verdana" panose="020B060403050404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PH" sz="2400" i="1">
                              <a:latin typeface="Cambria Math"/>
                              <a:ea typeface="Verdana" panose="020B0604030504040204" pitchFamily="34" charset="0"/>
                            </a:rPr>
                            <m:t>12</m:t>
                          </m:r>
                        </m:den>
                      </m:f>
                      <m:r>
                        <a:rPr lang="en-PH" sz="2400" i="1">
                          <a:latin typeface="Cambria Math"/>
                          <a:ea typeface="Verdana" panose="020B0604030504040204" pitchFamily="34" charset="0"/>
                        </a:rPr>
                        <m:t>               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en-PH" sz="2400" i="1">
                              <a:latin typeface="Cambria Math"/>
                              <a:ea typeface="Verdana" panose="020B0604030504040204" pitchFamily="34" charset="0"/>
                            </a:rPr>
                            <m:t>3</m:t>
                          </m:r>
                        </m:num>
                        <m:den>
                          <m:r>
                            <a:rPr lang="en-PH" sz="2400" i="1">
                              <a:latin typeface="Cambria Math"/>
                              <a:ea typeface="Verdana" panose="020B0604030504040204" pitchFamily="34" charset="0"/>
                            </a:rPr>
                            <m:t>12</m:t>
                          </m:r>
                        </m:den>
                      </m:f>
                      <m:r>
                        <a:rPr lang="en-PH" sz="2400" i="1">
                          <a:latin typeface="Cambria Math"/>
                          <a:ea typeface="Verdana" panose="020B0604030504040204" pitchFamily="34" charset="0"/>
                        </a:rPr>
                        <m:t>               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en-PH" sz="2400" i="1">
                              <a:latin typeface="Cambria Math"/>
                              <a:ea typeface="Verdana" panose="020B0604030504040204" pitchFamily="34" charset="0"/>
                            </a:rPr>
                            <m:t>6</m:t>
                          </m:r>
                        </m:num>
                        <m:den>
                          <m:r>
                            <a:rPr lang="en-PH" sz="2400" i="1">
                              <a:latin typeface="Cambria Math"/>
                              <a:ea typeface="Verdana" panose="020B0604030504040204" pitchFamily="34" charset="0"/>
                            </a:rPr>
                            <m:t>15</m:t>
                          </m:r>
                        </m:den>
                      </m:f>
                      <m:r>
                        <a:rPr lang="en-PH" sz="2400" i="1">
                          <a:latin typeface="Cambria Math"/>
                          <a:ea typeface="Verdana" panose="020B0604030504040204" pitchFamily="34" charset="0"/>
                        </a:rPr>
                        <m:t>               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en-PH" sz="2400" i="1">
                              <a:latin typeface="Cambria Math"/>
                              <a:ea typeface="Verdana" panose="020B0604030504040204" pitchFamily="34" charset="0"/>
                            </a:rPr>
                            <m:t>2</m:t>
                          </m:r>
                        </m:num>
                        <m:den>
                          <m:r>
                            <a:rPr lang="en-PH" sz="2400" i="1">
                              <a:latin typeface="Cambria Math"/>
                              <a:ea typeface="Verdana" panose="020B0604030504040204" pitchFamily="34" charset="0"/>
                            </a:rPr>
                            <m:t>15</m:t>
                          </m:r>
                        </m:den>
                      </m:f>
                      <m:r>
                        <a:rPr lang="en-PH" sz="2400" i="1">
                          <a:latin typeface="Cambria Math"/>
                          <a:ea typeface="Verdana" panose="020B0604030504040204" pitchFamily="34" charset="0"/>
                        </a:rPr>
                        <m:t>               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en-PH" sz="2400" i="1">
                              <a:latin typeface="Cambria Math"/>
                              <a:ea typeface="Verdana" panose="020B0604030504040204" pitchFamily="34" charset="0"/>
                            </a:rPr>
                            <m:t>12</m:t>
                          </m:r>
                        </m:num>
                        <m:den>
                          <m:r>
                            <a:rPr lang="en-PH" sz="2400" i="1">
                              <a:latin typeface="Cambria Math"/>
                              <a:ea typeface="Verdana" panose="020B0604030504040204" pitchFamily="34" charset="0"/>
                            </a:rPr>
                            <m:t>99</m:t>
                          </m:r>
                        </m:den>
                      </m:f>
                    </m:oMath>
                  </m:oMathPara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69E00F9-F39F-5043-888E-B0A2D8C9A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263" y="1465927"/>
                <a:ext cx="10800000" cy="2764346"/>
              </a:xfrm>
              <a:prstGeom prst="rect">
                <a:avLst/>
              </a:prstGeom>
              <a:blipFill rotWithShape="1">
                <a:blip r:embed="rId3"/>
                <a:stretch>
                  <a:fillRect l="-903" t="-176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320606D7-FA1D-5D44-AD19-A87F7EA7DDF3}"/>
              </a:ext>
            </a:extLst>
          </p:cNvPr>
          <p:cNvSpPr/>
          <p:nvPr/>
        </p:nvSpPr>
        <p:spPr>
          <a:xfrm>
            <a:off x="0" y="-12827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Picture 2" descr="Icon&#10;&#10;Description automatically generated">
            <a:extLst>
              <a:ext uri="{FF2B5EF4-FFF2-40B4-BE49-F238E27FC236}">
                <a16:creationId xmlns:a16="http://schemas.microsoft.com/office/drawing/2014/main" id="{108F4C35-3A24-A244-BB28-81EF2D36C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9285" y="383783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2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282;g104476d1465_1_17"/>
          <p:cNvSpPr txBox="1"/>
          <p:nvPr/>
        </p:nvSpPr>
        <p:spPr>
          <a:xfrm>
            <a:off x="8893800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98569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08C1C0E-C7C0-F14B-88E2-57B6133AD69D}"/>
              </a:ext>
            </a:extLst>
          </p:cNvPr>
          <p:cNvSpPr txBox="1"/>
          <p:nvPr/>
        </p:nvSpPr>
        <p:spPr>
          <a:xfrm>
            <a:off x="537131" y="377837"/>
            <a:ext cx="10800000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/>
                <a:ea typeface="Times New Roman"/>
                <a:cs typeface="Verdana"/>
              </a:rPr>
              <a:t>Use a scientific calculator to verify your predictions. Write the decimal equivalent for each fraction in the table.</a:t>
            </a: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spcBef>
                <a:spcPts val="1200"/>
              </a:spcBef>
              <a:buFont typeface="+mj-lt"/>
              <a:buAutoNum type="arabicPeriod" startAt="2"/>
            </a:pPr>
            <a:r>
              <a:rPr lang="en-US" sz="2000" dirty="0">
                <a:latin typeface="Verdana"/>
                <a:ea typeface="Times New Roman"/>
                <a:cs typeface="Verdana"/>
              </a:rPr>
              <a:t>Make a conjecture about which fractions have decimal expansions that are repeating.</a:t>
            </a:r>
            <a:endParaRPr lang="en-PH" sz="2000" dirty="0"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9E4C3D56-1DA8-9443-9950-361D67B05B62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1763813"/>
                  </p:ext>
                </p:extLst>
              </p:nvPr>
            </p:nvGraphicFramePr>
            <p:xfrm>
              <a:off x="1139301" y="1205568"/>
              <a:ext cx="6096000" cy="4065651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9240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1719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Verdana"/>
                            </a:rPr>
                            <a:t>Fraction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Verdana"/>
                            </a:rPr>
                            <a:t>Decimal Equivalent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  <a:ea typeface="Verdana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PH" sz="20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PH" sz="20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11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 </a:t>
                          </a:r>
                        </a:p>
                      </a:txBody>
                      <a:tcPr marT="73152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73152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  <a:ea typeface="Verdana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PH" sz="20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PH" sz="20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12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 </a:t>
                          </a:r>
                        </a:p>
                      </a:txBody>
                      <a:tcPr marT="73152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73152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  <a:ea typeface="Verdana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PH" sz="20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PH" sz="20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12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 </a:t>
                          </a:r>
                        </a:p>
                      </a:txBody>
                      <a:tcPr marT="73152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73152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  <a:ea typeface="Verdana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PH" sz="20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en-PH" sz="20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15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 </a:t>
                          </a:r>
                        </a:p>
                      </a:txBody>
                      <a:tcPr marT="73152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73152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  <a:ea typeface="Verdana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PH" sz="20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PH" sz="20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15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 </a:t>
                          </a:r>
                        </a:p>
                      </a:txBody>
                      <a:tcPr marT="73152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73152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  <a:ea typeface="Verdana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PH" sz="20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12</m:t>
                                  </m:r>
                                </m:num>
                                <m:den>
                                  <m:r>
                                    <a:rPr lang="en-PH" sz="20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99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 </a:t>
                          </a:r>
                        </a:p>
                      </a:txBody>
                      <a:tcPr marT="73152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73152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1763813"/>
                  </p:ext>
                </p:extLst>
              </p:nvPr>
            </p:nvGraphicFramePr>
            <p:xfrm>
              <a:off x="1139301" y="1205568"/>
              <a:ext cx="6096000" cy="4065651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92405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417195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4876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Verdana"/>
                            </a:rPr>
                            <a:t>Fraction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Verdana"/>
                            </a:rPr>
                            <a:t>Decimal Equivalent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5949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73152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16" t="-82653" r="-216456" b="-498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73152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5949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73152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16" t="-184536" r="-216456" b="-4041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73152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59563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73152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16" t="-281633" r="-216456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73152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  <a:tr h="59753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73152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16" t="-381633" r="-216456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73152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4"/>
                      </a:ext>
                    </a:extLst>
                  </a:tr>
                  <a:tr h="59753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73152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16" t="-481633" r="-216456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73152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5"/>
                      </a:ext>
                    </a:extLst>
                  </a:tr>
                  <a:tr h="59728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73152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16" t="-581633" r="-2164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73152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2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2;g104476d1465_1_17"/>
          <p:cNvSpPr txBox="1"/>
          <p:nvPr/>
        </p:nvSpPr>
        <p:spPr>
          <a:xfrm>
            <a:off x="8893800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722731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2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2;g104476d1465_1_17"/>
          <p:cNvSpPr txBox="1"/>
          <p:nvPr/>
        </p:nvSpPr>
        <p:spPr>
          <a:xfrm>
            <a:off x="8893800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62315" y="1422791"/>
            <a:ext cx="4468837" cy="38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083900" y="9709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2.3.6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6600" y="38629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31152" y="1467712"/>
            <a:ext cx="10800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highlight>
                  <a:srgbClr val="FFFFFF"/>
                </a:highlight>
                <a:latin typeface="Verdana"/>
                <a:ea typeface="Verdana"/>
                <a:cs typeface="Verdana"/>
              </a:rPr>
              <a:t>Plot a point in one of the quadrants below </a:t>
            </a:r>
            <a:br>
              <a:rPr lang="en-US" sz="2000" dirty="0">
                <a:highlight>
                  <a:srgbClr val="FFFFFF"/>
                </a:highlight>
                <a:latin typeface="Verdana"/>
                <a:ea typeface="Verdana"/>
                <a:cs typeface="Verdana"/>
              </a:rPr>
            </a:br>
            <a:r>
              <a:rPr lang="en-US" sz="2000" dirty="0">
                <a:highlight>
                  <a:srgbClr val="FFFFFF"/>
                </a:highlight>
                <a:latin typeface="Verdana"/>
                <a:ea typeface="Verdana"/>
                <a:cs typeface="Verdana"/>
              </a:rPr>
              <a:t>to indicate where you are on today’s </a:t>
            </a:r>
            <a:br>
              <a:rPr lang="en-US" sz="2000" dirty="0">
                <a:highlight>
                  <a:srgbClr val="FFFFFF"/>
                </a:highlight>
                <a:latin typeface="Verdana"/>
                <a:ea typeface="Verdana"/>
                <a:cs typeface="Verdana"/>
              </a:rPr>
            </a:br>
            <a:r>
              <a:rPr lang="en-US" sz="2000" dirty="0">
                <a:highlight>
                  <a:srgbClr val="FFFFFF"/>
                </a:highlight>
                <a:latin typeface="Verdana"/>
                <a:ea typeface="Verdana"/>
                <a:cs typeface="Verdana"/>
              </a:rPr>
              <a:t>learning targets.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highlight>
                <a:srgbClr val="FFFFFF"/>
              </a:highlight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highlight>
                <a:srgbClr val="FFFFFF"/>
              </a:highlight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highlight>
                <a:srgbClr val="FFFFFF"/>
              </a:highlight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highlight>
                <a:srgbClr val="FFFFFF"/>
              </a:highlight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</a:rPr>
              <a:t>Write one question you still have about </a:t>
            </a:r>
            <a:br>
              <a:rPr lang="en-US" sz="2000" dirty="0">
                <a:latin typeface="Verdana"/>
                <a:ea typeface="Verdana"/>
                <a:cs typeface="Verdana"/>
              </a:rPr>
            </a:br>
            <a:r>
              <a:rPr lang="en-US" sz="2000" dirty="0">
                <a:latin typeface="Verdana"/>
                <a:ea typeface="Verdana"/>
                <a:cs typeface="Verdana"/>
              </a:rPr>
              <a:t>what you learned today.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69767437-9B0B-9D43-A596-1373A90D9FE8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72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282;g104476d1465_1_17"/>
          <p:cNvSpPr txBox="1"/>
          <p:nvPr/>
        </p:nvSpPr>
        <p:spPr>
          <a:xfrm>
            <a:off x="8893800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1438</TotalTime>
  <Words>1311</Words>
  <Application>Microsoft Office PowerPoint</Application>
  <PresentationFormat>Widescreen</PresentationFormat>
  <Paragraphs>252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Cambria</vt:lpstr>
      <vt:lpstr>Arial Black</vt:lpstr>
      <vt:lpstr>Verdana</vt:lpstr>
      <vt:lpstr>Courier New</vt:lpstr>
      <vt:lpstr>Century Gothic</vt:lpstr>
      <vt:lpstr>Arial</vt:lpstr>
      <vt:lpstr>Cambria Math</vt:lpstr>
      <vt:lpstr>Calibri</vt:lpstr>
      <vt:lpstr>1_Office Theme</vt:lpstr>
      <vt:lpstr>7th Grade Math  Unit 2, Lesson 3  Rewriting Numbers in Equivalent Forms  Volume 1, pg. 47  </vt:lpstr>
      <vt:lpstr>PowerPoint Presentation</vt:lpstr>
      <vt:lpstr>PowerPoint Presentation</vt:lpstr>
      <vt:lpstr>PowerPoint Presentation</vt:lpstr>
      <vt:lpstr>Warm-Up</vt:lpstr>
      <vt:lpstr>PowerPoint Presentation</vt:lpstr>
      <vt:lpstr>PowerPoint Presentation</vt:lpstr>
      <vt:lpstr>Refresher</vt:lpstr>
      <vt:lpstr>PowerPoint Presentation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Bring It Together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Cassie O'Connor</cp:lastModifiedBy>
  <cp:revision>43</cp:revision>
  <dcterms:created xsi:type="dcterms:W3CDTF">2015-03-17T18:51:18Z</dcterms:created>
  <dcterms:modified xsi:type="dcterms:W3CDTF">2022-07-11T01:40:44Z</dcterms:modified>
</cp:coreProperties>
</file>