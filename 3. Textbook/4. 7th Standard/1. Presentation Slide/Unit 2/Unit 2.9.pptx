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288" r:id="rId8"/>
    <p:sldId id="314" r:id="rId9"/>
    <p:sldId id="315" r:id="rId10"/>
    <p:sldId id="316" r:id="rId11"/>
    <p:sldId id="317" r:id="rId12"/>
    <p:sldId id="318" r:id="rId13"/>
    <p:sldId id="319" r:id="rId14"/>
    <p:sldId id="320" r:id="rId15"/>
    <p:sldId id="302" r:id="rId16"/>
    <p:sldId id="303" r:id="rId17"/>
    <p:sldId id="309" r:id="rId18"/>
    <p:sldId id="321" r:id="rId19"/>
    <p:sldId id="322" r:id="rId20"/>
    <p:sldId id="306" r:id="rId21"/>
    <p:sldId id="307" r:id="rId22"/>
    <p:sldId id="310" r:id="rId23"/>
  </p:sldIdLst>
  <p:sldSz cx="12192000" cy="6858000"/>
  <p:notesSz cx="6858000" cy="9144000"/>
  <p:embeddedFontLst>
    <p:embeddedFont>
      <p:font typeface="Arial Black" panose="020B0A04020102020204" pitchFamily="34" charset="0"/>
      <p:bold r:id="rId25"/>
    </p:embeddedFont>
    <p:embeddedFont>
      <p:font typeface="Calibri" panose="020F0502020204030204" pitchFamily="34" charset="0"/>
      <p:regular r:id="rId26"/>
      <p:bold r:id="rId27"/>
      <p:italic r:id="rId28"/>
      <p:boldItalic r:id="rId29"/>
    </p:embeddedFont>
    <p:embeddedFont>
      <p:font typeface="Cambria Math" panose="02040503050406030204" pitchFamily="18" charset="0"/>
      <p:regular r:id="rId30"/>
    </p:embeddedFont>
    <p:embeddedFont>
      <p:font typeface="Century Gothic" panose="020B0502020202020204" pitchFamily="34" charset="0"/>
      <p:regular r:id="rId31"/>
      <p:bold r:id="rId32"/>
      <p:italic r:id="rId33"/>
      <p:boldItalic r:id="rId34"/>
    </p:embeddedFont>
    <p:embeddedFont>
      <p:font typeface="Verdana" panose="020B060403050404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647"/>
    <a:srgbClr val="FCBD1E"/>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824"/>
    <p:restoredTop sz="94719"/>
  </p:normalViewPr>
  <p:slideViewPr>
    <p:cSldViewPr snapToGrid="0">
      <p:cViewPr varScale="1">
        <p:scale>
          <a:sx n="55" d="100"/>
          <a:sy n="55" d="100"/>
        </p:scale>
        <p:origin x="90" y="246"/>
      </p:cViewPr>
      <p:guideLst>
        <p:guide orient="horz" pos="2160"/>
        <p:guide pos="3840"/>
      </p:guideLst>
    </p:cSldViewPr>
  </p:slideViewPr>
  <p:notesTextViewPr>
    <p:cViewPr>
      <p:scale>
        <a:sx n="1" d="1"/>
        <a:sy n="1" d="1"/>
      </p:scale>
      <p:origin x="0" y="0"/>
    </p:cViewPr>
  </p:notesTextViewPr>
  <p:sorterViewPr>
    <p:cViewPr>
      <p:scale>
        <a:sx n="100" d="100"/>
        <a:sy n="100" d="100"/>
      </p:scale>
      <p:origin x="0" y="1219"/>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font" Target="fonts/font10.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1723121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54045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540458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54045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
        <p:nvSpPr>
          <p:cNvPr id="7" name="Google Shape;261;g104476d1465_0_0"/>
          <p:cNvSpPr txBox="1">
            <a:spLocks/>
          </p:cNvSpPr>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2, Lesson 9</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Experimental and Theoretical Probabilities from Simulations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78</a:t>
            </a:r>
          </a:p>
          <a:p>
            <a:pPr algn="ctr">
              <a:lnSpc>
                <a:spcPct val="100000"/>
              </a:lnSpc>
              <a:buClr>
                <a:srgbClr val="000000"/>
              </a:buClr>
            </a:pPr>
            <a:endParaRPr lang="en-US" sz="34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9;g104476d1465_1_17"/>
          <p:cNvSpPr txBox="1">
            <a:spLocks/>
          </p:cNvSpPr>
          <p:nvPr/>
        </p:nvSpPr>
        <p:spPr>
          <a:xfrm>
            <a:off x="1151917"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buFont typeface="Century Gothic"/>
              <a:buNone/>
            </a:pPr>
            <a:r>
              <a:rPr lang="en-US" sz="4700" b="1" dirty="0">
                <a:solidFill>
                  <a:srgbClr val="54B5D1"/>
                </a:solidFill>
                <a:latin typeface="Verdana"/>
                <a:ea typeface="Verdana"/>
                <a:cs typeface="Verdana"/>
                <a:sym typeface="Verdana"/>
              </a:rPr>
              <a:t>Benchmarks</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4">
            <a:alphaModFix/>
          </a:blip>
          <a:stretch>
            <a:fillRect/>
          </a:stretch>
        </p:blipFill>
        <p:spPr>
          <a:xfrm>
            <a:off x="328417"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a16="http://schemas.microsoft.com/office/drawing/2014/main" id="{527A9F9F-07B8-ED47-B967-E5507C67DBC5}"/>
              </a:ext>
            </a:extLst>
          </p:cNvPr>
          <p:cNvSpPr txBox="1">
            <a:spLocks/>
          </p:cNvSpPr>
          <p:nvPr/>
        </p:nvSpPr>
        <p:spPr>
          <a:xfrm>
            <a:off x="444683" y="1600200"/>
            <a:ext cx="1032675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a:ea typeface="Verdana"/>
                <a:cs typeface="Verdana"/>
                <a:sym typeface="Verdana"/>
              </a:rPr>
              <a:t>MA.7.DP.2.3</a:t>
            </a:r>
          </a:p>
          <a:p>
            <a:pPr indent="0">
              <a:buNone/>
            </a:pPr>
            <a:r>
              <a:rPr lang="en-US" sz="3600" dirty="0">
                <a:solidFill>
                  <a:schemeClr val="tx1"/>
                </a:solidFill>
                <a:latin typeface="Verdana"/>
                <a:ea typeface="Verdana"/>
                <a:cs typeface="Verdana"/>
                <a:sym typeface="Verdana"/>
              </a:rPr>
              <a:t>Find the theoretical probability of an event related to a simple experiment.</a:t>
            </a:r>
          </a:p>
          <a:p>
            <a:pPr marL="0" indent="0">
              <a:buSzPts val="1100"/>
              <a:buNone/>
            </a:pPr>
            <a:r>
              <a:rPr lang="en-US" sz="3600" dirty="0">
                <a:solidFill>
                  <a:schemeClr val="tx1"/>
                </a:solidFill>
                <a:latin typeface="Verdana"/>
                <a:ea typeface="Verdana"/>
                <a:cs typeface="Verdana"/>
                <a:sym typeface="Verdana"/>
              </a:rPr>
              <a:t>MA.7.DP.2.4</a:t>
            </a:r>
          </a:p>
          <a:p>
            <a:pPr indent="0">
              <a:buNone/>
            </a:pPr>
            <a:r>
              <a:rPr lang="en-US" sz="3600" dirty="0">
                <a:solidFill>
                  <a:schemeClr val="tx1"/>
                </a:solidFill>
                <a:latin typeface="Verdana"/>
                <a:ea typeface="Verdana"/>
                <a:cs typeface="Verdana"/>
                <a:sym typeface="Verdana"/>
              </a:rPr>
              <a:t>Use a simulation of a simple experiment to find experimental probabilities and compare them to theoretical probabilities.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78;g104476d1465_1_17">
            <a:extLst>
              <a:ext uri="{FF2B5EF4-FFF2-40B4-BE49-F238E27FC236}">
                <a16:creationId xmlns:a16="http://schemas.microsoft.com/office/drawing/2014/main" id="{79998D09-ED40-CB40-ADB3-2C926DC27F8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p:pic>
        <p:nvPicPr>
          <p:cNvPr id="10" name="Google Shape;281;g104476d1465_1_17"/>
          <p:cNvPicPr preferRelativeResize="0"/>
          <p:nvPr/>
        </p:nvPicPr>
        <p:blipFill>
          <a:blip r:embed="rId4">
            <a:alphaModFix/>
          </a:blip>
          <a:stretch>
            <a:fillRect/>
          </a:stretch>
        </p:blipFill>
        <p:spPr>
          <a:xfrm>
            <a:off x="329567" y="372300"/>
            <a:ext cx="747300" cy="747300"/>
          </a:xfrm>
          <a:prstGeom prst="rect">
            <a:avLst/>
          </a:prstGeom>
          <a:noFill/>
          <a:ln>
            <a:noFill/>
          </a:ln>
          <a:effectLst>
            <a:outerShdw blurRad="57150" dist="19050" dir="5400000" algn="bl" rotWithShape="0">
              <a:srgbClr val="000000">
                <a:alpha val="50000"/>
              </a:srgbClr>
            </a:outerShdw>
          </a:effectLst>
        </p:spPr>
      </p:pic>
      <p:sp>
        <p:nvSpPr>
          <p:cNvPr id="13" name="Google Shape;295;g103996e1364_0_10">
            <a:extLst>
              <a:ext uri="{FF2B5EF4-FFF2-40B4-BE49-F238E27FC236}">
                <a16:creationId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4" name="Google Shape;296;g103996e1364_0_10">
            <a:extLst>
              <a:ext uri="{FF2B5EF4-FFF2-40B4-BE49-F238E27FC236}">
                <a16:creationId xmlns:a16="http://schemas.microsoft.com/office/drawing/2014/main" id="{A6E18E39-B007-D647-9935-55A748533A45}"/>
              </a:ext>
            </a:extLst>
          </p:cNvPr>
          <p:cNvSpPr txBox="1">
            <a:spLocks/>
          </p:cNvSpPr>
          <p:nvPr/>
        </p:nvSpPr>
        <p:spPr>
          <a:xfrm>
            <a:off x="1154216" y="1596390"/>
            <a:ext cx="1037636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p:sp>
        <p:nvSpPr>
          <p:cNvPr id="11" name="Google Shape;278;g104476d1465_1_17">
            <a:extLst>
              <a:ext uri="{FF2B5EF4-FFF2-40B4-BE49-F238E27FC236}">
                <a16:creationId xmlns:a16="http://schemas.microsoft.com/office/drawing/2014/main" id="{4411E69F-FF2D-4E45-A95C-56414991DB11}"/>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3" name="Google Shape;301;g103996e1364_0_16">
            <a:extLst>
              <a:ext uri="{FF2B5EF4-FFF2-40B4-BE49-F238E27FC236}">
                <a16:creationId xmlns:a16="http://schemas.microsoft.com/office/drawing/2014/main" id="{5771FBFA-7311-BB45-8AFF-04B380531EE6}"/>
              </a:ext>
            </a:extLst>
          </p:cNvPr>
          <p:cNvSpPr txBox="1">
            <a:spLocks/>
          </p:cNvSpPr>
          <p:nvPr/>
        </p:nvSpPr>
        <p:spPr>
          <a:xfrm>
            <a:off x="1108371"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5"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26209" y="319860"/>
            <a:ext cx="747300" cy="747300"/>
          </a:xfrm>
          <a:prstGeom prst="rect">
            <a:avLst/>
          </a:prstGeom>
          <a:noFill/>
          <a:ln>
            <a:noFill/>
          </a:ln>
          <a:effectLst>
            <a:outerShdw blurRad="50800" dist="38100" dir="2700000" algn="tl" rotWithShape="0">
              <a:prstClr val="black">
                <a:alpha val="40000"/>
              </a:prstClr>
            </a:outerShdw>
          </a:effectLst>
        </p:spPr>
      </p:pic>
      <p:sp>
        <p:nvSpPr>
          <p:cNvPr id="16" name="Google Shape;302;g103996e1364_0_16">
            <a:extLst>
              <a:ext uri="{FF2B5EF4-FFF2-40B4-BE49-F238E27FC236}">
                <a16:creationId xmlns:a16="http://schemas.microsoft.com/office/drawing/2014/main" id="{9B7C98EC-F13C-9146-B728-D7044DB4247D}"/>
              </a:ext>
            </a:extLst>
          </p:cNvPr>
          <p:cNvSpPr txBox="1">
            <a:spLocks/>
          </p:cNvSpPr>
          <p:nvPr/>
        </p:nvSpPr>
        <p:spPr>
          <a:xfrm>
            <a:off x="444682" y="160020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28650" indent="-622300">
              <a:buClr>
                <a:srgbClr val="434343"/>
              </a:buClr>
              <a:buSzPts val="3500"/>
              <a:buFont typeface="Verdana"/>
              <a:buChar char="❏"/>
            </a:pPr>
            <a:r>
              <a:rPr lang="en-US" sz="3500" dirty="0">
                <a:solidFill>
                  <a:schemeClr val="tx1"/>
                </a:solidFill>
                <a:latin typeface="Verdana"/>
                <a:ea typeface="Verdana"/>
                <a:cs typeface="Verdana"/>
                <a:sym typeface="Verdana"/>
              </a:rPr>
              <a:t>I can determine the probability of an event from a simulation and compare it to the theoretical probability of the event.</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p:pic>
        <p:nvPicPr>
          <p:cNvPr id="7"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9"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7333" y="279372"/>
            <a:ext cx="10707018"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2.9.1 Warm-Up: Visualizing Probabilities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730266" y="1384294"/>
                <a:ext cx="10975194" cy="3631763"/>
              </a:xfrm>
              <a:prstGeom prst="rect">
                <a:avLst/>
              </a:prstGeom>
              <a:noFill/>
            </p:spPr>
            <p:txBody>
              <a:bodyPr wrap="square" rtlCol="0">
                <a:spAutoFit/>
              </a:bodyPr>
              <a:lstStyle/>
              <a:p>
                <a:r>
                  <a:rPr lang="en-US" sz="2000" dirty="0">
                    <a:latin typeface="Verdana"/>
                    <a:ea typeface="Times New Roman"/>
                    <a:cs typeface="Cambria"/>
                  </a:rPr>
                  <a:t>Ashley places </a:t>
                </a:r>
                <a14:m>
                  <m:oMath xmlns:m="http://schemas.openxmlformats.org/officeDocument/2006/math">
                    <m:r>
                      <a:rPr lang="en-US" sz="2000" i="1">
                        <a:latin typeface="Cambria Math"/>
                        <a:ea typeface="Times New Roman"/>
                        <a:cs typeface="Cambria"/>
                      </a:rPr>
                      <m:t>2</m:t>
                    </m:r>
                  </m:oMath>
                </a14:m>
                <a:r>
                  <a:rPr lang="en-US" sz="2000" dirty="0">
                    <a:latin typeface="Verdana"/>
                    <a:ea typeface="Times New Roman"/>
                    <a:cs typeface="Cambria"/>
                  </a:rPr>
                  <a:t> red marbles, </a:t>
                </a:r>
                <a14:m>
                  <m:oMath xmlns:m="http://schemas.openxmlformats.org/officeDocument/2006/math">
                    <m:r>
                      <a:rPr lang="en-US" sz="2000" i="1">
                        <a:latin typeface="Cambria Math"/>
                        <a:ea typeface="Times New Roman"/>
                        <a:cs typeface="Cambria"/>
                      </a:rPr>
                      <m:t>3</m:t>
                    </m:r>
                  </m:oMath>
                </a14:m>
                <a:r>
                  <a:rPr lang="en-US" sz="2000" dirty="0">
                    <a:latin typeface="Verdana"/>
                    <a:ea typeface="Times New Roman"/>
                    <a:cs typeface="Cambria"/>
                  </a:rPr>
                  <a:t> blue marbles, </a:t>
                </a:r>
                <a14:m>
                  <m:oMath xmlns:m="http://schemas.openxmlformats.org/officeDocument/2006/math">
                    <m:r>
                      <a:rPr lang="en-US" sz="2000" i="1">
                        <a:latin typeface="Cambria Math"/>
                        <a:ea typeface="Times New Roman"/>
                        <a:cs typeface="Cambria"/>
                      </a:rPr>
                      <m:t>4</m:t>
                    </m:r>
                  </m:oMath>
                </a14:m>
                <a:r>
                  <a:rPr lang="en-US" sz="2000" dirty="0">
                    <a:latin typeface="Verdana"/>
                    <a:ea typeface="Times New Roman"/>
                    <a:cs typeface="Cambria"/>
                  </a:rPr>
                  <a:t> yellow marbles, </a:t>
                </a:r>
                <a:br>
                  <a:rPr lang="en-US" sz="2000" dirty="0">
                    <a:latin typeface="Verdana"/>
                    <a:ea typeface="Times New Roman"/>
                    <a:cs typeface="Cambria"/>
                  </a:rPr>
                </a:br>
                <a14:m>
                  <m:oMath xmlns:m="http://schemas.openxmlformats.org/officeDocument/2006/math">
                    <m:r>
                      <a:rPr lang="en-US" sz="2000" i="1">
                        <a:latin typeface="Cambria Math"/>
                        <a:ea typeface="Times New Roman"/>
                        <a:cs typeface="Cambria"/>
                      </a:rPr>
                      <m:t>5</m:t>
                    </m:r>
                  </m:oMath>
                </a14:m>
                <a:r>
                  <a:rPr lang="en-US" sz="2000" dirty="0">
                    <a:latin typeface="Verdana"/>
                    <a:ea typeface="Times New Roman"/>
                    <a:cs typeface="Cambria"/>
                  </a:rPr>
                  <a:t> orange marbles, and </a:t>
                </a:r>
                <a14:m>
                  <m:oMath xmlns:m="http://schemas.openxmlformats.org/officeDocument/2006/math">
                    <m:r>
                      <a:rPr lang="en-US" sz="2000" i="1">
                        <a:latin typeface="Cambria Math"/>
                        <a:ea typeface="Times New Roman"/>
                        <a:cs typeface="Cambria"/>
                      </a:rPr>
                      <m:t>6</m:t>
                    </m:r>
                  </m:oMath>
                </a14:m>
                <a:r>
                  <a:rPr lang="en-US" sz="2000" dirty="0">
                    <a:latin typeface="Verdana"/>
                    <a:ea typeface="Times New Roman"/>
                    <a:cs typeface="Cambria"/>
                  </a:rPr>
                  <a:t> purple marbles in a bag.</a:t>
                </a:r>
              </a:p>
              <a:p>
                <a:pPr>
                  <a:spcBef>
                    <a:spcPts val="1200"/>
                  </a:spcBef>
                </a:pPr>
                <a:r>
                  <a:rPr lang="en-US" sz="2000" dirty="0">
                    <a:latin typeface="Verdana"/>
                    <a:ea typeface="Times New Roman"/>
                    <a:cs typeface="Cambria"/>
                  </a:rPr>
                  <a:t>A representation of the marbles is shown.</a:t>
                </a:r>
              </a:p>
              <a:p>
                <a:pPr>
                  <a:spcBef>
                    <a:spcPts val="1200"/>
                  </a:spcBef>
                </a:pPr>
                <a:endParaRPr lang="en-US" sz="2000" dirty="0">
                  <a:latin typeface="Verdana"/>
                  <a:ea typeface="Verdana" panose="020B0604030504040204" pitchFamily="34" charset="0"/>
                  <a:cs typeface="Verdana" panose="020B0604030504040204" pitchFamily="34" charset="0"/>
                </a:endParaRPr>
              </a:p>
              <a:p>
                <a:pPr>
                  <a:spcBef>
                    <a:spcPts val="1200"/>
                  </a:spcBef>
                </a:pPr>
                <a:endParaRPr lang="en-US" sz="2000" dirty="0">
                  <a:latin typeface="Verdana"/>
                  <a:ea typeface="Verdana" panose="020B0604030504040204" pitchFamily="34" charset="0"/>
                  <a:cs typeface="Verdana" panose="020B0604030504040204" pitchFamily="34" charset="0"/>
                </a:endParaRPr>
              </a:p>
              <a:p>
                <a:pPr marL="457200" indent="-457200">
                  <a:spcBef>
                    <a:spcPts val="1200"/>
                  </a:spcBef>
                  <a:buFont typeface="+mj-lt"/>
                  <a:buAutoNum type="arabicPeriod"/>
                </a:pPr>
                <a:r>
                  <a:rPr lang="en-US" sz="2000" dirty="0">
                    <a:latin typeface="Verdana"/>
                    <a:ea typeface="Times New Roman"/>
                    <a:cs typeface="Cambria"/>
                  </a:rPr>
                  <a:t>Complete the double number line diagrams below by writing values at each tick mark. The top line represents probabilities, and the bottom line represents the number of marbles in the bag.</a:t>
                </a:r>
              </a:p>
              <a:p>
                <a:pPr marL="914400" indent="-457200">
                  <a:spcBef>
                    <a:spcPts val="1200"/>
                  </a:spcBef>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730266" y="1384294"/>
                <a:ext cx="10975194" cy="3631763"/>
              </a:xfrm>
              <a:prstGeom prst="rect">
                <a:avLst/>
              </a:prstGeom>
              <a:blipFill>
                <a:blip r:embed="rId5"/>
                <a:stretch>
                  <a:fillRect l="-611" t="-839" r="-167" b="-2181"/>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733F64CC-F62E-3D45-B066-56DBFBB732F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26" name="Picture 2"/>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932432" y="2675901"/>
            <a:ext cx="8327136" cy="572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712543" y="4823109"/>
            <a:ext cx="6766913" cy="1484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30392" y="756925"/>
                <a:ext cx="11458408" cy="3880421"/>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a:ea typeface="Times New Roman"/>
                    <a:cs typeface="Times New Roman"/>
                  </a:rPr>
                  <a:t>Write a color on each blank to complete the statements.</a:t>
                </a:r>
                <a:br>
                  <a:rPr lang="en-US" sz="2000" dirty="0">
                    <a:latin typeface="Verdana"/>
                    <a:ea typeface="Times New Roman"/>
                    <a:cs typeface="Times New Roman"/>
                  </a:rPr>
                </a:br>
                <a:endParaRPr lang="en-US" sz="2000" dirty="0">
                  <a:latin typeface="Verdana"/>
                  <a:ea typeface="Times New Roman"/>
                  <a:cs typeface="Times New Roman"/>
                </a:endParaRPr>
              </a:p>
              <a:p>
                <a:pPr marL="457200">
                  <a:lnSpc>
                    <a:spcPct val="150000"/>
                  </a:lnSpc>
                </a:pPr>
                <a:r>
                  <a:rPr lang="en-US" sz="2000" dirty="0">
                    <a:latin typeface="Verdana"/>
                    <a:ea typeface="Times New Roman"/>
                    <a:cs typeface="Times New Roman"/>
                  </a:rPr>
                  <a:t>The probability of pulling a ________________ marble out of the bag without looking is </a:t>
                </a:r>
                <a14:m>
                  <m:oMath xmlns:m="http://schemas.openxmlformats.org/officeDocument/2006/math">
                    <m:r>
                      <a:rPr lang="en-US" sz="2000" i="1">
                        <a:latin typeface="Cambria Math"/>
                        <a:ea typeface="Times New Roman"/>
                        <a:cs typeface="Times New Roman"/>
                      </a:rPr>
                      <m:t>0.2</m:t>
                    </m:r>
                  </m:oMath>
                </a14:m>
                <a:r>
                  <a:rPr lang="en-US" sz="2000" dirty="0">
                    <a:latin typeface="Verdana"/>
                    <a:ea typeface="Times New Roman"/>
                    <a:cs typeface="Times New Roman"/>
                  </a:rPr>
                  <a:t>. The probability of pulling a ________________ marble out of the bag without looking is </a:t>
                </a:r>
                <a14:m>
                  <m:oMath xmlns:m="http://schemas.openxmlformats.org/officeDocument/2006/math">
                    <m:r>
                      <a:rPr lang="en-US" sz="2000" i="1">
                        <a:latin typeface="Cambria Math"/>
                        <a:ea typeface="Times New Roman"/>
                        <a:cs typeface="Times New Roman"/>
                      </a:rPr>
                      <m:t>0.25</m:t>
                    </m:r>
                  </m:oMath>
                </a14:m>
                <a:r>
                  <a:rPr lang="en-US" sz="2000" dirty="0">
                    <a:latin typeface="Verdana"/>
                    <a:ea typeface="Times New Roman"/>
                    <a:cs typeface="Times New Roman"/>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30392" y="756925"/>
                <a:ext cx="11458408" cy="3880421"/>
              </a:xfrm>
              <a:prstGeom prst="rect">
                <a:avLst/>
              </a:prstGeom>
              <a:blipFill>
                <a:blip r:embed="rId4"/>
                <a:stretch>
                  <a:fillRect l="-553" t="-651" r="-996" b="-1629"/>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9B2481D9-8B52-C443-ABEF-765D2549936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050"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712543" y="756925"/>
            <a:ext cx="6766913" cy="1489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endParaRPr i="1" dirty="0">
              <a:latin typeface="Calibri"/>
              <a:ea typeface="Calibri"/>
              <a:cs typeface="Calibri"/>
              <a:sym typeface="Calibri"/>
            </a:endParaRPr>
          </a:p>
        </p:txBody>
      </p:sp>
      <p:sp>
        <p:nvSpPr>
          <p:cNvPr id="7" name="Google Shape;313;g104476d1465_1_39"/>
          <p:cNvSpPr txBox="1">
            <a:spLocks/>
          </p:cNvSpPr>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3BEA6"/>
                </a:solidFill>
                <a:latin typeface="Verdana"/>
                <a:ea typeface="Verdana"/>
                <a:cs typeface="Verdana"/>
                <a:sym typeface="Verdana"/>
              </a:rPr>
              <a:t>Collaboration</a:t>
            </a:r>
            <a:endParaRPr lang="en-US" sz="5100" b="1" dirty="0">
              <a:solidFill>
                <a:srgbClr val="33BEA6"/>
              </a:solidFill>
              <a:latin typeface="Verdana"/>
              <a:ea typeface="Verdana"/>
              <a:cs typeface="Verdana"/>
              <a:sym typeface="Verdana"/>
            </a:endParaRPr>
          </a:p>
        </p:txBody>
      </p:sp>
      <p:pic>
        <p:nvPicPr>
          <p:cNvPr id="9"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9839" y="0"/>
            <a:ext cx="1076024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2.9.2 Collaboration: Simulating Probabilities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731520" y="1325700"/>
                <a:ext cx="11133102" cy="4066370"/>
              </a:xfrm>
              <a:prstGeom prst="rect">
                <a:avLst/>
              </a:prstGeom>
              <a:noFill/>
            </p:spPr>
            <p:txBody>
              <a:bodyPr wrap="square" rtlCol="0">
                <a:spAutoFit/>
              </a:bodyPr>
              <a:lstStyle/>
              <a:p>
                <a:pPr marL="457200" indent="-457200">
                  <a:buFont typeface="+mj-lt"/>
                  <a:buAutoNum type="arabicPeriod"/>
                </a:pPr>
                <a:r>
                  <a:rPr lang="en-US" sz="2000" dirty="0">
                    <a:latin typeface="Verdana"/>
                    <a:ea typeface="Times New Roman"/>
                    <a:cs typeface="Times New Roman"/>
                  </a:rPr>
                  <a:t>In the 2019-2020 NBA regular season, Miami Heat player Jimmy Butler made </a:t>
                </a:r>
                <a14:m>
                  <m:oMath xmlns:m="http://schemas.openxmlformats.org/officeDocument/2006/math">
                    <m:f>
                      <m:fPr>
                        <m:ctrlPr>
                          <a:rPr lang="en-US" sz="2000" i="1">
                            <a:latin typeface="Cambria Math" panose="02040503050406030204" pitchFamily="18" charset="0"/>
                            <a:ea typeface="Times New Roman"/>
                            <a:cs typeface="Times New Roman"/>
                          </a:rPr>
                        </m:ctrlPr>
                      </m:fPr>
                      <m:num>
                        <m:r>
                          <a:rPr lang="en-US" sz="2000" i="1">
                            <a:latin typeface="Cambria Math"/>
                            <a:ea typeface="Times New Roman"/>
                            <a:cs typeface="Times New Roman"/>
                          </a:rPr>
                          <m:t>1</m:t>
                        </m:r>
                      </m:num>
                      <m:den>
                        <m:r>
                          <a:rPr lang="en-US" sz="2000" i="1">
                            <a:latin typeface="Cambria Math"/>
                            <a:ea typeface="Times New Roman"/>
                            <a:cs typeface="Times New Roman"/>
                          </a:rPr>
                          <m:t>4</m:t>
                        </m:r>
                      </m:den>
                    </m:f>
                  </m:oMath>
                </a14:m>
                <a:r>
                  <a:rPr lang="en-US" sz="2000" dirty="0">
                    <a:latin typeface="Verdana"/>
                    <a:ea typeface="Times New Roman"/>
                    <a:cs typeface="Times New Roman"/>
                  </a:rPr>
                  <a:t> of the three-point shots he attempted. What was the probability of Jimmy Butler making a three-point shot in the 2019-2020 regular season, represented as a decimal?</a:t>
                </a: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endParaRPr lang="en-US" sz="2000" dirty="0">
                  <a:latin typeface="Verdana"/>
                  <a:ea typeface="Times New Roman"/>
                  <a:cs typeface="Times New Roman"/>
                </a:endParaRPr>
              </a:p>
              <a:p>
                <a:pPr marL="457200" indent="-457200">
                  <a:buFont typeface="+mj-lt"/>
                  <a:buAutoNum type="arabicPeriod"/>
                </a:pPr>
                <a:r>
                  <a:rPr lang="en-US" sz="2000" dirty="0">
                    <a:latin typeface="Verdana"/>
                    <a:ea typeface="Times New Roman"/>
                    <a:cs typeface="Times New Roman"/>
                  </a:rPr>
                  <a:t>Work with your partner to complete each statement to describe ways Jimmy’s three-point shot probability could be simulated using different simple experiments.</a:t>
                </a:r>
              </a:p>
              <a:p>
                <a:pPr marL="914400" indent="-457200">
                  <a:spcBef>
                    <a:spcPts val="1200"/>
                  </a:spcBef>
                  <a:buFont typeface="+mj-lt"/>
                  <a:buAutoNum type="alphaLcPeriod"/>
                </a:pPr>
                <a:r>
                  <a:rPr lang="en-US" sz="2000" dirty="0">
                    <a:latin typeface="Verdana"/>
                    <a:ea typeface="Times New Roman"/>
                    <a:cs typeface="Times New Roman"/>
                  </a:rPr>
                  <a:t>Create a spinner with ____ equal section(s), where ____ section(s) represent(s) Jimmy Butler making a three-point shot and the other(s) represent(s) misses.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731520" y="1325700"/>
                <a:ext cx="11133102" cy="4066370"/>
              </a:xfrm>
              <a:prstGeom prst="rect">
                <a:avLst/>
              </a:prstGeom>
              <a:blipFill>
                <a:blip r:embed="rId5"/>
                <a:stretch>
                  <a:fillRect l="-602" r="-1095" b="-1647"/>
                </a:stretch>
              </a:blipFill>
            </p:spPr>
            <p:txBody>
              <a:bodyPr/>
              <a:lstStyle/>
              <a:p>
                <a:r>
                  <a:rPr lang="en-US">
                    <a:noFill/>
                  </a:rPr>
                  <a:t> </a:t>
                </a:r>
              </a:p>
            </p:txBody>
          </p:sp>
        </mc:Fallback>
      </mc:AlternateContent>
      <p:sp>
        <p:nvSpPr>
          <p:cNvPr id="12" name="Google Shape;278;g104476d1465_1_17">
            <a:extLst>
              <a:ext uri="{FF2B5EF4-FFF2-40B4-BE49-F238E27FC236}">
                <a16:creationId xmlns:a16="http://schemas.microsoft.com/office/drawing/2014/main" id="{6A18DD6C-446D-A641-972C-BC7EF386945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3"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304614" y="458290"/>
                <a:ext cx="11458408" cy="2092881"/>
              </a:xfrm>
              <a:prstGeom prst="rect">
                <a:avLst/>
              </a:prstGeom>
              <a:noFill/>
            </p:spPr>
            <p:txBody>
              <a:bodyPr wrap="square" rtlCol="0">
                <a:spAutoFit/>
              </a:bodyPr>
              <a:lstStyle/>
              <a:p>
                <a:pPr marL="914400" indent="-457200">
                  <a:buFont typeface="+mj-lt"/>
                  <a:buAutoNum type="alphaLcPeriod" startAt="2"/>
                </a:pPr>
                <a:r>
                  <a:rPr lang="en-US" sz="2000" dirty="0">
                    <a:latin typeface="Verdana"/>
                    <a:ea typeface="Times New Roman"/>
                    <a:cs typeface="Times New Roman"/>
                  </a:rPr>
                  <a:t>Place twelve equal-sized slips of paper with the numbers </a:t>
                </a:r>
                <a14:m>
                  <m:oMath xmlns:m="http://schemas.openxmlformats.org/officeDocument/2006/math">
                    <m:r>
                      <a:rPr lang="en-US" sz="2000" i="1">
                        <a:latin typeface="Cambria Math"/>
                        <a:ea typeface="Times New Roman"/>
                        <a:cs typeface="Times New Roman"/>
                      </a:rPr>
                      <m:t>1−12</m:t>
                    </m:r>
                  </m:oMath>
                </a14:m>
                <a:r>
                  <a:rPr lang="en-US" sz="2000" dirty="0">
                    <a:latin typeface="Verdana"/>
                    <a:ea typeface="Times New Roman"/>
                    <a:cs typeface="Times New Roman"/>
                  </a:rPr>
                  <a:t> written on them in a bag. Papers with the numbers ______________ represent Jimmy Butler making a three-point shot and the others represent misses.</a:t>
                </a:r>
              </a:p>
              <a:p>
                <a:pPr marL="914400" indent="-457200">
                  <a:spcBef>
                    <a:spcPts val="1200"/>
                  </a:spcBef>
                  <a:buFont typeface="+mj-lt"/>
                  <a:buAutoNum type="alphaLcPeriod" startAt="2"/>
                </a:pPr>
                <a:r>
                  <a:rPr lang="en-US" sz="2000" dirty="0">
                    <a:latin typeface="Verdana"/>
                    <a:ea typeface="Times New Roman"/>
                    <a:cs typeface="Times New Roman"/>
                  </a:rPr>
                  <a:t>Use a standard deck of </a:t>
                </a:r>
                <a14:m>
                  <m:oMath xmlns:m="http://schemas.openxmlformats.org/officeDocument/2006/math">
                    <m:r>
                      <a:rPr lang="en-US" sz="2000" i="1">
                        <a:latin typeface="Cambria Math"/>
                        <a:ea typeface="Times New Roman"/>
                        <a:cs typeface="Times New Roman"/>
                      </a:rPr>
                      <m:t>52</m:t>
                    </m:r>
                  </m:oMath>
                </a14:m>
                <a:r>
                  <a:rPr lang="en-US" sz="2000" dirty="0">
                    <a:latin typeface="Verdana"/>
                    <a:ea typeface="Times New Roman"/>
                    <a:cs typeface="Times New Roman"/>
                  </a:rPr>
                  <a:t> cards where _____________</a:t>
                </a:r>
                <a:br>
                  <a:rPr lang="en-US" sz="2000" dirty="0">
                    <a:latin typeface="Verdana"/>
                    <a:ea typeface="Times New Roman"/>
                    <a:cs typeface="Times New Roman"/>
                  </a:rPr>
                </a:br>
                <a:r>
                  <a:rPr lang="en-US" sz="2000" dirty="0">
                    <a:latin typeface="Verdana"/>
                    <a:ea typeface="Times New Roman"/>
                    <a:cs typeface="Times New Roman"/>
                  </a:rPr>
                  <a:t>represent Jimmy Butler making a three-point shot and the other cards represent misses.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304614" y="458290"/>
                <a:ext cx="11458408" cy="2092881"/>
              </a:xfrm>
              <a:prstGeom prst="rect">
                <a:avLst/>
              </a:prstGeom>
              <a:blipFill>
                <a:blip r:embed="rId4"/>
                <a:stretch>
                  <a:fillRect t="-1818" r="-886" b="-4242"/>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C2F4C951-E46B-E944-87E2-3B81D09643B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074" name="Picture 2"/>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657475" y="3043923"/>
            <a:ext cx="6877050" cy="292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endParaRPr i="1" dirty="0">
              <a:latin typeface="Calibri"/>
              <a:ea typeface="Calibri"/>
              <a:cs typeface="Calibri"/>
              <a:sym typeface="Calibri"/>
            </a:endParaRPr>
          </a:p>
        </p:txBody>
      </p:sp>
    </p:spTree>
    <p:extLst>
      <p:ext uri="{BB962C8B-B14F-4D97-AF65-F5344CB8AC3E}">
        <p14:creationId xmlns:p14="http://schemas.microsoft.com/office/powerpoint/2010/main" val="1251846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416032" y="444533"/>
                <a:ext cx="11414724" cy="1785104"/>
              </a:xfrm>
              <a:prstGeom prst="rect">
                <a:avLst/>
              </a:prstGeom>
              <a:noFill/>
            </p:spPr>
            <p:txBody>
              <a:bodyPr wrap="square" rtlCol="0">
                <a:spAutoFit/>
              </a:bodyPr>
              <a:lstStyle/>
              <a:p>
                <a:pPr marL="457200" indent="-457200">
                  <a:buFont typeface="+mj-lt"/>
                  <a:buAutoNum type="arabicPeriod" startAt="3"/>
                </a:pPr>
                <a:r>
                  <a:rPr lang="en-US" sz="2000" dirty="0">
                    <a:latin typeface="Verdana"/>
                    <a:ea typeface="Times New Roman"/>
                    <a:cs typeface="Times New Roman"/>
                  </a:rPr>
                  <a:t>Suppose in the first post-season game that year, Jimmy Butler attempted </a:t>
                </a:r>
                <a14:m>
                  <m:oMath xmlns:m="http://schemas.openxmlformats.org/officeDocument/2006/math">
                    <m:r>
                      <a:rPr lang="en-US" sz="2000" i="1">
                        <a:latin typeface="Cambria Math"/>
                        <a:ea typeface="Times New Roman"/>
                        <a:cs typeface="Times New Roman"/>
                      </a:rPr>
                      <m:t>5</m:t>
                    </m:r>
                  </m:oMath>
                </a14:m>
                <a:r>
                  <a:rPr lang="en-US" sz="2000" dirty="0">
                    <a:latin typeface="Verdana"/>
                    <a:ea typeface="Times New Roman"/>
                    <a:cs typeface="Times New Roman"/>
                  </a:rPr>
                  <a:t> three-point shots. Choose one of the simulations from the previous question and work with your partner or group to simulate the number of three-point shots Jimmy made.</a:t>
                </a:r>
              </a:p>
              <a:p>
                <a:pPr marL="914400" indent="-457200">
                  <a:spcBef>
                    <a:spcPts val="1200"/>
                  </a:spcBef>
                  <a:buFont typeface="+mj-lt"/>
                  <a:buAutoNum type="alphaLcPeriod"/>
                </a:pPr>
                <a:r>
                  <a:rPr lang="en-US" sz="2000" dirty="0">
                    <a:latin typeface="Verdana"/>
                    <a:ea typeface="Times New Roman"/>
                    <a:cs typeface="Times New Roman"/>
                  </a:rPr>
                  <a:t>Repeat the simulation </a:t>
                </a:r>
                <a14:m>
                  <m:oMath xmlns:m="http://schemas.openxmlformats.org/officeDocument/2006/math">
                    <m:r>
                      <a:rPr lang="en-US" sz="2000" i="1">
                        <a:latin typeface="Cambria Math"/>
                        <a:ea typeface="Times New Roman"/>
                        <a:cs typeface="Times New Roman"/>
                      </a:rPr>
                      <m:t>5</m:t>
                    </m:r>
                  </m:oMath>
                </a14:m>
                <a:r>
                  <a:rPr lang="en-US" sz="2000" dirty="0">
                    <a:latin typeface="Verdana"/>
                    <a:ea typeface="Times New Roman"/>
                    <a:cs typeface="Times New Roman"/>
                  </a:rPr>
                  <a:t> times and record your results in the table.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416032" y="444533"/>
                <a:ext cx="11414724" cy="1785104"/>
              </a:xfrm>
              <a:prstGeom prst="rect">
                <a:avLst/>
              </a:prstGeom>
              <a:blipFill>
                <a:blip r:embed="rId4"/>
                <a:stretch>
                  <a:fillRect l="-556" t="-2128" b="-4965"/>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C2F4C951-E46B-E944-87E2-3B81D09643B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606166779"/>
                  </p:ext>
                </p:extLst>
              </p:nvPr>
            </p:nvGraphicFramePr>
            <p:xfrm>
              <a:off x="2484120" y="2913318"/>
              <a:ext cx="7223760" cy="2860675"/>
            </p:xfrm>
            <a:graphic>
              <a:graphicData uri="http://schemas.openxmlformats.org/drawingml/2006/table">
                <a:tbl>
                  <a:tblPr firstRow="1" bandRow="1">
                    <a:tableStyleId>{A91F0D33-8C57-4600-99A7-42BC86742BE1}</a:tableStyleId>
                  </a:tblPr>
                  <a:tblGrid>
                    <a:gridCol w="18288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370840">
                    <a:tc>
                      <a:txBody>
                        <a:bodyPr/>
                        <a:lstStyle/>
                        <a:p>
                          <a:pPr algn="ctr"/>
                          <a:endParaRPr lang="en-US" sz="18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latin typeface="Verdana" pitchFamily="34" charset="0"/>
                              <a:ea typeface="Verdana" pitchFamily="34" charset="0"/>
                            </a:rPr>
                            <a:t>Shot 1</a:t>
                          </a:r>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 2</a:t>
                          </a:r>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a:t>
                          </a:r>
                          <a:r>
                            <a:rPr lang="en-US" sz="1800" b="1" baseline="0" dirty="0">
                              <a:latin typeface="Verdana" pitchFamily="34" charset="0"/>
                              <a:ea typeface="Verdana" pitchFamily="34" charset="0"/>
                            </a:rPr>
                            <a:t> 3</a:t>
                          </a:r>
                          <a:endParaRPr lang="en-US" sz="1800" b="1" dirty="0">
                            <a:latin typeface="Verdana" pitchFamily="34" charset="0"/>
                            <a:ea typeface="Verdana" pitchFamily="34" charset="0"/>
                          </a:endParaRPr>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 4</a:t>
                          </a:r>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 5</a:t>
                          </a:r>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Fraction Made</a:t>
                          </a:r>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a:r>
                            <a:rPr lang="en-US" sz="1800" b="1" dirty="0">
                              <a:latin typeface="Verdana" pitchFamily="34" charset="0"/>
                              <a:ea typeface="Verdana" pitchFamily="34" charset="0"/>
                            </a:rPr>
                            <a:t>Simulation 1</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14:m>
                            <m:oMath xmlns:m="http://schemas.openxmlformats.org/officeDocument/2006/math">
                              <m:f>
                                <m:fPr>
                                  <m:ctrlPr>
                                    <a:rPr lang="en-US" sz="2000" i="1" smtClean="0">
                                      <a:latin typeface="Cambria Math" panose="02040503050406030204" pitchFamily="18" charset="0"/>
                                      <a:ea typeface="Verdana" pitchFamily="34" charset="0"/>
                                    </a:rPr>
                                  </m:ctrlPr>
                                </m:fPr>
                                <m:num>
                                  <m:r>
                                    <a:rPr lang="en-US" sz="2000" b="0" i="1" smtClean="0">
                                      <a:latin typeface="Cambria Math"/>
                                      <a:ea typeface="Verdana" pitchFamily="34" charset="0"/>
                                    </a:rPr>
                                    <m:t> </m:t>
                                  </m:r>
                                </m:num>
                                <m:den>
                                  <m:r>
                                    <a:rPr lang="en-US" sz="2000" b="0" i="1" smtClean="0">
                                      <a:latin typeface="Cambria Math"/>
                                      <a:ea typeface="Verdana" pitchFamily="34" charset="0"/>
                                    </a:rPr>
                                    <m:t>  5  </m:t>
                                  </m:r>
                                </m:den>
                              </m:f>
                            </m:oMath>
                          </a14:m>
                          <a:r>
                            <a:rPr lang="en-US" sz="2000" dirty="0">
                              <a:latin typeface="Verdana" pitchFamily="34" charset="0"/>
                              <a:ea typeface="Verdana"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2</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f>
                                <m:fPr>
                                  <m:ctrlPr>
                                    <a:rPr lang="en-US" sz="2000" i="1" smtClean="0">
                                      <a:latin typeface="Cambria Math" panose="02040503050406030204" pitchFamily="18" charset="0"/>
                                      <a:ea typeface="Verdana" pitchFamily="34" charset="0"/>
                                    </a:rPr>
                                  </m:ctrlPr>
                                </m:fPr>
                                <m:num>
                                  <m:r>
                                    <a:rPr lang="en-US" sz="2000" b="0" i="1" smtClean="0">
                                      <a:latin typeface="Cambria Math"/>
                                      <a:ea typeface="Verdana" pitchFamily="34" charset="0"/>
                                    </a:rPr>
                                    <m:t> </m:t>
                                  </m:r>
                                </m:num>
                                <m:den>
                                  <m:r>
                                    <a:rPr lang="en-US" sz="2000" b="0" i="1" smtClean="0">
                                      <a:latin typeface="Cambria Math"/>
                                      <a:ea typeface="Verdana" pitchFamily="34" charset="0"/>
                                    </a:rPr>
                                    <m:t>  5  </m:t>
                                  </m:r>
                                </m:den>
                              </m:f>
                            </m:oMath>
                          </a14:m>
                          <a:r>
                            <a:rPr lang="en-US" sz="2000" dirty="0">
                              <a:latin typeface="Verdana" pitchFamily="34" charset="0"/>
                              <a:ea typeface="Verdana"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3</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f>
                                <m:fPr>
                                  <m:ctrlPr>
                                    <a:rPr lang="en-US" sz="2000" i="1" smtClean="0">
                                      <a:latin typeface="Cambria Math" panose="02040503050406030204" pitchFamily="18" charset="0"/>
                                      <a:ea typeface="Verdana" pitchFamily="34" charset="0"/>
                                    </a:rPr>
                                  </m:ctrlPr>
                                </m:fPr>
                                <m:num>
                                  <m:r>
                                    <a:rPr lang="en-US" sz="2000" b="0" i="1" smtClean="0">
                                      <a:latin typeface="Cambria Math"/>
                                      <a:ea typeface="Verdana" pitchFamily="34" charset="0"/>
                                    </a:rPr>
                                    <m:t> </m:t>
                                  </m:r>
                                </m:num>
                                <m:den>
                                  <m:r>
                                    <a:rPr lang="en-US" sz="2000" b="0" i="1" smtClean="0">
                                      <a:latin typeface="Cambria Math"/>
                                      <a:ea typeface="Verdana" pitchFamily="34" charset="0"/>
                                    </a:rPr>
                                    <m:t>  5  </m:t>
                                  </m:r>
                                </m:den>
                              </m:f>
                            </m:oMath>
                          </a14:m>
                          <a:r>
                            <a:rPr lang="en-US" sz="2000" dirty="0">
                              <a:latin typeface="Verdana" pitchFamily="34" charset="0"/>
                              <a:ea typeface="Verdana"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4</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f>
                                <m:fPr>
                                  <m:ctrlPr>
                                    <a:rPr lang="en-US" sz="2000" i="1" smtClean="0">
                                      <a:latin typeface="Cambria Math" panose="02040503050406030204" pitchFamily="18" charset="0"/>
                                      <a:ea typeface="Verdana" pitchFamily="34" charset="0"/>
                                    </a:rPr>
                                  </m:ctrlPr>
                                </m:fPr>
                                <m:num>
                                  <m:r>
                                    <a:rPr lang="en-US" sz="2000" b="0" i="1" smtClean="0">
                                      <a:latin typeface="Cambria Math"/>
                                      <a:ea typeface="Verdana" pitchFamily="34" charset="0"/>
                                    </a:rPr>
                                    <m:t> </m:t>
                                  </m:r>
                                </m:num>
                                <m:den>
                                  <m:r>
                                    <a:rPr lang="en-US" sz="2000" b="0" i="1" smtClean="0">
                                      <a:latin typeface="Cambria Math"/>
                                      <a:ea typeface="Verdana" pitchFamily="34" charset="0"/>
                                    </a:rPr>
                                    <m:t>  5  </m:t>
                                  </m:r>
                                </m:den>
                              </m:f>
                            </m:oMath>
                          </a14:m>
                          <a:r>
                            <a:rPr lang="en-US" sz="2000" dirty="0">
                              <a:latin typeface="Verdana" pitchFamily="34" charset="0"/>
                              <a:ea typeface="Verdana"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5</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f>
                                <m:fPr>
                                  <m:ctrlPr>
                                    <a:rPr lang="en-US" sz="2000" i="1" smtClean="0">
                                      <a:latin typeface="Cambria Math" panose="02040503050406030204" pitchFamily="18" charset="0"/>
                                      <a:ea typeface="Verdana" pitchFamily="34" charset="0"/>
                                    </a:rPr>
                                  </m:ctrlPr>
                                </m:fPr>
                                <m:num>
                                  <m:r>
                                    <a:rPr lang="en-US" sz="2000" b="0" i="1" smtClean="0">
                                      <a:latin typeface="Cambria Math"/>
                                      <a:ea typeface="Verdana" pitchFamily="34" charset="0"/>
                                    </a:rPr>
                                    <m:t> </m:t>
                                  </m:r>
                                </m:num>
                                <m:den>
                                  <m:r>
                                    <a:rPr lang="en-US" sz="2000" b="0" i="1" smtClean="0">
                                      <a:latin typeface="Cambria Math"/>
                                      <a:ea typeface="Verdana" pitchFamily="34" charset="0"/>
                                    </a:rPr>
                                    <m:t>  5  </m:t>
                                  </m:r>
                                </m:den>
                              </m:f>
                            </m:oMath>
                          </a14:m>
                          <a:r>
                            <a:rPr lang="en-US" sz="2000" dirty="0">
                              <a:latin typeface="Verdana" pitchFamily="34" charset="0"/>
                              <a:ea typeface="Verdana"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606166779"/>
                  </p:ext>
                </p:extLst>
              </p:nvPr>
            </p:nvGraphicFramePr>
            <p:xfrm>
              <a:off x="2484120" y="2913318"/>
              <a:ext cx="7223760" cy="2860675"/>
            </p:xfrm>
            <a:graphic>
              <a:graphicData uri="http://schemas.openxmlformats.org/drawingml/2006/table">
                <a:tbl>
                  <a:tblPr firstRow="1" bandRow="1">
                    <a:tableStyleId>{A91F0D33-8C57-4600-99A7-42BC86742BE1}</a:tableStyleId>
                  </a:tblPr>
                  <a:tblGrid>
                    <a:gridCol w="1828800">
                      <a:extLst>
                        <a:ext uri="{9D8B030D-6E8A-4147-A177-3AD203B41FA5}">
                          <a16:colId xmlns:a16="http://schemas.microsoft.com/office/drawing/2014/main" xmlns:a14="http://schemas.microsoft.com/office/drawing/2010/main" xmlns="" val="20000"/>
                        </a:ext>
                      </a:extLst>
                    </a:gridCol>
                    <a:gridCol w="822960">
                      <a:extLst>
                        <a:ext uri="{9D8B030D-6E8A-4147-A177-3AD203B41FA5}">
                          <a16:colId xmlns:a16="http://schemas.microsoft.com/office/drawing/2014/main" xmlns:a14="http://schemas.microsoft.com/office/drawing/2010/main" xmlns="" val="20001"/>
                        </a:ext>
                      </a:extLst>
                    </a:gridCol>
                    <a:gridCol w="822960">
                      <a:extLst>
                        <a:ext uri="{9D8B030D-6E8A-4147-A177-3AD203B41FA5}">
                          <a16:colId xmlns:a16="http://schemas.microsoft.com/office/drawing/2014/main" xmlns:a14="http://schemas.microsoft.com/office/drawing/2010/main" xmlns="" val="20002"/>
                        </a:ext>
                      </a:extLst>
                    </a:gridCol>
                    <a:gridCol w="822960">
                      <a:extLst>
                        <a:ext uri="{9D8B030D-6E8A-4147-A177-3AD203B41FA5}">
                          <a16:colId xmlns:a16="http://schemas.microsoft.com/office/drawing/2014/main" xmlns:a14="http://schemas.microsoft.com/office/drawing/2010/main" xmlns="" val="20003"/>
                        </a:ext>
                      </a:extLst>
                    </a:gridCol>
                    <a:gridCol w="822960">
                      <a:extLst>
                        <a:ext uri="{9D8B030D-6E8A-4147-A177-3AD203B41FA5}">
                          <a16:colId xmlns:a16="http://schemas.microsoft.com/office/drawing/2014/main" xmlns:a14="http://schemas.microsoft.com/office/drawing/2010/main" xmlns="" val="20004"/>
                        </a:ext>
                      </a:extLst>
                    </a:gridCol>
                    <a:gridCol w="822960">
                      <a:extLst>
                        <a:ext uri="{9D8B030D-6E8A-4147-A177-3AD203B41FA5}">
                          <a16:colId xmlns:a16="http://schemas.microsoft.com/office/drawing/2014/main" xmlns:a14="http://schemas.microsoft.com/office/drawing/2010/main" xmlns="" val="20005"/>
                        </a:ext>
                      </a:extLst>
                    </a:gridCol>
                    <a:gridCol w="1280160">
                      <a:extLst>
                        <a:ext uri="{9D8B030D-6E8A-4147-A177-3AD203B41FA5}">
                          <a16:colId xmlns:a16="http://schemas.microsoft.com/office/drawing/2014/main" xmlns:a14="http://schemas.microsoft.com/office/drawing/2010/main" xmlns="" val="20006"/>
                        </a:ext>
                      </a:extLst>
                    </a:gridCol>
                  </a:tblGrid>
                  <a:tr h="548640">
                    <a:tc>
                      <a:txBody>
                        <a:bodyPr/>
                        <a:lstStyle/>
                        <a:p>
                          <a:pPr algn="ctr"/>
                          <a:endParaRPr lang="en-US" sz="18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latin typeface="Verdana" pitchFamily="34" charset="0"/>
                              <a:ea typeface="Verdana" pitchFamily="34" charset="0"/>
                            </a:rPr>
                            <a:t>Shot 1</a:t>
                          </a:r>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 2</a:t>
                          </a:r>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a:t>
                          </a:r>
                          <a:r>
                            <a:rPr lang="en-US" sz="1800" b="1" baseline="0" dirty="0">
                              <a:latin typeface="Verdana" pitchFamily="34" charset="0"/>
                              <a:ea typeface="Verdana" pitchFamily="34" charset="0"/>
                            </a:rPr>
                            <a:t> 3</a:t>
                          </a:r>
                          <a:endParaRPr lang="en-US" sz="1800" b="1" dirty="0">
                            <a:latin typeface="Verdana" pitchFamily="34" charset="0"/>
                            <a:ea typeface="Verdana" pitchFamily="34" charset="0"/>
                          </a:endParaRPr>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 4</a:t>
                          </a:r>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Shot 5</a:t>
                          </a:r>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Fraction Made</a:t>
                          </a:r>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462407">
                    <a:tc>
                      <a:txBody>
                        <a:bodyPr/>
                        <a:lstStyle/>
                        <a:p>
                          <a:pPr algn="ctr"/>
                          <a:r>
                            <a:rPr lang="en-US" sz="1800" b="1" dirty="0">
                              <a:latin typeface="Verdana" pitchFamily="34" charset="0"/>
                              <a:ea typeface="Verdana" pitchFamily="34" charset="0"/>
                            </a:rPr>
                            <a:t>Simulation 1</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464762" t="-135526" b="-409211"/>
                          </a:stretch>
                        </a:blipFill>
                      </a:tcPr>
                    </a:tc>
                    <a:extLst>
                      <a:ext uri="{0D108BD9-81ED-4DB2-BD59-A6C34878D82A}">
                        <a16:rowId xmlns:a16="http://schemas.microsoft.com/office/drawing/2014/main" xmlns:a14="http://schemas.microsoft.com/office/drawing/2010/main" xmlns="" val="10001"/>
                      </a:ext>
                    </a:extLst>
                  </a:tr>
                  <a:tr h="462407">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2</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464762" t="-235526" b="-309211"/>
                          </a:stretch>
                        </a:blipFill>
                      </a:tcPr>
                    </a:tc>
                    <a:extLst>
                      <a:ext uri="{0D108BD9-81ED-4DB2-BD59-A6C34878D82A}">
                        <a16:rowId xmlns:a16="http://schemas.microsoft.com/office/drawing/2014/main" xmlns:a14="http://schemas.microsoft.com/office/drawing/2010/main" xmlns="" val="10002"/>
                      </a:ext>
                    </a:extLst>
                  </a:tr>
                  <a:tr h="462407">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3</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464762" t="-340000" b="-213333"/>
                          </a:stretch>
                        </a:blipFill>
                      </a:tcPr>
                    </a:tc>
                    <a:extLst>
                      <a:ext uri="{0D108BD9-81ED-4DB2-BD59-A6C34878D82A}">
                        <a16:rowId xmlns:a16="http://schemas.microsoft.com/office/drawing/2014/main" xmlns:a14="http://schemas.microsoft.com/office/drawing/2010/main" xmlns="" val="10003"/>
                      </a:ext>
                    </a:extLst>
                  </a:tr>
                  <a:tr h="462407">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4</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464762" t="-434211" b="-110526"/>
                          </a:stretch>
                        </a:blipFill>
                      </a:tcPr>
                    </a:tc>
                    <a:extLst>
                      <a:ext uri="{0D108BD9-81ED-4DB2-BD59-A6C34878D82A}">
                        <a16:rowId xmlns:a16="http://schemas.microsoft.com/office/drawing/2014/main" xmlns:a14="http://schemas.microsoft.com/office/drawing/2010/main" xmlns="" val="10004"/>
                      </a:ext>
                    </a:extLst>
                  </a:tr>
                  <a:tr h="462407">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Verdana" pitchFamily="34" charset="0"/>
                              <a:ea typeface="Verdana" pitchFamily="34" charset="0"/>
                            </a:rPr>
                            <a:t>Simulation 5</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464762" t="-534211" b="-10526"/>
                          </a:stretch>
                        </a:blipFill>
                      </a:tcPr>
                    </a:tc>
                    <a:extLst>
                      <a:ext uri="{0D108BD9-81ED-4DB2-BD59-A6C34878D82A}">
                        <a16:rowId xmlns:a16="http://schemas.microsoft.com/office/drawing/2014/main" xmlns:a14="http://schemas.microsoft.com/office/drawing/2010/main" xmlns="" val="10005"/>
                      </a:ext>
                    </a:extLst>
                  </a:tr>
                </a:tbl>
              </a:graphicData>
            </a:graphic>
          </p:graphicFrame>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endParaRPr i="1" dirty="0">
              <a:latin typeface="Calibri"/>
              <a:ea typeface="Calibri"/>
              <a:cs typeface="Calibri"/>
              <a:sym typeface="Calibri"/>
            </a:endParaRPr>
          </a:p>
        </p:txBody>
      </p:sp>
    </p:spTree>
    <p:extLst>
      <p:ext uri="{BB962C8B-B14F-4D97-AF65-F5344CB8AC3E}">
        <p14:creationId xmlns:p14="http://schemas.microsoft.com/office/powerpoint/2010/main" val="585869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111600" y="478399"/>
                <a:ext cx="12080400" cy="3663952"/>
              </a:xfrm>
              <a:prstGeom prst="rect">
                <a:avLst/>
              </a:prstGeom>
              <a:noFill/>
            </p:spPr>
            <p:txBody>
              <a:bodyPr wrap="square" rtlCol="0">
                <a:spAutoFit/>
              </a:bodyPr>
              <a:lstStyle/>
              <a:p>
                <a:pPr marL="914400" indent="-457200">
                  <a:spcBef>
                    <a:spcPts val="1200"/>
                  </a:spcBef>
                  <a:buFont typeface="+mj-lt"/>
                  <a:buAutoNum type="alphaLcPeriod" startAt="2"/>
                </a:pPr>
                <a:r>
                  <a:rPr lang="en-US" sz="2400" dirty="0">
                    <a:latin typeface="Verdana"/>
                    <a:ea typeface="Times New Roman"/>
                    <a:cs typeface="Times New Roman"/>
                  </a:rPr>
                  <a:t>Based on your group’s simulations, estimate the probability that Jimmy Butler made </a:t>
                </a:r>
                <a14:m>
                  <m:oMath xmlns:m="http://schemas.openxmlformats.org/officeDocument/2006/math">
                    <m:f>
                      <m:fPr>
                        <m:ctrlPr>
                          <a:rPr lang="en-US" sz="2400" i="1">
                            <a:latin typeface="Cambria Math" panose="02040503050406030204" pitchFamily="18" charset="0"/>
                            <a:ea typeface="Times New Roman"/>
                            <a:cs typeface="Times New Roman"/>
                          </a:rPr>
                        </m:ctrlPr>
                      </m:fPr>
                      <m:num>
                        <m:r>
                          <a:rPr lang="en-US" sz="2400" i="1">
                            <a:latin typeface="Cambria Math"/>
                            <a:ea typeface="Times New Roman"/>
                            <a:cs typeface="Times New Roman"/>
                          </a:rPr>
                          <m:t>2</m:t>
                        </m:r>
                      </m:num>
                      <m:den>
                        <m:r>
                          <a:rPr lang="en-US" sz="2400" i="1">
                            <a:latin typeface="Cambria Math"/>
                            <a:ea typeface="Times New Roman"/>
                            <a:cs typeface="Times New Roman"/>
                          </a:rPr>
                          <m:t>5</m:t>
                        </m:r>
                      </m:den>
                    </m:f>
                  </m:oMath>
                </a14:m>
                <a:r>
                  <a:rPr lang="en-US" sz="2400" dirty="0">
                    <a:latin typeface="Verdana"/>
                    <a:ea typeface="Times New Roman"/>
                    <a:cs typeface="Times New Roman"/>
                  </a:rPr>
                  <a:t> of the three-point shots he attempted in </a:t>
                </a:r>
                <a:br>
                  <a:rPr lang="en-US" sz="2400" dirty="0">
                    <a:latin typeface="Verdana"/>
                    <a:ea typeface="Times New Roman"/>
                    <a:cs typeface="Times New Roman"/>
                  </a:rPr>
                </a:br>
                <a:r>
                  <a:rPr lang="en-US" sz="2400" dirty="0">
                    <a:latin typeface="Verdana"/>
                    <a:ea typeface="Times New Roman"/>
                    <a:cs typeface="Times New Roman"/>
                  </a:rPr>
                  <a:t>the game.</a:t>
                </a:r>
              </a:p>
              <a:p>
                <a:pPr marL="914400" indent="-457200">
                  <a:spcBef>
                    <a:spcPts val="1200"/>
                  </a:spcBef>
                  <a:buFont typeface="+mj-lt"/>
                  <a:buAutoNum type="alphaLcPeriod" startAt="2"/>
                </a:pPr>
                <a:endParaRPr lang="en-US" sz="2400" dirty="0">
                  <a:latin typeface="Verdana"/>
                  <a:ea typeface="Verdana" panose="020B0604030504040204" pitchFamily="34" charset="0"/>
                  <a:cs typeface="Times New Roman"/>
                </a:endParaRPr>
              </a:p>
              <a:p>
                <a:pPr marL="914400" indent="-457200">
                  <a:spcBef>
                    <a:spcPts val="1200"/>
                  </a:spcBef>
                  <a:buFont typeface="+mj-lt"/>
                  <a:buAutoNum type="alphaLcPeriod" startAt="2"/>
                </a:pPr>
                <a:endParaRPr lang="en-US" sz="2400" dirty="0">
                  <a:latin typeface="Verdana"/>
                  <a:ea typeface="Verdana" panose="020B0604030504040204" pitchFamily="34" charset="0"/>
                  <a:cs typeface="Times New Roman"/>
                </a:endParaRPr>
              </a:p>
              <a:p>
                <a:pPr marL="914400" indent="-457200">
                  <a:spcBef>
                    <a:spcPts val="1200"/>
                  </a:spcBef>
                  <a:buFont typeface="+mj-lt"/>
                  <a:buAutoNum type="alphaLcPeriod" startAt="2"/>
                </a:pPr>
                <a:r>
                  <a:rPr lang="en-US" sz="2400" dirty="0">
                    <a:latin typeface="Verdana"/>
                    <a:ea typeface="Times New Roman"/>
                    <a:cs typeface="Times New Roman"/>
                  </a:rPr>
                  <a:t>Jimmy Butler actually made </a:t>
                </a:r>
                <a14:m>
                  <m:oMath xmlns:m="http://schemas.openxmlformats.org/officeDocument/2006/math">
                    <m:r>
                      <a:rPr lang="en-US" sz="2400" i="1">
                        <a:latin typeface="Cambria Math"/>
                        <a:ea typeface="Times New Roman"/>
                        <a:cs typeface="Times New Roman"/>
                      </a:rPr>
                      <m:t>3</m:t>
                    </m:r>
                  </m:oMath>
                </a14:m>
                <a:r>
                  <a:rPr lang="en-US" sz="2400" dirty="0">
                    <a:latin typeface="Verdana"/>
                    <a:ea typeface="Times New Roman"/>
                    <a:cs typeface="Times New Roman"/>
                  </a:rPr>
                  <a:t> out of the </a:t>
                </a:r>
                <a14:m>
                  <m:oMath xmlns:m="http://schemas.openxmlformats.org/officeDocument/2006/math">
                    <m:r>
                      <a:rPr lang="en-US" sz="2400" i="1">
                        <a:latin typeface="Cambria Math"/>
                        <a:ea typeface="Times New Roman"/>
                        <a:cs typeface="Times New Roman"/>
                      </a:rPr>
                      <m:t>5</m:t>
                    </m:r>
                  </m:oMath>
                </a14:m>
                <a:r>
                  <a:rPr lang="en-US" sz="2400" dirty="0">
                    <a:latin typeface="Verdana"/>
                    <a:ea typeface="Times New Roman"/>
                    <a:cs typeface="Times New Roman"/>
                  </a:rPr>
                  <a:t> three-point shots he attempted in the game. Explain how that compares to your group’s simulation results.</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111600" y="478399"/>
                <a:ext cx="12080400" cy="3663952"/>
              </a:xfrm>
              <a:prstGeom prst="rect">
                <a:avLst/>
              </a:prstGeom>
              <a:blipFill>
                <a:blip r:embed="rId4"/>
                <a:stretch>
                  <a:fillRect t="-1379" b="-3103"/>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C2F4C951-E46B-E944-87E2-3B81D09643B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endParaRPr i="1" dirty="0">
              <a:latin typeface="Calibri"/>
              <a:ea typeface="Calibri"/>
              <a:cs typeface="Calibri"/>
              <a:sym typeface="Calibri"/>
            </a:endParaRPr>
          </a:p>
        </p:txBody>
      </p:sp>
    </p:spTree>
    <p:extLst>
      <p:ext uri="{BB962C8B-B14F-4D97-AF65-F5344CB8AC3E}">
        <p14:creationId xmlns:p14="http://schemas.microsoft.com/office/powerpoint/2010/main" val="2243034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607942" y="442605"/>
                <a:ext cx="11121213" cy="2617063"/>
              </a:xfrm>
              <a:prstGeom prst="rect">
                <a:avLst/>
              </a:prstGeom>
              <a:noFill/>
            </p:spPr>
            <p:txBody>
              <a:bodyPr wrap="square" rtlCol="0">
                <a:spAutoFit/>
              </a:bodyPr>
              <a:lstStyle/>
              <a:p>
                <a:pPr marL="457200" indent="-457200">
                  <a:buFont typeface="+mj-lt"/>
                  <a:buAutoNum type="arabicPeriod" startAt="4"/>
                </a:pPr>
                <a:r>
                  <a:rPr lang="en-US" sz="2400" dirty="0">
                    <a:latin typeface="Verdana"/>
                    <a:ea typeface="Times New Roman"/>
                    <a:cs typeface="Times New Roman"/>
                  </a:rPr>
                  <a:t>In the 2019-2020 NBA regular season, Orlando Magic player Aaron Gordon made </a:t>
                </a:r>
                <a14:m>
                  <m:oMath xmlns:m="http://schemas.openxmlformats.org/officeDocument/2006/math">
                    <m:f>
                      <m:fPr>
                        <m:ctrlPr>
                          <a:rPr lang="en-US" sz="2400" i="1">
                            <a:latin typeface="Cambria Math" panose="02040503050406030204" pitchFamily="18" charset="0"/>
                            <a:ea typeface="Times New Roman"/>
                            <a:cs typeface="Times New Roman"/>
                          </a:rPr>
                        </m:ctrlPr>
                      </m:fPr>
                      <m:num>
                        <m:r>
                          <a:rPr lang="en-US" sz="2400" i="1">
                            <a:latin typeface="Cambria Math"/>
                            <a:ea typeface="Times New Roman"/>
                            <a:cs typeface="Times New Roman"/>
                          </a:rPr>
                          <m:t>2</m:t>
                        </m:r>
                      </m:num>
                      <m:den>
                        <m:r>
                          <a:rPr lang="en-US" sz="2400" i="1">
                            <a:latin typeface="Cambria Math"/>
                            <a:ea typeface="Times New Roman"/>
                            <a:cs typeface="Times New Roman"/>
                          </a:rPr>
                          <m:t>3</m:t>
                        </m:r>
                      </m:den>
                    </m:f>
                  </m:oMath>
                </a14:m>
                <a:r>
                  <a:rPr lang="en-US" sz="2400" dirty="0">
                    <a:latin typeface="Verdana"/>
                    <a:ea typeface="Times New Roman"/>
                    <a:cs typeface="Times New Roman"/>
                  </a:rPr>
                  <a:t> of free-throw shots attempted. Work with your partner to describe how each of the following could be used to simulate his attempted free-throw shots.</a:t>
                </a:r>
              </a:p>
              <a:p>
                <a:endParaRPr lang="en-US" sz="2400" dirty="0">
                  <a:latin typeface="Verdana"/>
                  <a:ea typeface="Times New Roman"/>
                  <a:cs typeface="Times New Roman"/>
                </a:endParaRPr>
              </a:p>
              <a:p>
                <a:pPr marL="914400" indent="-457200">
                  <a:spcBef>
                    <a:spcPts val="1200"/>
                  </a:spcBef>
                  <a:buFont typeface="+mj-lt"/>
                  <a:buAutoNum type="alphaLcPeriod"/>
                </a:pPr>
                <a:r>
                  <a:rPr lang="en-US" sz="2400" dirty="0">
                    <a:latin typeface="Verdana"/>
                    <a:ea typeface="Times New Roman"/>
                    <a:cs typeface="Times New Roman"/>
                  </a:rPr>
                  <a:t>A fair </a:t>
                </a:r>
                <a14:m>
                  <m:oMath xmlns:m="http://schemas.openxmlformats.org/officeDocument/2006/math">
                    <m:r>
                      <a:rPr lang="en-US" sz="2400" i="1">
                        <a:latin typeface="Cambria Math"/>
                        <a:ea typeface="Times New Roman"/>
                        <a:cs typeface="Times New Roman"/>
                      </a:rPr>
                      <m:t>6</m:t>
                    </m:r>
                  </m:oMath>
                </a14:m>
                <a:r>
                  <a:rPr lang="en-US" sz="2400" dirty="0">
                    <a:latin typeface="Verdana"/>
                    <a:ea typeface="Times New Roman"/>
                    <a:cs typeface="Times New Roman"/>
                  </a:rPr>
                  <a:t>-sided die</a:t>
                </a: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607942" y="442605"/>
                <a:ext cx="11121213" cy="2617063"/>
              </a:xfrm>
              <a:prstGeom prst="rect">
                <a:avLst/>
              </a:prstGeom>
              <a:blipFill>
                <a:blip r:embed="rId4"/>
                <a:stretch>
                  <a:fillRect l="-913" t="-1942" r="-342" b="-4854"/>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C2F4C951-E46B-E944-87E2-3B81D09643B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80</a:t>
            </a:r>
            <a:endParaRPr i="1" dirty="0">
              <a:latin typeface="Calibri"/>
              <a:ea typeface="Calibri"/>
              <a:cs typeface="Calibri"/>
              <a:sym typeface="Calibri"/>
            </a:endParaRPr>
          </a:p>
        </p:txBody>
      </p:sp>
    </p:spTree>
    <p:extLst>
      <p:ext uri="{BB962C8B-B14F-4D97-AF65-F5344CB8AC3E}">
        <p14:creationId xmlns:p14="http://schemas.microsoft.com/office/powerpoint/2010/main" val="2839208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304614" y="455820"/>
                <a:ext cx="8327136" cy="3600986"/>
              </a:xfrm>
              <a:prstGeom prst="rect">
                <a:avLst/>
              </a:prstGeom>
              <a:noFill/>
            </p:spPr>
            <p:txBody>
              <a:bodyPr wrap="square" rtlCol="0">
                <a:spAutoFit/>
              </a:bodyPr>
              <a:lstStyle/>
              <a:p>
                <a:pPr marL="914400" indent="-457200">
                  <a:spcBef>
                    <a:spcPts val="1200"/>
                  </a:spcBef>
                  <a:buFont typeface="+mj-lt"/>
                  <a:buAutoNum type="alphaLcPeriod" startAt="2"/>
                </a:pPr>
                <a:r>
                  <a:rPr lang="en-US" sz="2400" dirty="0">
                    <a:latin typeface="Verdana"/>
                    <a:ea typeface="Times New Roman"/>
                    <a:cs typeface="Times New Roman"/>
                  </a:rPr>
                  <a:t>A standard </a:t>
                </a:r>
                <a14:m>
                  <m:oMath xmlns:m="http://schemas.openxmlformats.org/officeDocument/2006/math">
                    <m:r>
                      <a:rPr lang="en-US" sz="2400" i="1">
                        <a:latin typeface="Cambria Math"/>
                        <a:ea typeface="Times New Roman"/>
                        <a:cs typeface="Times New Roman"/>
                      </a:rPr>
                      <m:t>52</m:t>
                    </m:r>
                  </m:oMath>
                </a14:m>
                <a:r>
                  <a:rPr lang="en-US" sz="2400" dirty="0">
                    <a:latin typeface="Verdana"/>
                    <a:ea typeface="Times New Roman"/>
                    <a:cs typeface="Times New Roman"/>
                  </a:rPr>
                  <a:t>-card deck</a:t>
                </a:r>
              </a:p>
              <a:p>
                <a:pPr marL="914400" indent="-457200">
                  <a:spcBef>
                    <a:spcPts val="1200"/>
                  </a:spcBef>
                  <a:buFont typeface="+mj-lt"/>
                  <a:buAutoNum type="alphaLcPeriod" startAt="2"/>
                </a:pPr>
                <a:endParaRPr lang="en-US" sz="2400" dirty="0">
                  <a:latin typeface="Verdana"/>
                  <a:ea typeface="Times New Roman"/>
                  <a:cs typeface="Times New Roman"/>
                </a:endParaRPr>
              </a:p>
              <a:p>
                <a:pPr marL="914400" indent="-457200">
                  <a:spcBef>
                    <a:spcPts val="1200"/>
                  </a:spcBef>
                  <a:buFont typeface="+mj-lt"/>
                  <a:buAutoNum type="alphaLcPeriod" startAt="2"/>
                </a:pPr>
                <a:endParaRPr lang="en-US" sz="2400" dirty="0">
                  <a:latin typeface="Verdana"/>
                  <a:ea typeface="Times New Roman"/>
                  <a:cs typeface="Times New Roman"/>
                </a:endParaRPr>
              </a:p>
              <a:p>
                <a:pPr marL="914400" indent="-457200">
                  <a:spcBef>
                    <a:spcPts val="1200"/>
                  </a:spcBef>
                  <a:buFont typeface="+mj-lt"/>
                  <a:buAutoNum type="alphaLcPeriod" startAt="2"/>
                </a:pPr>
                <a:endParaRPr lang="en-US" sz="2400" dirty="0">
                  <a:latin typeface="Verdana"/>
                  <a:ea typeface="Verdana" panose="020B0604030504040204" pitchFamily="34" charset="0"/>
                  <a:cs typeface="Times New Roman"/>
                </a:endParaRPr>
              </a:p>
              <a:p>
                <a:pPr marL="914400" indent="-457200">
                  <a:spcBef>
                    <a:spcPts val="1200"/>
                  </a:spcBef>
                  <a:buFont typeface="+mj-lt"/>
                  <a:buAutoNum type="alphaLcPeriod" startAt="2"/>
                </a:pPr>
                <a:endParaRPr lang="en-US" sz="2400" dirty="0">
                  <a:latin typeface="Verdana"/>
                  <a:ea typeface="Verdana" panose="020B0604030504040204" pitchFamily="34" charset="0"/>
                  <a:cs typeface="Times New Roman"/>
                </a:endParaRPr>
              </a:p>
              <a:p>
                <a:pPr marL="914400" indent="-457200">
                  <a:spcBef>
                    <a:spcPts val="1200"/>
                  </a:spcBef>
                  <a:buFont typeface="+mj-lt"/>
                  <a:buAutoNum type="alphaLcPeriod" startAt="2"/>
                </a:pPr>
                <a:endParaRPr lang="en-US" sz="2400" dirty="0">
                  <a:latin typeface="Verdana"/>
                  <a:ea typeface="Verdana" panose="020B0604030504040204" pitchFamily="34" charset="0"/>
                  <a:cs typeface="Times New Roman"/>
                </a:endParaRPr>
              </a:p>
              <a:p>
                <a:pPr marL="914400" indent="-457200">
                  <a:spcBef>
                    <a:spcPts val="1200"/>
                  </a:spcBef>
                  <a:buFont typeface="+mj-lt"/>
                  <a:buAutoNum type="alphaLcPeriod" startAt="2"/>
                </a:pPr>
                <a:r>
                  <a:rPr lang="en-US" sz="2400" dirty="0">
                    <a:latin typeface="Verdana"/>
                    <a:ea typeface="Times New Roman"/>
                    <a:cs typeface="Times New Roman"/>
                  </a:rPr>
                  <a:t>Different colored marbles placed in a bag</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304614" y="455820"/>
                <a:ext cx="8327136" cy="3600986"/>
              </a:xfrm>
              <a:prstGeom prst="rect">
                <a:avLst/>
              </a:prstGeom>
              <a:blipFill>
                <a:blip r:embed="rId4"/>
                <a:stretch>
                  <a:fillRect t="-1408" b="-3169"/>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C2F4C951-E46B-E944-87E2-3B81D09643B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80</a:t>
            </a:r>
            <a:endParaRPr i="1" dirty="0">
              <a:latin typeface="Calibri"/>
              <a:ea typeface="Calibri"/>
              <a:cs typeface="Calibri"/>
              <a:sym typeface="Calibri"/>
            </a:endParaRPr>
          </a:p>
        </p:txBody>
      </p:sp>
    </p:spTree>
    <p:extLst>
      <p:ext uri="{BB962C8B-B14F-4D97-AF65-F5344CB8AC3E}">
        <p14:creationId xmlns:p14="http://schemas.microsoft.com/office/powerpoint/2010/main" val="2306412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80</a:t>
            </a:r>
            <a:endParaRPr i="1" dirty="0">
              <a:latin typeface="Calibri"/>
              <a:ea typeface="Calibri"/>
              <a:cs typeface="Calibri"/>
              <a:sym typeface="Calibri"/>
            </a:endParaRPr>
          </a:p>
        </p:txBody>
      </p:sp>
      <p:sp>
        <p:nvSpPr>
          <p:cNvPr id="9"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E24E5F"/>
                </a:solidFill>
                <a:latin typeface="Verdana"/>
                <a:ea typeface="Verdana"/>
                <a:cs typeface="Verdana"/>
                <a:sym typeface="Verdana"/>
              </a:rPr>
              <a:t>Your Turn</a:t>
            </a:r>
            <a:endParaRPr lang="en-US" sz="5100" b="1" dirty="0">
              <a:solidFill>
                <a:srgbClr val="E24E5F"/>
              </a:solidFill>
              <a:latin typeface="Verdana"/>
              <a:ea typeface="Verdana"/>
              <a:cs typeface="Verdana"/>
              <a:sym typeface="Verdana"/>
            </a:endParaRPr>
          </a:p>
        </p:txBody>
      </p:sp>
      <p:pic>
        <p:nvPicPr>
          <p:cNvPr id="10"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03916" y="224256"/>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2.9.3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730266" y="1242291"/>
                <a:ext cx="11100490" cy="2554545"/>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rPr>
                  <a:t>Suppose a fair six-sided die numbered </a:t>
                </a:r>
                <a14:m>
                  <m:oMath xmlns:m="http://schemas.openxmlformats.org/officeDocument/2006/math">
                    <m:r>
                      <a:rPr lang="en-US" sz="2000" i="1">
                        <a:latin typeface="Cambria Math"/>
                        <a:ea typeface="Times New Roman"/>
                        <a:cs typeface="Cambria"/>
                      </a:rPr>
                      <m:t>1</m:t>
                    </m:r>
                  </m:oMath>
                </a14:m>
                <a:r>
                  <a:rPr lang="en-US" sz="2000" dirty="0">
                    <a:latin typeface="Verdana"/>
                    <a:ea typeface="Verdana"/>
                    <a:cs typeface="Verdana"/>
                  </a:rPr>
                  <a:t> through </a:t>
                </a:r>
                <a14:m>
                  <m:oMath xmlns:m="http://schemas.openxmlformats.org/officeDocument/2006/math">
                    <m:r>
                      <a:rPr lang="en-US" sz="2000" i="1">
                        <a:latin typeface="Cambria Math"/>
                        <a:ea typeface="Times New Roman"/>
                        <a:cs typeface="Cambria"/>
                      </a:rPr>
                      <m:t>6</m:t>
                    </m:r>
                  </m:oMath>
                </a14:m>
                <a:r>
                  <a:rPr lang="en-US" sz="2000" dirty="0">
                    <a:latin typeface="Verdana"/>
                    <a:ea typeface="Verdana"/>
                    <a:cs typeface="Verdana"/>
                  </a:rPr>
                  <a:t> is rolled </a:t>
                </a:r>
                <a14:m>
                  <m:oMath xmlns:m="http://schemas.openxmlformats.org/officeDocument/2006/math">
                    <m:r>
                      <a:rPr lang="en-US" sz="2000" i="1">
                        <a:latin typeface="Cambria Math"/>
                        <a:ea typeface="Verdana"/>
                        <a:cs typeface="Verdana"/>
                      </a:rPr>
                      <m:t>12</m:t>
                    </m:r>
                  </m:oMath>
                </a14:m>
                <a:r>
                  <a:rPr lang="en-US" sz="2000" dirty="0">
                    <a:latin typeface="Verdana"/>
                    <a:ea typeface="Verdana"/>
                    <a:cs typeface="Verdana"/>
                  </a:rPr>
                  <a:t> times.</a:t>
                </a:r>
              </a:p>
              <a:p>
                <a:pPr marL="914400" indent="-457200">
                  <a:spcBef>
                    <a:spcPts val="1200"/>
                  </a:spcBef>
                  <a:buFont typeface="+mj-lt"/>
                  <a:buAutoNum type="alphaLcPeriod"/>
                </a:pPr>
                <a:r>
                  <a:rPr lang="en-US" sz="2000" dirty="0">
                    <a:latin typeface="Verdana"/>
                    <a:ea typeface="Verdana"/>
                    <a:cs typeface="Verdana"/>
                  </a:rPr>
                  <a:t>Of those </a:t>
                </a:r>
                <a14:m>
                  <m:oMath xmlns:m="http://schemas.openxmlformats.org/officeDocument/2006/math">
                    <m:r>
                      <a:rPr lang="en-US" sz="2000" i="1">
                        <a:latin typeface="Cambria Math"/>
                        <a:ea typeface="Verdana"/>
                        <a:cs typeface="Verdana"/>
                      </a:rPr>
                      <m:t>12</m:t>
                    </m:r>
                  </m:oMath>
                </a14:m>
                <a:r>
                  <a:rPr lang="en-US" sz="2000" dirty="0">
                    <a:latin typeface="Verdana"/>
                    <a:ea typeface="Verdana"/>
                    <a:cs typeface="Verdana"/>
                  </a:rPr>
                  <a:t> rolls, how many do you expect will land on the number </a:t>
                </a:r>
                <a14:m>
                  <m:oMath xmlns:m="http://schemas.openxmlformats.org/officeDocument/2006/math">
                    <m:r>
                      <a:rPr lang="en-US" sz="2000" i="1">
                        <a:latin typeface="Cambria Math"/>
                        <a:ea typeface="Times New Roman"/>
                        <a:cs typeface="Cambria"/>
                      </a:rPr>
                      <m:t>3</m:t>
                    </m:r>
                  </m:oMath>
                </a14:m>
                <a:r>
                  <a:rPr lang="en-US" sz="2000" dirty="0">
                    <a:latin typeface="Verdana"/>
                    <a:ea typeface="Verdana"/>
                    <a:cs typeface="Verdana"/>
                  </a:rPr>
                  <a:t>?</a:t>
                </a:r>
                <a:br>
                  <a:rPr lang="en-US" sz="2000" dirty="0">
                    <a:latin typeface="Verdana"/>
                    <a:ea typeface="Verdana"/>
                    <a:cs typeface="Verdana"/>
                  </a:rPr>
                </a:br>
                <a:br>
                  <a:rPr lang="en-US" sz="2000" dirty="0">
                    <a:latin typeface="Verdana"/>
                    <a:ea typeface="Verdana"/>
                    <a:cs typeface="Verdana"/>
                  </a:rPr>
                </a:br>
                <a:r>
                  <a:rPr lang="en-US" sz="2000" dirty="0">
                    <a:latin typeface="Verdana"/>
                    <a:ea typeface="Verdana"/>
                    <a:cs typeface="Verdana"/>
                  </a:rPr>
                  <a:t>____ times out of </a:t>
                </a:r>
                <a14:m>
                  <m:oMath xmlns:m="http://schemas.openxmlformats.org/officeDocument/2006/math">
                    <m:r>
                      <a:rPr lang="en-US" sz="2000" i="1">
                        <a:latin typeface="Cambria Math"/>
                        <a:ea typeface="Verdana"/>
                        <a:cs typeface="Verdana"/>
                      </a:rPr>
                      <m:t>12</m:t>
                    </m:r>
                  </m:oMath>
                </a14:m>
                <a:r>
                  <a:rPr lang="en-US" sz="2000" dirty="0">
                    <a:latin typeface="Verdana"/>
                    <a:ea typeface="Verdana"/>
                    <a:cs typeface="Verdana"/>
                  </a:rPr>
                  <a:t> rolls</a:t>
                </a:r>
                <a:br>
                  <a:rPr lang="en-US" sz="2000" dirty="0">
                    <a:latin typeface="Verdana"/>
                    <a:ea typeface="Verdana"/>
                    <a:cs typeface="Verdana"/>
                  </a:rPr>
                </a:br>
                <a:endParaRPr lang="en-US" sz="2000" dirty="0">
                  <a:latin typeface="Verdana"/>
                  <a:ea typeface="Verdana"/>
                  <a:cs typeface="Verdana"/>
                </a:endParaRPr>
              </a:p>
              <a:p>
                <a:pPr marL="914400" indent="-457200">
                  <a:spcBef>
                    <a:spcPts val="1200"/>
                  </a:spcBef>
                  <a:buFont typeface="+mj-lt"/>
                  <a:buAutoNum type="alphaLcPeriod"/>
                </a:pPr>
                <a:r>
                  <a:rPr lang="en-US" sz="2000" dirty="0">
                    <a:latin typeface="Verdana"/>
                    <a:ea typeface="Verdana"/>
                    <a:cs typeface="Verdana"/>
                  </a:rPr>
                  <a:t>Roll a standard six-sided die </a:t>
                </a:r>
                <a14:m>
                  <m:oMath xmlns:m="http://schemas.openxmlformats.org/officeDocument/2006/math">
                    <m:r>
                      <a:rPr lang="en-US" sz="2000" i="1">
                        <a:latin typeface="Cambria Math"/>
                        <a:ea typeface="Verdana"/>
                        <a:cs typeface="Verdana"/>
                      </a:rPr>
                      <m:t>12</m:t>
                    </m:r>
                  </m:oMath>
                </a14:m>
                <a:r>
                  <a:rPr lang="en-US" sz="2000" dirty="0">
                    <a:latin typeface="Verdana"/>
                    <a:ea typeface="Verdana"/>
                    <a:cs typeface="Verdana"/>
                  </a:rPr>
                  <a:t> times and record the number on the top of the cube when it lands.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730266" y="1242291"/>
                <a:ext cx="11100490" cy="2554545"/>
              </a:xfrm>
              <a:prstGeom prst="rect">
                <a:avLst/>
              </a:prstGeom>
              <a:blipFill>
                <a:blip r:embed="rId5"/>
                <a:stretch>
                  <a:fillRect l="-571" t="-985" b="-2956"/>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134A47CD-5DBB-654A-843E-9182A1B8FB7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3273743857"/>
              </p:ext>
            </p:extLst>
          </p:nvPr>
        </p:nvGraphicFramePr>
        <p:xfrm>
          <a:off x="2100941" y="4318678"/>
          <a:ext cx="8359140" cy="1360080"/>
        </p:xfrm>
        <a:graphic>
          <a:graphicData uri="http://schemas.openxmlformats.org/drawingml/2006/table">
            <a:tbl>
              <a:tblPr firstRow="1" bandRow="1">
                <a:tableStyleId>{A91F0D33-8C57-4600-99A7-42BC86742BE1}</a:tableStyleId>
              </a:tblPr>
              <a:tblGrid>
                <a:gridCol w="696595">
                  <a:extLst>
                    <a:ext uri="{9D8B030D-6E8A-4147-A177-3AD203B41FA5}">
                      <a16:colId xmlns:a16="http://schemas.microsoft.com/office/drawing/2014/main" val="20000"/>
                    </a:ext>
                  </a:extLst>
                </a:gridCol>
                <a:gridCol w="696595">
                  <a:extLst>
                    <a:ext uri="{9D8B030D-6E8A-4147-A177-3AD203B41FA5}">
                      <a16:colId xmlns:a16="http://schemas.microsoft.com/office/drawing/2014/main" val="20001"/>
                    </a:ext>
                  </a:extLst>
                </a:gridCol>
                <a:gridCol w="696595">
                  <a:extLst>
                    <a:ext uri="{9D8B030D-6E8A-4147-A177-3AD203B41FA5}">
                      <a16:colId xmlns:a16="http://schemas.microsoft.com/office/drawing/2014/main" val="20002"/>
                    </a:ext>
                  </a:extLst>
                </a:gridCol>
                <a:gridCol w="696595">
                  <a:extLst>
                    <a:ext uri="{9D8B030D-6E8A-4147-A177-3AD203B41FA5}">
                      <a16:colId xmlns:a16="http://schemas.microsoft.com/office/drawing/2014/main" val="20003"/>
                    </a:ext>
                  </a:extLst>
                </a:gridCol>
                <a:gridCol w="696595">
                  <a:extLst>
                    <a:ext uri="{9D8B030D-6E8A-4147-A177-3AD203B41FA5}">
                      <a16:colId xmlns:a16="http://schemas.microsoft.com/office/drawing/2014/main" val="20004"/>
                    </a:ext>
                  </a:extLst>
                </a:gridCol>
                <a:gridCol w="696595">
                  <a:extLst>
                    <a:ext uri="{9D8B030D-6E8A-4147-A177-3AD203B41FA5}">
                      <a16:colId xmlns:a16="http://schemas.microsoft.com/office/drawing/2014/main" val="20005"/>
                    </a:ext>
                  </a:extLst>
                </a:gridCol>
                <a:gridCol w="696595">
                  <a:extLst>
                    <a:ext uri="{9D8B030D-6E8A-4147-A177-3AD203B41FA5}">
                      <a16:colId xmlns:a16="http://schemas.microsoft.com/office/drawing/2014/main" val="20006"/>
                    </a:ext>
                  </a:extLst>
                </a:gridCol>
                <a:gridCol w="696595">
                  <a:extLst>
                    <a:ext uri="{9D8B030D-6E8A-4147-A177-3AD203B41FA5}">
                      <a16:colId xmlns:a16="http://schemas.microsoft.com/office/drawing/2014/main" val="20007"/>
                    </a:ext>
                  </a:extLst>
                </a:gridCol>
                <a:gridCol w="696595">
                  <a:extLst>
                    <a:ext uri="{9D8B030D-6E8A-4147-A177-3AD203B41FA5}">
                      <a16:colId xmlns:a16="http://schemas.microsoft.com/office/drawing/2014/main" val="20008"/>
                    </a:ext>
                  </a:extLst>
                </a:gridCol>
                <a:gridCol w="696595">
                  <a:extLst>
                    <a:ext uri="{9D8B030D-6E8A-4147-A177-3AD203B41FA5}">
                      <a16:colId xmlns:a16="http://schemas.microsoft.com/office/drawing/2014/main" val="20009"/>
                    </a:ext>
                  </a:extLst>
                </a:gridCol>
                <a:gridCol w="696595">
                  <a:extLst>
                    <a:ext uri="{9D8B030D-6E8A-4147-A177-3AD203B41FA5}">
                      <a16:colId xmlns:a16="http://schemas.microsoft.com/office/drawing/2014/main" val="20010"/>
                    </a:ext>
                  </a:extLst>
                </a:gridCol>
                <a:gridCol w="696595">
                  <a:extLst>
                    <a:ext uri="{9D8B030D-6E8A-4147-A177-3AD203B41FA5}">
                      <a16:colId xmlns:a16="http://schemas.microsoft.com/office/drawing/2014/main" val="20011"/>
                    </a:ext>
                  </a:extLst>
                </a:gridCol>
              </a:tblGrid>
              <a:tr h="370840">
                <a:tc>
                  <a:txBody>
                    <a:bodyPr/>
                    <a:lstStyle/>
                    <a:p>
                      <a:pPr algn="ctr"/>
                      <a:r>
                        <a:rPr lang="en-US" sz="1800" b="1" dirty="0">
                          <a:latin typeface="Verdana" pitchFamily="34" charset="0"/>
                          <a:ea typeface="Verdana" pitchFamily="34" charset="0"/>
                        </a:rPr>
                        <a:t>Roll</a:t>
                      </a:r>
                      <a:r>
                        <a:rPr lang="en-US" sz="1800" b="1" baseline="0" dirty="0">
                          <a:latin typeface="Verdana" pitchFamily="34" charset="0"/>
                          <a:ea typeface="Verdana" pitchFamily="34" charset="0"/>
                        </a:rPr>
                        <a:t> 1</a:t>
                      </a:r>
                      <a:endParaRPr lang="en-US" sz="1800" b="1" dirty="0">
                        <a:latin typeface="Verdana" pitchFamily="34" charset="0"/>
                        <a:ea typeface="Verdana" pitchFamily="34" charset="0"/>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2</a:t>
                      </a: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3</a:t>
                      </a: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4</a:t>
                      </a: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5</a:t>
                      </a: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6</a:t>
                      </a: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7</a:t>
                      </a: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8</a:t>
                      </a: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9</a:t>
                      </a: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a:t>
                      </a:r>
                      <a:r>
                        <a:rPr lang="en-US" sz="1800" b="1" baseline="0" dirty="0">
                          <a:latin typeface="Verdana" pitchFamily="34" charset="0"/>
                          <a:ea typeface="Verdana" pitchFamily="34" charset="0"/>
                        </a:rPr>
                        <a:t> 10</a:t>
                      </a:r>
                      <a:endParaRPr lang="en-US" sz="1800" b="1" dirty="0">
                        <a:latin typeface="Verdana" pitchFamily="34" charset="0"/>
                        <a:ea typeface="Verdana" pitchFamily="34" charset="0"/>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11</a:t>
                      </a: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800" b="1" dirty="0">
                          <a:latin typeface="Verdana" pitchFamily="34" charset="0"/>
                          <a:ea typeface="Verdana" pitchFamily="34" charset="0"/>
                        </a:rPr>
                        <a:t>Roll 12</a:t>
                      </a: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20000">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3"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80</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304613" y="454919"/>
                <a:ext cx="10803653" cy="4708981"/>
              </a:xfrm>
              <a:prstGeom prst="rect">
                <a:avLst/>
              </a:prstGeom>
              <a:noFill/>
            </p:spPr>
            <p:txBody>
              <a:bodyPr wrap="square" rtlCol="0">
                <a:spAutoFit/>
              </a:bodyPr>
              <a:lstStyle/>
              <a:p>
                <a:pPr marL="914400" indent="-457200">
                  <a:buFont typeface="+mj-lt"/>
                  <a:buAutoNum type="alphaLcPeriod" startAt="3"/>
                </a:pPr>
                <a:r>
                  <a:rPr lang="en-US" sz="2000" dirty="0">
                    <a:latin typeface="Verdana"/>
                    <a:ea typeface="Verdana"/>
                    <a:cs typeface="Verdana"/>
                  </a:rPr>
                  <a:t>What is the theoretical probability of rolling a </a:t>
                </a:r>
                <a14:m>
                  <m:oMath xmlns:m="http://schemas.openxmlformats.org/officeDocument/2006/math">
                    <m:r>
                      <a:rPr lang="en-US" sz="2000" i="1">
                        <a:latin typeface="Cambria Math"/>
                        <a:ea typeface="Verdana"/>
                        <a:cs typeface="Verdana"/>
                      </a:rPr>
                      <m:t>3</m:t>
                    </m:r>
                  </m:oMath>
                </a14:m>
                <a:r>
                  <a:rPr lang="en-US" sz="2000" dirty="0">
                    <a:latin typeface="Verdana"/>
                    <a:ea typeface="Verdana"/>
                    <a:cs typeface="Verdana"/>
                  </a:rPr>
                  <a:t>?</a:t>
                </a: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914400" indent="-457200">
                  <a:buFont typeface="+mj-lt"/>
                  <a:buAutoNum type="alphaLcPeriod" startAt="3"/>
                </a:pPr>
                <a:r>
                  <a:rPr lang="en-US" sz="2000" dirty="0">
                    <a:latin typeface="Verdana"/>
                    <a:ea typeface="Verdana"/>
                    <a:cs typeface="Verdana"/>
                  </a:rPr>
                  <a:t>Describe how the theoretical probability compares to your experimental probability.</a:t>
                </a: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457200" indent="-457200">
                  <a:buFont typeface="+mj-lt"/>
                  <a:buAutoNum type="alphaLcPeriod" startAt="3"/>
                </a:pPr>
                <a:endParaRPr lang="en-US" sz="2000" dirty="0">
                  <a:latin typeface="Verdana"/>
                  <a:ea typeface="Verdana"/>
                  <a:cs typeface="Verdana" panose="020B0604030504040204" pitchFamily="34" charset="0"/>
                </a:endParaRPr>
              </a:p>
              <a:p>
                <a:pPr marL="914400" indent="-457200">
                  <a:buFont typeface="+mj-lt"/>
                  <a:buAutoNum type="alphaLcPeriod" startAt="3"/>
                </a:pPr>
                <a:r>
                  <a:rPr lang="en-US" sz="2000" dirty="0">
                    <a:latin typeface="Verdana"/>
                    <a:ea typeface="Verdana"/>
                    <a:cs typeface="Verdana"/>
                  </a:rPr>
                  <a:t>Review your results and your partner’s results. Explain why the results are not the same.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304613" y="454919"/>
                <a:ext cx="10803653" cy="4708981"/>
              </a:xfrm>
              <a:prstGeom prst="rect">
                <a:avLst/>
              </a:prstGeom>
              <a:blipFill>
                <a:blip r:embed="rId4"/>
                <a:stretch>
                  <a:fillRect t="-809" b="-1348"/>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252468F9-493F-EA4F-B8D7-90F86F60BDF9}"/>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80</a:t>
            </a:r>
            <a:endParaRPr i="1" dirty="0">
              <a:latin typeface="Calibri"/>
              <a:ea typeface="Calibri"/>
              <a:cs typeface="Calibri"/>
              <a:sym typeface="Calibri"/>
            </a:endParaRPr>
          </a:p>
        </p:txBody>
      </p:sp>
    </p:spTree>
    <p:extLst>
      <p:ext uri="{BB962C8B-B14F-4D97-AF65-F5344CB8AC3E}">
        <p14:creationId xmlns:p14="http://schemas.microsoft.com/office/powerpoint/2010/main" val="843614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668076" y="454918"/>
                <a:ext cx="10744991" cy="3631763"/>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Times New Roman"/>
                    <a:cs typeface="Times New Roman"/>
                  </a:rPr>
                  <a:t>Consider the events of rolling a fair </a:t>
                </a:r>
                <a14:m>
                  <m:oMath xmlns:m="http://schemas.openxmlformats.org/officeDocument/2006/math">
                    <m:r>
                      <a:rPr lang="en-US" sz="2000" i="1">
                        <a:latin typeface="Cambria Math"/>
                        <a:ea typeface="Times New Roman"/>
                        <a:cs typeface="Times New Roman"/>
                      </a:rPr>
                      <m:t>10</m:t>
                    </m:r>
                  </m:oMath>
                </a14:m>
                <a:r>
                  <a:rPr lang="en-US" sz="2000" dirty="0">
                    <a:latin typeface="Verdana"/>
                    <a:ea typeface="Times New Roman"/>
                    <a:cs typeface="Times New Roman"/>
                  </a:rPr>
                  <a:t>-sided die and getting an odd number or flipping a coin and having it land tails-up. Explain which event is more likely.</a:t>
                </a: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457200" indent="-457200">
                  <a:buFont typeface="+mj-lt"/>
                  <a:buAutoNum type="arabicPeriod" startAt="2"/>
                </a:pPr>
                <a:r>
                  <a:rPr lang="en-US" sz="2000" dirty="0">
                    <a:latin typeface="Verdana"/>
                    <a:ea typeface="Times New Roman"/>
                    <a:cs typeface="Times New Roman"/>
                  </a:rPr>
                  <a:t>Noelle picks a card at random from a stack that has cards numbered </a:t>
                </a:r>
                <a14:m>
                  <m:oMath xmlns:m="http://schemas.openxmlformats.org/officeDocument/2006/math">
                    <m:r>
                      <a:rPr lang="en-US" sz="2000" i="1">
                        <a:latin typeface="Cambria Math"/>
                        <a:ea typeface="Times New Roman"/>
                        <a:cs typeface="Times New Roman"/>
                      </a:rPr>
                      <m:t>11</m:t>
                    </m:r>
                  </m:oMath>
                </a14:m>
                <a:r>
                  <a:rPr lang="en-US" sz="2000" dirty="0">
                    <a:latin typeface="Verdana"/>
                    <a:ea typeface="Times New Roman"/>
                    <a:cs typeface="Times New Roman"/>
                  </a:rPr>
                  <a:t> through </a:t>
                </a:r>
                <a14:m>
                  <m:oMath xmlns:m="http://schemas.openxmlformats.org/officeDocument/2006/math">
                    <m:r>
                      <a:rPr lang="en-US" sz="2000" i="1">
                        <a:latin typeface="Cambria Math"/>
                        <a:ea typeface="Times New Roman"/>
                        <a:cs typeface="Times New Roman"/>
                      </a:rPr>
                      <m:t>25</m:t>
                    </m:r>
                  </m:oMath>
                </a14:m>
                <a:r>
                  <a:rPr lang="en-US" sz="2000" dirty="0">
                    <a:latin typeface="Verdana"/>
                    <a:ea typeface="Times New Roman"/>
                    <a:cs typeface="Times New Roman"/>
                  </a:rPr>
                  <a:t>.</a:t>
                </a:r>
              </a:p>
              <a:p>
                <a:pPr marL="914400" indent="-457200">
                  <a:spcBef>
                    <a:spcPts val="1200"/>
                  </a:spcBef>
                  <a:buFont typeface="+mj-lt"/>
                  <a:buAutoNum type="alphaLcPeriod"/>
                </a:pPr>
                <a:r>
                  <a:rPr lang="en-US" sz="2000" dirty="0">
                    <a:latin typeface="Verdana"/>
                    <a:ea typeface="Times New Roman"/>
                    <a:cs typeface="Times New Roman"/>
                  </a:rPr>
                  <a:t>Determine the sample space.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668076" y="454918"/>
                <a:ext cx="10744991" cy="3631763"/>
              </a:xfrm>
              <a:prstGeom prst="rect">
                <a:avLst/>
              </a:prstGeom>
              <a:blipFill>
                <a:blip r:embed="rId4"/>
                <a:stretch>
                  <a:fillRect l="-590" t="-1049" r="-1063" b="-2098"/>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252468F9-493F-EA4F-B8D7-90F86F60BDF9}"/>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81</a:t>
            </a:r>
            <a:endParaRPr i="1" dirty="0">
              <a:latin typeface="Calibri"/>
              <a:ea typeface="Calibri"/>
              <a:cs typeface="Calibri"/>
              <a:sym typeface="Calibri"/>
            </a:endParaRPr>
          </a:p>
        </p:txBody>
      </p:sp>
    </p:spTree>
    <p:extLst>
      <p:ext uri="{BB962C8B-B14F-4D97-AF65-F5344CB8AC3E}">
        <p14:creationId xmlns:p14="http://schemas.microsoft.com/office/powerpoint/2010/main" val="4279486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223199" y="454917"/>
                <a:ext cx="11596267" cy="3631763"/>
              </a:xfrm>
              <a:prstGeom prst="rect">
                <a:avLst/>
              </a:prstGeom>
              <a:noFill/>
            </p:spPr>
            <p:txBody>
              <a:bodyPr wrap="square" rtlCol="0">
                <a:spAutoFit/>
              </a:bodyPr>
              <a:lstStyle/>
              <a:p>
                <a:pPr marL="914400" indent="-457200">
                  <a:lnSpc>
                    <a:spcPct val="150000"/>
                  </a:lnSpc>
                  <a:buFont typeface="+mj-lt"/>
                  <a:buAutoNum type="alphaLcPeriod" startAt="2"/>
                </a:pPr>
                <a:r>
                  <a:rPr lang="en-US" sz="2000" dirty="0">
                    <a:latin typeface="Verdana"/>
                    <a:ea typeface="Times New Roman"/>
                    <a:cs typeface="Times New Roman"/>
                  </a:rPr>
                  <a:t>Find each probability.</a:t>
                </a:r>
                <a:br>
                  <a:rPr lang="en-US" sz="2000" dirty="0">
                    <a:latin typeface="Verdana"/>
                    <a:ea typeface="Times New Roman"/>
                    <a:cs typeface="Times New Roman"/>
                  </a:rPr>
                </a:br>
                <a14:m>
                  <m:oMath xmlns:m="http://schemas.openxmlformats.org/officeDocument/2006/math">
                    <m:r>
                      <a:rPr lang="en-US" sz="2000" i="1">
                        <a:latin typeface="Cambria Math"/>
                        <a:ea typeface="Times New Roman"/>
                        <a:cs typeface="Times New Roman"/>
                      </a:rPr>
                      <m:t>𝑃</m:t>
                    </m:r>
                  </m:oMath>
                </a14:m>
                <a:r>
                  <a:rPr lang="en-US" sz="2000" dirty="0">
                    <a:latin typeface="Cambria Math" pitchFamily="18" charset="0"/>
                    <a:ea typeface="Cambria Math" pitchFamily="18" charset="0"/>
                    <a:cs typeface="Times New Roman"/>
                  </a:rPr>
                  <a:t>(even) = </a:t>
                </a:r>
                <a:br>
                  <a:rPr lang="en-US" sz="2000" dirty="0">
                    <a:latin typeface="Cambria Math" pitchFamily="18" charset="0"/>
                    <a:ea typeface="Cambria Math" pitchFamily="18" charset="0"/>
                    <a:cs typeface="Times New Roman"/>
                  </a:rPr>
                </a:br>
                <a14:m>
                  <m:oMath xmlns:m="http://schemas.openxmlformats.org/officeDocument/2006/math">
                    <m:r>
                      <a:rPr lang="en-US" sz="2000" i="1">
                        <a:latin typeface="Cambria Math"/>
                        <a:ea typeface="Times New Roman"/>
                        <a:cs typeface="Times New Roman"/>
                      </a:rPr>
                      <m:t>𝑃</m:t>
                    </m:r>
                  </m:oMath>
                </a14:m>
                <a:r>
                  <a:rPr lang="en-US" sz="2000" dirty="0">
                    <a:latin typeface="Cambria Math" pitchFamily="18" charset="0"/>
                    <a:ea typeface="Cambria Math" pitchFamily="18" charset="0"/>
                    <a:cs typeface="Times New Roman"/>
                  </a:rPr>
                  <a:t>(multiple of 5) =</a:t>
                </a:r>
                <a:br>
                  <a:rPr lang="en-US" sz="2000" dirty="0">
                    <a:latin typeface="Cambria Math" pitchFamily="18" charset="0"/>
                    <a:ea typeface="Cambria Math" pitchFamily="18" charset="0"/>
                    <a:cs typeface="Times New Roman"/>
                  </a:rPr>
                </a:br>
                <a14:m>
                  <m:oMath xmlns:m="http://schemas.openxmlformats.org/officeDocument/2006/math">
                    <m:r>
                      <a:rPr lang="en-US" sz="2000" i="1">
                        <a:latin typeface="Cambria Math"/>
                        <a:ea typeface="Times New Roman"/>
                        <a:cs typeface="Times New Roman"/>
                      </a:rPr>
                      <m:t>𝑃</m:t>
                    </m:r>
                  </m:oMath>
                </a14:m>
                <a:r>
                  <a:rPr lang="en-US" sz="2000" dirty="0">
                    <a:latin typeface="Cambria Math" pitchFamily="18" charset="0"/>
                    <a:ea typeface="Cambria Math" pitchFamily="18" charset="0"/>
                    <a:cs typeface="Times New Roman"/>
                  </a:rPr>
                  <a:t>(two digit number) =</a:t>
                </a:r>
                <a:br>
                  <a:rPr lang="en-US" sz="2000" dirty="0">
                    <a:latin typeface="Cambria Math" pitchFamily="18" charset="0"/>
                    <a:ea typeface="Cambria Math" pitchFamily="18" charset="0"/>
                    <a:cs typeface="Times New Roman"/>
                  </a:rPr>
                </a:br>
                <a14:m>
                  <m:oMath xmlns:m="http://schemas.openxmlformats.org/officeDocument/2006/math">
                    <m:r>
                      <a:rPr lang="en-US" sz="2000" i="1">
                        <a:latin typeface="Cambria Math"/>
                        <a:ea typeface="Times New Roman"/>
                        <a:cs typeface="Times New Roman"/>
                      </a:rPr>
                      <m:t>𝑃</m:t>
                    </m:r>
                  </m:oMath>
                </a14:m>
                <a:r>
                  <a:rPr lang="en-US" sz="2000" dirty="0">
                    <a:latin typeface="Cambria Math" pitchFamily="18" charset="0"/>
                    <a:ea typeface="Cambria Math" pitchFamily="18" charset="0"/>
                    <a:cs typeface="Times New Roman"/>
                  </a:rPr>
                  <a:t>(number less than 10) =</a:t>
                </a:r>
              </a:p>
              <a:p>
                <a:pPr marL="914400" indent="-457200">
                  <a:buFont typeface="+mj-lt"/>
                  <a:buAutoNum type="alphaLcPeriod" startAt="2"/>
                </a:pPr>
                <a:endParaRPr lang="en-US" sz="2000" dirty="0">
                  <a:latin typeface="Verdana"/>
                  <a:ea typeface="Times New Roman"/>
                  <a:cs typeface="Times New Roman"/>
                </a:endParaRPr>
              </a:p>
              <a:p>
                <a:pPr marL="914400" indent="-457200">
                  <a:buFont typeface="+mj-lt"/>
                  <a:buAutoNum type="alphaLcPeriod" startAt="2"/>
                </a:pPr>
                <a:r>
                  <a:rPr lang="en-US" sz="2000" dirty="0">
                    <a:latin typeface="Verdana"/>
                    <a:ea typeface="Times New Roman"/>
                    <a:cs typeface="Times New Roman"/>
                  </a:rPr>
                  <a:t>Noelle used a simulator to run the experiment </a:t>
                </a:r>
                <a14:m>
                  <m:oMath xmlns:m="http://schemas.openxmlformats.org/officeDocument/2006/math">
                    <m:r>
                      <a:rPr lang="en-US" sz="2000" i="1">
                        <a:latin typeface="Cambria Math"/>
                        <a:ea typeface="Times New Roman"/>
                        <a:cs typeface="Times New Roman"/>
                      </a:rPr>
                      <m:t>300</m:t>
                    </m:r>
                  </m:oMath>
                </a14:m>
                <a:r>
                  <a:rPr lang="en-US" sz="2000" dirty="0">
                    <a:latin typeface="Verdana"/>
                    <a:ea typeface="Times New Roman"/>
                    <a:cs typeface="Times New Roman"/>
                  </a:rPr>
                  <a:t> times. She selected an odd-numbered card </a:t>
                </a:r>
                <a14:m>
                  <m:oMath xmlns:m="http://schemas.openxmlformats.org/officeDocument/2006/math">
                    <m:r>
                      <a:rPr lang="en-US" sz="2000" i="1">
                        <a:latin typeface="Cambria Math"/>
                        <a:ea typeface="Times New Roman"/>
                        <a:cs typeface="Times New Roman"/>
                      </a:rPr>
                      <m:t>154</m:t>
                    </m:r>
                  </m:oMath>
                </a14:m>
                <a:r>
                  <a:rPr lang="en-US" sz="2000" dirty="0">
                    <a:latin typeface="Verdana"/>
                    <a:ea typeface="Times New Roman"/>
                    <a:cs typeface="Times New Roman"/>
                  </a:rPr>
                  <a:t> times. Compare the experimental probability to the theoretical probability of selecting an odd-numbered card.</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223199" y="454917"/>
                <a:ext cx="11596267" cy="3631763"/>
              </a:xfrm>
              <a:prstGeom prst="rect">
                <a:avLst/>
              </a:prstGeom>
              <a:blipFill>
                <a:blip r:embed="rId4"/>
                <a:stretch>
                  <a:fillRect b="-2098"/>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252468F9-493F-EA4F-B8D7-90F86F60BDF9}"/>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81</a:t>
            </a:r>
            <a:endParaRPr i="1" dirty="0">
              <a:latin typeface="Calibri"/>
              <a:ea typeface="Calibri"/>
              <a:cs typeface="Calibri"/>
              <a:sym typeface="Calibri"/>
            </a:endParaRPr>
          </a:p>
        </p:txBody>
      </p:sp>
    </p:spTree>
    <p:extLst>
      <p:ext uri="{BB962C8B-B14F-4D97-AF65-F5344CB8AC3E}">
        <p14:creationId xmlns:p14="http://schemas.microsoft.com/office/powerpoint/2010/main" val="714722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81</a:t>
            </a:r>
            <a:endParaRPr i="1" dirty="0">
              <a:latin typeface="Calibri"/>
              <a:ea typeface="Calibri"/>
              <a:cs typeface="Calibri"/>
              <a:sym typeface="Calibri"/>
            </a:endParaRPr>
          </a:p>
        </p:txBody>
      </p:sp>
      <p:sp>
        <p:nvSpPr>
          <p:cNvPr id="9"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10"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37332"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2.9.4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730265" y="1237668"/>
            <a:ext cx="11168223" cy="3016210"/>
          </a:xfrm>
          <a:prstGeom prst="rect">
            <a:avLst/>
          </a:prstGeom>
          <a:noFill/>
        </p:spPr>
        <p:txBody>
          <a:bodyPr wrap="square" rtlCol="0">
            <a:spAutoFit/>
          </a:bodyPr>
          <a:lstStyle/>
          <a:p>
            <a:r>
              <a:rPr lang="en-US" sz="2000" dirty="0">
                <a:latin typeface="Verdana"/>
                <a:ea typeface="Times New Roman"/>
                <a:cs typeface="Cambria"/>
              </a:rPr>
              <a:t>In this unit, you have learned multiple concepts about probability, including those listed below.</a:t>
            </a:r>
          </a:p>
          <a:p>
            <a:pPr marL="685800" indent="-342900">
              <a:spcBef>
                <a:spcPts val="1200"/>
              </a:spcBef>
              <a:buFont typeface="Arial" pitchFamily="34" charset="0"/>
              <a:buChar char="•"/>
              <a:tabLst>
                <a:tab pos="1041400" algn="l"/>
              </a:tabLst>
            </a:pPr>
            <a:r>
              <a:rPr lang="en-US" sz="2000" dirty="0">
                <a:latin typeface="Verdana" pitchFamily="34" charset="0"/>
                <a:ea typeface="Verdana" pitchFamily="34" charset="0"/>
                <a:cs typeface="Cambria"/>
              </a:rPr>
              <a:t>Determine the sample space for a simple experiment</a:t>
            </a:r>
          </a:p>
          <a:p>
            <a:pPr marL="685800" indent="-342900">
              <a:spcBef>
                <a:spcPts val="1200"/>
              </a:spcBef>
              <a:buFont typeface="Arial" pitchFamily="34" charset="0"/>
              <a:buChar char="•"/>
              <a:tabLst>
                <a:tab pos="1041400" algn="l"/>
              </a:tabLst>
            </a:pPr>
            <a:r>
              <a:rPr lang="en-US" sz="2000" dirty="0">
                <a:latin typeface="Verdana" pitchFamily="34" charset="0"/>
                <a:ea typeface="Verdana" pitchFamily="34" charset="0"/>
                <a:cs typeface="Cambria"/>
              </a:rPr>
              <a:t>Rewrite rational numbers in different but equivalent forms</a:t>
            </a:r>
          </a:p>
          <a:p>
            <a:pPr marL="685800" indent="-342900">
              <a:spcBef>
                <a:spcPts val="1200"/>
              </a:spcBef>
              <a:buFont typeface="Arial" pitchFamily="34" charset="0"/>
              <a:buChar char="•"/>
              <a:tabLst>
                <a:tab pos="1041400" algn="l"/>
              </a:tabLst>
            </a:pPr>
            <a:r>
              <a:rPr lang="en-US" sz="2000" dirty="0">
                <a:latin typeface="Verdana" pitchFamily="34" charset="0"/>
                <a:ea typeface="Verdana" pitchFamily="34" charset="0"/>
                <a:cs typeface="Cambria"/>
              </a:rPr>
              <a:t>Interpret and compare the probability of chance events</a:t>
            </a:r>
          </a:p>
          <a:p>
            <a:pPr marL="685800" indent="-342900">
              <a:spcBef>
                <a:spcPts val="1200"/>
              </a:spcBef>
              <a:buFont typeface="Arial" pitchFamily="34" charset="0"/>
              <a:buChar char="•"/>
              <a:tabLst>
                <a:tab pos="1041400" algn="l"/>
              </a:tabLst>
            </a:pPr>
            <a:r>
              <a:rPr lang="en-US" sz="2000" dirty="0">
                <a:latin typeface="Verdana" pitchFamily="34" charset="0"/>
                <a:ea typeface="Verdana" pitchFamily="34" charset="0"/>
                <a:cs typeface="Cambria"/>
              </a:rPr>
              <a:t>Find the theoretical probability of an event related to a simple experiment</a:t>
            </a:r>
          </a:p>
          <a:p>
            <a:pPr marL="685800" indent="-342900">
              <a:spcBef>
                <a:spcPts val="1200"/>
              </a:spcBef>
              <a:buFont typeface="Arial" pitchFamily="34" charset="0"/>
              <a:buChar char="•"/>
            </a:pPr>
            <a:r>
              <a:rPr lang="en-US" sz="2000" dirty="0">
                <a:latin typeface="Verdana" pitchFamily="34" charset="0"/>
                <a:ea typeface="Verdana" pitchFamily="34" charset="0"/>
                <a:cs typeface="Cambria"/>
              </a:rPr>
              <a:t>Compare experimental probability from simulations to theoretical probability</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78;g104476d1465_1_17">
            <a:extLst>
              <a:ext uri="{FF2B5EF4-FFF2-40B4-BE49-F238E27FC236}">
                <a16:creationId xmlns:a16="http://schemas.microsoft.com/office/drawing/2014/main" id="{69767437-9B0B-9D43-A596-1373A90D9FE8}"/>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81</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4CE9D117-FAE6-F74F-940B-9CD1479755BE}"/>
              </a:ext>
            </a:extLst>
          </p:cNvPr>
          <p:cNvSpPr txBox="1"/>
          <p:nvPr/>
        </p:nvSpPr>
        <p:spPr>
          <a:xfrm>
            <a:off x="532608" y="479302"/>
            <a:ext cx="11354591" cy="4401205"/>
          </a:xfrm>
          <a:prstGeom prst="rect">
            <a:avLst/>
          </a:prstGeom>
          <a:noFill/>
        </p:spPr>
        <p:txBody>
          <a:bodyPr wrap="square" rtlCol="0">
            <a:spAutoFit/>
          </a:bodyPr>
          <a:lstStyle/>
          <a:p>
            <a:pPr marL="457200" indent="-457200">
              <a:buFont typeface="+mj-lt"/>
              <a:buAutoNum type="arabicPeriod"/>
            </a:pPr>
            <a:r>
              <a:rPr lang="en-US" sz="2000" dirty="0">
                <a:latin typeface="Verdana"/>
                <a:ea typeface="Times New Roman"/>
                <a:cs typeface="Cambria"/>
              </a:rPr>
              <a:t>Use the stoplight reflection below to share how you are feeling about each of these concepts at this point.</a:t>
            </a:r>
          </a:p>
          <a:p>
            <a:pPr marL="2743200"/>
            <a:br>
              <a:rPr lang="en-US" sz="2000" dirty="0">
                <a:latin typeface="Verdana"/>
                <a:ea typeface="Times New Roman"/>
                <a:cs typeface="Cambria"/>
              </a:rPr>
            </a:br>
            <a:br>
              <a:rPr lang="en-US" sz="2000" dirty="0">
                <a:latin typeface="Verdana"/>
                <a:ea typeface="Times New Roman"/>
                <a:cs typeface="Cambria"/>
              </a:rPr>
            </a:br>
            <a:br>
              <a:rPr lang="en-US" sz="2000" dirty="0">
                <a:latin typeface="Verdana"/>
                <a:ea typeface="Times New Roman"/>
                <a:cs typeface="Cambria"/>
              </a:rPr>
            </a:br>
            <a:r>
              <a:rPr lang="en-US" sz="2000" dirty="0">
                <a:latin typeface="Verdana"/>
                <a:ea typeface="Times New Roman"/>
                <a:cs typeface="Cambria"/>
              </a:rPr>
              <a:t>I still feel stuck on how to …</a:t>
            </a:r>
            <a:br>
              <a:rPr lang="en-US" sz="2000" dirty="0">
                <a:latin typeface="Verdana"/>
                <a:ea typeface="Times New Roman"/>
                <a:cs typeface="Cambria"/>
              </a:rPr>
            </a:br>
            <a:br>
              <a:rPr lang="en-US" sz="2000" dirty="0">
                <a:latin typeface="Verdana"/>
                <a:ea typeface="Times New Roman"/>
                <a:cs typeface="Cambria"/>
              </a:rPr>
            </a:br>
            <a:br>
              <a:rPr lang="en-US" sz="2000" dirty="0">
                <a:latin typeface="Verdana"/>
                <a:ea typeface="Times New Roman"/>
                <a:cs typeface="Cambria"/>
              </a:rPr>
            </a:br>
            <a:br>
              <a:rPr lang="en-US" sz="2000" dirty="0">
                <a:latin typeface="Verdana"/>
                <a:ea typeface="Times New Roman"/>
                <a:cs typeface="Cambria"/>
              </a:rPr>
            </a:br>
            <a:r>
              <a:rPr lang="en-US" sz="2000" dirty="0">
                <a:latin typeface="Verdana"/>
                <a:ea typeface="Times New Roman"/>
                <a:cs typeface="Cambria"/>
              </a:rPr>
              <a:t>I’m starting to get the hang of …</a:t>
            </a:r>
            <a:br>
              <a:rPr lang="en-US" sz="2000" dirty="0">
                <a:latin typeface="Verdana"/>
                <a:ea typeface="Times New Roman"/>
                <a:cs typeface="Cambria"/>
              </a:rPr>
            </a:br>
            <a:br>
              <a:rPr lang="en-US" sz="2000" dirty="0">
                <a:latin typeface="Verdana"/>
                <a:ea typeface="Times New Roman"/>
                <a:cs typeface="Cambria"/>
              </a:rPr>
            </a:br>
            <a:br>
              <a:rPr lang="en-US" sz="2000" dirty="0">
                <a:latin typeface="Verdana"/>
                <a:ea typeface="Times New Roman"/>
                <a:cs typeface="Cambria"/>
              </a:rPr>
            </a:br>
            <a:br>
              <a:rPr lang="en-US" sz="2000" dirty="0">
                <a:latin typeface="Verdana"/>
                <a:ea typeface="Times New Roman"/>
                <a:cs typeface="Cambria"/>
              </a:rPr>
            </a:br>
            <a:r>
              <a:rPr lang="en-US" sz="2000" dirty="0">
                <a:latin typeface="Verdana"/>
                <a:ea typeface="Times New Roman"/>
                <a:cs typeface="Cambria"/>
              </a:rPr>
              <a:t>I feel confident and ready to go with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BEF6C55E-B3A1-F64B-8B75-315832270770}"/>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
          <p:cNvPicPr/>
          <p:nvPr/>
        </p:nvPicPr>
        <p:blipFill>
          <a:blip r:embed="rId4">
            <a:extLst>
              <a:ext uri="{28A0092B-C50C-407E-A947-70E740481C1C}">
                <a14:useLocalDpi xmlns:a14="http://schemas.microsoft.com/office/drawing/2010/main"/>
              </a:ext>
            </a:extLst>
          </a:blip>
          <a:stretch>
            <a:fillRect/>
          </a:stretch>
        </p:blipFill>
        <p:spPr bwMode="auto">
          <a:xfrm>
            <a:off x="1190520" y="1522412"/>
            <a:ext cx="1839595" cy="3813175"/>
          </a:xfrm>
          <a:prstGeom prst="rect">
            <a:avLst/>
          </a:prstGeom>
          <a:noFill/>
          <a:ln>
            <a:noFill/>
          </a:ln>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81</a:t>
            </a:r>
            <a:endParaRPr i="1" dirty="0">
              <a:latin typeface="Calibri"/>
              <a:ea typeface="Calibri"/>
              <a:cs typeface="Calibri"/>
              <a:sym typeface="Calibri"/>
            </a:endParaRPr>
          </a:p>
        </p:txBody>
      </p:sp>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1360</TotalTime>
  <Words>1171</Words>
  <Application>Microsoft Office PowerPoint</Application>
  <PresentationFormat>Widescreen</PresentationFormat>
  <Paragraphs>168</Paragraphs>
  <Slides>22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 Black</vt:lpstr>
      <vt:lpstr>Verdana</vt:lpstr>
      <vt:lpstr>Century Gothic</vt:lpstr>
      <vt:lpstr>Arial</vt:lpstr>
      <vt:lpstr>Cambria Math</vt:lpstr>
      <vt:lpstr>Calibri</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43</cp:revision>
  <dcterms:created xsi:type="dcterms:W3CDTF">2015-03-17T18:51:18Z</dcterms:created>
  <dcterms:modified xsi:type="dcterms:W3CDTF">2022-07-11T02:32:01Z</dcterms:modified>
</cp:coreProperties>
</file>