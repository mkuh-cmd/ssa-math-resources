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85" r:id="rId4"/>
    <p:sldId id="286" r:id="rId5"/>
    <p:sldId id="261" r:id="rId6"/>
    <p:sldId id="287" r:id="rId7"/>
    <p:sldId id="311" r:id="rId8"/>
    <p:sldId id="312" r:id="rId9"/>
    <p:sldId id="313" r:id="rId10"/>
    <p:sldId id="332" r:id="rId11"/>
    <p:sldId id="333" r:id="rId12"/>
    <p:sldId id="338" r:id="rId13"/>
    <p:sldId id="334" r:id="rId14"/>
    <p:sldId id="329" r:id="rId15"/>
    <p:sldId id="330" r:id="rId16"/>
    <p:sldId id="331" r:id="rId17"/>
    <p:sldId id="335" r:id="rId18"/>
    <p:sldId id="320" r:id="rId19"/>
    <p:sldId id="321" r:id="rId20"/>
    <p:sldId id="322" r:id="rId21"/>
    <p:sldId id="336" r:id="rId22"/>
    <p:sldId id="337" r:id="rId23"/>
    <p:sldId id="306" r:id="rId24"/>
    <p:sldId id="307" r:id="rId25"/>
    <p:sldId id="310" r:id="rId26"/>
  </p:sldIdLst>
  <p:sldSz cx="12192000" cy="6858000"/>
  <p:notesSz cx="6858000" cy="9144000"/>
  <p:embeddedFontLst>
    <p:embeddedFont>
      <p:font typeface="Verdana" pitchFamily="34" charset="0"/>
      <p:regular r:id="rId28"/>
      <p:bold r:id="rId29"/>
      <p:italic r:id="rId30"/>
      <p:boldItalic r:id="rId31"/>
    </p:embeddedFont>
    <p:embeddedFont>
      <p:font typeface="Calibri" pitchFamily="34" charset="0"/>
      <p:regular r:id="rId32"/>
      <p:bold r:id="rId33"/>
      <p:italic r:id="rId34"/>
      <p:boldItalic r:id="rId35"/>
    </p:embeddedFont>
    <p:embeddedFont>
      <p:font typeface="Century Gothic" pitchFamily="34" charset="0"/>
      <p:regular r:id="rId36"/>
      <p:bold r:id="rId37"/>
      <p:italic r:id="rId38"/>
      <p:boldItalic r:id="rId39"/>
    </p:embeddedFont>
    <p:embeddedFont>
      <p:font typeface="Cambria Math" pitchFamily="18" charset="0"/>
      <p:regular r:id="rId40"/>
    </p:embeddedFont>
    <p:embeddedFont>
      <p:font typeface="Cambria" pitchFamily="18" charset="0"/>
      <p:regular r:id="rId41"/>
      <p:bold r:id="rId42"/>
      <p:italic r:id="rId43"/>
      <p:boldItalic r:id="rId44"/>
    </p:embeddedFont>
    <p:embeddedFont>
      <p:font typeface="Arial Black" pitchFamily="34" charset="0"/>
      <p:bold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9647"/>
    <a:srgbClr val="FCBD1E"/>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123"/>
    <p:restoredTop sz="93619" autoAdjust="0"/>
  </p:normalViewPr>
  <p:slideViewPr>
    <p:cSldViewPr snapToGrid="0">
      <p:cViewPr>
        <p:scale>
          <a:sx n="80" d="100"/>
          <a:sy n="80" d="100"/>
        </p:scale>
        <p:origin x="-293" y="-178"/>
      </p:cViewPr>
      <p:guideLst>
        <p:guide orient="horz" pos="2160"/>
        <p:guide pos="3840"/>
      </p:guideLst>
    </p:cSldViewPr>
  </p:slideViewPr>
  <p:notesTextViewPr>
    <p:cViewPr>
      <p:scale>
        <a:sx n="1" d="1"/>
        <a:sy n="1" d="1"/>
      </p:scale>
      <p:origin x="0" y="0"/>
    </p:cViewPr>
  </p:notesTextViewPr>
  <p:sorterViewPr>
    <p:cViewPr>
      <p:scale>
        <a:sx n="100" d="100"/>
        <a:sy n="100" d="100"/>
      </p:scale>
      <p:origin x="0" y="1219"/>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1442864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8406461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8406461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50.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0.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260.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0"/>
            <a:ext cx="4094106"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
        <p:nvSpPr>
          <p:cNvPr id="7" name="Google Shape;261;g104476d1465_0_0"/>
          <p:cNvSpPr txBox="1">
            <a:spLocks/>
          </p:cNvSpPr>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3800" b="1" dirty="0">
                <a:solidFill>
                  <a:srgbClr val="417DBF"/>
                </a:solidFill>
                <a:latin typeface="Verdana"/>
                <a:ea typeface="Verdana"/>
                <a:cs typeface="Verdana"/>
                <a:sym typeface="Verdana"/>
              </a:rPr>
              <a:t>7</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2, Lesson 8</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Simulating Small and Large Numbers of Trials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73</a:t>
            </a:r>
          </a:p>
          <a:p>
            <a:pPr algn="ctr">
              <a:lnSpc>
                <a:spcPct val="100000"/>
              </a:lnSpc>
              <a:buClr>
                <a:srgbClr val="000000"/>
              </a:buClr>
            </a:pPr>
            <a:endParaRPr lang="en-US" sz="34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73</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79;g104476d1465_1_17"/>
          <p:cNvSpPr txBox="1">
            <a:spLocks/>
          </p:cNvSpPr>
          <p:nvPr/>
        </p:nvSpPr>
        <p:spPr>
          <a:xfrm>
            <a:off x="1151917"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buFont typeface="Century Gothic"/>
              <a:buNone/>
            </a:pPr>
            <a:r>
              <a:rPr lang="en-US" sz="4700" b="1" dirty="0" smtClean="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4">
            <a:alphaModFix/>
          </a:blip>
          <a:stretch>
            <a:fillRect/>
          </a:stretch>
        </p:blipFill>
        <p:spPr>
          <a:xfrm>
            <a:off x="328417"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444683" y="1600200"/>
            <a:ext cx="1032675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rgbClr val="000000"/>
                </a:solidFill>
                <a:latin typeface="Verdana"/>
                <a:ea typeface="Times New Roman"/>
                <a:cs typeface="Cambria"/>
              </a:rPr>
              <a:t>MA.7.DP.2.4</a:t>
            </a:r>
            <a:endParaRPr lang="en-US" sz="3600" dirty="0">
              <a:solidFill>
                <a:schemeClr val="tx1"/>
              </a:solidFill>
              <a:latin typeface="Verdana"/>
              <a:ea typeface="Verdana"/>
              <a:cs typeface="Verdana"/>
              <a:sym typeface="Verdana"/>
            </a:endParaRPr>
          </a:p>
          <a:p>
            <a:pPr indent="0">
              <a:buNone/>
            </a:pPr>
            <a:r>
              <a:rPr lang="en-US" sz="3600" dirty="0">
                <a:solidFill>
                  <a:schemeClr val="tx1"/>
                </a:solidFill>
                <a:latin typeface="Verdana"/>
                <a:ea typeface="Verdana"/>
                <a:cs typeface="Verdana"/>
                <a:sym typeface="Verdana"/>
              </a:rPr>
              <a:t>Use a simulation of a simple experiment to find experimental probabilities and compare them to theoretical probabilities.</a:t>
            </a:r>
            <a:endParaRPr lang="en-US" sz="36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78;g104476d1465_1_17">
            <a:extLst>
              <a:ext uri="{FF2B5EF4-FFF2-40B4-BE49-F238E27FC236}">
                <a16:creationId xmlns="" xmlns:a16="http://schemas.microsoft.com/office/drawing/2014/main" id="{79998D09-ED40-CB40-ADB3-2C926DC27F8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73</a:t>
            </a:r>
            <a:endParaRPr i="1" dirty="0">
              <a:latin typeface="Calibri"/>
              <a:ea typeface="Calibri"/>
              <a:cs typeface="Calibri"/>
              <a:sym typeface="Calibri"/>
            </a:endParaRPr>
          </a:p>
        </p:txBody>
      </p:sp>
      <p:pic>
        <p:nvPicPr>
          <p:cNvPr id="10" name="Google Shape;281;g104476d1465_1_17"/>
          <p:cNvPicPr preferRelativeResize="0"/>
          <p:nvPr/>
        </p:nvPicPr>
        <p:blipFill>
          <a:blip r:embed="rId4">
            <a:alphaModFix/>
          </a:blip>
          <a:stretch>
            <a:fillRect/>
          </a:stretch>
        </p:blipFill>
        <p:spPr>
          <a:xfrm>
            <a:off x="329567" y="372300"/>
            <a:ext cx="747300" cy="747300"/>
          </a:xfrm>
          <a:prstGeom prst="rect">
            <a:avLst/>
          </a:prstGeom>
          <a:noFill/>
          <a:ln>
            <a:noFill/>
          </a:ln>
          <a:effectLst>
            <a:outerShdw blurRad="57150" dist="19050" dir="5400000" algn="bl" rotWithShape="0">
              <a:srgbClr val="000000">
                <a:alpha val="50000"/>
              </a:srgbClr>
            </a:outerShdw>
          </a:effectLst>
        </p:spPr>
      </p:pic>
      <p:sp>
        <p:nvSpPr>
          <p:cNvPr id="13"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4"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54216" y="1596390"/>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78;g104476d1465_1_17">
            <a:extLst>
              <a:ext uri="{FF2B5EF4-FFF2-40B4-BE49-F238E27FC236}">
                <a16:creationId xmlns="" xmlns:a16="http://schemas.microsoft.com/office/drawing/2014/main" id="{4411E69F-FF2D-4E45-A95C-56414991DB11}"/>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73</a:t>
            </a:r>
            <a:endParaRPr i="1" dirty="0">
              <a:latin typeface="Calibri"/>
              <a:ea typeface="Calibri"/>
              <a:cs typeface="Calibri"/>
              <a:sym typeface="Calibri"/>
            </a:endParaRPr>
          </a:p>
        </p:txBody>
      </p:sp>
      <p:sp>
        <p:nvSpPr>
          <p:cNvPr id="11"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08371"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a:t>
            </a:r>
            <a:r>
              <a:rPr lang="en-US" sz="4700" b="1" dirty="0" smtClean="0">
                <a:solidFill>
                  <a:srgbClr val="52BDA6"/>
                </a:solidFill>
                <a:latin typeface="Verdana"/>
                <a:ea typeface="Verdana"/>
                <a:cs typeface="Verdana"/>
                <a:sym typeface="Verdana"/>
              </a:rPr>
              <a:t>Targets</a:t>
            </a:r>
            <a:endParaRPr lang="en-US" sz="4700" b="1" dirty="0">
              <a:solidFill>
                <a:srgbClr val="52BDA6"/>
              </a:solidFill>
              <a:latin typeface="Verdana"/>
              <a:ea typeface="Verdana"/>
              <a:cs typeface="Verdana"/>
              <a:sym typeface="Verdana"/>
            </a:endParaRPr>
          </a:p>
        </p:txBody>
      </p:sp>
      <p:pic>
        <p:nvPicPr>
          <p:cNvPr id="13"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26209" y="31986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444682" y="1600200"/>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79450">
              <a:buClr>
                <a:srgbClr val="434343"/>
              </a:buClr>
              <a:buSzPct val="100000"/>
              <a:buFont typeface="Verdana"/>
              <a:buChar char="❏"/>
            </a:pPr>
            <a:r>
              <a:rPr lang="en-US" sz="3200" dirty="0">
                <a:solidFill>
                  <a:schemeClr val="tx1"/>
                </a:solidFill>
                <a:latin typeface="Verdana"/>
                <a:ea typeface="Verdana"/>
                <a:cs typeface="Verdana"/>
                <a:sym typeface="Verdana"/>
              </a:rPr>
              <a:t>I can compare the experimental probability from a simulation to the theoretical probability of a simple experiment.</a:t>
            </a:r>
          </a:p>
          <a:p>
            <a:pPr marL="685800" indent="-679450">
              <a:buClr>
                <a:srgbClr val="434343"/>
              </a:buClr>
              <a:buSzPct val="100000"/>
              <a:buFont typeface="Verdana"/>
              <a:buChar char="❏"/>
            </a:pPr>
            <a:endParaRPr lang="en-US" sz="3200" dirty="0">
              <a:solidFill>
                <a:schemeClr val="tx1"/>
              </a:solidFill>
              <a:latin typeface="Verdana"/>
              <a:ea typeface="Verdana"/>
              <a:cs typeface="Verdana"/>
              <a:sym typeface="Verdana"/>
            </a:endParaRPr>
          </a:p>
          <a:p>
            <a:pPr marL="685800" indent="-679450">
              <a:buClr>
                <a:srgbClr val="434343"/>
              </a:buClr>
              <a:buSzPct val="100000"/>
              <a:buFont typeface="Verdana"/>
              <a:buChar char="❏"/>
            </a:pPr>
            <a:r>
              <a:rPr lang="en-US" sz="3200" dirty="0">
                <a:latin typeface="Verdana"/>
                <a:ea typeface="Times New Roman"/>
                <a:cs typeface="Calibri"/>
              </a:rPr>
              <a:t>I can use results from computer-simulated events to informally define the Law of Large Numbers.</a:t>
            </a:r>
            <a:endParaRPr lang="en-US" sz="3200" dirty="0">
              <a:solidFill>
                <a:schemeClr val="tx1"/>
              </a:solidFill>
              <a:latin typeface="Verdana"/>
              <a:ea typeface="Verdana"/>
              <a:cs typeface="Verdana"/>
              <a:sym typeface="Verdana"/>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73</a:t>
            </a:r>
            <a:endParaRPr i="1" dirty="0">
              <a:latin typeface="Calibri"/>
              <a:ea typeface="Calibri"/>
              <a:cs typeface="Calibri"/>
              <a:sym typeface="Calibri"/>
            </a:endParaRPr>
          </a:p>
        </p:txBody>
      </p:sp>
      <p:pic>
        <p:nvPicPr>
          <p:cNvPr id="7"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9"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257925" y="1309825"/>
            <a:ext cx="4205288" cy="4224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37332" y="0"/>
            <a:ext cx="1034506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2.8.1 Warm-Up: Which One Doesn’t Belong?</a:t>
            </a:r>
          </a:p>
        </p:txBody>
      </p:sp>
      <p:pic>
        <p:nvPicPr>
          <p:cNvPr id="13"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5">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 xmlns:a16="http://schemas.microsoft.com/office/drawing/2014/main" id="{E1D7562E-134F-D14B-AF1A-DF40E11EF758}"/>
              </a:ext>
            </a:extLst>
          </p:cNvPr>
          <p:cNvSpPr txBox="1"/>
          <p:nvPr/>
        </p:nvSpPr>
        <p:spPr>
          <a:xfrm>
            <a:off x="730266" y="1337068"/>
            <a:ext cx="5365734" cy="1785104"/>
          </a:xfrm>
          <a:prstGeom prst="rect">
            <a:avLst/>
          </a:prstGeom>
          <a:noFill/>
        </p:spPr>
        <p:txBody>
          <a:bodyPr wrap="square" rtlCol="0">
            <a:spAutoFit/>
          </a:bodyPr>
          <a:lstStyle/>
          <a:p>
            <a:pPr marL="457200" indent="-457200">
              <a:buFont typeface="+mj-lt"/>
              <a:buAutoNum type="arabicPeriod"/>
            </a:pPr>
            <a:r>
              <a:rPr lang="en-US" sz="2000" dirty="0">
                <a:latin typeface="Verdana"/>
                <a:ea typeface="Times New Roman"/>
                <a:cs typeface="Cambria"/>
              </a:rPr>
              <a:t>Four spinners are shown.</a:t>
            </a:r>
          </a:p>
          <a:p>
            <a:pPr marL="914400" indent="-457200">
              <a:spcBef>
                <a:spcPts val="1200"/>
              </a:spcBef>
              <a:buFont typeface="+mj-lt"/>
              <a:buAutoNum type="alphaLcPeriod"/>
            </a:pPr>
            <a:r>
              <a:rPr lang="en-US" sz="2000" dirty="0">
                <a:latin typeface="Verdana"/>
                <a:ea typeface="Times New Roman"/>
                <a:cs typeface="Cambria"/>
              </a:rPr>
              <a:t>Which spinner doesn’t belong?</a:t>
            </a:r>
          </a:p>
          <a:p>
            <a:pPr marL="914400" indent="-457200">
              <a:buFont typeface="+mj-lt"/>
              <a:buAutoNum type="alphaLcPeriod"/>
            </a:pPr>
            <a:endParaRPr lang="en-PH" sz="2000" dirty="0">
              <a:latin typeface="Verdana"/>
              <a:ea typeface="Times New Roman"/>
              <a:cs typeface="Cambria"/>
            </a:endParaRPr>
          </a:p>
          <a:p>
            <a:pPr marL="914400" indent="-457200">
              <a:buFont typeface="+mj-lt"/>
              <a:buAutoNum type="alphaLcPeriod"/>
            </a:pPr>
            <a:endParaRPr lang="en-US" sz="2000" dirty="0">
              <a:latin typeface="Verdana"/>
              <a:ea typeface="Times New Roman"/>
              <a:cs typeface="Cambria"/>
            </a:endParaRPr>
          </a:p>
          <a:p>
            <a:pPr marL="914400" indent="-457200">
              <a:buFont typeface="+mj-lt"/>
              <a:buAutoNum type="alphaLcPeriod"/>
            </a:pPr>
            <a:r>
              <a:rPr lang="en-US" sz="2000" dirty="0">
                <a:latin typeface="Verdana"/>
                <a:ea typeface="Times New Roman"/>
                <a:cs typeface="Cambria"/>
              </a:rPr>
              <a:t>Explain your reasoning.</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78;g104476d1465_1_17">
            <a:extLst>
              <a:ext uri="{FF2B5EF4-FFF2-40B4-BE49-F238E27FC236}">
                <a16:creationId xmlns="" xmlns:a16="http://schemas.microsoft.com/office/drawing/2014/main" id="{733F64CC-F62E-3D45-B066-56DBFBB732F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73</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74</a:t>
            </a:r>
            <a:endParaRPr i="1" dirty="0">
              <a:latin typeface="Calibri"/>
              <a:ea typeface="Calibri"/>
              <a:cs typeface="Calibri"/>
              <a:sym typeface="Calibri"/>
            </a:endParaRPr>
          </a:p>
        </p:txBody>
      </p:sp>
      <p:sp>
        <p:nvSpPr>
          <p:cNvPr id="7" name="Google Shape;313;g104476d1465_1_39"/>
          <p:cNvSpPr txBox="1">
            <a:spLocks/>
          </p:cNvSpPr>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3BEA6"/>
                </a:solidFill>
                <a:latin typeface="Verdana"/>
                <a:ea typeface="Verdana"/>
                <a:cs typeface="Verdana"/>
                <a:sym typeface="Verdana"/>
              </a:rPr>
              <a:t>Exploration</a:t>
            </a:r>
            <a:endParaRPr lang="en-US" sz="5100" b="1" dirty="0">
              <a:solidFill>
                <a:srgbClr val="33BEA6"/>
              </a:solidFill>
              <a:latin typeface="Verdana"/>
              <a:ea typeface="Verdana"/>
              <a:cs typeface="Verdana"/>
              <a:sym typeface="Verdana"/>
            </a:endParaRPr>
          </a:p>
        </p:txBody>
      </p:sp>
      <p:pic>
        <p:nvPicPr>
          <p:cNvPr id="9" name="Picture 2" descr="Icon&#10;&#10;Description automatically generated">
            <a:extLst>
              <a:ext uri="{FF2B5EF4-FFF2-40B4-BE49-F238E27FC236}">
                <a16:creationId xmlns=""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444861" y="2850881"/>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42286" y="143350"/>
            <a:ext cx="10593098" cy="86789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2.8.2 Exploration: Comparing Experimental Results to Expected Results</a:t>
            </a:r>
          </a:p>
        </p:txBody>
      </p:sp>
      <p:pic>
        <p:nvPicPr>
          <p:cNvPr id="7" name="Picture 2" descr="Icon&#10;&#10;Description automatically generated">
            <a:extLst>
              <a:ext uri="{FF2B5EF4-FFF2-40B4-BE49-F238E27FC236}">
                <a16:creationId xmlns=""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152D1D4D-DCB8-A246-B186-D40316579D77}"/>
              </a:ext>
            </a:extLst>
          </p:cNvPr>
          <p:cNvSpPr txBox="1"/>
          <p:nvPr/>
        </p:nvSpPr>
        <p:spPr>
          <a:xfrm>
            <a:off x="732742" y="1406145"/>
            <a:ext cx="10955165" cy="1785104"/>
          </a:xfrm>
          <a:prstGeom prst="rect">
            <a:avLst/>
          </a:prstGeom>
          <a:noFill/>
        </p:spPr>
        <p:txBody>
          <a:bodyPr wrap="square" rtlCol="0">
            <a:spAutoFit/>
          </a:bodyPr>
          <a:lstStyle/>
          <a:p>
            <a:r>
              <a:rPr lang="en-US" sz="2000" dirty="0">
                <a:latin typeface="Verdana"/>
                <a:ea typeface="Times New Roman"/>
                <a:cs typeface="Cambria"/>
              </a:rPr>
              <a:t>Work with your partner to complete the following.</a:t>
            </a:r>
          </a:p>
          <a:p>
            <a:endParaRPr lang="en-US" sz="2000" dirty="0">
              <a:latin typeface="Verdana"/>
              <a:ea typeface="Times New Roman"/>
              <a:cs typeface="Cambria"/>
            </a:endParaRPr>
          </a:p>
          <a:p>
            <a:pPr marL="457200" indent="-457200">
              <a:buFont typeface="+mj-lt"/>
              <a:buAutoNum type="arabicPeriod"/>
            </a:pPr>
            <a:r>
              <a:rPr lang="en-US" sz="2000" dirty="0">
                <a:latin typeface="Verdana"/>
                <a:ea typeface="Times New Roman"/>
                <a:cs typeface="Cambria"/>
              </a:rPr>
              <a:t>When performing the simple experiment of flipping a coin over repeated trials, imagine each of the resulting situations listed in the table.</a:t>
            </a:r>
          </a:p>
          <a:p>
            <a:pPr marL="914400" indent="-457200">
              <a:spcBef>
                <a:spcPts val="1200"/>
              </a:spcBef>
              <a:buFont typeface="+mj-lt"/>
              <a:buAutoNum type="alphaLcPeriod"/>
            </a:pPr>
            <a:r>
              <a:rPr lang="en-US" sz="2000" dirty="0">
                <a:latin typeface="Verdana"/>
                <a:ea typeface="Times New Roman"/>
                <a:cs typeface="Cambria"/>
              </a:rPr>
              <a:t>Complete the table to describe the results.</a:t>
            </a:r>
          </a:p>
        </p:txBody>
      </p:sp>
      <p:sp>
        <p:nvSpPr>
          <p:cNvPr id="11" name="Google Shape;278;g104476d1465_1_17">
            <a:extLst>
              <a:ext uri="{FF2B5EF4-FFF2-40B4-BE49-F238E27FC236}">
                <a16:creationId xmlns="" xmlns:a16="http://schemas.microsoft.com/office/drawing/2014/main" id="{519FE075-E2FF-7B4C-8C80-17BA7226159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2731571004"/>
              </p:ext>
            </p:extLst>
          </p:nvPr>
        </p:nvGraphicFramePr>
        <p:xfrm>
          <a:off x="2881235" y="3548311"/>
          <a:ext cx="7315200" cy="1889760"/>
        </p:xfrm>
        <a:graphic>
          <a:graphicData uri="http://schemas.openxmlformats.org/drawingml/2006/table">
            <a:tbl>
              <a:tblPr firstRow="1" bandRow="1">
                <a:tableStyleId>{A91F0D33-8C57-4600-99A7-42BC86742BE1}</a:tableStyleId>
              </a:tblPr>
              <a:tblGrid>
                <a:gridCol w="3291840">
                  <a:extLst>
                    <a:ext uri="{9D8B030D-6E8A-4147-A177-3AD203B41FA5}">
                      <a16:colId xmlns="" xmlns:a16="http://schemas.microsoft.com/office/drawing/2014/main" val="20000"/>
                    </a:ext>
                  </a:extLst>
                </a:gridCol>
                <a:gridCol w="1005840">
                  <a:extLst>
                    <a:ext uri="{9D8B030D-6E8A-4147-A177-3AD203B41FA5}">
                      <a16:colId xmlns="" xmlns:a16="http://schemas.microsoft.com/office/drawing/2014/main" val="20001"/>
                    </a:ext>
                  </a:extLst>
                </a:gridCol>
                <a:gridCol w="1005840">
                  <a:extLst>
                    <a:ext uri="{9D8B030D-6E8A-4147-A177-3AD203B41FA5}">
                      <a16:colId xmlns="" xmlns:a16="http://schemas.microsoft.com/office/drawing/2014/main" val="20002"/>
                    </a:ext>
                  </a:extLst>
                </a:gridCol>
                <a:gridCol w="1005840">
                  <a:extLst>
                    <a:ext uri="{9D8B030D-6E8A-4147-A177-3AD203B41FA5}">
                      <a16:colId xmlns="" xmlns:a16="http://schemas.microsoft.com/office/drawing/2014/main" val="20003"/>
                    </a:ext>
                  </a:extLst>
                </a:gridCol>
                <a:gridCol w="1005840">
                  <a:extLst>
                    <a:ext uri="{9D8B030D-6E8A-4147-A177-3AD203B41FA5}">
                      <a16:colId xmlns="" xmlns:a16="http://schemas.microsoft.com/office/drawing/2014/main" val="20004"/>
                    </a:ext>
                  </a:extLst>
                </a:gridCol>
              </a:tblGrid>
              <a:tr h="370840">
                <a:tc rowSpan="2">
                  <a:txBody>
                    <a:bodyPr/>
                    <a:lstStyle/>
                    <a:p>
                      <a:pPr algn="ctr"/>
                      <a:r>
                        <a:rPr lang="en-US" sz="2000" b="1" dirty="0">
                          <a:effectLst/>
                          <a:latin typeface="Verdana"/>
                          <a:ea typeface="Times New Roman"/>
                          <a:cs typeface="Cambria"/>
                        </a:rPr>
                        <a:t>Situation</a:t>
                      </a:r>
                      <a:endParaRPr lang="en-US" sz="2000"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gridSpan="2">
                  <a:txBody>
                    <a:bodyPr/>
                    <a:lstStyle/>
                    <a:p>
                      <a:pPr algn="ctr"/>
                      <a:r>
                        <a:rPr lang="en-US" sz="2000" b="1" dirty="0">
                          <a:effectLst/>
                          <a:latin typeface="Verdana"/>
                          <a:ea typeface="Times New Roman"/>
                          <a:cs typeface="Cambria"/>
                        </a:rPr>
                        <a:t>Is the result surprising?</a:t>
                      </a:r>
                      <a:endParaRPr lang="en-US" sz="2000"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sz="2000" b="1" dirty="0">
                          <a:effectLst/>
                          <a:latin typeface="Verdana"/>
                          <a:ea typeface="Times New Roman"/>
                          <a:cs typeface="Cambria"/>
                        </a:rPr>
                        <a:t>Is the result possible?</a:t>
                      </a:r>
                      <a:endParaRPr lang="en-US" sz="2000"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0"/>
                  </a:ext>
                </a:extLst>
              </a:tr>
              <a:tr h="370840">
                <a:tc vMerge="1">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PH" sz="2000" b="1" dirty="0">
                          <a:latin typeface="Verdana" pitchFamily="34" charset="0"/>
                          <a:ea typeface="Verdana" pitchFamily="34" charset="0"/>
                        </a:rPr>
                        <a:t>Yes</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PH" sz="2000" b="1" dirty="0">
                          <a:latin typeface="Verdana" pitchFamily="34" charset="0"/>
                          <a:ea typeface="Verdana" pitchFamily="34" charset="0"/>
                        </a:rPr>
                        <a:t>No</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PH" sz="2000" b="1" dirty="0">
                          <a:latin typeface="Verdana" pitchFamily="34" charset="0"/>
                          <a:ea typeface="Verdana" pitchFamily="34" charset="0"/>
                        </a:rPr>
                        <a:t>Yes</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PH" sz="2000" b="1" dirty="0">
                          <a:latin typeface="Verdana" pitchFamily="34" charset="0"/>
                          <a:ea typeface="Verdana" pitchFamily="34" charset="0"/>
                        </a:rPr>
                        <a:t>No</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1"/>
                  </a:ext>
                </a:extLst>
              </a:tr>
              <a:tr h="370840">
                <a:tc>
                  <a:txBody>
                    <a:bodyPr/>
                    <a:lstStyle/>
                    <a:p>
                      <a:r>
                        <a:rPr lang="en-US" sz="2000" dirty="0">
                          <a:effectLst/>
                          <a:latin typeface="Verdana"/>
                          <a:ea typeface="Times New Roman"/>
                          <a:cs typeface="Cambria"/>
                        </a:rPr>
                        <a:t>You flip the coin once, and it lands heads-up.</a:t>
                      </a:r>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74</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78;g104476d1465_1_17">
            <a:extLst>
              <a:ext uri="{FF2B5EF4-FFF2-40B4-BE49-F238E27FC236}">
                <a16:creationId xmlns=""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2536882491"/>
                  </p:ext>
                </p:extLst>
              </p:nvPr>
            </p:nvGraphicFramePr>
            <p:xfrm>
              <a:off x="2438400" y="620274"/>
              <a:ext cx="7315200" cy="3200400"/>
            </p:xfrm>
            <a:graphic>
              <a:graphicData uri="http://schemas.openxmlformats.org/drawingml/2006/table">
                <a:tbl>
                  <a:tblPr firstRow="1" bandRow="1">
                    <a:tableStyleId>{A91F0D33-8C57-4600-99A7-42BC86742BE1}</a:tableStyleId>
                  </a:tblPr>
                  <a:tblGrid>
                    <a:gridCol w="3291840">
                      <a:extLst>
                        <a:ext uri="{9D8B030D-6E8A-4147-A177-3AD203B41FA5}">
                          <a16:colId xmlns="" xmlns:a16="http://schemas.microsoft.com/office/drawing/2014/main" val="20000"/>
                        </a:ext>
                      </a:extLst>
                    </a:gridCol>
                    <a:gridCol w="1005840">
                      <a:extLst>
                        <a:ext uri="{9D8B030D-6E8A-4147-A177-3AD203B41FA5}">
                          <a16:colId xmlns="" xmlns:a16="http://schemas.microsoft.com/office/drawing/2014/main" val="20001"/>
                        </a:ext>
                      </a:extLst>
                    </a:gridCol>
                    <a:gridCol w="1005840">
                      <a:extLst>
                        <a:ext uri="{9D8B030D-6E8A-4147-A177-3AD203B41FA5}">
                          <a16:colId xmlns="" xmlns:a16="http://schemas.microsoft.com/office/drawing/2014/main" val="20002"/>
                        </a:ext>
                      </a:extLst>
                    </a:gridCol>
                    <a:gridCol w="1005840">
                      <a:extLst>
                        <a:ext uri="{9D8B030D-6E8A-4147-A177-3AD203B41FA5}">
                          <a16:colId xmlns="" xmlns:a16="http://schemas.microsoft.com/office/drawing/2014/main" val="20003"/>
                        </a:ext>
                      </a:extLst>
                    </a:gridCol>
                    <a:gridCol w="1005840">
                      <a:extLst>
                        <a:ext uri="{9D8B030D-6E8A-4147-A177-3AD203B41FA5}">
                          <a16:colId xmlns="" xmlns:a16="http://schemas.microsoft.com/office/drawing/2014/main" val="20004"/>
                        </a:ext>
                      </a:extLst>
                    </a:gridCol>
                  </a:tblGrid>
                  <a:tr h="370840">
                    <a:tc rowSpan="2">
                      <a:txBody>
                        <a:bodyPr/>
                        <a:lstStyle/>
                        <a:p>
                          <a:pPr algn="ctr"/>
                          <a:r>
                            <a:rPr lang="en-US" sz="2000" b="1" dirty="0">
                              <a:effectLst/>
                              <a:latin typeface="Verdana"/>
                              <a:ea typeface="Times New Roman"/>
                              <a:cs typeface="Cambria"/>
                            </a:rPr>
                            <a:t>Situation</a:t>
                          </a:r>
                          <a:endParaRPr lang="en-US" sz="2000"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gridSpan="2">
                      <a:txBody>
                        <a:bodyPr/>
                        <a:lstStyle/>
                        <a:p>
                          <a:pPr algn="ctr"/>
                          <a:r>
                            <a:rPr lang="en-US" sz="2000" b="1" dirty="0">
                              <a:effectLst/>
                              <a:latin typeface="Verdana"/>
                              <a:ea typeface="Times New Roman"/>
                              <a:cs typeface="Cambria"/>
                            </a:rPr>
                            <a:t>Is the result surprising?</a:t>
                          </a:r>
                          <a:endParaRPr lang="en-US" sz="2000"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sz="2000" b="1" dirty="0">
                              <a:effectLst/>
                              <a:latin typeface="Verdana"/>
                              <a:ea typeface="Times New Roman"/>
                              <a:cs typeface="Cambria"/>
                            </a:rPr>
                            <a:t>Is the result possible?</a:t>
                          </a:r>
                          <a:endParaRPr lang="en-US" sz="2000"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0"/>
                      </a:ext>
                    </a:extLst>
                  </a:tr>
                  <a:tr h="370840">
                    <a:tc vMerge="1">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PH" sz="2000" b="1" dirty="0">
                              <a:latin typeface="Verdana" pitchFamily="34" charset="0"/>
                              <a:ea typeface="Verdana" pitchFamily="34" charset="0"/>
                            </a:rPr>
                            <a:t>Yes</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PH" sz="2000" b="1" dirty="0">
                              <a:latin typeface="Verdana" pitchFamily="34" charset="0"/>
                              <a:ea typeface="Verdana" pitchFamily="34" charset="0"/>
                            </a:rPr>
                            <a:t>No</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PH" sz="2000" b="1" dirty="0">
                              <a:latin typeface="Verdana" pitchFamily="34" charset="0"/>
                              <a:ea typeface="Verdana" pitchFamily="34" charset="0"/>
                            </a:rPr>
                            <a:t>Yes</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PH" sz="2000" b="1" dirty="0">
                              <a:latin typeface="Verdana" pitchFamily="34" charset="0"/>
                              <a:ea typeface="Verdana" pitchFamily="34" charset="0"/>
                            </a:rPr>
                            <a:t>No</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1"/>
                      </a:ext>
                    </a:extLst>
                  </a:tr>
                  <a:tr h="370840">
                    <a:tc>
                      <a:txBody>
                        <a:bodyPr/>
                        <a:lstStyle/>
                        <a:p>
                          <a:r>
                            <a:rPr lang="en-US" sz="2000" dirty="0">
                              <a:effectLst/>
                              <a:latin typeface="Verdana"/>
                              <a:ea typeface="Times New Roman"/>
                              <a:cs typeface="Cambria"/>
                            </a:rPr>
                            <a:t>You flip the coin twice, and it lands heads-up both times.</a:t>
                          </a:r>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370840">
                    <a:tc>
                      <a:txBody>
                        <a:bodyPr/>
                        <a:lstStyle/>
                        <a:p>
                          <a:r>
                            <a:rPr lang="en-US" sz="2000" dirty="0">
                              <a:effectLst/>
                              <a:latin typeface="Verdana"/>
                              <a:ea typeface="Times New Roman"/>
                              <a:cs typeface="Cambria"/>
                            </a:rPr>
                            <a:t>You flip the coin </a:t>
                          </a:r>
                          <a14:m>
                            <m:oMath xmlns:m="http://schemas.openxmlformats.org/officeDocument/2006/math">
                              <m:r>
                                <a:rPr lang="en-US" sz="2000" i="1">
                                  <a:effectLst/>
                                  <a:latin typeface="Cambria Math"/>
                                  <a:ea typeface="Times New Roman"/>
                                  <a:cs typeface="Cambria"/>
                                </a:rPr>
                                <m:t>100</m:t>
                              </m:r>
                            </m:oMath>
                          </a14:m>
                          <a:r>
                            <a:rPr lang="en-US" sz="2000" dirty="0">
                              <a:effectLst/>
                              <a:latin typeface="Verdana"/>
                              <a:ea typeface="Times New Roman"/>
                              <a:cs typeface="Cambria"/>
                            </a:rPr>
                            <a:t> times, and it lands heads-up all </a:t>
                          </a:r>
                          <a14:m>
                            <m:oMath xmlns:m="http://schemas.openxmlformats.org/officeDocument/2006/math">
                              <m:r>
                                <a:rPr lang="en-US" sz="2000" i="1">
                                  <a:effectLst/>
                                  <a:latin typeface="Cambria Math"/>
                                  <a:ea typeface="Times New Roman"/>
                                  <a:cs typeface="Cambria"/>
                                </a:rPr>
                                <m:t>100</m:t>
                              </m:r>
                            </m:oMath>
                          </a14:m>
                          <a:r>
                            <a:rPr lang="en-US" sz="2000" dirty="0">
                              <a:effectLst/>
                              <a:latin typeface="Verdana"/>
                              <a:ea typeface="Times New Roman"/>
                              <a:cs typeface="Cambria"/>
                            </a:rPr>
                            <a:t> times.</a:t>
                          </a:r>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2536882491"/>
                  </p:ext>
                </p:extLst>
              </p:nvPr>
            </p:nvGraphicFramePr>
            <p:xfrm>
              <a:off x="2438400" y="620274"/>
              <a:ext cx="7315200" cy="3200400"/>
            </p:xfrm>
            <a:graphic>
              <a:graphicData uri="http://schemas.openxmlformats.org/drawingml/2006/table">
                <a:tbl>
                  <a:tblPr firstRow="1" bandRow="1">
                    <a:tableStyleId>{A91F0D33-8C57-4600-99A7-42BC86742BE1}</a:tableStyleId>
                  </a:tblPr>
                  <a:tblGrid>
                    <a:gridCol w="3291840">
                      <a:extLst>
                        <a:ext uri="{9D8B030D-6E8A-4147-A177-3AD203B41FA5}">
                          <a16:colId xmlns:a16="http://schemas.microsoft.com/office/drawing/2014/main" xmlns:a14="http://schemas.microsoft.com/office/drawing/2010/main" xmlns="" val="20000"/>
                        </a:ext>
                      </a:extLst>
                    </a:gridCol>
                    <a:gridCol w="1005840">
                      <a:extLst>
                        <a:ext uri="{9D8B030D-6E8A-4147-A177-3AD203B41FA5}">
                          <a16:colId xmlns:a16="http://schemas.microsoft.com/office/drawing/2014/main" xmlns:a14="http://schemas.microsoft.com/office/drawing/2010/main" xmlns="" val="20001"/>
                        </a:ext>
                      </a:extLst>
                    </a:gridCol>
                    <a:gridCol w="1005840">
                      <a:extLst>
                        <a:ext uri="{9D8B030D-6E8A-4147-A177-3AD203B41FA5}">
                          <a16:colId xmlns:a16="http://schemas.microsoft.com/office/drawing/2014/main" xmlns:a14="http://schemas.microsoft.com/office/drawing/2010/main" xmlns="" val="20002"/>
                        </a:ext>
                      </a:extLst>
                    </a:gridCol>
                    <a:gridCol w="1005840">
                      <a:extLst>
                        <a:ext uri="{9D8B030D-6E8A-4147-A177-3AD203B41FA5}">
                          <a16:colId xmlns:a16="http://schemas.microsoft.com/office/drawing/2014/main" xmlns:a14="http://schemas.microsoft.com/office/drawing/2010/main" xmlns="" val="20003"/>
                        </a:ext>
                      </a:extLst>
                    </a:gridCol>
                    <a:gridCol w="1005840">
                      <a:extLst>
                        <a:ext uri="{9D8B030D-6E8A-4147-A177-3AD203B41FA5}">
                          <a16:colId xmlns:a16="http://schemas.microsoft.com/office/drawing/2014/main" xmlns:a14="http://schemas.microsoft.com/office/drawing/2010/main" xmlns="" val="20004"/>
                        </a:ext>
                      </a:extLst>
                    </a:gridCol>
                  </a:tblGrid>
                  <a:tr h="792480">
                    <a:tc rowSpan="2">
                      <a:txBody>
                        <a:bodyPr/>
                        <a:lstStyle/>
                        <a:p>
                          <a:pPr algn="ctr"/>
                          <a:r>
                            <a:rPr lang="en-US" sz="2000" b="1" dirty="0">
                              <a:effectLst/>
                              <a:latin typeface="Verdana"/>
                              <a:ea typeface="Times New Roman"/>
                              <a:cs typeface="Cambria"/>
                            </a:rPr>
                            <a:t>Situation</a:t>
                          </a:r>
                          <a:endParaRPr lang="en-US" sz="2000"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gridSpan="2">
                      <a:txBody>
                        <a:bodyPr/>
                        <a:lstStyle/>
                        <a:p>
                          <a:pPr algn="ctr"/>
                          <a:r>
                            <a:rPr lang="en-US" sz="2000" b="1" dirty="0">
                              <a:effectLst/>
                              <a:latin typeface="Verdana"/>
                              <a:ea typeface="Times New Roman"/>
                              <a:cs typeface="Cambria"/>
                            </a:rPr>
                            <a:t>Is the result surprising?</a:t>
                          </a:r>
                          <a:endParaRPr lang="en-US" sz="2000"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sz="2000" b="1" dirty="0">
                              <a:effectLst/>
                              <a:latin typeface="Verdana"/>
                              <a:ea typeface="Times New Roman"/>
                              <a:cs typeface="Cambria"/>
                            </a:rPr>
                            <a:t>Is the result possible?</a:t>
                          </a:r>
                          <a:endParaRPr lang="en-US" sz="2000"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0"/>
                      </a:ext>
                    </a:extLst>
                  </a:tr>
                  <a:tr h="396240">
                    <a:tc vMerge="1">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PH" sz="2000" b="1" dirty="0">
                              <a:latin typeface="Verdana" pitchFamily="34" charset="0"/>
                              <a:ea typeface="Verdana" pitchFamily="34" charset="0"/>
                            </a:rPr>
                            <a:t>Yes</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PH" sz="2000" b="1" dirty="0">
                              <a:latin typeface="Verdana" pitchFamily="34" charset="0"/>
                              <a:ea typeface="Verdana" pitchFamily="34" charset="0"/>
                            </a:rPr>
                            <a:t>No</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PH" sz="2000" b="1" dirty="0">
                              <a:latin typeface="Verdana" pitchFamily="34" charset="0"/>
                              <a:ea typeface="Verdana" pitchFamily="34" charset="0"/>
                            </a:rPr>
                            <a:t>Yes</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PH" sz="2000" b="1" dirty="0">
                              <a:latin typeface="Verdana" pitchFamily="34" charset="0"/>
                              <a:ea typeface="Verdana" pitchFamily="34" charset="0"/>
                            </a:rPr>
                            <a:t>No</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a14="http://schemas.microsoft.com/office/drawing/2010/main" xmlns="" val="10001"/>
                      </a:ext>
                    </a:extLst>
                  </a:tr>
                  <a:tr h="1005840">
                    <a:tc>
                      <a:txBody>
                        <a:bodyPr/>
                        <a:lstStyle/>
                        <a:p>
                          <a:r>
                            <a:rPr lang="en-US" sz="2000" dirty="0">
                              <a:effectLst/>
                              <a:latin typeface="Verdana"/>
                              <a:ea typeface="Times New Roman"/>
                              <a:cs typeface="Cambria"/>
                            </a:rPr>
                            <a:t>You flip the coin twice, and it lands heads-up both times.</a:t>
                          </a:r>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r h="10058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18788" r="-122222" b="-10909"/>
                          </a:stretch>
                        </a:blipFill>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000" dirty="0">
                              <a:latin typeface="Verdana"/>
                              <a:ea typeface="Verdana"/>
                              <a:sym typeface="Wingdings"/>
                            </a:rPr>
                            <a: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3"/>
                      </a:ext>
                    </a:extLst>
                  </a:tr>
                </a:tbl>
              </a:graphicData>
            </a:graphic>
          </p:graphicFrame>
        </mc:Fallback>
      </mc:AlternateContent>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74</a:t>
            </a:r>
            <a:endParaRPr i="1" dirty="0">
              <a:latin typeface="Calibri"/>
              <a:ea typeface="Calibri"/>
              <a:cs typeface="Calibri"/>
              <a:sym typeface="Calibri"/>
            </a:endParaRPr>
          </a:p>
        </p:txBody>
      </p:sp>
    </p:spTree>
    <p:extLst>
      <p:ext uri="{BB962C8B-B14F-4D97-AF65-F5344CB8AC3E}">
        <p14:creationId xmlns:p14="http://schemas.microsoft.com/office/powerpoint/2010/main" val="687834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B74EB5C6-2FDE-474B-866F-02AD6706D73C}"/>
                  </a:ext>
                </a:extLst>
              </p:cNvPr>
              <p:cNvSpPr txBox="1"/>
              <p:nvPr/>
            </p:nvSpPr>
            <p:spPr>
              <a:xfrm>
                <a:off x="304614" y="420982"/>
                <a:ext cx="11606032" cy="3416320"/>
              </a:xfrm>
              <a:prstGeom prst="rect">
                <a:avLst/>
              </a:prstGeom>
              <a:noFill/>
            </p:spPr>
            <p:txBody>
              <a:bodyPr wrap="square" rtlCol="0">
                <a:spAutoFit/>
              </a:bodyPr>
              <a:lstStyle/>
              <a:p>
                <a:pPr marL="914400" indent="-457200">
                  <a:buFont typeface="+mj-lt"/>
                  <a:buAutoNum type="alphaLcPeriod" startAt="2"/>
                </a:pPr>
                <a:r>
                  <a:rPr lang="en-US" sz="2400" dirty="0">
                    <a:latin typeface="Verdana"/>
                    <a:ea typeface="Times New Roman"/>
                    <a:cs typeface="Cambria"/>
                  </a:rPr>
                  <a:t>If you flip the coin </a:t>
                </a:r>
                <a14:m>
                  <m:oMath xmlns:m="http://schemas.openxmlformats.org/officeDocument/2006/math">
                    <m:r>
                      <a:rPr lang="en-US" sz="2400" i="1">
                        <a:latin typeface="Cambria Math"/>
                        <a:ea typeface="Times New Roman"/>
                        <a:cs typeface="Cambria"/>
                      </a:rPr>
                      <m:t>100</m:t>
                    </m:r>
                  </m:oMath>
                </a14:m>
                <a:r>
                  <a:rPr lang="en-US" sz="2400" dirty="0">
                    <a:latin typeface="Verdana"/>
                    <a:ea typeface="Times New Roman"/>
                    <a:cs typeface="Cambria"/>
                  </a:rPr>
                  <a:t> times, explain how many times you would expect the coin to land heads-up.</a:t>
                </a:r>
              </a:p>
              <a:p>
                <a:pPr marL="457200" indent="-457200">
                  <a:buFont typeface="+mj-lt"/>
                  <a:buAutoNum type="alphaLcPeriod" startAt="2"/>
                </a:pPr>
                <a:endParaRPr lang="en-PH" sz="2400" dirty="0">
                  <a:latin typeface="Verdana"/>
                  <a:ea typeface="Times New Roman"/>
                  <a:cs typeface="Cambria"/>
                </a:endParaRPr>
              </a:p>
              <a:p>
                <a:pPr marL="457200" indent="-457200">
                  <a:buFont typeface="+mj-lt"/>
                  <a:buAutoNum type="alphaLcPeriod" startAt="2"/>
                </a:pPr>
                <a:endParaRPr lang="en-PH" sz="2400" dirty="0">
                  <a:latin typeface="Verdana"/>
                  <a:ea typeface="Times New Roman"/>
                  <a:cs typeface="Cambria"/>
                </a:endParaRPr>
              </a:p>
              <a:p>
                <a:pPr marL="457200" indent="-457200">
                  <a:buFont typeface="+mj-lt"/>
                  <a:buAutoNum type="alphaLcPeriod" startAt="2"/>
                </a:pPr>
                <a:endParaRPr lang="en-PH" sz="2400" dirty="0">
                  <a:latin typeface="Verdana"/>
                  <a:ea typeface="Times New Roman"/>
                  <a:cs typeface="Cambria"/>
                </a:endParaRPr>
              </a:p>
              <a:p>
                <a:pPr marL="457200" indent="-457200">
                  <a:buFont typeface="+mj-lt"/>
                  <a:buAutoNum type="alphaLcPeriod" startAt="2"/>
                </a:pPr>
                <a:endParaRPr lang="en-PH" sz="2400" dirty="0">
                  <a:latin typeface="Verdana"/>
                  <a:ea typeface="Times New Roman"/>
                  <a:cs typeface="Cambria"/>
                </a:endParaRPr>
              </a:p>
              <a:p>
                <a:pPr marL="457200" indent="-457200">
                  <a:buFont typeface="+mj-lt"/>
                  <a:buAutoNum type="alphaLcPeriod" startAt="2"/>
                </a:pPr>
                <a:endParaRPr lang="en-US" sz="2400" dirty="0">
                  <a:latin typeface="Verdana"/>
                  <a:ea typeface="Times New Roman"/>
                  <a:cs typeface="Cambria"/>
                </a:endParaRPr>
              </a:p>
              <a:p>
                <a:pPr marL="914400" indent="-457200">
                  <a:buFont typeface="+mj-lt"/>
                  <a:buAutoNum type="alphaLcPeriod" startAt="2"/>
                </a:pPr>
                <a:r>
                  <a:rPr lang="en-US" sz="2400" dirty="0">
                    <a:latin typeface="Verdana"/>
                    <a:ea typeface="Times New Roman"/>
                    <a:cs typeface="Cambria"/>
                  </a:rPr>
                  <a:t>With your partner, discuss some other results that would not be surprising if you flip the coin </a:t>
                </a:r>
                <a14:m>
                  <m:oMath xmlns:m="http://schemas.openxmlformats.org/officeDocument/2006/math">
                    <m:r>
                      <a:rPr lang="en-US" sz="2400" i="1">
                        <a:latin typeface="Cambria Math"/>
                        <a:ea typeface="Times New Roman"/>
                        <a:cs typeface="Cambria"/>
                      </a:rPr>
                      <m:t>100</m:t>
                    </m:r>
                  </m:oMath>
                </a14:m>
                <a:r>
                  <a:rPr lang="en-US" sz="2400" dirty="0">
                    <a:latin typeface="Verdana"/>
                    <a:ea typeface="Times New Roman"/>
                    <a:cs typeface="Cambria"/>
                  </a:rPr>
                  <a:t> times.</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304614" y="420982"/>
                <a:ext cx="11606032" cy="3416320"/>
              </a:xfrm>
              <a:prstGeom prst="rect">
                <a:avLst/>
              </a:prstGeom>
              <a:blipFill>
                <a:blip r:embed="rId4"/>
                <a:stretch>
                  <a:fillRect t="-1487" b="-3346"/>
                </a:stretch>
              </a:blipFill>
            </p:spPr>
            <p:txBody>
              <a:bodyPr/>
              <a:lstStyle/>
              <a:p>
                <a:r>
                  <a:rPr lang="en-US">
                    <a:noFill/>
                  </a:rPr>
                  <a:t> </a:t>
                </a:r>
              </a:p>
            </p:txBody>
          </p:sp>
        </mc:Fallback>
      </mc:AlternateContent>
      <p:sp>
        <p:nvSpPr>
          <p:cNvPr id="7" name="Google Shape;278;g104476d1465_1_17">
            <a:extLst>
              <a:ext uri="{FF2B5EF4-FFF2-40B4-BE49-F238E27FC236}">
                <a16:creationId xmlns=""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74</a:t>
            </a:r>
            <a:endParaRPr i="1" dirty="0">
              <a:latin typeface="Calibri"/>
              <a:ea typeface="Calibri"/>
              <a:cs typeface="Calibri"/>
              <a:sym typeface="Calibri"/>
            </a:endParaRPr>
          </a:p>
        </p:txBody>
      </p:sp>
    </p:spTree>
    <p:extLst>
      <p:ext uri="{BB962C8B-B14F-4D97-AF65-F5344CB8AC3E}">
        <p14:creationId xmlns:p14="http://schemas.microsoft.com/office/powerpoint/2010/main" val="3986144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307325" y="617411"/>
            <a:ext cx="3577350" cy="3386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 xmlns:a16="http://schemas.microsoft.com/office/drawing/2014/main" id="{B74EB5C6-2FDE-474B-866F-02AD6706D73C}"/>
              </a:ext>
            </a:extLst>
          </p:cNvPr>
          <p:cNvSpPr txBox="1"/>
          <p:nvPr/>
        </p:nvSpPr>
        <p:spPr>
          <a:xfrm>
            <a:off x="382558" y="400428"/>
            <a:ext cx="11426881" cy="4401205"/>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Times New Roman"/>
                <a:cs typeface="Cambria"/>
              </a:rPr>
              <a:t>A spinner is shown.</a:t>
            </a:r>
          </a:p>
          <a:p>
            <a:pPr marL="457200" indent="-457200">
              <a:buFont typeface="+mj-lt"/>
              <a:buAutoNum type="arabicPeriod" startAt="2"/>
            </a:pPr>
            <a:endParaRPr lang="en-PH" sz="2000" dirty="0">
              <a:latin typeface="Verdana"/>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a:ea typeface="Verdana" panose="020B0604030504040204" pitchFamily="34" charset="0"/>
              <a:cs typeface="Verdana" panose="020B0604030504040204" pitchFamily="34" charset="0"/>
            </a:endParaRPr>
          </a:p>
          <a:p>
            <a:pPr marL="914400" indent="-452438">
              <a:buFont typeface="+mj-lt"/>
              <a:buAutoNum type="alphaLcPeriod"/>
            </a:pPr>
            <a:r>
              <a:rPr lang="en-US" sz="2000" dirty="0">
                <a:latin typeface="Verdana"/>
                <a:ea typeface="Times New Roman"/>
                <a:cs typeface="Cambria"/>
              </a:rPr>
              <a:t>Find the theoretical probability of landing on each color as a percentage rounded to the nearest tenth.</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78;g104476d1465_1_17">
            <a:extLst>
              <a:ext uri="{FF2B5EF4-FFF2-40B4-BE49-F238E27FC236}">
                <a16:creationId xmlns=""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4061186310"/>
              </p:ext>
            </p:extLst>
          </p:nvPr>
        </p:nvGraphicFramePr>
        <p:xfrm>
          <a:off x="2164079" y="4929649"/>
          <a:ext cx="7863840" cy="1097280"/>
        </p:xfrm>
        <a:graphic>
          <a:graphicData uri="http://schemas.openxmlformats.org/drawingml/2006/table">
            <a:tbl>
              <a:tblPr firstRow="1" bandRow="1">
                <a:tableStyleId>{A91F0D33-8C57-4600-99A7-42BC86742BE1}</a:tableStyleId>
              </a:tblPr>
              <a:tblGrid>
                <a:gridCol w="1828800">
                  <a:extLst>
                    <a:ext uri="{9D8B030D-6E8A-4147-A177-3AD203B41FA5}">
                      <a16:colId xmlns="" xmlns:a16="http://schemas.microsoft.com/office/drawing/2014/main" val="20000"/>
                    </a:ext>
                  </a:extLst>
                </a:gridCol>
                <a:gridCol w="914400">
                  <a:extLst>
                    <a:ext uri="{9D8B030D-6E8A-4147-A177-3AD203B41FA5}">
                      <a16:colId xmlns="" xmlns:a16="http://schemas.microsoft.com/office/drawing/2014/main" val="20001"/>
                    </a:ext>
                  </a:extLst>
                </a:gridCol>
                <a:gridCol w="1005840">
                  <a:extLst>
                    <a:ext uri="{9D8B030D-6E8A-4147-A177-3AD203B41FA5}">
                      <a16:colId xmlns="" xmlns:a16="http://schemas.microsoft.com/office/drawing/2014/main" val="20002"/>
                    </a:ext>
                  </a:extLst>
                </a:gridCol>
                <a:gridCol w="1188720">
                  <a:extLst>
                    <a:ext uri="{9D8B030D-6E8A-4147-A177-3AD203B41FA5}">
                      <a16:colId xmlns="" xmlns:a16="http://schemas.microsoft.com/office/drawing/2014/main" val="20003"/>
                    </a:ext>
                  </a:extLst>
                </a:gridCol>
                <a:gridCol w="914400">
                  <a:extLst>
                    <a:ext uri="{9D8B030D-6E8A-4147-A177-3AD203B41FA5}">
                      <a16:colId xmlns="" xmlns:a16="http://schemas.microsoft.com/office/drawing/2014/main" val="20004"/>
                    </a:ext>
                  </a:extLst>
                </a:gridCol>
                <a:gridCol w="1005840">
                  <a:extLst>
                    <a:ext uri="{9D8B030D-6E8A-4147-A177-3AD203B41FA5}">
                      <a16:colId xmlns="" xmlns:a16="http://schemas.microsoft.com/office/drawing/2014/main" val="20005"/>
                    </a:ext>
                  </a:extLst>
                </a:gridCol>
                <a:gridCol w="1005840">
                  <a:extLst>
                    <a:ext uri="{9D8B030D-6E8A-4147-A177-3AD203B41FA5}">
                      <a16:colId xmlns="" xmlns:a16="http://schemas.microsoft.com/office/drawing/2014/main" val="20006"/>
                    </a:ext>
                  </a:extLst>
                </a:gridCol>
              </a:tblGrid>
              <a:tr h="370840">
                <a:tc>
                  <a:txBody>
                    <a:bodyPr/>
                    <a:lstStyle/>
                    <a:p>
                      <a:pPr algn="ctr"/>
                      <a:r>
                        <a:rPr lang="en-PH" sz="2000" b="1" dirty="0" err="1">
                          <a:latin typeface="Verdana" pitchFamily="34" charset="0"/>
                          <a:ea typeface="Verdana" pitchFamily="34" charset="0"/>
                        </a:rPr>
                        <a:t>Color</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dirty="0">
                          <a:latin typeface="Verdana" pitchFamily="34" charset="0"/>
                          <a:ea typeface="Verdana" pitchFamily="34" charset="0"/>
                        </a:rPr>
                        <a:t>Red</a:t>
                      </a:r>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dirty="0">
                          <a:latin typeface="Verdana" pitchFamily="34" charset="0"/>
                          <a:ea typeface="Verdana" pitchFamily="34" charset="0"/>
                        </a:rPr>
                        <a:t>Purple</a:t>
                      </a:r>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dirty="0">
                          <a:latin typeface="Verdana" pitchFamily="34" charset="0"/>
                          <a:ea typeface="Verdana" pitchFamily="34" charset="0"/>
                        </a:rPr>
                        <a:t>Orange</a:t>
                      </a:r>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dirty="0">
                          <a:latin typeface="Verdana" pitchFamily="34" charset="0"/>
                          <a:ea typeface="Verdana" pitchFamily="34" charset="0"/>
                        </a:rPr>
                        <a:t>Blue</a:t>
                      </a:r>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dirty="0">
                          <a:latin typeface="Verdana" pitchFamily="34" charset="0"/>
                          <a:ea typeface="Verdana" pitchFamily="34" charset="0"/>
                        </a:rPr>
                        <a:t>Yellow</a:t>
                      </a:r>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dirty="0">
                          <a:latin typeface="Verdana" pitchFamily="34" charset="0"/>
                          <a:ea typeface="Verdana" pitchFamily="34" charset="0"/>
                        </a:rPr>
                        <a:t>Green</a:t>
                      </a:r>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370840">
                <a:tc>
                  <a:txBody>
                    <a:bodyPr/>
                    <a:lstStyle/>
                    <a:p>
                      <a:pPr algn="ctr"/>
                      <a:r>
                        <a:rPr lang="en-US" sz="2000" b="1" dirty="0">
                          <a:effectLst/>
                          <a:latin typeface="Verdana"/>
                          <a:ea typeface="Times New Roman"/>
                          <a:cs typeface="Cambria"/>
                        </a:rPr>
                        <a:t>Theoretical Probability</a:t>
                      </a:r>
                      <a:endParaRPr lang="en-US" sz="2000" b="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dirty="0"/>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dirty="0"/>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dirty="0"/>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dirty="0"/>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dirty="0"/>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dirty="0"/>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74</a:t>
            </a:r>
            <a:endParaRPr i="1" dirty="0">
              <a:latin typeface="Calibri"/>
              <a:ea typeface="Calibri"/>
              <a:cs typeface="Calibri"/>
              <a:sym typeface="Calibri"/>
            </a:endParaRPr>
          </a:p>
        </p:txBody>
      </p:sp>
    </p:spTree>
    <p:extLst>
      <p:ext uri="{BB962C8B-B14F-4D97-AF65-F5344CB8AC3E}">
        <p14:creationId xmlns:p14="http://schemas.microsoft.com/office/powerpoint/2010/main" val="198594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B74EB5C6-2FDE-474B-866F-02AD6706D73C}"/>
                  </a:ext>
                </a:extLst>
              </p:cNvPr>
              <p:cNvSpPr txBox="1"/>
              <p:nvPr/>
            </p:nvSpPr>
            <p:spPr>
              <a:xfrm>
                <a:off x="111599" y="432706"/>
                <a:ext cx="11787323" cy="2246769"/>
              </a:xfrm>
              <a:prstGeom prst="rect">
                <a:avLst/>
              </a:prstGeom>
              <a:noFill/>
            </p:spPr>
            <p:txBody>
              <a:bodyPr wrap="square" rtlCol="0">
                <a:spAutoFit/>
              </a:bodyPr>
              <a:lstStyle/>
              <a:p>
                <a:pPr marL="914400" indent="-457200">
                  <a:buFont typeface="+mj-lt"/>
                  <a:buAutoNum type="alphaLcPeriod" startAt="2"/>
                </a:pPr>
                <a:r>
                  <a:rPr lang="en-US" sz="2000" dirty="0">
                    <a:latin typeface="Verdana"/>
                    <a:ea typeface="Times New Roman"/>
                    <a:cs typeface="Cambria"/>
                  </a:rPr>
                  <a:t>Sara used a computer-simulated spinner to perform different numbers of trials with the spinner. The results show the percentage of times it landed on each color in each simulation.</a:t>
                </a:r>
                <a:br>
                  <a:rPr lang="en-US" sz="2000" dirty="0">
                    <a:latin typeface="Verdana"/>
                    <a:ea typeface="Times New Roman"/>
                    <a:cs typeface="Cambria"/>
                  </a:rPr>
                </a:br>
                <a:r>
                  <a:rPr lang="en-US" sz="2000" dirty="0">
                    <a:latin typeface="Verdana"/>
                    <a:ea typeface="Times New Roman"/>
                    <a:cs typeface="Cambria"/>
                  </a:rPr>
                  <a:t/>
                </a:r>
                <a:br>
                  <a:rPr lang="en-US" sz="2000" dirty="0">
                    <a:latin typeface="Verdana"/>
                    <a:ea typeface="Times New Roman"/>
                    <a:cs typeface="Cambria"/>
                  </a:rPr>
                </a:br>
                <a:r>
                  <a:rPr lang="en-US" sz="2000" dirty="0">
                    <a:latin typeface="Verdana"/>
                    <a:ea typeface="Times New Roman"/>
                    <a:cs typeface="Cambria"/>
                  </a:rPr>
                  <a:t>Circle the experimental probabilities that are more than </a:t>
                </a:r>
                <a14:m>
                  <m:oMath xmlns:m="http://schemas.openxmlformats.org/officeDocument/2006/math">
                    <m:r>
                      <a:rPr lang="en-US" sz="2000" i="1">
                        <a:latin typeface="Cambria Math"/>
                        <a:ea typeface="Times New Roman"/>
                        <a:cs typeface="Cambria"/>
                      </a:rPr>
                      <m:t>1%</m:t>
                    </m:r>
                  </m:oMath>
                </a14:m>
                <a:r>
                  <a:rPr lang="en-US" sz="2000" dirty="0">
                    <a:latin typeface="Verdana"/>
                    <a:ea typeface="Times New Roman"/>
                    <a:cs typeface="Cambria"/>
                  </a:rPr>
                  <a:t> different from the theoretical probability.</a:t>
                </a: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111599" y="432706"/>
                <a:ext cx="11787323" cy="2246769"/>
              </a:xfrm>
              <a:prstGeom prst="rect">
                <a:avLst/>
              </a:prstGeom>
              <a:blipFill>
                <a:blip r:embed="rId4"/>
                <a:stretch>
                  <a:fillRect t="-1685"/>
                </a:stretch>
              </a:blipFill>
            </p:spPr>
            <p:txBody>
              <a:bodyPr/>
              <a:lstStyle/>
              <a:p>
                <a:r>
                  <a:rPr lang="en-US">
                    <a:noFill/>
                  </a:rPr>
                  <a:t> </a:t>
                </a:r>
              </a:p>
            </p:txBody>
          </p:sp>
        </mc:Fallback>
      </mc:AlternateContent>
      <p:sp>
        <p:nvSpPr>
          <p:cNvPr id="7" name="Google Shape;278;g104476d1465_1_17">
            <a:extLst>
              <a:ext uri="{FF2B5EF4-FFF2-40B4-BE49-F238E27FC236}">
                <a16:creationId xmlns=""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774126909"/>
              </p:ext>
            </p:extLst>
          </p:nvPr>
        </p:nvGraphicFramePr>
        <p:xfrm>
          <a:off x="2046455" y="2711300"/>
          <a:ext cx="8099090" cy="3200400"/>
        </p:xfrm>
        <a:graphic>
          <a:graphicData uri="http://schemas.openxmlformats.org/drawingml/2006/table">
            <a:tbl>
              <a:tblPr firstRow="1" bandRow="1">
                <a:tableStyleId>{A91F0D33-8C57-4600-99A7-42BC86742BE1}</a:tableStyleId>
              </a:tblPr>
              <a:tblGrid>
                <a:gridCol w="2064050">
                  <a:extLst>
                    <a:ext uri="{9D8B030D-6E8A-4147-A177-3AD203B41FA5}">
                      <a16:colId xmlns="" xmlns:a16="http://schemas.microsoft.com/office/drawing/2014/main" val="20000"/>
                    </a:ext>
                  </a:extLst>
                </a:gridCol>
                <a:gridCol w="914400">
                  <a:extLst>
                    <a:ext uri="{9D8B030D-6E8A-4147-A177-3AD203B41FA5}">
                      <a16:colId xmlns="" xmlns:a16="http://schemas.microsoft.com/office/drawing/2014/main" val="20001"/>
                    </a:ext>
                  </a:extLst>
                </a:gridCol>
                <a:gridCol w="1005840">
                  <a:extLst>
                    <a:ext uri="{9D8B030D-6E8A-4147-A177-3AD203B41FA5}">
                      <a16:colId xmlns="" xmlns:a16="http://schemas.microsoft.com/office/drawing/2014/main" val="20002"/>
                    </a:ext>
                  </a:extLst>
                </a:gridCol>
                <a:gridCol w="1188720">
                  <a:extLst>
                    <a:ext uri="{9D8B030D-6E8A-4147-A177-3AD203B41FA5}">
                      <a16:colId xmlns="" xmlns:a16="http://schemas.microsoft.com/office/drawing/2014/main" val="20003"/>
                    </a:ext>
                  </a:extLst>
                </a:gridCol>
                <a:gridCol w="914400">
                  <a:extLst>
                    <a:ext uri="{9D8B030D-6E8A-4147-A177-3AD203B41FA5}">
                      <a16:colId xmlns="" xmlns:a16="http://schemas.microsoft.com/office/drawing/2014/main" val="20004"/>
                    </a:ext>
                  </a:extLst>
                </a:gridCol>
                <a:gridCol w="1005840">
                  <a:extLst>
                    <a:ext uri="{9D8B030D-6E8A-4147-A177-3AD203B41FA5}">
                      <a16:colId xmlns="" xmlns:a16="http://schemas.microsoft.com/office/drawing/2014/main" val="20005"/>
                    </a:ext>
                  </a:extLst>
                </a:gridCol>
                <a:gridCol w="1005840">
                  <a:extLst>
                    <a:ext uri="{9D8B030D-6E8A-4147-A177-3AD203B41FA5}">
                      <a16:colId xmlns="" xmlns:a16="http://schemas.microsoft.com/office/drawing/2014/main" val="20006"/>
                    </a:ext>
                  </a:extLst>
                </a:gridCol>
              </a:tblGrid>
              <a:tr h="370840">
                <a:tc>
                  <a:txBody>
                    <a:bodyPr/>
                    <a:lstStyle/>
                    <a:p>
                      <a:pPr algn="ctr"/>
                      <a:r>
                        <a:rPr lang="en-PH" sz="2000" b="1" dirty="0" err="1">
                          <a:latin typeface="Verdana" pitchFamily="34" charset="0"/>
                          <a:ea typeface="Verdana" pitchFamily="34" charset="0"/>
                        </a:rPr>
                        <a:t>Color</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dirty="0">
                          <a:latin typeface="Verdana" pitchFamily="34" charset="0"/>
                          <a:ea typeface="Verdana" pitchFamily="34" charset="0"/>
                        </a:rPr>
                        <a:t>Red</a:t>
                      </a:r>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dirty="0">
                          <a:latin typeface="Verdana" pitchFamily="34" charset="0"/>
                          <a:ea typeface="Verdana" pitchFamily="34" charset="0"/>
                        </a:rPr>
                        <a:t>Purple</a:t>
                      </a:r>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dirty="0">
                          <a:latin typeface="Verdana" pitchFamily="34" charset="0"/>
                          <a:ea typeface="Verdana" pitchFamily="34" charset="0"/>
                        </a:rPr>
                        <a:t>Orange</a:t>
                      </a:r>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dirty="0">
                          <a:latin typeface="Verdana" pitchFamily="34" charset="0"/>
                          <a:ea typeface="Verdana" pitchFamily="34" charset="0"/>
                        </a:rPr>
                        <a:t>Blue</a:t>
                      </a:r>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dirty="0">
                          <a:latin typeface="Verdana" pitchFamily="34" charset="0"/>
                          <a:ea typeface="Verdana" pitchFamily="34" charset="0"/>
                        </a:rPr>
                        <a:t>Yellow</a:t>
                      </a:r>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dirty="0">
                          <a:latin typeface="Verdana" pitchFamily="34" charset="0"/>
                          <a:ea typeface="Verdana" pitchFamily="34" charset="0"/>
                        </a:rPr>
                        <a:t>Green</a:t>
                      </a:r>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370840">
                <a:tc>
                  <a:txBody>
                    <a:bodyPr/>
                    <a:lstStyle/>
                    <a:p>
                      <a:pPr algn="ctr"/>
                      <a:r>
                        <a:rPr lang="en-US" sz="2000" b="1" dirty="0">
                          <a:effectLst/>
                          <a:latin typeface="Verdana"/>
                          <a:ea typeface="Times New Roman"/>
                          <a:cs typeface="Cambria"/>
                        </a:rPr>
                        <a:t>Simulation A</a:t>
                      </a:r>
                      <a:br>
                        <a:rPr lang="en-US" sz="2000" b="1" dirty="0">
                          <a:effectLst/>
                          <a:latin typeface="Verdana"/>
                          <a:ea typeface="Times New Roman"/>
                          <a:cs typeface="Cambria"/>
                        </a:rPr>
                      </a:br>
                      <a:r>
                        <a:rPr lang="en-US" sz="2000" b="0" dirty="0">
                          <a:effectLst/>
                          <a:latin typeface="Verdana"/>
                          <a:ea typeface="Times New Roman"/>
                          <a:cs typeface="Cambria"/>
                        </a:rPr>
                        <a:t>(6 spins)</a:t>
                      </a:r>
                      <a:endParaRPr lang="en-US" sz="2000" b="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dirty="0">
                          <a:latin typeface="Cambria Math" pitchFamily="18" charset="0"/>
                          <a:ea typeface="Cambria Math" pitchFamily="18" charset="0"/>
                        </a:rPr>
                        <a:t>0%</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16.7%</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16.7%</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33.3%</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0%</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33.3%</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70840">
                <a:tc>
                  <a:txBody>
                    <a:bodyPr/>
                    <a:lstStyle/>
                    <a:p>
                      <a:pPr algn="ctr"/>
                      <a:r>
                        <a:rPr lang="en-US" sz="2000" b="1" dirty="0">
                          <a:effectLst/>
                          <a:latin typeface="Verdana"/>
                          <a:ea typeface="Times New Roman"/>
                          <a:cs typeface="Cambria"/>
                        </a:rPr>
                        <a:t>Simulation B</a:t>
                      </a:r>
                      <a:br>
                        <a:rPr lang="en-US" sz="2000" b="1" dirty="0">
                          <a:effectLst/>
                          <a:latin typeface="Verdana"/>
                          <a:ea typeface="Times New Roman"/>
                          <a:cs typeface="Cambria"/>
                        </a:rPr>
                      </a:br>
                      <a:r>
                        <a:rPr lang="en-US" sz="2000" b="0" dirty="0">
                          <a:effectLst/>
                          <a:latin typeface="Verdana"/>
                          <a:ea typeface="Times New Roman"/>
                          <a:cs typeface="Cambria"/>
                        </a:rPr>
                        <a:t>(60 spins)</a:t>
                      </a:r>
                      <a:endParaRPr lang="en-US" sz="2000" b="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dirty="0">
                          <a:latin typeface="Cambria Math" pitchFamily="18" charset="0"/>
                          <a:ea typeface="Cambria Math" pitchFamily="18" charset="0"/>
                        </a:rPr>
                        <a:t>16.7%</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15%</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20%</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13.3%</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10%</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25%</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370840">
                <a:tc>
                  <a:txBody>
                    <a:bodyPr/>
                    <a:lstStyle/>
                    <a:p>
                      <a:pPr algn="ctr"/>
                      <a:r>
                        <a:rPr lang="en-US" sz="2000" b="1" dirty="0">
                          <a:effectLst/>
                          <a:latin typeface="Verdana"/>
                          <a:ea typeface="Times New Roman"/>
                          <a:cs typeface="Cambria"/>
                        </a:rPr>
                        <a:t>Simulation C</a:t>
                      </a:r>
                      <a:br>
                        <a:rPr lang="en-US" sz="2000" b="1" dirty="0">
                          <a:effectLst/>
                          <a:latin typeface="Verdana"/>
                          <a:ea typeface="Times New Roman"/>
                          <a:cs typeface="Cambria"/>
                        </a:rPr>
                      </a:br>
                      <a:r>
                        <a:rPr lang="en-US" sz="2000" b="0" dirty="0">
                          <a:effectLst/>
                          <a:latin typeface="Verdana"/>
                          <a:ea typeface="Times New Roman"/>
                          <a:cs typeface="Cambria"/>
                        </a:rPr>
                        <a:t>(600 spins)</a:t>
                      </a:r>
                      <a:endParaRPr lang="en-US" sz="2000" b="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dirty="0">
                          <a:latin typeface="Cambria Math" pitchFamily="18" charset="0"/>
                          <a:ea typeface="Cambria Math" pitchFamily="18" charset="0"/>
                        </a:rPr>
                        <a:t>17.7%</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19%</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18%</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15.8%</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14.5%</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15%</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r h="370840">
                <a:tc>
                  <a:txBody>
                    <a:bodyPr/>
                    <a:lstStyle/>
                    <a:p>
                      <a:pPr algn="ctr"/>
                      <a:r>
                        <a:rPr lang="en-US" sz="2000" b="1" dirty="0">
                          <a:effectLst/>
                          <a:latin typeface="Verdana"/>
                          <a:ea typeface="Times New Roman"/>
                          <a:cs typeface="Cambria"/>
                        </a:rPr>
                        <a:t>Simulation D</a:t>
                      </a:r>
                      <a:br>
                        <a:rPr lang="en-US" sz="2000" b="1" dirty="0">
                          <a:effectLst/>
                          <a:latin typeface="Verdana"/>
                          <a:ea typeface="Times New Roman"/>
                          <a:cs typeface="Cambria"/>
                        </a:rPr>
                      </a:br>
                      <a:r>
                        <a:rPr lang="en-US" sz="2000" b="0" dirty="0">
                          <a:effectLst/>
                          <a:latin typeface="Verdana"/>
                          <a:ea typeface="Times New Roman"/>
                          <a:cs typeface="Cambria"/>
                        </a:rPr>
                        <a:t>(6000 spins)</a:t>
                      </a:r>
                      <a:endParaRPr lang="en-US" sz="2000" b="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dirty="0">
                          <a:latin typeface="Cambria Math" pitchFamily="18" charset="0"/>
                          <a:ea typeface="Cambria Math" pitchFamily="18" charset="0"/>
                        </a:rPr>
                        <a:t>16.9%</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16%</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17.1%</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16.6%</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16.7%</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17.1%</a:t>
                      </a:r>
                      <a:endParaRPr lang="en-US" sz="2000" dirty="0">
                        <a:latin typeface="Cambria Math" pitchFamily="18" charset="0"/>
                        <a:ea typeface="Cambria Math"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bl>
          </a:graphicData>
        </a:graphic>
      </p:graphicFrame>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74</a:t>
            </a:r>
            <a:endParaRPr i="1" dirty="0">
              <a:latin typeface="Calibri"/>
              <a:ea typeface="Calibri"/>
              <a:cs typeface="Calibri"/>
              <a:sym typeface="Calibri"/>
            </a:endParaRPr>
          </a:p>
        </p:txBody>
      </p:sp>
    </p:spTree>
    <p:extLst>
      <p:ext uri="{BB962C8B-B14F-4D97-AF65-F5344CB8AC3E}">
        <p14:creationId xmlns:p14="http://schemas.microsoft.com/office/powerpoint/2010/main" val="1224174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B74EB5C6-2FDE-474B-866F-02AD6706D73C}"/>
                  </a:ext>
                </a:extLst>
              </p:cNvPr>
              <p:cNvSpPr txBox="1"/>
              <p:nvPr/>
            </p:nvSpPr>
            <p:spPr>
              <a:xfrm>
                <a:off x="327426" y="458956"/>
                <a:ext cx="11559774" cy="4708981"/>
              </a:xfrm>
              <a:prstGeom prst="rect">
                <a:avLst/>
              </a:prstGeom>
              <a:noFill/>
            </p:spPr>
            <p:txBody>
              <a:bodyPr wrap="square" rtlCol="0">
                <a:spAutoFit/>
              </a:bodyPr>
              <a:lstStyle/>
              <a:p>
                <a:pPr marL="914400" indent="-457200">
                  <a:buFont typeface="+mj-lt"/>
                  <a:buAutoNum type="alphaLcPeriod" startAt="3"/>
                </a:pPr>
                <a:r>
                  <a:rPr lang="en-US" sz="2000" dirty="0">
                    <a:latin typeface="Verdana"/>
                    <a:ea typeface="Times New Roman"/>
                    <a:cs typeface="Cambria"/>
                  </a:rPr>
                  <a:t>Discuss with your partner what you notice when comparing the experimental probabilities to the theoretical probabilities.</a:t>
                </a:r>
              </a:p>
              <a:p>
                <a:pPr marL="914400" indent="-457200">
                  <a:buFont typeface="+mj-lt"/>
                  <a:buAutoNum type="alphaLcPeriod" startAt="3"/>
                </a:pPr>
                <a:endParaRPr lang="en-PH" sz="2000" dirty="0">
                  <a:latin typeface="Verdana"/>
                  <a:ea typeface="Verdana" panose="020B0604030504040204" pitchFamily="34" charset="0"/>
                  <a:cs typeface="Verdana" panose="020B0604030504040204" pitchFamily="34" charset="0"/>
                </a:endParaRPr>
              </a:p>
              <a:p>
                <a:pPr marL="914400" indent="-457200">
                  <a:buFont typeface="+mj-lt"/>
                  <a:buAutoNum type="alphaLcPeriod" startAt="3"/>
                </a:pPr>
                <a:endParaRPr lang="en-PH" sz="2000" dirty="0">
                  <a:latin typeface="Verdana"/>
                  <a:ea typeface="Verdana" panose="020B0604030504040204" pitchFamily="34" charset="0"/>
                  <a:cs typeface="Verdana" panose="020B0604030504040204" pitchFamily="34" charset="0"/>
                </a:endParaRPr>
              </a:p>
              <a:p>
                <a:pPr marL="914400" indent="-457200">
                  <a:buFont typeface="+mj-lt"/>
                  <a:buAutoNum type="alphaLcPeriod" startAt="3"/>
                </a:pPr>
                <a:r>
                  <a:rPr lang="en-US" sz="2000" dirty="0">
                    <a:latin typeface="Verdana"/>
                    <a:ea typeface="Times New Roman"/>
                    <a:cs typeface="Cambria"/>
                  </a:rPr>
                  <a:t>In which simulation(s) were the experimental probabilities the most different from the theoretical probabilities?</a:t>
                </a:r>
              </a:p>
              <a:p>
                <a:pPr marL="914400" indent="-457200">
                  <a:buFont typeface="+mj-lt"/>
                  <a:buAutoNum type="alphaLcPeriod" startAt="3"/>
                </a:pPr>
                <a:endParaRPr lang="en-PH" sz="2000" dirty="0">
                  <a:latin typeface="Verdana"/>
                  <a:ea typeface="Verdana" panose="020B0604030504040204" pitchFamily="34" charset="0"/>
                  <a:cs typeface="Verdana" panose="020B0604030504040204" pitchFamily="34" charset="0"/>
                </a:endParaRPr>
              </a:p>
              <a:p>
                <a:pPr marL="914400" indent="-457200">
                  <a:buFont typeface="+mj-lt"/>
                  <a:buAutoNum type="alphaLcPeriod" startAt="3"/>
                </a:pPr>
                <a:endParaRPr lang="en-PH" sz="2000" dirty="0">
                  <a:latin typeface="Verdana"/>
                  <a:ea typeface="Verdana" panose="020B0604030504040204" pitchFamily="34" charset="0"/>
                  <a:cs typeface="Verdana" panose="020B0604030504040204" pitchFamily="34" charset="0"/>
                </a:endParaRPr>
              </a:p>
              <a:p>
                <a:pPr marL="914400" indent="-457200">
                  <a:buFont typeface="+mj-lt"/>
                  <a:buAutoNum type="alphaLcPeriod" startAt="3"/>
                </a:pPr>
                <a:r>
                  <a:rPr lang="en-US" sz="2000" dirty="0">
                    <a:latin typeface="Verdana"/>
                    <a:ea typeface="Times New Roman"/>
                    <a:cs typeface="Cambria"/>
                  </a:rPr>
                  <a:t>In which simulation(s) were the experimental probabilities the most similar to the theoretical probabilities?</a:t>
                </a:r>
              </a:p>
              <a:p>
                <a:pPr marL="914400" indent="-457200">
                  <a:buFont typeface="+mj-lt"/>
                  <a:buAutoNum type="alphaLcPeriod" startAt="3"/>
                </a:pPr>
                <a:endParaRPr lang="en-PH" sz="2000" dirty="0">
                  <a:latin typeface="Verdana"/>
                  <a:ea typeface="Verdana" panose="020B0604030504040204" pitchFamily="34" charset="0"/>
                  <a:cs typeface="Verdana" panose="020B0604030504040204" pitchFamily="34" charset="0"/>
                </a:endParaRPr>
              </a:p>
              <a:p>
                <a:pPr marL="914400" indent="-457200">
                  <a:buFont typeface="+mj-lt"/>
                  <a:buAutoNum type="alphaLcPeriod" startAt="3"/>
                </a:pPr>
                <a:endParaRPr lang="en-PH" sz="2000" dirty="0">
                  <a:latin typeface="Verdana"/>
                  <a:ea typeface="Verdana" panose="020B0604030504040204" pitchFamily="34" charset="0"/>
                  <a:cs typeface="Verdana" panose="020B0604030504040204" pitchFamily="34" charset="0"/>
                </a:endParaRPr>
              </a:p>
              <a:p>
                <a:pPr marL="914400" indent="-457200">
                  <a:buFont typeface="+mj-lt"/>
                  <a:buAutoNum type="alphaLcPeriod" startAt="3"/>
                </a:pPr>
                <a:r>
                  <a:rPr lang="en-US" sz="2000" dirty="0">
                    <a:latin typeface="Verdana"/>
                    <a:ea typeface="Times New Roman"/>
                    <a:cs typeface="Cambria"/>
                  </a:rPr>
                  <a:t>Imagine Sara used the computer-simulated spinner to perform </a:t>
                </a:r>
                <a14:m>
                  <m:oMath xmlns:m="http://schemas.openxmlformats.org/officeDocument/2006/math">
                    <m:r>
                      <a:rPr lang="en-US" sz="2000" i="1">
                        <a:latin typeface="Cambria Math"/>
                        <a:ea typeface="Times New Roman"/>
                        <a:cs typeface="Cambria"/>
                      </a:rPr>
                      <m:t>600,000</m:t>
                    </m:r>
                  </m:oMath>
                </a14:m>
                <a:r>
                  <a:rPr lang="en-US" sz="2000" dirty="0">
                    <a:latin typeface="Verdana"/>
                    <a:ea typeface="Times New Roman"/>
                    <a:cs typeface="Cambria"/>
                  </a:rPr>
                  <a:t> spins. Describe how you think the experimental probabilities of landing on each color would compare to the theoretical probabilities.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327426" y="458956"/>
                <a:ext cx="11559774" cy="4708981"/>
              </a:xfrm>
              <a:prstGeom prst="rect">
                <a:avLst/>
              </a:prstGeom>
              <a:blipFill>
                <a:blip r:embed="rId4"/>
                <a:stretch>
                  <a:fillRect t="-806" b="-1075"/>
                </a:stretch>
              </a:blipFill>
            </p:spPr>
            <p:txBody>
              <a:bodyPr/>
              <a:lstStyle/>
              <a:p>
                <a:r>
                  <a:rPr lang="en-US">
                    <a:noFill/>
                  </a:rPr>
                  <a:t> </a:t>
                </a:r>
              </a:p>
            </p:txBody>
          </p:sp>
        </mc:Fallback>
      </mc:AlternateContent>
      <p:sp>
        <p:nvSpPr>
          <p:cNvPr id="7" name="Google Shape;278;g104476d1465_1_17">
            <a:extLst>
              <a:ext uri="{FF2B5EF4-FFF2-40B4-BE49-F238E27FC236}">
                <a16:creationId xmlns=""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75</a:t>
            </a:r>
            <a:endParaRPr i="1" dirty="0">
              <a:latin typeface="Calibri"/>
              <a:ea typeface="Calibri"/>
              <a:cs typeface="Calibri"/>
              <a:sym typeface="Calibri"/>
            </a:endParaRPr>
          </a:p>
        </p:txBody>
      </p:sp>
    </p:spTree>
    <p:extLst>
      <p:ext uri="{BB962C8B-B14F-4D97-AF65-F5344CB8AC3E}">
        <p14:creationId xmlns:p14="http://schemas.microsoft.com/office/powerpoint/2010/main" val="523576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75</a:t>
            </a:r>
            <a:endParaRPr i="1" dirty="0">
              <a:latin typeface="Calibri"/>
              <a:ea typeface="Calibri"/>
              <a:cs typeface="Calibri"/>
              <a:sym typeface="Calibri"/>
            </a:endParaRPr>
          </a:p>
        </p:txBody>
      </p:sp>
      <p:sp>
        <p:nvSpPr>
          <p:cNvPr id="8" name="Google Shape;313;g104476d1465_1_39"/>
          <p:cNvSpPr txBox="1">
            <a:spLocks/>
          </p:cNvSpPr>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26B7D4"/>
                </a:solidFill>
                <a:latin typeface="Verdana"/>
                <a:ea typeface="Verdana"/>
                <a:cs typeface="Verdana"/>
                <a:sym typeface="Verdana"/>
              </a:rPr>
              <a:t>Bring It Together</a:t>
            </a:r>
            <a:endParaRPr lang="en-US" sz="5100" b="1" dirty="0">
              <a:solidFill>
                <a:srgbClr val="26B7D4"/>
              </a:solidFill>
              <a:latin typeface="Verdana"/>
              <a:ea typeface="Verdana"/>
              <a:cs typeface="Verdana"/>
              <a:sym typeface="Verdana"/>
            </a:endParaRPr>
          </a:p>
        </p:txBody>
      </p:sp>
      <p:pic>
        <p:nvPicPr>
          <p:cNvPr id="9" name="Picture 2" descr="Icon&#10;&#10;Description automatically generated">
            <a:extLst>
              <a:ext uri="{FF2B5EF4-FFF2-40B4-BE49-F238E27FC236}">
                <a16:creationId xmlns:a16="http://schemas.microsoft.com/office/drawing/2014/main" xmlns=""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4390" y="284875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6065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106424" y="142127"/>
            <a:ext cx="10952160" cy="86789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2.8.3 Bring It Together: Comparing Experimental Results to Expected Results</a:t>
            </a:r>
          </a:p>
        </p:txBody>
      </p:sp>
      <p:sp>
        <p:nvSpPr>
          <p:cNvPr id="8" name="TextBox 7">
            <a:extLst>
              <a:ext uri="{FF2B5EF4-FFF2-40B4-BE49-F238E27FC236}">
                <a16:creationId xmlns="" xmlns:a16="http://schemas.microsoft.com/office/drawing/2014/main" id="{669E00F9-F39F-5043-888E-B0A2D8C9AE0F}"/>
              </a:ext>
            </a:extLst>
          </p:cNvPr>
          <p:cNvSpPr txBox="1"/>
          <p:nvPr/>
        </p:nvSpPr>
        <p:spPr>
          <a:xfrm>
            <a:off x="731520" y="1413751"/>
            <a:ext cx="10952160" cy="4862870"/>
          </a:xfrm>
          <a:prstGeom prst="rect">
            <a:avLst/>
          </a:prstGeom>
          <a:noFill/>
        </p:spPr>
        <p:txBody>
          <a:bodyPr wrap="square" rtlCol="0">
            <a:spAutoFit/>
          </a:bodyPr>
          <a:lstStyle/>
          <a:p>
            <a:pPr marL="457200" indent="-457200">
              <a:buFont typeface="+mj-lt"/>
              <a:buAutoNum type="arabicPeriod"/>
            </a:pPr>
            <a:endParaRPr lang="en-US" sz="2000" dirty="0">
              <a:latin typeface="Verdana"/>
              <a:ea typeface="Times New Roman"/>
              <a:cs typeface="Cambria"/>
            </a:endParaRPr>
          </a:p>
          <a:p>
            <a:pPr marL="457200" indent="-457200">
              <a:buFont typeface="+mj-lt"/>
              <a:buAutoNum type="arabicPeriod"/>
            </a:pPr>
            <a:endParaRPr lang="en-US" sz="2000" dirty="0">
              <a:latin typeface="Verdana"/>
              <a:ea typeface="Times New Roman"/>
              <a:cs typeface="Cambria"/>
            </a:endParaRPr>
          </a:p>
          <a:p>
            <a:pPr marL="457200" indent="-457200">
              <a:buFont typeface="+mj-lt"/>
              <a:buAutoNum type="arabicPeriod"/>
            </a:pPr>
            <a:endParaRPr lang="en-US" sz="2000" dirty="0">
              <a:latin typeface="Verdana"/>
              <a:ea typeface="Times New Roman"/>
              <a:cs typeface="Cambria"/>
            </a:endParaRPr>
          </a:p>
          <a:p>
            <a:pPr marL="457200" indent="-457200">
              <a:buFont typeface="+mj-lt"/>
              <a:buAutoNum type="arabicPeriod"/>
            </a:pPr>
            <a:endParaRPr lang="en-US" sz="2000" dirty="0">
              <a:latin typeface="Verdana"/>
              <a:ea typeface="Times New Roman"/>
              <a:cs typeface="Cambria"/>
            </a:endParaRPr>
          </a:p>
          <a:p>
            <a:pPr marL="457200" indent="-457200">
              <a:buFont typeface="+mj-lt"/>
              <a:buAutoNum type="arabicPeriod"/>
            </a:pPr>
            <a:endParaRPr lang="en-US" sz="2000" dirty="0">
              <a:latin typeface="Verdana"/>
              <a:ea typeface="Times New Roman"/>
              <a:cs typeface="Cambria"/>
            </a:endParaRPr>
          </a:p>
          <a:p>
            <a:pPr marL="457200" indent="-457200">
              <a:buFont typeface="+mj-lt"/>
              <a:buAutoNum type="arabicPeriod"/>
            </a:pPr>
            <a:endParaRPr lang="en-US" sz="2000" dirty="0">
              <a:latin typeface="Verdana"/>
              <a:ea typeface="Times New Roman"/>
              <a:cs typeface="Cambria"/>
            </a:endParaRPr>
          </a:p>
          <a:p>
            <a:pPr marL="457200" indent="-457200">
              <a:buFont typeface="+mj-lt"/>
              <a:buAutoNum type="arabicPeriod"/>
            </a:pPr>
            <a:endParaRPr lang="en-US" sz="2000" dirty="0">
              <a:latin typeface="Verdana"/>
              <a:ea typeface="Times New Roman"/>
              <a:cs typeface="Cambria"/>
            </a:endParaRPr>
          </a:p>
          <a:p>
            <a:pPr marL="457200" indent="-457200">
              <a:buFont typeface="+mj-lt"/>
              <a:buAutoNum type="arabicPeriod"/>
            </a:pPr>
            <a:r>
              <a:rPr lang="en-US" sz="2000" dirty="0">
                <a:latin typeface="Verdana"/>
                <a:ea typeface="Times New Roman"/>
                <a:cs typeface="Cambria"/>
              </a:rPr>
              <a:t>Complete the statement.</a:t>
            </a:r>
          </a:p>
          <a:p>
            <a:pPr marL="461963">
              <a:spcBef>
                <a:spcPts val="1200"/>
              </a:spcBef>
            </a:pPr>
            <a:r>
              <a:rPr lang="en-US" sz="2000" dirty="0">
                <a:latin typeface="Verdana"/>
                <a:ea typeface="Times New Roman"/>
                <a:cs typeface="Cambria"/>
              </a:rPr>
              <a:t>As the number of trials in a simulation of a simple</a:t>
            </a:r>
          </a:p>
          <a:p>
            <a:pPr marL="461963">
              <a:lnSpc>
                <a:spcPct val="300000"/>
              </a:lnSpc>
            </a:pPr>
            <a:r>
              <a:rPr lang="en-US" sz="2000" dirty="0">
                <a:latin typeface="Verdana"/>
                <a:ea typeface="Times New Roman"/>
                <a:cs typeface="Cambria"/>
              </a:rPr>
              <a:t>experiment increases, the		        probability</a:t>
            </a:r>
          </a:p>
          <a:p>
            <a:pPr marL="461963">
              <a:lnSpc>
                <a:spcPct val="300000"/>
              </a:lnSpc>
            </a:pPr>
            <a:r>
              <a:rPr lang="en-US" sz="2000" dirty="0">
                <a:latin typeface="Verdana"/>
                <a:ea typeface="Times New Roman"/>
                <a:cs typeface="Cambria"/>
              </a:rPr>
              <a:t>gets		       the		        probability.</a:t>
            </a:r>
          </a:p>
        </p:txBody>
      </p:sp>
      <p:sp>
        <p:nvSpPr>
          <p:cNvPr id="11" name="Google Shape;278;g104476d1465_1_17">
            <a:extLst>
              <a:ext uri="{FF2B5EF4-FFF2-40B4-BE49-F238E27FC236}">
                <a16:creationId xmlns="" xmlns:a16="http://schemas.microsoft.com/office/drawing/2014/main" id="{320606D7-FA1D-5D44-AD19-A87F7EA7DDF3}"/>
              </a:ext>
            </a:extLst>
          </p:cNvPr>
          <p:cNvSpPr/>
          <p:nvPr/>
        </p:nvSpPr>
        <p:spPr>
          <a:xfrm>
            <a:off x="370" y="234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 name="Picture 2" descr="Icon&#10;&#10;Description automatically generated">
            <a:extLst>
              <a:ext uri="{FF2B5EF4-FFF2-40B4-BE49-F238E27FC236}">
                <a16:creationId xmlns="" xmlns:a16="http://schemas.microsoft.com/office/drawing/2014/main" id="{108F4C35-3A24-A244-BB28-81EF2D36CAC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2" name="Group 1"/>
          <p:cNvGrpSpPr/>
          <p:nvPr/>
        </p:nvGrpSpPr>
        <p:grpSpPr>
          <a:xfrm>
            <a:off x="1927176" y="4598037"/>
            <a:ext cx="5009246" cy="1692424"/>
            <a:chOff x="1727884" y="2407483"/>
            <a:chExt cx="5009246" cy="1692424"/>
          </a:xfrm>
        </p:grpSpPr>
        <p:sp>
          <p:nvSpPr>
            <p:cNvPr id="9" name="Rounded Rectangle 8"/>
            <p:cNvSpPr/>
            <p:nvPr/>
          </p:nvSpPr>
          <p:spPr>
            <a:xfrm>
              <a:off x="4516119" y="2407483"/>
              <a:ext cx="2221011" cy="783193"/>
            </a:xfrm>
            <a:prstGeom prst="round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28600" indent="-228600">
                <a:buFont typeface="Courier New" pitchFamily="49" charset="0"/>
                <a:buChar char="o"/>
              </a:pPr>
              <a:r>
                <a:rPr lang="en-US" sz="2000" dirty="0">
                  <a:solidFill>
                    <a:srgbClr val="000000"/>
                  </a:solidFill>
                  <a:latin typeface="Verdana" pitchFamily="34" charset="0"/>
                  <a:ea typeface="Verdana" pitchFamily="34" charset="0"/>
                  <a:cs typeface="Cambria"/>
                </a:rPr>
                <a:t>experimental</a:t>
              </a:r>
              <a:endParaRPr lang="en-US" sz="2000" dirty="0">
                <a:latin typeface="Verdana" pitchFamily="34" charset="0"/>
                <a:ea typeface="Verdana" pitchFamily="34" charset="0"/>
                <a:cs typeface="Cambria"/>
              </a:endParaRPr>
            </a:p>
            <a:p>
              <a:pPr marL="228600" indent="-228600">
                <a:spcAft>
                  <a:spcPts val="1000"/>
                </a:spcAft>
                <a:buFont typeface="Courier New" pitchFamily="49" charset="0"/>
                <a:buChar char="o"/>
              </a:pPr>
              <a:r>
                <a:rPr lang="en-US" sz="2000" dirty="0">
                  <a:solidFill>
                    <a:srgbClr val="000000"/>
                  </a:solidFill>
                  <a:latin typeface="Verdana" pitchFamily="34" charset="0"/>
                  <a:ea typeface="Verdana" pitchFamily="34" charset="0"/>
                  <a:cs typeface="Cambria"/>
                </a:rPr>
                <a:t>theoretical</a:t>
              </a:r>
              <a:endParaRPr lang="en-US" sz="2000" dirty="0">
                <a:latin typeface="Verdana" pitchFamily="34" charset="0"/>
                <a:ea typeface="Verdana" pitchFamily="34" charset="0"/>
                <a:cs typeface="Cambria"/>
              </a:endParaRPr>
            </a:p>
          </p:txBody>
        </p:sp>
        <p:sp>
          <p:nvSpPr>
            <p:cNvPr id="13" name="Rounded Rectangle 12"/>
            <p:cNvSpPr/>
            <p:nvPr/>
          </p:nvSpPr>
          <p:spPr>
            <a:xfrm>
              <a:off x="4516119" y="3314680"/>
              <a:ext cx="2208871" cy="783193"/>
            </a:xfrm>
            <a:prstGeom prst="round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28600" indent="-228600">
                <a:buFont typeface="Courier New" pitchFamily="49" charset="0"/>
                <a:buChar char="o"/>
              </a:pPr>
              <a:r>
                <a:rPr lang="en-US" sz="2000" dirty="0">
                  <a:solidFill>
                    <a:srgbClr val="000000"/>
                  </a:solidFill>
                  <a:latin typeface="Verdana" pitchFamily="34" charset="0"/>
                  <a:ea typeface="Verdana" pitchFamily="34" charset="0"/>
                  <a:cs typeface="Cambria"/>
                </a:rPr>
                <a:t>experimental</a:t>
              </a:r>
              <a:endParaRPr lang="en-US" sz="2000" dirty="0">
                <a:latin typeface="Verdana" pitchFamily="34" charset="0"/>
                <a:ea typeface="Verdana" pitchFamily="34" charset="0"/>
                <a:cs typeface="Cambria"/>
              </a:endParaRPr>
            </a:p>
            <a:p>
              <a:pPr marL="228600" indent="-228600">
                <a:spcAft>
                  <a:spcPts val="1000"/>
                </a:spcAft>
                <a:buFont typeface="Courier New" pitchFamily="49" charset="0"/>
                <a:buChar char="o"/>
              </a:pPr>
              <a:r>
                <a:rPr lang="en-US" sz="2000" dirty="0">
                  <a:solidFill>
                    <a:srgbClr val="000000"/>
                  </a:solidFill>
                  <a:latin typeface="Verdana" pitchFamily="34" charset="0"/>
                  <a:ea typeface="Verdana" pitchFamily="34" charset="0"/>
                  <a:cs typeface="Cambria"/>
                </a:rPr>
                <a:t>theoretical</a:t>
              </a:r>
              <a:endParaRPr lang="en-US" sz="2000" dirty="0">
                <a:latin typeface="Verdana" pitchFamily="34" charset="0"/>
                <a:ea typeface="Verdana" pitchFamily="34" charset="0"/>
                <a:cs typeface="Cambria"/>
              </a:endParaRPr>
            </a:p>
          </p:txBody>
        </p:sp>
        <p:sp>
          <p:nvSpPr>
            <p:cNvPr id="14" name="Rounded Rectangle 13"/>
            <p:cNvSpPr/>
            <p:nvPr/>
          </p:nvSpPr>
          <p:spPr>
            <a:xfrm>
              <a:off x="1727884" y="3316714"/>
              <a:ext cx="2160944" cy="783193"/>
            </a:xfrm>
            <a:prstGeom prst="round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28600" indent="-228600">
                <a:buFont typeface="Courier New" pitchFamily="49" charset="0"/>
                <a:buChar char="o"/>
              </a:pPr>
              <a:r>
                <a:rPr lang="en-US" sz="2000" dirty="0">
                  <a:solidFill>
                    <a:srgbClr val="000000"/>
                  </a:solidFill>
                  <a:latin typeface="Verdana"/>
                  <a:ea typeface="Times New Roman"/>
                  <a:cs typeface="Cambria"/>
                </a:rPr>
                <a:t>closer to</a:t>
              </a:r>
              <a:endParaRPr lang="en-US" sz="2000" dirty="0">
                <a:latin typeface="Verdana" pitchFamily="34" charset="0"/>
                <a:ea typeface="Verdana" pitchFamily="34" charset="0"/>
                <a:cs typeface="Cambria"/>
              </a:endParaRPr>
            </a:p>
            <a:p>
              <a:pPr marL="228600" indent="-228600">
                <a:spcAft>
                  <a:spcPts val="1000"/>
                </a:spcAft>
                <a:buFont typeface="Courier New" pitchFamily="49" charset="0"/>
                <a:buChar char="o"/>
              </a:pPr>
              <a:r>
                <a:rPr lang="en-US" sz="2000" dirty="0">
                  <a:solidFill>
                    <a:srgbClr val="000000"/>
                  </a:solidFill>
                  <a:latin typeface="Verdana"/>
                  <a:ea typeface="Times New Roman"/>
                  <a:cs typeface="Cambria"/>
                </a:rPr>
                <a:t>farther from</a:t>
              </a:r>
              <a:endParaRPr lang="en-US" sz="2000" dirty="0">
                <a:latin typeface="Verdana" pitchFamily="34" charset="0"/>
                <a:ea typeface="Verdana" pitchFamily="34" charset="0"/>
                <a:cs typeface="Cambria"/>
              </a:endParaRPr>
            </a:p>
          </p:txBody>
        </p:sp>
      </p:grpSp>
      <p:sp>
        <p:nvSpPr>
          <p:cNvPr id="15"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75</a:t>
            </a:r>
            <a:endParaRPr i="1" dirty="0">
              <a:latin typeface="Calibri"/>
              <a:ea typeface="Calibri"/>
              <a:cs typeface="Calibri"/>
              <a:sym typeface="Calibri"/>
            </a:endParaRPr>
          </a:p>
        </p:txBody>
      </p:sp>
      <p:grpSp>
        <p:nvGrpSpPr>
          <p:cNvPr id="16" name="Group 15"/>
          <p:cNvGrpSpPr/>
          <p:nvPr/>
        </p:nvGrpSpPr>
        <p:grpSpPr>
          <a:xfrm>
            <a:off x="2227752" y="1370902"/>
            <a:ext cx="7992528" cy="1675670"/>
            <a:chOff x="0" y="-158384"/>
            <a:chExt cx="7992528" cy="1675670"/>
          </a:xfrm>
        </p:grpSpPr>
        <p:sp>
          <p:nvSpPr>
            <p:cNvPr id="17" name="Rounded Rectangle 16"/>
            <p:cNvSpPr/>
            <p:nvPr/>
          </p:nvSpPr>
          <p:spPr>
            <a:xfrm>
              <a:off x="0" y="-158384"/>
              <a:ext cx="7992528" cy="1675670"/>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108000" rIns="91425" bIns="0" anchor="ctr" anchorCtr="0">
              <a:spAutoFit/>
            </a:bodyPr>
            <a:lstStyle/>
            <a:p>
              <a:pPr marL="685800">
                <a:spcAft>
                  <a:spcPts val="1000"/>
                </a:spcAft>
              </a:pPr>
              <a:r>
                <a:rPr lang="en-US" sz="2000" dirty="0">
                  <a:solidFill>
                    <a:srgbClr val="6C993D"/>
                  </a:solidFill>
                  <a:latin typeface="Verdana"/>
                  <a:ea typeface="Verdana"/>
                  <a:cs typeface="Verdana"/>
                </a:rPr>
                <a:t>A </a:t>
              </a:r>
              <a:r>
                <a:rPr lang="en-US" sz="2000" b="1" i="1" dirty="0">
                  <a:solidFill>
                    <a:srgbClr val="6C993D"/>
                  </a:solidFill>
                  <a:latin typeface="Verdana"/>
                  <a:ea typeface="Verdana"/>
                  <a:cs typeface="Verdana"/>
                </a:rPr>
                <a:t>simulation</a:t>
              </a:r>
              <a:r>
                <a:rPr lang="en-US" sz="2000" dirty="0">
                  <a:solidFill>
                    <a:srgbClr val="6C993D"/>
                  </a:solidFill>
                  <a:latin typeface="Verdana"/>
                  <a:ea typeface="Verdana"/>
                  <a:cs typeface="Verdana"/>
                </a:rPr>
                <a:t> is an approximate imitation of a statistical experiment, often done with a computer program to examine the statistics of a large quantity of trials.</a:t>
              </a:r>
              <a:endParaRPr lang="en-US" dirty="0">
                <a:latin typeface="Cambria"/>
                <a:ea typeface="Times New Roman"/>
                <a:cs typeface="Cambria"/>
              </a:endParaRPr>
            </a:p>
          </p:txBody>
        </p:sp>
        <p:pic>
          <p:nvPicPr>
            <p:cNvPr id="18" name="Shape 7" descr="Icon&#10;&#10;Description automatically generated"/>
            <p:cNvPicPr/>
            <p:nvPr/>
          </p:nvPicPr>
          <p:blipFill rotWithShape="1">
            <a:blip r:embed="rId5" cstate="screen">
              <a:alphaModFix/>
              <a:extLst>
                <a:ext uri="{28A0092B-C50C-407E-A947-70E740481C1C}">
                  <a14:useLocalDpi xmlns:a14="http://schemas.microsoft.com/office/drawing/2010/main"/>
                </a:ext>
              </a:extLst>
            </a:blip>
            <a:srcRect/>
            <a:stretch/>
          </p:blipFill>
          <p:spPr>
            <a:xfrm>
              <a:off x="139700" y="45720"/>
              <a:ext cx="539750" cy="539750"/>
            </a:xfrm>
            <a:prstGeom prst="rect">
              <a:avLst/>
            </a:prstGeom>
            <a:noFill/>
            <a:ln>
              <a:noFill/>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3399856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A08C1C0E-C7C0-F14B-88E2-57B6133AD69D}"/>
                  </a:ext>
                </a:extLst>
              </p:cNvPr>
              <p:cNvSpPr txBox="1"/>
              <p:nvPr/>
            </p:nvSpPr>
            <p:spPr>
              <a:xfrm>
                <a:off x="619447" y="421477"/>
                <a:ext cx="11478767" cy="4964885"/>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Times New Roman"/>
                    <a:cs typeface="Cambria"/>
                  </a:rPr>
                  <a:t>Imagine flipping a coin </a:t>
                </a:r>
                <a14:m>
                  <m:oMath xmlns:m="http://schemas.openxmlformats.org/officeDocument/2006/math">
                    <m:r>
                      <a:rPr lang="en-US" sz="2000" i="1">
                        <a:latin typeface="Cambria Math"/>
                        <a:ea typeface="Times New Roman"/>
                        <a:cs typeface="Cambria"/>
                      </a:rPr>
                      <m:t>3</m:t>
                    </m:r>
                  </m:oMath>
                </a14:m>
                <a:r>
                  <a:rPr lang="en-US" sz="2000" dirty="0">
                    <a:latin typeface="Verdana"/>
                    <a:ea typeface="Times New Roman"/>
                    <a:cs typeface="Cambria"/>
                  </a:rPr>
                  <a:t> times, and it has come up heads once. The experimental probability of landing on heads after </a:t>
                </a:r>
                <a14:m>
                  <m:oMath xmlns:m="http://schemas.openxmlformats.org/officeDocument/2006/math">
                    <m:r>
                      <a:rPr lang="en-US" sz="2000" i="1">
                        <a:latin typeface="Cambria Math"/>
                        <a:ea typeface="Times New Roman"/>
                        <a:cs typeface="Cambria"/>
                      </a:rPr>
                      <m:t>3</m:t>
                    </m:r>
                  </m:oMath>
                </a14:m>
                <a:r>
                  <a:rPr lang="en-US" sz="2000" dirty="0">
                    <a:latin typeface="Verdana"/>
                    <a:ea typeface="Times New Roman"/>
                    <a:cs typeface="Cambria"/>
                  </a:rPr>
                  <a:t> trials is </a:t>
                </a:r>
                <a14:m>
                  <m:oMath xmlns:m="http://schemas.openxmlformats.org/officeDocument/2006/math">
                    <m:f>
                      <m:fPr>
                        <m:ctrlPr>
                          <a:rPr lang="en-US" sz="2000" i="1">
                            <a:latin typeface="Cambria Math"/>
                          </a:rPr>
                        </m:ctrlPr>
                      </m:fPr>
                      <m:num>
                        <m:r>
                          <a:rPr lang="en-US" sz="2000" i="1">
                            <a:latin typeface="Cambria Math"/>
                            <a:ea typeface="Times New Roman"/>
                            <a:cs typeface="Cambria"/>
                          </a:rPr>
                          <m:t>1</m:t>
                        </m:r>
                      </m:num>
                      <m:den>
                        <m:r>
                          <a:rPr lang="en-US" sz="2000" i="1">
                            <a:latin typeface="Cambria Math"/>
                            <a:ea typeface="Times New Roman"/>
                            <a:cs typeface="Cambria"/>
                          </a:rPr>
                          <m:t>3</m:t>
                        </m:r>
                      </m:den>
                    </m:f>
                  </m:oMath>
                </a14:m>
                <a:r>
                  <a:rPr lang="en-US" sz="2000" dirty="0">
                    <a:latin typeface="Verdana"/>
                    <a:ea typeface="Times New Roman"/>
                    <a:cs typeface="Cambria"/>
                  </a:rPr>
                  <a:t>. Discuss with your partner whether flipping the coin one more time is guaranteed to result in landing on heads so the experimental probability, </a:t>
                </a:r>
                <a14:m>
                  <m:oMath xmlns:m="http://schemas.openxmlformats.org/officeDocument/2006/math">
                    <m:f>
                      <m:fPr>
                        <m:ctrlPr>
                          <a:rPr lang="en-US" sz="2000" i="1">
                            <a:latin typeface="Cambria Math"/>
                          </a:rPr>
                        </m:ctrlPr>
                      </m:fPr>
                      <m:num>
                        <m:r>
                          <a:rPr lang="en-US" sz="2000" i="1">
                            <a:latin typeface="Cambria Math"/>
                            <a:ea typeface="Times New Roman"/>
                            <a:cs typeface="Cambria"/>
                          </a:rPr>
                          <m:t>2</m:t>
                        </m:r>
                      </m:num>
                      <m:den>
                        <m:r>
                          <a:rPr lang="en-US" sz="2000" i="1">
                            <a:latin typeface="Cambria Math"/>
                            <a:ea typeface="Times New Roman"/>
                            <a:cs typeface="Cambria"/>
                          </a:rPr>
                          <m:t>4</m:t>
                        </m:r>
                      </m:den>
                    </m:f>
                  </m:oMath>
                </a14:m>
                <a:r>
                  <a:rPr lang="en-US" sz="2000" dirty="0">
                    <a:latin typeface="Verdana"/>
                    <a:ea typeface="Times New Roman"/>
                    <a:cs typeface="Cambria"/>
                  </a:rPr>
                  <a:t>, will equal the theoretical probability </a:t>
                </a:r>
                <a14:m>
                  <m:oMath xmlns:m="http://schemas.openxmlformats.org/officeDocument/2006/math">
                    <m:f>
                      <m:fPr>
                        <m:ctrlPr>
                          <a:rPr lang="en-US" sz="2000" i="1">
                            <a:latin typeface="Cambria Math"/>
                          </a:rPr>
                        </m:ctrlPr>
                      </m:fPr>
                      <m:num>
                        <m:r>
                          <a:rPr lang="en-US" sz="2000" i="1">
                            <a:latin typeface="Cambria Math"/>
                            <a:ea typeface="Times New Roman"/>
                            <a:cs typeface="Cambria"/>
                          </a:rPr>
                          <m:t>1</m:t>
                        </m:r>
                      </m:num>
                      <m:den>
                        <m:r>
                          <a:rPr lang="en-US" sz="2000" i="1">
                            <a:latin typeface="Cambria Math"/>
                            <a:ea typeface="Times New Roman"/>
                            <a:cs typeface="Cambria"/>
                          </a:rPr>
                          <m:t>2</m:t>
                        </m:r>
                      </m:den>
                    </m:f>
                  </m:oMath>
                </a14:m>
                <a:r>
                  <a:rPr lang="en-US" sz="2000" dirty="0">
                    <a:latin typeface="Verdana"/>
                    <a:ea typeface="Times New Roman"/>
                    <a:cs typeface="Cambria"/>
                  </a:rPr>
                  <a:t>.</a:t>
                </a:r>
                <a:endParaRPr lang="en-PH" sz="2000" dirty="0">
                  <a:latin typeface="Verdana"/>
                  <a:ea typeface="Verdana" panose="020B0604030504040204" pitchFamily="34" charset="0"/>
                  <a:cs typeface="Verdana" panose="020B0604030504040204" pitchFamily="34" charset="0"/>
                </a:endParaRPr>
              </a:p>
              <a:p>
                <a:endParaRPr lang="en-PH" sz="2000" dirty="0">
                  <a:latin typeface="Verdana"/>
                  <a:ea typeface="Times New Roman"/>
                  <a:cs typeface="Cambria"/>
                </a:endParaRPr>
              </a:p>
              <a:p>
                <a:endParaRPr lang="en-PH" sz="2000" dirty="0">
                  <a:latin typeface="Verdana"/>
                  <a:ea typeface="Times New Roman"/>
                  <a:cs typeface="Cambria"/>
                </a:endParaRPr>
              </a:p>
              <a:p>
                <a:endParaRPr lang="en-PH" sz="2000" dirty="0">
                  <a:latin typeface="Verdana"/>
                  <a:ea typeface="Times New Roman"/>
                  <a:cs typeface="Cambria"/>
                </a:endParaRPr>
              </a:p>
              <a:p>
                <a:endParaRPr lang="en-PH" sz="2000" dirty="0">
                  <a:latin typeface="Verdana"/>
                  <a:ea typeface="Times New Roman"/>
                  <a:cs typeface="Cambria"/>
                </a:endParaRPr>
              </a:p>
              <a:p>
                <a:endParaRPr lang="en-PH" sz="2000" dirty="0">
                  <a:latin typeface="Verdana"/>
                  <a:ea typeface="Times New Roman"/>
                  <a:cs typeface="Cambria"/>
                </a:endParaRPr>
              </a:p>
              <a:p>
                <a:endParaRPr lang="en-PH" sz="2000" dirty="0">
                  <a:latin typeface="Verdana"/>
                  <a:ea typeface="Times New Roman"/>
                  <a:cs typeface="Cambria"/>
                </a:endParaRPr>
              </a:p>
              <a:p>
                <a:endParaRPr lang="en-PH" sz="2000" dirty="0">
                  <a:latin typeface="Verdana"/>
                  <a:ea typeface="Times New Roman"/>
                  <a:cs typeface="Cambria"/>
                </a:endParaRPr>
              </a:p>
              <a:p>
                <a:endParaRPr lang="en-PH" sz="2000" dirty="0">
                  <a:latin typeface="Verdana"/>
                  <a:ea typeface="Times New Roman"/>
                  <a:cs typeface="Cambria"/>
                </a:endParaRPr>
              </a:p>
              <a:p>
                <a:endParaRPr lang="en-US" sz="2000" dirty="0">
                  <a:latin typeface="Verdana"/>
                  <a:ea typeface="Times New Roman"/>
                  <a:cs typeface="Cambria"/>
                </a:endParaRPr>
              </a:p>
              <a:p>
                <a:r>
                  <a:rPr lang="en-US" sz="2000" dirty="0">
                    <a:latin typeface="Verdana"/>
                    <a:ea typeface="Times New Roman"/>
                    <a:cs typeface="Cambria"/>
                  </a:rPr>
                  <a:t>Simulations are useful when it is hard or time consuming to gather enough information to estimate the probability of some event.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A08C1C0E-C7C0-F14B-88E2-57B6133AD69D}"/>
                  </a:ext>
                </a:extLst>
              </p:cNvPr>
              <p:cNvSpPr txBox="1">
                <a:spLocks noRot="1" noChangeAspect="1" noMove="1" noResize="1" noEditPoints="1" noAdjustHandles="1" noChangeArrowheads="1" noChangeShapeType="1" noTextEdit="1"/>
              </p:cNvSpPr>
              <p:nvPr/>
            </p:nvSpPr>
            <p:spPr>
              <a:xfrm>
                <a:off x="619447" y="421477"/>
                <a:ext cx="11478767" cy="4964885"/>
              </a:xfrm>
              <a:prstGeom prst="rect">
                <a:avLst/>
              </a:prstGeom>
              <a:blipFill>
                <a:blip r:embed="rId4"/>
                <a:stretch>
                  <a:fillRect l="-552" t="-765" b="-1276"/>
                </a:stretch>
              </a:blipFill>
            </p:spPr>
            <p:txBody>
              <a:bodyPr/>
              <a:lstStyle/>
              <a:p>
                <a:r>
                  <a:rPr lang="en-US">
                    <a:noFill/>
                  </a:rPr>
                  <a:t> </a:t>
                </a:r>
              </a:p>
            </p:txBody>
          </p:sp>
        </mc:Fallback>
      </mc:AlternateContent>
      <p:sp>
        <p:nvSpPr>
          <p:cNvPr id="7" name="Google Shape;278;g104476d1465_1_17">
            <a:extLst>
              <a:ext uri="{FF2B5EF4-FFF2-40B4-BE49-F238E27FC236}">
                <a16:creationId xmlns="" xmlns:a16="http://schemas.microsoft.com/office/drawing/2014/main" id="{9E4C3D56-1DA8-9443-9950-361D67B05B62}"/>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6" name="Group 5"/>
          <p:cNvGrpSpPr/>
          <p:nvPr/>
        </p:nvGrpSpPr>
        <p:grpSpPr>
          <a:xfrm>
            <a:off x="1944624" y="2129883"/>
            <a:ext cx="8302752" cy="2356707"/>
            <a:chOff x="-24384" y="-796294"/>
            <a:chExt cx="8302752" cy="2357360"/>
          </a:xfrm>
          <a:effectLst>
            <a:outerShdw blurRad="50800" dist="38100" dir="2700000" algn="tl" rotWithShape="0">
              <a:prstClr val="black">
                <a:alpha val="40000"/>
              </a:prstClr>
            </a:outerShdw>
          </a:effectLst>
        </p:grpSpPr>
        <p:grpSp>
          <p:nvGrpSpPr>
            <p:cNvPr id="8" name="Group 7"/>
            <p:cNvGrpSpPr/>
            <p:nvPr/>
          </p:nvGrpSpPr>
          <p:grpSpPr>
            <a:xfrm>
              <a:off x="-24384" y="-796294"/>
              <a:ext cx="8302752" cy="2357360"/>
              <a:chOff x="2006916" y="2590514"/>
              <a:chExt cx="8302752" cy="2357360"/>
            </a:xfrm>
          </p:grpSpPr>
          <p:grpSp>
            <p:nvGrpSpPr>
              <p:cNvPr id="10" name="Group 9"/>
              <p:cNvGrpSpPr/>
              <p:nvPr/>
            </p:nvGrpSpPr>
            <p:grpSpPr>
              <a:xfrm>
                <a:off x="2006916" y="2590514"/>
                <a:ext cx="8302752" cy="2357360"/>
                <a:chOff x="-24384" y="-796294"/>
                <a:chExt cx="8302752" cy="2357360"/>
              </a:xfrm>
            </p:grpSpPr>
            <p:sp>
              <p:nvSpPr>
                <p:cNvPr id="11" name="Rectangle 10"/>
                <p:cNvSpPr/>
                <p:nvPr/>
              </p:nvSpPr>
              <p:spPr>
                <a:xfrm>
                  <a:off x="0" y="144347"/>
                  <a:ext cx="6629400" cy="497680"/>
                </a:xfrm>
                <a:prstGeom prst="rect">
                  <a:avLst/>
                </a:prstGeom>
                <a:noFill/>
                <a:ln>
                  <a:noFill/>
                </a:ln>
              </p:spPr>
              <p:txBody>
                <a:bodyPr spcFirstLastPara="1" wrap="square" lIns="91425" tIns="91425" rIns="91425" bIns="91425" anchor="ctr" anchorCtr="0">
                  <a:spAutoFit/>
                </a:bodyPr>
                <a:lstStyle/>
                <a:p>
                  <a:pPr>
                    <a:spcAft>
                      <a:spcPts val="1000"/>
                    </a:spcAft>
                  </a:pPr>
                  <a:r>
                    <a:rPr lang="en-US" sz="1200">
                      <a:latin typeface="Cambria"/>
                      <a:ea typeface="Times New Roman"/>
                      <a:cs typeface="Cambria"/>
                    </a:rPr>
                    <a:t> </a:t>
                  </a:r>
                </a:p>
              </p:txBody>
            </p:sp>
            <p:sp>
              <p:nvSpPr>
                <p:cNvPr id="13" name="Rectangle 12"/>
                <p:cNvSpPr/>
                <p:nvPr/>
              </p:nvSpPr>
              <p:spPr>
                <a:xfrm>
                  <a:off x="0" y="144347"/>
                  <a:ext cx="6629400" cy="497680"/>
                </a:xfrm>
                <a:prstGeom prst="rect">
                  <a:avLst/>
                </a:prstGeom>
                <a:noFill/>
                <a:ln>
                  <a:noFill/>
                </a:ln>
              </p:spPr>
              <p:txBody>
                <a:bodyPr spcFirstLastPara="1" wrap="square" lIns="91425" tIns="91425" rIns="91425" bIns="91425" anchor="ctr" anchorCtr="0">
                  <a:spAutoFit/>
                </a:bodyPr>
                <a:lstStyle/>
                <a:p>
                  <a:pPr>
                    <a:spcAft>
                      <a:spcPts val="1000"/>
                    </a:spcAft>
                  </a:pPr>
                  <a:r>
                    <a:rPr lang="en-US" sz="1200">
                      <a:latin typeface="Cambria"/>
                      <a:ea typeface="Times New Roman"/>
                      <a:cs typeface="Cambria"/>
                    </a:rPr>
                    <a:t> </a:t>
                  </a:r>
                </a:p>
              </p:txBody>
            </p:sp>
            <p:sp>
              <p:nvSpPr>
                <p:cNvPr id="14" name="Rounded Rectangle 13"/>
                <p:cNvSpPr/>
                <p:nvPr/>
              </p:nvSpPr>
              <p:spPr>
                <a:xfrm>
                  <a:off x="-24384" y="-796294"/>
                  <a:ext cx="8302752" cy="2357360"/>
                </a:xfrm>
                <a:prstGeom prst="roundRect">
                  <a:avLst>
                    <a:gd name="adj" fmla="val 16667"/>
                  </a:avLst>
                </a:prstGeom>
                <a:solidFill>
                  <a:srgbClr val="B8E6F5"/>
                </a:solidFill>
                <a:ln>
                  <a:noFill/>
                </a:ln>
              </p:spPr>
              <p:txBody>
                <a:bodyPr spcFirstLastPara="1" wrap="square" lIns="91425" tIns="108000" rIns="91425" bIns="0" anchor="ctr" anchorCtr="0">
                  <a:spAutoFit/>
                </a:bodyPr>
                <a:lstStyle/>
                <a:p>
                  <a:pPr marL="742950">
                    <a:spcAft>
                      <a:spcPts val="1000"/>
                    </a:spcAft>
                  </a:pPr>
                  <a:r>
                    <a:rPr lang="en-US" sz="2000" dirty="0">
                      <a:solidFill>
                        <a:srgbClr val="0075BF"/>
                      </a:solidFill>
                      <a:latin typeface="Verdana"/>
                      <a:ea typeface="Verdana"/>
                      <a:cs typeface="Verdana"/>
                    </a:rPr>
                    <a:t>When performing simple experiments, the experimental probabilities may differ from theoretical probabilities due to random variation. However, as the number of repetitions increases, experimental probabilities will typically better approximate the theoretical probabilities.</a:t>
                  </a:r>
                  <a:endParaRPr lang="en-US" sz="2000" dirty="0">
                    <a:latin typeface="Cambria"/>
                    <a:ea typeface="Times New Roman"/>
                    <a:cs typeface="Cambria"/>
                  </a:endParaRPr>
                </a:p>
              </p:txBody>
            </p:sp>
          </p:grpSp>
        </p:grpSp>
        <p:pic>
          <p:nvPicPr>
            <p:cNvPr id="9" name="image15.png" descr="Icon&#10;&#10;Description automatically generated"/>
            <p:cNvPicPr/>
            <p:nvPr/>
          </p:nvPicPr>
          <p:blipFill>
            <a:blip r:embed="rId5" cstate="screen">
              <a:extLst>
                <a:ext uri="{28A0092B-C50C-407E-A947-70E740481C1C}">
                  <a14:useLocalDpi xmlns:a14="http://schemas.microsoft.com/office/drawing/2010/main"/>
                </a:ext>
              </a:extLst>
            </a:blip>
            <a:srcRect/>
            <a:stretch>
              <a:fillRect/>
            </a:stretch>
          </p:blipFill>
          <p:spPr>
            <a:xfrm>
              <a:off x="222568" y="-520751"/>
              <a:ext cx="539750" cy="539750"/>
            </a:xfrm>
            <a:prstGeom prst="rect">
              <a:avLst/>
            </a:prstGeom>
            <a:ln/>
            <a:effectLst>
              <a:outerShdw blurRad="50800" dist="38100" dir="2700000" algn="tl" rotWithShape="0">
                <a:prstClr val="black">
                  <a:alpha val="40000"/>
                </a:prstClr>
              </a:outerShdw>
            </a:effectLst>
          </p:spPr>
        </p:pic>
      </p:grpSp>
      <p:sp>
        <p:nvSpPr>
          <p:cNvPr id="15"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75</a:t>
            </a:r>
            <a:endParaRPr i="1" dirty="0">
              <a:latin typeface="Calibri"/>
              <a:ea typeface="Calibri"/>
              <a:cs typeface="Calibri"/>
              <a:sym typeface="Calibri"/>
            </a:endParaRPr>
          </a:p>
        </p:txBody>
      </p:sp>
    </p:spTree>
    <p:extLst>
      <p:ext uri="{BB962C8B-B14F-4D97-AF65-F5344CB8AC3E}">
        <p14:creationId xmlns:p14="http://schemas.microsoft.com/office/powerpoint/2010/main" val="772273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 xmlns:a16="http://schemas.microsoft.com/office/drawing/2014/main" id="{A08C1C0E-C7C0-F14B-88E2-57B6133AD69D}"/>
              </a:ext>
            </a:extLst>
          </p:cNvPr>
          <p:cNvSpPr txBox="1"/>
          <p:nvPr/>
        </p:nvSpPr>
        <p:spPr>
          <a:xfrm>
            <a:off x="396708" y="435050"/>
            <a:ext cx="11900799" cy="5016758"/>
          </a:xfrm>
          <a:prstGeom prst="rect">
            <a:avLst/>
          </a:prstGeom>
          <a:noFill/>
        </p:spPr>
        <p:txBody>
          <a:bodyPr wrap="square" rtlCol="0">
            <a:spAutoFit/>
          </a:bodyPr>
          <a:lstStyle/>
          <a:p>
            <a:pPr marL="457200" indent="-457200">
              <a:buFont typeface="+mj-lt"/>
              <a:buAutoNum type="arabicPeriod" startAt="3"/>
            </a:pPr>
            <a:r>
              <a:rPr lang="en-US" sz="2000" dirty="0">
                <a:latin typeface="Verdana" pitchFamily="34" charset="0"/>
                <a:ea typeface="Verdana" pitchFamily="34" charset="0"/>
              </a:rPr>
              <a:t>Consider the situations described in the table.</a:t>
            </a:r>
          </a:p>
          <a:p>
            <a:pPr marL="457200" indent="-457200">
              <a:buFont typeface="+mj-lt"/>
              <a:buAutoNum type="arabicPeriod" startAt="3"/>
            </a:pPr>
            <a:endParaRPr lang="en-PH" sz="2000" dirty="0"/>
          </a:p>
          <a:p>
            <a:pPr marL="457200" indent="-457200">
              <a:buFont typeface="+mj-lt"/>
              <a:buAutoNum type="arabicPeriod" startAt="3"/>
            </a:pPr>
            <a:endParaRPr lang="en-PH" sz="2000" dirty="0"/>
          </a:p>
          <a:p>
            <a:pPr marL="457200" indent="-457200">
              <a:buFont typeface="+mj-lt"/>
              <a:buAutoNum type="arabicPeriod" startAt="3"/>
            </a:pPr>
            <a:endParaRPr lang="en-PH" sz="2000" dirty="0"/>
          </a:p>
          <a:p>
            <a:pPr marL="457200" indent="-457200">
              <a:buFont typeface="+mj-lt"/>
              <a:buAutoNum type="arabicPeriod" startAt="3"/>
            </a:pPr>
            <a:endParaRPr lang="en-PH" sz="2000" dirty="0"/>
          </a:p>
          <a:p>
            <a:pPr marL="457200" indent="-457200">
              <a:buFont typeface="+mj-lt"/>
              <a:buAutoNum type="arabicPeriod" startAt="3"/>
            </a:pPr>
            <a:endParaRPr lang="en-PH" sz="2000" dirty="0"/>
          </a:p>
          <a:p>
            <a:pPr marL="457200" indent="-457200">
              <a:buFont typeface="+mj-lt"/>
              <a:buAutoNum type="arabicPeriod" startAt="3"/>
            </a:pPr>
            <a:endParaRPr lang="en-PH" sz="2000" dirty="0"/>
          </a:p>
          <a:p>
            <a:pPr marL="457200" indent="-457200">
              <a:buFont typeface="+mj-lt"/>
              <a:buAutoNum type="arabicPeriod" startAt="3"/>
            </a:pPr>
            <a:endParaRPr lang="en-PH" sz="2000" dirty="0"/>
          </a:p>
          <a:p>
            <a:pPr marL="457200" indent="-457200">
              <a:buFont typeface="+mj-lt"/>
              <a:buAutoNum type="arabicPeriod" startAt="3"/>
            </a:pPr>
            <a:endParaRPr lang="en-PH" sz="2000" dirty="0"/>
          </a:p>
          <a:p>
            <a:pPr marL="457200" indent="-457200">
              <a:buFont typeface="+mj-lt"/>
              <a:buAutoNum type="arabicPeriod" startAt="3"/>
            </a:pPr>
            <a:endParaRPr lang="en-PH" sz="2000" dirty="0"/>
          </a:p>
          <a:p>
            <a:pPr marL="457200" indent="-457200">
              <a:buFont typeface="+mj-lt"/>
              <a:buAutoNum type="arabicPeriod" startAt="3"/>
            </a:pPr>
            <a:endParaRPr lang="en-PH" sz="2000" dirty="0"/>
          </a:p>
          <a:p>
            <a:pPr marL="457200" indent="-457200">
              <a:buFont typeface="+mj-lt"/>
              <a:buAutoNum type="arabicPeriod" startAt="3"/>
            </a:pPr>
            <a:endParaRPr lang="en-PH" sz="2000" dirty="0"/>
          </a:p>
          <a:p>
            <a:pPr marL="457200" indent="-457200">
              <a:buFont typeface="+mj-lt"/>
              <a:buAutoNum type="arabicPeriod" startAt="3"/>
            </a:pPr>
            <a:endParaRPr lang="en-PH" sz="2000" dirty="0"/>
          </a:p>
          <a:p>
            <a:pPr marL="457200" indent="-457200">
              <a:buFont typeface="+mj-lt"/>
              <a:buAutoNum type="arabicPeriod" startAt="3"/>
            </a:pPr>
            <a:endParaRPr lang="en-PH" sz="2000" dirty="0"/>
          </a:p>
          <a:p>
            <a:pPr marL="457200" indent="-457200">
              <a:buFont typeface="+mj-lt"/>
              <a:buAutoNum type="arabicPeriod" startAt="3"/>
            </a:pPr>
            <a:endParaRPr lang="en-PH" sz="2000" dirty="0"/>
          </a:p>
          <a:p>
            <a:pPr marL="457200"/>
            <a:r>
              <a:rPr lang="en-US" sz="2000" dirty="0">
                <a:latin typeface="Verdana" pitchFamily="34" charset="0"/>
                <a:ea typeface="Verdana" pitchFamily="34" charset="0"/>
              </a:rPr>
              <a:t>Explain which situation could be simulated using the spinner from the Exploration.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 xmlns:a16="http://schemas.microsoft.com/office/drawing/2014/main" id="{9E4C3D56-1DA8-9443-9950-361D67B05B62}"/>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975529032"/>
                  </p:ext>
                </p:extLst>
              </p:nvPr>
            </p:nvGraphicFramePr>
            <p:xfrm>
              <a:off x="2506627" y="1020553"/>
              <a:ext cx="7680960" cy="3845751"/>
            </p:xfrm>
            <a:graphic>
              <a:graphicData uri="http://schemas.openxmlformats.org/drawingml/2006/table">
                <a:tbl>
                  <a:tblPr firstRow="1" bandRow="1">
                    <a:tableStyleId>{A91F0D33-8C57-4600-99A7-42BC86742BE1}</a:tableStyleId>
                  </a:tblPr>
                  <a:tblGrid>
                    <a:gridCol w="1554480">
                      <a:extLst>
                        <a:ext uri="{9D8B030D-6E8A-4147-A177-3AD203B41FA5}">
                          <a16:colId xmlns="" xmlns:a16="http://schemas.microsoft.com/office/drawing/2014/main" val="20000"/>
                        </a:ext>
                      </a:extLst>
                    </a:gridCol>
                    <a:gridCol w="6126480">
                      <a:extLst>
                        <a:ext uri="{9D8B030D-6E8A-4147-A177-3AD203B41FA5}">
                          <a16:colId xmlns="" xmlns:a16="http://schemas.microsoft.com/office/drawing/2014/main" val="20001"/>
                        </a:ext>
                      </a:extLst>
                    </a:gridCol>
                  </a:tblGrid>
                  <a:tr h="370840">
                    <a:tc>
                      <a:txBody>
                        <a:bodyPr/>
                        <a:lstStyle/>
                        <a:p>
                          <a:pPr algn="ctr"/>
                          <a:r>
                            <a:rPr lang="en-PH" sz="2000" b="1" dirty="0">
                              <a:latin typeface="Verdana" pitchFamily="34" charset="0"/>
                              <a:ea typeface="Verdana" pitchFamily="34" charset="0"/>
                            </a:rPr>
                            <a:t>Situation</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a:effectLst/>
                              <a:latin typeface="Verdana"/>
                              <a:ea typeface="Times New Roman"/>
                              <a:cs typeface="Cambria"/>
                            </a:rPr>
                            <a:t>Description</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370840">
                    <a:tc>
                      <a:txBody>
                        <a:bodyPr/>
                        <a:lstStyle/>
                        <a:p>
                          <a:pPr algn="ctr"/>
                          <a:r>
                            <a:rPr lang="en-PH" sz="2000" dirty="0">
                              <a:latin typeface="Verdana" pitchFamily="34" charset="0"/>
                              <a:ea typeface="Verdana" pitchFamily="34" charset="0"/>
                            </a:rPr>
                            <a:t>A</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000" dirty="0">
                              <a:effectLst/>
                              <a:latin typeface="Verdana"/>
                              <a:ea typeface="Times New Roman"/>
                              <a:cs typeface="Cambria"/>
                            </a:rPr>
                            <a:t>The local meteorologist in Ocala, FL says there is a </a:t>
                          </a:r>
                          <a14:m>
                            <m:oMath xmlns:m="http://schemas.openxmlformats.org/officeDocument/2006/math">
                              <m:r>
                                <a:rPr lang="en-US" sz="2000" i="1">
                                  <a:effectLst/>
                                  <a:latin typeface="Cambria Math"/>
                                  <a:ea typeface="Times New Roman"/>
                                  <a:cs typeface="Cambria"/>
                                </a:rPr>
                                <m:t>50%</m:t>
                              </m:r>
                            </m:oMath>
                          </a14:m>
                          <a:r>
                            <a:rPr lang="en-US" sz="2000" dirty="0">
                              <a:effectLst/>
                              <a:latin typeface="Verdana"/>
                              <a:ea typeface="Times New Roman"/>
                              <a:cs typeface="Cambria"/>
                            </a:rPr>
                            <a:t> chance of rain tomorrow.</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70840">
                    <a:tc>
                      <a:txBody>
                        <a:bodyPr/>
                        <a:lstStyle/>
                        <a:p>
                          <a:pPr algn="ctr"/>
                          <a:r>
                            <a:rPr lang="en-PH" sz="2000" dirty="0">
                              <a:latin typeface="Verdana" pitchFamily="34" charset="0"/>
                              <a:ea typeface="Verdana" pitchFamily="34" charset="0"/>
                            </a:rPr>
                            <a:t>B</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000" dirty="0">
                              <a:effectLst/>
                              <a:latin typeface="Verdana"/>
                              <a:ea typeface="Times New Roman"/>
                              <a:cs typeface="Cambria"/>
                            </a:rPr>
                            <a:t>A science teacher at Hamilton County High School puts the names of all students in a bag and randomly selects which of </a:t>
                          </a:r>
                          <a14:m>
                            <m:oMath xmlns:m="http://schemas.openxmlformats.org/officeDocument/2006/math">
                              <m:r>
                                <a:rPr lang="en-US" sz="2000" i="1">
                                  <a:effectLst/>
                                  <a:latin typeface="Cambria Math"/>
                                  <a:ea typeface="Times New Roman"/>
                                  <a:cs typeface="Cambria"/>
                                </a:rPr>
                                <m:t>6</m:t>
                              </m:r>
                            </m:oMath>
                          </a14:m>
                          <a:r>
                            <a:rPr lang="en-US" sz="2000" dirty="0">
                              <a:effectLst/>
                              <a:latin typeface="Verdana"/>
                              <a:ea typeface="Times New Roman"/>
                              <a:cs typeface="Cambria"/>
                            </a:rPr>
                            <a:t> groups they will sit in for his new seating chart.</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370840">
                    <a:tc>
                      <a:txBody>
                        <a:bodyPr/>
                        <a:lstStyle/>
                        <a:p>
                          <a:pPr algn="ctr"/>
                          <a:r>
                            <a:rPr lang="en-PH" sz="2000" dirty="0">
                              <a:latin typeface="Verdana" pitchFamily="34" charset="0"/>
                              <a:ea typeface="Verdana" pitchFamily="34" charset="0"/>
                            </a:rPr>
                            <a:t>C</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000" dirty="0">
                              <a:effectLst/>
                              <a:latin typeface="Verdana"/>
                              <a:ea typeface="Times New Roman"/>
                              <a:cs typeface="Cambria"/>
                            </a:rPr>
                            <a:t>The U.S. Centers for Disease Control and Prevention (CDC) released data in 2016 showing that </a:t>
                          </a:r>
                          <a14:m>
                            <m:oMath xmlns:m="http://schemas.openxmlformats.org/officeDocument/2006/math">
                              <m:f>
                                <m:fPr>
                                  <m:ctrlPr>
                                    <a:rPr lang="en-US" sz="2000" i="1">
                                      <a:effectLst/>
                                      <a:latin typeface="Cambria Math"/>
                                    </a:rPr>
                                  </m:ctrlPr>
                                </m:fPr>
                                <m:num>
                                  <m:r>
                                    <a:rPr lang="en-US" sz="2000" i="1">
                                      <a:effectLst/>
                                      <a:latin typeface="Cambria Math"/>
                                      <a:ea typeface="Times New Roman"/>
                                      <a:cs typeface="Cambria"/>
                                    </a:rPr>
                                    <m:t>1</m:t>
                                  </m:r>
                                </m:num>
                                <m:den>
                                  <m:r>
                                    <a:rPr lang="en-US" sz="2000" i="1">
                                      <a:effectLst/>
                                      <a:latin typeface="Cambria Math"/>
                                      <a:ea typeface="Times New Roman"/>
                                      <a:cs typeface="Cambria"/>
                                    </a:rPr>
                                    <m:t>3</m:t>
                                  </m:r>
                                </m:den>
                              </m:f>
                            </m:oMath>
                          </a14:m>
                          <a:r>
                            <a:rPr lang="en-US" sz="2000" dirty="0">
                              <a:effectLst/>
                              <a:latin typeface="Verdana"/>
                              <a:ea typeface="Times New Roman"/>
                              <a:cs typeface="Cambria"/>
                            </a:rPr>
                            <a:t> of all adults in the US do not get enough sleep on a regular basis.</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975529032"/>
                  </p:ext>
                </p:extLst>
              </p:nvPr>
            </p:nvGraphicFramePr>
            <p:xfrm>
              <a:off x="2506627" y="1020553"/>
              <a:ext cx="7680960" cy="3845751"/>
            </p:xfrm>
            <a:graphic>
              <a:graphicData uri="http://schemas.openxmlformats.org/drawingml/2006/table">
                <a:tbl>
                  <a:tblPr firstRow="1" bandRow="1">
                    <a:tableStyleId>{A91F0D33-8C57-4600-99A7-42BC86742BE1}</a:tableStyleId>
                  </a:tblPr>
                  <a:tblGrid>
                    <a:gridCol w="1554480">
                      <a:extLst>
                        <a:ext uri="{9D8B030D-6E8A-4147-A177-3AD203B41FA5}">
                          <a16:colId xmlns:a16="http://schemas.microsoft.com/office/drawing/2014/main" xmlns:a14="http://schemas.microsoft.com/office/drawing/2010/main" xmlns="" val="20000"/>
                        </a:ext>
                      </a:extLst>
                    </a:gridCol>
                    <a:gridCol w="6126480">
                      <a:extLst>
                        <a:ext uri="{9D8B030D-6E8A-4147-A177-3AD203B41FA5}">
                          <a16:colId xmlns:a16="http://schemas.microsoft.com/office/drawing/2014/main" xmlns:a14="http://schemas.microsoft.com/office/drawing/2010/main" xmlns="" val="20001"/>
                        </a:ext>
                      </a:extLst>
                    </a:gridCol>
                  </a:tblGrid>
                  <a:tr h="396240">
                    <a:tc>
                      <a:txBody>
                        <a:bodyPr/>
                        <a:lstStyle/>
                        <a:p>
                          <a:pPr algn="ctr"/>
                          <a:r>
                            <a:rPr lang="en-PH" sz="2000" b="1" dirty="0">
                              <a:latin typeface="Verdana" pitchFamily="34" charset="0"/>
                              <a:ea typeface="Verdana" pitchFamily="34" charset="0"/>
                            </a:rPr>
                            <a:t>Situation</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a:effectLst/>
                              <a:latin typeface="Verdana"/>
                              <a:ea typeface="Times New Roman"/>
                              <a:cs typeface="Cambria"/>
                            </a:rPr>
                            <a:t>Description</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701040">
                    <a:tc>
                      <a:txBody>
                        <a:bodyPr/>
                        <a:lstStyle/>
                        <a:p>
                          <a:pPr algn="ctr"/>
                          <a:r>
                            <a:rPr lang="en-PH" sz="2000" dirty="0">
                              <a:latin typeface="Verdana" pitchFamily="34" charset="0"/>
                              <a:ea typeface="Verdana" pitchFamily="34" charset="0"/>
                            </a:rPr>
                            <a:t>A</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5373" t="-60870" r="-100" b="-407826"/>
                          </a:stretch>
                        </a:blipFill>
                      </a:tcPr>
                    </a:tc>
                    <a:extLst>
                      <a:ext uri="{0D108BD9-81ED-4DB2-BD59-A6C34878D82A}">
                        <a16:rowId xmlns:a16="http://schemas.microsoft.com/office/drawing/2014/main" xmlns:a14="http://schemas.microsoft.com/office/drawing/2010/main" xmlns="" val="10001"/>
                      </a:ext>
                    </a:extLst>
                  </a:tr>
                  <a:tr h="1310640">
                    <a:tc>
                      <a:txBody>
                        <a:bodyPr/>
                        <a:lstStyle/>
                        <a:p>
                          <a:pPr algn="ctr"/>
                          <a:r>
                            <a:rPr lang="en-PH" sz="2000" dirty="0">
                              <a:latin typeface="Verdana" pitchFamily="34" charset="0"/>
                              <a:ea typeface="Verdana" pitchFamily="34" charset="0"/>
                            </a:rPr>
                            <a:t>B</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5373" t="-86047" r="-100" b="-118140"/>
                          </a:stretch>
                        </a:blipFill>
                      </a:tcPr>
                    </a:tc>
                    <a:extLst>
                      <a:ext uri="{0D108BD9-81ED-4DB2-BD59-A6C34878D82A}">
                        <a16:rowId xmlns:a16="http://schemas.microsoft.com/office/drawing/2014/main" xmlns:a14="http://schemas.microsoft.com/office/drawing/2010/main" xmlns="" val="10002"/>
                      </a:ext>
                    </a:extLst>
                  </a:tr>
                  <a:tr h="1437831">
                    <a:tc>
                      <a:txBody>
                        <a:bodyPr/>
                        <a:lstStyle/>
                        <a:p>
                          <a:pPr algn="ctr"/>
                          <a:r>
                            <a:rPr lang="en-PH" sz="2000" dirty="0">
                              <a:latin typeface="Verdana" pitchFamily="34" charset="0"/>
                              <a:ea typeface="Verdana" pitchFamily="34" charset="0"/>
                            </a:rPr>
                            <a:t>C</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5373" t="-169492" r="-100" b="-7627"/>
                          </a:stretch>
                        </a:blipFill>
                      </a:tcPr>
                    </a:tc>
                    <a:extLst>
                      <a:ext uri="{0D108BD9-81ED-4DB2-BD59-A6C34878D82A}">
                        <a16:rowId xmlns:a16="http://schemas.microsoft.com/office/drawing/2014/main" xmlns:a14="http://schemas.microsoft.com/office/drawing/2010/main" xmlns="" val="10003"/>
                      </a:ext>
                    </a:extLst>
                  </a:tr>
                </a:tbl>
              </a:graphicData>
            </a:graphic>
          </p:graphicFrame>
        </mc:Fallback>
      </mc:AlternateContent>
      <p:sp>
        <p:nvSpPr>
          <p:cNvPr id="15"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76</a:t>
            </a:r>
            <a:endParaRPr i="1" dirty="0">
              <a:latin typeface="Calibri"/>
              <a:ea typeface="Calibri"/>
              <a:cs typeface="Calibri"/>
              <a:sym typeface="Calibri"/>
            </a:endParaRPr>
          </a:p>
        </p:txBody>
      </p:sp>
    </p:spTree>
    <p:extLst>
      <p:ext uri="{BB962C8B-B14F-4D97-AF65-F5344CB8AC3E}">
        <p14:creationId xmlns:p14="http://schemas.microsoft.com/office/powerpoint/2010/main" val="3768647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76</a:t>
            </a:r>
            <a:endParaRPr i="1" dirty="0">
              <a:latin typeface="Calibri"/>
              <a:ea typeface="Calibri"/>
              <a:cs typeface="Calibri"/>
              <a:sym typeface="Calibri"/>
            </a:endParaRPr>
          </a:p>
        </p:txBody>
      </p:sp>
      <p:sp>
        <p:nvSpPr>
          <p:cNvPr id="7" name="Google Shape;313;g104476d1465_1_39"/>
          <p:cNvSpPr txBox="1">
            <a:spLocks/>
          </p:cNvSpPr>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3BEA6"/>
                </a:solidFill>
                <a:latin typeface="Verdana"/>
                <a:ea typeface="Verdana"/>
                <a:cs typeface="Verdana"/>
                <a:sym typeface="Verdana"/>
              </a:rPr>
              <a:t>Try It</a:t>
            </a:r>
            <a:endParaRPr lang="en-US" sz="5100" b="1" dirty="0">
              <a:solidFill>
                <a:srgbClr val="33BEA6"/>
              </a:solidFill>
              <a:latin typeface="Verdana"/>
              <a:ea typeface="Verdana"/>
              <a:cs typeface="Verdana"/>
              <a:sym typeface="Verdana"/>
            </a:endParaRPr>
          </a:p>
        </p:txBody>
      </p:sp>
      <p:pic>
        <p:nvPicPr>
          <p:cNvPr id="9" name="Picture 2">
            <a:extLst>
              <a:ext uri="{FF2B5EF4-FFF2-40B4-BE49-F238E27FC236}">
                <a16:creationId xmlns="" xmlns:a16="http://schemas.microsoft.com/office/drawing/2014/main"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6858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128437" y="142127"/>
            <a:ext cx="10793931" cy="8678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2.8.4 Try It: Using Simulations to Determine Experimental Probabilities</a:t>
            </a:r>
          </a:p>
        </p:txBody>
      </p:sp>
      <p:pic>
        <p:nvPicPr>
          <p:cNvPr id="9" name="Picture 2">
            <a:extLst>
              <a:ext uri="{FF2B5EF4-FFF2-40B4-BE49-F238E27FC236}">
                <a16:creationId xmlns="" xmlns:a16="http://schemas.microsoft.com/office/drawing/2014/main"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0AB6A3A1-5A0D-C84F-AC89-57E6782F43E5}"/>
              </a:ext>
            </a:extLst>
          </p:cNvPr>
          <p:cNvSpPr txBox="1"/>
          <p:nvPr/>
        </p:nvSpPr>
        <p:spPr>
          <a:xfrm>
            <a:off x="731520" y="1359576"/>
            <a:ext cx="8327136" cy="400110"/>
          </a:xfrm>
          <a:prstGeom prst="rect">
            <a:avLst/>
          </a:prstGeom>
          <a:noFill/>
        </p:spPr>
        <p:txBody>
          <a:bodyPr wrap="square" rtlCol="0">
            <a:spAutoFit/>
          </a:bodyPr>
          <a:lstStyle/>
          <a:p>
            <a:pPr marL="457200" indent="-457200">
              <a:buFont typeface="+mj-lt"/>
              <a:buAutoNum type="arabicPeriod"/>
            </a:pPr>
            <a:r>
              <a:rPr lang="en-US" sz="2000" dirty="0">
                <a:latin typeface="Verdana"/>
                <a:ea typeface="Times New Roman"/>
                <a:cs typeface="Cambria"/>
              </a:rPr>
              <a:t>Four situations are described.</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2" name="Google Shape;278;g104476d1465_1_17">
            <a:extLst>
              <a:ext uri="{FF2B5EF4-FFF2-40B4-BE49-F238E27FC236}">
                <a16:creationId xmlns="" xmlns:a16="http://schemas.microsoft.com/office/drawing/2014/main" id="{F37EE21E-8B35-FE4A-9307-F19691384C89}"/>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2986136069"/>
                  </p:ext>
                </p:extLst>
              </p:nvPr>
            </p:nvGraphicFramePr>
            <p:xfrm>
              <a:off x="2255520" y="2037506"/>
              <a:ext cx="7680960" cy="3931920"/>
            </p:xfrm>
            <a:graphic>
              <a:graphicData uri="http://schemas.openxmlformats.org/drawingml/2006/table">
                <a:tbl>
                  <a:tblPr firstRow="1" bandRow="1">
                    <a:tableStyleId>{A91F0D33-8C57-4600-99A7-42BC86742BE1}</a:tableStyleId>
                  </a:tblPr>
                  <a:tblGrid>
                    <a:gridCol w="1554480">
                      <a:extLst>
                        <a:ext uri="{9D8B030D-6E8A-4147-A177-3AD203B41FA5}">
                          <a16:colId xmlns="" xmlns:a16="http://schemas.microsoft.com/office/drawing/2014/main" val="20000"/>
                        </a:ext>
                      </a:extLst>
                    </a:gridCol>
                    <a:gridCol w="6126480">
                      <a:extLst>
                        <a:ext uri="{9D8B030D-6E8A-4147-A177-3AD203B41FA5}">
                          <a16:colId xmlns="" xmlns:a16="http://schemas.microsoft.com/office/drawing/2014/main" val="20001"/>
                        </a:ext>
                      </a:extLst>
                    </a:gridCol>
                  </a:tblGrid>
                  <a:tr h="370840">
                    <a:tc>
                      <a:txBody>
                        <a:bodyPr/>
                        <a:lstStyle/>
                        <a:p>
                          <a:pPr algn="ctr"/>
                          <a:r>
                            <a:rPr lang="en-PH" sz="2000" b="1" dirty="0">
                              <a:latin typeface="Verdana" pitchFamily="34" charset="0"/>
                              <a:ea typeface="Verdana" pitchFamily="34" charset="0"/>
                            </a:rPr>
                            <a:t>Situation</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a:effectLst/>
                              <a:latin typeface="Verdana"/>
                              <a:ea typeface="Times New Roman"/>
                              <a:cs typeface="Cambria"/>
                            </a:rPr>
                            <a:t>Description</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370840">
                    <a:tc>
                      <a:txBody>
                        <a:bodyPr/>
                        <a:lstStyle/>
                        <a:p>
                          <a:pPr algn="ctr"/>
                          <a:r>
                            <a:rPr lang="en-PH" sz="2000" dirty="0">
                              <a:latin typeface="Verdana" pitchFamily="34" charset="0"/>
                              <a:ea typeface="Verdana" pitchFamily="34" charset="0"/>
                            </a:rPr>
                            <a:t>A</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000" dirty="0">
                              <a:effectLst/>
                              <a:latin typeface="Verdana" pitchFamily="34" charset="0"/>
                              <a:ea typeface="Verdana" pitchFamily="34" charset="0"/>
                              <a:cs typeface="Cambria"/>
                            </a:rPr>
                            <a:t>In a small lake, </a:t>
                          </a:r>
                          <a14:m>
                            <m:oMath xmlns:m="http://schemas.openxmlformats.org/officeDocument/2006/math">
                              <m:r>
                                <a:rPr lang="en-US" sz="2000" i="1">
                                  <a:effectLst/>
                                  <a:latin typeface="Cambria Math"/>
                                  <a:ea typeface="Times New Roman"/>
                                  <a:cs typeface="Cambria"/>
                                </a:rPr>
                                <m:t>25%</m:t>
                              </m:r>
                            </m:oMath>
                          </a14:m>
                          <a:r>
                            <a:rPr lang="en-US" sz="2000" dirty="0">
                              <a:effectLst/>
                              <a:latin typeface="Verdana" pitchFamily="34" charset="0"/>
                              <a:ea typeface="Verdana" pitchFamily="34" charset="0"/>
                              <a:cs typeface="Cambria"/>
                            </a:rPr>
                            <a:t> of the fish are female. You capture a fish, record whether it is male or female, and toss the fish back into the lake. If you repeat this process </a:t>
                          </a:r>
                          <a14:m>
                            <m:oMath xmlns:m="http://schemas.openxmlformats.org/officeDocument/2006/math">
                              <m:r>
                                <a:rPr lang="en-US" sz="2000" i="1">
                                  <a:effectLst/>
                                  <a:latin typeface="Cambria Math"/>
                                  <a:ea typeface="Times New Roman"/>
                                  <a:cs typeface="Cambria"/>
                                </a:rPr>
                                <m:t>5</m:t>
                              </m:r>
                            </m:oMath>
                          </a14:m>
                          <a:r>
                            <a:rPr lang="en-US" sz="2000" dirty="0">
                              <a:effectLst/>
                              <a:latin typeface="Verdana" pitchFamily="34" charset="0"/>
                              <a:ea typeface="Verdana" pitchFamily="34" charset="0"/>
                              <a:cs typeface="Cambria"/>
                            </a:rPr>
                            <a:t> times, what is the probability that at least </a:t>
                          </a:r>
                          <a14:m>
                            <m:oMath xmlns:m="http://schemas.openxmlformats.org/officeDocument/2006/math">
                              <m:r>
                                <a:rPr lang="en-US" sz="2000" i="1">
                                  <a:effectLst/>
                                  <a:latin typeface="Cambria Math"/>
                                  <a:ea typeface="Times New Roman"/>
                                  <a:cs typeface="Cambria"/>
                                </a:rPr>
                                <m:t>3</m:t>
                              </m:r>
                            </m:oMath>
                          </a14:m>
                          <a:r>
                            <a:rPr lang="en-US" sz="2000" dirty="0">
                              <a:effectLst/>
                              <a:latin typeface="Verdana" pitchFamily="34" charset="0"/>
                              <a:ea typeface="Verdana" pitchFamily="34" charset="0"/>
                              <a:cs typeface="Cambria"/>
                            </a:rPr>
                            <a:t> of the </a:t>
                          </a:r>
                          <a14:m>
                            <m:oMath xmlns:m="http://schemas.openxmlformats.org/officeDocument/2006/math">
                              <m:r>
                                <a:rPr lang="en-US" sz="2000" i="1">
                                  <a:effectLst/>
                                  <a:latin typeface="Cambria Math"/>
                                  <a:ea typeface="Times New Roman"/>
                                  <a:cs typeface="Cambria"/>
                                </a:rPr>
                                <m:t>5</m:t>
                              </m:r>
                            </m:oMath>
                          </a14:m>
                          <a:r>
                            <a:rPr lang="en-US" sz="2000" dirty="0">
                              <a:effectLst/>
                              <a:latin typeface="Verdana" pitchFamily="34" charset="0"/>
                              <a:ea typeface="Verdana" pitchFamily="34" charset="0"/>
                              <a:cs typeface="Cambria"/>
                            </a:rPr>
                            <a:t> fish are female?</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70840">
                    <a:tc>
                      <a:txBody>
                        <a:bodyPr/>
                        <a:lstStyle/>
                        <a:p>
                          <a:pPr algn="ctr"/>
                          <a:r>
                            <a:rPr lang="en-PH" sz="2000" dirty="0">
                              <a:latin typeface="Verdana" pitchFamily="34" charset="0"/>
                              <a:ea typeface="Verdana" pitchFamily="34" charset="0"/>
                            </a:rPr>
                            <a:t>B</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000" dirty="0">
                              <a:effectLst/>
                              <a:latin typeface="Verdana" pitchFamily="34" charset="0"/>
                              <a:ea typeface="Verdana" pitchFamily="34" charset="0"/>
                              <a:cs typeface="Cambria"/>
                            </a:rPr>
                            <a:t>Elena makes about </a:t>
                          </a:r>
                          <a14:m>
                            <m:oMath xmlns:m="http://schemas.openxmlformats.org/officeDocument/2006/math">
                              <m:r>
                                <a:rPr lang="en-US" sz="2000" i="1">
                                  <a:effectLst/>
                                  <a:latin typeface="Cambria Math"/>
                                  <a:ea typeface="Times New Roman"/>
                                  <a:cs typeface="Cambria"/>
                                </a:rPr>
                                <m:t>80%</m:t>
                              </m:r>
                            </m:oMath>
                          </a14:m>
                          <a:r>
                            <a:rPr lang="en-US" sz="2000" dirty="0">
                              <a:effectLst/>
                              <a:latin typeface="Verdana" pitchFamily="34" charset="0"/>
                              <a:ea typeface="Verdana" pitchFamily="34" charset="0"/>
                              <a:cs typeface="Cambria"/>
                            </a:rPr>
                            <a:t> of her free throws. Based on her past successes with free throws, what is the probability that she will make exactly </a:t>
                          </a:r>
                          <a14:m>
                            <m:oMath xmlns:m="http://schemas.openxmlformats.org/officeDocument/2006/math">
                              <m:r>
                                <a:rPr lang="en-US" sz="2000" i="1">
                                  <a:effectLst/>
                                  <a:latin typeface="Cambria Math"/>
                                  <a:ea typeface="Times New Roman"/>
                                  <a:cs typeface="Cambria"/>
                                </a:rPr>
                                <m:t>4</m:t>
                              </m:r>
                            </m:oMath>
                          </a14:m>
                          <a:r>
                            <a:rPr lang="en-US" sz="2000" dirty="0">
                              <a:effectLst/>
                              <a:latin typeface="Verdana" pitchFamily="34" charset="0"/>
                              <a:ea typeface="Verdana" pitchFamily="34" charset="0"/>
                              <a:cs typeface="Cambria"/>
                            </a:rPr>
                            <a:t> out of </a:t>
                          </a:r>
                          <a14:m>
                            <m:oMath xmlns:m="http://schemas.openxmlformats.org/officeDocument/2006/math">
                              <m:r>
                                <a:rPr lang="en-US" sz="2000" i="1">
                                  <a:effectLst/>
                                  <a:latin typeface="Cambria Math"/>
                                  <a:ea typeface="Times New Roman"/>
                                  <a:cs typeface="Cambria"/>
                                </a:rPr>
                                <m:t>5</m:t>
                              </m:r>
                            </m:oMath>
                          </a14:m>
                          <a:r>
                            <a:rPr lang="en-US" sz="2000" dirty="0">
                              <a:effectLst/>
                              <a:latin typeface="Verdana" pitchFamily="34" charset="0"/>
                              <a:ea typeface="Verdana" pitchFamily="34" charset="0"/>
                              <a:cs typeface="Cambria"/>
                            </a:rPr>
                            <a:t> free throws in her next basketball game?</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2986136069"/>
                  </p:ext>
                </p:extLst>
              </p:nvPr>
            </p:nvGraphicFramePr>
            <p:xfrm>
              <a:off x="2255520" y="2037506"/>
              <a:ext cx="7680960" cy="3931920"/>
            </p:xfrm>
            <a:graphic>
              <a:graphicData uri="http://schemas.openxmlformats.org/drawingml/2006/table">
                <a:tbl>
                  <a:tblPr firstRow="1" bandRow="1">
                    <a:tableStyleId>{A91F0D33-8C57-4600-99A7-42BC86742BE1}</a:tableStyleId>
                  </a:tblPr>
                  <a:tblGrid>
                    <a:gridCol w="1554480">
                      <a:extLst>
                        <a:ext uri="{9D8B030D-6E8A-4147-A177-3AD203B41FA5}">
                          <a16:colId xmlns:a16="http://schemas.microsoft.com/office/drawing/2014/main" xmlns:a14="http://schemas.microsoft.com/office/drawing/2010/main" xmlns="" val="20000"/>
                        </a:ext>
                      </a:extLst>
                    </a:gridCol>
                    <a:gridCol w="6126480">
                      <a:extLst>
                        <a:ext uri="{9D8B030D-6E8A-4147-A177-3AD203B41FA5}">
                          <a16:colId xmlns:a16="http://schemas.microsoft.com/office/drawing/2014/main" xmlns:a14="http://schemas.microsoft.com/office/drawing/2010/main" xmlns="" val="20001"/>
                        </a:ext>
                      </a:extLst>
                    </a:gridCol>
                  </a:tblGrid>
                  <a:tr h="396240">
                    <a:tc>
                      <a:txBody>
                        <a:bodyPr/>
                        <a:lstStyle/>
                        <a:p>
                          <a:pPr algn="ctr"/>
                          <a:r>
                            <a:rPr lang="en-PH" sz="2000" b="1" dirty="0">
                              <a:latin typeface="Verdana" pitchFamily="34" charset="0"/>
                              <a:ea typeface="Verdana" pitchFamily="34" charset="0"/>
                            </a:rPr>
                            <a:t>Situation</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a:effectLst/>
                              <a:latin typeface="Verdana"/>
                              <a:ea typeface="Times New Roman"/>
                              <a:cs typeface="Cambria"/>
                            </a:rPr>
                            <a:t>Description</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1920240">
                    <a:tc>
                      <a:txBody>
                        <a:bodyPr/>
                        <a:lstStyle/>
                        <a:p>
                          <a:pPr algn="ctr"/>
                          <a:r>
                            <a:rPr lang="en-PH" sz="2000" dirty="0">
                              <a:latin typeface="Verdana" pitchFamily="34" charset="0"/>
                              <a:ea typeface="Verdana" pitchFamily="34" charset="0"/>
                            </a:rPr>
                            <a:t>A</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5373" t="-22222" b="-89841"/>
                          </a:stretch>
                        </a:blipFill>
                      </a:tcPr>
                    </a:tc>
                    <a:extLst>
                      <a:ext uri="{0D108BD9-81ED-4DB2-BD59-A6C34878D82A}">
                        <a16:rowId xmlns:a16="http://schemas.microsoft.com/office/drawing/2014/main" xmlns:a14="http://schemas.microsoft.com/office/drawing/2010/main" xmlns="" val="10001"/>
                      </a:ext>
                    </a:extLst>
                  </a:tr>
                  <a:tr h="1615440">
                    <a:tc>
                      <a:txBody>
                        <a:bodyPr/>
                        <a:lstStyle/>
                        <a:p>
                          <a:pPr algn="ctr"/>
                          <a:r>
                            <a:rPr lang="en-PH" sz="2000" dirty="0">
                              <a:latin typeface="Verdana" pitchFamily="34" charset="0"/>
                              <a:ea typeface="Verdana" pitchFamily="34" charset="0"/>
                            </a:rPr>
                            <a:t>B</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5373" t="-145283" b="-6792"/>
                          </a:stretch>
                        </a:blipFill>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
        <p:nvSpPr>
          <p:cNvPr id="13"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76</a:t>
            </a:r>
            <a:endParaRPr i="1" dirty="0">
              <a:latin typeface="Calibri"/>
              <a:ea typeface="Calibri"/>
              <a:cs typeface="Calibri"/>
              <a:sym typeface="Calibri"/>
            </a:endParaRPr>
          </a:p>
        </p:txBody>
      </p:sp>
    </p:spTree>
    <p:extLst>
      <p:ext uri="{BB962C8B-B14F-4D97-AF65-F5344CB8AC3E}">
        <p14:creationId xmlns:p14="http://schemas.microsoft.com/office/powerpoint/2010/main" val="3840359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 xmlns:a16="http://schemas.microsoft.com/office/drawing/2014/main" id="{22347CCE-34A7-8044-BA67-B5895157AE55}"/>
              </a:ext>
            </a:extLst>
          </p:cNvPr>
          <p:cNvSpPr txBox="1"/>
          <p:nvPr/>
        </p:nvSpPr>
        <p:spPr>
          <a:xfrm>
            <a:off x="1932432" y="349706"/>
            <a:ext cx="8327136" cy="5324535"/>
          </a:xfrm>
          <a:prstGeom prst="rect">
            <a:avLst/>
          </a:prstGeom>
          <a:noFill/>
        </p:spPr>
        <p:txBody>
          <a:bodyPr wrap="square" rtlCol="0">
            <a:spAutoFit/>
          </a:bodyPr>
          <a:lstStyle/>
          <a:p>
            <a:pPr marL="457200"/>
            <a:endParaRPr lang="en-US" sz="2000" dirty="0">
              <a:latin typeface="Verdana"/>
              <a:ea typeface="Times New Roman"/>
              <a:cs typeface="Cambria"/>
            </a:endParaRPr>
          </a:p>
          <a:p>
            <a:pPr marL="457200"/>
            <a:endParaRPr lang="en-US" sz="2000" dirty="0">
              <a:latin typeface="Verdana"/>
              <a:ea typeface="Times New Roman"/>
              <a:cs typeface="Cambria"/>
            </a:endParaRPr>
          </a:p>
          <a:p>
            <a:pPr marL="457200"/>
            <a:endParaRPr lang="en-US" sz="2000" dirty="0">
              <a:latin typeface="Verdana"/>
              <a:ea typeface="Times New Roman"/>
              <a:cs typeface="Cambria"/>
            </a:endParaRPr>
          </a:p>
          <a:p>
            <a:pPr marL="457200"/>
            <a:endParaRPr lang="en-US" sz="2000" dirty="0">
              <a:latin typeface="Verdana"/>
              <a:ea typeface="Times New Roman"/>
              <a:cs typeface="Cambria"/>
            </a:endParaRPr>
          </a:p>
          <a:p>
            <a:pPr marL="457200"/>
            <a:endParaRPr lang="en-US" sz="2000" dirty="0">
              <a:latin typeface="Verdana"/>
              <a:ea typeface="Times New Roman"/>
              <a:cs typeface="Cambria"/>
            </a:endParaRPr>
          </a:p>
          <a:p>
            <a:pPr marL="457200"/>
            <a:endParaRPr lang="en-US" sz="2000" dirty="0">
              <a:latin typeface="Verdana"/>
              <a:ea typeface="Times New Roman"/>
              <a:cs typeface="Cambria"/>
            </a:endParaRPr>
          </a:p>
          <a:p>
            <a:pPr marL="457200"/>
            <a:endParaRPr lang="en-US" sz="2000" dirty="0">
              <a:latin typeface="Verdana"/>
              <a:ea typeface="Times New Roman"/>
              <a:cs typeface="Cambria"/>
            </a:endParaRPr>
          </a:p>
          <a:p>
            <a:pPr marL="457200"/>
            <a:endParaRPr lang="en-US" sz="2000" dirty="0">
              <a:latin typeface="Verdana"/>
              <a:ea typeface="Times New Roman"/>
              <a:cs typeface="Cambria"/>
            </a:endParaRPr>
          </a:p>
          <a:p>
            <a:pPr marL="457200"/>
            <a:endParaRPr lang="en-US" sz="2000" dirty="0">
              <a:latin typeface="Verdana"/>
              <a:ea typeface="Times New Roman"/>
              <a:cs typeface="Cambria"/>
            </a:endParaRPr>
          </a:p>
          <a:p>
            <a:pPr marL="457200"/>
            <a:endParaRPr lang="en-US" sz="2000" dirty="0">
              <a:latin typeface="Verdana"/>
              <a:ea typeface="Times New Roman"/>
              <a:cs typeface="Cambria"/>
            </a:endParaRPr>
          </a:p>
          <a:p>
            <a:pPr marL="457200"/>
            <a:endParaRPr lang="en-US" sz="2000" dirty="0">
              <a:latin typeface="Verdana"/>
              <a:ea typeface="Times New Roman"/>
              <a:cs typeface="Cambria"/>
            </a:endParaRPr>
          </a:p>
          <a:p>
            <a:pPr marL="457200"/>
            <a:endParaRPr lang="en-US" sz="2000" dirty="0">
              <a:latin typeface="Verdana"/>
              <a:ea typeface="Times New Roman"/>
              <a:cs typeface="Cambria"/>
            </a:endParaRPr>
          </a:p>
          <a:p>
            <a:pPr marL="457200"/>
            <a:endParaRPr lang="en-PH" sz="2000" dirty="0">
              <a:latin typeface="Verdana"/>
              <a:ea typeface="Times New Roman"/>
              <a:cs typeface="Cambria"/>
            </a:endParaRPr>
          </a:p>
          <a:p>
            <a:pPr marL="457200"/>
            <a:endParaRPr lang="en-US" sz="2000" dirty="0">
              <a:latin typeface="Verdana"/>
              <a:ea typeface="Times New Roman"/>
              <a:cs typeface="Cambria"/>
            </a:endParaRPr>
          </a:p>
          <a:p>
            <a:pPr marL="568325"/>
            <a:endParaRPr lang="en-US" sz="2000" dirty="0">
              <a:latin typeface="Verdana"/>
              <a:ea typeface="Times New Roman"/>
              <a:cs typeface="Cambria"/>
            </a:endParaRPr>
          </a:p>
          <a:p>
            <a:pPr marL="568325"/>
            <a:r>
              <a:rPr lang="en-US" sz="2000" dirty="0">
                <a:latin typeface="Verdana"/>
                <a:ea typeface="Times New Roman"/>
                <a:cs typeface="Cambria"/>
              </a:rPr>
              <a:t>Work with your partner to match each situation to a simulation on the next page.</a:t>
            </a:r>
            <a:endParaRPr lang="en-US" sz="2000" dirty="0">
              <a:latin typeface="Cambria"/>
              <a:ea typeface="Times New Roman"/>
              <a:cs typeface="Cambria"/>
            </a:endParaRPr>
          </a:p>
        </p:txBody>
      </p:sp>
      <p:sp>
        <p:nvSpPr>
          <p:cNvPr id="7" name="Google Shape;278;g104476d1465_1_17">
            <a:extLst>
              <a:ext uri="{FF2B5EF4-FFF2-40B4-BE49-F238E27FC236}">
                <a16:creationId xmlns="" xmlns:a16="http://schemas.microsoft.com/office/drawing/2014/main" id="{ADBC627A-4143-AD4E-B8AF-FA569ACE060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1629646225"/>
                  </p:ext>
                </p:extLst>
              </p:nvPr>
            </p:nvGraphicFramePr>
            <p:xfrm>
              <a:off x="2618470" y="349705"/>
              <a:ext cx="7680960" cy="4236720"/>
            </p:xfrm>
            <a:graphic>
              <a:graphicData uri="http://schemas.openxmlformats.org/drawingml/2006/table">
                <a:tbl>
                  <a:tblPr firstRow="1" bandRow="1">
                    <a:tableStyleId>{A91F0D33-8C57-4600-99A7-42BC86742BE1}</a:tableStyleId>
                  </a:tblPr>
                  <a:tblGrid>
                    <a:gridCol w="1554480">
                      <a:extLst>
                        <a:ext uri="{9D8B030D-6E8A-4147-A177-3AD203B41FA5}">
                          <a16:colId xmlns="" xmlns:a16="http://schemas.microsoft.com/office/drawing/2014/main" val="20000"/>
                        </a:ext>
                      </a:extLst>
                    </a:gridCol>
                    <a:gridCol w="6126480">
                      <a:extLst>
                        <a:ext uri="{9D8B030D-6E8A-4147-A177-3AD203B41FA5}">
                          <a16:colId xmlns="" xmlns:a16="http://schemas.microsoft.com/office/drawing/2014/main" val="20001"/>
                        </a:ext>
                      </a:extLst>
                    </a:gridCol>
                  </a:tblGrid>
                  <a:tr h="370840">
                    <a:tc>
                      <a:txBody>
                        <a:bodyPr/>
                        <a:lstStyle/>
                        <a:p>
                          <a:pPr algn="ctr"/>
                          <a:r>
                            <a:rPr lang="en-PH" sz="2000" b="1" dirty="0">
                              <a:latin typeface="Verdana" pitchFamily="34" charset="0"/>
                              <a:ea typeface="Verdana" pitchFamily="34" charset="0"/>
                            </a:rPr>
                            <a:t>Situation</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a:effectLst/>
                              <a:latin typeface="Verdana"/>
                              <a:ea typeface="Times New Roman"/>
                              <a:cs typeface="Cambria"/>
                            </a:rPr>
                            <a:t>Description</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370840">
                    <a:tc>
                      <a:txBody>
                        <a:bodyPr/>
                        <a:lstStyle/>
                        <a:p>
                          <a:pPr algn="ctr"/>
                          <a:r>
                            <a:rPr lang="en-PH" sz="2000" dirty="0">
                              <a:latin typeface="Verdana" pitchFamily="34" charset="0"/>
                              <a:ea typeface="Verdana" pitchFamily="34" charset="0"/>
                            </a:rPr>
                            <a:t>C</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000" dirty="0">
                              <a:effectLst/>
                              <a:latin typeface="Verdana"/>
                              <a:ea typeface="Times New Roman"/>
                              <a:cs typeface="Cambria"/>
                            </a:rPr>
                            <a:t>On a game show, a contestant must pick one of three doors. In the first round, the winning door has a vacation. In the second round, the winning door has a car. What is the probability of winning a vacation and a car?</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70840">
                    <a:tc>
                      <a:txBody>
                        <a:bodyPr/>
                        <a:lstStyle/>
                        <a:p>
                          <a:pPr algn="ctr"/>
                          <a:r>
                            <a:rPr lang="en-PH" sz="2000" dirty="0">
                              <a:latin typeface="Verdana" pitchFamily="34" charset="0"/>
                              <a:ea typeface="Verdana" pitchFamily="34" charset="0"/>
                            </a:rPr>
                            <a:t>D</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000" dirty="0">
                              <a:effectLst/>
                              <a:latin typeface="Verdana"/>
                              <a:ea typeface="Times New Roman"/>
                              <a:cs typeface="Cambria"/>
                            </a:rPr>
                            <a:t>Your choir is singing in </a:t>
                          </a:r>
                          <a14:m>
                            <m:oMath xmlns:m="http://schemas.openxmlformats.org/officeDocument/2006/math">
                              <m:r>
                                <a:rPr lang="en-US" sz="2000" i="1">
                                  <a:effectLst/>
                                  <a:latin typeface="Cambria Math"/>
                                  <a:ea typeface="Times New Roman"/>
                                  <a:cs typeface="Cambria"/>
                                </a:rPr>
                                <m:t>4</m:t>
                              </m:r>
                            </m:oMath>
                          </a14:m>
                          <a:r>
                            <a:rPr lang="en-US" sz="2000" dirty="0">
                              <a:effectLst/>
                              <a:latin typeface="Verdana"/>
                              <a:ea typeface="Times New Roman"/>
                              <a:cs typeface="Cambria"/>
                            </a:rPr>
                            <a:t> concerts. You and one of your classmates both learned the solo. Before each concert, there is an equal chance the choir director will select you or the other student to sing the solo. What is the probability that you will be selected to sing the solo in exactly </a:t>
                          </a:r>
                          <a14:m>
                            <m:oMath xmlns:m="http://schemas.openxmlformats.org/officeDocument/2006/math">
                              <m:r>
                                <a:rPr lang="en-US" sz="2000" i="1">
                                  <a:effectLst/>
                                  <a:latin typeface="Cambria Math"/>
                                  <a:ea typeface="Times New Roman"/>
                                  <a:cs typeface="Cambria"/>
                                </a:rPr>
                                <m:t>3</m:t>
                              </m:r>
                            </m:oMath>
                          </a14:m>
                          <a:r>
                            <a:rPr lang="en-US" sz="2000" dirty="0">
                              <a:effectLst/>
                              <a:latin typeface="Verdana"/>
                              <a:ea typeface="Times New Roman"/>
                              <a:cs typeface="Cambria"/>
                            </a:rPr>
                            <a:t> of the </a:t>
                          </a:r>
                          <a14:m>
                            <m:oMath xmlns:m="http://schemas.openxmlformats.org/officeDocument/2006/math">
                              <m:r>
                                <a:rPr lang="en-US" sz="2000" i="1">
                                  <a:effectLst/>
                                  <a:latin typeface="Cambria Math"/>
                                  <a:ea typeface="Times New Roman"/>
                                  <a:cs typeface="Cambria"/>
                                </a:rPr>
                                <m:t>4</m:t>
                              </m:r>
                            </m:oMath>
                          </a14:m>
                          <a:r>
                            <a:rPr lang="en-US" sz="2000" dirty="0">
                              <a:effectLst/>
                              <a:latin typeface="Verdana"/>
                              <a:ea typeface="Times New Roman"/>
                              <a:cs typeface="Cambria"/>
                            </a:rPr>
                            <a:t> concerts?</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1629646225"/>
                  </p:ext>
                </p:extLst>
              </p:nvPr>
            </p:nvGraphicFramePr>
            <p:xfrm>
              <a:off x="2618470" y="349705"/>
              <a:ext cx="7680960" cy="4236720"/>
            </p:xfrm>
            <a:graphic>
              <a:graphicData uri="http://schemas.openxmlformats.org/drawingml/2006/table">
                <a:tbl>
                  <a:tblPr firstRow="1" bandRow="1">
                    <a:tableStyleId>{A91F0D33-8C57-4600-99A7-42BC86742BE1}</a:tableStyleId>
                  </a:tblPr>
                  <a:tblGrid>
                    <a:gridCol w="1554480">
                      <a:extLst>
                        <a:ext uri="{9D8B030D-6E8A-4147-A177-3AD203B41FA5}">
                          <a16:colId xmlns:a16="http://schemas.microsoft.com/office/drawing/2014/main" xmlns:a14="http://schemas.microsoft.com/office/drawing/2010/main" xmlns="" val="20000"/>
                        </a:ext>
                      </a:extLst>
                    </a:gridCol>
                    <a:gridCol w="6126480">
                      <a:extLst>
                        <a:ext uri="{9D8B030D-6E8A-4147-A177-3AD203B41FA5}">
                          <a16:colId xmlns:a16="http://schemas.microsoft.com/office/drawing/2014/main" xmlns:a14="http://schemas.microsoft.com/office/drawing/2010/main" xmlns="" val="20001"/>
                        </a:ext>
                      </a:extLst>
                    </a:gridCol>
                  </a:tblGrid>
                  <a:tr h="396240">
                    <a:tc>
                      <a:txBody>
                        <a:bodyPr/>
                        <a:lstStyle/>
                        <a:p>
                          <a:pPr algn="ctr"/>
                          <a:r>
                            <a:rPr lang="en-PH" sz="2000" b="1" dirty="0">
                              <a:latin typeface="Verdana" pitchFamily="34" charset="0"/>
                              <a:ea typeface="Verdana" pitchFamily="34" charset="0"/>
                            </a:rPr>
                            <a:t>Situation</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a:effectLst/>
                              <a:latin typeface="Verdana"/>
                              <a:ea typeface="Times New Roman"/>
                              <a:cs typeface="Cambria"/>
                            </a:rPr>
                            <a:t>Description</a:t>
                          </a:r>
                          <a:endParaRPr lang="en-US" sz="2000" b="1"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1615440">
                    <a:tc>
                      <a:txBody>
                        <a:bodyPr/>
                        <a:lstStyle/>
                        <a:p>
                          <a:pPr algn="ctr"/>
                          <a:r>
                            <a:rPr lang="en-PH" sz="2000" dirty="0">
                              <a:latin typeface="Verdana" pitchFamily="34" charset="0"/>
                              <a:ea typeface="Verdana" pitchFamily="34" charset="0"/>
                            </a:rPr>
                            <a:t>C</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000" dirty="0">
                              <a:effectLst/>
                              <a:latin typeface="Verdana"/>
                              <a:ea typeface="Times New Roman"/>
                              <a:cs typeface="Cambria"/>
                            </a:rPr>
                            <a:t>On a game show, a contestant must pick one of three doors. In the first round, the winning door has a vacation. In the second round, the winning door has a car. What is the probability of winning a vacation and a car?</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2225040">
                    <a:tc>
                      <a:txBody>
                        <a:bodyPr/>
                        <a:lstStyle/>
                        <a:p>
                          <a:pPr algn="ctr"/>
                          <a:r>
                            <a:rPr lang="en-PH" sz="2000" dirty="0">
                              <a:latin typeface="Verdana" pitchFamily="34" charset="0"/>
                              <a:ea typeface="Verdana" pitchFamily="34" charset="0"/>
                            </a:rPr>
                            <a:t>D</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5473" t="-91781" b="-4932"/>
                          </a:stretch>
                        </a:blipFill>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76</a:t>
            </a:r>
            <a:endParaRPr i="1" dirty="0">
              <a:latin typeface="Calibri"/>
              <a:ea typeface="Calibri"/>
              <a:cs typeface="Calibri"/>
              <a:sym typeface="Calibri"/>
            </a:endParaRPr>
          </a:p>
        </p:txBody>
      </p:sp>
    </p:spTree>
    <p:extLst>
      <p:ext uri="{BB962C8B-B14F-4D97-AF65-F5344CB8AC3E}">
        <p14:creationId xmlns:p14="http://schemas.microsoft.com/office/powerpoint/2010/main" val="2161466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78;g104476d1465_1_17">
            <a:extLst>
              <a:ext uri="{FF2B5EF4-FFF2-40B4-BE49-F238E27FC236}">
                <a16:creationId xmlns="" xmlns:a16="http://schemas.microsoft.com/office/drawing/2014/main" id="{ADBC627A-4143-AD4E-B8AF-FA569ACE060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3551496792"/>
                  </p:ext>
                </p:extLst>
              </p:nvPr>
            </p:nvGraphicFramePr>
            <p:xfrm>
              <a:off x="2618470" y="349705"/>
              <a:ext cx="7680960" cy="4114800"/>
            </p:xfrm>
            <a:graphic>
              <a:graphicData uri="http://schemas.openxmlformats.org/drawingml/2006/table">
                <a:tbl>
                  <a:tblPr firstRow="1" bandRow="1">
                    <a:tableStyleId>{A91F0D33-8C57-4600-99A7-42BC86742BE1}</a:tableStyleId>
                  </a:tblPr>
                  <a:tblGrid>
                    <a:gridCol w="6126480">
                      <a:extLst>
                        <a:ext uri="{9D8B030D-6E8A-4147-A177-3AD203B41FA5}">
                          <a16:colId xmlns="" xmlns:a16="http://schemas.microsoft.com/office/drawing/2014/main" val="20000"/>
                        </a:ext>
                      </a:extLst>
                    </a:gridCol>
                    <a:gridCol w="1554480">
                      <a:extLst>
                        <a:ext uri="{9D8B030D-6E8A-4147-A177-3AD203B41FA5}">
                          <a16:colId xmlns="" xmlns:a16="http://schemas.microsoft.com/office/drawing/2014/main" val="20001"/>
                        </a:ext>
                      </a:extLst>
                    </a:gridCol>
                  </a:tblGrid>
                  <a:tr h="370840">
                    <a:tc>
                      <a:txBody>
                        <a:bodyPr/>
                        <a:lstStyle/>
                        <a:p>
                          <a:pPr algn="ctr"/>
                          <a:r>
                            <a:rPr lang="en-US" sz="2000" b="1">
                              <a:effectLst/>
                              <a:latin typeface="Verdana"/>
                              <a:ea typeface="Times New Roman"/>
                              <a:cs typeface="Cambria"/>
                            </a:rPr>
                            <a:t>Simulation</a:t>
                          </a:r>
                          <a:endParaRPr lang="en-US" sz="2000" b="1"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Situation</a:t>
                          </a:r>
                          <a:endParaRPr lang="en-US" sz="2000" b="1"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370840">
                    <a:tc>
                      <a:txBody>
                        <a:bodyPr/>
                        <a:lstStyle/>
                        <a:p>
                          <a:pPr algn="l"/>
                          <a:r>
                            <a:rPr lang="en-US" sz="2000" dirty="0">
                              <a:effectLst/>
                              <a:latin typeface="Verdana"/>
                              <a:ea typeface="Times New Roman"/>
                              <a:cs typeface="Cambria"/>
                            </a:rPr>
                            <a:t>Toss a standard number cube </a:t>
                          </a:r>
                          <a14:m>
                            <m:oMath xmlns:m="http://schemas.openxmlformats.org/officeDocument/2006/math">
                              <m:r>
                                <a:rPr lang="en-US" sz="2000" i="1">
                                  <a:effectLst/>
                                  <a:latin typeface="Cambria Math"/>
                                  <a:ea typeface="Times New Roman"/>
                                  <a:cs typeface="Cambria"/>
                                </a:rPr>
                                <m:t>2</m:t>
                              </m:r>
                            </m:oMath>
                          </a14:m>
                          <a:r>
                            <a:rPr lang="en-US" sz="2000" dirty="0">
                              <a:effectLst/>
                              <a:latin typeface="Verdana"/>
                              <a:ea typeface="Times New Roman"/>
                              <a:cs typeface="Cambria"/>
                            </a:rPr>
                            <a:t> times and record the outcomes. Repeat this process many times and find the proportion of the simulations in which a </a:t>
                          </a:r>
                          <a14:m>
                            <m:oMath xmlns:m="http://schemas.openxmlformats.org/officeDocument/2006/math">
                              <m:r>
                                <a:rPr lang="en-US" sz="2000" i="1">
                                  <a:effectLst/>
                                  <a:latin typeface="Cambria Math"/>
                                  <a:ea typeface="Times New Roman"/>
                                  <a:cs typeface="Cambria"/>
                                </a:rPr>
                                <m:t>1</m:t>
                              </m:r>
                            </m:oMath>
                          </a14:m>
                          <a:r>
                            <a:rPr lang="en-US" sz="2000" dirty="0">
                              <a:effectLst/>
                              <a:latin typeface="Verdana"/>
                              <a:ea typeface="Times New Roman"/>
                              <a:cs typeface="Cambria"/>
                            </a:rPr>
                            <a:t> or </a:t>
                          </a:r>
                          <a14:m>
                            <m:oMath xmlns:m="http://schemas.openxmlformats.org/officeDocument/2006/math">
                              <m:r>
                                <a:rPr lang="en-US" sz="2000" i="1">
                                  <a:effectLst/>
                                  <a:latin typeface="Cambria Math"/>
                                  <a:ea typeface="Times New Roman"/>
                                  <a:cs typeface="Cambria"/>
                                </a:rPr>
                                <m:t>2</m:t>
                              </m:r>
                            </m:oMath>
                          </a14:m>
                          <a:r>
                            <a:rPr lang="en-US" sz="2000" dirty="0">
                              <a:effectLst/>
                              <a:latin typeface="Verdana"/>
                              <a:ea typeface="Times New Roman"/>
                              <a:cs typeface="Cambria"/>
                            </a:rPr>
                            <a:t> appeared both times to estimate the probability.</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70840">
                    <a:tc>
                      <a:txBody>
                        <a:bodyPr/>
                        <a:lstStyle/>
                        <a:p>
                          <a:pPr algn="l"/>
                          <a:r>
                            <a:rPr lang="en-US" sz="2000" dirty="0">
                              <a:effectLst/>
                              <a:latin typeface="Verdana"/>
                              <a:ea typeface="Times New Roman"/>
                              <a:cs typeface="Cambria"/>
                            </a:rPr>
                            <a:t>Make a spinner with four equal sections labeled </a:t>
                          </a:r>
                          <a14:m>
                            <m:oMath xmlns:m="http://schemas.openxmlformats.org/officeDocument/2006/math">
                              <m:r>
                                <a:rPr lang="en-US" sz="2000" i="1">
                                  <a:effectLst/>
                                  <a:latin typeface="Cambria Math"/>
                                  <a:ea typeface="Times New Roman"/>
                                  <a:cs typeface="Cambria"/>
                                </a:rPr>
                                <m:t>1, 2, 3,</m:t>
                              </m:r>
                            </m:oMath>
                          </a14:m>
                          <a:r>
                            <a:rPr lang="en-US" sz="2000" dirty="0">
                              <a:effectLst/>
                              <a:latin typeface="Verdana"/>
                              <a:ea typeface="Times New Roman"/>
                              <a:cs typeface="Cambria"/>
                            </a:rPr>
                            <a:t> and </a:t>
                          </a:r>
                          <a14:m>
                            <m:oMath xmlns:m="http://schemas.openxmlformats.org/officeDocument/2006/math">
                              <m:r>
                                <a:rPr lang="en-US" sz="2000" i="1">
                                  <a:effectLst/>
                                  <a:latin typeface="Cambria Math"/>
                                  <a:ea typeface="Times New Roman"/>
                                  <a:cs typeface="Cambria"/>
                                </a:rPr>
                                <m:t>4</m:t>
                              </m:r>
                            </m:oMath>
                          </a14:m>
                          <a:r>
                            <a:rPr lang="en-US" sz="2000" dirty="0">
                              <a:effectLst/>
                              <a:latin typeface="Verdana"/>
                              <a:ea typeface="Times New Roman"/>
                              <a:cs typeface="Cambria"/>
                            </a:rPr>
                            <a:t>. Spin the spinner </a:t>
                          </a:r>
                          <a14:m>
                            <m:oMath xmlns:m="http://schemas.openxmlformats.org/officeDocument/2006/math">
                              <m:r>
                                <a:rPr lang="en-US" sz="2000" i="1">
                                  <a:effectLst/>
                                  <a:latin typeface="Cambria Math"/>
                                  <a:ea typeface="Times New Roman"/>
                                  <a:cs typeface="Cambria"/>
                                </a:rPr>
                                <m:t>5</m:t>
                              </m:r>
                            </m:oMath>
                          </a14:m>
                          <a:r>
                            <a:rPr lang="en-US" sz="2000" dirty="0">
                              <a:effectLst/>
                              <a:latin typeface="Verdana"/>
                              <a:ea typeface="Times New Roman"/>
                              <a:cs typeface="Cambria"/>
                            </a:rPr>
                            <a:t> times and record the outcomes. Repeat this process many times and find the proportion of the simulations in which a </a:t>
                          </a:r>
                          <a14:m>
                            <m:oMath xmlns:m="http://schemas.openxmlformats.org/officeDocument/2006/math">
                              <m:r>
                                <a:rPr lang="en-US" sz="2000" i="1">
                                  <a:effectLst/>
                                  <a:latin typeface="Cambria Math"/>
                                  <a:ea typeface="Times New Roman"/>
                                  <a:cs typeface="Cambria"/>
                                </a:rPr>
                                <m:t>4</m:t>
                              </m:r>
                            </m:oMath>
                          </a14:m>
                          <a:r>
                            <a:rPr lang="en-US" sz="2000" dirty="0">
                              <a:effectLst/>
                              <a:latin typeface="Verdana"/>
                              <a:ea typeface="Times New Roman"/>
                              <a:cs typeface="Cambria"/>
                            </a:rPr>
                            <a:t> appears </a:t>
                          </a:r>
                          <a14:m>
                            <m:oMath xmlns:m="http://schemas.openxmlformats.org/officeDocument/2006/math">
                              <m:r>
                                <a:rPr lang="en-US" sz="2000" i="1">
                                  <a:effectLst/>
                                  <a:latin typeface="Cambria Math"/>
                                  <a:ea typeface="Times New Roman"/>
                                  <a:cs typeface="Cambria"/>
                                </a:rPr>
                                <m:t>3</m:t>
                              </m:r>
                            </m:oMath>
                          </a14:m>
                          <a:r>
                            <a:rPr lang="en-US" sz="2000" dirty="0">
                              <a:effectLst/>
                              <a:latin typeface="Verdana"/>
                              <a:ea typeface="Times New Roman"/>
                              <a:cs typeface="Cambria"/>
                            </a:rPr>
                            <a:t> or more times to estimate the probability.</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3551496792"/>
                  </p:ext>
                </p:extLst>
              </p:nvPr>
            </p:nvGraphicFramePr>
            <p:xfrm>
              <a:off x="2618470" y="349705"/>
              <a:ext cx="7680960" cy="4114800"/>
            </p:xfrm>
            <a:graphic>
              <a:graphicData uri="http://schemas.openxmlformats.org/drawingml/2006/table">
                <a:tbl>
                  <a:tblPr firstRow="1" bandRow="1">
                    <a:tableStyleId>{A91F0D33-8C57-4600-99A7-42BC86742BE1}</a:tableStyleId>
                  </a:tblPr>
                  <a:tblGrid>
                    <a:gridCol w="6126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396240">
                    <a:tc>
                      <a:txBody>
                        <a:bodyPr/>
                        <a:lstStyle/>
                        <a:p>
                          <a:pPr algn="ctr"/>
                          <a:r>
                            <a:rPr lang="en-US" sz="2000" b="1">
                              <a:effectLst/>
                              <a:latin typeface="Verdana"/>
                              <a:ea typeface="Times New Roman"/>
                              <a:cs typeface="Cambria"/>
                            </a:rPr>
                            <a:t>Simulation</a:t>
                          </a:r>
                          <a:endParaRPr lang="en-US" sz="2000" b="1"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Situation</a:t>
                          </a:r>
                          <a:endParaRPr lang="en-US" sz="2000" b="1"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70688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7" t="-25185" r="-25673" b="-121481"/>
                          </a:stretch>
                        </a:blipFill>
                      </a:tcPr>
                    </a:tc>
                    <a:tc>
                      <a:txBody>
                        <a:bodyPr/>
                        <a:lstStyle/>
                        <a:p>
                          <a:endParaRPr lang="en-US" dirty="0"/>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01168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7" t="-106289" r="-25673" b="-3145"/>
                          </a:stretch>
                        </a:blipFill>
                      </a:tcPr>
                    </a:tc>
                    <a:tc>
                      <a:txBody>
                        <a:bodyPr/>
                        <a:lstStyle/>
                        <a:p>
                          <a:endParaRPr lang="en-US" dirty="0"/>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Fallback>
      </mc:AlternateContent>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77</a:t>
            </a:r>
            <a:endParaRPr i="1" dirty="0">
              <a:latin typeface="Calibri"/>
              <a:ea typeface="Calibri"/>
              <a:cs typeface="Calibri"/>
              <a:sym typeface="Calibri"/>
            </a:endParaRPr>
          </a:p>
        </p:txBody>
      </p:sp>
    </p:spTree>
    <p:extLst>
      <p:ext uri="{BB962C8B-B14F-4D97-AF65-F5344CB8AC3E}">
        <p14:creationId xmlns:p14="http://schemas.microsoft.com/office/powerpoint/2010/main" val="2461464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78;g104476d1465_1_17">
            <a:extLst>
              <a:ext uri="{FF2B5EF4-FFF2-40B4-BE49-F238E27FC236}">
                <a16:creationId xmlns="" xmlns:a16="http://schemas.microsoft.com/office/drawing/2014/main" id="{ADBC627A-4143-AD4E-B8AF-FA569ACE060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1508374306"/>
                  </p:ext>
                </p:extLst>
              </p:nvPr>
            </p:nvGraphicFramePr>
            <p:xfrm>
              <a:off x="2618470" y="349705"/>
              <a:ext cx="7680960" cy="4724400"/>
            </p:xfrm>
            <a:graphic>
              <a:graphicData uri="http://schemas.openxmlformats.org/drawingml/2006/table">
                <a:tbl>
                  <a:tblPr firstRow="1" bandRow="1">
                    <a:tableStyleId>{A91F0D33-8C57-4600-99A7-42BC86742BE1}</a:tableStyleId>
                  </a:tblPr>
                  <a:tblGrid>
                    <a:gridCol w="6126480">
                      <a:extLst>
                        <a:ext uri="{9D8B030D-6E8A-4147-A177-3AD203B41FA5}">
                          <a16:colId xmlns="" xmlns:a16="http://schemas.microsoft.com/office/drawing/2014/main" val="20000"/>
                        </a:ext>
                      </a:extLst>
                    </a:gridCol>
                    <a:gridCol w="1554480">
                      <a:extLst>
                        <a:ext uri="{9D8B030D-6E8A-4147-A177-3AD203B41FA5}">
                          <a16:colId xmlns="" xmlns:a16="http://schemas.microsoft.com/office/drawing/2014/main" val="20001"/>
                        </a:ext>
                      </a:extLst>
                    </a:gridCol>
                  </a:tblGrid>
                  <a:tr h="370840">
                    <a:tc>
                      <a:txBody>
                        <a:bodyPr/>
                        <a:lstStyle/>
                        <a:p>
                          <a:pPr algn="ctr"/>
                          <a:r>
                            <a:rPr lang="en-US" sz="2000" b="1" dirty="0">
                              <a:effectLst/>
                              <a:latin typeface="Verdana"/>
                              <a:ea typeface="Times New Roman"/>
                              <a:cs typeface="Cambria"/>
                            </a:rPr>
                            <a:t>Simulation</a:t>
                          </a:r>
                          <a:endParaRPr lang="en-US" sz="2000" b="1"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Situation</a:t>
                          </a:r>
                          <a:endParaRPr lang="en-US" sz="2000" b="1"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370840">
                    <a:tc>
                      <a:txBody>
                        <a:bodyPr/>
                        <a:lstStyle/>
                        <a:p>
                          <a:pPr algn="l"/>
                          <a:r>
                            <a:rPr lang="en-US" sz="2000" dirty="0">
                              <a:effectLst/>
                              <a:latin typeface="Verdana"/>
                              <a:ea typeface="Times New Roman"/>
                              <a:cs typeface="Cambria"/>
                            </a:rPr>
                            <a:t>Toss a fair coin </a:t>
                          </a:r>
                          <a14:m>
                            <m:oMath xmlns:m="http://schemas.openxmlformats.org/officeDocument/2006/math">
                              <m:r>
                                <a:rPr lang="en-US" sz="2000" i="1">
                                  <a:effectLst/>
                                  <a:latin typeface="Cambria Math"/>
                                  <a:ea typeface="Times New Roman"/>
                                  <a:cs typeface="Cambria"/>
                                </a:rPr>
                                <m:t>4</m:t>
                              </m:r>
                            </m:oMath>
                          </a14:m>
                          <a:r>
                            <a:rPr lang="en-US" sz="2000" dirty="0">
                              <a:effectLst/>
                              <a:latin typeface="Verdana"/>
                              <a:ea typeface="Times New Roman"/>
                              <a:cs typeface="Cambria"/>
                            </a:rPr>
                            <a:t> times and record the outcomes. Repeat this process many times, and find the proportion of the simulations in which exactly </a:t>
                          </a:r>
                          <a14:m>
                            <m:oMath xmlns:m="http://schemas.openxmlformats.org/officeDocument/2006/math">
                              <m:r>
                                <a:rPr lang="en-US" sz="2000" i="1">
                                  <a:effectLst/>
                                  <a:latin typeface="Cambria Math"/>
                                  <a:ea typeface="Times New Roman"/>
                                  <a:cs typeface="Cambria"/>
                                </a:rPr>
                                <m:t>3</m:t>
                              </m:r>
                            </m:oMath>
                          </a14:m>
                          <a:r>
                            <a:rPr lang="en-US" sz="2000" dirty="0">
                              <a:effectLst/>
                              <a:latin typeface="Verdana"/>
                              <a:ea typeface="Times New Roman"/>
                              <a:cs typeface="Cambria"/>
                            </a:rPr>
                            <a:t> heads appear to estimate the probability.</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70840">
                    <a:tc>
                      <a:txBody>
                        <a:bodyPr/>
                        <a:lstStyle/>
                        <a:p>
                          <a:pPr algn="l"/>
                          <a:r>
                            <a:rPr lang="en-US" sz="2000" dirty="0">
                              <a:effectLst/>
                              <a:latin typeface="Verdana"/>
                              <a:ea typeface="Times New Roman"/>
                              <a:cs typeface="Cambria"/>
                            </a:rPr>
                            <a:t>Place </a:t>
                          </a:r>
                          <a14:m>
                            <m:oMath xmlns:m="http://schemas.openxmlformats.org/officeDocument/2006/math">
                              <m:r>
                                <a:rPr lang="en-US" sz="2000" i="1">
                                  <a:effectLst/>
                                  <a:latin typeface="Cambria Math"/>
                                  <a:ea typeface="Times New Roman"/>
                                  <a:cs typeface="Cambria"/>
                                </a:rPr>
                                <m:t>8</m:t>
                              </m:r>
                            </m:oMath>
                          </a14:m>
                          <a:r>
                            <a:rPr lang="en-US" sz="2000" dirty="0">
                              <a:effectLst/>
                              <a:latin typeface="Verdana"/>
                              <a:ea typeface="Times New Roman"/>
                              <a:cs typeface="Cambria"/>
                            </a:rPr>
                            <a:t> blue chips and </a:t>
                          </a:r>
                          <a14:m>
                            <m:oMath xmlns:m="http://schemas.openxmlformats.org/officeDocument/2006/math">
                              <m:r>
                                <a:rPr lang="en-US" sz="2000" i="1">
                                  <a:effectLst/>
                                  <a:latin typeface="Cambria Math"/>
                                  <a:ea typeface="Times New Roman"/>
                                  <a:cs typeface="Cambria"/>
                                </a:rPr>
                                <m:t>2</m:t>
                              </m:r>
                            </m:oMath>
                          </a14:m>
                          <a:r>
                            <a:rPr lang="en-US" sz="2000" dirty="0">
                              <a:effectLst/>
                              <a:latin typeface="Verdana"/>
                              <a:ea typeface="Times New Roman"/>
                              <a:cs typeface="Cambria"/>
                            </a:rPr>
                            <a:t> red chips in a bag. Shake the bag, select a chip, record its color, and then return the chip to the bag. Repeat the process </a:t>
                          </a:r>
                          <a14:m>
                            <m:oMath xmlns:m="http://schemas.openxmlformats.org/officeDocument/2006/math">
                              <m:r>
                                <a:rPr lang="en-US" sz="2000" i="1">
                                  <a:effectLst/>
                                  <a:latin typeface="Cambria Math"/>
                                  <a:ea typeface="Times New Roman"/>
                                  <a:cs typeface="Cambria"/>
                                </a:rPr>
                                <m:t>4</m:t>
                              </m:r>
                            </m:oMath>
                          </a14:m>
                          <a:r>
                            <a:rPr lang="en-US" sz="2000" dirty="0">
                              <a:effectLst/>
                              <a:latin typeface="Verdana"/>
                              <a:ea typeface="Times New Roman"/>
                              <a:cs typeface="Cambria"/>
                            </a:rPr>
                            <a:t> more times to obtain a simulated outcome. Then repeat this process many times and find the proportion of the simulations in which exactly </a:t>
                          </a:r>
                          <a14:m>
                            <m:oMath xmlns:m="http://schemas.openxmlformats.org/officeDocument/2006/math">
                              <m:r>
                                <a:rPr lang="en-US" sz="2000" i="1">
                                  <a:effectLst/>
                                  <a:latin typeface="Cambria Math"/>
                                  <a:ea typeface="Times New Roman"/>
                                  <a:cs typeface="Cambria"/>
                                </a:rPr>
                                <m:t>4</m:t>
                              </m:r>
                            </m:oMath>
                          </a14:m>
                          <a:r>
                            <a:rPr lang="en-US" sz="2000" dirty="0">
                              <a:effectLst/>
                              <a:latin typeface="Verdana"/>
                              <a:ea typeface="Times New Roman"/>
                              <a:cs typeface="Cambria"/>
                            </a:rPr>
                            <a:t> blues are selected to estimate the probability.</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1508374306"/>
                  </p:ext>
                </p:extLst>
              </p:nvPr>
            </p:nvGraphicFramePr>
            <p:xfrm>
              <a:off x="2618470" y="349705"/>
              <a:ext cx="7680960" cy="4724400"/>
            </p:xfrm>
            <a:graphic>
              <a:graphicData uri="http://schemas.openxmlformats.org/drawingml/2006/table">
                <a:tbl>
                  <a:tblPr firstRow="1" bandRow="1">
                    <a:tableStyleId>{A91F0D33-8C57-4600-99A7-42BC86742BE1}</a:tableStyleId>
                  </a:tblPr>
                  <a:tblGrid>
                    <a:gridCol w="6126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396240">
                    <a:tc>
                      <a:txBody>
                        <a:bodyPr/>
                        <a:lstStyle/>
                        <a:p>
                          <a:pPr algn="ctr"/>
                          <a:r>
                            <a:rPr lang="en-US" sz="2000" b="1" dirty="0">
                              <a:effectLst/>
                              <a:latin typeface="Verdana"/>
                              <a:ea typeface="Times New Roman"/>
                              <a:cs typeface="Cambria"/>
                            </a:rPr>
                            <a:t>Simulation</a:t>
                          </a:r>
                          <a:endParaRPr lang="en-US" sz="2000" b="1"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Situation</a:t>
                          </a:r>
                          <a:endParaRPr lang="en-US" sz="2000" b="1"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70688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7" t="-25185" r="-25673" b="-157037"/>
                          </a:stretch>
                        </a:blipFill>
                      </a:tcPr>
                    </a:tc>
                    <a:tc>
                      <a:txBody>
                        <a:bodyPr/>
                        <a:lstStyle/>
                        <a:p>
                          <a:endParaRPr lang="en-US" dirty="0"/>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62128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7" t="-81643" r="-25673" b="-2415"/>
                          </a:stretch>
                        </a:blipFill>
                      </a:tcPr>
                    </a:tc>
                    <a:tc>
                      <a:txBody>
                        <a:bodyPr/>
                        <a:lstStyle/>
                        <a:p>
                          <a:endParaRPr lang="en-US" dirty="0"/>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Fallback>
      </mc:AlternateContent>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77</a:t>
            </a:r>
            <a:endParaRPr i="1" dirty="0">
              <a:latin typeface="Calibri"/>
              <a:ea typeface="Calibri"/>
              <a:cs typeface="Calibri"/>
              <a:sym typeface="Calibri"/>
            </a:endParaRPr>
          </a:p>
        </p:txBody>
      </p:sp>
    </p:spTree>
    <p:extLst>
      <p:ext uri="{BB962C8B-B14F-4D97-AF65-F5344CB8AC3E}">
        <p14:creationId xmlns:p14="http://schemas.microsoft.com/office/powerpoint/2010/main" val="10777277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77</a:t>
            </a:r>
            <a:endParaRPr i="1" dirty="0">
              <a:latin typeface="Calibri"/>
              <a:ea typeface="Calibri"/>
              <a:cs typeface="Calibri"/>
              <a:sym typeface="Calibri"/>
            </a:endParaRPr>
          </a:p>
        </p:txBody>
      </p:sp>
      <p:sp>
        <p:nvSpPr>
          <p:cNvPr id="9" name="Google Shape;313;g104476d1465_1_39"/>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Wrap-Up</a:t>
            </a:r>
            <a:endParaRPr lang="en-US" sz="5100" b="1" dirty="0">
              <a:solidFill>
                <a:srgbClr val="3F2A67"/>
              </a:solidFill>
              <a:latin typeface="Verdana"/>
              <a:ea typeface="Verdana"/>
              <a:cs typeface="Verdana"/>
              <a:sym typeface="Verdana"/>
            </a:endParaRPr>
          </a:p>
        </p:txBody>
      </p:sp>
      <p:pic>
        <p:nvPicPr>
          <p:cNvPr id="10"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 xmlns:a16="http://schemas.microsoft.com/office/drawing/2014/main" id="{68C03D65-F0BF-3F41-B52A-024F47388982}"/>
              </a:ext>
            </a:extLst>
          </p:cNvPr>
          <p:cNvSpPr txBox="1">
            <a:spLocks/>
          </p:cNvSpPr>
          <p:nvPr/>
        </p:nvSpPr>
        <p:spPr>
          <a:xfrm>
            <a:off x="1103916" y="-8803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2.8.5 Wrap-Up: Reflection</a:t>
            </a:r>
          </a:p>
        </p:txBody>
      </p:sp>
      <p:pic>
        <p:nvPicPr>
          <p:cNvPr id="9" name="Google Shape;458;g103996e1364_0_463">
            <a:extLst>
              <a:ext uri="{FF2B5EF4-FFF2-40B4-BE49-F238E27FC236}">
                <a16:creationId xmlns=""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 xmlns:a16="http://schemas.microsoft.com/office/drawing/2014/main" id="{0370EDB7-6994-3D43-ABF9-E04CBAFB9CD9}"/>
              </a:ext>
            </a:extLst>
          </p:cNvPr>
          <p:cNvSpPr txBox="1"/>
          <p:nvPr/>
        </p:nvSpPr>
        <p:spPr>
          <a:xfrm>
            <a:off x="730266" y="1387842"/>
            <a:ext cx="11086596" cy="830997"/>
          </a:xfrm>
          <a:prstGeom prst="rect">
            <a:avLst/>
          </a:prstGeom>
          <a:noFill/>
        </p:spPr>
        <p:txBody>
          <a:bodyPr wrap="square" rtlCol="0">
            <a:spAutoFit/>
          </a:bodyPr>
          <a:lstStyle/>
          <a:p>
            <a:pPr marL="457200" indent="-457200">
              <a:buFont typeface="+mj-lt"/>
              <a:buAutoNum type="arabicPeriod"/>
            </a:pPr>
            <a:r>
              <a:rPr lang="en-US" sz="2400" dirty="0">
                <a:latin typeface="Verdana"/>
                <a:ea typeface="Times New Roman"/>
                <a:cs typeface="Cambria"/>
              </a:rPr>
              <a:t>What is something that is now “squared away” in your mind about simulating the probability of events?</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78;g104476d1465_1_17">
            <a:extLst>
              <a:ext uri="{FF2B5EF4-FFF2-40B4-BE49-F238E27FC236}">
                <a16:creationId xmlns="" xmlns:a16="http://schemas.microsoft.com/office/drawing/2014/main" id="{69767437-9B0B-9D43-A596-1373A90D9FE8}"/>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p:cNvSpPr/>
          <p:nvPr/>
        </p:nvSpPr>
        <p:spPr>
          <a:xfrm>
            <a:off x="2018087" y="2658213"/>
            <a:ext cx="1828800" cy="1828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1"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77</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 xmlns:a16="http://schemas.microsoft.com/office/drawing/2014/main" id="{4CE9D117-FAE6-F74F-940B-9CD1479755BE}"/>
              </a:ext>
            </a:extLst>
          </p:cNvPr>
          <p:cNvSpPr txBox="1"/>
          <p:nvPr/>
        </p:nvSpPr>
        <p:spPr>
          <a:xfrm>
            <a:off x="304614" y="481472"/>
            <a:ext cx="11652924" cy="3785652"/>
          </a:xfrm>
          <a:prstGeom prst="rect">
            <a:avLst/>
          </a:prstGeom>
          <a:noFill/>
        </p:spPr>
        <p:txBody>
          <a:bodyPr wrap="square" rtlCol="0">
            <a:spAutoFit/>
          </a:bodyPr>
          <a:lstStyle/>
          <a:p>
            <a:pPr marL="457200" indent="-457200">
              <a:buFont typeface="+mj-lt"/>
              <a:buAutoNum type="arabicPeriod" startAt="2"/>
            </a:pPr>
            <a:r>
              <a:rPr lang="en-US" sz="2400" dirty="0">
                <a:latin typeface="Verdana"/>
                <a:ea typeface="Times New Roman"/>
                <a:cs typeface="Cambria"/>
              </a:rPr>
              <a:t>What are three “points” that are important about simulating the probability of events?</a:t>
            </a:r>
          </a:p>
          <a:p>
            <a:pPr marL="457200" indent="-457200">
              <a:buFont typeface="+mj-lt"/>
              <a:buAutoNum type="arabicPeriod" startAt="2"/>
            </a:pPr>
            <a:endParaRPr lang="en-PH" sz="2400" dirty="0">
              <a:latin typeface="Verdana"/>
              <a:ea typeface="Verdana" panose="020B0604030504040204" pitchFamily="34" charset="0"/>
              <a:cs typeface="Verdana" panose="020B0604030504040204" pitchFamily="34" charset="0"/>
            </a:endParaRPr>
          </a:p>
          <a:p>
            <a:pPr marL="457200" indent="-457200">
              <a:buFont typeface="+mj-lt"/>
              <a:buAutoNum type="arabicPeriod" startAt="2"/>
            </a:pPr>
            <a:endParaRPr lang="en-PH" sz="2400" dirty="0">
              <a:latin typeface="Verdana"/>
              <a:ea typeface="Verdana" panose="020B0604030504040204" pitchFamily="34" charset="0"/>
              <a:cs typeface="Verdana" panose="020B0604030504040204" pitchFamily="34" charset="0"/>
            </a:endParaRPr>
          </a:p>
          <a:p>
            <a:pPr marL="457200" indent="-457200">
              <a:buFont typeface="+mj-lt"/>
              <a:buAutoNum type="arabicPeriod" startAt="2"/>
            </a:pPr>
            <a:endParaRPr lang="en-PH" sz="2400" dirty="0">
              <a:latin typeface="Verdana"/>
              <a:ea typeface="Verdana" panose="020B0604030504040204" pitchFamily="34" charset="0"/>
              <a:cs typeface="Verdana" panose="020B0604030504040204" pitchFamily="34" charset="0"/>
            </a:endParaRPr>
          </a:p>
          <a:p>
            <a:pPr marL="457200" indent="-457200">
              <a:buFont typeface="+mj-lt"/>
              <a:buAutoNum type="arabicPeriod" startAt="2"/>
            </a:pPr>
            <a:endParaRPr lang="en-PH" sz="2400" dirty="0">
              <a:latin typeface="Verdana"/>
              <a:ea typeface="Verdana" panose="020B0604030504040204" pitchFamily="34" charset="0"/>
              <a:cs typeface="Verdana" panose="020B0604030504040204" pitchFamily="34" charset="0"/>
            </a:endParaRPr>
          </a:p>
          <a:p>
            <a:pPr marL="457200" indent="-457200">
              <a:buFont typeface="+mj-lt"/>
              <a:buAutoNum type="arabicPeriod" startAt="2"/>
            </a:pPr>
            <a:endParaRPr lang="en-PH" sz="2400" dirty="0">
              <a:latin typeface="Verdana"/>
              <a:ea typeface="Verdana" panose="020B0604030504040204" pitchFamily="34" charset="0"/>
              <a:cs typeface="Verdana" panose="020B0604030504040204" pitchFamily="34" charset="0"/>
            </a:endParaRPr>
          </a:p>
          <a:p>
            <a:pPr marL="457200" indent="-457200">
              <a:buFont typeface="+mj-lt"/>
              <a:buAutoNum type="arabicPeriod" startAt="2"/>
            </a:pPr>
            <a:endParaRPr lang="en-PH" sz="2400" dirty="0">
              <a:latin typeface="Verdana"/>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a:ea typeface="Times New Roman"/>
                <a:cs typeface="Cambria"/>
              </a:rPr>
              <a:t>What is something that is still “circling” your brain about simulating the probability of events?</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 xmlns:a16="http://schemas.microsoft.com/office/drawing/2014/main" id="{BEF6C55E-B3A1-F64B-8B75-315832270770}"/>
              </a:ext>
            </a:extLst>
          </p:cNvPr>
          <p:cNvSpPr/>
          <p:nvPr/>
        </p:nvSpPr>
        <p:spPr>
          <a:xfrm>
            <a:off x="-11160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Isosceles Triangle 1"/>
          <p:cNvSpPr/>
          <p:nvPr/>
        </p:nvSpPr>
        <p:spPr>
          <a:xfrm>
            <a:off x="969975" y="1436452"/>
            <a:ext cx="1828800" cy="137160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Oval 2"/>
          <p:cNvSpPr/>
          <p:nvPr/>
        </p:nvSpPr>
        <p:spPr>
          <a:xfrm>
            <a:off x="969975" y="4394754"/>
            <a:ext cx="1828800" cy="1828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77</a:t>
            </a:r>
            <a:endParaRPr i="1" dirty="0">
              <a:latin typeface="Calibri"/>
              <a:ea typeface="Calibri"/>
              <a:cs typeface="Calibri"/>
              <a:sym typeface="Calibri"/>
            </a:endParaRPr>
          </a:p>
        </p:txBody>
      </p:sp>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1407</TotalTime>
  <Words>1430</Words>
  <Application>Microsoft Office PowerPoint</Application>
  <PresentationFormat>Custom</PresentationFormat>
  <Paragraphs>285</Paragraphs>
  <Slides>25</Slides>
  <Notes>25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Arial</vt:lpstr>
      <vt:lpstr>Verdana</vt:lpstr>
      <vt:lpstr>Calibri</vt:lpstr>
      <vt:lpstr>Courier New</vt:lpstr>
      <vt:lpstr>Times New Roman</vt:lpstr>
      <vt:lpstr>Century Gothic</vt:lpstr>
      <vt:lpstr>Wingdings</vt:lpstr>
      <vt:lpstr>Cambria Math</vt:lpstr>
      <vt:lpstr>Cambria</vt:lpstr>
      <vt:lpstr>Arial Black</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44</cp:revision>
  <dcterms:created xsi:type="dcterms:W3CDTF">2015-03-17T18:51:18Z</dcterms:created>
  <dcterms:modified xsi:type="dcterms:W3CDTF">2022-06-08T08:00:34Z</dcterms:modified>
</cp:coreProperties>
</file>