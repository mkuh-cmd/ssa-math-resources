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85" r:id="rId4"/>
    <p:sldId id="286" r:id="rId5"/>
    <p:sldId id="261" r:id="rId6"/>
    <p:sldId id="287" r:id="rId7"/>
    <p:sldId id="317" r:id="rId8"/>
    <p:sldId id="318" r:id="rId9"/>
    <p:sldId id="319" r:id="rId10"/>
    <p:sldId id="288" r:id="rId11"/>
    <p:sldId id="338" r:id="rId12"/>
    <p:sldId id="332" r:id="rId13"/>
    <p:sldId id="333" r:id="rId14"/>
    <p:sldId id="339" r:id="rId15"/>
    <p:sldId id="334" r:id="rId16"/>
    <p:sldId id="340" r:id="rId17"/>
    <p:sldId id="335" r:id="rId18"/>
    <p:sldId id="336" r:id="rId19"/>
    <p:sldId id="337" r:id="rId20"/>
    <p:sldId id="341" r:id="rId21"/>
    <p:sldId id="342" r:id="rId22"/>
    <p:sldId id="306" r:id="rId23"/>
    <p:sldId id="307" r:id="rId24"/>
    <p:sldId id="310" r:id="rId25"/>
  </p:sldIdLst>
  <p:sldSz cx="12192000" cy="6858000"/>
  <p:notesSz cx="6858000" cy="9144000"/>
  <p:embeddedFontLst>
    <p:embeddedFont>
      <p:font typeface="Cambria Math" pitchFamily="18" charset="0"/>
      <p:regular r:id="rId27"/>
    </p:embeddedFont>
    <p:embeddedFont>
      <p:font typeface="Cambria" pitchFamily="18" charset="0"/>
      <p:regular r:id="rId28"/>
      <p:bold r:id="rId29"/>
      <p:italic r:id="rId30"/>
      <p:boldItalic r:id="rId31"/>
    </p:embeddedFont>
    <p:embeddedFont>
      <p:font typeface="Arial Black" pitchFamily="34" charset="0"/>
      <p:bold r:id="rId32"/>
    </p:embeddedFont>
    <p:embeddedFont>
      <p:font typeface="Verdana" pitchFamily="34" charset="0"/>
      <p:regular r:id="rId33"/>
      <p:bold r:id="rId34"/>
      <p:italic r:id="rId35"/>
      <p:boldItalic r:id="rId36"/>
    </p:embeddedFont>
    <p:embeddedFont>
      <p:font typeface="Calibri" pitchFamily="34" charset="0"/>
      <p:regular r:id="rId37"/>
      <p:bold r:id="rId38"/>
      <p:italic r:id="rId39"/>
      <p:boldItalic r:id="rId40"/>
    </p:embeddedFont>
    <p:embeddedFont>
      <p:font typeface="Century Gothic" pitchFamily="34" charset="0"/>
      <p:regular r:id="rId41"/>
      <p:bold r:id="rId42"/>
      <p:italic r:id="rId43"/>
      <p:bold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399C8"/>
    <a:srgbClr val="1F3165"/>
    <a:srgbClr val="C9DF6F"/>
    <a:srgbClr val="417DBF"/>
    <a:srgbClr val="3F2A67"/>
    <a:srgbClr val="E24E5F"/>
    <a:srgbClr val="26B7D4"/>
    <a:srgbClr val="54B5D1"/>
    <a:srgbClr val="33BEA6"/>
    <a:srgbClr val="2DA4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40" autoAdjust="0"/>
    <p:restoredTop sz="94645"/>
  </p:normalViewPr>
  <p:slideViewPr>
    <p:cSldViewPr snapToGrid="0">
      <p:cViewPr varScale="1">
        <p:scale>
          <a:sx n="104" d="100"/>
          <a:sy n="104" d="100"/>
        </p:scale>
        <p:origin x="-678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42" Type="http://schemas.openxmlformats.org/officeDocument/2006/relationships/font" Target="fonts/font16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font" Target="fonts/font12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41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font" Target="fonts/font14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4" Type="http://schemas.openxmlformats.org/officeDocument/2006/relationships/font" Target="fonts/font1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43" Type="http://schemas.openxmlformats.org/officeDocument/2006/relationships/font" Target="fonts/font17.fntdata"/><Relationship Id="rId56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658389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856178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547374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475297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30581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702437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30514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095921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325724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453326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687097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050492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238602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400937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781881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297221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6799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4364956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484926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0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3.tif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0.png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49901" y="2054277"/>
            <a:ext cx="5168900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7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11, Lesson 8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Putting It All Together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187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xmlns="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70701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xmlns="" id="{AB08A17F-C082-CD48-B100-6B09C860CC1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7437" y="1627632"/>
            <a:ext cx="3090582" cy="36027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53635" y="103391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Benchmarks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435" y="39259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93038" y="650219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187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485" y="616508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xmlns="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34351" y="1593077"/>
            <a:ext cx="10800000" cy="5016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SzPts val="1100"/>
              <a:buNone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MA.7.AR.4.1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Determine whether two quantities have a proportional relationship by examining a table, graph or written description.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1100"/>
              <a:buNone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MA.7.AR.4.2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Determine the constant of proportionality within a mathematical or real-world context given a table, graph, or written description of a proportional relationship.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Century Gothic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1100"/>
              <a:buNone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MA.7.AR.4.3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Given a mathematical or real-world context, graph proportional relationships from a table, equation or a written description.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Century Gothic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1100"/>
              <a:buNone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MA.7.AR.4.4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Given any representation of a proportional relationship, translate the representation to a written description, table or equation.</a:t>
            </a: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xmlns="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60305" y="103391"/>
            <a:ext cx="9377489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xmlns="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60305" y="1403115"/>
            <a:ext cx="9775371" cy="4398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</a:t>
            </a: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Apply mathematics to real-world contexts.</a:t>
            </a: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pic>
        <p:nvPicPr>
          <p:cNvPr id="10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435" y="39259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/>
          <p:cNvSpPr txBox="1"/>
          <p:nvPr/>
        </p:nvSpPr>
        <p:spPr>
          <a:xfrm>
            <a:off x="8893038" y="650219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187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485" y="616508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xmlns="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63478" y="103391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xmlns="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435" y="39259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xmlns="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537191" y="1581494"/>
            <a:ext cx="10800000" cy="4463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44500" indent="-444500">
              <a:buFont typeface="Wingdings" panose="05000000000000000000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determine if two quantities have a proportional relationship given a real-world context.</a:t>
            </a:r>
          </a:p>
          <a:p>
            <a:pPr marL="444500" indent="-444500"/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44500" indent="-444500">
              <a:buFont typeface="Wingdings" panose="05000000000000000000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graph a proportional relationship from a table, an equation, or a written description.</a:t>
            </a:r>
          </a:p>
          <a:p>
            <a:pPr marL="444500" indent="-444500"/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44500" indent="-444500">
              <a:buFont typeface="Wingdings" panose="05000000000000000000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determine the constant of proportionality of a proportional relationship.</a:t>
            </a:r>
          </a:p>
          <a:p>
            <a:pPr marL="444500" indent="-444500"/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44500" indent="-444500">
              <a:buFont typeface="Wingdings" panose="05000000000000000000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translate a given representation of a proportional relationship to a written description, table, or equation.</a:t>
            </a: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11" name="Google Shape;282;g104476d1465_1_17"/>
          <p:cNvSpPr txBox="1"/>
          <p:nvPr/>
        </p:nvSpPr>
        <p:spPr>
          <a:xfrm>
            <a:off x="8893038" y="650219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187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485" y="616508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93038" y="650219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188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485" y="616508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57423" y="103391"/>
            <a:ext cx="108000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11.8.1 Warm-Up: Critical Thinking – Shower or Bath?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xmlns="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435" y="39259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E1D7562E-134F-D14B-AF1A-DF40E11EF758}"/>
              </a:ext>
            </a:extLst>
          </p:cNvPr>
          <p:cNvSpPr txBox="1"/>
          <p:nvPr/>
        </p:nvSpPr>
        <p:spPr>
          <a:xfrm>
            <a:off x="483682" y="1464603"/>
            <a:ext cx="10800000" cy="3575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Some people say that taking a bath uses more water than a shower. Others disagree.</a:t>
            </a:r>
          </a:p>
          <a:p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information would you collect in order to answer the question of which uses more water?</a:t>
            </a:r>
          </a:p>
          <a:p>
            <a:pPr marL="457200" indent="-457200">
              <a:buFont typeface="+mj-lt"/>
              <a:buAutoNum type="arabicPeriod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are some proportional relationships that may be involved in helping to answer this question?</a:t>
            </a:r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893038" y="650219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smtClean="0">
                <a:latin typeface="Calibri"/>
                <a:ea typeface="Calibri"/>
                <a:cs typeface="Calibri"/>
                <a:sym typeface="Calibri"/>
              </a:rPr>
              <a:t>188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485" y="616508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Activity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5122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217F3A92-AA2C-4D41-A73D-4DC6608D68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20890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893038" y="650219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smtClean="0">
                <a:latin typeface="Calibri"/>
                <a:ea typeface="Calibri"/>
                <a:cs typeface="Calibri"/>
                <a:sym typeface="Calibri"/>
              </a:rPr>
              <a:t>188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485" y="616508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16111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50841" y="10464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11.8.2 Activity: Station 1 – Gym Membership Plans</a:t>
            </a:r>
          </a:p>
        </p:txBody>
      </p:sp>
      <p:pic>
        <p:nvPicPr>
          <p:cNvPr id="9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37999C4E-6AE0-FA43-BC73-665C08EC5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6435" y="392591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A3547ABD-563B-A148-B65C-C7679A7B43D4}"/>
                  </a:ext>
                </a:extLst>
              </p:cNvPr>
              <p:cNvSpPr txBox="1"/>
              <p:nvPr/>
            </p:nvSpPr>
            <p:spPr>
              <a:xfrm>
                <a:off x="542936" y="1457047"/>
                <a:ext cx="10800000" cy="31393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In January, Gigi signed up for a membership at Total Fitness. The plan she chose costs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$65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 start-up fees and then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$20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per month starting in February. Julien also signed up at Total Fitness in January. His plan costs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$32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per month starting in February, and his start-up fees and January costs were waived.</a:t>
                </a:r>
              </a:p>
              <a:p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tables to represent the total costs of their gym memberships for both Gigi and Julien for the first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months of their memberships.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A3547ABD-563B-A148-B65C-C7679A7B43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936" y="1457047"/>
                <a:ext cx="10800000" cy="3139321"/>
              </a:xfrm>
              <a:prstGeom prst="rect">
                <a:avLst/>
              </a:prstGeom>
              <a:blipFill rotWithShape="1">
                <a:blip r:embed="rId4"/>
                <a:stretch>
                  <a:fillRect l="-734" t="-971" r="-959" b="-310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Google Shape;282;g104476d1465_1_17"/>
          <p:cNvSpPr txBox="1"/>
          <p:nvPr/>
        </p:nvSpPr>
        <p:spPr>
          <a:xfrm>
            <a:off x="8893038" y="650219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smtClean="0">
                <a:latin typeface="Calibri"/>
                <a:ea typeface="Calibri"/>
                <a:cs typeface="Calibri"/>
                <a:sym typeface="Calibri"/>
              </a:rPr>
              <a:t>188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485" y="616508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699352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95536687"/>
                  </p:ext>
                </p:extLst>
              </p:nvPr>
            </p:nvGraphicFramePr>
            <p:xfrm>
              <a:off x="1379672" y="368768"/>
              <a:ext cx="4320000" cy="48600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16000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216000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</a:tblGrid>
                  <a:tr h="468000">
                    <a:tc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Gigi’s Membership Costs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64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Months Since January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Total Cost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4"/>
                      </a:ext>
                    </a:extLst>
                  </a:tr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5"/>
                      </a:ext>
                    </a:extLst>
                  </a:tr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6"/>
                      </a:ext>
                    </a:extLst>
                  </a:tr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7"/>
                      </a:ext>
                    </a:extLst>
                  </a:tr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8"/>
                      </a:ext>
                    </a:extLst>
                  </a:tr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95536687"/>
                  </p:ext>
                </p:extLst>
              </p:nvPr>
            </p:nvGraphicFramePr>
            <p:xfrm>
              <a:off x="1379672" y="368768"/>
              <a:ext cx="4320000" cy="48600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16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216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</a:tblGrid>
                  <a:tr h="468000">
                    <a:tc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Gigi’s Membership Costs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64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Months Since January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Total Cost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468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237662" r="-99718" b="-6987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  <a:tr h="468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337662" r="-99718" b="-5987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3"/>
                      </a:ext>
                    </a:extLst>
                  </a:tr>
                  <a:tr h="468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437662" r="-99718" b="-4987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4"/>
                      </a:ext>
                    </a:extLst>
                  </a:tr>
                  <a:tr h="468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537662" r="-99718" b="-3987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5"/>
                      </a:ext>
                    </a:extLst>
                  </a:tr>
                  <a:tr h="468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646053" r="-99718" b="-3039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6"/>
                      </a:ext>
                    </a:extLst>
                  </a:tr>
                  <a:tr h="468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736364" r="-99718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7"/>
                      </a:ext>
                    </a:extLst>
                  </a:tr>
                  <a:tr h="468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836364" r="-99718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8"/>
                      </a:ext>
                    </a:extLst>
                  </a:tr>
                  <a:tr h="468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936364" r="-997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50780306"/>
                  </p:ext>
                </p:extLst>
              </p:nvPr>
            </p:nvGraphicFramePr>
            <p:xfrm>
              <a:off x="6147491" y="368770"/>
              <a:ext cx="4320000" cy="48600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16000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216000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</a:tblGrid>
                  <a:tr h="468000">
                    <a:tc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Julien’s Membership Costs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64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Months Since January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Total Cost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4"/>
                      </a:ext>
                    </a:extLst>
                  </a:tr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5"/>
                      </a:ext>
                    </a:extLst>
                  </a:tr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6"/>
                      </a:ext>
                    </a:extLst>
                  </a:tr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7"/>
                      </a:ext>
                    </a:extLst>
                  </a:tr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8"/>
                      </a:ext>
                    </a:extLst>
                  </a:tr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50780306"/>
                  </p:ext>
                </p:extLst>
              </p:nvPr>
            </p:nvGraphicFramePr>
            <p:xfrm>
              <a:off x="6147491" y="368770"/>
              <a:ext cx="4320000" cy="48600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16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216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</a:tblGrid>
                  <a:tr h="468000">
                    <a:tc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Julien’s Membership Costs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64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Months Since January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Total Cost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468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237662" r="-100000" b="-6987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  <a:tr h="468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337662" r="-100000" b="-5987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3"/>
                      </a:ext>
                    </a:extLst>
                  </a:tr>
                  <a:tr h="468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437662" r="-100000" b="-4987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4"/>
                      </a:ext>
                    </a:extLst>
                  </a:tr>
                  <a:tr h="468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537662" r="-100000" b="-3987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5"/>
                      </a:ext>
                    </a:extLst>
                  </a:tr>
                  <a:tr h="468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646053" r="-100000" b="-3039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6"/>
                      </a:ext>
                    </a:extLst>
                  </a:tr>
                  <a:tr h="468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736364" r="-10000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7"/>
                      </a:ext>
                    </a:extLst>
                  </a:tr>
                  <a:tr h="468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836364" r="-100000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8"/>
                      </a:ext>
                    </a:extLst>
                  </a:tr>
                  <a:tr h="468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936364" r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Google Shape;282;g104476d1465_1_17"/>
          <p:cNvSpPr txBox="1"/>
          <p:nvPr/>
        </p:nvSpPr>
        <p:spPr>
          <a:xfrm>
            <a:off x="8893038" y="650219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smtClean="0">
                <a:latin typeface="Calibri"/>
                <a:ea typeface="Calibri"/>
                <a:cs typeface="Calibri"/>
                <a:sym typeface="Calibri"/>
              </a:rPr>
              <a:t>188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485" y="616508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711547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531612" y="379875"/>
            <a:ext cx="10800000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Aft>
                <a:spcPts val="1200"/>
              </a:spcAft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Determine whether either or both gym memberships are a proportional relationship. Then, complete the statements.</a:t>
            </a:r>
          </a:p>
          <a:p>
            <a:pPr marL="465138">
              <a:lnSpc>
                <a:spcPct val="200000"/>
              </a:lnSpc>
            </a:pP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Gigi’s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membership costs			   	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a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proportional relationship because 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_______________________________________________________</a:t>
            </a:r>
            <a:b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______________________________________________________________</a:t>
            </a:r>
          </a:p>
          <a:p>
            <a:pPr marL="465138">
              <a:lnSpc>
                <a:spcPct val="200000"/>
              </a:lnSpc>
              <a:spcAft>
                <a:spcPts val="2400"/>
              </a:spcAft>
            </a:pP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______________________________________________________________.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65138">
              <a:lnSpc>
                <a:spcPct val="200000"/>
              </a:lnSpc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Julien’s membership costs			    a proportional relationship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because _______________________________________________________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______________________________________________________________</a:t>
            </a:r>
          </a:p>
          <a:p>
            <a:pPr marL="465138">
              <a:lnSpc>
                <a:spcPct val="200000"/>
              </a:lnSpc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______________________________________________________________.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95418" y="1156717"/>
            <a:ext cx="2762500" cy="82925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38028" y="3853594"/>
            <a:ext cx="2762500" cy="829258"/>
          </a:xfrm>
          <a:prstGeom prst="rect">
            <a:avLst/>
          </a:prstGeom>
        </p:spPr>
      </p:pic>
      <p:sp>
        <p:nvSpPr>
          <p:cNvPr id="9" name="Google Shape;282;g104476d1465_1_17"/>
          <p:cNvSpPr txBox="1"/>
          <p:nvPr/>
        </p:nvSpPr>
        <p:spPr>
          <a:xfrm>
            <a:off x="8893038" y="650219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189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485" y="616508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1451" y="378351"/>
                <a:ext cx="10800000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For the relationship(s) that is proportional, write an equation to represent the total cost,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in dollars, 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months of the membership.</a:t>
                </a: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your partner which membership seems to be a better deal. Then, summarize your discussion.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451" y="378351"/>
                <a:ext cx="10800000" cy="2862322"/>
              </a:xfrm>
              <a:prstGeom prst="rect">
                <a:avLst/>
              </a:prstGeom>
              <a:blipFill rotWithShape="1">
                <a:blip r:embed="rId3"/>
                <a:stretch>
                  <a:fillRect l="-621" t="-1277" r="-169" b="-2766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893038" y="650219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189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485" y="616508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509666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Activity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5122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217F3A92-AA2C-4D41-A73D-4DC6608D68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20890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893038" y="650219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189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485" y="616508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514257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66583" y="10464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11.8.3 Activity: Station 2 – Who Earns More Money?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A3547ABD-563B-A148-B65C-C7679A7B43D4}"/>
                  </a:ext>
                </a:extLst>
              </p:cNvPr>
              <p:cNvSpPr txBox="1"/>
              <p:nvPr/>
            </p:nvSpPr>
            <p:spPr>
              <a:xfrm>
                <a:off x="531614" y="1465924"/>
                <a:ext cx="10800000" cy="44935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Tia works at the Boys and Girls Club after-school program at Lockhart Middle School in Orlando, FL. The table shows how much money she earned each day she worked last week</a:t>
                </a:r>
                <a:r>
                  <a:rPr lang="en-US" sz="22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Kahlil has a job bagging groceries at Publix where he earns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$9.75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per hour. </a:t>
                </a:r>
              </a:p>
              <a:p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Who would make more money if they both work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hours? Explain or show work. 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A3547ABD-563B-A148-B65C-C7679A7B43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614" y="1465924"/>
                <a:ext cx="10800000" cy="4493538"/>
              </a:xfrm>
              <a:prstGeom prst="rect">
                <a:avLst/>
              </a:prstGeom>
              <a:blipFill rotWithShape="1">
                <a:blip r:embed="rId3"/>
                <a:stretch>
                  <a:fillRect l="-734" t="-678" r="-621" b="-1762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33460131"/>
                  </p:ext>
                </p:extLst>
              </p:nvPr>
            </p:nvGraphicFramePr>
            <p:xfrm>
              <a:off x="2331614" y="2800501"/>
              <a:ext cx="7200000" cy="14400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88000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xmlns="" val="20003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Time Worked (hours)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1.75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2.5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4.25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Money Earned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$</m:t>
                              </m:r>
                            </m:oMath>
                          </a14:m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)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18.55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26.50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45.05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33460131"/>
                  </p:ext>
                </p:extLst>
              </p:nvPr>
            </p:nvGraphicFramePr>
            <p:xfrm>
              <a:off x="2331614" y="2800501"/>
              <a:ext cx="7200000" cy="14400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88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3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Time Worked (hours)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00424" t="-2521" r="-200424" b="-1126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99156" t="-2521" r="-99578" b="-1126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400847" t="-2521" b="-1126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103390" r="-149894" b="-135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00424" t="-103390" r="-200424" b="-135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99156" t="-103390" r="-99578" b="-135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400847" t="-103390" b="-1355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Google Shape;282;g104476d1465_1_17"/>
          <p:cNvSpPr txBox="1"/>
          <p:nvPr/>
        </p:nvSpPr>
        <p:spPr>
          <a:xfrm>
            <a:off x="8893038" y="650219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189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485" y="616508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7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37999C4E-6AE0-FA43-BC73-665C08EC5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6435" y="392591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82303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30714" y="389253"/>
                <a:ext cx="10800000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On the coordinate grid shown, draw a graph </a:t>
                </a:r>
                <a:r>
                  <a:rPr lang="en-US" sz="22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/>
                </a:r>
                <a:br>
                  <a:rPr lang="en-US" sz="22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2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that </a:t>
                </a: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represents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the amount of money, </a:t>
                </a:r>
                <a:r>
                  <a:rPr lang="en-US" sz="22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/>
                </a:r>
                <a:br>
                  <a:rPr lang="en-US" sz="22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2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in </a:t>
                </a: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dollars, Tia makes for working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hours. </a:t>
                </a:r>
                <a:r>
                  <a:rPr lang="en-US" sz="22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/>
                </a:r>
                <a:br>
                  <a:rPr lang="en-US" sz="22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2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Label </a:t>
                </a: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both axes appropriately.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714" y="389253"/>
                <a:ext cx="10800000" cy="1446550"/>
              </a:xfrm>
              <a:prstGeom prst="rect">
                <a:avLst/>
              </a:prstGeom>
              <a:blipFill rotWithShape="1">
                <a:blip r:embed="rId3"/>
                <a:stretch>
                  <a:fillRect l="-734" t="-2954" b="-801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Graphical user interface, application, table&#10;&#10;Description automatically generated"/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47054" y="389253"/>
            <a:ext cx="3883660" cy="5028565"/>
          </a:xfrm>
          <a:prstGeom prst="rect">
            <a:avLst/>
          </a:prstGeom>
        </p:spPr>
      </p:pic>
      <p:sp>
        <p:nvSpPr>
          <p:cNvPr id="8" name="Google Shape;282;g104476d1465_1_17"/>
          <p:cNvSpPr txBox="1"/>
          <p:nvPr/>
        </p:nvSpPr>
        <p:spPr>
          <a:xfrm>
            <a:off x="8893038" y="650219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189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485" y="616508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803811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B6C08EE3-8247-C14E-9600-35165D5C8679}"/>
                  </a:ext>
                </a:extLst>
              </p:cNvPr>
              <p:cNvSpPr txBox="1"/>
              <p:nvPr/>
            </p:nvSpPr>
            <p:spPr>
              <a:xfrm>
                <a:off x="533421" y="381903"/>
                <a:ext cx="10800000" cy="44935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On the same grid, draw a graph that represents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the amount of money, in dollars, Khalil makes for working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hours.</a:t>
                </a: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Label each graph with the name of the person whose earnings it represents.</a:t>
                </a: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Explain how the graph shows which person has the greatest hourly rate of pay.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6C08EE3-8247-C14E-9600-35165D5C86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21" y="381903"/>
                <a:ext cx="10800000" cy="4493538"/>
              </a:xfrm>
              <a:prstGeom prst="rect">
                <a:avLst/>
              </a:prstGeom>
              <a:blipFill rotWithShape="1">
                <a:blip r:embed="rId3"/>
                <a:stretch>
                  <a:fillRect l="-791" t="-1085" r="-1186" b="-1900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893038" y="650219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190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485" y="616508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832172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B6C08EE3-8247-C14E-9600-35165D5C8679}"/>
                  </a:ext>
                </a:extLst>
              </p:cNvPr>
              <p:cNvSpPr txBox="1"/>
              <p:nvPr/>
            </p:nvSpPr>
            <p:spPr>
              <a:xfrm>
                <a:off x="534097" y="381902"/>
                <a:ext cx="10800000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6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For each person, determine the constant of proportionality and write an equation to represent the relationship between their total earnings,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in dollars, and the hours worked,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6C08EE3-8247-C14E-9600-35165D5C86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097" y="381902"/>
                <a:ext cx="10800000" cy="1107996"/>
              </a:xfrm>
              <a:prstGeom prst="rect">
                <a:avLst/>
              </a:prstGeom>
              <a:blipFill rotWithShape="1">
                <a:blip r:embed="rId3"/>
                <a:stretch>
                  <a:fillRect l="-791" t="-3867" r="-1242" b="-1049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04101213"/>
                  </p:ext>
                </p:extLst>
              </p:nvPr>
            </p:nvGraphicFramePr>
            <p:xfrm>
              <a:off x="2283874" y="1670973"/>
              <a:ext cx="7926165" cy="15840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886165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252000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2520000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</a:tblGrid>
                  <a:tr h="792000">
                    <a:tc row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Tia’s Earnings </a:t>
                          </a:r>
                          <a:r>
                            <a:rPr lang="en-US" sz="2000" b="1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/>
                          </a:r>
                          <a:br>
                            <a:rPr lang="en-US" sz="2000" b="1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a:br>
                          <a:r>
                            <a:rPr lang="en-US" sz="2000" b="1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($)</a:t>
                          </a:r>
                          <a:endParaRPr lang="en-US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Constant of Proportionality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79200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Equation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= ___________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04101213"/>
                  </p:ext>
                </p:extLst>
              </p:nvPr>
            </p:nvGraphicFramePr>
            <p:xfrm>
              <a:off x="2283874" y="1670973"/>
              <a:ext cx="7926165" cy="15840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886165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252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252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</a:tblGrid>
                  <a:tr h="792000">
                    <a:tc row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Tia’s Earnings </a:t>
                          </a:r>
                          <a:r>
                            <a:rPr lang="en-US" sz="2000" b="1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/>
                          </a:r>
                          <a:br>
                            <a:rPr lang="en-US" sz="2000" b="1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a:br>
                          <a:r>
                            <a:rPr lang="en-US" sz="2000" b="1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($)</a:t>
                          </a:r>
                          <a:endParaRPr lang="en-US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Constant of Proportionality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79200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Equation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15012" t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13399754"/>
                  </p:ext>
                </p:extLst>
              </p:nvPr>
            </p:nvGraphicFramePr>
            <p:xfrm>
              <a:off x="2283873" y="3569433"/>
              <a:ext cx="7926165" cy="15840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886165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252000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2520000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</a:tblGrid>
                  <a:tr h="792000">
                    <a:tc row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Khalil’s Earnings ($)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Constant of Proportionality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79200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Equation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= ___________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13399754"/>
                  </p:ext>
                </p:extLst>
              </p:nvPr>
            </p:nvGraphicFramePr>
            <p:xfrm>
              <a:off x="2283873" y="3569433"/>
              <a:ext cx="7926165" cy="15840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886165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252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252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</a:tblGrid>
                  <a:tr h="792000">
                    <a:tc row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Khalil’s Earnings ($)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Constant of Proportionality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79200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Equation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15012" t="-101550" b="-7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Google Shape;282;g104476d1465_1_17"/>
          <p:cNvSpPr txBox="1"/>
          <p:nvPr/>
        </p:nvSpPr>
        <p:spPr>
          <a:xfrm>
            <a:off x="8893038" y="650219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smtClean="0">
                <a:latin typeface="Calibri"/>
                <a:ea typeface="Calibri"/>
                <a:cs typeface="Calibri"/>
                <a:sym typeface="Calibri"/>
              </a:rPr>
              <a:t>190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485" y="616508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565948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Activity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5122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217F3A92-AA2C-4D41-A73D-4DC6608D68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20890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893038" y="650219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smtClean="0">
                <a:latin typeface="Calibri"/>
                <a:ea typeface="Calibri"/>
                <a:cs typeface="Calibri"/>
                <a:sym typeface="Calibri"/>
              </a:rPr>
              <a:t>190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485" y="616508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272831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55654" y="10464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11.8.4 Activity: Station 3 – Robot Races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A3547ABD-563B-A148-B65C-C7679A7B43D4}"/>
                  </a:ext>
                </a:extLst>
              </p:cNvPr>
              <p:cNvSpPr txBox="1"/>
              <p:nvPr/>
            </p:nvSpPr>
            <p:spPr>
              <a:xfrm>
                <a:off x="531900" y="1468685"/>
                <a:ext cx="10800000" cy="21236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students in the STEM Club at Umatilla Middle School built solar-powered robots which they raced in the gym at their STEM Showcase.</a:t>
                </a:r>
              </a:p>
              <a:p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graphs shown represent the distance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in meters, that each of the three robots A, B, and C traveled after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seconds.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A3547ABD-563B-A148-B65C-C7679A7B43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900" y="1468685"/>
                <a:ext cx="10800000" cy="2123658"/>
              </a:xfrm>
              <a:prstGeom prst="rect">
                <a:avLst/>
              </a:prstGeom>
              <a:blipFill rotWithShape="1">
                <a:blip r:embed="rId3"/>
                <a:stretch>
                  <a:fillRect l="-677" t="-143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45182" y="3347876"/>
            <a:ext cx="3373435" cy="3234214"/>
          </a:xfrm>
          <a:prstGeom prst="rect">
            <a:avLst/>
          </a:prstGeom>
        </p:spPr>
      </p:pic>
      <p:sp>
        <p:nvSpPr>
          <p:cNvPr id="11" name="Google Shape;282;g104476d1465_1_17"/>
          <p:cNvSpPr txBox="1"/>
          <p:nvPr/>
        </p:nvSpPr>
        <p:spPr>
          <a:xfrm>
            <a:off x="8893038" y="650219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smtClean="0">
                <a:latin typeface="Calibri"/>
                <a:ea typeface="Calibri"/>
                <a:cs typeface="Calibri"/>
                <a:sym typeface="Calibri"/>
              </a:rPr>
              <a:t>190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485" y="616508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7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37999C4E-6AE0-FA43-BC73-665C08EC5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6435" y="392591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2678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B6C08EE3-8247-C14E-9600-35165D5C8679}"/>
              </a:ext>
            </a:extLst>
          </p:cNvPr>
          <p:cNvSpPr txBox="1"/>
          <p:nvPr/>
        </p:nvSpPr>
        <p:spPr>
          <a:xfrm>
            <a:off x="525559" y="382066"/>
            <a:ext cx="98938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Determine whether each statement in the table is true or false.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34718945"/>
                  </p:ext>
                </p:extLst>
              </p:nvPr>
            </p:nvGraphicFramePr>
            <p:xfrm>
              <a:off x="1139564" y="994391"/>
              <a:ext cx="7511137" cy="3933752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5711137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Statement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True or False?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Robot B traveled in a different direction than the other robots.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true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false</a:t>
                          </a:r>
                        </a:p>
                      </a:txBody>
                      <a:tcPr marL="18000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623438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Robot B traveled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meters in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7.5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seconds.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true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false</a:t>
                          </a:r>
                        </a:p>
                      </a:txBody>
                      <a:tcPr marL="18000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623438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Robot B traveled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7.5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meters in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seconds.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true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false</a:t>
                          </a:r>
                        </a:p>
                      </a:txBody>
                      <a:tcPr marL="18000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  <a:tr h="623438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Robot B traveled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meters per second.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true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false</a:t>
                          </a:r>
                        </a:p>
                      </a:txBody>
                      <a:tcPr marL="18000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4"/>
                      </a:ext>
                    </a:extLst>
                  </a:tr>
                  <a:tr h="623438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Robot B traveled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meters per second.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true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false</a:t>
                          </a:r>
                        </a:p>
                      </a:txBody>
                      <a:tcPr marL="18000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34718945"/>
                  </p:ext>
                </p:extLst>
              </p:nvPr>
            </p:nvGraphicFramePr>
            <p:xfrm>
              <a:off x="1139564" y="994391"/>
              <a:ext cx="7511137" cy="3933752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5711137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Statement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True or False?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Robot B traveled in a different direction than the other robots.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true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false</a:t>
                          </a:r>
                        </a:p>
                      </a:txBody>
                      <a:tcPr marL="18000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62343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07" t="-234314" r="-31590" b="-3284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true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false</a:t>
                          </a:r>
                        </a:p>
                      </a:txBody>
                      <a:tcPr marL="18000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  <a:tr h="62343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07" t="-331068" r="-31590" b="-2252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true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false</a:t>
                          </a:r>
                        </a:p>
                      </a:txBody>
                      <a:tcPr marL="18000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3"/>
                      </a:ext>
                    </a:extLst>
                  </a:tr>
                  <a:tr h="62343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07" t="-435294" r="-31590" b="-1274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true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false</a:t>
                          </a:r>
                        </a:p>
                      </a:txBody>
                      <a:tcPr marL="18000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4"/>
                      </a:ext>
                    </a:extLst>
                  </a:tr>
                  <a:tr h="62343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07" t="-535294" r="-31590" b="-274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true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false</a:t>
                          </a:r>
                        </a:p>
                      </a:txBody>
                      <a:tcPr marL="18000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Google Shape;282;g104476d1465_1_17"/>
          <p:cNvSpPr txBox="1"/>
          <p:nvPr/>
        </p:nvSpPr>
        <p:spPr>
          <a:xfrm>
            <a:off x="8893038" y="650219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smtClean="0">
                <a:latin typeface="Calibri"/>
                <a:ea typeface="Calibri"/>
                <a:cs typeface="Calibri"/>
                <a:sym typeface="Calibri"/>
              </a:rPr>
              <a:t>190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485" y="616508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889324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B6C08EE3-8247-C14E-9600-35165D5C8679}"/>
                  </a:ext>
                </a:extLst>
              </p:cNvPr>
              <p:cNvSpPr txBox="1"/>
              <p:nvPr/>
            </p:nvSpPr>
            <p:spPr>
              <a:xfrm>
                <a:off x="533421" y="315198"/>
                <a:ext cx="10800000" cy="46426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Determine the constant of proportionality,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for each robot.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2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Explain what the constant of proportionality determined for each robot represents in this context.</a:t>
                </a: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Write an equation to represent the relationship between distance,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time,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for each robot.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6C08EE3-8247-C14E-9600-35165D5C86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21" y="315198"/>
                <a:ext cx="10800000" cy="4642618"/>
              </a:xfrm>
              <a:prstGeom prst="rect">
                <a:avLst/>
              </a:prstGeom>
              <a:blipFill rotWithShape="1">
                <a:blip r:embed="rId3"/>
                <a:stretch>
                  <a:fillRect l="-791" b="-1708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384218"/>
              </p:ext>
            </p:extLst>
          </p:nvPr>
        </p:nvGraphicFramePr>
        <p:xfrm>
          <a:off x="3005889" y="998394"/>
          <a:ext cx="5197475" cy="182109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11137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0861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Robot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Constant of Proportionality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6703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6703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B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6703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5068649"/>
              </p:ext>
            </p:extLst>
          </p:nvPr>
        </p:nvGraphicFramePr>
        <p:xfrm>
          <a:off x="2979748" y="5035340"/>
          <a:ext cx="5197475" cy="146685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11137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0861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Robot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Equation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6703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6703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B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6703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9" name="Google Shape;282;g104476d1465_1_17"/>
          <p:cNvSpPr txBox="1"/>
          <p:nvPr/>
        </p:nvSpPr>
        <p:spPr>
          <a:xfrm>
            <a:off x="8893038" y="650219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smtClean="0">
                <a:latin typeface="Calibri"/>
                <a:ea typeface="Calibri"/>
                <a:cs typeface="Calibri"/>
                <a:sym typeface="Calibri"/>
              </a:rPr>
              <a:t>190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485" y="616508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8201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B6C08EE3-8247-C14E-9600-35165D5C8679}"/>
                  </a:ext>
                </a:extLst>
              </p:cNvPr>
              <p:cNvSpPr txBox="1"/>
              <p:nvPr/>
            </p:nvSpPr>
            <p:spPr>
              <a:xfrm>
                <a:off x="532578" y="381903"/>
                <a:ext cx="10800000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5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Assume the robots traveled at the same rate for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seconds. How far would each robot have traveled in that time?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6C08EE3-8247-C14E-9600-35165D5C86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578" y="381903"/>
                <a:ext cx="10800000" cy="769441"/>
              </a:xfrm>
              <a:prstGeom prst="rect">
                <a:avLst/>
              </a:prstGeom>
              <a:blipFill rotWithShape="1">
                <a:blip r:embed="rId3"/>
                <a:stretch>
                  <a:fillRect l="-734" t="-6349" b="-15873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91287171"/>
                  </p:ext>
                </p:extLst>
              </p:nvPr>
            </p:nvGraphicFramePr>
            <p:xfrm>
              <a:off x="2606391" y="1318842"/>
              <a:ext cx="7051563" cy="2198013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327191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4724372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Robot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Distance Traveled in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𝟏𝟎</m:t>
                              </m:r>
                            </m:oMath>
                          </a14:m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seconds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(meters)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492671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492671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B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492671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91287171"/>
                  </p:ext>
                </p:extLst>
              </p:nvPr>
            </p:nvGraphicFramePr>
            <p:xfrm>
              <a:off x="2606391" y="1318842"/>
              <a:ext cx="7051563" cy="2198013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327191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4724372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Robot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49483" t="-2542" r="-129" b="-21440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492671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492671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B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  <a:tr h="492671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Google Shape;282;g104476d1465_1_17"/>
          <p:cNvSpPr txBox="1"/>
          <p:nvPr/>
        </p:nvSpPr>
        <p:spPr>
          <a:xfrm>
            <a:off x="8893038" y="650219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191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485" y="616508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108177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xmlns="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893038" y="650219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191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485" y="616508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xmlns="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51153" y="103391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11.8.5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xmlns="" id="{EEA44D6C-2366-AC41-B1B5-EDDC34786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8943" y="39259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0370EDB7-6994-3D43-ABF9-E04CBAFB9CD9}"/>
              </a:ext>
            </a:extLst>
          </p:cNvPr>
          <p:cNvSpPr txBox="1"/>
          <p:nvPr/>
        </p:nvSpPr>
        <p:spPr>
          <a:xfrm>
            <a:off x="528579" y="1464603"/>
            <a:ext cx="10800000" cy="3524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 far in this unit, you have learned multiple concepts about proportional relationships including those listed below.</a:t>
            </a:r>
          </a:p>
          <a:p>
            <a:pPr marL="808038" indent="-358775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808038" algn="l"/>
              </a:tabLst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Determining if two quantities have a proportional relationship</a:t>
            </a:r>
          </a:p>
          <a:p>
            <a:pPr marL="808038" indent="-358775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808038" algn="l"/>
              </a:tabLst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Determining the constant of proportionality of a proportional relationship given a table, graph, or written description</a:t>
            </a:r>
          </a:p>
          <a:p>
            <a:pPr marL="808038" indent="-358775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808038" algn="l"/>
              </a:tabLst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Graphing proportional relationships from a table, equation, or written description</a:t>
            </a:r>
          </a:p>
          <a:p>
            <a:pPr marL="808038" indent="-358775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808038" algn="l"/>
              </a:tabLst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Translating between different representations of proportional relationships</a:t>
            </a:r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893038" y="650219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191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485" y="616508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4CE9D117-FAE6-F74F-940B-9CD1479755BE}"/>
              </a:ext>
            </a:extLst>
          </p:cNvPr>
          <p:cNvSpPr txBox="1"/>
          <p:nvPr/>
        </p:nvSpPr>
        <p:spPr>
          <a:xfrm>
            <a:off x="535789" y="378467"/>
            <a:ext cx="996347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Use the stoplight reflection below to share how you are feeling about each of these concepts at this point.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544" y="1424950"/>
            <a:ext cx="7559965" cy="3999749"/>
          </a:xfrm>
          <a:prstGeom prst="rect">
            <a:avLst/>
          </a:prstGeom>
        </p:spPr>
      </p:pic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xmlns="" id="{DEA1E2C8-11F4-8047-92EE-638C6DBDC9D7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893038" y="650219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191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485" y="616508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2339640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1353</TotalTime>
  <Words>1086</Words>
  <Application>Microsoft Office PowerPoint</Application>
  <PresentationFormat>Custom</PresentationFormat>
  <Paragraphs>251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5" baseType="lpstr">
      <vt:lpstr>Arial</vt:lpstr>
      <vt:lpstr>Wingdings</vt:lpstr>
      <vt:lpstr>Cambria Math</vt:lpstr>
      <vt:lpstr>Cambria</vt:lpstr>
      <vt:lpstr>Arial Black</vt:lpstr>
      <vt:lpstr>Verdana</vt:lpstr>
      <vt:lpstr>Calibri</vt:lpstr>
      <vt:lpstr>Courier New</vt:lpstr>
      <vt:lpstr>Times New Roman</vt:lpstr>
      <vt:lpstr>Century Gothic</vt:lpstr>
      <vt:lpstr>1_Office Theme</vt:lpstr>
      <vt:lpstr>7th Grade Math  Unit 11, Lesson 8  Putting It All Together  Volume 2, pg. 187  </vt:lpstr>
      <vt:lpstr>Benchmarks</vt:lpstr>
      <vt:lpstr>PowerPoint Presentation</vt:lpstr>
      <vt:lpstr>PowerPoint Presentation</vt:lpstr>
      <vt:lpstr>Warm-Up</vt:lpstr>
      <vt:lpstr>PowerPoint Presentation</vt:lpstr>
      <vt:lpstr>Activity</vt:lpstr>
      <vt:lpstr>PowerPoint Presentation</vt:lpstr>
      <vt:lpstr>PowerPoint Presentation</vt:lpstr>
      <vt:lpstr>PowerPoint Presentation</vt:lpstr>
      <vt:lpstr>PowerPoint Presentation</vt:lpstr>
      <vt:lpstr>Activity</vt:lpstr>
      <vt:lpstr>PowerPoint Presentation</vt:lpstr>
      <vt:lpstr>PowerPoint Presentation</vt:lpstr>
      <vt:lpstr>PowerPoint Presentation</vt:lpstr>
      <vt:lpstr>PowerPoint Presentation</vt:lpstr>
      <vt:lpstr>Activity</vt:lpstr>
      <vt:lpstr>PowerPoint Presentation</vt:lpstr>
      <vt:lpstr>PowerPoint Presentation</vt:lpstr>
      <vt:lpstr>PowerPoint Presentation</vt:lpstr>
      <vt:lpstr>PowerPoint Presentation</vt:lpstr>
      <vt:lpstr>Wrap-Up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Sensei</cp:lastModifiedBy>
  <cp:revision>26</cp:revision>
  <dcterms:created xsi:type="dcterms:W3CDTF">2015-03-17T18:51:18Z</dcterms:created>
  <dcterms:modified xsi:type="dcterms:W3CDTF">2022-06-12T04:36:05Z</dcterms:modified>
</cp:coreProperties>
</file>