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288" r:id="rId11"/>
    <p:sldId id="326" r:id="rId12"/>
    <p:sldId id="327" r:id="rId13"/>
    <p:sldId id="323" r:id="rId14"/>
    <p:sldId id="324" r:id="rId15"/>
    <p:sldId id="328" r:id="rId16"/>
    <p:sldId id="325" r:id="rId17"/>
    <p:sldId id="314" r:id="rId18"/>
    <p:sldId id="315" r:id="rId19"/>
    <p:sldId id="316" r:id="rId20"/>
    <p:sldId id="329" r:id="rId21"/>
    <p:sldId id="330" r:id="rId22"/>
    <p:sldId id="331" r:id="rId23"/>
    <p:sldId id="306" r:id="rId24"/>
    <p:sldId id="307" r:id="rId25"/>
  </p:sldIdLst>
  <p:sldSz cx="12192000" cy="6858000"/>
  <p:notesSz cx="6858000" cy="9144000"/>
  <p:embeddedFontLst>
    <p:embeddedFont>
      <p:font typeface="Arial Black" pitchFamily="34" charset="0"/>
      <p:bold r:id="rId27"/>
    </p:embeddedFont>
    <p:embeddedFont>
      <p:font typeface="Verdana" pitchFamily="34" charset="0"/>
      <p:regular r:id="rId28"/>
      <p:bold r:id="rId29"/>
      <p:italic r:id="rId30"/>
      <p:boldItalic r:id="rId31"/>
    </p:embeddedFont>
    <p:embeddedFont>
      <p:font typeface="Calibri" pitchFamily="34" charset="0"/>
      <p:regular r:id="rId32"/>
      <p:bold r:id="rId33"/>
      <p:italic r:id="rId34"/>
      <p:boldItalic r:id="rId35"/>
    </p:embeddedFont>
    <p:embeddedFont>
      <p:font typeface="Century Gothic" pitchFamily="34" charset="0"/>
      <p:regular r:id="rId36"/>
      <p:bold r:id="rId37"/>
      <p:italic r:id="rId38"/>
      <p:boldItalic r:id="rId39"/>
    </p:embeddedFont>
    <p:embeddedFont>
      <p:font typeface="Cambria Math" pitchFamily="18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830" autoAdjust="0"/>
    <p:restoredTop sz="94645"/>
  </p:normalViewPr>
  <p:slideViewPr>
    <p:cSldViewPr snapToGrid="0">
      <p:cViewPr>
        <p:scale>
          <a:sx n="75" d="100"/>
          <a:sy n="75" d="100"/>
        </p:scale>
        <p:origin x="-1589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24404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183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314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0930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0334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1694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9343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30215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79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87250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6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vecteezy.com/spills-splatters/6375-splatter-pack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Translating Between Representations of Proportional Relationships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55326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793" y="162763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5257" y="9493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3841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2453" y="1459912"/>
            <a:ext cx="10800000" cy="463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MA.7.AR.4.2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constant of proportionality within a mathematical or real-world context given a table, graph, or written description of a proportional relationship.</a:t>
            </a:r>
          </a:p>
          <a:p>
            <a:pPr indent="0">
              <a:lnSpc>
                <a:spcPct val="100000"/>
              </a:lnSpc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MA.7.AR.4.4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any representation of a proportional relationship, translate the representation to a written description, table, or equation.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9628" y="94937"/>
            <a:ext cx="1007950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9628" y="1579969"/>
            <a:ext cx="9740627" cy="4426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3841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5390" y="9493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3841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29752" y="1467743"/>
            <a:ext cx="10800000" cy="4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constant of proportionality of a proportional relationship.</a:t>
            </a:r>
          </a:p>
          <a:p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translate a given representation of a proportional relationship to a written description, table, or equation.</a:t>
            </a: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0046" y="0"/>
            <a:ext cx="97073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11.7.1 Warm-Up: Equivalent Ratios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0418" y="1452565"/>
                <a:ext cx="10800000" cy="795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the blue boxes using the digits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make two ratios that are equivalent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 :30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18" y="1452565"/>
                <a:ext cx="10800000" cy="795126"/>
              </a:xfrm>
              <a:prstGeom prst="rect">
                <a:avLst/>
              </a:prstGeom>
              <a:blipFill rotWithShape="1">
                <a:blip r:embed="rId4"/>
                <a:stretch>
                  <a:fillRect l="-734" t="-6107" r="-113" b="-106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243" y="2331693"/>
            <a:ext cx="5086350" cy="3762375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4462" y="9493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11.7.2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Translating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Between Different Representations of Proportional Relationships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81" y="3841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36568" y="1559610"/>
            <a:ext cx="99930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proportional relationship is shown.</a:t>
            </a:r>
          </a:p>
        </p:txBody>
      </p:sp>
      <p:pic>
        <p:nvPicPr>
          <p:cNvPr id="8" name="Picture 7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4046" y="2214365"/>
            <a:ext cx="5579753" cy="4406387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3969" y="380533"/>
            <a:ext cx="9813254" cy="4499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representations of the proportional relationship by filling in the blanks in the chart.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41" y="1273464"/>
            <a:ext cx="8265227" cy="3916939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757" y="384384"/>
                <a:ext cx="10800000" cy="5623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in the previous relationship,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price, in dollars, a store owner pays for merchandise from their manufacturer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price, in dollars, for which the store owner sells the merchandise.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the constant of proportionality means in this context.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written description.</a:t>
                </a:r>
              </a:p>
              <a:p>
                <a:pPr marL="457200" lvl="1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>
                  <a:lnSpc>
                    <a:spcPct val="150000"/>
                  </a:lnSpc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the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increases by ____ dollars, the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increases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____dollars.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57" y="384384"/>
                <a:ext cx="10800000" cy="5623719"/>
              </a:xfrm>
              <a:prstGeom prst="rect">
                <a:avLst/>
              </a:prstGeom>
              <a:blipFill rotWithShape="1">
                <a:blip r:embed="rId3"/>
                <a:stretch>
                  <a:fillRect l="-734" t="-867" r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33920" y="383537"/>
                <a:ext cx="10800000" cy="4889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is different about the written description given the context compared to the written description in Problem 1.</a:t>
                </a: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parts of the graph of this relationship do not make sense in the context.</a:t>
                </a: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to determine the sale price of an item the store owner purchases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$32.60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20" y="383537"/>
                <a:ext cx="10800000" cy="4889174"/>
              </a:xfrm>
              <a:prstGeom prst="rect">
                <a:avLst/>
              </a:prstGeom>
              <a:blipFill rotWithShape="1">
                <a:blip r:embed="rId3"/>
                <a:stretch>
                  <a:fillRect t="-873" r="-452" b="-3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7015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33919" y="368524"/>
                <a:ext cx="10800000" cy="3930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coordinate pair of the point on the graph of this relationship that represents the item described in Part F.</a:t>
                </a: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Add a row to the table of values to represent this point. </a:t>
                </a: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PH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that the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this point is equivalent to the constant of proportionality.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9" y="368524"/>
                <a:ext cx="10800000" cy="3930948"/>
              </a:xfrm>
              <a:prstGeom prst="rect">
                <a:avLst/>
              </a:prstGeom>
              <a:blipFill rotWithShape="1">
                <a:blip r:embed="rId3"/>
                <a:stretch>
                  <a:fillRect t="-1085" b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7539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9719" y="96191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11.7.3 Guided Practice: Translating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Between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Different Representations of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Proportional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Relationships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181" y="38413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42937" y="1549755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table represents a proportional relationship.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constant of proportionality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equation that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relationship.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constant of proportionality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equation that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relationship.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0439" y="2223453"/>
            <a:ext cx="5066722" cy="16645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0439" y="4352999"/>
            <a:ext cx="5297214" cy="1679101"/>
          </a:xfrm>
          <a:prstGeom prst="rect">
            <a:avLst/>
          </a:prstGeom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31614" y="386283"/>
                <a:ext cx="108000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It took Petra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minutes to fill a cooler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gallons of water from a faucet flowing at a steady rate.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 the number of gallons of water in the cooler after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minutes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two equations that represent the relationship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 in the context of this situation?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0.625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 in the context of this situation?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14" y="386283"/>
                <a:ext cx="10800000" cy="4708981"/>
              </a:xfrm>
              <a:prstGeom prst="rect">
                <a:avLst/>
              </a:prstGeom>
              <a:blipFill rotWithShape="1">
                <a:blip r:embed="rId3"/>
                <a:stretch>
                  <a:fillRect l="-564" t="-776" b="-12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495660"/>
                  </p:ext>
                </p:extLst>
              </p:nvPr>
            </p:nvGraphicFramePr>
            <p:xfrm>
              <a:off x="2563054" y="2149556"/>
              <a:ext cx="6940550" cy="5787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48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73482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5787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=1.6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tabLst>
                              <a:tab pos="9144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=0.625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=1.6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=0.625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1495660"/>
                  </p:ext>
                </p:extLst>
              </p:nvPr>
            </p:nvGraphicFramePr>
            <p:xfrm>
              <a:off x="2563054" y="2149556"/>
              <a:ext cx="6940550" cy="5787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48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348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5787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t="-1053" r="-299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100352" t="-1053" r="-200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199649" t="-105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299649" t="-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254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33083" y="377403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Citrus County, FL,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sales tax is added to the price of any item sold.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to represent the relationship between an item’s price,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dollars, and the total cost to a customer,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dollars, after sales tax is applied.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could be used to find the total cost,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dollars, of any item sold in Citrus County, after taxes.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3" y="377403"/>
                <a:ext cx="108000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564" t="-966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0429811"/>
                  </p:ext>
                </p:extLst>
              </p:nvPr>
            </p:nvGraphicFramePr>
            <p:xfrm>
              <a:off x="3133800" y="2189167"/>
              <a:ext cx="5760000" cy="93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($)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($)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0429811"/>
                  </p:ext>
                </p:extLst>
              </p:nvPr>
            </p:nvGraphicFramePr>
            <p:xfrm>
              <a:off x="3133800" y="2189167"/>
              <a:ext cx="5760000" cy="93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300424" b="-1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578" r="-199156" b="-1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24" r="-100000" b="-1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0424" b="-1155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300424" b="-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1435" y="96191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11.7.4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Matching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Equations to Graphs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181" y="38413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29918" y="1467390"/>
            <a:ext cx="1099788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equations are shown.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match each equation to the graph representing the same relationship. Write the equation in the space provided below each graph.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6670776"/>
                  </p:ext>
                </p:extLst>
              </p:nvPr>
            </p:nvGraphicFramePr>
            <p:xfrm>
              <a:off x="1843392" y="2106345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6670776"/>
                  </p:ext>
                </p:extLst>
              </p:nvPr>
            </p:nvGraphicFramePr>
            <p:xfrm>
              <a:off x="1843392" y="2106345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943" r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578" t="-943" r="-3987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24" t="-943" r="-3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0424" t="-943" r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98734" t="-943" r="-99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00847" t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497" y="1362334"/>
            <a:ext cx="8182303" cy="4674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13851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13851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943" r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578" t="-943" r="-3987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24" t="-943" r="-3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24" t="-943" r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8734" t="-943" r="-99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847" t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114" y="1391060"/>
            <a:ext cx="7895068" cy="4640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5315850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5315850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943" r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578" t="-943" r="-3987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24" t="-943" r="-3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24" t="-943" r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8734" t="-943" r="-99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847" t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371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520" y="1391060"/>
            <a:ext cx="7944256" cy="4632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532195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532195"/>
                  </p:ext>
                </p:extLst>
              </p:nvPr>
            </p:nvGraphicFramePr>
            <p:xfrm>
              <a:off x="1799648" y="375198"/>
              <a:ext cx="8640000" cy="648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943" r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578" t="-943" r="-3987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24" t="-943" r="-3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24" t="-943" r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8734" t="-943" r="-995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847" t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362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531920" y="378466"/>
                <a:ext cx="10800000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graph and explain how you determined the equation that matched the graph.</a:t>
                </a: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Share your explanation with your partner. If necessary, make edits to your explanation based on feedback from your partner</a:t>
                </a:r>
                <a:r>
                  <a:rPr lang="en-US" sz="2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4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store is having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sale. With your partner, discuss which graph represents the relationship between the original price, in dollars, of an item,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its sale price,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dollars. Then, write a brief summary of your discussion.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20" y="378466"/>
                <a:ext cx="10800000" cy="5170646"/>
              </a:xfrm>
              <a:prstGeom prst="rect">
                <a:avLst/>
              </a:prstGeom>
              <a:blipFill rotWithShape="1">
                <a:blip r:embed="rId3"/>
                <a:stretch>
                  <a:fillRect l="-734" t="-825" r="-1298" b="-15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FF7BAE47-60B9-E549-B7F3-2595EE37ED8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144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1450" y="-3218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11.7.5 Wrap-Up: Reflection</a:t>
            </a:r>
          </a:p>
        </p:txBody>
      </p:sp>
      <p:pic>
        <p:nvPicPr>
          <p:cNvPr id="8" name="Picture 7" descr="Splatter pack 2 - Download Free Vector Art, Stock Graphics ..."/>
          <p:cNvPicPr/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285032" y="2631249"/>
            <a:ext cx="5271320" cy="3686238"/>
          </a:xfrm>
          <a:prstGeom prst="rect">
            <a:avLst/>
          </a:prstGeom>
        </p:spPr>
      </p:pic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9181" y="2570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20692" y="1387363"/>
            <a:ext cx="1080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</a:t>
            </a:r>
            <a:r>
              <a:rPr 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muddiest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(most difficult or confusing) point in today’s lesson on translating proportional relationships to written descriptions, tables, or equations?</a:t>
            </a: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187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861</Words>
  <Application>Microsoft Office PowerPoint</Application>
  <PresentationFormat>Custom</PresentationFormat>
  <Paragraphs>199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Verdana</vt:lpstr>
      <vt:lpstr>Calibri</vt:lpstr>
      <vt:lpstr>Times New Roman</vt:lpstr>
      <vt:lpstr>Century Gothic</vt:lpstr>
      <vt:lpstr>Wingdings</vt:lpstr>
      <vt:lpstr>Cambria Math</vt:lpstr>
      <vt:lpstr>1_Office Theme</vt:lpstr>
      <vt:lpstr>7th Grade Math  Unit 11, Lesson 7  Translating Between Representations of Proportional Relationships  Volume 2, pg. 182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32</cp:revision>
  <dcterms:created xsi:type="dcterms:W3CDTF">2015-03-17T18:51:18Z</dcterms:created>
  <dcterms:modified xsi:type="dcterms:W3CDTF">2022-07-12T13:33:04Z</dcterms:modified>
</cp:coreProperties>
</file>