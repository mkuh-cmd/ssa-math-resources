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7"/>
  </p:notesMasterIdLst>
  <p:sldIdLst>
    <p:sldId id="256" r:id="rId2"/>
    <p:sldId id="257" r:id="rId3"/>
    <p:sldId id="285" r:id="rId4"/>
    <p:sldId id="286" r:id="rId5"/>
    <p:sldId id="261" r:id="rId6"/>
    <p:sldId id="287" r:id="rId7"/>
    <p:sldId id="323" r:id="rId8"/>
    <p:sldId id="324" r:id="rId9"/>
    <p:sldId id="288" r:id="rId10"/>
    <p:sldId id="325" r:id="rId11"/>
    <p:sldId id="326" r:id="rId12"/>
    <p:sldId id="327" r:id="rId13"/>
    <p:sldId id="328" r:id="rId14"/>
    <p:sldId id="289" r:id="rId15"/>
    <p:sldId id="290" r:id="rId16"/>
    <p:sldId id="308" r:id="rId17"/>
    <p:sldId id="329" r:id="rId18"/>
    <p:sldId id="330" r:id="rId19"/>
    <p:sldId id="320" r:id="rId20"/>
    <p:sldId id="321" r:id="rId21"/>
    <p:sldId id="322" r:id="rId22"/>
    <p:sldId id="331" r:id="rId23"/>
    <p:sldId id="332" r:id="rId24"/>
    <p:sldId id="306" r:id="rId25"/>
    <p:sldId id="307" r:id="rId26"/>
  </p:sldIdLst>
  <p:sldSz cx="12192000" cy="6858000"/>
  <p:notesSz cx="6858000" cy="9144000"/>
  <p:embeddedFontLst>
    <p:embeddedFont>
      <p:font typeface="Century Gothic" pitchFamily="34" charset="0"/>
      <p:regular r:id="rId28"/>
      <p:bold r:id="rId29"/>
      <p:italic r:id="rId30"/>
      <p:boldItalic r:id="rId31"/>
    </p:embeddedFont>
    <p:embeddedFont>
      <p:font typeface="Cambria Math" pitchFamily="18" charset="0"/>
      <p:regular r:id="rId32"/>
    </p:embeddedFont>
    <p:embeddedFont>
      <p:font typeface="Cambria" pitchFamily="18" charset="0"/>
      <p:regular r:id="rId33"/>
      <p:bold r:id="rId34"/>
      <p:italic r:id="rId35"/>
      <p:boldItalic r:id="rId36"/>
    </p:embeddedFont>
    <p:embeddedFont>
      <p:font typeface="Arial Black" pitchFamily="34" charset="0"/>
      <p:bold r:id="rId37"/>
    </p:embeddedFont>
    <p:embeddedFont>
      <p:font typeface="Verdana" pitchFamily="34" charset="0"/>
      <p:regular r:id="rId38"/>
      <p:bold r:id="rId39"/>
      <p:italic r:id="rId40"/>
      <p:boldItalic r:id="rId41"/>
    </p:embeddedFont>
    <p:embeddedFont>
      <p:font typeface="Calibri" pitchFamily="34" charset="0"/>
      <p:regular r:id="rId42"/>
      <p:bold r:id="rId43"/>
      <p:italic r:id="rId44"/>
      <p:boldItalic r:id="rId4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xmlns="">
        <p15:guide id="1" orient="horz" pos="2160" userDrawn="1">
          <p15:clr>
            <a:srgbClr val="A4A3A4"/>
          </p15:clr>
        </p15:guide>
        <p15:guide id="2" pos="3840" userDrawn="1">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399C8"/>
    <a:srgbClr val="1F3165"/>
    <a:srgbClr val="C9DF6F"/>
    <a:srgbClr val="417DBF"/>
    <a:srgbClr val="3F2A67"/>
    <a:srgbClr val="E24E5F"/>
    <a:srgbClr val="26B7D4"/>
    <a:srgbClr val="54B5D1"/>
    <a:srgbClr val="33BEA6"/>
    <a:srgbClr val="2DA48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6341" autoAdjust="0"/>
    <p:restoredTop sz="94708"/>
  </p:normalViewPr>
  <p:slideViewPr>
    <p:cSldViewPr snapToGrid="0">
      <p:cViewPr varScale="1">
        <p:scale>
          <a:sx n="105" d="100"/>
          <a:sy n="105" d="100"/>
        </p:scale>
        <p:origin x="-462" y="-7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2.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7.fntdata"/><Relationship Id="rId42" Type="http://schemas.openxmlformats.org/officeDocument/2006/relationships/font" Target="fonts/font15.fntdata"/><Relationship Id="rId55"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6.fntdata"/><Relationship Id="rId38" Type="http://schemas.openxmlformats.org/officeDocument/2006/relationships/font" Target="fonts/font11.fntdata"/><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2.fntdata"/><Relationship Id="rId41" Type="http://schemas.openxmlformats.org/officeDocument/2006/relationships/font" Target="fonts/font1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5.fntdata"/><Relationship Id="rId37" Type="http://schemas.openxmlformats.org/officeDocument/2006/relationships/font" Target="fonts/font10.fntdata"/><Relationship Id="rId40" Type="http://schemas.openxmlformats.org/officeDocument/2006/relationships/font" Target="fonts/font13.fntdata"/><Relationship Id="rId45" Type="http://schemas.openxmlformats.org/officeDocument/2006/relationships/font" Target="fonts/font18.fntdata"/><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1.fntdata"/><Relationship Id="rId36" Type="http://schemas.openxmlformats.org/officeDocument/2006/relationships/font" Target="fonts/font9.fntdata"/><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4.fntdata"/><Relationship Id="rId44" Type="http://schemas.openxmlformats.org/officeDocument/2006/relationships/font" Target="fonts/font1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font" Target="fonts/font3.fntdata"/><Relationship Id="rId35" Type="http://schemas.openxmlformats.org/officeDocument/2006/relationships/font" Target="fonts/font8.fntdata"/><Relationship Id="rId43" Type="http://schemas.openxmlformats.org/officeDocument/2006/relationships/font" Target="fonts/font16.fntdata"/><Relationship Id="rId56"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3064715"/>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7303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extLst>
      <p:ext uri="{BB962C8B-B14F-4D97-AF65-F5344CB8AC3E}">
        <p14:creationId xmlns:p14="http://schemas.microsoft.com/office/powerpoint/2010/main" val="25422505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extLst>
      <p:ext uri="{BB962C8B-B14F-4D97-AF65-F5344CB8AC3E}">
        <p14:creationId xmlns:p14="http://schemas.microsoft.com/office/powerpoint/2010/main" val="8158067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12288088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Tree>
    <p:extLst>
      <p:ext uri="{BB962C8B-B14F-4D97-AF65-F5344CB8AC3E}">
        <p14:creationId xmlns:p14="http://schemas.microsoft.com/office/powerpoint/2010/main" val="19353921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306399360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32384142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7703144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37205834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138391623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extLst>
      <p:ext uri="{BB962C8B-B14F-4D97-AF65-F5344CB8AC3E}">
        <p14:creationId xmlns:p14="http://schemas.microsoft.com/office/powerpoint/2010/main" val="39188651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35627792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84807107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313787811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51200644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19</a:t>
            </a:fld>
            <a:endParaRPr/>
          </a:p>
        </p:txBody>
      </p:sp>
    </p:spTree>
    <p:extLst>
      <p:ext uri="{BB962C8B-B14F-4D97-AF65-F5344CB8AC3E}">
        <p14:creationId xmlns:p14="http://schemas.microsoft.com/office/powerpoint/2010/main" val="141658498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extLst>
      <p:ext uri="{BB962C8B-B14F-4D97-AF65-F5344CB8AC3E}">
        <p14:creationId xmlns:p14="http://schemas.microsoft.com/office/powerpoint/2010/main" val="303073590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extLst>
      <p:ext uri="{BB962C8B-B14F-4D97-AF65-F5344CB8AC3E}">
        <p14:creationId xmlns:p14="http://schemas.microsoft.com/office/powerpoint/2010/main" val="224676887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22</a:t>
            </a:fld>
            <a:endParaRPr/>
          </a:p>
        </p:txBody>
      </p:sp>
    </p:spTree>
    <p:extLst>
      <p:ext uri="{BB962C8B-B14F-4D97-AF65-F5344CB8AC3E}">
        <p14:creationId xmlns:p14="http://schemas.microsoft.com/office/powerpoint/2010/main" val="206258537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23</a:t>
            </a:fld>
            <a:endParaRPr/>
          </a:p>
        </p:txBody>
      </p:sp>
    </p:spTree>
    <p:extLst>
      <p:ext uri="{BB962C8B-B14F-4D97-AF65-F5344CB8AC3E}">
        <p14:creationId xmlns:p14="http://schemas.microsoft.com/office/powerpoint/2010/main" val="385361006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24</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25</a:t>
            </a:fld>
            <a:endParaRPr/>
          </a:p>
        </p:txBody>
      </p:sp>
    </p:spTree>
    <p:extLst>
      <p:ext uri="{BB962C8B-B14F-4D97-AF65-F5344CB8AC3E}">
        <p14:creationId xmlns:p14="http://schemas.microsoft.com/office/powerpoint/2010/main" val="19373281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14.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0.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21.png"/></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3.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24.png"/></Relationships>
</file>

<file path=ppt/slides/_rels/slide1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4.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5.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26.png"/></Relationships>
</file>

<file path=ppt/slides/_rels/slide1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6.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7.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9.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0.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31.png"/></Relationships>
</file>

<file path=ppt/slides/_rels/slide2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1.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33.png"/></Relationships>
</file>

<file path=ppt/slides/_rels/slide2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4.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5.xml.rels><?xml version="1.0" encoding="UTF-8" standalone="yes"?>
<Relationships xmlns="http://schemas.openxmlformats.org/package/2006/relationships"><Relationship Id="rId3" Type="http://schemas.openxmlformats.org/officeDocument/2006/relationships/image" Target="../media/image36.png"/><Relationship Id="rId7" Type="http://schemas.openxmlformats.org/officeDocument/2006/relationships/image" Target="../media/image10.png"/><Relationship Id="rId2" Type="http://schemas.openxmlformats.org/officeDocument/2006/relationships/notesSlide" Target="../notesSlides/notesSlide25.xml"/><Relationship Id="rId1" Type="http://schemas.openxmlformats.org/officeDocument/2006/relationships/slideLayout" Target="../slideLayouts/slideLayout8.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549901" y="2054277"/>
            <a:ext cx="5168900" cy="3194455"/>
          </a:xfrm>
          <a:prstGeom prst="rect">
            <a:avLst/>
          </a:prstGeom>
        </p:spPr>
        <p:txBody>
          <a:bodyPr spcFirstLastPara="1" wrap="square" lIns="91425" tIns="45700" rIns="91425" bIns="45700" anchor="ctr" anchorCtr="0">
            <a:noAutofit/>
          </a:bodyPr>
          <a:lstStyle/>
          <a:p>
            <a:pPr algn="ctr">
              <a:lnSpc>
                <a:spcPct val="100000"/>
              </a:lnSpc>
            </a:pPr>
            <a:r>
              <a:rPr lang="en-US" sz="3800" b="1" dirty="0">
                <a:solidFill>
                  <a:srgbClr val="417DBF"/>
                </a:solidFill>
                <a:latin typeface="Verdana"/>
                <a:ea typeface="Verdana"/>
                <a:cs typeface="Verdana"/>
                <a:sym typeface="Verdana"/>
              </a:rPr>
              <a:t>7</a:t>
            </a:r>
            <a:r>
              <a:rPr lang="en-US" sz="3800" b="1" baseline="30000" dirty="0">
                <a:solidFill>
                  <a:srgbClr val="417DBF"/>
                </a:solidFill>
                <a:latin typeface="Verdana"/>
                <a:ea typeface="Verdana"/>
                <a:cs typeface="Verdana"/>
                <a:sym typeface="Verdana"/>
              </a:rPr>
              <a:t>th</a:t>
            </a:r>
            <a:r>
              <a:rPr lang="en-US" sz="3800" b="1" dirty="0">
                <a:solidFill>
                  <a:srgbClr val="417DBF"/>
                </a:solidFill>
                <a:latin typeface="Verdana"/>
                <a:ea typeface="Verdana"/>
                <a:cs typeface="Verdana"/>
                <a:sym typeface="Verdana"/>
              </a:rPr>
              <a:t> Grade Math</a:t>
            </a:r>
            <a:br>
              <a:rPr lang="en-US" sz="3800" b="1" dirty="0">
                <a:solidFill>
                  <a:srgbClr val="417DBF"/>
                </a:solidFill>
                <a:latin typeface="Verdana"/>
                <a:ea typeface="Verdana"/>
                <a:cs typeface="Verdana"/>
                <a:sym typeface="Verdana"/>
              </a:rPr>
            </a:br>
            <a:endParaRPr lang="en-US" sz="3800" b="1" dirty="0">
              <a:solidFill>
                <a:srgbClr val="417DBF"/>
              </a:solidFill>
              <a:latin typeface="Verdana"/>
              <a:ea typeface="Verdana"/>
              <a:cs typeface="Verdana"/>
              <a:sym typeface="Verdana"/>
            </a:endParaRPr>
          </a:p>
          <a:p>
            <a:pPr algn="ctr">
              <a:lnSpc>
                <a:spcPct val="100000"/>
              </a:lnSpc>
              <a:buClr>
                <a:srgbClr val="000000"/>
              </a:buClr>
            </a:pPr>
            <a:r>
              <a:rPr lang="en-US" sz="3800" b="1" dirty="0">
                <a:solidFill>
                  <a:srgbClr val="417DBF"/>
                </a:solidFill>
                <a:latin typeface="Verdana"/>
                <a:ea typeface="Verdana"/>
                <a:cs typeface="Verdana"/>
                <a:sym typeface="Verdana"/>
              </a:rPr>
              <a:t>Unit 11, Lesson 5</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Is It Proportional?</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
            </a: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2, pg. 169</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cxnSp>
        <p:nvCxnSpPr>
          <p:cNvPr id="262" name="Google Shape;262;g104476d1465_0_0"/>
          <p:cNvCxnSpPr/>
          <p:nvPr/>
        </p:nvCxnSpPr>
        <p:spPr>
          <a:xfrm>
            <a:off x="-1573225" y="3938167"/>
            <a:ext cx="1152600" cy="0"/>
          </a:xfrm>
          <a:prstGeom prst="straightConnector1">
            <a:avLst/>
          </a:prstGeom>
          <a:noFill/>
          <a:ln w="9525" cap="flat" cmpd="sng">
            <a:solidFill>
              <a:schemeClr val="lt1"/>
            </a:solidFill>
            <a:prstDash val="solid"/>
            <a:round/>
            <a:headEnd type="none" w="med" len="med"/>
            <a:tailEnd type="none" w="med" len="med"/>
          </a:ln>
        </p:spPr>
      </p:cxnSp>
      <p:sp>
        <p:nvSpPr>
          <p:cNvPr id="20" name="Google Shape;309;g104476d1465_1_39">
            <a:extLst>
              <a:ext uri="{FF2B5EF4-FFF2-40B4-BE49-F238E27FC236}">
                <a16:creationId xmlns:a16="http://schemas.microsoft.com/office/drawing/2014/main" xmlns="" id="{566F1422-A32C-7745-9E85-5AF7B9DBC697}"/>
              </a:ext>
            </a:extLst>
          </p:cNvPr>
          <p:cNvSpPr/>
          <p:nvPr/>
        </p:nvSpPr>
        <p:spPr>
          <a:xfrm>
            <a:off x="-21969" y="0"/>
            <a:ext cx="4094106" cy="6870701"/>
          </a:xfrm>
          <a:prstGeom prst="rect">
            <a:avLst/>
          </a:prstGeom>
          <a:solidFill>
            <a:srgbClr val="B399C8"/>
          </a:solidFill>
          <a:ln w="9525" cap="flat" cmpd="sng">
            <a:solidFill>
              <a:srgbClr val="B399C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6" name="Picture 5" descr="A blue sign with white text&#10;&#10;Description automatically generated with medium confidence">
            <a:extLst>
              <a:ext uri="{FF2B5EF4-FFF2-40B4-BE49-F238E27FC236}">
                <a16:creationId xmlns:a16="http://schemas.microsoft.com/office/drawing/2014/main" xmlns="" id="{AB08A17F-C082-CD48-B100-6B09C860CC1F}"/>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79793" y="1627632"/>
            <a:ext cx="3090582" cy="3602736"/>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151322" y="92135"/>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Benchmarks</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322488" y="381335"/>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949760" y="65213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169</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83760" y="6165087"/>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xmlns="" id="{527A9F9F-07B8-ED47-B967-E5507C67DBC5}"/>
              </a:ext>
            </a:extLst>
          </p:cNvPr>
          <p:cNvSpPr txBox="1">
            <a:spLocks/>
          </p:cNvSpPr>
          <p:nvPr/>
        </p:nvSpPr>
        <p:spPr>
          <a:xfrm>
            <a:off x="529884" y="1600200"/>
            <a:ext cx="10800000" cy="4205700"/>
          </a:xfrm>
          <a:prstGeom prst="rect">
            <a:avLst/>
          </a:prstGeom>
          <a:noFill/>
          <a:ln>
            <a:noFill/>
          </a:ln>
        </p:spPr>
        <p:txBody>
          <a:bodyPr spcFirstLastPara="1" wrap="square" lIns="91425" tIns="45700" rIns="91425" bIns="45700" anchor="t" anchorCtr="0">
            <a:normAutofit lnSpcReduction="10000"/>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0" indent="0">
              <a:buSzPts val="1100"/>
              <a:buNone/>
            </a:pPr>
            <a:r>
              <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MA.7.AR.4.1</a:t>
            </a:r>
          </a:p>
          <a:p>
            <a:pPr indent="0">
              <a:buNone/>
            </a:pPr>
            <a:r>
              <a:rPr lang="en-US" sz="2800" dirty="0">
                <a:latin typeface="Verdana" panose="020B0604030504040204" pitchFamily="34" charset="0"/>
                <a:ea typeface="Verdana" panose="020B0604030504040204" pitchFamily="34" charset="0"/>
                <a:cs typeface="Verdana" panose="020B0604030504040204" pitchFamily="34" charset="0"/>
              </a:rPr>
              <a:t>Determine whether two quantities have a proportional relationship by examining a table, graph, or written description.</a:t>
            </a:r>
          </a:p>
          <a:p>
            <a:pPr indent="0">
              <a:buNone/>
            </a:pPr>
            <a:endPar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Century Gothic"/>
            </a:endParaRPr>
          </a:p>
          <a:p>
            <a:pPr marL="0" indent="0">
              <a:buSzPts val="1100"/>
              <a:buNone/>
            </a:pPr>
            <a:r>
              <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MA.7.AR.4.2</a:t>
            </a:r>
          </a:p>
          <a:p>
            <a:pPr indent="0">
              <a:buNone/>
            </a:pPr>
            <a:r>
              <a:rPr lang="en-US" sz="2800" dirty="0">
                <a:latin typeface="Verdana" panose="020B0604030504040204" pitchFamily="34" charset="0"/>
                <a:ea typeface="Verdana" panose="020B0604030504040204" pitchFamily="34" charset="0"/>
                <a:cs typeface="Verdana" panose="020B0604030504040204" pitchFamily="34" charset="0"/>
              </a:rPr>
              <a:t>Determine the constant of proportionality within a mathematical or real-world context given a table, graph, or written description of a proportional relationship.</a:t>
            </a:r>
            <a:endPar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Century Gothic"/>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295;g103996e1364_0_10">
            <a:extLst>
              <a:ext uri="{FF2B5EF4-FFF2-40B4-BE49-F238E27FC236}">
                <a16:creationId xmlns:a16="http://schemas.microsoft.com/office/drawing/2014/main" xmlns="" id="{08B3C7FF-E6D0-2145-9A84-003D15672764}"/>
              </a:ext>
            </a:extLst>
          </p:cNvPr>
          <p:cNvSpPr txBox="1">
            <a:spLocks/>
          </p:cNvSpPr>
          <p:nvPr/>
        </p:nvSpPr>
        <p:spPr>
          <a:xfrm>
            <a:off x="1155164" y="129667"/>
            <a:ext cx="9102718"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11" name="Google Shape;296;g103996e1364_0_10">
            <a:extLst>
              <a:ext uri="{FF2B5EF4-FFF2-40B4-BE49-F238E27FC236}">
                <a16:creationId xmlns:a16="http://schemas.microsoft.com/office/drawing/2014/main" xmlns="" id="{A6E18E39-B007-D647-9935-55A748533A45}"/>
              </a:ext>
            </a:extLst>
          </p:cNvPr>
          <p:cNvSpPr txBox="1">
            <a:spLocks/>
          </p:cNvSpPr>
          <p:nvPr/>
        </p:nvSpPr>
        <p:spPr>
          <a:xfrm>
            <a:off x="1155164" y="1596390"/>
            <a:ext cx="9223914"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MA.K12.MTR.1.1 Actively participate in effortful learning both individually and collectively.</a:t>
            </a:r>
          </a:p>
          <a:p>
            <a:pPr marL="457200">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MA.K12.MTR.2.1 Demonstrate understanding by representing problems in multiple ways.</a:t>
            </a:r>
          </a:p>
          <a:p>
            <a:pPr marL="457200">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MA.K12.MTR.5.1 Use patterns and structure to help understand and connect mathematical concepts.</a:t>
            </a:r>
          </a:p>
          <a:p>
            <a:pPr>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MA.K12.MTR.7.1 </a:t>
            </a: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rPr>
              <a:t>Apply mathematics to real-world contexts.</a:t>
            </a: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p:txBody>
      </p:sp>
      <p:sp>
        <p:nvSpPr>
          <p:cNvPr id="10" name="Google Shape;282;g104476d1465_1_17"/>
          <p:cNvSpPr txBox="1"/>
          <p:nvPr/>
        </p:nvSpPr>
        <p:spPr>
          <a:xfrm>
            <a:off x="8949760" y="65213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169</a:t>
            </a:r>
            <a:endParaRPr i="1" dirty="0">
              <a:latin typeface="Calibri"/>
              <a:ea typeface="Calibri"/>
              <a:cs typeface="Calibri"/>
              <a:sym typeface="Calibri"/>
            </a:endParaRPr>
          </a:p>
        </p:txBody>
      </p:sp>
      <p:pic>
        <p:nvPicPr>
          <p:cNvPr id="12"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83760" y="6165087"/>
            <a:ext cx="563850" cy="657276"/>
          </a:xfrm>
          <a:prstGeom prst="rect">
            <a:avLst/>
          </a:prstGeom>
          <a:noFill/>
          <a:ln>
            <a:noFill/>
          </a:ln>
          <a:effectLst>
            <a:outerShdw blurRad="57150" dist="19050" dir="5400000" algn="bl" rotWithShape="0">
              <a:srgbClr val="000000">
                <a:alpha val="50000"/>
              </a:srgbClr>
            </a:outerShdw>
          </a:effectLst>
        </p:spPr>
      </p:pic>
      <p:pic>
        <p:nvPicPr>
          <p:cNvPr id="13" name="Google Shape;281;g104476d1465_1_17"/>
          <p:cNvPicPr preferRelativeResize="0"/>
          <p:nvPr/>
        </p:nvPicPr>
        <p:blipFill>
          <a:blip r:embed="rId4">
            <a:alphaModFix/>
          </a:blip>
          <a:stretch>
            <a:fillRect/>
          </a:stretch>
        </p:blipFill>
        <p:spPr>
          <a:xfrm>
            <a:off x="322488" y="381335"/>
            <a:ext cx="747300" cy="747300"/>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10" name="Google Shape;301;g103996e1364_0_16">
            <a:extLst>
              <a:ext uri="{FF2B5EF4-FFF2-40B4-BE49-F238E27FC236}">
                <a16:creationId xmlns:a16="http://schemas.microsoft.com/office/drawing/2014/main" xmlns="" id="{5771FBFA-7311-BB45-8AFF-04B380531EE6}"/>
              </a:ext>
            </a:extLst>
          </p:cNvPr>
          <p:cNvSpPr txBox="1">
            <a:spLocks/>
          </p:cNvSpPr>
          <p:nvPr/>
        </p:nvSpPr>
        <p:spPr>
          <a:xfrm>
            <a:off x="1155654" y="101396"/>
            <a:ext cx="867310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Targets</a:t>
            </a:r>
          </a:p>
        </p:txBody>
      </p:sp>
      <p:pic>
        <p:nvPicPr>
          <p:cNvPr id="12" name="Google Shape;303;g103996e1364_0_16">
            <a:extLst>
              <a:ext uri="{FF2B5EF4-FFF2-40B4-BE49-F238E27FC236}">
                <a16:creationId xmlns:a16="http://schemas.microsoft.com/office/drawing/2014/main" xmlns="" id="{81DC7EB0-4FED-FC45-BAEC-D699ED5C2169}"/>
              </a:ext>
            </a:extLst>
          </p:cNvPr>
          <p:cNvPicPr preferRelativeResize="0"/>
          <p:nvPr/>
        </p:nvPicPr>
        <p:blipFill>
          <a:blip r:embed="rId3">
            <a:alphaModFix/>
          </a:blip>
          <a:stretch>
            <a:fillRect/>
          </a:stretch>
        </p:blipFill>
        <p:spPr>
          <a:xfrm>
            <a:off x="322488" y="390596"/>
            <a:ext cx="747300" cy="747300"/>
          </a:xfrm>
          <a:prstGeom prst="rect">
            <a:avLst/>
          </a:prstGeom>
          <a:noFill/>
          <a:ln>
            <a:noFill/>
          </a:ln>
          <a:effectLst>
            <a:outerShdw blurRad="50800" dist="38100" dir="2700000" algn="tl" rotWithShape="0">
              <a:prstClr val="black">
                <a:alpha val="40000"/>
              </a:prstClr>
            </a:outerShdw>
          </a:effectLst>
        </p:spPr>
      </p:pic>
      <p:sp>
        <p:nvSpPr>
          <p:cNvPr id="14" name="Google Shape;302;g103996e1364_0_16">
            <a:extLst>
              <a:ext uri="{FF2B5EF4-FFF2-40B4-BE49-F238E27FC236}">
                <a16:creationId xmlns:a16="http://schemas.microsoft.com/office/drawing/2014/main" xmlns="" id="{9B7C98EC-F13C-9146-B728-D7044DB4247D}"/>
              </a:ext>
            </a:extLst>
          </p:cNvPr>
          <p:cNvSpPr txBox="1">
            <a:spLocks/>
          </p:cNvSpPr>
          <p:nvPr/>
        </p:nvSpPr>
        <p:spPr>
          <a:xfrm>
            <a:off x="534139" y="1600200"/>
            <a:ext cx="10800000"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541338" indent="-541338">
              <a:buFont typeface="Wingdings" panose="05000000000000000000" pitchFamily="2" charset="2"/>
              <a:buChar char="q"/>
            </a:pPr>
            <a:r>
              <a:rPr lang="en-US" sz="3500" dirty="0">
                <a:latin typeface="Verdana" panose="020B0604030504040204" pitchFamily="34" charset="0"/>
                <a:ea typeface="Verdana" panose="020B0604030504040204" pitchFamily="34" charset="0"/>
                <a:cs typeface="Verdana" panose="020B0604030504040204" pitchFamily="34" charset="0"/>
              </a:rPr>
              <a:t>I can determine if two quantities have a proportional relationship.</a:t>
            </a:r>
          </a:p>
          <a:p>
            <a:pPr marL="541338" indent="-541338">
              <a:buFont typeface="Wingdings" panose="05000000000000000000" pitchFamily="2" charset="2"/>
              <a:buChar char="q"/>
            </a:pPr>
            <a:endParaRPr lang="en-US" sz="3500" dirty="0">
              <a:latin typeface="Verdana" panose="020B0604030504040204" pitchFamily="34" charset="0"/>
              <a:ea typeface="Verdana" panose="020B0604030504040204" pitchFamily="34" charset="0"/>
              <a:cs typeface="Verdana" panose="020B0604030504040204" pitchFamily="34" charset="0"/>
            </a:endParaRPr>
          </a:p>
          <a:p>
            <a:pPr marL="541338" indent="-541338">
              <a:buFont typeface="Wingdings" panose="05000000000000000000" pitchFamily="2" charset="2"/>
              <a:buChar char="q"/>
            </a:pPr>
            <a:r>
              <a:rPr lang="en-US" sz="3500" dirty="0">
                <a:latin typeface="Verdana" panose="020B0604030504040204" pitchFamily="34" charset="0"/>
                <a:ea typeface="Verdana" panose="020B0604030504040204" pitchFamily="34" charset="0"/>
                <a:cs typeface="Verdana" panose="020B0604030504040204" pitchFamily="34" charset="0"/>
              </a:rPr>
              <a:t>I can determine the constant of proportionality of a proportional relationship.</a:t>
            </a:r>
            <a:endParaRPr lang="en-US" sz="35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p:txBody>
      </p:sp>
      <p:sp>
        <p:nvSpPr>
          <p:cNvPr id="9" name="Google Shape;282;g104476d1465_1_17"/>
          <p:cNvSpPr txBox="1"/>
          <p:nvPr/>
        </p:nvSpPr>
        <p:spPr>
          <a:xfrm>
            <a:off x="8949760" y="65213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169</a:t>
            </a:r>
            <a:endParaRPr i="1" dirty="0">
              <a:latin typeface="Calibri"/>
              <a:ea typeface="Calibri"/>
              <a:cs typeface="Calibri"/>
              <a:sym typeface="Calibri"/>
            </a:endParaRPr>
          </a:p>
        </p:txBody>
      </p:sp>
      <p:pic>
        <p:nvPicPr>
          <p:cNvPr id="11"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83760" y="6165087"/>
            <a:ext cx="563850" cy="657276"/>
          </a:xfrm>
          <a:prstGeom prst="rect">
            <a:avLst/>
          </a:prstGeom>
          <a:noFill/>
          <a:ln>
            <a:noFill/>
          </a:ln>
          <a:effectLst>
            <a:outerShdw blurRad="57150" dist="19050" dir="5400000" algn="bl" rotWithShape="0">
              <a:srgbClr val="000000">
                <a:alpha val="50000"/>
              </a:srgbClr>
            </a:outerShdw>
          </a:effectLst>
        </p:spPr>
      </p:pic>
      <p:sp>
        <p:nvSpPr>
          <p:cNvPr id="15" name="Google Shape;278;g104476d1465_1_17"/>
          <p:cNvSpPr/>
          <p:nvPr/>
        </p:nvSpPr>
        <p:spPr>
          <a:xfrm>
            <a:off x="0" y="-8225"/>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2" name="Google Shape;312;g104476d1465_1_39"/>
          <p:cNvPicPr preferRelativeResize="0"/>
          <p:nvPr/>
        </p:nvPicPr>
        <p:blipFill>
          <a:blip r:embed="rId3">
            <a:alphaModFix/>
          </a:blip>
          <a:stretch>
            <a:fillRect/>
          </a:stretch>
        </p:blipFill>
        <p:spPr>
          <a:xfrm>
            <a:off x="4635550" y="2879325"/>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7" name="Google Shape;282;g104476d1465_1_17"/>
          <p:cNvSpPr txBox="1"/>
          <p:nvPr/>
        </p:nvSpPr>
        <p:spPr>
          <a:xfrm>
            <a:off x="8949760" y="65213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169</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83760" y="6165087"/>
            <a:ext cx="563850" cy="657276"/>
          </a:xfrm>
          <a:prstGeom prst="rect">
            <a:avLst/>
          </a:prstGeom>
          <a:noFill/>
          <a:ln>
            <a:noFill/>
          </a:ln>
          <a:effectLst>
            <a:outerShdw blurRad="57150" dist="19050" dir="5400000" algn="bl" rotWithShape="0">
              <a:srgbClr val="000000">
                <a:alpha val="50000"/>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324;g103996e1364_0_25">
            <a:extLst>
              <a:ext uri="{FF2B5EF4-FFF2-40B4-BE49-F238E27FC236}">
                <a16:creationId xmlns:a16="http://schemas.microsoft.com/office/drawing/2014/main" xmlns="" id="{DB5796CA-12EB-BB4C-8338-B127D750A026}"/>
              </a:ext>
            </a:extLst>
          </p:cNvPr>
          <p:cNvSpPr txBox="1">
            <a:spLocks/>
          </p:cNvSpPr>
          <p:nvPr/>
        </p:nvSpPr>
        <p:spPr>
          <a:xfrm>
            <a:off x="1161582" y="101396"/>
            <a:ext cx="9226002"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11.5.1 Warm-Up: Visual Pattern</a:t>
            </a:r>
          </a:p>
        </p:txBody>
      </p:sp>
      <p:pic>
        <p:nvPicPr>
          <p:cNvPr id="13" name="Google Shape;326;g103996e1364_0_25">
            <a:extLst>
              <a:ext uri="{FF2B5EF4-FFF2-40B4-BE49-F238E27FC236}">
                <a16:creationId xmlns:a16="http://schemas.microsoft.com/office/drawing/2014/main" xmlns="" id="{0B25478F-1F7B-DF44-A9BD-898178E878B3}"/>
              </a:ext>
            </a:extLst>
          </p:cNvPr>
          <p:cNvPicPr preferRelativeResize="0"/>
          <p:nvPr/>
        </p:nvPicPr>
        <p:blipFill>
          <a:blip r:embed="rId3">
            <a:alphaModFix/>
          </a:blip>
          <a:stretch>
            <a:fillRect/>
          </a:stretch>
        </p:blipFill>
        <p:spPr>
          <a:xfrm>
            <a:off x="322488" y="390596"/>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xmlns="" id="{E1D7562E-134F-D14B-AF1A-DF40E11EF758}"/>
                  </a:ext>
                </a:extLst>
              </p:cNvPr>
              <p:cNvSpPr txBox="1"/>
              <p:nvPr/>
            </p:nvSpPr>
            <p:spPr>
              <a:xfrm>
                <a:off x="531913" y="1386025"/>
                <a:ext cx="10800000" cy="4493538"/>
              </a:xfrm>
              <a:prstGeom prst="rect">
                <a:avLst/>
              </a:prstGeom>
              <a:noFill/>
            </p:spPr>
            <p:txBody>
              <a:bodyPr wrap="square" rtlCol="0">
                <a:spAutoFit/>
              </a:bodyPr>
              <a:lstStyle/>
              <a:p>
                <a:pPr marL="457200" indent="-457200">
                  <a:buFont typeface="+mj-lt"/>
                  <a:buAutoNum type="arabicPeriod"/>
                </a:pPr>
                <a:r>
                  <a:rPr lang="en-US" sz="2200" dirty="0">
                    <a:latin typeface="Verdana" panose="020B0604030504040204" pitchFamily="34" charset="0"/>
                    <a:ea typeface="Verdana" panose="020B0604030504040204" pitchFamily="34" charset="0"/>
                    <a:cs typeface="Verdana" panose="020B0604030504040204" pitchFamily="34" charset="0"/>
                  </a:rPr>
                  <a:t>The first 3 steps in a pattern created using Froot Loops are shown.</a:t>
                </a:r>
              </a:p>
              <a:p>
                <a:pPr marL="457200" indent="-457200">
                  <a:buFont typeface="+mj-lt"/>
                  <a:buAutoNum type="arabi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lvl="0"/>
                <a:endParaRPr lang="en-US" sz="2200" dirty="0">
                  <a:latin typeface="Verdana" panose="020B0604030504040204" pitchFamily="34" charset="0"/>
                  <a:ea typeface="Verdana" panose="020B0604030504040204" pitchFamily="34" charset="0"/>
                  <a:cs typeface="Verdana" panose="020B0604030504040204" pitchFamily="34" charset="0"/>
                </a:endParaRPr>
              </a:p>
              <a:p>
                <a:pPr lvl="0"/>
                <a:endParaRPr lang="en-US" sz="2200" dirty="0">
                  <a:latin typeface="Verdana" panose="020B0604030504040204" pitchFamily="34" charset="0"/>
                  <a:ea typeface="Verdana" panose="020B0604030504040204" pitchFamily="34" charset="0"/>
                  <a:cs typeface="Verdana" panose="020B0604030504040204" pitchFamily="34" charset="0"/>
                </a:endParaRPr>
              </a:p>
              <a:p>
                <a:pPr lvl="0"/>
                <a:endParaRPr lang="en-US" sz="2200" dirty="0">
                  <a:latin typeface="Verdana" panose="020B0604030504040204" pitchFamily="34" charset="0"/>
                  <a:ea typeface="Verdana" panose="020B0604030504040204" pitchFamily="34" charset="0"/>
                  <a:cs typeface="Verdana" panose="020B0604030504040204" pitchFamily="34" charset="0"/>
                </a:endParaRPr>
              </a:p>
              <a:p>
                <a:pPr lvl="0"/>
                <a:endParaRPr lang="en-US" sz="2200" dirty="0">
                  <a:latin typeface="Verdana" panose="020B0604030504040204" pitchFamily="34" charset="0"/>
                  <a:ea typeface="Verdana" panose="020B0604030504040204" pitchFamily="34" charset="0"/>
                  <a:cs typeface="Verdana" panose="020B0604030504040204" pitchFamily="34" charset="0"/>
                </a:endParaRPr>
              </a:p>
              <a:p>
                <a:pPr lvl="0"/>
                <a:endParaRPr lang="en-US" sz="22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r>
                  <a:rPr lang="en-US" sz="2200" dirty="0">
                    <a:latin typeface="Verdana" panose="020B0604030504040204" pitchFamily="34" charset="0"/>
                    <a:ea typeface="Verdana" panose="020B0604030504040204" pitchFamily="34" charset="0"/>
                    <a:cs typeface="Verdana" panose="020B0604030504040204" pitchFamily="34" charset="0"/>
                  </a:rPr>
                  <a:t>Describe how the pattern is changing in each step. </a:t>
                </a:r>
              </a:p>
              <a:p>
                <a:pPr marL="914400" indent="-457200">
                  <a:buFont typeface="+mj-lt"/>
                  <a:buAutoNum type="alphaL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r>
                  <a:rPr lang="en-US" sz="2200" dirty="0">
                    <a:latin typeface="Verdana" panose="020B0604030504040204" pitchFamily="34" charset="0"/>
                    <a:ea typeface="Verdana" panose="020B0604030504040204" pitchFamily="34" charset="0"/>
                    <a:cs typeface="Verdana" panose="020B0604030504040204" pitchFamily="34" charset="0"/>
                  </a:rPr>
                  <a:t>Draw what you think the </a:t>
                </a:r>
                <a14:m>
                  <m:oMath xmlns:m="http://schemas.openxmlformats.org/officeDocument/2006/math">
                    <m:r>
                      <a:rPr lang="en-US" sz="2200" i="1">
                        <a:latin typeface="Cambria Math" panose="02040503050406030204" pitchFamily="18" charset="0"/>
                        <a:ea typeface="Cambria Math" panose="02040503050406030204" pitchFamily="18" charset="0"/>
                      </a:rPr>
                      <m:t>6</m:t>
                    </m:r>
                  </m:oMath>
                </a14:m>
                <a:r>
                  <a:rPr lang="en-US" sz="2200" baseline="30000" dirty="0" err="1">
                    <a:latin typeface="Verdana" panose="020B0604030504040204" pitchFamily="34" charset="0"/>
                    <a:ea typeface="Verdana" panose="020B0604030504040204" pitchFamily="34" charset="0"/>
                    <a:cs typeface="Verdana" panose="020B0604030504040204" pitchFamily="34" charset="0"/>
                  </a:rPr>
                  <a:t>th</a:t>
                </a:r>
                <a:r>
                  <a:rPr lang="en-US" sz="2200" dirty="0">
                    <a:latin typeface="Verdana" panose="020B0604030504040204" pitchFamily="34" charset="0"/>
                    <a:ea typeface="Verdana" panose="020B0604030504040204" pitchFamily="34" charset="0"/>
                    <a:cs typeface="Verdana" panose="020B0604030504040204" pitchFamily="34" charset="0"/>
                  </a:rPr>
                  <a:t> step in this pattern will look like using small circles to represent each Froot Loop.</a:t>
                </a:r>
              </a:p>
            </p:txBody>
          </p:sp>
        </mc:Choice>
        <mc:Fallback>
          <p:sp>
            <p:nvSpPr>
              <p:cNvPr id="2" name="TextBox 1">
                <a:extLst>
                  <a:ext uri="{FF2B5EF4-FFF2-40B4-BE49-F238E27FC236}">
                    <a16:creationId xmlns:a16="http://schemas.microsoft.com/office/drawing/2014/main" xmlns:a14="http://schemas.microsoft.com/office/drawing/2010/main" xmlns="" id="{E1D7562E-134F-D14B-AF1A-DF40E11EF758}"/>
                  </a:ext>
                </a:extLst>
              </p:cNvPr>
              <p:cNvSpPr txBox="1">
                <a:spLocks noRot="1" noChangeAspect="1" noMove="1" noResize="1" noEditPoints="1" noAdjustHandles="1" noChangeArrowheads="1" noChangeShapeType="1" noTextEdit="1"/>
              </p:cNvSpPr>
              <p:nvPr/>
            </p:nvSpPr>
            <p:spPr>
              <a:xfrm>
                <a:off x="531913" y="1386025"/>
                <a:ext cx="10800000" cy="4493538"/>
              </a:xfrm>
              <a:prstGeom prst="rect">
                <a:avLst/>
              </a:prstGeom>
              <a:blipFill rotWithShape="1">
                <a:blip r:embed="rId4"/>
                <a:stretch>
                  <a:fillRect l="-734" t="-950"/>
                </a:stretch>
              </a:blipFill>
            </p:spPr>
            <p:txBody>
              <a:bodyPr/>
              <a:lstStyle/>
              <a:p>
                <a:r>
                  <a:rPr lang="en-PH">
                    <a:noFill/>
                  </a:rPr>
                  <a:t> </a:t>
                </a:r>
              </a:p>
            </p:txBody>
          </p:sp>
        </mc:Fallback>
      </mc:AlternateContent>
      <p:pic>
        <p:nvPicPr>
          <p:cNvPr id="9" name="Picture 8"/>
          <p:cNvPicPr/>
          <p:nvPr/>
        </p:nvPicPr>
        <p:blipFill>
          <a:blip r:embed="rId5">
            <a:extLst>
              <a:ext uri="{28A0092B-C50C-407E-A947-70E740481C1C}">
                <a14:useLocalDpi xmlns:a14="http://schemas.microsoft.com/office/drawing/2010/main"/>
              </a:ext>
            </a:extLst>
          </a:blip>
          <a:srcRect/>
          <a:stretch>
            <a:fillRect/>
          </a:stretch>
        </p:blipFill>
        <p:spPr bwMode="auto">
          <a:xfrm>
            <a:off x="2301133" y="1846307"/>
            <a:ext cx="6946900" cy="1715770"/>
          </a:xfrm>
          <a:prstGeom prst="rect">
            <a:avLst/>
          </a:prstGeom>
          <a:noFill/>
          <a:ln>
            <a:noFill/>
          </a:ln>
        </p:spPr>
      </p:pic>
      <p:sp>
        <p:nvSpPr>
          <p:cNvPr id="11" name="Google Shape;282;g104476d1465_1_17"/>
          <p:cNvSpPr txBox="1"/>
          <p:nvPr/>
        </p:nvSpPr>
        <p:spPr>
          <a:xfrm>
            <a:off x="8949760" y="65213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169</a:t>
            </a:r>
            <a:endParaRPr i="1" dirty="0">
              <a:latin typeface="Calibri"/>
              <a:ea typeface="Calibri"/>
              <a:cs typeface="Calibri"/>
              <a:sym typeface="Calibri"/>
            </a:endParaRPr>
          </a:p>
        </p:txBody>
      </p:sp>
      <p:pic>
        <p:nvPicPr>
          <p:cNvPr id="12" name="Google Shape;283;g104476d1465_1_17"/>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583760" y="6165087"/>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70700"/>
          </a:xfrm>
          <a:prstGeom prst="rect">
            <a:avLst/>
          </a:prstGeom>
          <a:solidFill>
            <a:srgbClr val="B399C8"/>
          </a:solidFill>
          <a:ln w="9525" cap="flat" cmpd="sng">
            <a:solidFill>
              <a:srgbClr val="B399C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225955"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Practice</a:t>
            </a:r>
            <a:endParaRPr sz="5100" b="1" dirty="0">
              <a:solidFill>
                <a:srgbClr val="54B5D1"/>
              </a:solidFill>
              <a:latin typeface="Verdana"/>
              <a:ea typeface="Verdana"/>
              <a:cs typeface="Verdana"/>
              <a:sym typeface="Verdana"/>
            </a:endParaRPr>
          </a:p>
        </p:txBody>
      </p:sp>
      <p:pic>
        <p:nvPicPr>
          <p:cNvPr id="9218" name="Picture 2" descr="Icon&#10;&#10;Description automatically generated">
            <a:extLst>
              <a:ext uri="{FF2B5EF4-FFF2-40B4-BE49-F238E27FC236}">
                <a16:creationId xmlns:a16="http://schemas.microsoft.com/office/drawing/2014/main" xmlns="" id="{B02E8C6A-53AD-AA4E-A4ED-406F3B0E3707}"/>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4512723"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8" name="Google Shape;282;g104476d1465_1_17"/>
          <p:cNvSpPr txBox="1"/>
          <p:nvPr/>
        </p:nvSpPr>
        <p:spPr>
          <a:xfrm>
            <a:off x="8949760" y="65213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170</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83760" y="6165087"/>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6930146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343;g103996e1364_0_321">
            <a:extLst>
              <a:ext uri="{FF2B5EF4-FFF2-40B4-BE49-F238E27FC236}">
                <a16:creationId xmlns:a16="http://schemas.microsoft.com/office/drawing/2014/main" xmlns="" id="{21B1DF8E-16A0-FA4E-8CEB-434668DFA68D}"/>
              </a:ext>
            </a:extLst>
          </p:cNvPr>
          <p:cNvSpPr txBox="1">
            <a:spLocks/>
          </p:cNvSpPr>
          <p:nvPr/>
        </p:nvSpPr>
        <p:spPr>
          <a:xfrm>
            <a:off x="1157214" y="102650"/>
            <a:ext cx="108000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2800" b="1" dirty="0">
                <a:solidFill>
                  <a:srgbClr val="54B5D1"/>
                </a:solidFill>
                <a:latin typeface="Verdana"/>
                <a:ea typeface="Verdana"/>
                <a:cs typeface="Verdana"/>
                <a:sym typeface="Verdana"/>
              </a:rPr>
              <a:t>11.5.2 Guided Practice: Determine If a Relationship Is Proportional from Tables and Graphs</a:t>
            </a:r>
          </a:p>
        </p:txBody>
      </p:sp>
      <p:pic>
        <p:nvPicPr>
          <p:cNvPr id="8" name="Picture 2" descr="Icon&#10;&#10;Description automatically generated">
            <a:extLst>
              <a:ext uri="{FF2B5EF4-FFF2-40B4-BE49-F238E27FC236}">
                <a16:creationId xmlns:a16="http://schemas.microsoft.com/office/drawing/2014/main" xmlns="" id="{B3C42596-1BDF-794D-A82A-7C54635CB812}"/>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322488" y="390596"/>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xmlns="" id="{31D40250-DEDD-2C41-8538-3D4DD18CCC4A}"/>
              </a:ext>
            </a:extLst>
          </p:cNvPr>
          <p:cNvSpPr txBox="1"/>
          <p:nvPr/>
        </p:nvSpPr>
        <p:spPr>
          <a:xfrm>
            <a:off x="528341" y="1464971"/>
            <a:ext cx="10800000" cy="830997"/>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Four graphs are shown in the chart. Indicate whether each graph represents a proportional relationship.</a:t>
            </a:r>
          </a:p>
        </p:txBody>
      </p:sp>
      <p:pic>
        <p:nvPicPr>
          <p:cNvPr id="2" name="Picture 1"/>
          <p:cNvPicPr>
            <a:picLocks noChangeAspect="1"/>
          </p:cNvPicPr>
          <p:nvPr/>
        </p:nvPicPr>
        <p:blipFill>
          <a:blip r:embed="rId4"/>
          <a:stretch>
            <a:fillRect/>
          </a:stretch>
        </p:blipFill>
        <p:spPr>
          <a:xfrm>
            <a:off x="2647316" y="2391757"/>
            <a:ext cx="6562050" cy="4129618"/>
          </a:xfrm>
          <a:prstGeom prst="rect">
            <a:avLst/>
          </a:prstGeom>
        </p:spPr>
      </p:pic>
      <p:sp>
        <p:nvSpPr>
          <p:cNvPr id="11" name="Google Shape;282;g104476d1465_1_17"/>
          <p:cNvSpPr txBox="1"/>
          <p:nvPr/>
        </p:nvSpPr>
        <p:spPr>
          <a:xfrm>
            <a:off x="8949760" y="65213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smtClean="0">
                <a:latin typeface="Calibri"/>
                <a:ea typeface="Calibri"/>
                <a:cs typeface="Calibri"/>
                <a:sym typeface="Calibri"/>
              </a:rPr>
              <a:t>170</a:t>
            </a:r>
            <a:endParaRPr i="1" dirty="0">
              <a:latin typeface="Calibri"/>
              <a:ea typeface="Calibri"/>
              <a:cs typeface="Calibri"/>
              <a:sym typeface="Calibri"/>
            </a:endParaRPr>
          </a:p>
        </p:txBody>
      </p:sp>
      <p:pic>
        <p:nvPicPr>
          <p:cNvPr id="12"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583760" y="6165087"/>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7455233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 name="Picture 1"/>
          <p:cNvPicPr>
            <a:picLocks noChangeAspect="1"/>
          </p:cNvPicPr>
          <p:nvPr/>
        </p:nvPicPr>
        <p:blipFill>
          <a:blip r:embed="rId3"/>
          <a:stretch>
            <a:fillRect/>
          </a:stretch>
        </p:blipFill>
        <p:spPr>
          <a:xfrm>
            <a:off x="2171689" y="361664"/>
            <a:ext cx="7848621" cy="5256819"/>
          </a:xfrm>
          <a:prstGeom prst="rect">
            <a:avLst/>
          </a:prstGeom>
        </p:spPr>
      </p:pic>
      <p:sp>
        <p:nvSpPr>
          <p:cNvPr id="6" name="Google Shape;282;g104476d1465_1_17"/>
          <p:cNvSpPr txBox="1"/>
          <p:nvPr/>
        </p:nvSpPr>
        <p:spPr>
          <a:xfrm>
            <a:off x="8949760" y="65213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smtClean="0">
                <a:latin typeface="Calibri"/>
                <a:ea typeface="Calibri"/>
                <a:cs typeface="Calibri"/>
                <a:sym typeface="Calibri"/>
              </a:rPr>
              <a:t>170</a:t>
            </a:r>
            <a:endParaRPr i="1" dirty="0">
              <a:latin typeface="Calibri"/>
              <a:ea typeface="Calibri"/>
              <a:cs typeface="Calibri"/>
              <a:sym typeface="Calibri"/>
            </a:endParaRPr>
          </a:p>
        </p:txBody>
      </p:sp>
      <p:pic>
        <p:nvPicPr>
          <p:cNvPr id="8"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83760" y="6165087"/>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5982330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3989"/>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xmlns="" id="{A3BC97A7-8575-5A46-8E72-A886A83AEC7E}"/>
                  </a:ext>
                </a:extLst>
              </p:cNvPr>
              <p:cNvSpPr txBox="1"/>
              <p:nvPr/>
            </p:nvSpPr>
            <p:spPr>
              <a:xfrm>
                <a:off x="530739" y="386282"/>
                <a:ext cx="10800000" cy="5398016"/>
              </a:xfrm>
              <a:prstGeom prst="rect">
                <a:avLst/>
              </a:prstGeom>
              <a:noFill/>
            </p:spPr>
            <p:txBody>
              <a:bodyPr wrap="square" rtlCol="0">
                <a:spAutoFit/>
              </a:bodyPr>
              <a:lstStyle/>
              <a:p>
                <a:pPr>
                  <a:spcAft>
                    <a:spcPts val="1200"/>
                  </a:spcAft>
                </a:pPr>
                <a:r>
                  <a:rPr lang="en-US" sz="2300" dirty="0">
                    <a:latin typeface="Verdana" panose="020B0604030504040204" pitchFamily="34" charset="0"/>
                    <a:ea typeface="Verdana" panose="020B0604030504040204" pitchFamily="34" charset="0"/>
                    <a:cs typeface="Verdana" panose="020B0604030504040204" pitchFamily="34" charset="0"/>
                  </a:rPr>
                  <a:t>For a proportional relationship, the constant of proportionality can be determined from a graph in two ways. </a:t>
                </a:r>
              </a:p>
              <a:p>
                <a:pPr marL="914400" indent="-342900">
                  <a:spcAft>
                    <a:spcPts val="600"/>
                  </a:spcAft>
                  <a:buFont typeface="Arial" panose="020B0604020202020204" pitchFamily="34" charset="0"/>
                  <a:buChar char="•"/>
                </a:pPr>
                <a:r>
                  <a:rPr lang="en-US" sz="2300" dirty="0">
                    <a:latin typeface="Verdana" panose="020B0604030504040204" pitchFamily="34" charset="0"/>
                    <a:ea typeface="Verdana" panose="020B0604030504040204" pitchFamily="34" charset="0"/>
                    <a:cs typeface="Verdana" panose="020B0604030504040204" pitchFamily="34" charset="0"/>
                  </a:rPr>
                  <a:t>Use the point </a:t>
                </a:r>
                <a14:m>
                  <m:oMath xmlns:m="http://schemas.openxmlformats.org/officeDocument/2006/math">
                    <m:r>
                      <a:rPr lang="en-US" sz="2300" i="1">
                        <a:latin typeface="Cambria Math" panose="02040503050406030204" pitchFamily="18" charset="0"/>
                        <a:ea typeface="Cambria Math" panose="02040503050406030204" pitchFamily="18" charset="0"/>
                      </a:rPr>
                      <m:t>(1, </m:t>
                    </m:r>
                    <m:r>
                      <a:rPr lang="en-US" sz="2300" i="1">
                        <a:latin typeface="Cambria Math" panose="02040503050406030204" pitchFamily="18" charset="0"/>
                        <a:ea typeface="Cambria Math" panose="02040503050406030204" pitchFamily="18" charset="0"/>
                      </a:rPr>
                      <m:t>𝑘</m:t>
                    </m:r>
                    <m:r>
                      <a:rPr lang="en-US" sz="2300" i="1">
                        <a:latin typeface="Cambria Math" panose="02040503050406030204" pitchFamily="18" charset="0"/>
                        <a:ea typeface="Cambria Math" panose="02040503050406030204" pitchFamily="18" charset="0"/>
                      </a:rPr>
                      <m:t>)</m:t>
                    </m:r>
                  </m:oMath>
                </a14:m>
                <a:r>
                  <a:rPr lang="en-US" sz="2300" dirty="0">
                    <a:latin typeface="Verdana" panose="020B0604030504040204" pitchFamily="34" charset="0"/>
                    <a:ea typeface="Verdana" panose="020B0604030504040204" pitchFamily="34" charset="0"/>
                    <a:cs typeface="Verdana" panose="020B0604030504040204" pitchFamily="34" charset="0"/>
                  </a:rPr>
                  <a:t>, where </a:t>
                </a:r>
                <a14:m>
                  <m:oMath xmlns:m="http://schemas.openxmlformats.org/officeDocument/2006/math">
                    <m:r>
                      <a:rPr lang="en-US" sz="2300" i="1">
                        <a:latin typeface="Cambria Math" panose="02040503050406030204" pitchFamily="18" charset="0"/>
                        <a:ea typeface="Cambria Math" panose="02040503050406030204" pitchFamily="18" charset="0"/>
                      </a:rPr>
                      <m:t>𝑘</m:t>
                    </m:r>
                  </m:oMath>
                </a14:m>
                <a:r>
                  <a:rPr lang="en-US" sz="2300" dirty="0">
                    <a:latin typeface="Verdana" panose="020B0604030504040204" pitchFamily="34" charset="0"/>
                    <a:ea typeface="Verdana" panose="020B0604030504040204" pitchFamily="34" charset="0"/>
                    <a:cs typeface="Verdana" panose="020B0604030504040204" pitchFamily="34" charset="0"/>
                  </a:rPr>
                  <a:t> is the constant of proportionality.</a:t>
                </a:r>
              </a:p>
              <a:p>
                <a:pPr marL="914400" indent="-342900">
                  <a:buFont typeface="Arial" panose="020B0604020202020204" pitchFamily="34" charset="0"/>
                  <a:buChar char="•"/>
                </a:pPr>
                <a:r>
                  <a:rPr lang="en-US" sz="2300" dirty="0">
                    <a:latin typeface="Verdana" panose="020B0604030504040204" pitchFamily="34" charset="0"/>
                    <a:ea typeface="Verdana" panose="020B0604030504040204" pitchFamily="34" charset="0"/>
                    <a:cs typeface="Verdana" panose="020B0604030504040204" pitchFamily="34" charset="0"/>
                  </a:rPr>
                  <a:t>Find the value of the ratio </a:t>
                </a:r>
                <a14:m>
                  <m:oMath xmlns:m="http://schemas.openxmlformats.org/officeDocument/2006/math">
                    <m:f>
                      <m:fPr>
                        <m:ctrlPr>
                          <a:rPr lang="en-US" sz="2300" i="1">
                            <a:latin typeface="Cambria Math"/>
                            <a:ea typeface="Cambria Math" panose="02040503050406030204" pitchFamily="18" charset="0"/>
                          </a:rPr>
                        </m:ctrlPr>
                      </m:fPr>
                      <m:num>
                        <m:r>
                          <a:rPr lang="en-US" sz="2300" i="1">
                            <a:latin typeface="Cambria Math" panose="02040503050406030204" pitchFamily="18" charset="0"/>
                            <a:ea typeface="Cambria Math" panose="02040503050406030204" pitchFamily="18" charset="0"/>
                          </a:rPr>
                          <m:t>𝑦</m:t>
                        </m:r>
                      </m:num>
                      <m:den>
                        <m:r>
                          <a:rPr lang="en-US" sz="2300" i="1">
                            <a:latin typeface="Cambria Math" panose="02040503050406030204" pitchFamily="18" charset="0"/>
                            <a:ea typeface="Cambria Math" panose="02040503050406030204" pitchFamily="18" charset="0"/>
                          </a:rPr>
                          <m:t>𝑥</m:t>
                        </m:r>
                      </m:den>
                    </m:f>
                  </m:oMath>
                </a14:m>
                <a:r>
                  <a:rPr lang="en-US" sz="2300" dirty="0">
                    <a:latin typeface="Verdana" panose="020B0604030504040204" pitchFamily="34" charset="0"/>
                    <a:ea typeface="Verdana" panose="020B0604030504040204" pitchFamily="34" charset="0"/>
                    <a:cs typeface="Verdana" panose="020B0604030504040204" pitchFamily="34" charset="0"/>
                  </a:rPr>
                  <a:t> using any point on the graph.</a:t>
                </a:r>
              </a:p>
              <a:p>
                <a:r>
                  <a:rPr lang="en-US" sz="2300" dirty="0">
                    <a:latin typeface="Verdana" panose="020B0604030504040204" pitchFamily="34" charset="0"/>
                    <a:ea typeface="Verdana" panose="020B0604030504040204" pitchFamily="34" charset="0"/>
                    <a:cs typeface="Verdana" panose="020B0604030504040204" pitchFamily="34" charset="0"/>
                  </a:rPr>
                  <a:t>  </a:t>
                </a:r>
              </a:p>
              <a:p>
                <a:pPr marL="457200" indent="-457200">
                  <a:buFont typeface="+mj-lt"/>
                  <a:buAutoNum type="arabicPeriod" startAt="2"/>
                </a:pPr>
                <a:r>
                  <a:rPr lang="en-US" sz="2300" dirty="0">
                    <a:latin typeface="Verdana" panose="020B0604030504040204" pitchFamily="34" charset="0"/>
                    <a:ea typeface="Verdana" panose="020B0604030504040204" pitchFamily="34" charset="0"/>
                    <a:cs typeface="Verdana" panose="020B0604030504040204" pitchFamily="34" charset="0"/>
                  </a:rPr>
                  <a:t>Two of the graphs in the previous question represent proportional relationships. Complete the statements to state the value of the ratio between the two quantities in each of those two graphs.</a:t>
                </a:r>
              </a:p>
              <a:p>
                <a:r>
                  <a:rPr lang="en-US" sz="2300" dirty="0">
                    <a:latin typeface="Verdana" panose="020B0604030504040204" pitchFamily="34" charset="0"/>
                    <a:ea typeface="Verdana" panose="020B0604030504040204" pitchFamily="34" charset="0"/>
                    <a:cs typeface="Verdana" panose="020B0604030504040204" pitchFamily="34" charset="0"/>
                  </a:rPr>
                  <a:t> </a:t>
                </a:r>
              </a:p>
              <a:p>
                <a:pPr marL="914400" indent="-457200">
                  <a:buFont typeface="+mj-lt"/>
                  <a:buAutoNum type="alphaLcPeriod"/>
                </a:pPr>
                <a:r>
                  <a:rPr lang="en-US" sz="2300" dirty="0">
                    <a:latin typeface="Verdana" panose="020B0604030504040204" pitchFamily="34" charset="0"/>
                    <a:ea typeface="Verdana" panose="020B0604030504040204" pitchFamily="34" charset="0"/>
                    <a:cs typeface="Verdana" panose="020B0604030504040204" pitchFamily="34" charset="0"/>
                  </a:rPr>
                  <a:t>Graph _____ represents a proportional relationship where the constant of proportionality is _________.</a:t>
                </a:r>
              </a:p>
              <a:p>
                <a:pPr marL="914400" indent="-457200">
                  <a:buFont typeface="+mj-lt"/>
                  <a:buAutoNum type="alphaLcPeriod"/>
                </a:pPr>
                <a:endParaRPr lang="en-US" sz="23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r>
                  <a:rPr lang="en-US" sz="2300" dirty="0">
                    <a:latin typeface="Verdana" panose="020B0604030504040204" pitchFamily="34" charset="0"/>
                    <a:ea typeface="Verdana" panose="020B0604030504040204" pitchFamily="34" charset="0"/>
                    <a:cs typeface="Verdana" panose="020B0604030504040204" pitchFamily="34" charset="0"/>
                  </a:rPr>
                  <a:t>Graph _____ represents a proportional relationship where the constant of proportionality is _________.</a:t>
                </a:r>
              </a:p>
            </p:txBody>
          </p:sp>
        </mc:Choice>
        <mc:Fallback>
          <p:sp>
            <p:nvSpPr>
              <p:cNvPr id="5" name="TextBox 4">
                <a:extLst>
                  <a:ext uri="{FF2B5EF4-FFF2-40B4-BE49-F238E27FC236}">
                    <a16:creationId xmlns:a16="http://schemas.microsoft.com/office/drawing/2014/main" xmlns:a14="http://schemas.microsoft.com/office/drawing/2010/main" xmlns="" id="{A3BC97A7-8575-5A46-8E72-A886A83AEC7E}"/>
                  </a:ext>
                </a:extLst>
              </p:cNvPr>
              <p:cNvSpPr txBox="1">
                <a:spLocks noRot="1" noChangeAspect="1" noMove="1" noResize="1" noEditPoints="1" noAdjustHandles="1" noChangeArrowheads="1" noChangeShapeType="1" noTextEdit="1"/>
              </p:cNvSpPr>
              <p:nvPr/>
            </p:nvSpPr>
            <p:spPr>
              <a:xfrm>
                <a:off x="530739" y="386282"/>
                <a:ext cx="10800000" cy="5398016"/>
              </a:xfrm>
              <a:prstGeom prst="rect">
                <a:avLst/>
              </a:prstGeom>
              <a:blipFill rotWithShape="1">
                <a:blip r:embed="rId3"/>
                <a:stretch>
                  <a:fillRect l="-790" t="-790" b="-1467"/>
                </a:stretch>
              </a:blipFill>
            </p:spPr>
            <p:txBody>
              <a:bodyPr/>
              <a:lstStyle/>
              <a:p>
                <a:r>
                  <a:rPr lang="en-PH">
                    <a:noFill/>
                  </a:rPr>
                  <a:t> </a:t>
                </a:r>
              </a:p>
            </p:txBody>
          </p:sp>
        </mc:Fallback>
      </mc:AlternateContent>
      <p:sp>
        <p:nvSpPr>
          <p:cNvPr id="7" name="Google Shape;282;g104476d1465_1_17"/>
          <p:cNvSpPr txBox="1"/>
          <p:nvPr/>
        </p:nvSpPr>
        <p:spPr>
          <a:xfrm>
            <a:off x="8949760" y="65213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smtClean="0">
                <a:latin typeface="Calibri"/>
                <a:ea typeface="Calibri"/>
                <a:cs typeface="Calibri"/>
                <a:sym typeface="Calibri"/>
              </a:rPr>
              <a:t>170</a:t>
            </a:r>
            <a:endParaRPr i="1" dirty="0">
              <a:latin typeface="Calibri"/>
              <a:ea typeface="Calibri"/>
              <a:cs typeface="Calibri"/>
              <a:sym typeface="Calibri"/>
            </a:endParaRPr>
          </a:p>
        </p:txBody>
      </p:sp>
      <p:pic>
        <p:nvPicPr>
          <p:cNvPr id="8"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83760" y="6165087"/>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9183854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xmlns="" id="{A3BC97A7-8575-5A46-8E72-A886A83AEC7E}"/>
                  </a:ext>
                </a:extLst>
              </p:cNvPr>
              <p:cNvSpPr txBox="1"/>
              <p:nvPr/>
            </p:nvSpPr>
            <p:spPr>
              <a:xfrm>
                <a:off x="532420" y="386281"/>
                <a:ext cx="10800000" cy="2308324"/>
              </a:xfrm>
              <a:prstGeom prst="rect">
                <a:avLst/>
              </a:prstGeom>
              <a:noFill/>
            </p:spPr>
            <p:txBody>
              <a:bodyPr wrap="square" rtlCol="0">
                <a:spAutoFit/>
              </a:bodyPr>
              <a:lstStyle/>
              <a:p>
                <a:pPr marL="457200" indent="-457200">
                  <a:buFont typeface="+mj-lt"/>
                  <a:buAutoNum type="arabicPeriod" startAt="3"/>
                </a:pPr>
                <a:r>
                  <a:rPr lang="en-US" sz="2400" dirty="0">
                    <a:latin typeface="Verdana" panose="020B0604030504040204" pitchFamily="34" charset="0"/>
                    <a:ea typeface="Verdana" panose="020B0604030504040204" pitchFamily="34" charset="0"/>
                    <a:cs typeface="Verdana" panose="020B0604030504040204" pitchFamily="34" charset="0"/>
                  </a:rPr>
                  <a:t>Dylan and Maya were running laps around the football field at Hernando High School. The coach recorded their times at the end of laps </a:t>
                </a:r>
                <a14:m>
                  <m:oMath xmlns:m="http://schemas.openxmlformats.org/officeDocument/2006/math">
                    <m:r>
                      <a:rPr lang="en-US" sz="2400" i="1">
                        <a:latin typeface="Cambria Math" panose="02040503050406030204" pitchFamily="18" charset="0"/>
                        <a:ea typeface="Cambria Math" panose="02040503050406030204" pitchFamily="18" charset="0"/>
                      </a:rPr>
                      <m:t>2</m:t>
                    </m:r>
                  </m:oMath>
                </a14:m>
                <a:r>
                  <a:rPr lang="en-US" sz="24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400" i="1">
                        <a:latin typeface="Cambria Math" panose="02040503050406030204" pitchFamily="18" charset="0"/>
                        <a:ea typeface="Cambria Math" panose="02040503050406030204" pitchFamily="18" charset="0"/>
                      </a:rPr>
                      <m:t>4</m:t>
                    </m:r>
                  </m:oMath>
                </a14:m>
                <a:r>
                  <a:rPr lang="en-US" sz="24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400" i="1">
                        <a:latin typeface="Cambria Math" panose="02040503050406030204" pitchFamily="18" charset="0"/>
                        <a:ea typeface="Cambria Math" panose="02040503050406030204" pitchFamily="18" charset="0"/>
                      </a:rPr>
                      <m:t>6</m:t>
                    </m:r>
                  </m:oMath>
                </a14:m>
                <a:r>
                  <a:rPr lang="en-US" sz="2400" dirty="0">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r>
                      <a:rPr lang="en-US" sz="2400" i="1">
                        <a:latin typeface="Cambria Math" panose="02040503050406030204" pitchFamily="18" charset="0"/>
                        <a:ea typeface="Cambria Math" panose="02040503050406030204" pitchFamily="18" charset="0"/>
                      </a:rPr>
                      <m:t>8</m:t>
                    </m:r>
                  </m:oMath>
                </a14:m>
                <a:r>
                  <a:rPr lang="en-US" sz="2400" dirty="0">
                    <a:latin typeface="Verdana" panose="020B0604030504040204" pitchFamily="34" charset="0"/>
                    <a:ea typeface="Verdana" panose="020B0604030504040204" pitchFamily="34" charset="0"/>
                    <a:cs typeface="Verdana" panose="020B0604030504040204" pitchFamily="34" charset="0"/>
                  </a:rPr>
                  <a:t>.</a:t>
                </a:r>
              </a:p>
              <a:p>
                <a:pPr marL="914400"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Complete the table to find the ratio of minutes to laps for Dylan throughout his run.</a:t>
                </a:r>
              </a:p>
            </p:txBody>
          </p:sp>
        </mc:Choice>
        <mc:Fallback>
          <p:sp>
            <p:nvSpPr>
              <p:cNvPr id="5" name="TextBox 4">
                <a:extLst>
                  <a:ext uri="{FF2B5EF4-FFF2-40B4-BE49-F238E27FC236}">
                    <a16:creationId xmlns:a16="http://schemas.microsoft.com/office/drawing/2014/main" xmlns:a14="http://schemas.microsoft.com/office/drawing/2010/main" xmlns="" id="{A3BC97A7-8575-5A46-8E72-A886A83AEC7E}"/>
                  </a:ext>
                </a:extLst>
              </p:cNvPr>
              <p:cNvSpPr txBox="1">
                <a:spLocks noRot="1" noChangeAspect="1" noMove="1" noResize="1" noEditPoints="1" noAdjustHandles="1" noChangeArrowheads="1" noChangeShapeType="1" noTextEdit="1"/>
              </p:cNvSpPr>
              <p:nvPr/>
            </p:nvSpPr>
            <p:spPr>
              <a:xfrm>
                <a:off x="532420" y="386281"/>
                <a:ext cx="10800000" cy="2308324"/>
              </a:xfrm>
              <a:prstGeom prst="rect">
                <a:avLst/>
              </a:prstGeom>
              <a:blipFill rotWithShape="1">
                <a:blip r:embed="rId3"/>
                <a:stretch>
                  <a:fillRect l="-847" t="-2111" r="-1242" b="-5013"/>
                </a:stretch>
              </a:blipFill>
            </p:spPr>
            <p:txBody>
              <a:bodyPr/>
              <a:lstStyle/>
              <a:p>
                <a:r>
                  <a:rPr lang="en-PH">
                    <a:noFill/>
                  </a:rPr>
                  <a:t> </a:t>
                </a:r>
              </a:p>
            </p:txBody>
          </p:sp>
        </mc:Fallback>
      </mc:AlternateContent>
      <mc:AlternateContent xmlns:mc="http://schemas.openxmlformats.org/markup-compatibility/2006">
        <mc:Choice xmlns:a14="http://schemas.microsoft.com/office/drawing/2010/main" Requires="a14">
          <p:graphicFrame>
            <p:nvGraphicFramePr>
              <p:cNvPr id="2" name="Table 1"/>
              <p:cNvGraphicFramePr>
                <a:graphicFrameLocks noGrp="1"/>
              </p:cNvGraphicFramePr>
              <p:nvPr>
                <p:extLst>
                  <p:ext uri="{D42A27DB-BD31-4B8C-83A1-F6EECF244321}">
                    <p14:modId xmlns:p14="http://schemas.microsoft.com/office/powerpoint/2010/main" val="4279254141"/>
                  </p:ext>
                </p:extLst>
              </p:nvPr>
            </p:nvGraphicFramePr>
            <p:xfrm>
              <a:off x="1573975" y="2846040"/>
              <a:ext cx="8640000" cy="3096000"/>
            </p:xfrm>
            <a:graphic>
              <a:graphicData uri="http://schemas.openxmlformats.org/drawingml/2006/table">
                <a:tbl>
                  <a:tblPr firstRow="1" firstCol="1" lastRow="1" lastCol="1">
                    <a:tableStyleId>{5940675A-B579-460E-94D1-54222C63F5DA}</a:tableStyleId>
                  </a:tblPr>
                  <a:tblGrid>
                    <a:gridCol w="2880000">
                      <a:extLst>
                        <a:ext uri="{9D8B030D-6E8A-4147-A177-3AD203B41FA5}">
                          <a16:colId xmlns:a16="http://schemas.microsoft.com/office/drawing/2014/main" xmlns="" val="20000"/>
                        </a:ext>
                      </a:extLst>
                    </a:gridCol>
                    <a:gridCol w="2880000">
                      <a:extLst>
                        <a:ext uri="{9D8B030D-6E8A-4147-A177-3AD203B41FA5}">
                          <a16:colId xmlns:a16="http://schemas.microsoft.com/office/drawing/2014/main" xmlns="" val="20001"/>
                        </a:ext>
                      </a:extLst>
                    </a:gridCol>
                    <a:gridCol w="2880000">
                      <a:extLst>
                        <a:ext uri="{9D8B030D-6E8A-4147-A177-3AD203B41FA5}">
                          <a16:colId xmlns:a16="http://schemas.microsoft.com/office/drawing/2014/main" xmlns="" val="20002"/>
                        </a:ext>
                      </a:extLst>
                    </a:gridCol>
                  </a:tblGrid>
                  <a:tr h="468000">
                    <a:tc gridSpan="3">
                      <a:txBody>
                        <a:bodyPr/>
                        <a:lstStyle/>
                        <a:p>
                          <a:pPr marL="0" marR="0" algn="ctr">
                            <a:spcBef>
                              <a:spcPts val="180"/>
                            </a:spcBef>
                            <a:spcAft>
                              <a:spcPts val="180"/>
                            </a:spcAft>
                          </a:pPr>
                          <a:r>
                            <a:rPr lang="en-US" sz="2000" b="1" dirty="0" smtClean="0">
                              <a:effectLst/>
                              <a:latin typeface="Verdana" panose="020B0604030504040204" pitchFamily="34" charset="0"/>
                              <a:ea typeface="Verdana" panose="020B0604030504040204" pitchFamily="34" charset="0"/>
                              <a:cs typeface="Verdana" panose="020B0604030504040204" pitchFamily="34" charset="0"/>
                            </a:rPr>
                            <a:t>Dylan’s Run</a:t>
                          </a:r>
                          <a:endParaRPr lang="en-US" sz="20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xmlns="" val="10000"/>
                      </a:ext>
                    </a:extLst>
                  </a:tr>
                  <a:tr h="468000">
                    <a:tc>
                      <a:txBody>
                        <a:bodyPr/>
                        <a:lstStyle/>
                        <a:p>
                          <a:pPr marL="0" marR="0" algn="ctr">
                            <a:spcBef>
                              <a:spcPts val="180"/>
                            </a:spcBef>
                            <a:spcAft>
                              <a:spcPts val="18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Distance (laps)</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0" marR="0" algn="ctr">
                            <a:spcBef>
                              <a:spcPts val="180"/>
                            </a:spcBef>
                            <a:spcAft>
                              <a:spcPts val="18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Time (minutes)</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0" marR="0" algn="ctr">
                            <a:spcBef>
                              <a:spcPts val="180"/>
                            </a:spcBef>
                            <a:spcAft>
                              <a:spcPts val="18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Minutes per Lap</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extLst>
                      <a:ext uri="{0D108BD9-81ED-4DB2-BD59-A6C34878D82A}">
                        <a16:rowId xmlns:a16="http://schemas.microsoft.com/office/drawing/2014/main" xmlns="" val="10001"/>
                      </a:ext>
                    </a:extLst>
                  </a:tr>
                  <a:tr h="540000">
                    <a:tc>
                      <a:txBody>
                        <a:bodyPr/>
                        <a:lstStyle/>
                        <a:p>
                          <a:pPr marL="0" marR="0" algn="ctr">
                            <a:spcBef>
                              <a:spcPts val="180"/>
                            </a:spcBef>
                            <a:spcAft>
                              <a:spcPts val="18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2</m:t>
                                </m:r>
                              </m:oMath>
                            </m:oMathPara>
                          </a14:m>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180"/>
                            </a:spcBef>
                            <a:spcAft>
                              <a:spcPts val="18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4</m:t>
                                </m:r>
                              </m:oMath>
                            </m:oMathPara>
                          </a14:m>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180"/>
                            </a:spcBef>
                            <a:spcAft>
                              <a:spcPts val="180"/>
                            </a:spcAft>
                          </a:pPr>
                          <a:r>
                            <a:rPr lang="en-US" sz="2000" dirty="0">
                              <a:effectLst/>
                              <a:latin typeface="Cambria Math" panose="02040503050406030204" pitchFamily="18" charset="0"/>
                              <a:ea typeface="Cambria Math" panose="02040503050406030204" pitchFamily="18" charset="0"/>
                            </a:rPr>
                            <a:t> </a:t>
                          </a:r>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2"/>
                      </a:ext>
                    </a:extLst>
                  </a:tr>
                  <a:tr h="540000">
                    <a:tc>
                      <a:txBody>
                        <a:bodyPr/>
                        <a:lstStyle/>
                        <a:p>
                          <a:pPr marL="0" marR="0" algn="ctr">
                            <a:spcBef>
                              <a:spcPts val="180"/>
                            </a:spcBef>
                            <a:spcAft>
                              <a:spcPts val="18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4</m:t>
                                </m:r>
                              </m:oMath>
                            </m:oMathPara>
                          </a14:m>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180"/>
                            </a:spcBef>
                            <a:spcAft>
                              <a:spcPts val="18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10</m:t>
                                </m:r>
                              </m:oMath>
                            </m:oMathPara>
                          </a14:m>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180"/>
                            </a:spcBef>
                            <a:spcAft>
                              <a:spcPts val="180"/>
                            </a:spcAft>
                          </a:pPr>
                          <a:r>
                            <a:rPr lang="en-US" sz="2000">
                              <a:effectLst/>
                              <a:latin typeface="Cambria Math" panose="02040503050406030204" pitchFamily="18" charset="0"/>
                              <a:ea typeface="Cambria Math" panose="02040503050406030204" pitchFamily="18" charset="0"/>
                            </a:rPr>
                            <a:t> </a:t>
                          </a:r>
                          <a:endParaRPr lang="en-US" sz="200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3"/>
                      </a:ext>
                    </a:extLst>
                  </a:tr>
                  <a:tr h="540000">
                    <a:tc>
                      <a:txBody>
                        <a:bodyPr/>
                        <a:lstStyle/>
                        <a:p>
                          <a:pPr marL="0" marR="0" algn="ctr">
                            <a:spcBef>
                              <a:spcPts val="180"/>
                            </a:spcBef>
                            <a:spcAft>
                              <a:spcPts val="18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6</m:t>
                                </m:r>
                              </m:oMath>
                            </m:oMathPara>
                          </a14:m>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180"/>
                            </a:spcBef>
                            <a:spcAft>
                              <a:spcPts val="18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15</m:t>
                                </m:r>
                              </m:oMath>
                            </m:oMathPara>
                          </a14:m>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180"/>
                            </a:spcBef>
                            <a:spcAft>
                              <a:spcPts val="180"/>
                            </a:spcAft>
                          </a:pPr>
                          <a:r>
                            <a:rPr lang="en-US" sz="2000" dirty="0">
                              <a:effectLst/>
                              <a:latin typeface="Cambria Math" panose="02040503050406030204" pitchFamily="18" charset="0"/>
                              <a:ea typeface="Cambria Math" panose="02040503050406030204" pitchFamily="18" charset="0"/>
                            </a:rPr>
                            <a:t> </a:t>
                          </a:r>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4"/>
                      </a:ext>
                    </a:extLst>
                  </a:tr>
                  <a:tr h="540000">
                    <a:tc>
                      <a:txBody>
                        <a:bodyPr/>
                        <a:lstStyle/>
                        <a:p>
                          <a:pPr marL="0" marR="0" algn="ctr">
                            <a:spcBef>
                              <a:spcPts val="180"/>
                            </a:spcBef>
                            <a:spcAft>
                              <a:spcPts val="18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8</m:t>
                                </m:r>
                              </m:oMath>
                            </m:oMathPara>
                          </a14:m>
                          <a:endParaRPr lang="en-US" sz="200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180"/>
                            </a:spcBef>
                            <a:spcAft>
                              <a:spcPts val="18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23</m:t>
                                </m:r>
                              </m:oMath>
                            </m:oMathPara>
                          </a14:m>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180"/>
                            </a:spcBef>
                            <a:spcAft>
                              <a:spcPts val="180"/>
                            </a:spcAft>
                          </a:pPr>
                          <a:r>
                            <a:rPr lang="en-US" sz="2000" dirty="0">
                              <a:effectLst/>
                              <a:latin typeface="Cambria Math" panose="02040503050406030204" pitchFamily="18" charset="0"/>
                              <a:ea typeface="Cambria Math" panose="02040503050406030204" pitchFamily="18" charset="0"/>
                            </a:rPr>
                            <a:t> </a:t>
                          </a:r>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5"/>
                      </a:ext>
                    </a:extLst>
                  </a:tr>
                </a:tbl>
              </a:graphicData>
            </a:graphic>
          </p:graphicFrame>
        </mc:Choice>
        <mc:Fallback>
          <p:graphicFrame>
            <p:nvGraphicFramePr>
              <p:cNvPr id="2" name="Table 1"/>
              <p:cNvGraphicFramePr>
                <a:graphicFrameLocks noGrp="1"/>
              </p:cNvGraphicFramePr>
              <p:nvPr>
                <p:extLst>
                  <p:ext uri="{D42A27DB-BD31-4B8C-83A1-F6EECF244321}">
                    <p14:modId xmlns:p14="http://schemas.microsoft.com/office/powerpoint/2010/main" val="4279254141"/>
                  </p:ext>
                </p:extLst>
              </p:nvPr>
            </p:nvGraphicFramePr>
            <p:xfrm>
              <a:off x="1573975" y="2846040"/>
              <a:ext cx="8640000" cy="3096000"/>
            </p:xfrm>
            <a:graphic>
              <a:graphicData uri="http://schemas.openxmlformats.org/drawingml/2006/table">
                <a:tbl>
                  <a:tblPr firstRow="1" firstCol="1" lastRow="1" lastCol="1">
                    <a:tableStyleId>{5940675A-B579-460E-94D1-54222C63F5DA}</a:tableStyleId>
                  </a:tblPr>
                  <a:tblGrid>
                    <a:gridCol w="2880000">
                      <a:extLst>
                        <a:ext uri="{9D8B030D-6E8A-4147-A177-3AD203B41FA5}">
                          <a16:colId xmlns:a16="http://schemas.microsoft.com/office/drawing/2014/main" xmlns:a14="http://schemas.microsoft.com/office/drawing/2010/main" xmlns="" val="20000"/>
                        </a:ext>
                      </a:extLst>
                    </a:gridCol>
                    <a:gridCol w="2880000">
                      <a:extLst>
                        <a:ext uri="{9D8B030D-6E8A-4147-A177-3AD203B41FA5}">
                          <a16:colId xmlns:a16="http://schemas.microsoft.com/office/drawing/2014/main" xmlns:a14="http://schemas.microsoft.com/office/drawing/2010/main" xmlns="" val="20001"/>
                        </a:ext>
                      </a:extLst>
                    </a:gridCol>
                    <a:gridCol w="2880000">
                      <a:extLst>
                        <a:ext uri="{9D8B030D-6E8A-4147-A177-3AD203B41FA5}">
                          <a16:colId xmlns:a16="http://schemas.microsoft.com/office/drawing/2014/main" xmlns:a14="http://schemas.microsoft.com/office/drawing/2010/main" xmlns="" val="20002"/>
                        </a:ext>
                      </a:extLst>
                    </a:gridCol>
                  </a:tblGrid>
                  <a:tr h="468000">
                    <a:tc gridSpan="3">
                      <a:txBody>
                        <a:bodyPr/>
                        <a:lstStyle/>
                        <a:p>
                          <a:pPr marL="0" marR="0" algn="ctr">
                            <a:spcBef>
                              <a:spcPts val="180"/>
                            </a:spcBef>
                            <a:spcAft>
                              <a:spcPts val="180"/>
                            </a:spcAft>
                          </a:pPr>
                          <a:r>
                            <a:rPr lang="en-US" sz="2000" b="1" dirty="0" smtClean="0">
                              <a:effectLst/>
                              <a:latin typeface="Verdana" panose="020B0604030504040204" pitchFamily="34" charset="0"/>
                              <a:ea typeface="Verdana" panose="020B0604030504040204" pitchFamily="34" charset="0"/>
                              <a:cs typeface="Verdana" panose="020B0604030504040204" pitchFamily="34" charset="0"/>
                            </a:rPr>
                            <a:t>Dylan’s Run</a:t>
                          </a:r>
                          <a:endParaRPr lang="en-US" sz="20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xmlns:a14="http://schemas.microsoft.com/office/drawing/2010/main" xmlns="" val="10000"/>
                      </a:ext>
                    </a:extLst>
                  </a:tr>
                  <a:tr h="468000">
                    <a:tc>
                      <a:txBody>
                        <a:bodyPr/>
                        <a:lstStyle/>
                        <a:p>
                          <a:pPr marL="0" marR="0" algn="ctr">
                            <a:spcBef>
                              <a:spcPts val="180"/>
                            </a:spcBef>
                            <a:spcAft>
                              <a:spcPts val="18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Distance (laps)</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0" marR="0" algn="ctr">
                            <a:spcBef>
                              <a:spcPts val="180"/>
                            </a:spcBef>
                            <a:spcAft>
                              <a:spcPts val="18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Time (minutes)</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0" marR="0" algn="ctr">
                            <a:spcBef>
                              <a:spcPts val="180"/>
                            </a:spcBef>
                            <a:spcAft>
                              <a:spcPts val="18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Minutes per Lap</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extLst>
                      <a:ext uri="{0D108BD9-81ED-4DB2-BD59-A6C34878D82A}">
                        <a16:rowId xmlns:a16="http://schemas.microsoft.com/office/drawing/2014/main" xmlns:a14="http://schemas.microsoft.com/office/drawing/2010/main" xmlns="" val="10001"/>
                      </a:ext>
                    </a:extLst>
                  </a:tr>
                  <a:tr h="540000">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t="-176136" r="-199789" b="-302273"/>
                          </a:stretch>
                        </a:blipFill>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100212" t="-176136" r="-100212" b="-302273"/>
                          </a:stretch>
                        </a:blipFill>
                      </a:tcPr>
                    </a:tc>
                    <a:tc>
                      <a:txBody>
                        <a:bodyPr/>
                        <a:lstStyle/>
                        <a:p>
                          <a:pPr marL="0" marR="0" algn="ctr">
                            <a:spcBef>
                              <a:spcPts val="180"/>
                            </a:spcBef>
                            <a:spcAft>
                              <a:spcPts val="180"/>
                            </a:spcAft>
                          </a:pPr>
                          <a:r>
                            <a:rPr lang="en-US" sz="2000" dirty="0">
                              <a:effectLst/>
                              <a:latin typeface="Cambria Math" panose="02040503050406030204" pitchFamily="18" charset="0"/>
                              <a:ea typeface="Cambria Math" panose="02040503050406030204" pitchFamily="18" charset="0"/>
                            </a:rPr>
                            <a:t> </a:t>
                          </a:r>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10002"/>
                      </a:ext>
                    </a:extLst>
                  </a:tr>
                  <a:tr h="540000">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t="-273034" r="-199789" b="-198876"/>
                          </a:stretch>
                        </a:blipFill>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100212" t="-273034" r="-100212" b="-198876"/>
                          </a:stretch>
                        </a:blipFill>
                      </a:tcPr>
                    </a:tc>
                    <a:tc>
                      <a:txBody>
                        <a:bodyPr/>
                        <a:lstStyle/>
                        <a:p>
                          <a:pPr marL="0" marR="0" algn="ctr">
                            <a:spcBef>
                              <a:spcPts val="180"/>
                            </a:spcBef>
                            <a:spcAft>
                              <a:spcPts val="180"/>
                            </a:spcAft>
                          </a:pPr>
                          <a:r>
                            <a:rPr lang="en-US" sz="2000">
                              <a:effectLst/>
                              <a:latin typeface="Cambria Math" panose="02040503050406030204" pitchFamily="18" charset="0"/>
                              <a:ea typeface="Cambria Math" panose="02040503050406030204" pitchFamily="18" charset="0"/>
                            </a:rPr>
                            <a:t> </a:t>
                          </a:r>
                          <a:endParaRPr lang="en-US" sz="200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10003"/>
                      </a:ext>
                    </a:extLst>
                  </a:tr>
                  <a:tr h="540000">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t="-377273" r="-199789" b="-101136"/>
                          </a:stretch>
                        </a:blipFill>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100212" t="-377273" r="-100212" b="-101136"/>
                          </a:stretch>
                        </a:blipFill>
                      </a:tcPr>
                    </a:tc>
                    <a:tc>
                      <a:txBody>
                        <a:bodyPr/>
                        <a:lstStyle/>
                        <a:p>
                          <a:pPr marL="0" marR="0" algn="ctr">
                            <a:spcBef>
                              <a:spcPts val="180"/>
                            </a:spcBef>
                            <a:spcAft>
                              <a:spcPts val="180"/>
                            </a:spcAft>
                          </a:pPr>
                          <a:r>
                            <a:rPr lang="en-US" sz="2000" dirty="0">
                              <a:effectLst/>
                              <a:latin typeface="Cambria Math" panose="02040503050406030204" pitchFamily="18" charset="0"/>
                              <a:ea typeface="Cambria Math" panose="02040503050406030204" pitchFamily="18" charset="0"/>
                            </a:rPr>
                            <a:t> </a:t>
                          </a:r>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10004"/>
                      </a:ext>
                    </a:extLst>
                  </a:tr>
                  <a:tr h="540000">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t="-471910" r="-199789"/>
                          </a:stretch>
                        </a:blipFill>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100212" t="-471910" r="-100212"/>
                          </a:stretch>
                        </a:blipFill>
                      </a:tcPr>
                    </a:tc>
                    <a:tc>
                      <a:txBody>
                        <a:bodyPr/>
                        <a:lstStyle/>
                        <a:p>
                          <a:pPr marL="0" marR="0" algn="ctr">
                            <a:spcBef>
                              <a:spcPts val="180"/>
                            </a:spcBef>
                            <a:spcAft>
                              <a:spcPts val="180"/>
                            </a:spcAft>
                          </a:pPr>
                          <a:r>
                            <a:rPr lang="en-US" sz="2000" dirty="0">
                              <a:effectLst/>
                              <a:latin typeface="Cambria Math" panose="02040503050406030204" pitchFamily="18" charset="0"/>
                              <a:ea typeface="Cambria Math" panose="02040503050406030204" pitchFamily="18" charset="0"/>
                            </a:rPr>
                            <a:t> </a:t>
                          </a:r>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10005"/>
                      </a:ext>
                    </a:extLst>
                  </a:tr>
                </a:tbl>
              </a:graphicData>
            </a:graphic>
          </p:graphicFrame>
        </mc:Fallback>
      </mc:AlternateContent>
      <p:sp>
        <p:nvSpPr>
          <p:cNvPr id="8" name="Google Shape;282;g104476d1465_1_17"/>
          <p:cNvSpPr txBox="1"/>
          <p:nvPr/>
        </p:nvSpPr>
        <p:spPr>
          <a:xfrm>
            <a:off x="8949760" y="65213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171</a:t>
            </a:r>
            <a:endParaRPr i="1" dirty="0">
              <a:latin typeface="Calibri"/>
              <a:ea typeface="Calibri"/>
              <a:cs typeface="Calibri"/>
              <a:sym typeface="Calibri"/>
            </a:endParaRPr>
          </a:p>
        </p:txBody>
      </p:sp>
      <p:pic>
        <p:nvPicPr>
          <p:cNvPr id="9"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583760" y="6165087"/>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2052182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5" name="TextBox 4">
            <a:extLst>
              <a:ext uri="{FF2B5EF4-FFF2-40B4-BE49-F238E27FC236}">
                <a16:creationId xmlns:a16="http://schemas.microsoft.com/office/drawing/2014/main" xmlns="" id="{A3BC97A7-8575-5A46-8E72-A886A83AEC7E}"/>
              </a:ext>
            </a:extLst>
          </p:cNvPr>
          <p:cNvSpPr txBox="1"/>
          <p:nvPr/>
        </p:nvSpPr>
        <p:spPr>
          <a:xfrm>
            <a:off x="533844" y="383940"/>
            <a:ext cx="10800000" cy="4154984"/>
          </a:xfrm>
          <a:prstGeom prst="rect">
            <a:avLst/>
          </a:prstGeom>
          <a:noFill/>
        </p:spPr>
        <p:txBody>
          <a:bodyPr wrap="square" rtlCol="0">
            <a:spAutoFit/>
          </a:bodyPr>
          <a:lstStyle/>
          <a:p>
            <a:pPr marL="914400" indent="-457200">
              <a:buFont typeface="+mj-lt"/>
              <a:buAutoNum type="alphaLcPeriod" startAt="2"/>
            </a:pPr>
            <a:r>
              <a:rPr lang="en-US" sz="2400" dirty="0">
                <a:latin typeface="Verdana" panose="020B0604030504040204" pitchFamily="34" charset="0"/>
                <a:ea typeface="Verdana" panose="020B0604030504040204" pitchFamily="34" charset="0"/>
                <a:cs typeface="Verdana" panose="020B0604030504040204" pitchFamily="34" charset="0"/>
              </a:rPr>
              <a:t>Complete the table to find the ratio of minutes to laps for Maya throughout her run.</a:t>
            </a:r>
          </a:p>
          <a:p>
            <a:pPr marL="914400" indent="-457200">
              <a:buFont typeface="+mj-lt"/>
              <a:buAutoNum type="alphaLcPeriod" startAt="2"/>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2"/>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2"/>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2"/>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2"/>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2"/>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2"/>
            </a:pPr>
            <a:endParaRPr lang="en-US" sz="21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2"/>
            </a:pPr>
            <a:endParaRPr lang="en-US" sz="21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2"/>
            </a:pPr>
            <a:endParaRPr lang="en-US" sz="21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2"/>
            </a:pPr>
            <a:endParaRPr lang="en-US" sz="2100" dirty="0">
              <a:latin typeface="Verdana" panose="020B0604030504040204" pitchFamily="34" charset="0"/>
              <a:ea typeface="Verdana" panose="020B0604030504040204" pitchFamily="34" charset="0"/>
              <a:cs typeface="Verdana" panose="020B0604030504040204" pitchFamily="34" charset="0"/>
            </a:endParaRPr>
          </a:p>
        </p:txBody>
      </p:sp>
      <mc:AlternateContent xmlns:mc="http://schemas.openxmlformats.org/markup-compatibility/2006">
        <mc:Choice xmlns:a14="http://schemas.microsoft.com/office/drawing/2010/main" Requires="a14">
          <p:graphicFrame>
            <p:nvGraphicFramePr>
              <p:cNvPr id="2" name="Table 1"/>
              <p:cNvGraphicFramePr>
                <a:graphicFrameLocks noGrp="1"/>
              </p:cNvGraphicFramePr>
              <p:nvPr>
                <p:extLst>
                  <p:ext uri="{D42A27DB-BD31-4B8C-83A1-F6EECF244321}">
                    <p14:modId xmlns:p14="http://schemas.microsoft.com/office/powerpoint/2010/main" val="1289970160"/>
                  </p:ext>
                </p:extLst>
              </p:nvPr>
            </p:nvGraphicFramePr>
            <p:xfrm>
              <a:off x="1584664" y="1370691"/>
              <a:ext cx="8640000" cy="3096000"/>
            </p:xfrm>
            <a:graphic>
              <a:graphicData uri="http://schemas.openxmlformats.org/drawingml/2006/table">
                <a:tbl>
                  <a:tblPr firstRow="1" firstCol="1" lastRow="1" lastCol="1">
                    <a:tableStyleId>{5940675A-B579-460E-94D1-54222C63F5DA}</a:tableStyleId>
                  </a:tblPr>
                  <a:tblGrid>
                    <a:gridCol w="2880000">
                      <a:extLst>
                        <a:ext uri="{9D8B030D-6E8A-4147-A177-3AD203B41FA5}">
                          <a16:colId xmlns:a16="http://schemas.microsoft.com/office/drawing/2014/main" xmlns="" val="20000"/>
                        </a:ext>
                      </a:extLst>
                    </a:gridCol>
                    <a:gridCol w="2880000">
                      <a:extLst>
                        <a:ext uri="{9D8B030D-6E8A-4147-A177-3AD203B41FA5}">
                          <a16:colId xmlns:a16="http://schemas.microsoft.com/office/drawing/2014/main" xmlns="" val="20001"/>
                        </a:ext>
                      </a:extLst>
                    </a:gridCol>
                    <a:gridCol w="2880000">
                      <a:extLst>
                        <a:ext uri="{9D8B030D-6E8A-4147-A177-3AD203B41FA5}">
                          <a16:colId xmlns:a16="http://schemas.microsoft.com/office/drawing/2014/main" xmlns="" val="20002"/>
                        </a:ext>
                      </a:extLst>
                    </a:gridCol>
                  </a:tblGrid>
                  <a:tr h="468000">
                    <a:tc gridSpan="3">
                      <a:txBody>
                        <a:bodyPr/>
                        <a:lstStyle/>
                        <a:p>
                          <a:pPr marL="0" marR="0" algn="ctr">
                            <a:spcBef>
                              <a:spcPts val="180"/>
                            </a:spcBef>
                            <a:spcAft>
                              <a:spcPts val="18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Maya’s Run</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xmlns="" val="10000"/>
                      </a:ext>
                    </a:extLst>
                  </a:tr>
                  <a:tr h="468000">
                    <a:tc>
                      <a:txBody>
                        <a:bodyPr/>
                        <a:lstStyle/>
                        <a:p>
                          <a:pPr marL="0" marR="0" algn="ctr">
                            <a:spcBef>
                              <a:spcPts val="180"/>
                            </a:spcBef>
                            <a:spcAft>
                              <a:spcPts val="18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Distance (laps)</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180"/>
                            </a:spcBef>
                            <a:spcAft>
                              <a:spcPts val="18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Time (minutes)</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180"/>
                            </a:spcBef>
                            <a:spcAft>
                              <a:spcPts val="18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Minutes per Lap</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xmlns="" val="10001"/>
                      </a:ext>
                    </a:extLst>
                  </a:tr>
                  <a:tr h="540000">
                    <a:tc>
                      <a:txBody>
                        <a:bodyPr/>
                        <a:lstStyle/>
                        <a:p>
                          <a:pPr marL="0" marR="0" algn="ctr">
                            <a:spcBef>
                              <a:spcPts val="180"/>
                            </a:spcBef>
                            <a:spcAft>
                              <a:spcPts val="18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2</m:t>
                                </m:r>
                              </m:oMath>
                            </m:oMathPara>
                          </a14:m>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180"/>
                            </a:spcBef>
                            <a:spcAft>
                              <a:spcPts val="18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5</m:t>
                                </m:r>
                              </m:oMath>
                            </m:oMathPara>
                          </a14:m>
                          <a:endParaRPr lang="en-US" sz="200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180"/>
                            </a:spcBef>
                            <a:spcAft>
                              <a:spcPts val="180"/>
                            </a:spcAft>
                          </a:pPr>
                          <a:r>
                            <a:rPr lang="en-US" sz="2000">
                              <a:effectLst/>
                              <a:latin typeface="Cambria Math" panose="02040503050406030204" pitchFamily="18" charset="0"/>
                              <a:ea typeface="Cambria Math" panose="02040503050406030204" pitchFamily="18" charset="0"/>
                            </a:rPr>
                            <a:t> </a:t>
                          </a:r>
                          <a:endParaRPr lang="en-US" sz="200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2"/>
                      </a:ext>
                    </a:extLst>
                  </a:tr>
                  <a:tr h="540000">
                    <a:tc>
                      <a:txBody>
                        <a:bodyPr/>
                        <a:lstStyle/>
                        <a:p>
                          <a:pPr marL="0" marR="0" algn="ctr">
                            <a:spcBef>
                              <a:spcPts val="180"/>
                            </a:spcBef>
                            <a:spcAft>
                              <a:spcPts val="18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4</m:t>
                                </m:r>
                              </m:oMath>
                            </m:oMathPara>
                          </a14:m>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180"/>
                            </a:spcBef>
                            <a:spcAft>
                              <a:spcPts val="18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10</m:t>
                                </m:r>
                              </m:oMath>
                            </m:oMathPara>
                          </a14:m>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180"/>
                            </a:spcBef>
                            <a:spcAft>
                              <a:spcPts val="180"/>
                            </a:spcAft>
                          </a:pPr>
                          <a:r>
                            <a:rPr lang="en-US" sz="2000">
                              <a:effectLst/>
                              <a:latin typeface="Cambria Math" panose="02040503050406030204" pitchFamily="18" charset="0"/>
                              <a:ea typeface="Cambria Math" panose="02040503050406030204" pitchFamily="18" charset="0"/>
                            </a:rPr>
                            <a:t> </a:t>
                          </a:r>
                          <a:endParaRPr lang="en-US" sz="200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3"/>
                      </a:ext>
                    </a:extLst>
                  </a:tr>
                  <a:tr h="540000">
                    <a:tc>
                      <a:txBody>
                        <a:bodyPr/>
                        <a:lstStyle/>
                        <a:p>
                          <a:pPr marL="0" marR="0" algn="ctr">
                            <a:spcBef>
                              <a:spcPts val="180"/>
                            </a:spcBef>
                            <a:spcAft>
                              <a:spcPts val="18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6</m:t>
                                </m:r>
                              </m:oMath>
                            </m:oMathPara>
                          </a14:m>
                          <a:endParaRPr lang="en-US" sz="200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180"/>
                            </a:spcBef>
                            <a:spcAft>
                              <a:spcPts val="18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15</m:t>
                                </m:r>
                              </m:oMath>
                            </m:oMathPara>
                          </a14:m>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180"/>
                            </a:spcBef>
                            <a:spcAft>
                              <a:spcPts val="180"/>
                            </a:spcAft>
                          </a:pPr>
                          <a:r>
                            <a:rPr lang="en-US" sz="2000" dirty="0">
                              <a:effectLst/>
                              <a:latin typeface="Cambria Math" panose="02040503050406030204" pitchFamily="18" charset="0"/>
                              <a:ea typeface="Cambria Math" panose="02040503050406030204" pitchFamily="18" charset="0"/>
                            </a:rPr>
                            <a:t> </a:t>
                          </a:r>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4"/>
                      </a:ext>
                    </a:extLst>
                  </a:tr>
                  <a:tr h="540000">
                    <a:tc>
                      <a:txBody>
                        <a:bodyPr/>
                        <a:lstStyle/>
                        <a:p>
                          <a:pPr marL="0" marR="0" algn="ctr">
                            <a:spcBef>
                              <a:spcPts val="180"/>
                            </a:spcBef>
                            <a:spcAft>
                              <a:spcPts val="18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8</m:t>
                                </m:r>
                              </m:oMath>
                            </m:oMathPara>
                          </a14:m>
                          <a:endParaRPr lang="en-US" sz="200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180"/>
                            </a:spcBef>
                            <a:spcAft>
                              <a:spcPts val="18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20</m:t>
                                </m:r>
                              </m:oMath>
                            </m:oMathPara>
                          </a14:m>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180"/>
                            </a:spcBef>
                            <a:spcAft>
                              <a:spcPts val="180"/>
                            </a:spcAft>
                          </a:pPr>
                          <a:r>
                            <a:rPr lang="en-US" sz="2000" dirty="0">
                              <a:effectLst/>
                              <a:latin typeface="Cambria Math" panose="02040503050406030204" pitchFamily="18" charset="0"/>
                              <a:ea typeface="Cambria Math" panose="02040503050406030204" pitchFamily="18" charset="0"/>
                            </a:rPr>
                            <a:t> </a:t>
                          </a:r>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5"/>
                      </a:ext>
                    </a:extLst>
                  </a:tr>
                </a:tbl>
              </a:graphicData>
            </a:graphic>
          </p:graphicFrame>
        </mc:Choice>
        <mc:Fallback>
          <p:graphicFrame>
            <p:nvGraphicFramePr>
              <p:cNvPr id="2" name="Table 1"/>
              <p:cNvGraphicFramePr>
                <a:graphicFrameLocks noGrp="1"/>
              </p:cNvGraphicFramePr>
              <p:nvPr>
                <p:extLst>
                  <p:ext uri="{D42A27DB-BD31-4B8C-83A1-F6EECF244321}">
                    <p14:modId xmlns:p14="http://schemas.microsoft.com/office/powerpoint/2010/main" val="1289970160"/>
                  </p:ext>
                </p:extLst>
              </p:nvPr>
            </p:nvGraphicFramePr>
            <p:xfrm>
              <a:off x="1584664" y="1370691"/>
              <a:ext cx="8640000" cy="3096000"/>
            </p:xfrm>
            <a:graphic>
              <a:graphicData uri="http://schemas.openxmlformats.org/drawingml/2006/table">
                <a:tbl>
                  <a:tblPr firstRow="1" firstCol="1" lastRow="1" lastCol="1">
                    <a:tableStyleId>{5940675A-B579-460E-94D1-54222C63F5DA}</a:tableStyleId>
                  </a:tblPr>
                  <a:tblGrid>
                    <a:gridCol w="2880000">
                      <a:extLst>
                        <a:ext uri="{9D8B030D-6E8A-4147-A177-3AD203B41FA5}">
                          <a16:colId xmlns:a16="http://schemas.microsoft.com/office/drawing/2014/main" xmlns:a14="http://schemas.microsoft.com/office/drawing/2010/main" xmlns="" val="20000"/>
                        </a:ext>
                      </a:extLst>
                    </a:gridCol>
                    <a:gridCol w="2880000">
                      <a:extLst>
                        <a:ext uri="{9D8B030D-6E8A-4147-A177-3AD203B41FA5}">
                          <a16:colId xmlns:a16="http://schemas.microsoft.com/office/drawing/2014/main" xmlns:a14="http://schemas.microsoft.com/office/drawing/2010/main" xmlns="" val="20001"/>
                        </a:ext>
                      </a:extLst>
                    </a:gridCol>
                    <a:gridCol w="2880000">
                      <a:extLst>
                        <a:ext uri="{9D8B030D-6E8A-4147-A177-3AD203B41FA5}">
                          <a16:colId xmlns:a16="http://schemas.microsoft.com/office/drawing/2014/main" xmlns:a14="http://schemas.microsoft.com/office/drawing/2010/main" xmlns="" val="20002"/>
                        </a:ext>
                      </a:extLst>
                    </a:gridCol>
                  </a:tblGrid>
                  <a:tr h="468000">
                    <a:tc gridSpan="3">
                      <a:txBody>
                        <a:bodyPr/>
                        <a:lstStyle/>
                        <a:p>
                          <a:pPr marL="0" marR="0" algn="ctr">
                            <a:spcBef>
                              <a:spcPts val="180"/>
                            </a:spcBef>
                            <a:spcAft>
                              <a:spcPts val="18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Maya’s Run</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xmlns:a14="http://schemas.microsoft.com/office/drawing/2010/main" xmlns="" val="10000"/>
                      </a:ext>
                    </a:extLst>
                  </a:tr>
                  <a:tr h="468000">
                    <a:tc>
                      <a:txBody>
                        <a:bodyPr/>
                        <a:lstStyle/>
                        <a:p>
                          <a:pPr marL="0" marR="0" algn="ctr">
                            <a:spcBef>
                              <a:spcPts val="180"/>
                            </a:spcBef>
                            <a:spcAft>
                              <a:spcPts val="18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Distance (laps)</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180"/>
                            </a:spcBef>
                            <a:spcAft>
                              <a:spcPts val="18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Time (minutes)</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180"/>
                            </a:spcBef>
                            <a:spcAft>
                              <a:spcPts val="18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Minutes per Lap</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xmlns:a14="http://schemas.microsoft.com/office/drawing/2010/main" xmlns="" val="10001"/>
                      </a:ext>
                    </a:extLst>
                  </a:tr>
                  <a:tr h="540000">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212" t="-176136" r="-200424" b="-302273"/>
                          </a:stretch>
                        </a:blipFill>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100000" t="-176136" r="-100000" b="-302273"/>
                          </a:stretch>
                        </a:blipFill>
                      </a:tcPr>
                    </a:tc>
                    <a:tc>
                      <a:txBody>
                        <a:bodyPr/>
                        <a:lstStyle/>
                        <a:p>
                          <a:pPr marL="0" marR="0" algn="ctr">
                            <a:spcBef>
                              <a:spcPts val="180"/>
                            </a:spcBef>
                            <a:spcAft>
                              <a:spcPts val="180"/>
                            </a:spcAft>
                          </a:pPr>
                          <a:r>
                            <a:rPr lang="en-US" sz="2000">
                              <a:effectLst/>
                              <a:latin typeface="Cambria Math" panose="02040503050406030204" pitchFamily="18" charset="0"/>
                              <a:ea typeface="Cambria Math" panose="02040503050406030204" pitchFamily="18" charset="0"/>
                            </a:rPr>
                            <a:t> </a:t>
                          </a:r>
                          <a:endParaRPr lang="en-US" sz="200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10002"/>
                      </a:ext>
                    </a:extLst>
                  </a:tr>
                  <a:tr h="540000">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212" t="-273034" r="-200424" b="-198876"/>
                          </a:stretch>
                        </a:blipFill>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100000" t="-273034" r="-100000" b="-198876"/>
                          </a:stretch>
                        </a:blipFill>
                      </a:tcPr>
                    </a:tc>
                    <a:tc>
                      <a:txBody>
                        <a:bodyPr/>
                        <a:lstStyle/>
                        <a:p>
                          <a:pPr marL="0" marR="0" algn="ctr">
                            <a:spcBef>
                              <a:spcPts val="180"/>
                            </a:spcBef>
                            <a:spcAft>
                              <a:spcPts val="180"/>
                            </a:spcAft>
                          </a:pPr>
                          <a:r>
                            <a:rPr lang="en-US" sz="2000">
                              <a:effectLst/>
                              <a:latin typeface="Cambria Math" panose="02040503050406030204" pitchFamily="18" charset="0"/>
                              <a:ea typeface="Cambria Math" panose="02040503050406030204" pitchFamily="18" charset="0"/>
                            </a:rPr>
                            <a:t> </a:t>
                          </a:r>
                          <a:endParaRPr lang="en-US" sz="200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10003"/>
                      </a:ext>
                    </a:extLst>
                  </a:tr>
                  <a:tr h="540000">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212" t="-377273" r="-200424" b="-101136"/>
                          </a:stretch>
                        </a:blipFill>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100000" t="-377273" r="-100000" b="-101136"/>
                          </a:stretch>
                        </a:blipFill>
                      </a:tcPr>
                    </a:tc>
                    <a:tc>
                      <a:txBody>
                        <a:bodyPr/>
                        <a:lstStyle/>
                        <a:p>
                          <a:pPr marL="0" marR="0" algn="ctr">
                            <a:spcBef>
                              <a:spcPts val="180"/>
                            </a:spcBef>
                            <a:spcAft>
                              <a:spcPts val="180"/>
                            </a:spcAft>
                          </a:pPr>
                          <a:r>
                            <a:rPr lang="en-US" sz="2000" dirty="0">
                              <a:effectLst/>
                              <a:latin typeface="Cambria Math" panose="02040503050406030204" pitchFamily="18" charset="0"/>
                              <a:ea typeface="Cambria Math" panose="02040503050406030204" pitchFamily="18" charset="0"/>
                            </a:rPr>
                            <a:t> </a:t>
                          </a:r>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10004"/>
                      </a:ext>
                    </a:extLst>
                  </a:tr>
                  <a:tr h="540000">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212" t="-471910" r="-200424"/>
                          </a:stretch>
                        </a:blipFill>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100000" t="-471910" r="-100000"/>
                          </a:stretch>
                        </a:blipFill>
                      </a:tcPr>
                    </a:tc>
                    <a:tc>
                      <a:txBody>
                        <a:bodyPr/>
                        <a:lstStyle/>
                        <a:p>
                          <a:pPr marL="0" marR="0" algn="ctr">
                            <a:spcBef>
                              <a:spcPts val="180"/>
                            </a:spcBef>
                            <a:spcAft>
                              <a:spcPts val="180"/>
                            </a:spcAft>
                          </a:pPr>
                          <a:r>
                            <a:rPr lang="en-US" sz="2000" dirty="0">
                              <a:effectLst/>
                              <a:latin typeface="Cambria Math" panose="02040503050406030204" pitchFamily="18" charset="0"/>
                              <a:ea typeface="Cambria Math" panose="02040503050406030204" pitchFamily="18" charset="0"/>
                            </a:rPr>
                            <a:t> </a:t>
                          </a:r>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10005"/>
                      </a:ext>
                    </a:extLst>
                  </a:tr>
                </a:tbl>
              </a:graphicData>
            </a:graphic>
          </p:graphicFrame>
        </mc:Fallback>
      </mc:AlternateContent>
      <p:sp>
        <p:nvSpPr>
          <p:cNvPr id="7" name="Google Shape;282;g104476d1465_1_17"/>
          <p:cNvSpPr txBox="1"/>
          <p:nvPr/>
        </p:nvSpPr>
        <p:spPr>
          <a:xfrm>
            <a:off x="8949760" y="65213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171</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83760" y="6165087"/>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3290056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5" name="TextBox 4">
            <a:extLst>
              <a:ext uri="{FF2B5EF4-FFF2-40B4-BE49-F238E27FC236}">
                <a16:creationId xmlns:a16="http://schemas.microsoft.com/office/drawing/2014/main" xmlns="" id="{A3BC97A7-8575-5A46-8E72-A886A83AEC7E}"/>
              </a:ext>
            </a:extLst>
          </p:cNvPr>
          <p:cNvSpPr txBox="1"/>
          <p:nvPr/>
        </p:nvSpPr>
        <p:spPr>
          <a:xfrm>
            <a:off x="530860" y="386282"/>
            <a:ext cx="10800000" cy="2677656"/>
          </a:xfrm>
          <a:prstGeom prst="rect">
            <a:avLst/>
          </a:prstGeom>
          <a:noFill/>
        </p:spPr>
        <p:txBody>
          <a:bodyPr wrap="square" rtlCol="0">
            <a:spAutoFit/>
          </a:bodyPr>
          <a:lstStyle/>
          <a:p>
            <a:pPr marL="914400" indent="-457200">
              <a:buFont typeface="+mj-lt"/>
              <a:buAutoNum type="alphaLcPeriod" startAt="3"/>
            </a:pPr>
            <a:r>
              <a:rPr lang="en-US" sz="2400" dirty="0">
                <a:latin typeface="Verdana" panose="020B0604030504040204" pitchFamily="34" charset="0"/>
                <a:ea typeface="Verdana" panose="020B0604030504040204" pitchFamily="34" charset="0"/>
                <a:cs typeface="Verdana" panose="020B0604030504040204" pitchFamily="34" charset="0"/>
              </a:rPr>
              <a:t>Complete the statement.</a:t>
            </a:r>
          </a:p>
          <a:p>
            <a:pPr marL="914400">
              <a:lnSpc>
                <a:spcPct val="200000"/>
              </a:lnSpc>
            </a:pPr>
            <a:r>
              <a:rPr lang="en-US" sz="2400" dirty="0">
                <a:latin typeface="Verdana" panose="020B0604030504040204" pitchFamily="34" charset="0"/>
                <a:ea typeface="Verdana" panose="020B0604030504040204" pitchFamily="34" charset="0"/>
                <a:cs typeface="Verdana" panose="020B0604030504040204" pitchFamily="34" charset="0"/>
              </a:rPr>
              <a:t>The table of values representing		  </a:t>
            </a:r>
            <a:r>
              <a:rPr lang="en-US" sz="2400" dirty="0" smtClean="0">
                <a:latin typeface="Verdana" panose="020B0604030504040204" pitchFamily="34" charset="0"/>
                <a:ea typeface="Verdana" panose="020B0604030504040204" pitchFamily="34" charset="0"/>
                <a:cs typeface="Verdana" panose="020B0604030504040204" pitchFamily="34" charset="0"/>
              </a:rPr>
              <a:t>run </a:t>
            </a:r>
            <a:r>
              <a:rPr lang="en-US" sz="2400" dirty="0">
                <a:latin typeface="Verdana" panose="020B0604030504040204" pitchFamily="34" charset="0"/>
                <a:ea typeface="Verdana" panose="020B0604030504040204" pitchFamily="34" charset="0"/>
                <a:cs typeface="Verdana" panose="020B0604030504040204" pitchFamily="34" charset="0"/>
              </a:rPr>
              <a:t>is a proportional relationship. The constant of proportionality </a:t>
            </a:r>
            <a:r>
              <a:rPr lang="en-US" sz="2400" dirty="0" smtClean="0">
                <a:latin typeface="Verdana" panose="020B0604030504040204" pitchFamily="34" charset="0"/>
                <a:ea typeface="Verdana" panose="020B0604030504040204" pitchFamily="34" charset="0"/>
                <a:cs typeface="Verdana" panose="020B0604030504040204" pitchFamily="34" charset="0"/>
              </a:rPr>
              <a:t/>
            </a:r>
            <a:br>
              <a:rPr lang="en-US" sz="2400" dirty="0" smtClean="0">
                <a:latin typeface="Verdana" panose="020B0604030504040204" pitchFamily="34" charset="0"/>
                <a:ea typeface="Verdana" panose="020B0604030504040204" pitchFamily="34" charset="0"/>
                <a:cs typeface="Verdana" panose="020B0604030504040204" pitchFamily="34" charset="0"/>
              </a:rPr>
            </a:br>
            <a:r>
              <a:rPr lang="en-US" sz="2400" dirty="0" smtClean="0">
                <a:latin typeface="Verdana" panose="020B0604030504040204" pitchFamily="34" charset="0"/>
                <a:ea typeface="Verdana" panose="020B0604030504040204" pitchFamily="34" charset="0"/>
                <a:cs typeface="Verdana" panose="020B0604030504040204" pitchFamily="34" charset="0"/>
              </a:rPr>
              <a:t>is </a:t>
            </a:r>
            <a:r>
              <a:rPr lang="en-US" sz="2400" dirty="0">
                <a:latin typeface="Verdana" panose="020B0604030504040204" pitchFamily="34" charset="0"/>
                <a:ea typeface="Verdana" panose="020B0604030504040204" pitchFamily="34" charset="0"/>
                <a:cs typeface="Verdana" panose="020B0604030504040204" pitchFamily="34" charset="0"/>
              </a:rPr>
              <a:t>_________.</a:t>
            </a:r>
          </a:p>
        </p:txBody>
      </p:sp>
      <p:pic>
        <p:nvPicPr>
          <p:cNvPr id="6" name="Picture 5"/>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6579588" y="794059"/>
            <a:ext cx="1461388" cy="823187"/>
          </a:xfrm>
          <a:prstGeom prst="rect">
            <a:avLst/>
          </a:prstGeom>
        </p:spPr>
      </p:pic>
      <p:grpSp>
        <p:nvGrpSpPr>
          <p:cNvPr id="7" name="Group 6"/>
          <p:cNvGrpSpPr/>
          <p:nvPr/>
        </p:nvGrpSpPr>
        <p:grpSpPr>
          <a:xfrm>
            <a:off x="2162432" y="2633981"/>
            <a:ext cx="7890544" cy="3530652"/>
            <a:chOff x="0" y="0"/>
            <a:chExt cx="7271676" cy="3065132"/>
          </a:xfrm>
        </p:grpSpPr>
        <p:grpSp>
          <p:nvGrpSpPr>
            <p:cNvPr id="8" name="Group 7"/>
            <p:cNvGrpSpPr/>
            <p:nvPr/>
          </p:nvGrpSpPr>
          <p:grpSpPr>
            <a:xfrm>
              <a:off x="0" y="0"/>
              <a:ext cx="7271676" cy="3065132"/>
              <a:chOff x="0" y="0"/>
              <a:chExt cx="7271676" cy="1943785"/>
            </a:xfrm>
          </p:grpSpPr>
          <p:sp>
            <p:nvSpPr>
              <p:cNvPr id="10" name="Rectangle 9"/>
              <p:cNvSpPr/>
              <p:nvPr/>
            </p:nvSpPr>
            <p:spPr>
              <a:xfrm>
                <a:off x="0" y="0"/>
                <a:ext cx="6629400" cy="78637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p:sp>
            <p:nvSpPr>
              <p:cNvPr id="11" name="Rectangle 10"/>
              <p:cNvSpPr/>
              <p:nvPr/>
            </p:nvSpPr>
            <p:spPr>
              <a:xfrm>
                <a:off x="0" y="0"/>
                <a:ext cx="6629400" cy="78637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p:sp>
            <p:nvSpPr>
              <p:cNvPr id="13" name="Rounded Rectangle 12"/>
              <p:cNvSpPr/>
              <p:nvPr/>
            </p:nvSpPr>
            <p:spPr>
              <a:xfrm>
                <a:off x="0" y="1049361"/>
                <a:ext cx="7271676" cy="894424"/>
              </a:xfrm>
              <a:prstGeom prst="roundRect">
                <a:avLst>
                  <a:gd name="adj" fmla="val 16667"/>
                </a:avLst>
              </a:prstGeom>
              <a:solidFill>
                <a:srgbClr val="B8E6F5"/>
              </a:solidFill>
              <a:ln>
                <a:noFill/>
              </a:ln>
              <a:effectLst>
                <a:outerShdw blurRad="50800" dist="38100" dir="2700000" algn="tl" rotWithShape="0">
                  <a:prstClr val="black">
                    <a:alpha val="40000"/>
                  </a:prstClr>
                </a:outerShdw>
              </a:effectLst>
            </p:spPr>
            <p:txBody>
              <a:bodyPr spcFirstLastPara="1" wrap="square" lIns="91425" tIns="108000" rIns="91425" bIns="0" anchor="ctr" anchorCtr="0">
                <a:spAutoFit/>
              </a:bodyPr>
              <a:lstStyle/>
              <a:p>
                <a:pPr marL="742950">
                  <a:spcAft>
                    <a:spcPts val="1000"/>
                  </a:spcAft>
                </a:pPr>
                <a:r>
                  <a:rPr lang="en-US" sz="2000" dirty="0">
                    <a:solidFill>
                      <a:srgbClr val="0075BF"/>
                    </a:solidFill>
                    <a:latin typeface="Verdana" panose="020B0604030504040204" pitchFamily="34" charset="0"/>
                    <a:ea typeface="Verdana" panose="020B0604030504040204" pitchFamily="34" charset="0"/>
                    <a:cs typeface="Verdana" panose="020B0604030504040204" pitchFamily="34" charset="0"/>
                  </a:rPr>
                  <a:t>When determining whether two quantities have a proportional relationship from a table, </a:t>
                </a:r>
                <a:r>
                  <a:rPr lang="en-US" sz="2000" b="1" dirty="0">
                    <a:solidFill>
                      <a:srgbClr val="0075BF"/>
                    </a:solidFill>
                    <a:latin typeface="Verdana" panose="020B0604030504040204" pitchFamily="34" charset="0"/>
                    <a:ea typeface="Verdana" panose="020B0604030504040204" pitchFamily="34" charset="0"/>
                    <a:cs typeface="Verdana" panose="020B0604030504040204" pitchFamily="34" charset="0"/>
                  </a:rPr>
                  <a:t>check</a:t>
                </a:r>
                <a:r>
                  <a:rPr lang="en-US" sz="2000" dirty="0">
                    <a:solidFill>
                      <a:srgbClr val="0075BF"/>
                    </a:solidFill>
                    <a:latin typeface="Verdana" panose="020B0604030504040204" pitchFamily="34" charset="0"/>
                    <a:ea typeface="Verdana" panose="020B0604030504040204" pitchFamily="34" charset="0"/>
                    <a:cs typeface="Verdana" panose="020B0604030504040204" pitchFamily="34" charset="0"/>
                  </a:rPr>
                  <a:t> </a:t>
                </a:r>
                <a:r>
                  <a:rPr lang="en-US" sz="2000" b="1" dirty="0">
                    <a:solidFill>
                      <a:srgbClr val="0075BF"/>
                    </a:solidFill>
                    <a:latin typeface="Verdana" panose="020B0604030504040204" pitchFamily="34" charset="0"/>
                    <a:ea typeface="Verdana" panose="020B0604030504040204" pitchFamily="34" charset="0"/>
                    <a:cs typeface="Verdana" panose="020B0604030504040204" pitchFamily="34" charset="0"/>
                  </a:rPr>
                  <a:t>every pair of values</a:t>
                </a:r>
                <a:r>
                  <a:rPr lang="en-US" sz="2000" dirty="0">
                    <a:solidFill>
                      <a:srgbClr val="0075BF"/>
                    </a:solidFill>
                    <a:latin typeface="Verdana" panose="020B0604030504040204" pitchFamily="34" charset="0"/>
                    <a:ea typeface="Verdana" panose="020B0604030504040204" pitchFamily="34" charset="0"/>
                    <a:cs typeface="Verdana" panose="020B0604030504040204" pitchFamily="34" charset="0"/>
                  </a:rPr>
                  <a:t> in the table to determine if the ratios between them are all equivalent.</a:t>
                </a:r>
                <a:endParaRPr lang="en-US" sz="2000" dirty="0">
                  <a:latin typeface="Cambria" panose="02040503050406030204" pitchFamily="18" charset="0"/>
                  <a:ea typeface="Times New Roman" panose="02020603050405020304" pitchFamily="18" charset="0"/>
                  <a:cs typeface="Times New Roman" panose="02020603050405020304" pitchFamily="18" charset="0"/>
                </a:endParaRPr>
              </a:p>
            </p:txBody>
          </p:sp>
        </p:grpSp>
        <p:pic>
          <p:nvPicPr>
            <p:cNvPr id="9" name="image15.png" descr="Icon&#10;&#10;Description automatically generated"/>
            <p:cNvPicPr/>
            <p:nvPr/>
          </p:nvPicPr>
          <p:blipFill>
            <a:blip r:embed="rId4" cstate="screen">
              <a:extLst>
                <a:ext uri="{28A0092B-C50C-407E-A947-70E740481C1C}">
                  <a14:useLocalDpi xmlns:a14="http://schemas.microsoft.com/office/drawing/2010/main"/>
                </a:ext>
              </a:extLst>
            </a:blip>
            <a:srcRect/>
            <a:stretch>
              <a:fillRect/>
            </a:stretch>
          </p:blipFill>
          <p:spPr>
            <a:xfrm>
              <a:off x="164290" y="1840916"/>
              <a:ext cx="539750" cy="539750"/>
            </a:xfrm>
            <a:prstGeom prst="rect">
              <a:avLst/>
            </a:prstGeom>
            <a:ln/>
            <a:effectLst>
              <a:outerShdw blurRad="50800" dist="38100" dir="2700000" algn="tl" rotWithShape="0">
                <a:prstClr val="black">
                  <a:alpha val="40000"/>
                </a:prstClr>
              </a:outerShdw>
            </a:effectLst>
          </p:spPr>
        </p:pic>
      </p:grpSp>
      <p:sp>
        <p:nvSpPr>
          <p:cNvPr id="15" name="Google Shape;282;g104476d1465_1_17"/>
          <p:cNvSpPr txBox="1"/>
          <p:nvPr/>
        </p:nvSpPr>
        <p:spPr>
          <a:xfrm>
            <a:off x="8949760" y="65213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171</a:t>
            </a:r>
            <a:endParaRPr i="1" dirty="0">
              <a:latin typeface="Calibri"/>
              <a:ea typeface="Calibri"/>
              <a:cs typeface="Calibri"/>
              <a:sym typeface="Calibri"/>
            </a:endParaRPr>
          </a:p>
        </p:txBody>
      </p:sp>
      <p:pic>
        <p:nvPicPr>
          <p:cNvPr id="16"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583760" y="6165087"/>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9538563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Instruction</a:t>
            </a:r>
            <a:endParaRPr sz="5100" b="1" dirty="0">
              <a:solidFill>
                <a:srgbClr val="54B5D1"/>
              </a:solidFill>
              <a:latin typeface="Verdana"/>
              <a:ea typeface="Verdana"/>
              <a:cs typeface="Verdana"/>
              <a:sym typeface="Verdana"/>
            </a:endParaRPr>
          </a:p>
        </p:txBody>
      </p:sp>
      <p:pic>
        <p:nvPicPr>
          <p:cNvPr id="7" name="Google Shape;338;g103996e1364_0_315">
            <a:extLst>
              <a:ext uri="{FF2B5EF4-FFF2-40B4-BE49-F238E27FC236}">
                <a16:creationId xmlns:a16="http://schemas.microsoft.com/office/drawing/2014/main" xmlns="" id="{2AC58C8F-2DD8-F347-9ECA-58EE9E1B7E9C}"/>
              </a:ext>
            </a:extLst>
          </p:cNvPr>
          <p:cNvPicPr preferRelativeResize="0"/>
          <p:nvPr/>
        </p:nvPicPr>
        <p:blipFill rotWithShape="1">
          <a:blip r:embed="rId3">
            <a:alphaModFix/>
          </a:blip>
          <a:srcRect/>
          <a:stretch/>
        </p:blipFill>
        <p:spPr>
          <a:xfrm>
            <a:off x="4519075" y="2849920"/>
            <a:ext cx="1145792" cy="1158150"/>
          </a:xfrm>
          <a:prstGeom prst="rect">
            <a:avLst/>
          </a:prstGeom>
          <a:noFill/>
          <a:ln>
            <a:noFill/>
          </a:ln>
          <a:effectLst>
            <a:outerShdw blurRad="50800" dist="38100" dir="2700000" algn="tl" rotWithShape="0">
              <a:prstClr val="black">
                <a:alpha val="40000"/>
              </a:prstClr>
            </a:outerShdw>
          </a:effectLst>
        </p:spPr>
      </p:pic>
      <p:sp>
        <p:nvSpPr>
          <p:cNvPr id="8" name="Google Shape;282;g104476d1465_1_17"/>
          <p:cNvSpPr txBox="1"/>
          <p:nvPr/>
        </p:nvSpPr>
        <p:spPr>
          <a:xfrm>
            <a:off x="8949760" y="65213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172</a:t>
            </a:r>
            <a:endParaRPr i="1" dirty="0">
              <a:latin typeface="Calibri"/>
              <a:ea typeface="Calibri"/>
              <a:cs typeface="Calibri"/>
              <a:sym typeface="Calibri"/>
            </a:endParaRP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83760" y="6165087"/>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7026124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343;g103996e1364_0_321">
            <a:extLst>
              <a:ext uri="{FF2B5EF4-FFF2-40B4-BE49-F238E27FC236}">
                <a16:creationId xmlns:a16="http://schemas.microsoft.com/office/drawing/2014/main" xmlns="" id="{21B1DF8E-16A0-FA4E-8CEB-434668DFA68D}"/>
              </a:ext>
            </a:extLst>
          </p:cNvPr>
          <p:cNvSpPr txBox="1">
            <a:spLocks/>
          </p:cNvSpPr>
          <p:nvPr/>
        </p:nvSpPr>
        <p:spPr>
          <a:xfrm>
            <a:off x="1156914" y="101396"/>
            <a:ext cx="108000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2800" b="1" dirty="0">
                <a:solidFill>
                  <a:srgbClr val="54B5D1"/>
                </a:solidFill>
                <a:latin typeface="Verdana"/>
                <a:ea typeface="Verdana"/>
                <a:cs typeface="Verdana"/>
                <a:sym typeface="Verdana"/>
              </a:rPr>
              <a:t>11.5.3 Guided Instruction: Determining If </a:t>
            </a:r>
            <a:r>
              <a:rPr lang="en-US" sz="2800" b="1" dirty="0" smtClean="0">
                <a:solidFill>
                  <a:srgbClr val="54B5D1"/>
                </a:solidFill>
                <a:latin typeface="Verdana"/>
                <a:ea typeface="Verdana"/>
                <a:cs typeface="Verdana"/>
                <a:sym typeface="Verdana"/>
              </a:rPr>
              <a:t/>
            </a:r>
            <a:br>
              <a:rPr lang="en-US" sz="2800" b="1" dirty="0" smtClean="0">
                <a:solidFill>
                  <a:srgbClr val="54B5D1"/>
                </a:solidFill>
                <a:latin typeface="Verdana"/>
                <a:ea typeface="Verdana"/>
                <a:cs typeface="Verdana"/>
                <a:sym typeface="Verdana"/>
              </a:rPr>
            </a:br>
            <a:r>
              <a:rPr lang="en-US" sz="2800" b="1" dirty="0" smtClean="0">
                <a:solidFill>
                  <a:srgbClr val="54B5D1"/>
                </a:solidFill>
                <a:latin typeface="Verdana"/>
                <a:ea typeface="Verdana"/>
                <a:cs typeface="Verdana"/>
                <a:sym typeface="Verdana"/>
              </a:rPr>
              <a:t>a </a:t>
            </a:r>
            <a:r>
              <a:rPr lang="en-US" sz="2800" b="1" dirty="0">
                <a:solidFill>
                  <a:srgbClr val="54B5D1"/>
                </a:solidFill>
                <a:latin typeface="Verdana"/>
                <a:ea typeface="Verdana"/>
                <a:cs typeface="Verdana"/>
                <a:sym typeface="Verdana"/>
              </a:rPr>
              <a:t>Relationship Is Proportional from a </a:t>
            </a:r>
            <a:r>
              <a:rPr lang="en-US" sz="2800" b="1" dirty="0" smtClean="0">
                <a:solidFill>
                  <a:srgbClr val="54B5D1"/>
                </a:solidFill>
                <a:latin typeface="Verdana"/>
                <a:ea typeface="Verdana"/>
                <a:cs typeface="Verdana"/>
                <a:sym typeface="Verdana"/>
              </a:rPr>
              <a:t/>
            </a:r>
            <a:br>
              <a:rPr lang="en-US" sz="2800" b="1" dirty="0" smtClean="0">
                <a:solidFill>
                  <a:srgbClr val="54B5D1"/>
                </a:solidFill>
                <a:latin typeface="Verdana"/>
                <a:ea typeface="Verdana"/>
                <a:cs typeface="Verdana"/>
                <a:sym typeface="Verdana"/>
              </a:rPr>
            </a:br>
            <a:r>
              <a:rPr lang="en-US" sz="2800" b="1" dirty="0" smtClean="0">
                <a:solidFill>
                  <a:srgbClr val="54B5D1"/>
                </a:solidFill>
                <a:latin typeface="Verdana"/>
                <a:ea typeface="Verdana"/>
                <a:cs typeface="Verdana"/>
                <a:sym typeface="Verdana"/>
              </a:rPr>
              <a:t>Written </a:t>
            </a:r>
            <a:r>
              <a:rPr lang="en-US" sz="2800" b="1" dirty="0">
                <a:solidFill>
                  <a:srgbClr val="54B5D1"/>
                </a:solidFill>
                <a:latin typeface="Verdana"/>
                <a:ea typeface="Verdana"/>
                <a:cs typeface="Verdana"/>
                <a:sym typeface="Verdana"/>
              </a:rPr>
              <a:t>Description</a:t>
            </a:r>
          </a:p>
        </p:txBody>
      </p:sp>
      <p:pic>
        <p:nvPicPr>
          <p:cNvPr id="9" name="Google Shape;345;g103996e1364_0_321">
            <a:extLst>
              <a:ext uri="{FF2B5EF4-FFF2-40B4-BE49-F238E27FC236}">
                <a16:creationId xmlns:a16="http://schemas.microsoft.com/office/drawing/2014/main" xmlns="" id="{CBDD45DF-949B-9F42-BFF6-A7167F0CF795}"/>
              </a:ext>
            </a:extLst>
          </p:cNvPr>
          <p:cNvPicPr preferRelativeResize="0"/>
          <p:nvPr/>
        </p:nvPicPr>
        <p:blipFill rotWithShape="1">
          <a:blip r:embed="rId3">
            <a:alphaModFix/>
          </a:blip>
          <a:srcRect/>
          <a:stretch/>
        </p:blipFill>
        <p:spPr>
          <a:xfrm>
            <a:off x="324996" y="390596"/>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mc:Choice xmlns:a14="http://schemas.microsoft.com/office/drawing/2010/main" Requires="a14">
          <p:sp>
            <p:nvSpPr>
              <p:cNvPr id="13" name="TextBox 12">
                <a:extLst>
                  <a:ext uri="{FF2B5EF4-FFF2-40B4-BE49-F238E27FC236}">
                    <a16:creationId xmlns:a16="http://schemas.microsoft.com/office/drawing/2014/main" xmlns="" id="{C01B13E8-EC8D-E443-A329-C5E3593DD13A}"/>
                  </a:ext>
                </a:extLst>
              </p:cNvPr>
              <p:cNvSpPr txBox="1"/>
              <p:nvPr/>
            </p:nvSpPr>
            <p:spPr>
              <a:xfrm>
                <a:off x="532226" y="1545818"/>
                <a:ext cx="10800000" cy="4339650"/>
              </a:xfrm>
              <a:prstGeom prst="rect">
                <a:avLst/>
              </a:prstGeom>
              <a:noFill/>
            </p:spPr>
            <p:txBody>
              <a:bodyPr wrap="square" rtlCol="0">
                <a:spAutoFit/>
              </a:bodyPr>
              <a:lstStyle/>
              <a:p>
                <a:r>
                  <a:rPr lang="en-US" sz="2300" dirty="0">
                    <a:latin typeface="Verdana" panose="020B0604030504040204" pitchFamily="34" charset="0"/>
                    <a:ea typeface="Verdana" panose="020B0604030504040204" pitchFamily="34" charset="0"/>
                    <a:cs typeface="Verdana" panose="020B0604030504040204" pitchFamily="34" charset="0"/>
                  </a:rPr>
                  <a:t>To determine if a relationship is proportional from a written description, identify pairs of values that are part of the relationship based on the information given. It is helpful to consider at least </a:t>
                </a:r>
                <a14:m>
                  <m:oMath xmlns:m="http://schemas.openxmlformats.org/officeDocument/2006/math">
                    <m:r>
                      <a:rPr lang="en-US" sz="2300" i="1">
                        <a:latin typeface="Cambria Math" panose="02040503050406030204" pitchFamily="18" charset="0"/>
                        <a:ea typeface="Cambria Math" panose="02040503050406030204" pitchFamily="18" charset="0"/>
                      </a:rPr>
                      <m:t>3</m:t>
                    </m:r>
                  </m:oMath>
                </a14:m>
                <a:r>
                  <a:rPr lang="en-US" sz="2300" dirty="0">
                    <a:latin typeface="Verdana" panose="020B0604030504040204" pitchFamily="34" charset="0"/>
                    <a:ea typeface="Verdana" panose="020B0604030504040204" pitchFamily="34" charset="0"/>
                    <a:cs typeface="Verdana" panose="020B0604030504040204" pitchFamily="34" charset="0"/>
                  </a:rPr>
                  <a:t> or </a:t>
                </a:r>
                <a14:m>
                  <m:oMath xmlns:m="http://schemas.openxmlformats.org/officeDocument/2006/math">
                    <m:r>
                      <a:rPr lang="en-US" sz="2300" i="1">
                        <a:latin typeface="Cambria Math" panose="02040503050406030204" pitchFamily="18" charset="0"/>
                        <a:ea typeface="Cambria Math" panose="02040503050406030204" pitchFamily="18" charset="0"/>
                      </a:rPr>
                      <m:t>4</m:t>
                    </m:r>
                  </m:oMath>
                </a14:m>
                <a:r>
                  <a:rPr lang="en-US" sz="2300" dirty="0">
                    <a:latin typeface="Verdana" panose="020B0604030504040204" pitchFamily="34" charset="0"/>
                    <a:ea typeface="Verdana" panose="020B0604030504040204" pitchFamily="34" charset="0"/>
                    <a:cs typeface="Verdana" panose="020B0604030504040204" pitchFamily="34" charset="0"/>
                  </a:rPr>
                  <a:t> pairs of values, if possible.</a:t>
                </a:r>
              </a:p>
              <a:p>
                <a:r>
                  <a:rPr lang="en-US" sz="2300" dirty="0">
                    <a:latin typeface="Verdana" panose="020B0604030504040204" pitchFamily="34" charset="0"/>
                    <a:ea typeface="Verdana" panose="020B0604030504040204" pitchFamily="34" charset="0"/>
                    <a:cs typeface="Verdana" panose="020B0604030504040204" pitchFamily="34" charset="0"/>
                  </a:rPr>
                  <a:t> </a:t>
                </a:r>
              </a:p>
              <a:p>
                <a:pPr marL="457200" indent="-457200">
                  <a:buFont typeface="+mj-lt"/>
                  <a:buAutoNum type="arabicPeriod"/>
                </a:pPr>
                <a:r>
                  <a:rPr lang="en-US" sz="2300" dirty="0">
                    <a:latin typeface="Verdana" panose="020B0604030504040204" pitchFamily="34" charset="0"/>
                    <a:ea typeface="Verdana" panose="020B0604030504040204" pitchFamily="34" charset="0"/>
                    <a:cs typeface="Verdana" panose="020B0604030504040204" pitchFamily="34" charset="0"/>
                  </a:rPr>
                  <a:t>The cooking time needed when using a pressure cooker changes depending on the elevation above sea level. Cooking time should be increased by </a:t>
                </a:r>
                <a14:m>
                  <m:oMath xmlns:m="http://schemas.openxmlformats.org/officeDocument/2006/math">
                    <m:r>
                      <a:rPr lang="en-US" sz="2300" i="1">
                        <a:latin typeface="Cambria Math" panose="02040503050406030204" pitchFamily="18" charset="0"/>
                        <a:ea typeface="Cambria Math" panose="02040503050406030204" pitchFamily="18" charset="0"/>
                      </a:rPr>
                      <m:t>5</m:t>
                    </m:r>
                  </m:oMath>
                </a14:m>
                <a:r>
                  <a:rPr lang="en-US" sz="2300" dirty="0">
                    <a:latin typeface="Verdana" panose="020B0604030504040204" pitchFamily="34" charset="0"/>
                    <a:ea typeface="Verdana" panose="020B0604030504040204" pitchFamily="34" charset="0"/>
                    <a:cs typeface="Verdana" panose="020B0604030504040204" pitchFamily="34" charset="0"/>
                  </a:rPr>
                  <a:t> percent for every </a:t>
                </a:r>
                <a14:m>
                  <m:oMath xmlns:m="http://schemas.openxmlformats.org/officeDocument/2006/math">
                    <m:r>
                      <a:rPr lang="en-US" sz="2300" i="1">
                        <a:latin typeface="Cambria Math" panose="02040503050406030204" pitchFamily="18" charset="0"/>
                        <a:ea typeface="Cambria Math" panose="02040503050406030204" pitchFamily="18" charset="0"/>
                      </a:rPr>
                      <m:t>1,000</m:t>
                    </m:r>
                  </m:oMath>
                </a14:m>
                <a:r>
                  <a:rPr lang="en-US" sz="2300" dirty="0">
                    <a:latin typeface="Verdana" panose="020B0604030504040204" pitchFamily="34" charset="0"/>
                    <a:ea typeface="Verdana" panose="020B0604030504040204" pitchFamily="34" charset="0"/>
                    <a:cs typeface="Verdana" panose="020B0604030504040204" pitchFamily="34" charset="0"/>
                  </a:rPr>
                  <a:t> feet (</a:t>
                </a:r>
                <a:r>
                  <a:rPr lang="en-US" sz="2300" dirty="0" err="1">
                    <a:latin typeface="Verdana" panose="020B0604030504040204" pitchFamily="34" charset="0"/>
                    <a:ea typeface="Verdana" panose="020B0604030504040204" pitchFamily="34" charset="0"/>
                    <a:cs typeface="Verdana" panose="020B0604030504040204" pitchFamily="34" charset="0"/>
                  </a:rPr>
                  <a:t>ft</a:t>
                </a:r>
                <a:r>
                  <a:rPr lang="en-US" sz="2300" dirty="0">
                    <a:latin typeface="Verdana" panose="020B0604030504040204" pitchFamily="34" charset="0"/>
                    <a:ea typeface="Verdana" panose="020B0604030504040204" pitchFamily="34" charset="0"/>
                    <a:cs typeface="Verdana" panose="020B0604030504040204" pitchFamily="34" charset="0"/>
                  </a:rPr>
                  <a:t>) after </a:t>
                </a:r>
                <a14:m>
                  <m:oMath xmlns:m="http://schemas.openxmlformats.org/officeDocument/2006/math">
                    <m:r>
                      <a:rPr lang="en-US" sz="2300" i="1">
                        <a:latin typeface="Cambria Math" panose="02040503050406030204" pitchFamily="18" charset="0"/>
                        <a:ea typeface="Cambria Math" panose="02040503050406030204" pitchFamily="18" charset="0"/>
                      </a:rPr>
                      <m:t>2,000</m:t>
                    </m:r>
                  </m:oMath>
                </a14:m>
                <a:r>
                  <a:rPr lang="en-US" sz="2300" dirty="0">
                    <a:latin typeface="Verdana" panose="020B0604030504040204" pitchFamily="34" charset="0"/>
                    <a:ea typeface="Verdana" panose="020B0604030504040204" pitchFamily="34" charset="0"/>
                    <a:cs typeface="Verdana" panose="020B0604030504040204" pitchFamily="34" charset="0"/>
                  </a:rPr>
                  <a:t> </a:t>
                </a:r>
                <a:r>
                  <a:rPr lang="en-US" sz="2300" dirty="0" err="1">
                    <a:latin typeface="Verdana" panose="020B0604030504040204" pitchFamily="34" charset="0"/>
                    <a:ea typeface="Verdana" panose="020B0604030504040204" pitchFamily="34" charset="0"/>
                    <a:cs typeface="Verdana" panose="020B0604030504040204" pitchFamily="34" charset="0"/>
                  </a:rPr>
                  <a:t>ft</a:t>
                </a:r>
                <a:r>
                  <a:rPr lang="en-US" sz="2300" dirty="0">
                    <a:latin typeface="Verdana" panose="020B0604030504040204" pitchFamily="34" charset="0"/>
                    <a:ea typeface="Verdana" panose="020B0604030504040204" pitchFamily="34" charset="0"/>
                    <a:cs typeface="Verdana" panose="020B0604030504040204" pitchFamily="34" charset="0"/>
                  </a:rPr>
                  <a:t> above sea level.</a:t>
                </a:r>
              </a:p>
              <a:p>
                <a:r>
                  <a:rPr lang="en-US" sz="2300" dirty="0">
                    <a:latin typeface="Verdana" panose="020B0604030504040204" pitchFamily="34" charset="0"/>
                    <a:ea typeface="Verdana" panose="020B0604030504040204" pitchFamily="34" charset="0"/>
                    <a:cs typeface="Verdana" panose="020B0604030504040204" pitchFamily="34" charset="0"/>
                  </a:rPr>
                  <a:t> </a:t>
                </a:r>
              </a:p>
              <a:p>
                <a:pPr marL="914400" lvl="1" indent="-457200">
                  <a:buFont typeface="+mj-lt"/>
                  <a:buAutoNum type="alphaLcPeriod"/>
                </a:pPr>
                <a:r>
                  <a:rPr lang="en-US" sz="2300" dirty="0">
                    <a:latin typeface="Verdana" panose="020B0604030504040204" pitchFamily="34" charset="0"/>
                    <a:ea typeface="Verdana" panose="020B0604030504040204" pitchFamily="34" charset="0"/>
                    <a:cs typeface="Verdana" panose="020B0604030504040204" pitchFamily="34" charset="0"/>
                  </a:rPr>
                  <a:t>By what percentage should the cooking time be increased when cooking at an elevation of </a:t>
                </a:r>
                <a14:m>
                  <m:oMath xmlns:m="http://schemas.openxmlformats.org/officeDocument/2006/math">
                    <m:r>
                      <a:rPr lang="en-US" sz="2300" i="1">
                        <a:latin typeface="Cambria Math" panose="02040503050406030204" pitchFamily="18" charset="0"/>
                        <a:ea typeface="Cambria Math" panose="02040503050406030204" pitchFamily="18" charset="0"/>
                      </a:rPr>
                      <m:t>1,000</m:t>
                    </m:r>
                  </m:oMath>
                </a14:m>
                <a:r>
                  <a:rPr lang="en-US" sz="2300" dirty="0">
                    <a:latin typeface="Verdana" panose="020B0604030504040204" pitchFamily="34" charset="0"/>
                    <a:ea typeface="Verdana" panose="020B0604030504040204" pitchFamily="34" charset="0"/>
                    <a:cs typeface="Verdana" panose="020B0604030504040204" pitchFamily="34" charset="0"/>
                  </a:rPr>
                  <a:t> </a:t>
                </a:r>
                <a:r>
                  <a:rPr lang="en-US" sz="2300" dirty="0" err="1">
                    <a:latin typeface="Verdana" panose="020B0604030504040204" pitchFamily="34" charset="0"/>
                    <a:ea typeface="Verdana" panose="020B0604030504040204" pitchFamily="34" charset="0"/>
                    <a:cs typeface="Verdana" panose="020B0604030504040204" pitchFamily="34" charset="0"/>
                  </a:rPr>
                  <a:t>ft</a:t>
                </a:r>
                <a:r>
                  <a:rPr lang="en-US" sz="2300" dirty="0">
                    <a:latin typeface="Verdana" panose="020B0604030504040204" pitchFamily="34" charset="0"/>
                    <a:ea typeface="Verdana" panose="020B0604030504040204" pitchFamily="34" charset="0"/>
                    <a:cs typeface="Verdana" panose="020B0604030504040204" pitchFamily="34" charset="0"/>
                  </a:rPr>
                  <a:t>?</a:t>
                </a:r>
              </a:p>
            </p:txBody>
          </p:sp>
        </mc:Choice>
        <mc:Fallback>
          <p:sp>
            <p:nvSpPr>
              <p:cNvPr id="13" name="TextBox 12">
                <a:extLst>
                  <a:ext uri="{FF2B5EF4-FFF2-40B4-BE49-F238E27FC236}">
                    <a16:creationId xmlns:a16="http://schemas.microsoft.com/office/drawing/2014/main" xmlns:a14="http://schemas.microsoft.com/office/drawing/2010/main" xmlns="" id="{C01B13E8-EC8D-E443-A329-C5E3593DD13A}"/>
                  </a:ext>
                </a:extLst>
              </p:cNvPr>
              <p:cNvSpPr txBox="1">
                <a:spLocks noRot="1" noChangeAspect="1" noMove="1" noResize="1" noEditPoints="1" noAdjustHandles="1" noChangeArrowheads="1" noChangeShapeType="1" noTextEdit="1"/>
              </p:cNvSpPr>
              <p:nvPr/>
            </p:nvSpPr>
            <p:spPr>
              <a:xfrm>
                <a:off x="532226" y="1545818"/>
                <a:ext cx="10800000" cy="4339650"/>
              </a:xfrm>
              <a:prstGeom prst="rect">
                <a:avLst/>
              </a:prstGeom>
              <a:blipFill rotWithShape="1">
                <a:blip r:embed="rId4"/>
                <a:stretch>
                  <a:fillRect l="-790" t="-985" r="-1467" b="-2110"/>
                </a:stretch>
              </a:blipFill>
            </p:spPr>
            <p:txBody>
              <a:bodyPr/>
              <a:lstStyle/>
              <a:p>
                <a:r>
                  <a:rPr lang="en-PH">
                    <a:noFill/>
                  </a:rPr>
                  <a:t> </a:t>
                </a:r>
              </a:p>
            </p:txBody>
          </p:sp>
        </mc:Fallback>
      </mc:AlternateContent>
      <p:sp>
        <p:nvSpPr>
          <p:cNvPr id="10" name="Google Shape;282;g104476d1465_1_17"/>
          <p:cNvSpPr txBox="1"/>
          <p:nvPr/>
        </p:nvSpPr>
        <p:spPr>
          <a:xfrm>
            <a:off x="8949760" y="65213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172</a:t>
            </a:r>
            <a:endParaRPr i="1" dirty="0">
              <a:latin typeface="Calibri"/>
              <a:ea typeface="Calibri"/>
              <a:cs typeface="Calibri"/>
              <a:sym typeface="Calibri"/>
            </a:endParaRPr>
          </a:p>
        </p:txBody>
      </p:sp>
      <p:pic>
        <p:nvPicPr>
          <p:cNvPr id="11"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583760" y="6165087"/>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9024578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xmlns="" id="{8AE5E1E0-A54D-BE42-84B5-F917038ADE99}"/>
                  </a:ext>
                </a:extLst>
              </p:cNvPr>
              <p:cNvSpPr txBox="1"/>
              <p:nvPr/>
            </p:nvSpPr>
            <p:spPr>
              <a:xfrm>
                <a:off x="532779" y="377521"/>
                <a:ext cx="10800000" cy="4893647"/>
              </a:xfrm>
              <a:prstGeom prst="rect">
                <a:avLst/>
              </a:prstGeom>
              <a:noFill/>
            </p:spPr>
            <p:txBody>
              <a:bodyPr wrap="square" rtlCol="0">
                <a:spAutoFit/>
              </a:bodyPr>
              <a:lstStyle/>
              <a:p>
                <a:pPr marL="914400" lvl="1" indent="-457200">
                  <a:buFont typeface="+mj-lt"/>
                  <a:buAutoNum type="alphaLcPeriod" startAt="2"/>
                </a:pPr>
                <a:r>
                  <a:rPr lang="en-US" sz="2400" dirty="0">
                    <a:latin typeface="Verdana" panose="020B0604030504040204" pitchFamily="34" charset="0"/>
                    <a:ea typeface="Verdana" panose="020B0604030504040204" pitchFamily="34" charset="0"/>
                    <a:cs typeface="Verdana" panose="020B0604030504040204" pitchFamily="34" charset="0"/>
                  </a:rPr>
                  <a:t>By what percentage should the cooking time be increased when cooking at an elevation of </a:t>
                </a:r>
                <a14:m>
                  <m:oMath xmlns:m="http://schemas.openxmlformats.org/officeDocument/2006/math">
                    <m:r>
                      <a:rPr lang="en-US" sz="2400" i="1">
                        <a:latin typeface="Cambria Math" panose="02040503050406030204" pitchFamily="18" charset="0"/>
                        <a:ea typeface="Cambria Math" panose="02040503050406030204" pitchFamily="18" charset="0"/>
                      </a:rPr>
                      <m:t>2,000</m:t>
                    </m:r>
                  </m:oMath>
                </a14:m>
                <a:r>
                  <a:rPr lang="en-US" sz="2400" dirty="0">
                    <a:latin typeface="Verdana" panose="020B0604030504040204" pitchFamily="34" charset="0"/>
                    <a:ea typeface="Verdana" panose="020B0604030504040204" pitchFamily="34" charset="0"/>
                    <a:cs typeface="Verdana" panose="020B0604030504040204" pitchFamily="34" charset="0"/>
                  </a:rPr>
                  <a:t> </a:t>
                </a:r>
                <a:r>
                  <a:rPr lang="en-US" sz="2400" dirty="0" err="1">
                    <a:latin typeface="Verdana" panose="020B0604030504040204" pitchFamily="34" charset="0"/>
                    <a:ea typeface="Verdana" panose="020B0604030504040204" pitchFamily="34" charset="0"/>
                    <a:cs typeface="Verdana" panose="020B0604030504040204" pitchFamily="34" charset="0"/>
                  </a:rPr>
                  <a:t>ft</a:t>
                </a:r>
                <a:r>
                  <a:rPr lang="en-US" sz="2400" dirty="0">
                    <a:latin typeface="Verdana" panose="020B0604030504040204" pitchFamily="34" charset="0"/>
                    <a:ea typeface="Verdana" panose="020B0604030504040204" pitchFamily="34" charset="0"/>
                    <a:cs typeface="Verdana" panose="020B0604030504040204" pitchFamily="34" charset="0"/>
                  </a:rPr>
                  <a:t>? </a:t>
                </a:r>
              </a:p>
              <a:p>
                <a:pPr marL="914400" lvl="1" indent="-457200">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lvl="1" indent="-457200">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lvl="1" indent="-457200">
                  <a:buFont typeface="+mj-lt"/>
                  <a:buAutoNum type="alphaLcPeriod" startAt="2"/>
                </a:pPr>
                <a:r>
                  <a:rPr lang="en-US" sz="2400" dirty="0">
                    <a:latin typeface="Verdana" panose="020B0604030504040204" pitchFamily="34" charset="0"/>
                    <a:ea typeface="Verdana" panose="020B0604030504040204" pitchFamily="34" charset="0"/>
                    <a:cs typeface="Verdana" panose="020B0604030504040204" pitchFamily="34" charset="0"/>
                  </a:rPr>
                  <a:t>By what percentage should the cooking time be increased when cooking at an elevation of </a:t>
                </a:r>
                <a14:m>
                  <m:oMath xmlns:m="http://schemas.openxmlformats.org/officeDocument/2006/math">
                    <m:r>
                      <a:rPr lang="en-US" sz="2400" i="1">
                        <a:latin typeface="Cambria Math" panose="02040503050406030204" pitchFamily="18" charset="0"/>
                        <a:ea typeface="Cambria Math" panose="02040503050406030204" pitchFamily="18" charset="0"/>
                      </a:rPr>
                      <m:t>3,000</m:t>
                    </m:r>
                  </m:oMath>
                </a14:m>
                <a:r>
                  <a:rPr lang="en-US" sz="2400" dirty="0">
                    <a:latin typeface="Verdana" panose="020B0604030504040204" pitchFamily="34" charset="0"/>
                    <a:ea typeface="Verdana" panose="020B0604030504040204" pitchFamily="34" charset="0"/>
                    <a:cs typeface="Verdana" panose="020B0604030504040204" pitchFamily="34" charset="0"/>
                  </a:rPr>
                  <a:t> </a:t>
                </a:r>
                <a:r>
                  <a:rPr lang="en-US" sz="2400" dirty="0" err="1">
                    <a:latin typeface="Verdana" panose="020B0604030504040204" pitchFamily="34" charset="0"/>
                    <a:ea typeface="Verdana" panose="020B0604030504040204" pitchFamily="34" charset="0"/>
                    <a:cs typeface="Verdana" panose="020B0604030504040204" pitchFamily="34" charset="0"/>
                  </a:rPr>
                  <a:t>ft</a:t>
                </a:r>
                <a:r>
                  <a:rPr lang="en-US" sz="2400" dirty="0">
                    <a:latin typeface="Verdana" panose="020B0604030504040204" pitchFamily="34" charset="0"/>
                    <a:ea typeface="Verdana" panose="020B0604030504040204" pitchFamily="34" charset="0"/>
                    <a:cs typeface="Verdana" panose="020B0604030504040204" pitchFamily="34" charset="0"/>
                  </a:rPr>
                  <a:t>?</a:t>
                </a:r>
              </a:p>
              <a:p>
                <a:pPr marL="914400" lvl="1" indent="-457200">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lvl="1" indent="-457200">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lvl="1" indent="-457200">
                  <a:buFont typeface="+mj-lt"/>
                  <a:buAutoNum type="alphaLcPeriod" startAt="2"/>
                </a:pPr>
                <a:r>
                  <a:rPr lang="en-US" sz="2400" dirty="0">
                    <a:latin typeface="Verdana" panose="020B0604030504040204" pitchFamily="34" charset="0"/>
                    <a:ea typeface="Verdana" panose="020B0604030504040204" pitchFamily="34" charset="0"/>
                    <a:cs typeface="Verdana" panose="020B0604030504040204" pitchFamily="34" charset="0"/>
                  </a:rPr>
                  <a:t>Write the ratio of percentage increase to elevation in cooking time from Parts A-C.</a:t>
                </a:r>
              </a:p>
              <a:p>
                <a:pPr marL="914400" lvl="1" indent="-457200">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lvl="1" indent="-457200">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lvl="1" indent="-457200">
                  <a:buFont typeface="+mj-lt"/>
                  <a:buAutoNum type="alphaLcPeriod" startAt="2"/>
                </a:pPr>
                <a:r>
                  <a:rPr lang="en-US" sz="2400" dirty="0">
                    <a:latin typeface="Verdana" panose="020B0604030504040204" pitchFamily="34" charset="0"/>
                    <a:ea typeface="Verdana" panose="020B0604030504040204" pitchFamily="34" charset="0"/>
                    <a:cs typeface="Verdana" panose="020B0604030504040204" pitchFamily="34" charset="0"/>
                  </a:rPr>
                  <a:t>Find the value of each ratio using a calculator.</a:t>
                </a:r>
              </a:p>
            </p:txBody>
          </p:sp>
        </mc:Choice>
        <mc:Fallback>
          <p:sp>
            <p:nvSpPr>
              <p:cNvPr id="5" name="TextBox 4">
                <a:extLst>
                  <a:ext uri="{FF2B5EF4-FFF2-40B4-BE49-F238E27FC236}">
                    <a16:creationId xmlns:a16="http://schemas.microsoft.com/office/drawing/2014/main" xmlns:a14="http://schemas.microsoft.com/office/drawing/2010/main" xmlns="" id="{8AE5E1E0-A54D-BE42-84B5-F917038ADE99}"/>
                  </a:ext>
                </a:extLst>
              </p:cNvPr>
              <p:cNvSpPr txBox="1">
                <a:spLocks noRot="1" noChangeAspect="1" noMove="1" noResize="1" noEditPoints="1" noAdjustHandles="1" noChangeArrowheads="1" noChangeShapeType="1" noTextEdit="1"/>
              </p:cNvSpPr>
              <p:nvPr/>
            </p:nvSpPr>
            <p:spPr>
              <a:xfrm>
                <a:off x="532779" y="377521"/>
                <a:ext cx="10800000" cy="4893647"/>
              </a:xfrm>
              <a:prstGeom prst="rect">
                <a:avLst/>
              </a:prstGeom>
              <a:blipFill rotWithShape="1">
                <a:blip r:embed="rId3"/>
                <a:stretch>
                  <a:fillRect t="-996" b="-1868"/>
                </a:stretch>
              </a:blipFill>
            </p:spPr>
            <p:txBody>
              <a:bodyPr/>
              <a:lstStyle/>
              <a:p>
                <a:r>
                  <a:rPr lang="en-PH">
                    <a:noFill/>
                  </a:rPr>
                  <a:t> </a:t>
                </a:r>
              </a:p>
            </p:txBody>
          </p:sp>
        </mc:Fallback>
      </mc:AlternateContent>
      <p:sp>
        <p:nvSpPr>
          <p:cNvPr id="7" name="Google Shape;282;g104476d1465_1_17"/>
          <p:cNvSpPr txBox="1"/>
          <p:nvPr/>
        </p:nvSpPr>
        <p:spPr>
          <a:xfrm>
            <a:off x="8949760" y="65213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172</a:t>
            </a:r>
            <a:endParaRPr i="1" dirty="0">
              <a:latin typeface="Calibri"/>
              <a:ea typeface="Calibri"/>
              <a:cs typeface="Calibri"/>
              <a:sym typeface="Calibri"/>
            </a:endParaRPr>
          </a:p>
        </p:txBody>
      </p:sp>
      <p:pic>
        <p:nvPicPr>
          <p:cNvPr id="8"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83760" y="6165087"/>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3938133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xmlns="" id="{8AE5E1E0-A54D-BE42-84B5-F917038ADE99}"/>
                  </a:ext>
                </a:extLst>
              </p:cNvPr>
              <p:cNvSpPr txBox="1"/>
              <p:nvPr/>
            </p:nvSpPr>
            <p:spPr>
              <a:xfrm>
                <a:off x="533860" y="377522"/>
                <a:ext cx="10800000" cy="4893647"/>
              </a:xfrm>
              <a:prstGeom prst="rect">
                <a:avLst/>
              </a:prstGeom>
              <a:noFill/>
            </p:spPr>
            <p:txBody>
              <a:bodyPr wrap="square" rtlCol="0">
                <a:spAutoFit/>
              </a:bodyPr>
              <a:lstStyle/>
              <a:p>
                <a:pPr marL="914400" lvl="1" indent="-457200">
                  <a:buFont typeface="+mj-lt"/>
                  <a:buAutoNum type="alphaLcPeriod" startAt="6"/>
                </a:pPr>
                <a:r>
                  <a:rPr lang="en-US" sz="2400" dirty="0">
                    <a:latin typeface="Verdana" panose="020B0604030504040204" pitchFamily="34" charset="0"/>
                    <a:ea typeface="Verdana" panose="020B0604030504040204" pitchFamily="34" charset="0"/>
                    <a:cs typeface="Verdana" panose="020B0604030504040204" pitchFamily="34" charset="0"/>
                  </a:rPr>
                  <a:t>Explain whether the relationship between the elevation and cooking time is proportional.</a:t>
                </a:r>
              </a:p>
              <a:p>
                <a:r>
                  <a:rPr lang="en-US" sz="2400" dirty="0">
                    <a:latin typeface="Verdana" panose="020B0604030504040204" pitchFamily="34" charset="0"/>
                    <a:ea typeface="Verdana" panose="020B0604030504040204" pitchFamily="34" charset="0"/>
                    <a:cs typeface="Verdana" panose="020B0604030504040204" pitchFamily="34" charset="0"/>
                  </a:rPr>
                  <a:t> </a:t>
                </a:r>
              </a:p>
              <a:p>
                <a:r>
                  <a:rPr lang="en-US" sz="2400" dirty="0">
                    <a:latin typeface="Verdana" panose="020B0604030504040204" pitchFamily="34" charset="0"/>
                    <a:ea typeface="Verdana" panose="020B0604030504040204" pitchFamily="34" charset="0"/>
                    <a:cs typeface="Verdana" panose="020B0604030504040204" pitchFamily="34" charset="0"/>
                  </a:rPr>
                  <a:t> </a:t>
                </a:r>
              </a:p>
              <a:p>
                <a:r>
                  <a:rPr lang="en-US" sz="2400" dirty="0">
                    <a:latin typeface="Verdana" panose="020B0604030504040204" pitchFamily="34" charset="0"/>
                    <a:ea typeface="Verdana" panose="020B0604030504040204" pitchFamily="34" charset="0"/>
                    <a:cs typeface="Verdana" panose="020B0604030504040204" pitchFamily="34" charset="0"/>
                  </a:rPr>
                  <a:t> </a:t>
                </a:r>
              </a:p>
              <a:p>
                <a:pPr marL="457200" indent="-457200">
                  <a:buFont typeface="+mj-lt"/>
                  <a:buAutoNum type="arabicPeriod" startAt="2"/>
                </a:pPr>
                <a:r>
                  <a:rPr lang="en-US" sz="2400" dirty="0">
                    <a:latin typeface="Verdana" panose="020B0604030504040204" pitchFamily="34" charset="0"/>
                    <a:ea typeface="Verdana" panose="020B0604030504040204" pitchFamily="34" charset="0"/>
                    <a:cs typeface="Verdana" panose="020B0604030504040204" pitchFamily="34" charset="0"/>
                  </a:rPr>
                  <a:t>The actual distance between Palm Beach, FL and Melbourne, FL is </a:t>
                </a:r>
                <a14:m>
                  <m:oMath xmlns:m="http://schemas.openxmlformats.org/officeDocument/2006/math">
                    <m:r>
                      <a:rPr lang="en-US" sz="2400" i="1">
                        <a:latin typeface="Cambria Math" panose="02040503050406030204" pitchFamily="18" charset="0"/>
                        <a:ea typeface="Cambria Math" panose="02040503050406030204" pitchFamily="18" charset="0"/>
                      </a:rPr>
                      <m:t>113</m:t>
                    </m:r>
                  </m:oMath>
                </a14:m>
                <a:r>
                  <a:rPr lang="en-US" sz="2400" dirty="0">
                    <a:latin typeface="Verdana" panose="020B0604030504040204" pitchFamily="34" charset="0"/>
                    <a:ea typeface="Verdana" panose="020B0604030504040204" pitchFamily="34" charset="0"/>
                    <a:cs typeface="Verdana" panose="020B0604030504040204" pitchFamily="34" charset="0"/>
                  </a:rPr>
                  <a:t> miles (mi). The actual distance between Melbourne, FL and Kissimmee, FL is </a:t>
                </a:r>
                <a14:m>
                  <m:oMath xmlns:m="http://schemas.openxmlformats.org/officeDocument/2006/math">
                    <m:r>
                      <a:rPr lang="en-US" sz="2400" i="1">
                        <a:latin typeface="Cambria Math" panose="02040503050406030204" pitchFamily="18" charset="0"/>
                        <a:ea typeface="Cambria Math" panose="02040503050406030204" pitchFamily="18" charset="0"/>
                      </a:rPr>
                      <m:t>55</m:t>
                    </m:r>
                  </m:oMath>
                </a14:m>
                <a:r>
                  <a:rPr lang="en-US" sz="2400" dirty="0">
                    <a:latin typeface="Verdana" panose="020B0604030504040204" pitchFamily="34" charset="0"/>
                    <a:ea typeface="Verdana" panose="020B0604030504040204" pitchFamily="34" charset="0"/>
                    <a:cs typeface="Verdana" panose="020B0604030504040204" pitchFamily="34" charset="0"/>
                  </a:rPr>
                  <a:t> mi. On a map of Florida, the distance between Palm Beach and Melbourne is </a:t>
                </a:r>
                <a14:m>
                  <m:oMath xmlns:m="http://schemas.openxmlformats.org/officeDocument/2006/math">
                    <m:r>
                      <a:rPr lang="en-US" sz="2400" i="1">
                        <a:latin typeface="Cambria Math" panose="02040503050406030204" pitchFamily="18" charset="0"/>
                        <a:ea typeface="Cambria Math" panose="02040503050406030204" pitchFamily="18" charset="0"/>
                      </a:rPr>
                      <m:t>28.25</m:t>
                    </m:r>
                  </m:oMath>
                </a14:m>
                <a:r>
                  <a:rPr lang="en-US" sz="2400" dirty="0">
                    <a:latin typeface="Verdana" panose="020B0604030504040204" pitchFamily="34" charset="0"/>
                    <a:ea typeface="Verdana" panose="020B0604030504040204" pitchFamily="34" charset="0"/>
                    <a:cs typeface="Verdana" panose="020B0604030504040204" pitchFamily="34" charset="0"/>
                  </a:rPr>
                  <a:t> centimeters (cm) and the distance between Melbourne and Kissimmee is </a:t>
                </a:r>
                <a14:m>
                  <m:oMath xmlns:m="http://schemas.openxmlformats.org/officeDocument/2006/math">
                    <m:r>
                      <a:rPr lang="en-US" sz="2400" i="1">
                        <a:latin typeface="Cambria Math" panose="02040503050406030204" pitchFamily="18" charset="0"/>
                        <a:ea typeface="Cambria Math" panose="02040503050406030204" pitchFamily="18" charset="0"/>
                      </a:rPr>
                      <m:t>13.75</m:t>
                    </m:r>
                  </m:oMath>
                </a14:m>
                <a:r>
                  <a:rPr lang="en-US" sz="2400" dirty="0">
                    <a:latin typeface="Verdana" panose="020B0604030504040204" pitchFamily="34" charset="0"/>
                    <a:ea typeface="Verdana" panose="020B0604030504040204" pitchFamily="34" charset="0"/>
                    <a:cs typeface="Verdana" panose="020B0604030504040204" pitchFamily="34" charset="0"/>
                  </a:rPr>
                  <a:t> cm.</a:t>
                </a:r>
              </a:p>
              <a:p>
                <a:r>
                  <a:rPr lang="en-US" sz="2400" dirty="0">
                    <a:latin typeface="Verdana" panose="020B0604030504040204" pitchFamily="34" charset="0"/>
                    <a:ea typeface="Verdana" panose="020B0604030504040204" pitchFamily="34" charset="0"/>
                    <a:cs typeface="Verdana" panose="020B0604030504040204" pitchFamily="34" charset="0"/>
                  </a:rPr>
                  <a:t> </a:t>
                </a:r>
              </a:p>
              <a:p>
                <a:pPr marL="914400" lvl="1" indent="-457200">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Which two quantities are being compared?</a:t>
                </a:r>
              </a:p>
            </p:txBody>
          </p:sp>
        </mc:Choice>
        <mc:Fallback>
          <p:sp>
            <p:nvSpPr>
              <p:cNvPr id="5" name="TextBox 4">
                <a:extLst>
                  <a:ext uri="{FF2B5EF4-FFF2-40B4-BE49-F238E27FC236}">
                    <a16:creationId xmlns:a16="http://schemas.microsoft.com/office/drawing/2014/main" xmlns:a14="http://schemas.microsoft.com/office/drawing/2010/main" xmlns="" id="{8AE5E1E0-A54D-BE42-84B5-F917038ADE99}"/>
                  </a:ext>
                </a:extLst>
              </p:cNvPr>
              <p:cNvSpPr txBox="1">
                <a:spLocks noRot="1" noChangeAspect="1" noMove="1" noResize="1" noEditPoints="1" noAdjustHandles="1" noChangeArrowheads="1" noChangeShapeType="1" noTextEdit="1"/>
              </p:cNvSpPr>
              <p:nvPr/>
            </p:nvSpPr>
            <p:spPr>
              <a:xfrm>
                <a:off x="533860" y="377522"/>
                <a:ext cx="10800000" cy="4893647"/>
              </a:xfrm>
              <a:prstGeom prst="rect">
                <a:avLst/>
              </a:prstGeom>
              <a:blipFill rotWithShape="1">
                <a:blip r:embed="rId3"/>
                <a:stretch>
                  <a:fillRect l="-903" t="-996" r="-1525"/>
                </a:stretch>
              </a:blipFill>
            </p:spPr>
            <p:txBody>
              <a:bodyPr/>
              <a:lstStyle/>
              <a:p>
                <a:r>
                  <a:rPr lang="en-PH">
                    <a:noFill/>
                  </a:rPr>
                  <a:t> </a:t>
                </a:r>
              </a:p>
            </p:txBody>
          </p:sp>
        </mc:Fallback>
      </mc:AlternateContent>
      <p:sp>
        <p:nvSpPr>
          <p:cNvPr id="7" name="Google Shape;282;g104476d1465_1_17"/>
          <p:cNvSpPr txBox="1"/>
          <p:nvPr/>
        </p:nvSpPr>
        <p:spPr>
          <a:xfrm>
            <a:off x="8949760" y="65213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172</a:t>
            </a:r>
            <a:endParaRPr i="1" dirty="0">
              <a:latin typeface="Calibri"/>
              <a:ea typeface="Calibri"/>
              <a:cs typeface="Calibri"/>
              <a:sym typeface="Calibri"/>
            </a:endParaRPr>
          </a:p>
        </p:txBody>
      </p:sp>
      <p:pic>
        <p:nvPicPr>
          <p:cNvPr id="8"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83760" y="6165087"/>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1133774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5" name="TextBox 4">
            <a:extLst>
              <a:ext uri="{FF2B5EF4-FFF2-40B4-BE49-F238E27FC236}">
                <a16:creationId xmlns:a16="http://schemas.microsoft.com/office/drawing/2014/main" xmlns="" id="{8AE5E1E0-A54D-BE42-84B5-F917038ADE99}"/>
              </a:ext>
            </a:extLst>
          </p:cNvPr>
          <p:cNvSpPr txBox="1"/>
          <p:nvPr/>
        </p:nvSpPr>
        <p:spPr>
          <a:xfrm>
            <a:off x="535058" y="377522"/>
            <a:ext cx="10800000" cy="3785652"/>
          </a:xfrm>
          <a:prstGeom prst="rect">
            <a:avLst/>
          </a:prstGeom>
          <a:noFill/>
        </p:spPr>
        <p:txBody>
          <a:bodyPr wrap="square" rtlCol="0">
            <a:spAutoFit/>
          </a:bodyPr>
          <a:lstStyle/>
          <a:p>
            <a:pPr marL="914400" lvl="1" indent="-457200">
              <a:buFont typeface="+mj-lt"/>
              <a:buAutoNum type="alphaLcPeriod" startAt="2"/>
            </a:pPr>
            <a:r>
              <a:rPr lang="en-US" sz="2400" dirty="0">
                <a:latin typeface="Verdana" panose="020B0604030504040204" pitchFamily="34" charset="0"/>
                <a:ea typeface="Verdana" panose="020B0604030504040204" pitchFamily="34" charset="0"/>
                <a:cs typeface="Verdana" panose="020B0604030504040204" pitchFamily="34" charset="0"/>
              </a:rPr>
              <a:t>Identify pairs of values of the two quantities being compared.</a:t>
            </a:r>
          </a:p>
          <a:p>
            <a:pPr marL="914400" lvl="1" indent="-457200">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lvl="1" indent="-457200">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lvl="1" indent="-457200">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lvl="1" indent="-457200">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lvl="1" indent="-457200">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lvl="1" indent="-457200">
              <a:buFont typeface="+mj-lt"/>
              <a:buAutoNum type="alphaLcPeriod" startAt="2"/>
            </a:pPr>
            <a:r>
              <a:rPr lang="en-US" sz="2400" dirty="0">
                <a:latin typeface="Verdana" panose="020B0604030504040204" pitchFamily="34" charset="0"/>
                <a:ea typeface="Verdana" panose="020B0604030504040204" pitchFamily="34" charset="0"/>
                <a:cs typeface="Verdana" panose="020B0604030504040204" pitchFamily="34" charset="0"/>
              </a:rPr>
              <a:t>Determine whether the relationship between the two quantities is proportional. If it is proportional, state the constant of proportionality. If it is not proportional, explain why not.</a:t>
            </a:r>
          </a:p>
        </p:txBody>
      </p:sp>
      <p:sp>
        <p:nvSpPr>
          <p:cNvPr id="7" name="Google Shape;282;g104476d1465_1_17"/>
          <p:cNvSpPr txBox="1"/>
          <p:nvPr/>
        </p:nvSpPr>
        <p:spPr>
          <a:xfrm>
            <a:off x="8949760" y="65213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173</a:t>
            </a:r>
            <a:endParaRPr i="1" dirty="0">
              <a:latin typeface="Calibri"/>
              <a:ea typeface="Calibri"/>
              <a:cs typeface="Calibri"/>
              <a:sym typeface="Calibri"/>
            </a:endParaRPr>
          </a:p>
        </p:txBody>
      </p:sp>
      <p:pic>
        <p:nvPicPr>
          <p:cNvPr id="8"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83760" y="6165087"/>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2969774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116285" y="2766150"/>
            <a:ext cx="439693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3BEA6"/>
                </a:solidFill>
                <a:latin typeface="Verdana"/>
                <a:ea typeface="Verdana"/>
                <a:cs typeface="Verdana"/>
                <a:sym typeface="Verdana"/>
              </a:rPr>
              <a:t>Try It</a:t>
            </a:r>
            <a:endParaRPr sz="5100" b="1" dirty="0">
              <a:solidFill>
                <a:srgbClr val="33BEA6"/>
              </a:solidFill>
              <a:latin typeface="Verdana"/>
              <a:ea typeface="Verdana"/>
              <a:cs typeface="Verdana"/>
              <a:sym typeface="Verdana"/>
            </a:endParaRPr>
          </a:p>
        </p:txBody>
      </p:sp>
      <p:pic>
        <p:nvPicPr>
          <p:cNvPr id="7170" name="Picture 2">
            <a:extLst>
              <a:ext uri="{FF2B5EF4-FFF2-40B4-BE49-F238E27FC236}">
                <a16:creationId xmlns:a16="http://schemas.microsoft.com/office/drawing/2014/main" xmlns="" id="{B098E9CE-9B4F-0D4F-9369-4E0B8D4E3D1A}"/>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4813171" y="2852928"/>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7" name="Google Shape;282;g104476d1465_1_17"/>
          <p:cNvSpPr txBox="1"/>
          <p:nvPr/>
        </p:nvSpPr>
        <p:spPr>
          <a:xfrm>
            <a:off x="8949760" y="65213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smtClean="0">
                <a:latin typeface="Calibri"/>
                <a:ea typeface="Calibri"/>
                <a:cs typeface="Calibri"/>
                <a:sym typeface="Calibri"/>
              </a:rPr>
              <a:t>173</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83760" y="6165087"/>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0068580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324;g103996e1364_0_25">
            <a:extLst>
              <a:ext uri="{FF2B5EF4-FFF2-40B4-BE49-F238E27FC236}">
                <a16:creationId xmlns:a16="http://schemas.microsoft.com/office/drawing/2014/main" xmlns="" id="{DB5796CA-12EB-BB4C-8338-B127D750A026}"/>
              </a:ext>
            </a:extLst>
          </p:cNvPr>
          <p:cNvSpPr txBox="1">
            <a:spLocks/>
          </p:cNvSpPr>
          <p:nvPr/>
        </p:nvSpPr>
        <p:spPr>
          <a:xfrm>
            <a:off x="1157443" y="102650"/>
            <a:ext cx="868924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3BEA6"/>
                </a:solidFill>
                <a:latin typeface="Verdana"/>
                <a:ea typeface="Verdana"/>
                <a:cs typeface="Verdana"/>
                <a:sym typeface="Verdana"/>
              </a:rPr>
              <a:t>11.5.4 Try It: Determining If a Relationship Is Proportional</a:t>
            </a:r>
          </a:p>
        </p:txBody>
      </p:sp>
      <p:pic>
        <p:nvPicPr>
          <p:cNvPr id="9" name="Picture 2">
            <a:extLst>
              <a:ext uri="{FF2B5EF4-FFF2-40B4-BE49-F238E27FC236}">
                <a16:creationId xmlns:a16="http://schemas.microsoft.com/office/drawing/2014/main" xmlns="" id="{E0B7508E-1910-D441-91B6-6EA6022F20CC}"/>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322488" y="390596"/>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xmlns="" id="{0AB6A3A1-5A0D-C84F-AC89-57E6782F43E5}"/>
              </a:ext>
            </a:extLst>
          </p:cNvPr>
          <p:cNvSpPr txBox="1"/>
          <p:nvPr/>
        </p:nvSpPr>
        <p:spPr>
          <a:xfrm>
            <a:off x="536008" y="1386025"/>
            <a:ext cx="10800000" cy="1938992"/>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The table shows the distance from which a lighthouse is visible to a boat at sea.</a:t>
            </a:r>
          </a:p>
          <a:p>
            <a:pPr marL="914400"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Determine whether the table represents a proportional relationship.</a:t>
            </a:r>
          </a:p>
        </p:txBody>
      </p:sp>
      <mc:AlternateContent xmlns:mc="http://schemas.openxmlformats.org/markup-compatibility/2006">
        <mc:Choice xmlns:a14="http://schemas.microsoft.com/office/drawing/2010/main" Requires="a14">
          <p:graphicFrame>
            <p:nvGraphicFramePr>
              <p:cNvPr id="2" name="Table 1"/>
              <p:cNvGraphicFramePr>
                <a:graphicFrameLocks noGrp="1"/>
              </p:cNvGraphicFramePr>
              <p:nvPr>
                <p:extLst>
                  <p:ext uri="{D42A27DB-BD31-4B8C-83A1-F6EECF244321}">
                    <p14:modId xmlns:p14="http://schemas.microsoft.com/office/powerpoint/2010/main" val="3288553884"/>
                  </p:ext>
                </p:extLst>
              </p:nvPr>
            </p:nvGraphicFramePr>
            <p:xfrm>
              <a:off x="1571445" y="3427655"/>
              <a:ext cx="6594133" cy="3093720"/>
            </p:xfrm>
            <a:graphic>
              <a:graphicData uri="http://schemas.openxmlformats.org/drawingml/2006/table">
                <a:tbl>
                  <a:tblPr firstRow="1" firstCol="1" lastRow="1" lastCol="1">
                    <a:tableStyleId>{5940675A-B579-460E-94D1-54222C63F5DA}</a:tableStyleId>
                  </a:tblPr>
                  <a:tblGrid>
                    <a:gridCol w="3295747">
                      <a:extLst>
                        <a:ext uri="{9D8B030D-6E8A-4147-A177-3AD203B41FA5}">
                          <a16:colId xmlns:a16="http://schemas.microsoft.com/office/drawing/2014/main" xmlns="" val="20000"/>
                        </a:ext>
                      </a:extLst>
                    </a:gridCol>
                    <a:gridCol w="3298386">
                      <a:extLst>
                        <a:ext uri="{9D8B030D-6E8A-4147-A177-3AD203B41FA5}">
                          <a16:colId xmlns:a16="http://schemas.microsoft.com/office/drawing/2014/main" xmlns="" val="20001"/>
                        </a:ext>
                      </a:extLst>
                    </a:gridCol>
                  </a:tblGrid>
                  <a:tr h="1125855">
                    <a:tc>
                      <a:txBody>
                        <a:bodyPr/>
                        <a:lstStyle/>
                        <a:p>
                          <a:pPr marL="0" marR="0" algn="ctr">
                            <a:spcBef>
                              <a:spcPts val="180"/>
                            </a:spcBef>
                            <a:spcAft>
                              <a:spcPts val="18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Height of a </a:t>
                          </a:r>
                          <a:r>
                            <a:rPr lang="en-US" sz="2000" b="1" dirty="0" smtClean="0">
                              <a:effectLst/>
                              <a:latin typeface="Verdana" panose="020B0604030504040204" pitchFamily="34" charset="0"/>
                              <a:ea typeface="Verdana" panose="020B0604030504040204" pitchFamily="34" charset="0"/>
                              <a:cs typeface="Verdana" panose="020B0604030504040204" pitchFamily="34" charset="0"/>
                            </a:rPr>
                            <a:t>Lighthouse </a:t>
                          </a:r>
                          <a:br>
                            <a:rPr lang="en-US" sz="2000" b="1" dirty="0" smtClean="0">
                              <a:effectLst/>
                              <a:latin typeface="Verdana" panose="020B0604030504040204" pitchFamily="34" charset="0"/>
                              <a:ea typeface="Verdana" panose="020B0604030504040204" pitchFamily="34" charset="0"/>
                              <a:cs typeface="Verdana" panose="020B0604030504040204" pitchFamily="34" charset="0"/>
                            </a:rPr>
                          </a:br>
                          <a:r>
                            <a:rPr lang="en-US" sz="2000" b="1" dirty="0" smtClean="0">
                              <a:effectLst/>
                              <a:latin typeface="Verdana" panose="020B0604030504040204" pitchFamily="34" charset="0"/>
                              <a:ea typeface="Verdana" panose="020B0604030504040204" pitchFamily="34" charset="0"/>
                              <a:cs typeface="Verdana" panose="020B0604030504040204" pitchFamily="34" charset="0"/>
                            </a:rPr>
                            <a:t>(</a:t>
                          </a:r>
                          <a:r>
                            <a:rPr lang="en-US" sz="2000" b="1" dirty="0">
                              <a:effectLst/>
                              <a:latin typeface="Verdana" panose="020B0604030504040204" pitchFamily="34" charset="0"/>
                              <a:ea typeface="Verdana" panose="020B0604030504040204" pitchFamily="34" charset="0"/>
                              <a:cs typeface="Verdana" panose="020B0604030504040204" pitchFamily="34" charset="0"/>
                            </a:rPr>
                            <a:t>feet)</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180"/>
                            </a:spcBef>
                            <a:spcAft>
                              <a:spcPts val="18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Distance from Which It Can Be Seen</a:t>
                          </a:r>
                        </a:p>
                        <a:p>
                          <a:pPr marL="0" marR="0" algn="ctr">
                            <a:spcBef>
                              <a:spcPts val="180"/>
                            </a:spcBef>
                            <a:spcAft>
                              <a:spcPts val="18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(miles)</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xmlns="" val="10000"/>
                      </a:ext>
                    </a:extLst>
                  </a:tr>
                  <a:tr h="380365">
                    <a:tc>
                      <a:txBody>
                        <a:bodyPr/>
                        <a:lstStyle/>
                        <a:p>
                          <a:pPr marL="0" marR="0" algn="ctr">
                            <a:spcBef>
                              <a:spcPts val="180"/>
                            </a:spcBef>
                            <a:spcAft>
                              <a:spcPts val="18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20</m:t>
                                </m:r>
                              </m:oMath>
                            </m:oMathPara>
                          </a14:m>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180"/>
                            </a:spcBef>
                            <a:spcAft>
                              <a:spcPts val="18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6</m:t>
                                </m:r>
                              </m:oMath>
                            </m:oMathPara>
                          </a14:m>
                          <a:endParaRPr lang="en-US" sz="200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1"/>
                      </a:ext>
                    </a:extLst>
                  </a:tr>
                  <a:tr h="396875">
                    <a:tc>
                      <a:txBody>
                        <a:bodyPr/>
                        <a:lstStyle/>
                        <a:p>
                          <a:pPr marL="0" marR="0" algn="ctr">
                            <a:spcBef>
                              <a:spcPts val="180"/>
                            </a:spcBef>
                            <a:spcAft>
                              <a:spcPts val="18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45</m:t>
                                </m:r>
                              </m:oMath>
                            </m:oMathPara>
                          </a14:m>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180"/>
                            </a:spcBef>
                            <a:spcAft>
                              <a:spcPts val="18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9</m:t>
                                </m:r>
                              </m:oMath>
                            </m:oMathPara>
                          </a14:m>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2"/>
                      </a:ext>
                    </a:extLst>
                  </a:tr>
                  <a:tr h="396875">
                    <a:tc>
                      <a:txBody>
                        <a:bodyPr/>
                        <a:lstStyle/>
                        <a:p>
                          <a:pPr marL="0" marR="0" algn="ctr">
                            <a:spcBef>
                              <a:spcPts val="180"/>
                            </a:spcBef>
                            <a:spcAft>
                              <a:spcPts val="18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70</m:t>
                                </m:r>
                              </m:oMath>
                            </m:oMathPara>
                          </a14:m>
                          <a:endParaRPr lang="en-US" sz="200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180"/>
                            </a:spcBef>
                            <a:spcAft>
                              <a:spcPts val="18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11</m:t>
                                </m:r>
                              </m:oMath>
                            </m:oMathPara>
                          </a14:m>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3"/>
                      </a:ext>
                    </a:extLst>
                  </a:tr>
                  <a:tr h="396875">
                    <a:tc>
                      <a:txBody>
                        <a:bodyPr/>
                        <a:lstStyle/>
                        <a:p>
                          <a:pPr marL="0" marR="0" algn="ctr">
                            <a:spcBef>
                              <a:spcPts val="180"/>
                            </a:spcBef>
                            <a:spcAft>
                              <a:spcPts val="18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95</m:t>
                                </m:r>
                              </m:oMath>
                            </m:oMathPara>
                          </a14:m>
                          <a:endParaRPr lang="en-US" sz="200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180"/>
                            </a:spcBef>
                            <a:spcAft>
                              <a:spcPts val="18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13</m:t>
                                </m:r>
                              </m:oMath>
                            </m:oMathPara>
                          </a14:m>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4"/>
                      </a:ext>
                    </a:extLst>
                  </a:tr>
                  <a:tr h="396875">
                    <a:tc>
                      <a:txBody>
                        <a:bodyPr/>
                        <a:lstStyle/>
                        <a:p>
                          <a:pPr marL="0" marR="0" algn="ctr">
                            <a:spcBef>
                              <a:spcPts val="180"/>
                            </a:spcBef>
                            <a:spcAft>
                              <a:spcPts val="18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150</m:t>
                                </m:r>
                              </m:oMath>
                            </m:oMathPara>
                          </a14:m>
                          <a:endParaRPr lang="en-US" sz="200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180"/>
                            </a:spcBef>
                            <a:spcAft>
                              <a:spcPts val="18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16</m:t>
                                </m:r>
                              </m:oMath>
                            </m:oMathPara>
                          </a14:m>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5"/>
                      </a:ext>
                    </a:extLst>
                  </a:tr>
                </a:tbl>
              </a:graphicData>
            </a:graphic>
          </p:graphicFrame>
        </mc:Choice>
        <mc:Fallback>
          <p:graphicFrame>
            <p:nvGraphicFramePr>
              <p:cNvPr id="2" name="Table 1"/>
              <p:cNvGraphicFramePr>
                <a:graphicFrameLocks noGrp="1"/>
              </p:cNvGraphicFramePr>
              <p:nvPr>
                <p:extLst>
                  <p:ext uri="{D42A27DB-BD31-4B8C-83A1-F6EECF244321}">
                    <p14:modId xmlns:p14="http://schemas.microsoft.com/office/powerpoint/2010/main" val="3288553884"/>
                  </p:ext>
                </p:extLst>
              </p:nvPr>
            </p:nvGraphicFramePr>
            <p:xfrm>
              <a:off x="1571445" y="3427655"/>
              <a:ext cx="6594133" cy="3093720"/>
            </p:xfrm>
            <a:graphic>
              <a:graphicData uri="http://schemas.openxmlformats.org/drawingml/2006/table">
                <a:tbl>
                  <a:tblPr firstRow="1" firstCol="1" lastRow="1" lastCol="1">
                    <a:tableStyleId>{5940675A-B579-460E-94D1-54222C63F5DA}</a:tableStyleId>
                  </a:tblPr>
                  <a:tblGrid>
                    <a:gridCol w="3295747">
                      <a:extLst>
                        <a:ext uri="{9D8B030D-6E8A-4147-A177-3AD203B41FA5}">
                          <a16:colId xmlns:a16="http://schemas.microsoft.com/office/drawing/2014/main" xmlns:a14="http://schemas.microsoft.com/office/drawing/2010/main" xmlns="" val="20000"/>
                        </a:ext>
                      </a:extLst>
                    </a:gridCol>
                    <a:gridCol w="3298386">
                      <a:extLst>
                        <a:ext uri="{9D8B030D-6E8A-4147-A177-3AD203B41FA5}">
                          <a16:colId xmlns:a16="http://schemas.microsoft.com/office/drawing/2014/main" xmlns:a14="http://schemas.microsoft.com/office/drawing/2010/main" xmlns="" val="20001"/>
                        </a:ext>
                      </a:extLst>
                    </a:gridCol>
                  </a:tblGrid>
                  <a:tr h="1125855">
                    <a:tc>
                      <a:txBody>
                        <a:bodyPr/>
                        <a:lstStyle/>
                        <a:p>
                          <a:pPr marL="0" marR="0" algn="ctr">
                            <a:spcBef>
                              <a:spcPts val="180"/>
                            </a:spcBef>
                            <a:spcAft>
                              <a:spcPts val="18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Height of a </a:t>
                          </a:r>
                          <a:r>
                            <a:rPr lang="en-US" sz="2000" b="1" dirty="0" smtClean="0">
                              <a:effectLst/>
                              <a:latin typeface="Verdana" panose="020B0604030504040204" pitchFamily="34" charset="0"/>
                              <a:ea typeface="Verdana" panose="020B0604030504040204" pitchFamily="34" charset="0"/>
                              <a:cs typeface="Verdana" panose="020B0604030504040204" pitchFamily="34" charset="0"/>
                            </a:rPr>
                            <a:t>Lighthouse </a:t>
                          </a:r>
                          <a:br>
                            <a:rPr lang="en-US" sz="2000" b="1" dirty="0" smtClean="0">
                              <a:effectLst/>
                              <a:latin typeface="Verdana" panose="020B0604030504040204" pitchFamily="34" charset="0"/>
                              <a:ea typeface="Verdana" panose="020B0604030504040204" pitchFamily="34" charset="0"/>
                              <a:cs typeface="Verdana" panose="020B0604030504040204" pitchFamily="34" charset="0"/>
                            </a:rPr>
                          </a:br>
                          <a:r>
                            <a:rPr lang="en-US" sz="2000" b="1" dirty="0" smtClean="0">
                              <a:effectLst/>
                              <a:latin typeface="Verdana" panose="020B0604030504040204" pitchFamily="34" charset="0"/>
                              <a:ea typeface="Verdana" panose="020B0604030504040204" pitchFamily="34" charset="0"/>
                              <a:cs typeface="Verdana" panose="020B0604030504040204" pitchFamily="34" charset="0"/>
                            </a:rPr>
                            <a:t>(</a:t>
                          </a:r>
                          <a:r>
                            <a:rPr lang="en-US" sz="2000" b="1" dirty="0">
                              <a:effectLst/>
                              <a:latin typeface="Verdana" panose="020B0604030504040204" pitchFamily="34" charset="0"/>
                              <a:ea typeface="Verdana" panose="020B0604030504040204" pitchFamily="34" charset="0"/>
                              <a:cs typeface="Verdana" panose="020B0604030504040204" pitchFamily="34" charset="0"/>
                            </a:rPr>
                            <a:t>feet)</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180"/>
                            </a:spcBef>
                            <a:spcAft>
                              <a:spcPts val="18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Distance from Which It Can Be Seen</a:t>
                          </a:r>
                        </a:p>
                        <a:p>
                          <a:pPr marL="0" marR="0" algn="ctr">
                            <a:spcBef>
                              <a:spcPts val="180"/>
                            </a:spcBef>
                            <a:spcAft>
                              <a:spcPts val="18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(miles)</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xmlns:a14="http://schemas.microsoft.com/office/drawing/2010/main" xmlns="" val="10000"/>
                      </a:ext>
                    </a:extLst>
                  </a:tr>
                  <a:tr h="380365">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185" t="-298387" r="-100370" b="-420968"/>
                          </a:stretch>
                        </a:blipFill>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100000" t="-298387" r="-185" b="-420968"/>
                          </a:stretch>
                        </a:blipFill>
                      </a:tcPr>
                    </a:tc>
                    <a:extLst>
                      <a:ext uri="{0D108BD9-81ED-4DB2-BD59-A6C34878D82A}">
                        <a16:rowId xmlns:a16="http://schemas.microsoft.com/office/drawing/2014/main" xmlns:a14="http://schemas.microsoft.com/office/drawing/2010/main" xmlns="" val="10001"/>
                      </a:ext>
                    </a:extLst>
                  </a:tr>
                  <a:tr h="396875">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185" t="-380000" r="-100370" b="-301538"/>
                          </a:stretch>
                        </a:blipFill>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100000" t="-380000" r="-185" b="-301538"/>
                          </a:stretch>
                        </a:blipFill>
                      </a:tcPr>
                    </a:tc>
                    <a:extLst>
                      <a:ext uri="{0D108BD9-81ED-4DB2-BD59-A6C34878D82A}">
                        <a16:rowId xmlns:a16="http://schemas.microsoft.com/office/drawing/2014/main" xmlns:a14="http://schemas.microsoft.com/office/drawing/2010/main" xmlns="" val="10002"/>
                      </a:ext>
                    </a:extLst>
                  </a:tr>
                  <a:tr h="396875">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185" t="-472727" r="-100370" b="-196970"/>
                          </a:stretch>
                        </a:blipFill>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100000" t="-472727" r="-185" b="-196970"/>
                          </a:stretch>
                        </a:blipFill>
                      </a:tcPr>
                    </a:tc>
                    <a:extLst>
                      <a:ext uri="{0D108BD9-81ED-4DB2-BD59-A6C34878D82A}">
                        <a16:rowId xmlns:a16="http://schemas.microsoft.com/office/drawing/2014/main" xmlns:a14="http://schemas.microsoft.com/office/drawing/2010/main" xmlns="" val="10003"/>
                      </a:ext>
                    </a:extLst>
                  </a:tr>
                  <a:tr h="396875">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185" t="-581538" r="-100370" b="-100000"/>
                          </a:stretch>
                        </a:blipFill>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100000" t="-581538" r="-185" b="-100000"/>
                          </a:stretch>
                        </a:blipFill>
                      </a:tcPr>
                    </a:tc>
                    <a:extLst>
                      <a:ext uri="{0D108BD9-81ED-4DB2-BD59-A6C34878D82A}">
                        <a16:rowId xmlns:a16="http://schemas.microsoft.com/office/drawing/2014/main" xmlns:a14="http://schemas.microsoft.com/office/drawing/2010/main" xmlns="" val="10004"/>
                      </a:ext>
                    </a:extLst>
                  </a:tr>
                  <a:tr h="396875">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185" t="-681538" r="-100370"/>
                          </a:stretch>
                        </a:blipFill>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100000" t="-681538" r="-185"/>
                          </a:stretch>
                        </a:blipFill>
                      </a:tcPr>
                    </a:tc>
                    <a:extLst>
                      <a:ext uri="{0D108BD9-81ED-4DB2-BD59-A6C34878D82A}">
                        <a16:rowId xmlns:a16="http://schemas.microsoft.com/office/drawing/2014/main" xmlns:a14="http://schemas.microsoft.com/office/drawing/2010/main" xmlns="" val="10005"/>
                      </a:ext>
                    </a:extLst>
                  </a:tr>
                </a:tbl>
              </a:graphicData>
            </a:graphic>
          </p:graphicFrame>
        </mc:Fallback>
      </mc:AlternateContent>
      <p:sp>
        <p:nvSpPr>
          <p:cNvPr id="12" name="Google Shape;282;g104476d1465_1_17"/>
          <p:cNvSpPr txBox="1"/>
          <p:nvPr/>
        </p:nvSpPr>
        <p:spPr>
          <a:xfrm>
            <a:off x="8949760" y="65213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smtClean="0">
                <a:latin typeface="Calibri"/>
                <a:ea typeface="Calibri"/>
                <a:cs typeface="Calibri"/>
                <a:sym typeface="Calibri"/>
              </a:rPr>
              <a:t>173</a:t>
            </a:r>
            <a:endParaRPr i="1" dirty="0">
              <a:latin typeface="Calibri"/>
              <a:ea typeface="Calibri"/>
              <a:cs typeface="Calibri"/>
              <a:sym typeface="Calibri"/>
            </a:endParaRPr>
          </a:p>
        </p:txBody>
      </p:sp>
      <p:pic>
        <p:nvPicPr>
          <p:cNvPr id="13"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583760" y="6165087"/>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8403594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5" name="TextBox 4">
            <a:extLst>
              <a:ext uri="{FF2B5EF4-FFF2-40B4-BE49-F238E27FC236}">
                <a16:creationId xmlns:a16="http://schemas.microsoft.com/office/drawing/2014/main" xmlns="" id="{22347CCE-34A7-8044-BA67-B5895157AE55}"/>
              </a:ext>
            </a:extLst>
          </p:cNvPr>
          <p:cNvSpPr txBox="1"/>
          <p:nvPr/>
        </p:nvSpPr>
        <p:spPr>
          <a:xfrm>
            <a:off x="529782" y="385217"/>
            <a:ext cx="10800000" cy="2308324"/>
          </a:xfrm>
          <a:prstGeom prst="rect">
            <a:avLst/>
          </a:prstGeom>
          <a:noFill/>
        </p:spPr>
        <p:txBody>
          <a:bodyPr wrap="square" rtlCol="0">
            <a:spAutoFit/>
          </a:bodyPr>
          <a:lstStyle/>
          <a:p>
            <a:pPr marL="914400" indent="-457200">
              <a:buFont typeface="+mj-lt"/>
              <a:buAutoNum type="alphaLcPeriod" startAt="2"/>
            </a:pPr>
            <a:r>
              <a:rPr lang="en-US" sz="2400" dirty="0">
                <a:latin typeface="Verdana" panose="020B0604030504040204" pitchFamily="34" charset="0"/>
                <a:ea typeface="Verdana" panose="020B0604030504040204" pitchFamily="34" charset="0"/>
                <a:cs typeface="Verdana" panose="020B0604030504040204" pitchFamily="34" charset="0"/>
              </a:rPr>
              <a:t>Complete the statements.</a:t>
            </a:r>
          </a:p>
          <a:p>
            <a:pPr marL="457200"/>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a:lnSpc>
                <a:spcPct val="200000"/>
              </a:lnSpc>
            </a:pPr>
            <a:r>
              <a:rPr lang="en-US" sz="2400" dirty="0">
                <a:latin typeface="Verdana" panose="020B0604030504040204" pitchFamily="34" charset="0"/>
                <a:ea typeface="Verdana" panose="020B0604030504040204" pitchFamily="34" charset="0"/>
                <a:cs typeface="Verdana" panose="020B0604030504040204" pitchFamily="34" charset="0"/>
              </a:rPr>
              <a:t>The table		     </a:t>
            </a:r>
            <a:r>
              <a:rPr lang="en-US" sz="2400" dirty="0" smtClean="0">
                <a:latin typeface="Verdana" panose="020B0604030504040204" pitchFamily="34" charset="0"/>
                <a:ea typeface="Verdana" panose="020B0604030504040204" pitchFamily="34" charset="0"/>
                <a:cs typeface="Verdana" panose="020B0604030504040204" pitchFamily="34" charset="0"/>
              </a:rPr>
              <a:t> </a:t>
            </a:r>
            <a:r>
              <a:rPr lang="en-US" sz="2400" dirty="0">
                <a:latin typeface="Verdana" panose="020B0604030504040204" pitchFamily="34" charset="0"/>
                <a:ea typeface="Verdana" panose="020B0604030504040204" pitchFamily="34" charset="0"/>
                <a:cs typeface="Verdana" panose="020B0604030504040204" pitchFamily="34" charset="0"/>
              </a:rPr>
              <a:t>represent a proportional relationship.</a:t>
            </a:r>
          </a:p>
        </p:txBody>
      </p:sp>
      <p:pic>
        <p:nvPicPr>
          <p:cNvPr id="2" name="Picture 1"/>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3032942" y="1200813"/>
            <a:ext cx="1811557" cy="945567"/>
          </a:xfrm>
          <a:prstGeom prst="rect">
            <a:avLst/>
          </a:prstGeom>
        </p:spPr>
      </p:pic>
      <p:pic>
        <p:nvPicPr>
          <p:cNvPr id="3" name="Picture 2"/>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1521189" y="2197740"/>
            <a:ext cx="7539794" cy="1262597"/>
          </a:xfrm>
          <a:prstGeom prst="rect">
            <a:avLst/>
          </a:prstGeom>
        </p:spPr>
      </p:pic>
      <p:sp>
        <p:nvSpPr>
          <p:cNvPr id="9" name="Google Shape;282;g104476d1465_1_17"/>
          <p:cNvSpPr txBox="1"/>
          <p:nvPr/>
        </p:nvSpPr>
        <p:spPr>
          <a:xfrm>
            <a:off x="8949760" y="65213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smtClean="0">
                <a:latin typeface="Calibri"/>
                <a:ea typeface="Calibri"/>
                <a:cs typeface="Calibri"/>
                <a:sym typeface="Calibri"/>
              </a:rPr>
              <a:t>173</a:t>
            </a:r>
            <a:endParaRPr i="1" dirty="0">
              <a:latin typeface="Calibri"/>
              <a:ea typeface="Calibri"/>
              <a:cs typeface="Calibri"/>
              <a:sym typeface="Calibri"/>
            </a:endParaRPr>
          </a:p>
        </p:txBody>
      </p:sp>
      <p:pic>
        <p:nvPicPr>
          <p:cNvPr id="10"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583760" y="6165087"/>
            <a:ext cx="563850" cy="657276"/>
          </a:xfrm>
          <a:prstGeom prst="rect">
            <a:avLst/>
          </a:prstGeom>
          <a:noFill/>
          <a:ln>
            <a:noFill/>
          </a:ln>
          <a:effectLst>
            <a:outerShdw blurRad="57150" dist="19050" dir="5400000" algn="bl" rotWithShape="0">
              <a:srgbClr val="000000">
                <a:alpha val="50000"/>
              </a:srgbClr>
            </a:outerShdw>
          </a:effectLst>
        </p:spPr>
      </p:pic>
      <p:sp>
        <p:nvSpPr>
          <p:cNvPr id="11" name="Google Shape;278;g104476d1465_1_17"/>
          <p:cNvSpPr/>
          <p:nvPr/>
        </p:nvSpPr>
        <p:spPr>
          <a:xfrm>
            <a:off x="0" y="-8225"/>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Tree>
    <p:extLst>
      <p:ext uri="{BB962C8B-B14F-4D97-AF65-F5344CB8AC3E}">
        <p14:creationId xmlns:p14="http://schemas.microsoft.com/office/powerpoint/2010/main" val="21614666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xmlns="" id="{8AE5E1E0-A54D-BE42-84B5-F917038ADE99}"/>
                  </a:ext>
                </a:extLst>
              </p:cNvPr>
              <p:cNvSpPr txBox="1"/>
              <p:nvPr/>
            </p:nvSpPr>
            <p:spPr>
              <a:xfrm>
                <a:off x="535418" y="377522"/>
                <a:ext cx="10800000" cy="5940088"/>
              </a:xfrm>
              <a:prstGeom prst="rect">
                <a:avLst/>
              </a:prstGeom>
              <a:noFill/>
            </p:spPr>
            <p:txBody>
              <a:bodyPr wrap="square" rtlCol="0">
                <a:spAutoFit/>
              </a:bodyPr>
              <a:lstStyle/>
              <a:p>
                <a:pPr marL="457200" indent="-457200">
                  <a:spcAft>
                    <a:spcPts val="1200"/>
                  </a:spcAft>
                  <a:buFont typeface="+mj-lt"/>
                  <a:buAutoNum type="arabicPeriod" startAt="2"/>
                </a:pPr>
                <a:r>
                  <a:rPr lang="en-US" sz="2400" dirty="0">
                    <a:latin typeface="Verdana" panose="020B0604030504040204" pitchFamily="34" charset="0"/>
                    <a:ea typeface="Verdana" panose="020B0604030504040204" pitchFamily="34" charset="0"/>
                    <a:cs typeface="Verdana" panose="020B0604030504040204" pitchFamily="34" charset="0"/>
                  </a:rPr>
                  <a:t>The </a:t>
                </a:r>
                <a:r>
                  <a:rPr lang="en-US" sz="2400" dirty="0" err="1">
                    <a:latin typeface="Verdana" panose="020B0604030504040204" pitchFamily="34" charset="0"/>
                    <a:ea typeface="Verdana" panose="020B0604030504040204" pitchFamily="34" charset="0"/>
                    <a:cs typeface="Verdana" panose="020B0604030504040204" pitchFamily="34" charset="0"/>
                  </a:rPr>
                  <a:t>Koreshan</a:t>
                </a:r>
                <a:r>
                  <a:rPr lang="en-US" sz="2400" dirty="0">
                    <a:latin typeface="Verdana" panose="020B0604030504040204" pitchFamily="34" charset="0"/>
                    <a:ea typeface="Verdana" panose="020B0604030504040204" pitchFamily="34" charset="0"/>
                    <a:cs typeface="Verdana" panose="020B0604030504040204" pitchFamily="34" charset="0"/>
                  </a:rPr>
                  <a:t> State Park in Estero, FL charges the following admission fees for vehicles entering the park.</a:t>
                </a:r>
              </a:p>
              <a:p>
                <a:pPr marL="808038" indent="-325438">
                  <a:spcAft>
                    <a:spcPts val="600"/>
                  </a:spcAft>
                  <a:buFont typeface="Arial" panose="020B0604020202020204" pitchFamily="34" charset="0"/>
                  <a:buChar char="•"/>
                </a:pPr>
                <a14:m>
                  <m:oMath xmlns:m="http://schemas.openxmlformats.org/officeDocument/2006/math">
                    <m:r>
                      <a:rPr lang="en-US" sz="2400" i="1">
                        <a:latin typeface="Cambria Math" panose="02040503050406030204" pitchFamily="18" charset="0"/>
                        <a:ea typeface="Cambria Math" panose="02040503050406030204" pitchFamily="18" charset="0"/>
                      </a:rPr>
                      <m:t>$4</m:t>
                    </m:r>
                  </m:oMath>
                </a14:m>
                <a:r>
                  <a:rPr lang="en-US" sz="2400" dirty="0">
                    <a:latin typeface="Verdana" panose="020B0604030504040204" pitchFamily="34" charset="0"/>
                    <a:ea typeface="Verdana" panose="020B0604030504040204" pitchFamily="34" charset="0"/>
                    <a:cs typeface="Verdana" panose="020B0604030504040204" pitchFamily="34" charset="0"/>
                  </a:rPr>
                  <a:t> for vehicles occupied by </a:t>
                </a:r>
                <a14:m>
                  <m:oMath xmlns:m="http://schemas.openxmlformats.org/officeDocument/2006/math">
                    <m:r>
                      <a:rPr lang="en-US" sz="2400" i="1">
                        <a:latin typeface="Cambria Math" panose="02040503050406030204" pitchFamily="18" charset="0"/>
                        <a:ea typeface="Cambria Math" panose="02040503050406030204" pitchFamily="18" charset="0"/>
                      </a:rPr>
                      <m:t>1</m:t>
                    </m:r>
                  </m:oMath>
                </a14:m>
                <a:r>
                  <a:rPr lang="en-US" sz="2400" dirty="0">
                    <a:latin typeface="Verdana" panose="020B0604030504040204" pitchFamily="34" charset="0"/>
                    <a:ea typeface="Verdana" panose="020B0604030504040204" pitchFamily="34" charset="0"/>
                    <a:cs typeface="Verdana" panose="020B0604030504040204" pitchFamily="34" charset="0"/>
                  </a:rPr>
                  <a:t> person</a:t>
                </a:r>
              </a:p>
              <a:p>
                <a:pPr marL="808038" indent="-325438">
                  <a:spcAft>
                    <a:spcPts val="600"/>
                  </a:spcAft>
                  <a:buFont typeface="Arial" panose="020B0604020202020204" pitchFamily="34" charset="0"/>
                  <a:buChar char="•"/>
                </a:pPr>
                <a14:m>
                  <m:oMath xmlns:m="http://schemas.openxmlformats.org/officeDocument/2006/math">
                    <m:r>
                      <a:rPr lang="en-US" sz="2400" i="1">
                        <a:latin typeface="Cambria Math" panose="02040503050406030204" pitchFamily="18" charset="0"/>
                        <a:ea typeface="Cambria Math" panose="02040503050406030204" pitchFamily="18" charset="0"/>
                      </a:rPr>
                      <m:t>$5</m:t>
                    </m:r>
                  </m:oMath>
                </a14:m>
                <a:r>
                  <a:rPr lang="en-US" sz="2400" dirty="0">
                    <a:latin typeface="Verdana" panose="020B0604030504040204" pitchFamily="34" charset="0"/>
                    <a:ea typeface="Verdana" panose="020B0604030504040204" pitchFamily="34" charset="0"/>
                    <a:cs typeface="Verdana" panose="020B0604030504040204" pitchFamily="34" charset="0"/>
                  </a:rPr>
                  <a:t> for vehicles occupied </a:t>
                </a:r>
                <a14:m>
                  <m:oMath xmlns:m="http://schemas.openxmlformats.org/officeDocument/2006/math">
                    <m:r>
                      <a:rPr lang="en-US" sz="2400" i="1">
                        <a:latin typeface="Cambria Math" panose="02040503050406030204" pitchFamily="18" charset="0"/>
                        <a:ea typeface="Cambria Math" panose="02040503050406030204" pitchFamily="18" charset="0"/>
                      </a:rPr>
                      <m:t>2−8</m:t>
                    </m:r>
                  </m:oMath>
                </a14:m>
                <a:r>
                  <a:rPr lang="en-US" sz="2400" dirty="0">
                    <a:latin typeface="Verdana" panose="020B0604030504040204" pitchFamily="34" charset="0"/>
                    <a:ea typeface="Verdana" panose="020B0604030504040204" pitchFamily="34" charset="0"/>
                    <a:cs typeface="Verdana" panose="020B0604030504040204" pitchFamily="34" charset="0"/>
                  </a:rPr>
                  <a:t> people</a:t>
                </a:r>
              </a:p>
              <a:p>
                <a:pPr marL="808038" indent="-325438">
                  <a:buFont typeface="Arial" panose="020B0604020202020204" pitchFamily="34" charset="0"/>
                  <a:buChar char="•"/>
                </a:pPr>
                <a14:m>
                  <m:oMath xmlns:m="http://schemas.openxmlformats.org/officeDocument/2006/math">
                    <m:r>
                      <a:rPr lang="en-US" sz="2400" i="1">
                        <a:latin typeface="Cambria Math" panose="02040503050406030204" pitchFamily="18" charset="0"/>
                        <a:ea typeface="Cambria Math" panose="02040503050406030204" pitchFamily="18" charset="0"/>
                      </a:rPr>
                      <m:t>$2</m:t>
                    </m:r>
                  </m:oMath>
                </a14:m>
                <a:r>
                  <a:rPr lang="en-US" sz="2400" dirty="0">
                    <a:latin typeface="Verdana" panose="020B0604030504040204" pitchFamily="34" charset="0"/>
                    <a:ea typeface="Verdana" panose="020B0604030504040204" pitchFamily="34" charset="0"/>
                    <a:cs typeface="Verdana" panose="020B0604030504040204" pitchFamily="34" charset="0"/>
                  </a:rPr>
                  <a:t> additional per passenger over </a:t>
                </a:r>
                <a14:m>
                  <m:oMath xmlns:m="http://schemas.openxmlformats.org/officeDocument/2006/math">
                    <m:r>
                      <a:rPr lang="en-US" sz="2400" i="1">
                        <a:latin typeface="Cambria Math" panose="02040503050406030204" pitchFamily="18" charset="0"/>
                        <a:ea typeface="Cambria Math" panose="02040503050406030204" pitchFamily="18" charset="0"/>
                      </a:rPr>
                      <m:t>8</m:t>
                    </m:r>
                  </m:oMath>
                </a14:m>
                <a:r>
                  <a:rPr lang="en-US" sz="2400" dirty="0">
                    <a:latin typeface="Verdana" panose="020B0604030504040204" pitchFamily="34" charset="0"/>
                    <a:ea typeface="Verdana" panose="020B0604030504040204" pitchFamily="34" charset="0"/>
                    <a:cs typeface="Verdana" panose="020B0604030504040204" pitchFamily="34" charset="0"/>
                  </a:rPr>
                  <a:t> people</a:t>
                </a:r>
              </a:p>
              <a:p>
                <a:r>
                  <a:rPr lang="en-US" sz="2400" i="1" dirty="0">
                    <a:latin typeface="Verdana" panose="020B0604030504040204" pitchFamily="34" charset="0"/>
                    <a:ea typeface="Verdana" panose="020B0604030504040204" pitchFamily="34" charset="0"/>
                    <a:cs typeface="Verdana" panose="020B0604030504040204" pitchFamily="34" charset="0"/>
                  </a:rPr>
                  <a:t> </a:t>
                </a: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lvl="1" indent="-457200">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Identify pairs of values that are comparing the cost of admission into the park for a vehicle to the number of people in the vehicle.</a:t>
                </a:r>
              </a:p>
              <a:p>
                <a:pPr marL="914400" lvl="1"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lvl="1"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lvl="1" indent="-457200">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Determine whether the relationship between the two quantities is proportional. If it is proportional, state the constant of proportionality. If it is not proportional, explain why not.</a:t>
                </a:r>
              </a:p>
            </p:txBody>
          </p:sp>
        </mc:Choice>
        <mc:Fallback>
          <p:sp>
            <p:nvSpPr>
              <p:cNvPr id="5" name="TextBox 4">
                <a:extLst>
                  <a:ext uri="{FF2B5EF4-FFF2-40B4-BE49-F238E27FC236}">
                    <a16:creationId xmlns:a16="http://schemas.microsoft.com/office/drawing/2014/main" xmlns:a14="http://schemas.microsoft.com/office/drawing/2010/main" xmlns="" id="{8AE5E1E0-A54D-BE42-84B5-F917038ADE99}"/>
                  </a:ext>
                </a:extLst>
              </p:cNvPr>
              <p:cNvSpPr txBox="1">
                <a:spLocks noRot="1" noChangeAspect="1" noMove="1" noResize="1" noEditPoints="1" noAdjustHandles="1" noChangeArrowheads="1" noChangeShapeType="1" noTextEdit="1"/>
              </p:cNvSpPr>
              <p:nvPr/>
            </p:nvSpPr>
            <p:spPr>
              <a:xfrm>
                <a:off x="535418" y="377522"/>
                <a:ext cx="10800000" cy="5940088"/>
              </a:xfrm>
              <a:prstGeom prst="rect">
                <a:avLst/>
              </a:prstGeom>
              <a:blipFill rotWithShape="1">
                <a:blip r:embed="rId3"/>
                <a:stretch>
                  <a:fillRect l="-903" t="-821" b="-1437"/>
                </a:stretch>
              </a:blipFill>
            </p:spPr>
            <p:txBody>
              <a:bodyPr/>
              <a:lstStyle/>
              <a:p>
                <a:r>
                  <a:rPr lang="en-PH">
                    <a:noFill/>
                  </a:rPr>
                  <a:t> </a:t>
                </a:r>
              </a:p>
            </p:txBody>
          </p:sp>
        </mc:Fallback>
      </mc:AlternateContent>
      <p:sp>
        <p:nvSpPr>
          <p:cNvPr id="7" name="Google Shape;282;g104476d1465_1_17"/>
          <p:cNvSpPr txBox="1"/>
          <p:nvPr/>
        </p:nvSpPr>
        <p:spPr>
          <a:xfrm>
            <a:off x="8949760" y="65213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174</a:t>
            </a:r>
            <a:endParaRPr i="1" dirty="0">
              <a:latin typeface="Calibri"/>
              <a:ea typeface="Calibri"/>
              <a:cs typeface="Calibri"/>
              <a:sym typeface="Calibri"/>
            </a:endParaRPr>
          </a:p>
        </p:txBody>
      </p:sp>
      <p:pic>
        <p:nvPicPr>
          <p:cNvPr id="8"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83760" y="6165087"/>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41566534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xmlns="" id="{8AE5E1E0-A54D-BE42-84B5-F917038ADE99}"/>
                  </a:ext>
                </a:extLst>
              </p:cNvPr>
              <p:cNvSpPr txBox="1"/>
              <p:nvPr/>
            </p:nvSpPr>
            <p:spPr>
              <a:xfrm>
                <a:off x="533500" y="368644"/>
                <a:ext cx="10800000" cy="5262979"/>
              </a:xfrm>
              <a:prstGeom prst="rect">
                <a:avLst/>
              </a:prstGeom>
              <a:noFill/>
            </p:spPr>
            <p:txBody>
              <a:bodyPr wrap="square" rtlCol="0">
                <a:spAutoFit/>
              </a:bodyPr>
              <a:lstStyle/>
              <a:p>
                <a:pPr marL="457200" indent="-457200">
                  <a:buFont typeface="+mj-lt"/>
                  <a:buAutoNum type="arabicPeriod" startAt="3"/>
                </a:pPr>
                <a:r>
                  <a:rPr lang="en-US" sz="2400" dirty="0">
                    <a:latin typeface="Verdana" panose="020B0604030504040204" pitchFamily="34" charset="0"/>
                    <a:ea typeface="Verdana" panose="020B0604030504040204" pitchFamily="34" charset="0"/>
                    <a:cs typeface="Verdana" panose="020B0604030504040204" pitchFamily="34" charset="0"/>
                  </a:rPr>
                  <a:t>Aluminum cans can be recycled instead of being thrown in the garbage. Some states pay people for returning cans so the aluminum can be reused for other products. The weight of </a:t>
                </a:r>
                <a:r>
                  <a:rPr lang="en-PH" sz="2400" i="1" dirty="0" smtClean="0">
                    <a:latin typeface="Cambria Math" panose="02040503050406030204" pitchFamily="18" charset="0"/>
                    <a:ea typeface="Cambria Math" panose="02040503050406030204" pitchFamily="18" charset="0"/>
                  </a:rPr>
                  <a:t/>
                </a:r>
                <a:br>
                  <a:rPr lang="en-PH" sz="2400" i="1" dirty="0" smtClean="0">
                    <a:latin typeface="Cambria Math" panose="02040503050406030204" pitchFamily="18" charset="0"/>
                    <a:ea typeface="Cambria Math" panose="02040503050406030204" pitchFamily="18" charset="0"/>
                  </a:rPr>
                </a:br>
                <a14:m>
                  <m:oMath xmlns:m="http://schemas.openxmlformats.org/officeDocument/2006/math">
                    <m:r>
                      <a:rPr lang="en-US" sz="2400" i="1">
                        <a:latin typeface="Cambria Math" panose="02040503050406030204" pitchFamily="18" charset="0"/>
                        <a:ea typeface="Cambria Math" panose="02040503050406030204" pitchFamily="18" charset="0"/>
                      </a:rPr>
                      <m:t>10</m:t>
                    </m:r>
                  </m:oMath>
                </a14:m>
                <a:r>
                  <a:rPr lang="en-US" sz="2400" dirty="0">
                    <a:latin typeface="Verdana" panose="020B0604030504040204" pitchFamily="34" charset="0"/>
                    <a:ea typeface="Verdana" panose="020B0604030504040204" pitchFamily="34" charset="0"/>
                    <a:cs typeface="Verdana" panose="020B0604030504040204" pitchFamily="34" charset="0"/>
                  </a:rPr>
                  <a:t> aluminum cans is </a:t>
                </a:r>
                <a14:m>
                  <m:oMath xmlns:m="http://schemas.openxmlformats.org/officeDocument/2006/math">
                    <m:r>
                      <a:rPr lang="en-US" sz="2400" i="1">
                        <a:latin typeface="Cambria Math" panose="02040503050406030204" pitchFamily="18" charset="0"/>
                        <a:ea typeface="Cambria Math" panose="02040503050406030204" pitchFamily="18" charset="0"/>
                      </a:rPr>
                      <m:t>0.16</m:t>
                    </m:r>
                  </m:oMath>
                </a14:m>
                <a:r>
                  <a:rPr lang="en-US" sz="2400" dirty="0">
                    <a:latin typeface="Verdana" panose="020B0604030504040204" pitchFamily="34" charset="0"/>
                    <a:ea typeface="Verdana" panose="020B0604030504040204" pitchFamily="34" charset="0"/>
                    <a:cs typeface="Verdana" panose="020B0604030504040204" pitchFamily="34" charset="0"/>
                  </a:rPr>
                  <a:t> kilograms (kg). The weight of </a:t>
                </a:r>
                <a14:m>
                  <m:oMath xmlns:m="http://schemas.openxmlformats.org/officeDocument/2006/math">
                    <m:r>
                      <a:rPr lang="en-US" sz="2400" i="1">
                        <a:latin typeface="Cambria Math" panose="02040503050406030204" pitchFamily="18" charset="0"/>
                        <a:ea typeface="Cambria Math" panose="02040503050406030204" pitchFamily="18" charset="0"/>
                      </a:rPr>
                      <m:t>25</m:t>
                    </m:r>
                  </m:oMath>
                </a14:m>
                <a:r>
                  <a:rPr lang="en-US" sz="2400" dirty="0">
                    <a:latin typeface="Verdana" panose="020B0604030504040204" pitchFamily="34" charset="0"/>
                    <a:ea typeface="Verdana" panose="020B0604030504040204" pitchFamily="34" charset="0"/>
                    <a:cs typeface="Verdana" panose="020B0604030504040204" pitchFamily="34" charset="0"/>
                  </a:rPr>
                  <a:t> aluminum cans is </a:t>
                </a:r>
                <a14:m>
                  <m:oMath xmlns:m="http://schemas.openxmlformats.org/officeDocument/2006/math">
                    <m:r>
                      <a:rPr lang="en-US" sz="2400" i="1">
                        <a:latin typeface="Cambria Math" panose="02040503050406030204" pitchFamily="18" charset="0"/>
                        <a:ea typeface="Cambria Math" panose="02040503050406030204" pitchFamily="18" charset="0"/>
                      </a:rPr>
                      <m:t>0.4</m:t>
                    </m:r>
                  </m:oMath>
                </a14:m>
                <a:r>
                  <a:rPr lang="en-US" sz="2400" dirty="0">
                    <a:latin typeface="Verdana" panose="020B0604030504040204" pitchFamily="34" charset="0"/>
                    <a:ea typeface="Verdana" panose="020B0604030504040204" pitchFamily="34" charset="0"/>
                    <a:cs typeface="Verdana" panose="020B0604030504040204" pitchFamily="34" charset="0"/>
                  </a:rPr>
                  <a:t> kg.</a:t>
                </a:r>
              </a:p>
              <a:p>
                <a:r>
                  <a:rPr lang="en-US" sz="2400" dirty="0">
                    <a:latin typeface="Verdana" panose="020B0604030504040204" pitchFamily="34" charset="0"/>
                    <a:ea typeface="Verdana" panose="020B0604030504040204" pitchFamily="34" charset="0"/>
                    <a:cs typeface="Verdana" panose="020B0604030504040204" pitchFamily="34" charset="0"/>
                  </a:rPr>
                  <a:t> </a:t>
                </a:r>
              </a:p>
              <a:p>
                <a:pPr marL="914400" lvl="1" indent="-457200">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Identify pairs of values of the two quantities being compared. </a:t>
                </a:r>
              </a:p>
              <a:p>
                <a:pPr marL="914400" lvl="1"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lvl="1"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lvl="1"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lvl="1" indent="-457200">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Determine whether the relationship between the two quantities is proportional. If it is proportional, state the constant of proportionality. If it is not proportional, explain why not.</a:t>
                </a:r>
              </a:p>
            </p:txBody>
          </p:sp>
        </mc:Choice>
        <mc:Fallback>
          <p:sp>
            <p:nvSpPr>
              <p:cNvPr id="5" name="TextBox 4">
                <a:extLst>
                  <a:ext uri="{FF2B5EF4-FFF2-40B4-BE49-F238E27FC236}">
                    <a16:creationId xmlns:a16="http://schemas.microsoft.com/office/drawing/2014/main" xmlns:a14="http://schemas.microsoft.com/office/drawing/2010/main" xmlns="" id="{8AE5E1E0-A54D-BE42-84B5-F917038ADE99}"/>
                  </a:ext>
                </a:extLst>
              </p:cNvPr>
              <p:cNvSpPr txBox="1">
                <a:spLocks noRot="1" noChangeAspect="1" noMove="1" noResize="1" noEditPoints="1" noAdjustHandles="1" noChangeArrowheads="1" noChangeShapeType="1" noTextEdit="1"/>
              </p:cNvSpPr>
              <p:nvPr/>
            </p:nvSpPr>
            <p:spPr>
              <a:xfrm>
                <a:off x="533500" y="368644"/>
                <a:ext cx="10800000" cy="5262979"/>
              </a:xfrm>
              <a:prstGeom prst="rect">
                <a:avLst/>
              </a:prstGeom>
              <a:blipFill rotWithShape="1">
                <a:blip r:embed="rId3"/>
                <a:stretch>
                  <a:fillRect l="-903" t="-926" b="-1620"/>
                </a:stretch>
              </a:blipFill>
            </p:spPr>
            <p:txBody>
              <a:bodyPr/>
              <a:lstStyle/>
              <a:p>
                <a:r>
                  <a:rPr lang="en-PH">
                    <a:noFill/>
                  </a:rPr>
                  <a:t> </a:t>
                </a:r>
              </a:p>
            </p:txBody>
          </p:sp>
        </mc:Fallback>
      </mc:AlternateContent>
      <p:sp>
        <p:nvSpPr>
          <p:cNvPr id="7" name="Google Shape;282;g104476d1465_1_17"/>
          <p:cNvSpPr txBox="1"/>
          <p:nvPr/>
        </p:nvSpPr>
        <p:spPr>
          <a:xfrm>
            <a:off x="8949760" y="65213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174</a:t>
            </a:r>
            <a:endParaRPr i="1" dirty="0">
              <a:latin typeface="Calibri"/>
              <a:ea typeface="Calibri"/>
              <a:cs typeface="Calibri"/>
              <a:sym typeface="Calibri"/>
            </a:endParaRPr>
          </a:p>
        </p:txBody>
      </p:sp>
      <p:pic>
        <p:nvPicPr>
          <p:cNvPr id="8"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83760" y="6165087"/>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55513302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xmlns="" id="{DE95225C-59B5-E847-AFA2-B83DCFFA10D8}"/>
              </a:ext>
            </a:extLst>
          </p:cNvPr>
          <p:cNvPicPr preferRelativeResize="0"/>
          <p:nvPr/>
        </p:nvPicPr>
        <p:blipFill rotWithShape="1">
          <a:blip r:embed="rId3">
            <a:alphaModFix/>
          </a:blip>
          <a:srcRect/>
          <a:stretch/>
        </p:blipFill>
        <p:spPr>
          <a:xfrm>
            <a:off x="4429333" y="2933695"/>
            <a:ext cx="1008299" cy="1016513"/>
          </a:xfrm>
          <a:prstGeom prst="rect">
            <a:avLst/>
          </a:prstGeom>
          <a:noFill/>
          <a:ln>
            <a:noFill/>
          </a:ln>
          <a:effectLst>
            <a:outerShdw blurRad="50800" dist="38100" dir="2700000" algn="tl" rotWithShape="0">
              <a:prstClr val="black">
                <a:alpha val="40000"/>
              </a:prstClr>
            </a:outerShdw>
          </a:effectLst>
        </p:spPr>
      </p:pic>
      <p:sp>
        <p:nvSpPr>
          <p:cNvPr id="9" name="Google Shape;282;g104476d1465_1_17"/>
          <p:cNvSpPr txBox="1"/>
          <p:nvPr/>
        </p:nvSpPr>
        <p:spPr>
          <a:xfrm>
            <a:off x="8949760" y="65213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175</a:t>
            </a:r>
            <a:endParaRPr i="1" dirty="0">
              <a:latin typeface="Calibri"/>
              <a:ea typeface="Calibri"/>
              <a:cs typeface="Calibri"/>
              <a:sym typeface="Calibri"/>
            </a:endParaRP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83760" y="6165087"/>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67690871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12040" y="2333"/>
            <a:ext cx="223200" cy="6866100"/>
          </a:xfrm>
          <a:prstGeom prst="rect">
            <a:avLst/>
          </a:prstGeom>
          <a:solidFill>
            <a:srgbClr val="B399C8"/>
          </a:solidFill>
          <a:ln w="9525" cap="flat" cmpd="sng">
            <a:solidFill>
              <a:srgbClr val="B399C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456;g103996e1364_0_463">
            <a:extLst>
              <a:ext uri="{FF2B5EF4-FFF2-40B4-BE49-F238E27FC236}">
                <a16:creationId xmlns:a16="http://schemas.microsoft.com/office/drawing/2014/main" xmlns="" id="{68C03D65-F0BF-3F41-B52A-024F47388982}"/>
              </a:ext>
            </a:extLst>
          </p:cNvPr>
          <p:cNvSpPr txBox="1">
            <a:spLocks/>
          </p:cNvSpPr>
          <p:nvPr/>
        </p:nvSpPr>
        <p:spPr>
          <a:xfrm>
            <a:off x="1154006" y="103904"/>
            <a:ext cx="988189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11.5.5 Wrap-Up: Ticket Out the Door</a:t>
            </a:r>
          </a:p>
        </p:txBody>
      </p:sp>
      <p:pic>
        <p:nvPicPr>
          <p:cNvPr id="9" name="Google Shape;458;g103996e1364_0_463">
            <a:extLst>
              <a:ext uri="{FF2B5EF4-FFF2-40B4-BE49-F238E27FC236}">
                <a16:creationId xmlns:a16="http://schemas.microsoft.com/office/drawing/2014/main" xmlns="" id="{EEA44D6C-2366-AC41-B1B5-EDDC34786A66}"/>
              </a:ext>
            </a:extLst>
          </p:cNvPr>
          <p:cNvPicPr preferRelativeResize="0"/>
          <p:nvPr/>
        </p:nvPicPr>
        <p:blipFill rotWithShape="1">
          <a:blip r:embed="rId3">
            <a:alphaModFix/>
          </a:blip>
          <a:srcRect/>
          <a:stretch/>
        </p:blipFill>
        <p:spPr>
          <a:xfrm>
            <a:off x="324996" y="393104"/>
            <a:ext cx="747300" cy="747300"/>
          </a:xfrm>
          <a:prstGeom prst="rect">
            <a:avLst/>
          </a:prstGeom>
          <a:noFill/>
          <a:ln>
            <a:noFill/>
          </a:ln>
          <a:effectLst>
            <a:outerShdw blurRad="50800" dist="38100" dir="2700000" algn="tl" rotWithShape="0">
              <a:prstClr val="black">
                <a:alpha val="40000"/>
              </a:prstClr>
            </a:outerShdw>
          </a:effectLst>
        </p:spPr>
      </p:pic>
      <p:sp>
        <p:nvSpPr>
          <p:cNvPr id="12" name="TextBox 11">
            <a:extLst>
              <a:ext uri="{FF2B5EF4-FFF2-40B4-BE49-F238E27FC236}">
                <a16:creationId xmlns:a16="http://schemas.microsoft.com/office/drawing/2014/main" xmlns="" id="{0370EDB7-6994-3D43-ABF9-E04CBAFB9CD9}"/>
              </a:ext>
            </a:extLst>
          </p:cNvPr>
          <p:cNvSpPr txBox="1"/>
          <p:nvPr/>
        </p:nvSpPr>
        <p:spPr>
          <a:xfrm>
            <a:off x="533239" y="1230422"/>
            <a:ext cx="10800000" cy="4231928"/>
          </a:xfrm>
          <a:prstGeom prst="rect">
            <a:avLst/>
          </a:prstGeom>
          <a:noFill/>
        </p:spPr>
        <p:txBody>
          <a:bodyPr wrap="square" rtlCol="0">
            <a:spAutoFit/>
          </a:bodyPr>
          <a:lstStyle/>
          <a:p>
            <a:pPr marL="457200" indent="-457200">
              <a:spcAft>
                <a:spcPts val="600"/>
              </a:spcAft>
              <a:buFont typeface="+mj-lt"/>
              <a:buAutoNum type="arabicPeriod"/>
            </a:pPr>
            <a:r>
              <a:rPr lang="en-US" sz="2200" dirty="0">
                <a:latin typeface="Verdana" panose="020B0604030504040204" pitchFamily="34" charset="0"/>
                <a:ea typeface="Verdana" panose="020B0604030504040204" pitchFamily="34" charset="0"/>
                <a:cs typeface="Verdana" panose="020B0604030504040204" pitchFamily="34" charset="0"/>
              </a:rPr>
              <a:t>The table shows how loud a sound is, in decibels (dB), depending on how far away the listener is from it, in feet (</a:t>
            </a:r>
            <a:r>
              <a:rPr lang="en-US" sz="2200" dirty="0" err="1">
                <a:latin typeface="Verdana" panose="020B0604030504040204" pitchFamily="34" charset="0"/>
                <a:ea typeface="Verdana" panose="020B0604030504040204" pitchFamily="34" charset="0"/>
                <a:cs typeface="Verdana" panose="020B0604030504040204" pitchFamily="34" charset="0"/>
              </a:rPr>
              <a:t>ft</a:t>
            </a:r>
            <a:r>
              <a:rPr lang="en-US" sz="2200" dirty="0">
                <a:latin typeface="Verdana" panose="020B0604030504040204" pitchFamily="34" charset="0"/>
                <a:ea typeface="Verdana" panose="020B0604030504040204" pitchFamily="34" charset="0"/>
                <a:cs typeface="Verdana" panose="020B0604030504040204" pitchFamily="34" charset="0"/>
              </a:rPr>
              <a:t>).</a:t>
            </a:r>
          </a:p>
          <a:p>
            <a:pPr marL="457200" indent="-457200">
              <a:buFont typeface="+mj-lt"/>
              <a:buAutoNum type="arabi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200" dirty="0" smtClean="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a:r>
              <a:rPr lang="en-US" sz="2200" dirty="0" smtClean="0">
                <a:latin typeface="Verdana" panose="020B0604030504040204" pitchFamily="34" charset="0"/>
                <a:ea typeface="Verdana" panose="020B0604030504040204" pitchFamily="34" charset="0"/>
                <a:cs typeface="Verdana" panose="020B0604030504040204" pitchFamily="34" charset="0"/>
              </a:rPr>
              <a:t>Use </a:t>
            </a:r>
            <a:r>
              <a:rPr lang="en-US" sz="2200" dirty="0">
                <a:latin typeface="Verdana" panose="020B0604030504040204" pitchFamily="34" charset="0"/>
                <a:ea typeface="Verdana" panose="020B0604030504040204" pitchFamily="34" charset="0"/>
                <a:cs typeface="Verdana" panose="020B0604030504040204" pitchFamily="34" charset="0"/>
              </a:rPr>
              <a:t>the table to complete the statements.</a:t>
            </a:r>
          </a:p>
          <a:p>
            <a:pPr marL="457200">
              <a:lnSpc>
                <a:spcPct val="200000"/>
              </a:lnSpc>
            </a:pPr>
            <a:r>
              <a:rPr lang="en-US" sz="2200" dirty="0">
                <a:latin typeface="Verdana" panose="020B0604030504040204" pitchFamily="34" charset="0"/>
                <a:ea typeface="Verdana" panose="020B0604030504040204" pitchFamily="34" charset="0"/>
                <a:cs typeface="Verdana" panose="020B0604030504040204" pitchFamily="34" charset="0"/>
              </a:rPr>
              <a:t>The table		       represent a proportional relationship.</a:t>
            </a:r>
          </a:p>
        </p:txBody>
      </p:sp>
      <mc:AlternateContent xmlns:mc="http://schemas.openxmlformats.org/markup-compatibility/2006">
        <mc:Choice xmlns:a14="http://schemas.microsoft.com/office/drawing/2010/main" Requires="a14">
          <p:graphicFrame>
            <p:nvGraphicFramePr>
              <p:cNvPr id="2" name="Table 1"/>
              <p:cNvGraphicFramePr>
                <a:graphicFrameLocks noGrp="1"/>
              </p:cNvGraphicFramePr>
              <p:nvPr>
                <p:extLst>
                  <p:ext uri="{D42A27DB-BD31-4B8C-83A1-F6EECF244321}">
                    <p14:modId xmlns:p14="http://schemas.microsoft.com/office/powerpoint/2010/main" val="916041928"/>
                  </p:ext>
                </p:extLst>
              </p:nvPr>
            </p:nvGraphicFramePr>
            <p:xfrm>
              <a:off x="1072296" y="2074415"/>
              <a:ext cx="7560000" cy="2052000"/>
            </p:xfrm>
            <a:graphic>
              <a:graphicData uri="http://schemas.openxmlformats.org/drawingml/2006/table">
                <a:tbl>
                  <a:tblPr firstRow="1" firstCol="1" lastRow="1" lastCol="1">
                    <a:tableStyleId>{5940675A-B579-460E-94D1-54222C63F5DA}</a:tableStyleId>
                  </a:tblPr>
                  <a:tblGrid>
                    <a:gridCol w="3960000">
                      <a:extLst>
                        <a:ext uri="{9D8B030D-6E8A-4147-A177-3AD203B41FA5}">
                          <a16:colId xmlns:a16="http://schemas.microsoft.com/office/drawing/2014/main" xmlns="" val="20000"/>
                        </a:ext>
                      </a:extLst>
                    </a:gridCol>
                    <a:gridCol w="3600000">
                      <a:extLst>
                        <a:ext uri="{9D8B030D-6E8A-4147-A177-3AD203B41FA5}">
                          <a16:colId xmlns:a16="http://schemas.microsoft.com/office/drawing/2014/main" xmlns="" val="20001"/>
                        </a:ext>
                      </a:extLst>
                    </a:gridCol>
                  </a:tblGrid>
                  <a:tr h="468000">
                    <a:tc>
                      <a:txBody>
                        <a:bodyPr/>
                        <a:lstStyle/>
                        <a:p>
                          <a:pPr marL="0" marR="0" algn="ctr">
                            <a:spcBef>
                              <a:spcPts val="180"/>
                            </a:spcBef>
                            <a:spcAft>
                              <a:spcPts val="18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Distance to Listener (</a:t>
                          </a:r>
                          <a:r>
                            <a:rPr lang="en-US" sz="2000" b="1" dirty="0" err="1">
                              <a:effectLst/>
                              <a:latin typeface="Verdana" panose="020B0604030504040204" pitchFamily="34" charset="0"/>
                              <a:ea typeface="Verdana" panose="020B0604030504040204" pitchFamily="34" charset="0"/>
                              <a:cs typeface="Verdana" panose="020B0604030504040204" pitchFamily="34" charset="0"/>
                            </a:rPr>
                            <a:t>ft</a:t>
                          </a:r>
                          <a:r>
                            <a:rPr lang="en-US" sz="2000" b="1" dirty="0">
                              <a:effectLst/>
                              <a:latin typeface="Verdana" panose="020B0604030504040204" pitchFamily="34" charset="0"/>
                              <a:ea typeface="Verdana" panose="020B0604030504040204" pitchFamily="34" charset="0"/>
                              <a:cs typeface="Verdana" panose="020B0604030504040204" pitchFamily="34" charset="0"/>
                            </a:rPr>
                            <a:t>)</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180"/>
                            </a:spcBef>
                            <a:spcAft>
                              <a:spcPts val="18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Sound </a:t>
                          </a:r>
                          <a:r>
                            <a:rPr lang="en-US" sz="2000" b="1" dirty="0" smtClean="0">
                              <a:effectLst/>
                              <a:latin typeface="Verdana" panose="020B0604030504040204" pitchFamily="34" charset="0"/>
                              <a:ea typeface="Verdana" panose="020B0604030504040204" pitchFamily="34" charset="0"/>
                              <a:cs typeface="Verdana" panose="020B0604030504040204" pitchFamily="34" charset="0"/>
                            </a:rPr>
                            <a:t>Level (dB</a:t>
                          </a:r>
                          <a:r>
                            <a:rPr lang="en-US" sz="2000" b="1" dirty="0">
                              <a:effectLst/>
                              <a:latin typeface="Verdana" panose="020B0604030504040204" pitchFamily="34" charset="0"/>
                              <a:ea typeface="Verdana" panose="020B0604030504040204" pitchFamily="34" charset="0"/>
                              <a:cs typeface="Verdana" panose="020B0604030504040204" pitchFamily="34" charset="0"/>
                            </a:rPr>
                            <a:t>)</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xmlns="" val="10000"/>
                      </a:ext>
                    </a:extLst>
                  </a:tr>
                  <a:tr h="396000">
                    <a:tc>
                      <a:txBody>
                        <a:bodyPr/>
                        <a:lstStyle/>
                        <a:p>
                          <a:pPr marL="0" marR="0" algn="ctr">
                            <a:spcBef>
                              <a:spcPts val="180"/>
                            </a:spcBef>
                            <a:spcAft>
                              <a:spcPts val="18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5</m:t>
                                </m:r>
                              </m:oMath>
                            </m:oMathPara>
                          </a14:m>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180"/>
                            </a:spcBef>
                            <a:spcAft>
                              <a:spcPts val="18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85</m:t>
                                </m:r>
                              </m:oMath>
                            </m:oMathPara>
                          </a14:m>
                          <a:endParaRPr lang="en-US" sz="200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1"/>
                      </a:ext>
                    </a:extLst>
                  </a:tr>
                  <a:tr h="396000">
                    <a:tc>
                      <a:txBody>
                        <a:bodyPr/>
                        <a:lstStyle/>
                        <a:p>
                          <a:pPr marL="0" marR="0" algn="ctr">
                            <a:spcBef>
                              <a:spcPts val="180"/>
                            </a:spcBef>
                            <a:spcAft>
                              <a:spcPts val="18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10</m:t>
                                </m:r>
                              </m:oMath>
                            </m:oMathPara>
                          </a14:m>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180"/>
                            </a:spcBef>
                            <a:spcAft>
                              <a:spcPts val="18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79</m:t>
                                </m:r>
                              </m:oMath>
                            </m:oMathPara>
                          </a14:m>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2"/>
                      </a:ext>
                    </a:extLst>
                  </a:tr>
                  <a:tr h="396000">
                    <a:tc>
                      <a:txBody>
                        <a:bodyPr/>
                        <a:lstStyle/>
                        <a:p>
                          <a:pPr marL="0" marR="0" algn="ctr">
                            <a:spcBef>
                              <a:spcPts val="180"/>
                            </a:spcBef>
                            <a:spcAft>
                              <a:spcPts val="18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20</m:t>
                                </m:r>
                              </m:oMath>
                            </m:oMathPara>
                          </a14:m>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180"/>
                            </a:spcBef>
                            <a:spcAft>
                              <a:spcPts val="18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73</m:t>
                                </m:r>
                              </m:oMath>
                            </m:oMathPara>
                          </a14:m>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3"/>
                      </a:ext>
                    </a:extLst>
                  </a:tr>
                  <a:tr h="396000">
                    <a:tc>
                      <a:txBody>
                        <a:bodyPr/>
                        <a:lstStyle/>
                        <a:p>
                          <a:pPr marL="0" marR="0" algn="ctr">
                            <a:spcBef>
                              <a:spcPts val="180"/>
                            </a:spcBef>
                            <a:spcAft>
                              <a:spcPts val="18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40</m:t>
                                </m:r>
                              </m:oMath>
                            </m:oMathPara>
                          </a14:m>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180"/>
                            </a:spcBef>
                            <a:spcAft>
                              <a:spcPts val="18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67</m:t>
                                </m:r>
                              </m:oMath>
                            </m:oMathPara>
                          </a14:m>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4"/>
                      </a:ext>
                    </a:extLst>
                  </a:tr>
                </a:tbl>
              </a:graphicData>
            </a:graphic>
          </p:graphicFrame>
        </mc:Choice>
        <mc:Fallback>
          <p:graphicFrame>
            <p:nvGraphicFramePr>
              <p:cNvPr id="2" name="Table 1"/>
              <p:cNvGraphicFramePr>
                <a:graphicFrameLocks noGrp="1"/>
              </p:cNvGraphicFramePr>
              <p:nvPr>
                <p:extLst>
                  <p:ext uri="{D42A27DB-BD31-4B8C-83A1-F6EECF244321}">
                    <p14:modId xmlns:p14="http://schemas.microsoft.com/office/powerpoint/2010/main" val="916041928"/>
                  </p:ext>
                </p:extLst>
              </p:nvPr>
            </p:nvGraphicFramePr>
            <p:xfrm>
              <a:off x="1072296" y="2074415"/>
              <a:ext cx="7560000" cy="2052000"/>
            </p:xfrm>
            <a:graphic>
              <a:graphicData uri="http://schemas.openxmlformats.org/drawingml/2006/table">
                <a:tbl>
                  <a:tblPr firstRow="1" firstCol="1" lastRow="1" lastCol="1">
                    <a:tableStyleId>{5940675A-B579-460E-94D1-54222C63F5DA}</a:tableStyleId>
                  </a:tblPr>
                  <a:tblGrid>
                    <a:gridCol w="3960000">
                      <a:extLst>
                        <a:ext uri="{9D8B030D-6E8A-4147-A177-3AD203B41FA5}">
                          <a16:colId xmlns:a16="http://schemas.microsoft.com/office/drawing/2014/main" xmlns:a14="http://schemas.microsoft.com/office/drawing/2010/main" xmlns="" val="20000"/>
                        </a:ext>
                      </a:extLst>
                    </a:gridCol>
                    <a:gridCol w="3600000">
                      <a:extLst>
                        <a:ext uri="{9D8B030D-6E8A-4147-A177-3AD203B41FA5}">
                          <a16:colId xmlns:a16="http://schemas.microsoft.com/office/drawing/2014/main" xmlns:a14="http://schemas.microsoft.com/office/drawing/2010/main" xmlns="" val="20001"/>
                        </a:ext>
                      </a:extLst>
                    </a:gridCol>
                  </a:tblGrid>
                  <a:tr h="468000">
                    <a:tc>
                      <a:txBody>
                        <a:bodyPr/>
                        <a:lstStyle/>
                        <a:p>
                          <a:pPr marL="0" marR="0" algn="ctr">
                            <a:spcBef>
                              <a:spcPts val="180"/>
                            </a:spcBef>
                            <a:spcAft>
                              <a:spcPts val="18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Distance to Listener (</a:t>
                          </a:r>
                          <a:r>
                            <a:rPr lang="en-US" sz="2000" b="1" dirty="0" err="1">
                              <a:effectLst/>
                              <a:latin typeface="Verdana" panose="020B0604030504040204" pitchFamily="34" charset="0"/>
                              <a:ea typeface="Verdana" panose="020B0604030504040204" pitchFamily="34" charset="0"/>
                              <a:cs typeface="Verdana" panose="020B0604030504040204" pitchFamily="34" charset="0"/>
                            </a:rPr>
                            <a:t>ft</a:t>
                          </a:r>
                          <a:r>
                            <a:rPr lang="en-US" sz="2000" b="1" dirty="0">
                              <a:effectLst/>
                              <a:latin typeface="Verdana" panose="020B0604030504040204" pitchFamily="34" charset="0"/>
                              <a:ea typeface="Verdana" panose="020B0604030504040204" pitchFamily="34" charset="0"/>
                              <a:cs typeface="Verdana" panose="020B0604030504040204" pitchFamily="34" charset="0"/>
                            </a:rPr>
                            <a:t>)</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180"/>
                            </a:spcBef>
                            <a:spcAft>
                              <a:spcPts val="18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Sound </a:t>
                          </a:r>
                          <a:r>
                            <a:rPr lang="en-US" sz="2000" b="1" dirty="0" smtClean="0">
                              <a:effectLst/>
                              <a:latin typeface="Verdana" panose="020B0604030504040204" pitchFamily="34" charset="0"/>
                              <a:ea typeface="Verdana" panose="020B0604030504040204" pitchFamily="34" charset="0"/>
                              <a:cs typeface="Verdana" panose="020B0604030504040204" pitchFamily="34" charset="0"/>
                            </a:rPr>
                            <a:t>Level (dB</a:t>
                          </a:r>
                          <a:r>
                            <a:rPr lang="en-US" sz="2000" b="1" dirty="0">
                              <a:effectLst/>
                              <a:latin typeface="Verdana" panose="020B0604030504040204" pitchFamily="34" charset="0"/>
                              <a:ea typeface="Verdana" panose="020B0604030504040204" pitchFamily="34" charset="0"/>
                              <a:cs typeface="Verdana" panose="020B0604030504040204" pitchFamily="34" charset="0"/>
                            </a:rPr>
                            <a:t>)</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xmlns:a14="http://schemas.microsoft.com/office/drawing/2010/main" xmlns="" val="10000"/>
                      </a:ext>
                    </a:extLst>
                  </a:tr>
                  <a:tr h="396000">
                    <a:tc>
                      <a:txBody>
                        <a:bodyPr/>
                        <a:lstStyle/>
                        <a:p>
                          <a:endParaRPr lang="en-US"/>
                        </a:p>
                      </a:txBody>
                      <a:tcPr marL="68580" marR="6858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154" t="-118462" r="-90923" b="-300000"/>
                          </a:stretch>
                        </a:blipFill>
                      </a:tcPr>
                    </a:tc>
                    <a:tc>
                      <a:txBody>
                        <a:bodyPr/>
                        <a:lstStyle/>
                        <a:p>
                          <a:endParaRPr lang="en-US"/>
                        </a:p>
                      </a:txBody>
                      <a:tcPr marL="68580" marR="6858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110339" t="-118462" r="-169" b="-300000"/>
                          </a:stretch>
                        </a:blipFill>
                      </a:tcPr>
                    </a:tc>
                    <a:extLst>
                      <a:ext uri="{0D108BD9-81ED-4DB2-BD59-A6C34878D82A}">
                        <a16:rowId xmlns:a16="http://schemas.microsoft.com/office/drawing/2014/main" xmlns:a14="http://schemas.microsoft.com/office/drawing/2010/main" xmlns="" val="10001"/>
                      </a:ext>
                    </a:extLst>
                  </a:tr>
                  <a:tr h="396000">
                    <a:tc>
                      <a:txBody>
                        <a:bodyPr/>
                        <a:lstStyle/>
                        <a:p>
                          <a:endParaRPr lang="en-US"/>
                        </a:p>
                      </a:txBody>
                      <a:tcPr marL="68580" marR="6858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154" t="-218462" r="-90923" b="-200000"/>
                          </a:stretch>
                        </a:blipFill>
                      </a:tcPr>
                    </a:tc>
                    <a:tc>
                      <a:txBody>
                        <a:bodyPr/>
                        <a:lstStyle/>
                        <a:p>
                          <a:endParaRPr lang="en-US"/>
                        </a:p>
                      </a:txBody>
                      <a:tcPr marL="68580" marR="6858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110339" t="-218462" r="-169" b="-200000"/>
                          </a:stretch>
                        </a:blipFill>
                      </a:tcPr>
                    </a:tc>
                    <a:extLst>
                      <a:ext uri="{0D108BD9-81ED-4DB2-BD59-A6C34878D82A}">
                        <a16:rowId xmlns:a16="http://schemas.microsoft.com/office/drawing/2014/main" xmlns:a14="http://schemas.microsoft.com/office/drawing/2010/main" xmlns="" val="10002"/>
                      </a:ext>
                    </a:extLst>
                  </a:tr>
                  <a:tr h="396000">
                    <a:tc>
                      <a:txBody>
                        <a:bodyPr/>
                        <a:lstStyle/>
                        <a:p>
                          <a:endParaRPr lang="en-US"/>
                        </a:p>
                      </a:txBody>
                      <a:tcPr marL="68580" marR="6858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154" t="-318462" r="-90923" b="-100000"/>
                          </a:stretch>
                        </a:blipFill>
                      </a:tcPr>
                    </a:tc>
                    <a:tc>
                      <a:txBody>
                        <a:bodyPr/>
                        <a:lstStyle/>
                        <a:p>
                          <a:endParaRPr lang="en-US"/>
                        </a:p>
                      </a:txBody>
                      <a:tcPr marL="68580" marR="6858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110339" t="-318462" r="-169" b="-100000"/>
                          </a:stretch>
                        </a:blipFill>
                      </a:tcPr>
                    </a:tc>
                    <a:extLst>
                      <a:ext uri="{0D108BD9-81ED-4DB2-BD59-A6C34878D82A}">
                        <a16:rowId xmlns:a16="http://schemas.microsoft.com/office/drawing/2014/main" xmlns:a14="http://schemas.microsoft.com/office/drawing/2010/main" xmlns="" val="10003"/>
                      </a:ext>
                    </a:extLst>
                  </a:tr>
                  <a:tr h="396000">
                    <a:tc>
                      <a:txBody>
                        <a:bodyPr/>
                        <a:lstStyle/>
                        <a:p>
                          <a:endParaRPr lang="en-US"/>
                        </a:p>
                      </a:txBody>
                      <a:tcPr marL="68580" marR="6858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154" t="-418462" r="-90923"/>
                          </a:stretch>
                        </a:blipFill>
                      </a:tcPr>
                    </a:tc>
                    <a:tc>
                      <a:txBody>
                        <a:bodyPr/>
                        <a:lstStyle/>
                        <a:p>
                          <a:endParaRPr lang="en-US"/>
                        </a:p>
                      </a:txBody>
                      <a:tcPr marL="68580" marR="6858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110339" t="-418462" r="-169"/>
                          </a:stretch>
                        </a:blipFill>
                      </a:tcPr>
                    </a:tc>
                    <a:extLst>
                      <a:ext uri="{0D108BD9-81ED-4DB2-BD59-A6C34878D82A}">
                        <a16:rowId xmlns:a16="http://schemas.microsoft.com/office/drawing/2014/main" xmlns:a14="http://schemas.microsoft.com/office/drawing/2010/main" xmlns="" val="10004"/>
                      </a:ext>
                    </a:extLst>
                  </a:tr>
                </a:tbl>
              </a:graphicData>
            </a:graphic>
          </p:graphicFrame>
        </mc:Fallback>
      </mc:AlternateContent>
      <p:pic>
        <p:nvPicPr>
          <p:cNvPr id="10" name="Picture 9"/>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2502892" y="4804146"/>
            <a:ext cx="1417416" cy="739840"/>
          </a:xfrm>
          <a:prstGeom prst="rect">
            <a:avLst/>
          </a:prstGeom>
        </p:spPr>
      </p:pic>
      <p:pic>
        <p:nvPicPr>
          <p:cNvPr id="11" name="Picture 10"/>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1072296" y="5612159"/>
            <a:ext cx="5385862" cy="901904"/>
          </a:xfrm>
          <a:prstGeom prst="rect">
            <a:avLst/>
          </a:prstGeom>
        </p:spPr>
      </p:pic>
      <p:sp>
        <p:nvSpPr>
          <p:cNvPr id="14" name="Google Shape;282;g104476d1465_1_17"/>
          <p:cNvSpPr txBox="1"/>
          <p:nvPr/>
        </p:nvSpPr>
        <p:spPr>
          <a:xfrm>
            <a:off x="8949760" y="65213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smtClean="0">
                <a:latin typeface="Calibri"/>
                <a:ea typeface="Calibri"/>
                <a:cs typeface="Calibri"/>
                <a:sym typeface="Calibri"/>
              </a:rPr>
              <a:t>175</a:t>
            </a:r>
            <a:endParaRPr i="1" dirty="0">
              <a:latin typeface="Calibri"/>
              <a:ea typeface="Calibri"/>
              <a:cs typeface="Calibri"/>
              <a:sym typeface="Calibri"/>
            </a:endParaRPr>
          </a:p>
        </p:txBody>
      </p:sp>
      <p:pic>
        <p:nvPicPr>
          <p:cNvPr id="15" name="Google Shape;283;g104476d1465_1_17"/>
          <p:cNvPicPr preferRelativeResize="0"/>
          <p:nvPr/>
        </p:nvPicPr>
        <p:blipFill>
          <a:blip r:embed="rId7" cstate="screen">
            <a:alphaModFix/>
            <a:extLst>
              <a:ext uri="{28A0092B-C50C-407E-A947-70E740481C1C}">
                <a14:useLocalDpi xmlns:a14="http://schemas.microsoft.com/office/drawing/2010/main"/>
              </a:ext>
            </a:extLst>
          </a:blip>
          <a:stretch>
            <a:fillRect/>
          </a:stretch>
        </p:blipFill>
        <p:spPr>
          <a:xfrm>
            <a:off x="11583760" y="6165087"/>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553995615"/>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1378</TotalTime>
  <Words>896</Words>
  <Application>Microsoft Office PowerPoint</Application>
  <PresentationFormat>Custom</PresentationFormat>
  <Paragraphs>232</Paragraphs>
  <Slides>25</Slides>
  <Notes>25</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25</vt:i4>
      </vt:variant>
    </vt:vector>
  </HeadingPairs>
  <TitlesOfParts>
    <vt:vector size="35" baseType="lpstr">
      <vt:lpstr>Arial</vt:lpstr>
      <vt:lpstr>Century Gothic</vt:lpstr>
      <vt:lpstr>Wingdings</vt:lpstr>
      <vt:lpstr>Cambria Math</vt:lpstr>
      <vt:lpstr>Cambria</vt:lpstr>
      <vt:lpstr>Arial Black</vt:lpstr>
      <vt:lpstr>Verdana</vt:lpstr>
      <vt:lpstr>Calibri</vt:lpstr>
      <vt:lpstr>Times New Roman</vt:lpstr>
      <vt:lpstr>1_Office Theme</vt:lpstr>
      <vt:lpstr>7th Grade Math  Unit 11, Lesson 5  Is It Proportional?  Volume 2, pg. 169  </vt:lpstr>
      <vt:lpstr>Benchmarks</vt:lpstr>
      <vt:lpstr>PowerPoint Presentation</vt:lpstr>
      <vt:lpstr>PowerPoint Presentation</vt:lpstr>
      <vt:lpstr>Warm-Up</vt:lpstr>
      <vt:lpstr>PowerPoint Presentation</vt:lpstr>
      <vt:lpstr>Guided Practice</vt:lpstr>
      <vt:lpstr>PowerPoint Presentation</vt:lpstr>
      <vt:lpstr>PowerPoint Presentation</vt:lpstr>
      <vt:lpstr>PowerPoint Presentation</vt:lpstr>
      <vt:lpstr>PowerPoint Presentation</vt:lpstr>
      <vt:lpstr>PowerPoint Presentation</vt:lpstr>
      <vt:lpstr>PowerPoint Presentation</vt:lpstr>
      <vt:lpstr>Guided Instruction</vt:lpstr>
      <vt:lpstr>PowerPoint Presentation</vt:lpstr>
      <vt:lpstr>PowerPoint Presentation</vt:lpstr>
      <vt:lpstr>PowerPoint Presentation</vt:lpstr>
      <vt:lpstr>PowerPoint Presentation</vt:lpstr>
      <vt:lpstr>Try It</vt:lpstr>
      <vt:lpstr>PowerPoint Presentation</vt:lpstr>
      <vt:lpstr>PowerPoint Presentation</vt:lpstr>
      <vt:lpstr>PowerPoint Presentation</vt:lpstr>
      <vt:lpstr>PowerPoint Presentation</vt:lpstr>
      <vt:lpstr>Wrap-Up</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Sensei</cp:lastModifiedBy>
  <cp:revision>29</cp:revision>
  <dcterms:created xsi:type="dcterms:W3CDTF">2015-03-17T18:51:18Z</dcterms:created>
  <dcterms:modified xsi:type="dcterms:W3CDTF">2022-06-11T23:53:53Z</dcterms:modified>
</cp:coreProperties>
</file>