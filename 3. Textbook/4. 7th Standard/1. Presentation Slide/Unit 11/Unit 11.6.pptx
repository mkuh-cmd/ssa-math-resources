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85" r:id="rId4"/>
    <p:sldId id="286" r:id="rId5"/>
    <p:sldId id="261" r:id="rId6"/>
    <p:sldId id="287" r:id="rId7"/>
    <p:sldId id="288" r:id="rId8"/>
    <p:sldId id="311" r:id="rId9"/>
    <p:sldId id="312" r:id="rId10"/>
    <p:sldId id="313" r:id="rId11"/>
    <p:sldId id="326" r:id="rId12"/>
    <p:sldId id="327" r:id="rId13"/>
    <p:sldId id="328" r:id="rId14"/>
    <p:sldId id="289" r:id="rId15"/>
    <p:sldId id="290" r:id="rId16"/>
    <p:sldId id="308" r:id="rId17"/>
    <p:sldId id="329" r:id="rId18"/>
    <p:sldId id="330" r:id="rId19"/>
    <p:sldId id="332" r:id="rId20"/>
    <p:sldId id="331" r:id="rId21"/>
    <p:sldId id="333" r:id="rId22"/>
    <p:sldId id="323" r:id="rId23"/>
    <p:sldId id="324" r:id="rId24"/>
    <p:sldId id="325" r:id="rId25"/>
    <p:sldId id="302" r:id="rId26"/>
    <p:sldId id="303" r:id="rId27"/>
    <p:sldId id="309" r:id="rId28"/>
    <p:sldId id="306" r:id="rId29"/>
    <p:sldId id="307" r:id="rId30"/>
    <p:sldId id="310" r:id="rId31"/>
  </p:sldIdLst>
  <p:sldSz cx="12192000" cy="6858000"/>
  <p:notesSz cx="6858000" cy="9144000"/>
  <p:embeddedFontLst>
    <p:embeddedFont>
      <p:font typeface="Cambria" pitchFamily="18" charset="0"/>
      <p:regular r:id="rId33"/>
      <p:bold r:id="rId34"/>
      <p:italic r:id="rId35"/>
      <p:boldItalic r:id="rId36"/>
    </p:embeddedFont>
    <p:embeddedFont>
      <p:font typeface="Arial Black" pitchFamily="34" charset="0"/>
      <p:bold r:id="rId37"/>
    </p:embeddedFont>
    <p:embeddedFont>
      <p:font typeface="Verdana" pitchFamily="34" charset="0"/>
      <p:regular r:id="rId38"/>
      <p:bold r:id="rId39"/>
      <p:italic r:id="rId40"/>
      <p:boldItalic r:id="rId41"/>
    </p:embeddedFont>
    <p:embeddedFont>
      <p:font typeface="Calibri" pitchFamily="34" charset="0"/>
      <p:regular r:id="rId42"/>
      <p:bold r:id="rId43"/>
      <p:italic r:id="rId44"/>
      <p:boldItalic r:id="rId45"/>
    </p:embeddedFont>
    <p:embeddedFont>
      <p:font typeface="Century Gothic" pitchFamily="34" charset="0"/>
      <p:regular r:id="rId46"/>
      <p:bold r:id="rId47"/>
      <p:italic r:id="rId48"/>
      <p:boldItalic r:id="rId49"/>
    </p:embeddedFont>
    <p:embeddedFont>
      <p:font typeface="Cambria Math" pitchFamily="18" charset="0"/>
      <p:regular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99C8"/>
    <a:srgbClr val="1F3165"/>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4995" autoAdjust="0"/>
    <p:restoredTop sz="94694"/>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675939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72839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3293238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677639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043804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7332177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513657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7122900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52190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3585401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8115392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8686920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540458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hyperlink" Target="https://id.wikipedia.org/wiki/Megan_Rapinoe"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jpe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5.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2.tiff"/></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46.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49.pn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51.tiff"/></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4000" b="1" dirty="0">
                <a:solidFill>
                  <a:srgbClr val="417DBF"/>
                </a:solidFill>
                <a:latin typeface="Verdana"/>
                <a:ea typeface="Verdana"/>
                <a:cs typeface="Verdana"/>
                <a:sym typeface="Verdana"/>
              </a:rPr>
              <a:t>7</a:t>
            </a:r>
            <a:r>
              <a:rPr lang="en-US" sz="4000" b="1" baseline="30000" dirty="0">
                <a:solidFill>
                  <a:srgbClr val="417DBF"/>
                </a:solidFill>
                <a:latin typeface="Verdana"/>
                <a:ea typeface="Verdana"/>
                <a:cs typeface="Verdana"/>
                <a:sym typeface="Verdana"/>
              </a:rPr>
              <a:t>th</a:t>
            </a:r>
            <a:r>
              <a:rPr lang="en-US" sz="4000" b="1" dirty="0">
                <a:solidFill>
                  <a:srgbClr val="417DBF"/>
                </a:solidFill>
                <a:latin typeface="Verdana"/>
                <a:ea typeface="Verdana"/>
                <a:cs typeface="Verdana"/>
                <a:sym typeface="Verdana"/>
              </a:rPr>
              <a:t> Grade Math</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lnSpc>
                <a:spcPct val="100000"/>
              </a:lnSpc>
              <a:buClr>
                <a:srgbClr val="000000"/>
              </a:buClr>
            </a:pPr>
            <a:r>
              <a:rPr lang="en-US" sz="4000" b="1" dirty="0">
                <a:solidFill>
                  <a:srgbClr val="417DBF"/>
                </a:solidFill>
                <a:latin typeface="Verdana"/>
                <a:ea typeface="Verdana"/>
                <a:cs typeface="Verdana"/>
                <a:sym typeface="Verdana"/>
              </a:rPr>
              <a:t>Unit 11, Lesson 6</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Representing Proportional Relationships with Equations</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2, pg. 175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12701"/>
            <a:ext cx="4094106" cy="6870701"/>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7" name="Picture 6" descr="A blue sign with white text&#10;&#10;Description automatically generated with medium confidence">
            <a:extLst>
              <a:ext uri="{FF2B5EF4-FFF2-40B4-BE49-F238E27FC236}">
                <a16:creationId xmlns:a16="http://schemas.microsoft.com/office/drawing/2014/main" xmlns="" id="{AB08A17F-C082-CD48-B100-6B09C860CC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9793" y="1627632"/>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2657"/>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72478" y="9999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32045" y="389195"/>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544828" y="1578428"/>
            <a:ext cx="10800000" cy="448323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MA.7.AR.4.2</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Determine the constant of proportionality within a mathematical or real-world context given a table, graph, or written description of a proportional relationship</a:t>
            </a:r>
            <a:r>
              <a:rPr lang="en-US" sz="2800" dirty="0" smtClean="0">
                <a:latin typeface="Verdana" panose="020B0604030504040204" pitchFamily="34" charset="0"/>
                <a:ea typeface="Verdana" panose="020B0604030504040204" pitchFamily="34" charset="0"/>
                <a:cs typeface="Verdana" panose="020B0604030504040204" pitchFamily="34" charset="0"/>
              </a:rPr>
              <a:t>.</a:t>
            </a:r>
          </a:p>
          <a:p>
            <a:pPr indent="0">
              <a:buNone/>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0" indent="0">
              <a:buSzPts val="1100"/>
              <a:buNone/>
            </a:pPr>
            <a:r>
              <a:rPr lang="en-US" sz="2800" dirty="0">
                <a:solidFill>
                  <a:schemeClr val="tx1"/>
                </a:solidFill>
                <a:latin typeface="Verdana"/>
                <a:ea typeface="Verdana"/>
                <a:cs typeface="Verdana"/>
                <a:sym typeface="Verdana"/>
              </a:rPr>
              <a:t>MA.7.AR.4.4</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Given any representation of a proportional relationship, translate the representation to a written description, table or equation.</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smtClean="0">
                <a:latin typeface="Calibri"/>
                <a:ea typeface="Calibri"/>
                <a:cs typeface="Calibri"/>
                <a:sym typeface="Calibri"/>
              </a:rPr>
              <a:t>175</a:t>
            </a:r>
            <a:endParaRPr lang="en-US"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72480" y="99995"/>
            <a:ext cx="773339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138612" y="1596390"/>
            <a:ext cx="949234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pic>
        <p:nvPicPr>
          <p:cNvPr id="10" name="Google Shape;281;g104476d1465_1_17"/>
          <p:cNvPicPr preferRelativeResize="0"/>
          <p:nvPr/>
        </p:nvPicPr>
        <p:blipFill>
          <a:blip r:embed="rId3">
            <a:alphaModFix/>
          </a:blip>
          <a:stretch>
            <a:fillRect/>
          </a:stretch>
        </p:blipFill>
        <p:spPr>
          <a:xfrm>
            <a:off x="332045" y="389195"/>
            <a:ext cx="747300" cy="747300"/>
          </a:xfrm>
          <a:prstGeom prst="rect">
            <a:avLst/>
          </a:prstGeom>
          <a:noFill/>
          <a:ln>
            <a:noFill/>
          </a:ln>
          <a:effectLst>
            <a:outerShdw blurRad="57150" dist="19050" dir="5400000" algn="bl" rotWithShape="0">
              <a:srgbClr val="000000">
                <a:alpha val="50000"/>
              </a:srgbClr>
            </a:outerShdw>
          </a:effectLst>
        </p:spPr>
      </p:pic>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smtClean="0">
                <a:latin typeface="Calibri"/>
                <a:ea typeface="Calibri"/>
                <a:cs typeface="Calibri"/>
                <a:sym typeface="Calibri"/>
              </a:rPr>
              <a:t>175</a:t>
            </a:r>
            <a:endParaRPr lang="en-US" i="1" dirty="0">
              <a:latin typeface="Calibri"/>
              <a:ea typeface="Calibri"/>
              <a:cs typeface="Calibri"/>
              <a:sym typeface="Calibri"/>
            </a:endParaRPr>
          </a:p>
        </p:txBody>
      </p:sp>
      <p:pic>
        <p:nvPicPr>
          <p:cNvPr id="14"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180158" y="9999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3">
            <a:alphaModFix/>
          </a:blip>
          <a:stretch>
            <a:fillRect/>
          </a:stretch>
        </p:blipFill>
        <p:spPr>
          <a:xfrm>
            <a:off x="332045" y="389195"/>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538237" y="1583266"/>
            <a:ext cx="1103811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anose="05000000000000000000"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determine the constant of proportionality of a proportional relationship</a:t>
            </a:r>
            <a:r>
              <a:rPr lang="en-US" sz="3500" dirty="0" smtClean="0">
                <a:latin typeface="Verdana" panose="020B0604030504040204" pitchFamily="34" charset="0"/>
                <a:ea typeface="Verdana" panose="020B0604030504040204" pitchFamily="34" charset="0"/>
                <a:cs typeface="Verdana" panose="020B0604030504040204" pitchFamily="34" charset="0"/>
              </a:rPr>
              <a:t>.</a:t>
            </a:r>
          </a:p>
          <a:p>
            <a:pPr marL="685800" indent="-685800">
              <a:buFont typeface="Wingdings" panose="05000000000000000000"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685800" indent="-685800">
              <a:buFont typeface="Wingdings" panose="05000000000000000000"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translate a given representation of a proportional relationship between two quantities to an equation.</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smtClean="0">
                <a:latin typeface="Calibri"/>
                <a:ea typeface="Calibri"/>
                <a:cs typeface="Calibri"/>
                <a:sym typeface="Calibri"/>
              </a:rPr>
              <a:t>175</a:t>
            </a:r>
            <a:endParaRPr lang="en-US"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3785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176</a:t>
            </a:r>
            <a:endParaRPr lang="en-US"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41824" y="-8225"/>
            <a:ext cx="1078952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11.6.1 Warm-Up: </a:t>
            </a:r>
            <a:r>
              <a:rPr lang="en-US" sz="3600" b="1" dirty="0" smtClean="0">
                <a:solidFill>
                  <a:srgbClr val="3F2A67"/>
                </a:solidFill>
                <a:latin typeface="Verdana"/>
                <a:ea typeface="Verdana"/>
                <a:cs typeface="Verdana"/>
                <a:sym typeface="Verdana"/>
              </a:rPr>
              <a:t/>
            </a:r>
            <a:br>
              <a:rPr lang="en-US" sz="3600" b="1" dirty="0" smtClean="0">
                <a:solidFill>
                  <a:srgbClr val="3F2A67"/>
                </a:solidFill>
                <a:latin typeface="Verdana"/>
                <a:ea typeface="Verdana"/>
                <a:cs typeface="Verdana"/>
                <a:sym typeface="Verdana"/>
              </a:rPr>
            </a:br>
            <a:r>
              <a:rPr lang="en-US" sz="3600" b="1" dirty="0" smtClean="0">
                <a:solidFill>
                  <a:srgbClr val="3F2A67"/>
                </a:solidFill>
                <a:latin typeface="Verdana"/>
                <a:ea typeface="Verdana"/>
                <a:cs typeface="Verdana"/>
                <a:sym typeface="Verdana"/>
              </a:rPr>
              <a:t>Fighting </a:t>
            </a:r>
            <a:r>
              <a:rPr lang="en-US" sz="3600" b="1" dirty="0">
                <a:solidFill>
                  <a:srgbClr val="3F2A67"/>
                </a:solidFill>
                <a:latin typeface="Verdana"/>
                <a:ea typeface="Verdana"/>
                <a:cs typeface="Verdana"/>
                <a:sym typeface="Verdana"/>
              </a:rPr>
              <a:t>for Equal Pay</a:t>
            </a: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3">
            <a:alphaModFix/>
          </a:blip>
          <a:stretch>
            <a:fillRect/>
          </a:stretch>
        </p:blipFill>
        <p:spPr>
          <a:xfrm>
            <a:off x="332045" y="28097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E1D7562E-134F-D14B-AF1A-DF40E11EF758}"/>
                  </a:ext>
                </a:extLst>
              </p:cNvPr>
              <p:cNvSpPr txBox="1"/>
              <p:nvPr/>
            </p:nvSpPr>
            <p:spPr>
              <a:xfrm>
                <a:off x="540657" y="1464059"/>
                <a:ext cx="10800000" cy="3647152"/>
              </a:xfrm>
              <a:prstGeom prst="rect">
                <a:avLst/>
              </a:prstGeom>
              <a:noFill/>
            </p:spPr>
            <p:txBody>
              <a:bodyPr wrap="square" rtlCol="0">
                <a:spAutoFit/>
              </a:bodyPr>
              <a:lstStyle/>
              <a:p>
                <a:r>
                  <a:rPr lang="en-US" sz="2100" dirty="0">
                    <a:latin typeface="Verdana" panose="020B0604030504040204" pitchFamily="34" charset="0"/>
                    <a:ea typeface="Verdana" panose="020B0604030504040204" pitchFamily="34" charset="0"/>
                    <a:cs typeface="Verdana" panose="020B0604030504040204" pitchFamily="34" charset="0"/>
                  </a:rPr>
                  <a:t>Megan Rapinoe is an American professional soccer player </a:t>
                </a:r>
                <a:r>
                  <a:rPr lang="en-US" sz="2100" dirty="0" smtClean="0">
                    <a:latin typeface="Verdana" panose="020B0604030504040204" pitchFamily="34" charset="0"/>
                    <a:ea typeface="Verdana" panose="020B0604030504040204" pitchFamily="34" charset="0"/>
                    <a:cs typeface="Verdana" panose="020B0604030504040204" pitchFamily="34" charset="0"/>
                  </a:rPr>
                  <a:t/>
                </a:r>
                <a:br>
                  <a:rPr lang="en-US" sz="2100" dirty="0" smtClean="0">
                    <a:latin typeface="Verdana" panose="020B0604030504040204" pitchFamily="34" charset="0"/>
                    <a:ea typeface="Verdana" panose="020B0604030504040204" pitchFamily="34" charset="0"/>
                    <a:cs typeface="Verdana" panose="020B0604030504040204" pitchFamily="34" charset="0"/>
                  </a:rPr>
                </a:br>
                <a:r>
                  <a:rPr lang="en-US" sz="2100" dirty="0" smtClean="0">
                    <a:latin typeface="Verdana" panose="020B0604030504040204" pitchFamily="34" charset="0"/>
                    <a:ea typeface="Verdana" panose="020B0604030504040204" pitchFamily="34" charset="0"/>
                    <a:cs typeface="Verdana" panose="020B0604030504040204" pitchFamily="34" charset="0"/>
                  </a:rPr>
                  <a:t>and </a:t>
                </a:r>
                <a:r>
                  <a:rPr lang="en-US" sz="2100" dirty="0">
                    <a:latin typeface="Verdana" panose="020B0604030504040204" pitchFamily="34" charset="0"/>
                    <a:ea typeface="Verdana" panose="020B0604030504040204" pitchFamily="34" charset="0"/>
                    <a:cs typeface="Verdana" panose="020B0604030504040204" pitchFamily="34" charset="0"/>
                  </a:rPr>
                  <a:t>captain of the OL Reign, a team in the National Women’s </a:t>
                </a:r>
                <a:r>
                  <a:rPr lang="en-US" sz="2100" dirty="0" smtClean="0">
                    <a:latin typeface="Verdana" panose="020B0604030504040204" pitchFamily="34" charset="0"/>
                    <a:ea typeface="Verdana" panose="020B0604030504040204" pitchFamily="34" charset="0"/>
                    <a:cs typeface="Verdana" panose="020B0604030504040204" pitchFamily="34" charset="0"/>
                  </a:rPr>
                  <a:t/>
                </a:r>
                <a:br>
                  <a:rPr lang="en-US" sz="2100" dirty="0" smtClean="0">
                    <a:latin typeface="Verdana" panose="020B0604030504040204" pitchFamily="34" charset="0"/>
                    <a:ea typeface="Verdana" panose="020B0604030504040204" pitchFamily="34" charset="0"/>
                    <a:cs typeface="Verdana" panose="020B0604030504040204" pitchFamily="34" charset="0"/>
                  </a:rPr>
                </a:br>
                <a:r>
                  <a:rPr lang="en-US" sz="2100" dirty="0" smtClean="0">
                    <a:latin typeface="Verdana" panose="020B0604030504040204" pitchFamily="34" charset="0"/>
                    <a:ea typeface="Verdana" panose="020B0604030504040204" pitchFamily="34" charset="0"/>
                    <a:cs typeface="Verdana" panose="020B0604030504040204" pitchFamily="34" charset="0"/>
                  </a:rPr>
                  <a:t>Soccer </a:t>
                </a:r>
                <a:r>
                  <a:rPr lang="en-US" sz="2100" dirty="0">
                    <a:latin typeface="Verdana" panose="020B0604030504040204" pitchFamily="34" charset="0"/>
                    <a:ea typeface="Verdana" panose="020B0604030504040204" pitchFamily="34" charset="0"/>
                    <a:cs typeface="Verdana" panose="020B0604030504040204" pitchFamily="34" charset="0"/>
                  </a:rPr>
                  <a:t>League (NWSL), as well as co-captain of the U.S. </a:t>
                </a:r>
                <a:r>
                  <a:rPr lang="en-US" sz="2100" dirty="0" smtClean="0">
                    <a:latin typeface="Verdana" panose="020B0604030504040204" pitchFamily="34" charset="0"/>
                    <a:ea typeface="Verdana" panose="020B0604030504040204" pitchFamily="34" charset="0"/>
                    <a:cs typeface="Verdana" panose="020B0604030504040204" pitchFamily="34" charset="0"/>
                  </a:rPr>
                  <a:t/>
                </a:r>
                <a:br>
                  <a:rPr lang="en-US" sz="2100" dirty="0" smtClean="0">
                    <a:latin typeface="Verdana" panose="020B0604030504040204" pitchFamily="34" charset="0"/>
                    <a:ea typeface="Verdana" panose="020B0604030504040204" pitchFamily="34" charset="0"/>
                    <a:cs typeface="Verdana" panose="020B0604030504040204" pitchFamily="34" charset="0"/>
                  </a:rPr>
                </a:br>
                <a:r>
                  <a:rPr lang="en-US" sz="2100" dirty="0" smtClean="0">
                    <a:latin typeface="Verdana" panose="020B0604030504040204" pitchFamily="34" charset="0"/>
                    <a:ea typeface="Verdana" panose="020B0604030504040204" pitchFamily="34" charset="0"/>
                    <a:cs typeface="Verdana" panose="020B0604030504040204" pitchFamily="34" charset="0"/>
                  </a:rPr>
                  <a:t>women’s </a:t>
                </a:r>
                <a:r>
                  <a:rPr lang="en-US" sz="2100" dirty="0">
                    <a:latin typeface="Verdana" panose="020B0604030504040204" pitchFamily="34" charset="0"/>
                    <a:ea typeface="Verdana" panose="020B0604030504040204" pitchFamily="34" charset="0"/>
                    <a:cs typeface="Verdana" panose="020B0604030504040204" pitchFamily="34" charset="0"/>
                  </a:rPr>
                  <a:t>national team. She has won many awards and </a:t>
                </a:r>
                <a:r>
                  <a:rPr lang="en-US" sz="2100" dirty="0" smtClean="0">
                    <a:latin typeface="Verdana" panose="020B0604030504040204" pitchFamily="34" charset="0"/>
                    <a:ea typeface="Verdana" panose="020B0604030504040204" pitchFamily="34" charset="0"/>
                    <a:cs typeface="Verdana" panose="020B0604030504040204" pitchFamily="34" charset="0"/>
                  </a:rPr>
                  <a:t/>
                </a:r>
                <a:br>
                  <a:rPr lang="en-US" sz="2100" dirty="0" smtClean="0">
                    <a:latin typeface="Verdana" panose="020B0604030504040204" pitchFamily="34" charset="0"/>
                    <a:ea typeface="Verdana" panose="020B0604030504040204" pitchFamily="34" charset="0"/>
                    <a:cs typeface="Verdana" panose="020B0604030504040204" pitchFamily="34" charset="0"/>
                  </a:rPr>
                </a:br>
                <a:r>
                  <a:rPr lang="en-US" sz="2100" dirty="0" smtClean="0">
                    <a:latin typeface="Verdana" panose="020B0604030504040204" pitchFamily="34" charset="0"/>
                    <a:ea typeface="Verdana" panose="020B0604030504040204" pitchFamily="34" charset="0"/>
                    <a:cs typeface="Verdana" panose="020B0604030504040204" pitchFamily="34" charset="0"/>
                  </a:rPr>
                  <a:t>championships</a:t>
                </a:r>
                <a:r>
                  <a:rPr lang="en-US" sz="2100" dirty="0">
                    <a:latin typeface="Verdana" panose="020B0604030504040204" pitchFamily="34" charset="0"/>
                    <a:ea typeface="Verdana" panose="020B0604030504040204" pitchFamily="34" charset="0"/>
                    <a:cs typeface="Verdana" panose="020B0604030504040204" pitchFamily="34" charset="0"/>
                  </a:rPr>
                  <a:t>, including the 2019 FIFA Women’s World </a:t>
                </a:r>
                <a:r>
                  <a:rPr lang="en-US" sz="2100" dirty="0" smtClean="0">
                    <a:latin typeface="Verdana" panose="020B0604030504040204" pitchFamily="34" charset="0"/>
                    <a:ea typeface="Verdana" panose="020B0604030504040204" pitchFamily="34" charset="0"/>
                    <a:cs typeface="Verdana" panose="020B0604030504040204" pitchFamily="34" charset="0"/>
                  </a:rPr>
                  <a:t>Cup</a:t>
                </a:r>
                <a:r>
                  <a:rPr lang="en-US" sz="2100" dirty="0">
                    <a:latin typeface="Verdana" panose="020B0604030504040204" pitchFamily="34" charset="0"/>
                    <a:ea typeface="Verdana" panose="020B0604030504040204" pitchFamily="34" charset="0"/>
                    <a:cs typeface="Verdana" panose="020B0604030504040204" pitchFamily="34" charset="0"/>
                  </a:rPr>
                  <a:t>. </a:t>
                </a:r>
                <a:r>
                  <a:rPr lang="en-US" sz="2100" dirty="0" smtClean="0">
                    <a:latin typeface="Verdana" panose="020B0604030504040204" pitchFamily="34" charset="0"/>
                    <a:ea typeface="Verdana" panose="020B0604030504040204" pitchFamily="34" charset="0"/>
                    <a:cs typeface="Verdana" panose="020B0604030504040204" pitchFamily="34" charset="0"/>
                  </a:rPr>
                  <a:t/>
                </a:r>
                <a:br>
                  <a:rPr lang="en-US" sz="2100" dirty="0" smtClean="0">
                    <a:latin typeface="Verdana" panose="020B0604030504040204" pitchFamily="34" charset="0"/>
                    <a:ea typeface="Verdana" panose="020B0604030504040204" pitchFamily="34" charset="0"/>
                    <a:cs typeface="Verdana" panose="020B0604030504040204" pitchFamily="34" charset="0"/>
                  </a:rPr>
                </a:br>
                <a:r>
                  <a:rPr lang="en-US" sz="2100" dirty="0" smtClean="0">
                    <a:latin typeface="Verdana" panose="020B0604030504040204" pitchFamily="34" charset="0"/>
                    <a:ea typeface="Verdana" panose="020B0604030504040204" pitchFamily="34" charset="0"/>
                    <a:cs typeface="Verdana" panose="020B0604030504040204" pitchFamily="34" charset="0"/>
                  </a:rPr>
                  <a:t>In </a:t>
                </a:r>
                <a:r>
                  <a:rPr lang="en-US" sz="2100" dirty="0">
                    <a:latin typeface="Verdana" panose="020B0604030504040204" pitchFamily="34" charset="0"/>
                    <a:ea typeface="Verdana" panose="020B0604030504040204" pitchFamily="34" charset="0"/>
                    <a:cs typeface="Verdana" panose="020B0604030504040204" pitchFamily="34" charset="0"/>
                  </a:rPr>
                  <a:t>March of 2019, she and a group of </a:t>
                </a:r>
                <a14:m>
                  <m:oMath xmlns:m="http://schemas.openxmlformats.org/officeDocument/2006/math">
                    <m:r>
                      <a:rPr lang="en-US" sz="2100" i="1">
                        <a:latin typeface="Cambria Math" panose="02040503050406030204" pitchFamily="18" charset="0"/>
                        <a:ea typeface="Cambria Math" panose="02040503050406030204" pitchFamily="18" charset="0"/>
                      </a:rPr>
                      <m:t>27</m:t>
                    </m:r>
                  </m:oMath>
                </a14:m>
                <a:r>
                  <a:rPr lang="en-US" sz="2100" dirty="0">
                    <a:latin typeface="Verdana" panose="020B0604030504040204" pitchFamily="34" charset="0"/>
                    <a:ea typeface="Verdana" panose="020B0604030504040204" pitchFamily="34" charset="0"/>
                    <a:cs typeface="Verdana" panose="020B0604030504040204" pitchFamily="34" charset="0"/>
                  </a:rPr>
                  <a:t> of her </a:t>
                </a:r>
                <a:r>
                  <a:rPr lang="en-US" sz="2100" dirty="0" smtClean="0">
                    <a:latin typeface="Verdana" panose="020B0604030504040204" pitchFamily="34" charset="0"/>
                    <a:ea typeface="Verdana" panose="020B0604030504040204" pitchFamily="34" charset="0"/>
                    <a:cs typeface="Verdana" panose="020B0604030504040204" pitchFamily="34" charset="0"/>
                  </a:rPr>
                  <a:t>teammates </a:t>
                </a:r>
                <a:br>
                  <a:rPr lang="en-US" sz="2100" dirty="0" smtClean="0">
                    <a:latin typeface="Verdana" panose="020B0604030504040204" pitchFamily="34" charset="0"/>
                    <a:ea typeface="Verdana" panose="020B0604030504040204" pitchFamily="34" charset="0"/>
                    <a:cs typeface="Verdana" panose="020B0604030504040204" pitchFamily="34" charset="0"/>
                  </a:rPr>
                </a:br>
                <a:r>
                  <a:rPr lang="en-US" sz="2100" dirty="0" smtClean="0">
                    <a:latin typeface="Verdana" panose="020B0604030504040204" pitchFamily="34" charset="0"/>
                    <a:ea typeface="Verdana" panose="020B0604030504040204" pitchFamily="34" charset="0"/>
                    <a:cs typeface="Verdana" panose="020B0604030504040204" pitchFamily="34" charset="0"/>
                  </a:rPr>
                  <a:t>filed </a:t>
                </a:r>
                <a:r>
                  <a:rPr lang="en-US" sz="2100" dirty="0">
                    <a:latin typeface="Verdana" panose="020B0604030504040204" pitchFamily="34" charset="0"/>
                    <a:ea typeface="Verdana" panose="020B0604030504040204" pitchFamily="34" charset="0"/>
                    <a:cs typeface="Verdana" panose="020B0604030504040204" pitchFamily="34" charset="0"/>
                  </a:rPr>
                  <a:t>a lawsuit against the U.S. Soccer Federation over </a:t>
                </a:r>
                <a:r>
                  <a:rPr lang="en-US" sz="2100" dirty="0" smtClean="0">
                    <a:latin typeface="Verdana" panose="020B0604030504040204" pitchFamily="34" charset="0"/>
                    <a:ea typeface="Verdana" panose="020B0604030504040204" pitchFamily="34" charset="0"/>
                    <a:cs typeface="Verdana" panose="020B0604030504040204" pitchFamily="34" charset="0"/>
                  </a:rPr>
                  <a:t/>
                </a:r>
                <a:br>
                  <a:rPr lang="en-US" sz="2100" dirty="0" smtClean="0">
                    <a:latin typeface="Verdana" panose="020B0604030504040204" pitchFamily="34" charset="0"/>
                    <a:ea typeface="Verdana" panose="020B0604030504040204" pitchFamily="34" charset="0"/>
                    <a:cs typeface="Verdana" panose="020B0604030504040204" pitchFamily="34" charset="0"/>
                  </a:rPr>
                </a:br>
                <a:r>
                  <a:rPr lang="en-US" sz="2100" dirty="0" smtClean="0">
                    <a:latin typeface="Verdana" panose="020B0604030504040204" pitchFamily="34" charset="0"/>
                    <a:ea typeface="Verdana" panose="020B0604030504040204" pitchFamily="34" charset="0"/>
                    <a:cs typeface="Verdana" panose="020B0604030504040204" pitchFamily="34" charset="0"/>
                  </a:rPr>
                  <a:t>gender </a:t>
                </a:r>
                <a:r>
                  <a:rPr lang="en-US" sz="2100" dirty="0">
                    <a:latin typeface="Verdana" panose="020B0604030504040204" pitchFamily="34" charset="0"/>
                    <a:ea typeface="Verdana" panose="020B0604030504040204" pitchFamily="34" charset="0"/>
                    <a:cs typeface="Verdana" panose="020B0604030504040204" pitchFamily="34" charset="0"/>
                  </a:rPr>
                  <a:t>discrimination as part of the team’s fight for equal </a:t>
                </a:r>
                <a:r>
                  <a:rPr lang="en-US" sz="2100" dirty="0" smtClean="0">
                    <a:latin typeface="Verdana" panose="020B0604030504040204" pitchFamily="34" charset="0"/>
                    <a:ea typeface="Verdana" panose="020B0604030504040204" pitchFamily="34" charset="0"/>
                    <a:cs typeface="Verdana" panose="020B0604030504040204" pitchFamily="34" charset="0"/>
                  </a:rPr>
                  <a:t/>
                </a:r>
                <a:br>
                  <a:rPr lang="en-US" sz="2100" dirty="0" smtClean="0">
                    <a:latin typeface="Verdana" panose="020B0604030504040204" pitchFamily="34" charset="0"/>
                    <a:ea typeface="Verdana" panose="020B0604030504040204" pitchFamily="34" charset="0"/>
                    <a:cs typeface="Verdana" panose="020B0604030504040204" pitchFamily="34" charset="0"/>
                  </a:rPr>
                </a:br>
                <a:r>
                  <a:rPr lang="en-US" sz="2100" dirty="0" smtClean="0">
                    <a:latin typeface="Verdana" panose="020B0604030504040204" pitchFamily="34" charset="0"/>
                    <a:ea typeface="Verdana" panose="020B0604030504040204" pitchFamily="34" charset="0"/>
                    <a:cs typeface="Verdana" panose="020B0604030504040204" pitchFamily="34" charset="0"/>
                  </a:rPr>
                  <a:t>pay</a:t>
                </a:r>
                <a:r>
                  <a:rPr lang="en-US" sz="2100" dirty="0">
                    <a:latin typeface="Verdana" panose="020B0604030504040204" pitchFamily="34" charset="0"/>
                    <a:ea typeface="Verdana" panose="020B0604030504040204" pitchFamily="34" charset="0"/>
                    <a:cs typeface="Verdana" panose="020B0604030504040204" pitchFamily="34" charset="0"/>
                  </a:rPr>
                  <a:t>. The U.S. women’s national team has been largely more successful and popular than the U.S. men’s national team. Yet, as of 2019, the top women’s players earned only </a:t>
                </a:r>
                <a14:m>
                  <m:oMath xmlns:m="http://schemas.openxmlformats.org/officeDocument/2006/math">
                    <m:r>
                      <a:rPr lang="en-US" sz="2100" i="1">
                        <a:latin typeface="Cambria Math" panose="02040503050406030204" pitchFamily="18" charset="0"/>
                        <a:ea typeface="Cambria Math" panose="02040503050406030204" pitchFamily="18" charset="0"/>
                      </a:rPr>
                      <m:t>38%</m:t>
                    </m:r>
                  </m:oMath>
                </a14:m>
                <a:r>
                  <a:rPr lang="en-US" sz="2100" dirty="0">
                    <a:latin typeface="Verdana" panose="020B0604030504040204" pitchFamily="34" charset="0"/>
                    <a:ea typeface="Verdana" panose="020B0604030504040204" pitchFamily="34" charset="0"/>
                    <a:cs typeface="Verdana" panose="020B0604030504040204" pitchFamily="34" charset="0"/>
                  </a:rPr>
                  <a:t> of the pay their top male counterparts earned. </a:t>
                </a: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540657" y="1464059"/>
                <a:ext cx="10800000" cy="3647152"/>
              </a:xfrm>
              <a:prstGeom prst="rect">
                <a:avLst/>
              </a:prstGeom>
              <a:blipFill rotWithShape="1">
                <a:blip r:embed="rId4"/>
                <a:stretch>
                  <a:fillRect l="-678" t="-1171" b="-2174"/>
                </a:stretch>
              </a:blipFill>
            </p:spPr>
            <p:txBody>
              <a:bodyPr/>
              <a:lstStyle/>
              <a:p>
                <a:r>
                  <a:rPr lang="en-PH">
                    <a:noFill/>
                  </a:rPr>
                  <a:t> </a:t>
                </a:r>
              </a:p>
            </p:txBody>
          </p:sp>
        </mc:Fallback>
      </mc:AlternateContent>
      <p:pic>
        <p:nvPicPr>
          <p:cNvPr id="9" name="Picture 8" descr="Megan Rapinoe - Wikipedia bahasa Indonesia, ensiklopedia bebas"/>
          <p:cNvPicPr/>
          <p:nvPr/>
        </p:nvPicPr>
        <p:blipFill rotWithShape="1">
          <a:blip r:embed="rId5" cstate="screen">
            <a:extLst>
              <a:ext uri="{28A0092B-C50C-407E-A947-70E740481C1C}">
                <a14:useLocalDpi xmlns:a14="http://schemas.microsoft.com/office/drawing/2010/main"/>
              </a:ext>
              <a:ext uri="{837473B0-CC2E-450A-ABE3-18F120FF3D39}">
                <a1611:picAttrSrcUrl xmlns="" xmlns:a1611="http://schemas.microsoft.com/office/drawing/2016/11/main" r:id="rId7"/>
              </a:ext>
            </a:extLst>
          </a:blip>
          <a:srcRect l="13708" r="28510"/>
          <a:stretch/>
        </p:blipFill>
        <p:spPr bwMode="auto">
          <a:xfrm>
            <a:off x="9147367" y="1464059"/>
            <a:ext cx="2193290" cy="2531110"/>
          </a:xfrm>
          <a:prstGeom prst="rect">
            <a:avLst/>
          </a:prstGeom>
          <a:ln>
            <a:noFill/>
          </a:ln>
          <a:extLst>
            <a:ext uri="{53640926-AAD7-44D8-BBD7-CCE9431645EC}">
              <a14:shadowObscured xmlns:a14="http://schemas.microsoft.com/office/drawing/2010/main"/>
            </a:ext>
          </a:extLst>
        </p:spPr>
      </p:pic>
      <p:sp>
        <p:nvSpPr>
          <p:cNvPr id="10"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176</a:t>
            </a:r>
            <a:endParaRPr lang="en-US" i="1" dirty="0">
              <a:latin typeface="Calibri"/>
              <a:ea typeface="Calibri"/>
              <a:cs typeface="Calibri"/>
              <a:sym typeface="Calibri"/>
            </a:endParaRPr>
          </a:p>
        </p:txBody>
      </p:sp>
      <p:pic>
        <p:nvPicPr>
          <p:cNvPr id="14" name="Google Shape;126;g104476d1465_1_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50289" y="387344"/>
                <a:ext cx="10434607" cy="1107996"/>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In 2019, players from the men’s national team earned an average of </a:t>
                </a:r>
                <a14:m>
                  <m:oMath xmlns:m="http://schemas.openxmlformats.org/officeDocument/2006/math">
                    <m:r>
                      <a:rPr lang="en-US" sz="2200" i="1">
                        <a:latin typeface="Cambria Math" panose="02040503050406030204" pitchFamily="18" charset="0"/>
                        <a:ea typeface="Cambria Math" panose="02040503050406030204" pitchFamily="18" charset="0"/>
                      </a:rPr>
                      <m:t>$13,166</m:t>
                    </m:r>
                  </m:oMath>
                </a14:m>
                <a:r>
                  <a:rPr lang="en-US" sz="2200" dirty="0">
                    <a:latin typeface="Verdana" panose="020B0604030504040204" pitchFamily="34" charset="0"/>
                    <a:ea typeface="Verdana" panose="020B0604030504040204" pitchFamily="34" charset="0"/>
                    <a:cs typeface="Verdana" panose="020B0604030504040204" pitchFamily="34" charset="0"/>
                  </a:rPr>
                  <a:t> per game. How much did the average women’s national team player earn per game at the time?</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50289" y="387344"/>
                <a:ext cx="10434607" cy="1107996"/>
              </a:xfrm>
              <a:prstGeom prst="rect">
                <a:avLst/>
              </a:prstGeom>
              <a:blipFill rotWithShape="1">
                <a:blip r:embed="rId3"/>
                <a:stretch>
                  <a:fillRect l="-759" t="-3867" r="-1343" b="-11050"/>
                </a:stretch>
              </a:blipFill>
            </p:spPr>
            <p:txBody>
              <a:bodyPr/>
              <a:lstStyle/>
              <a:p>
                <a:r>
                  <a:rPr lang="en-PH">
                    <a:noFill/>
                  </a:rPr>
                  <a:t> </a:t>
                </a:r>
              </a:p>
            </p:txBody>
          </p:sp>
        </mc:Fallback>
      </mc:AlternateContent>
      <p:sp>
        <p:nvSpPr>
          <p:cNvPr id="6"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176</a:t>
            </a:r>
            <a:endParaRPr lang="en-US"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63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176</a:t>
            </a:r>
            <a:endParaRPr lang="en-US"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46213" y="97518"/>
            <a:ext cx="1140138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11.6.2 Exploration: Proportional Relationships and Equations</a:t>
            </a:r>
          </a:p>
        </p:txBody>
      </p:sp>
      <p:pic>
        <p:nvPicPr>
          <p:cNvPr id="7" name="Picture 2" descr="Icon&#10;&#10;Description automatically generated">
            <a:extLst>
              <a:ext uri="{FF2B5EF4-FFF2-40B4-BE49-F238E27FC236}">
                <a16:creationId xmlns=""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27091" y="384241"/>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152D1D4D-DCB8-A246-B186-D40316579D77}"/>
                  </a:ext>
                </a:extLst>
              </p:cNvPr>
              <p:cNvSpPr txBox="1"/>
              <p:nvPr/>
            </p:nvSpPr>
            <p:spPr>
              <a:xfrm>
                <a:off x="540658" y="1463045"/>
                <a:ext cx="9875955" cy="2462213"/>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Work with your partner to complete the following. </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A recipe says that </a:t>
                </a:r>
                <a14:m>
                  <m:oMath xmlns:m="http://schemas.openxmlformats.org/officeDocument/2006/math">
                    <m:r>
                      <a:rPr lang="en-US" sz="2200" i="1">
                        <a:latin typeface="Cambria Math" panose="02040503050406030204" pitchFamily="18" charset="0"/>
                        <a:ea typeface="Cambria Math" panose="02040503050406030204" pitchFamily="18" charset="0"/>
                      </a:rPr>
                      <m:t>2</m:t>
                    </m:r>
                  </m:oMath>
                </a14:m>
                <a:r>
                  <a:rPr lang="en-US" sz="2200" dirty="0">
                    <a:latin typeface="Verdana" panose="020B0604030504040204" pitchFamily="34" charset="0"/>
                    <a:ea typeface="Verdana" panose="020B0604030504040204" pitchFamily="34" charset="0"/>
                    <a:cs typeface="Verdana" panose="020B0604030504040204" pitchFamily="34" charset="0"/>
                  </a:rPr>
                  <a:t> cups of dry rice will produce </a:t>
                </a:r>
                <a14:m>
                  <m:oMath xmlns:m="http://schemas.openxmlformats.org/officeDocument/2006/math">
                    <m:r>
                      <a:rPr lang="en-US" sz="2200" i="1">
                        <a:latin typeface="Cambria Math" panose="02040503050406030204" pitchFamily="18" charset="0"/>
                        <a:ea typeface="Cambria Math" panose="02040503050406030204" pitchFamily="18" charset="0"/>
                      </a:rPr>
                      <m:t>6</m:t>
                    </m:r>
                  </m:oMath>
                </a14:m>
                <a:r>
                  <a:rPr lang="en-US" sz="2200" dirty="0">
                    <a:latin typeface="Verdana" panose="020B0604030504040204" pitchFamily="34" charset="0"/>
                    <a:ea typeface="Verdana" panose="020B0604030504040204" pitchFamily="34" charset="0"/>
                    <a:cs typeface="Verdana" panose="020B0604030504040204" pitchFamily="34" charset="0"/>
                  </a:rPr>
                  <a:t> servings.</a:t>
                </a: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How many servings will </a:t>
                </a:r>
                <a14:m>
                  <m:oMath xmlns:m="http://schemas.openxmlformats.org/officeDocument/2006/math">
                    <m:r>
                      <a:rPr lang="en-US" sz="2200" i="1">
                        <a:latin typeface="Cambria Math" panose="02040503050406030204" pitchFamily="18" charset="0"/>
                        <a:ea typeface="Cambria Math" panose="02040503050406030204" pitchFamily="18" charset="0"/>
                      </a:rPr>
                      <m:t>1</m:t>
                    </m:r>
                  </m:oMath>
                </a14:m>
                <a:r>
                  <a:rPr lang="en-US" sz="2200" dirty="0">
                    <a:latin typeface="Verdana" panose="020B0604030504040204" pitchFamily="34" charset="0"/>
                    <a:ea typeface="Verdana" panose="020B0604030504040204" pitchFamily="34" charset="0"/>
                    <a:cs typeface="Verdana" panose="020B0604030504040204" pitchFamily="34" charset="0"/>
                  </a:rPr>
                  <a:t> cup of dry rice produce? </a:t>
                </a: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Complete the table.</a:t>
                </a:r>
              </a:p>
            </p:txBody>
          </p:sp>
        </mc:Choice>
        <mc:Fallback xmlns="">
          <p:sp>
            <p:nvSpPr>
              <p:cNvPr id="10" name="TextBox 9">
                <a:extLst>
                  <a:ext uri="{FF2B5EF4-FFF2-40B4-BE49-F238E27FC236}">
                    <a16:creationId xmlns:a16="http://schemas.microsoft.com/office/drawing/2014/main" xmlns:a14="http://schemas.microsoft.com/office/drawing/2010/main" xmlns="" id="{152D1D4D-DCB8-A246-B186-D40316579D77}"/>
                  </a:ext>
                </a:extLst>
              </p:cNvPr>
              <p:cNvSpPr txBox="1">
                <a:spLocks noRot="1" noChangeAspect="1" noMove="1" noResize="1" noEditPoints="1" noAdjustHandles="1" noChangeArrowheads="1" noChangeShapeType="1" noTextEdit="1"/>
              </p:cNvSpPr>
              <p:nvPr/>
            </p:nvSpPr>
            <p:spPr>
              <a:xfrm>
                <a:off x="540658" y="1463045"/>
                <a:ext cx="9875955" cy="2462213"/>
              </a:xfrm>
              <a:prstGeom prst="rect">
                <a:avLst/>
              </a:prstGeom>
              <a:blipFill rotWithShape="1">
                <a:blip r:embed="rId4"/>
                <a:stretch>
                  <a:fillRect l="-864" t="-1238" b="-4455"/>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409339159"/>
                  </p:ext>
                </p:extLst>
              </p:nvPr>
            </p:nvGraphicFramePr>
            <p:xfrm>
              <a:off x="1619850" y="4024936"/>
              <a:ext cx="7200000" cy="2291118"/>
            </p:xfrm>
            <a:graphic>
              <a:graphicData uri="http://schemas.openxmlformats.org/drawingml/2006/table">
                <a:tbl>
                  <a:tblPr firstRow="1" firstCol="1" bandRow="1">
                    <a:tableStyleId>{5940675A-B579-460E-94D1-54222C63F5DA}</a:tableStyleId>
                  </a:tblPr>
                  <a:tblGrid>
                    <a:gridCol w="3600000">
                      <a:extLst>
                        <a:ext uri="{9D8B030D-6E8A-4147-A177-3AD203B41FA5}">
                          <a16:colId xmlns="" xmlns:a16="http://schemas.microsoft.com/office/drawing/2014/main" val="20000"/>
                        </a:ext>
                      </a:extLst>
                    </a:gridCol>
                    <a:gridCol w="3600000">
                      <a:extLst>
                        <a:ext uri="{9D8B030D-6E8A-4147-A177-3AD203B41FA5}">
                          <a16:colId xmlns="" xmlns:a16="http://schemas.microsoft.com/office/drawing/2014/main" val="20001"/>
                        </a:ext>
                      </a:extLst>
                    </a:gridCol>
                  </a:tblGrid>
                  <a:tr h="491118">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Cups of Dry Rice, </a:t>
                          </a:r>
                          <a14:m>
                            <m:oMath xmlns:m="http://schemas.openxmlformats.org/officeDocument/2006/math">
                              <m:r>
                                <a:rPr lang="en-US" sz="2000" b="1" i="1">
                                  <a:effectLst/>
                                  <a:latin typeface="Cambria Math" panose="02040503050406030204" pitchFamily="18" charset="0"/>
                                  <a:ea typeface="Cambria Math" panose="02040503050406030204" pitchFamily="18" charset="0"/>
                                </a:rPr>
                                <m:t>𝒙</m:t>
                              </m:r>
                            </m:oMath>
                          </a14:m>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Servings, </a:t>
                          </a:r>
                          <a14:m>
                            <m:oMath xmlns:m="http://schemas.openxmlformats.org/officeDocument/2006/math">
                              <m:r>
                                <a:rPr lang="en-US" sz="2000" b="1" i="1">
                                  <a:effectLst/>
                                  <a:latin typeface="Cambria Math" panose="02040503050406030204" pitchFamily="18" charset="0"/>
                                  <a:ea typeface="Cambria Math" panose="02040503050406030204" pitchFamily="18" charset="0"/>
                                </a:rPr>
                                <m:t>𝒚</m:t>
                              </m:r>
                            </m:oMath>
                          </a14:m>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36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6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oMath>
                            </m:oMathPara>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6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36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m:t>
                                </m:r>
                              </m:oMath>
                            </m:oMathPara>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r h="36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43</m:t>
                                </m:r>
                              </m:oMath>
                            </m:oMathPara>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409339159"/>
                  </p:ext>
                </p:extLst>
              </p:nvPr>
            </p:nvGraphicFramePr>
            <p:xfrm>
              <a:off x="1619850" y="4024936"/>
              <a:ext cx="7200000" cy="2291118"/>
            </p:xfrm>
            <a:graphic>
              <a:graphicData uri="http://schemas.openxmlformats.org/drawingml/2006/table">
                <a:tbl>
                  <a:tblPr firstRow="1" firstCol="1" bandRow="1">
                    <a:tableStyleId>{5940675A-B579-460E-94D1-54222C63F5DA}</a:tableStyleId>
                  </a:tblPr>
                  <a:tblGrid>
                    <a:gridCol w="3600000">
                      <a:extLst>
                        <a:ext uri="{9D8B030D-6E8A-4147-A177-3AD203B41FA5}">
                          <a16:colId xmlns:a16="http://schemas.microsoft.com/office/drawing/2014/main" xmlns:a14="http://schemas.microsoft.com/office/drawing/2010/main" xmlns="" val="20000"/>
                        </a:ext>
                      </a:extLst>
                    </a:gridCol>
                    <a:gridCol w="3600000">
                      <a:extLst>
                        <a:ext uri="{9D8B030D-6E8A-4147-A177-3AD203B41FA5}">
                          <a16:colId xmlns:a16="http://schemas.microsoft.com/office/drawing/2014/main" xmlns:a14="http://schemas.microsoft.com/office/drawing/2010/main" xmlns="" val="20001"/>
                        </a:ext>
                      </a:extLst>
                    </a:gridCol>
                  </a:tblGrid>
                  <a:tr h="491118">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69" r="-99831" b="-365432"/>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339" b="-365432"/>
                          </a:stretch>
                        </a:blipFill>
                      </a:tcPr>
                    </a:tc>
                    <a:extLst>
                      <a:ext uri="{0D108BD9-81ED-4DB2-BD59-A6C34878D82A}">
                        <a16:rowId xmlns:a16="http://schemas.microsoft.com/office/drawing/2014/main" xmlns:a14="http://schemas.microsoft.com/office/drawing/2010/main" xmlns="" val="10000"/>
                      </a:ext>
                    </a:extLst>
                  </a:tr>
                  <a:tr h="36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69" t="-137288" r="-99831" b="-401695"/>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36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69" t="-237288" r="-99831" b="-30169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339" t="-237288" b="-301695"/>
                          </a:stretch>
                        </a:blipFill>
                      </a:tcPr>
                    </a:tc>
                    <a:extLst>
                      <a:ext uri="{0D108BD9-81ED-4DB2-BD59-A6C34878D82A}">
                        <a16:rowId xmlns:a16="http://schemas.microsoft.com/office/drawing/2014/main" xmlns:a14="http://schemas.microsoft.com/office/drawing/2010/main" xmlns="" val="10002"/>
                      </a:ext>
                    </a:extLst>
                  </a:tr>
                  <a:tr h="36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69" t="-337288" r="-99831" b="-201695"/>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36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69" t="-437288" r="-99831" b="-101695"/>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r h="36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69" t="-537288" r="-99831" b="-1695"/>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5"/>
                      </a:ext>
                    </a:extLst>
                  </a:tr>
                </a:tbl>
              </a:graphicData>
            </a:graphic>
          </p:graphicFrame>
        </mc:Fallback>
      </mc:AlternateContent>
      <p:sp>
        <p:nvSpPr>
          <p:cNvPr id="15"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176</a:t>
            </a:r>
            <a:endParaRPr lang="en-US" i="1" dirty="0">
              <a:latin typeface="Calibri"/>
              <a:ea typeface="Calibri"/>
              <a:cs typeface="Calibri"/>
              <a:sym typeface="Calibri"/>
            </a:endParaRPr>
          </a:p>
        </p:txBody>
      </p:sp>
      <p:pic>
        <p:nvPicPr>
          <p:cNvPr id="13"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B74EB5C6-2FDE-474B-866F-02AD6706D73C}"/>
                  </a:ext>
                </a:extLst>
              </p:cNvPr>
              <p:cNvSpPr txBox="1"/>
              <p:nvPr/>
            </p:nvSpPr>
            <p:spPr>
              <a:xfrm>
                <a:off x="553988" y="372881"/>
                <a:ext cx="10800000" cy="2800767"/>
              </a:xfrm>
              <a:prstGeom prst="rect">
                <a:avLst/>
              </a:prstGeom>
              <a:noFill/>
            </p:spPr>
            <p:txBody>
              <a:bodyPr wrap="square" rtlCol="0">
                <a:spAutoFit/>
              </a:bodyPr>
              <a:lstStyle/>
              <a:p>
                <a:pPr marL="914400" lvl="1"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Discuss with your partner how you determined the number of servings </a:t>
                </a:r>
                <a14:m>
                  <m:oMath xmlns:m="http://schemas.openxmlformats.org/officeDocument/2006/math">
                    <m:r>
                      <a:rPr lang="en-US" sz="2200" i="1">
                        <a:latin typeface="Cambria Math" panose="02040503050406030204" pitchFamily="18" charset="0"/>
                        <a:ea typeface="Cambria Math" panose="02040503050406030204" pitchFamily="18" charset="0"/>
                      </a:rPr>
                      <m:t>43</m:t>
                    </m:r>
                  </m:oMath>
                </a14:m>
                <a:r>
                  <a:rPr lang="en-US" sz="2200" dirty="0">
                    <a:latin typeface="Verdana" panose="020B0604030504040204" pitchFamily="34" charset="0"/>
                    <a:ea typeface="Verdana" panose="020B0604030504040204" pitchFamily="34" charset="0"/>
                    <a:cs typeface="Verdana" panose="020B0604030504040204" pitchFamily="34" charset="0"/>
                  </a:rPr>
                  <a:t> cups of dry rice would produce.</a:t>
                </a:r>
              </a:p>
              <a:p>
                <a:pPr marL="914400" lvl="1"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How many servings does </a:t>
                </a:r>
                <a14:m>
                  <m:oMath xmlns:m="http://schemas.openxmlformats.org/officeDocument/2006/math">
                    <m:r>
                      <a:rPr lang="en-US" sz="2200" i="1">
                        <a:latin typeface="Cambria Math" panose="02040503050406030204" pitchFamily="18" charset="0"/>
                        <a:ea typeface="Cambria Math" panose="02040503050406030204" pitchFamily="18" charset="0"/>
                      </a:rPr>
                      <m:t>𝑥</m:t>
                    </m:r>
                  </m:oMath>
                </a14:m>
                <a:r>
                  <a:rPr lang="en-US" sz="2200" dirty="0">
                    <a:latin typeface="Verdana" panose="020B0604030504040204" pitchFamily="34" charset="0"/>
                    <a:ea typeface="Verdana" panose="020B0604030504040204" pitchFamily="34" charset="0"/>
                    <a:cs typeface="Verdana" panose="020B0604030504040204" pitchFamily="34" charset="0"/>
                  </a:rPr>
                  <a:t> cups of dry rice produce?</a:t>
                </a: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553988" y="372881"/>
                <a:ext cx="10800000" cy="2800767"/>
              </a:xfrm>
              <a:prstGeom prst="rect">
                <a:avLst/>
              </a:prstGeom>
              <a:blipFill rotWithShape="1">
                <a:blip r:embed="rId3"/>
                <a:stretch>
                  <a:fillRect t="-1522" b="-3478"/>
                </a:stretch>
              </a:blipFill>
            </p:spPr>
            <p:txBody>
              <a:bodyPr/>
              <a:lstStyle/>
              <a:p>
                <a:r>
                  <a:rPr lang="en-PH">
                    <a:noFill/>
                  </a:rPr>
                  <a:t> </a:t>
                </a:r>
              </a:p>
            </p:txBody>
          </p:sp>
        </mc:Fallback>
      </mc:AlternateContent>
      <p:sp>
        <p:nvSpPr>
          <p:cNvPr id="6"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176</a:t>
            </a:r>
            <a:endParaRPr lang="en-US"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687834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B74EB5C6-2FDE-474B-866F-02AD6706D73C}"/>
                  </a:ext>
                </a:extLst>
              </p:cNvPr>
              <p:cNvSpPr txBox="1"/>
              <p:nvPr/>
            </p:nvSpPr>
            <p:spPr>
              <a:xfrm>
                <a:off x="539446" y="374090"/>
                <a:ext cx="10800000" cy="3816429"/>
              </a:xfrm>
              <a:prstGeom prst="rect">
                <a:avLst/>
              </a:prstGeom>
              <a:noFill/>
            </p:spPr>
            <p:txBody>
              <a:bodyPr wrap="square" rtlCol="0">
                <a:spAutoFit/>
              </a:bodyPr>
              <a:lstStyle/>
              <a:p>
                <a:pPr marL="914400" lvl="1" indent="-457200">
                  <a:buFont typeface="+mj-lt"/>
                  <a:buAutoNum type="alphaLcPeriod" startAt="5"/>
                </a:pPr>
                <a:r>
                  <a:rPr lang="en-US" sz="2200" dirty="0">
                    <a:latin typeface="Verdana" panose="020B0604030504040204" pitchFamily="34" charset="0"/>
                    <a:ea typeface="Verdana" panose="020B0604030504040204" pitchFamily="34" charset="0"/>
                    <a:cs typeface="Verdana" panose="020B0604030504040204" pitchFamily="34" charset="0"/>
                  </a:rPr>
                  <a:t>Write an equation that could be used to find the number of servings, </a:t>
                </a:r>
                <a14:m>
                  <m:oMath xmlns:m="http://schemas.openxmlformats.org/officeDocument/2006/math">
                    <m:r>
                      <a:rPr lang="en-US" sz="2200" i="1">
                        <a:latin typeface="Cambria Math" panose="02040503050406030204" pitchFamily="18" charset="0"/>
                        <a:ea typeface="Cambria Math" panose="02040503050406030204" pitchFamily="18" charset="0"/>
                      </a:rPr>
                      <m:t>𝑦</m:t>
                    </m:r>
                  </m:oMath>
                </a14:m>
                <a:r>
                  <a:rPr lang="en-US" sz="2200" dirty="0">
                    <a:latin typeface="Verdana" panose="020B0604030504040204" pitchFamily="34" charset="0"/>
                    <a:ea typeface="Verdana" panose="020B0604030504040204" pitchFamily="34" charset="0"/>
                    <a:cs typeface="Verdana" panose="020B0604030504040204" pitchFamily="34" charset="0"/>
                  </a:rPr>
                  <a:t>, that any number of cups of dry rice, </a:t>
                </a:r>
                <a14:m>
                  <m:oMath xmlns:m="http://schemas.openxmlformats.org/officeDocument/2006/math">
                    <m:r>
                      <a:rPr lang="en-US" sz="2200" i="1">
                        <a:latin typeface="Cambria Math" panose="02040503050406030204" pitchFamily="18" charset="0"/>
                        <a:ea typeface="Cambria Math" panose="02040503050406030204" pitchFamily="18" charset="0"/>
                      </a:rPr>
                      <m:t>𝑥</m:t>
                    </m:r>
                  </m:oMath>
                </a14:m>
                <a:r>
                  <a:rPr lang="en-US" sz="2200" dirty="0">
                    <a:latin typeface="Verdana" panose="020B0604030504040204" pitchFamily="34" charset="0"/>
                    <a:ea typeface="Verdana" panose="020B0604030504040204" pitchFamily="34" charset="0"/>
                    <a:cs typeface="Verdana" panose="020B0604030504040204" pitchFamily="34" charset="0"/>
                  </a:rPr>
                  <a:t>, could produce.</a:t>
                </a:r>
              </a:p>
              <a:p>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On their party-planning menu, a catering company says that </a:t>
                </a:r>
                <a14:m>
                  <m:oMath xmlns:m="http://schemas.openxmlformats.org/officeDocument/2006/math">
                    <m:r>
                      <a:rPr lang="en-US" sz="2200" i="1">
                        <a:latin typeface="Cambria Math" panose="02040503050406030204" pitchFamily="18" charset="0"/>
                        <a:ea typeface="Cambria Math" panose="02040503050406030204" pitchFamily="18" charset="0"/>
                      </a:rPr>
                      <m:t>6</m:t>
                    </m:r>
                  </m:oMath>
                </a14:m>
                <a:r>
                  <a:rPr lang="en-US" sz="2200" dirty="0">
                    <a:latin typeface="Verdana" panose="020B0604030504040204" pitchFamily="34" charset="0"/>
                    <a:ea typeface="Verdana" panose="020B0604030504040204" pitchFamily="34" charset="0"/>
                    <a:cs typeface="Verdana" panose="020B0604030504040204" pitchFamily="34" charset="0"/>
                  </a:rPr>
                  <a:t> spring rolls are considered </a:t>
                </a:r>
                <a14:m>
                  <m:oMath xmlns:m="http://schemas.openxmlformats.org/officeDocument/2006/math">
                    <m:r>
                      <a:rPr lang="en-US" sz="2200" i="1">
                        <a:latin typeface="Cambria Math" panose="02040503050406030204" pitchFamily="18" charset="0"/>
                        <a:ea typeface="Cambria Math" panose="02040503050406030204" pitchFamily="18" charset="0"/>
                      </a:rPr>
                      <m:t>3</m:t>
                    </m:r>
                  </m:oMath>
                </a14:m>
                <a:r>
                  <a:rPr lang="en-US" sz="2200" dirty="0">
                    <a:latin typeface="Verdana" panose="020B0604030504040204" pitchFamily="34" charset="0"/>
                    <a:ea typeface="Verdana" panose="020B0604030504040204" pitchFamily="34" charset="0"/>
                    <a:cs typeface="Verdana" panose="020B0604030504040204" pitchFamily="34" charset="0"/>
                  </a:rPr>
                  <a:t> servings.</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How many servings will </a:t>
                </a:r>
                <a14:m>
                  <m:oMath xmlns:m="http://schemas.openxmlformats.org/officeDocument/2006/math">
                    <m:r>
                      <a:rPr lang="en-US" sz="2200" i="1">
                        <a:latin typeface="Cambria Math" panose="02040503050406030204" pitchFamily="18" charset="0"/>
                        <a:ea typeface="Cambria Math" panose="02040503050406030204" pitchFamily="18" charset="0"/>
                      </a:rPr>
                      <m:t>1</m:t>
                    </m:r>
                  </m:oMath>
                </a14:m>
                <a:r>
                  <a:rPr lang="en-US" sz="2200" dirty="0">
                    <a:latin typeface="Verdana" panose="020B0604030504040204" pitchFamily="34" charset="0"/>
                    <a:ea typeface="Verdana" panose="020B0604030504040204" pitchFamily="34" charset="0"/>
                    <a:cs typeface="Verdana" panose="020B0604030504040204" pitchFamily="34" charset="0"/>
                  </a:rPr>
                  <a:t> spring roll produce?</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Complete the table.</a:t>
                </a: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539446" y="374090"/>
                <a:ext cx="10800000" cy="3816429"/>
              </a:xfrm>
              <a:prstGeom prst="rect">
                <a:avLst/>
              </a:prstGeom>
              <a:blipFill rotWithShape="1">
                <a:blip r:embed="rId3"/>
                <a:stretch>
                  <a:fillRect l="-734" t="-1118" r="-1524"/>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058185258"/>
                  </p:ext>
                </p:extLst>
              </p:nvPr>
            </p:nvGraphicFramePr>
            <p:xfrm>
              <a:off x="1612589" y="3985194"/>
              <a:ext cx="7200000" cy="2520000"/>
            </p:xfrm>
            <a:graphic>
              <a:graphicData uri="http://schemas.openxmlformats.org/drawingml/2006/table">
                <a:tbl>
                  <a:tblPr firstRow="1" firstCol="1" bandRow="1">
                    <a:tableStyleId>{5940675A-B579-460E-94D1-54222C63F5DA}</a:tableStyleId>
                  </a:tblPr>
                  <a:tblGrid>
                    <a:gridCol w="3600000">
                      <a:extLst>
                        <a:ext uri="{9D8B030D-6E8A-4147-A177-3AD203B41FA5}">
                          <a16:colId xmlns="" xmlns:a16="http://schemas.microsoft.com/office/drawing/2014/main" val="20000"/>
                        </a:ext>
                      </a:extLst>
                    </a:gridCol>
                    <a:gridCol w="3600000">
                      <a:extLst>
                        <a:ext uri="{9D8B030D-6E8A-4147-A177-3AD203B41FA5}">
                          <a16:colId xmlns="" xmlns:a16="http://schemas.microsoft.com/office/drawing/2014/main" val="20001"/>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Spring </a:t>
                          </a:r>
                          <a:r>
                            <a:rPr lang="en-US" sz="2000" b="1" dirty="0">
                              <a:effectLst/>
                              <a:latin typeface="Verdana" panose="020B0604030504040204" pitchFamily="34" charset="0"/>
                              <a:ea typeface="Verdana" panose="020B0604030504040204" pitchFamily="34" charset="0"/>
                              <a:cs typeface="Verdana" panose="020B0604030504040204" pitchFamily="34" charset="0"/>
                            </a:rPr>
                            <a:t>Rolls, </a:t>
                          </a:r>
                          <a14:m>
                            <m:oMath xmlns:m="http://schemas.openxmlformats.org/officeDocument/2006/math">
                              <m:r>
                                <a:rPr lang="en-US" sz="2000" b="1" i="1">
                                  <a:effectLst/>
                                  <a:latin typeface="Cambria Math" panose="02040503050406030204" pitchFamily="18" charset="0"/>
                                </a:rPr>
                                <m:t>𝒙</m:t>
                              </m:r>
                            </m:oMath>
                          </a14:m>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Servings</a:t>
                          </a:r>
                          <a:r>
                            <a:rPr lang="en-US" sz="2000" b="1"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b="1" i="1">
                                  <a:effectLst/>
                                  <a:latin typeface="Cambria Math" panose="02040503050406030204" pitchFamily="18" charset="0"/>
                                </a:rPr>
                                <m:t>𝒚</m:t>
                              </m:r>
                            </m:oMath>
                          </a14:m>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36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6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oMath>
                            </m:oMathPara>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6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m:t>
                                </m:r>
                              </m:oMath>
                            </m:oMathPara>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36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16</m:t>
                                </m:r>
                              </m:oMath>
                            </m:oMathPara>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r h="36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25</m:t>
                                </m:r>
                              </m:oMath>
                            </m:oMathPara>
                          </a14:m>
                          <a:endParaRPr lang="en-US" sz="2000" dirty="0">
                            <a:effectLst/>
                            <a:latin typeface="Cambria Math" panose="02040503050406030204" pitchFamily="18" charset="0"/>
                            <a:ea typeface="Cambria Math" panose="020405030504060302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058185258"/>
                  </p:ext>
                </p:extLst>
              </p:nvPr>
            </p:nvGraphicFramePr>
            <p:xfrm>
              <a:off x="1612589" y="3985194"/>
              <a:ext cx="7200000" cy="2520000"/>
            </p:xfrm>
            <a:graphic>
              <a:graphicData uri="http://schemas.openxmlformats.org/drawingml/2006/table">
                <a:tbl>
                  <a:tblPr firstRow="1" firstCol="1" bandRow="1">
                    <a:tableStyleId>{5940675A-B579-460E-94D1-54222C63F5DA}</a:tableStyleId>
                  </a:tblPr>
                  <a:tblGrid>
                    <a:gridCol w="3600000">
                      <a:extLst>
                        <a:ext uri="{9D8B030D-6E8A-4147-A177-3AD203B41FA5}">
                          <a16:colId xmlns:a16="http://schemas.microsoft.com/office/drawing/2014/main" xmlns:a14="http://schemas.microsoft.com/office/drawing/2010/main" xmlns="" val="20000"/>
                        </a:ext>
                      </a:extLst>
                    </a:gridCol>
                    <a:gridCol w="3600000">
                      <a:extLst>
                        <a:ext uri="{9D8B030D-6E8A-4147-A177-3AD203B41FA5}">
                          <a16:colId xmlns:a16="http://schemas.microsoft.com/office/drawing/2014/main" xmlns:a14="http://schemas.microsoft.com/office/drawing/2010/main" xmlns="" val="20001"/>
                        </a:ext>
                      </a:extLst>
                    </a:gridCol>
                  </a:tblGrid>
                  <a:tr h="72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9" t="-3390" r="-99831" b="-25084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39" t="-3390" b="-250847"/>
                          </a:stretch>
                        </a:blipFill>
                      </a:tcPr>
                    </a:tc>
                    <a:extLst>
                      <a:ext uri="{0D108BD9-81ED-4DB2-BD59-A6C34878D82A}">
                        <a16:rowId xmlns:a16="http://schemas.microsoft.com/office/drawing/2014/main" xmlns:a14="http://schemas.microsoft.com/office/drawing/2010/main" xmlns="" val="10000"/>
                      </a:ext>
                    </a:extLst>
                  </a:tr>
                  <a:tr h="36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9" t="-206780" r="-99831" b="-401695"/>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36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9" t="-306780" r="-99831" b="-30169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339" t="-306780" b="-301695"/>
                          </a:stretch>
                        </a:blipFill>
                      </a:tcPr>
                    </a:tc>
                    <a:extLst>
                      <a:ext uri="{0D108BD9-81ED-4DB2-BD59-A6C34878D82A}">
                        <a16:rowId xmlns:a16="http://schemas.microsoft.com/office/drawing/2014/main" xmlns:a14="http://schemas.microsoft.com/office/drawing/2010/main" xmlns="" val="10002"/>
                      </a:ext>
                    </a:extLst>
                  </a:tr>
                  <a:tr h="36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9" t="-406780" r="-99831" b="-201695"/>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36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9" t="-506780" r="-99831" b="-101695"/>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r h="36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9" t="-606780" r="-99831" b="-1695"/>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5"/>
                      </a:ext>
                    </a:extLst>
                  </a:tr>
                </a:tbl>
              </a:graphicData>
            </a:graphic>
          </p:graphicFrame>
        </mc:Fallback>
      </mc:AlternateContent>
      <p:sp>
        <p:nvSpPr>
          <p:cNvPr id="10"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177</a:t>
            </a:r>
            <a:endParaRPr lang="en-US"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77366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 xmlns:a16="http://schemas.microsoft.com/office/drawing/2014/main" id="{B74EB5C6-2FDE-474B-866F-02AD6706D73C}"/>
              </a:ext>
            </a:extLst>
          </p:cNvPr>
          <p:cNvSpPr txBox="1"/>
          <p:nvPr/>
        </p:nvSpPr>
        <p:spPr>
          <a:xfrm>
            <a:off x="551499" y="374089"/>
            <a:ext cx="10800000" cy="1446550"/>
          </a:xfrm>
          <a:prstGeom prst="rect">
            <a:avLst/>
          </a:prstGeom>
          <a:noFill/>
        </p:spPr>
        <p:txBody>
          <a:bodyPr wrap="square" rtlCol="0">
            <a:spAutoFit/>
          </a:bodyPr>
          <a:lstStyle/>
          <a:p>
            <a:pPr marL="914400"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With your partner, discuss what was similar and what was different about completing this table when compared with the table in Problem 1b. Summarize your discussion below.</a:t>
            </a:r>
          </a:p>
        </p:txBody>
      </p:sp>
      <p:graphicFrame>
        <p:nvGraphicFramePr>
          <p:cNvPr id="2" name="Table 1"/>
          <p:cNvGraphicFramePr>
            <a:graphicFrameLocks noGrp="1"/>
          </p:cNvGraphicFramePr>
          <p:nvPr>
            <p:extLst>
              <p:ext uri="{D42A27DB-BD31-4B8C-83A1-F6EECF244321}">
                <p14:modId xmlns:p14="http://schemas.microsoft.com/office/powerpoint/2010/main" val="1307497250"/>
              </p:ext>
            </p:extLst>
          </p:nvPr>
        </p:nvGraphicFramePr>
        <p:xfrm>
          <a:off x="1567393" y="1623748"/>
          <a:ext cx="7200000" cy="3096254"/>
        </p:xfrm>
        <a:graphic>
          <a:graphicData uri="http://schemas.openxmlformats.org/drawingml/2006/table">
            <a:tbl>
              <a:tblPr firstRow="1" firstCol="1" bandRow="1">
                <a:tableStyleId>{5940675A-B579-460E-94D1-54222C63F5DA}</a:tableStyleId>
              </a:tblPr>
              <a:tblGrid>
                <a:gridCol w="3600000">
                  <a:extLst>
                    <a:ext uri="{9D8B030D-6E8A-4147-A177-3AD203B41FA5}">
                      <a16:colId xmlns="" xmlns:a16="http://schemas.microsoft.com/office/drawing/2014/main" val="20000"/>
                    </a:ext>
                  </a:extLst>
                </a:gridCol>
                <a:gridCol w="3600000">
                  <a:extLst>
                    <a:ext uri="{9D8B030D-6E8A-4147-A177-3AD203B41FA5}">
                      <a16:colId xmlns="" xmlns:a16="http://schemas.microsoft.com/office/drawing/2014/main" val="20001"/>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How was completing the tables similar?</a:t>
                      </a: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How was completing the tables different?</a:t>
                      </a: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2395214">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200" dirty="0">
                        <a:effectLst/>
                        <a:latin typeface="Cambria" panose="02040503050406030204" pitchFamily="18"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177</a:t>
            </a:r>
            <a:endParaRPr lang="en-US" i="1" dirty="0">
              <a:latin typeface="Calibri"/>
              <a:ea typeface="Calibri"/>
              <a:cs typeface="Calibri"/>
              <a:sym typeface="Calibri"/>
            </a:endParaRPr>
          </a:p>
        </p:txBody>
      </p:sp>
      <p:pic>
        <p:nvPicPr>
          <p:cNvPr id="10"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615004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B74EB5C6-2FDE-474B-866F-02AD6706D73C}"/>
                  </a:ext>
                </a:extLst>
              </p:cNvPr>
              <p:cNvSpPr txBox="1"/>
              <p:nvPr/>
            </p:nvSpPr>
            <p:spPr>
              <a:xfrm>
                <a:off x="528159" y="377343"/>
                <a:ext cx="10800000" cy="2800767"/>
              </a:xfrm>
              <a:prstGeom prst="rect">
                <a:avLst/>
              </a:prstGeom>
              <a:noFill/>
            </p:spPr>
            <p:txBody>
              <a:bodyPr wrap="square" rtlCol="0">
                <a:spAutoFit/>
              </a:bodyPr>
              <a:lstStyle/>
              <a:p>
                <a:pPr marL="914400" lvl="1" indent="-457200">
                  <a:buFont typeface="+mj-lt"/>
                  <a:buAutoNum type="alphaLcPeriod" startAt="4"/>
                </a:pPr>
                <a:r>
                  <a:rPr lang="en-US" sz="2200" dirty="0">
                    <a:latin typeface="Verdana" panose="020B0604030504040204" pitchFamily="34" charset="0"/>
                    <a:ea typeface="Verdana" panose="020B0604030504040204" pitchFamily="34" charset="0"/>
                    <a:cs typeface="Verdana" panose="020B0604030504040204" pitchFamily="34" charset="0"/>
                  </a:rPr>
                  <a:t>How many servings would </a:t>
                </a:r>
                <a14:m>
                  <m:oMath xmlns:m="http://schemas.openxmlformats.org/officeDocument/2006/math">
                    <m:r>
                      <a:rPr lang="en-US" sz="2200" i="1">
                        <a:latin typeface="Cambria Math" panose="02040503050406030204" pitchFamily="18" charset="0"/>
                        <a:ea typeface="Cambria Math" panose="02040503050406030204" pitchFamily="18" charset="0"/>
                      </a:rPr>
                      <m:t>𝑥</m:t>
                    </m:r>
                  </m:oMath>
                </a14:m>
                <a:r>
                  <a:rPr lang="en-US" sz="2200" dirty="0">
                    <a:latin typeface="Verdana" panose="020B0604030504040204" pitchFamily="34" charset="0"/>
                    <a:ea typeface="Verdana" panose="020B0604030504040204" pitchFamily="34" charset="0"/>
                    <a:cs typeface="Verdana" panose="020B0604030504040204" pitchFamily="34" charset="0"/>
                  </a:rPr>
                  <a:t> spring rolls be?</a:t>
                </a:r>
              </a:p>
              <a:p>
                <a:pPr marL="914400" lvl="1"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4"/>
                </a:pPr>
                <a:r>
                  <a:rPr lang="en-US" sz="2200" dirty="0">
                    <a:latin typeface="Verdana" panose="020B0604030504040204" pitchFamily="34" charset="0"/>
                    <a:ea typeface="Verdana" panose="020B0604030504040204" pitchFamily="34" charset="0"/>
                    <a:cs typeface="Verdana" panose="020B0604030504040204" pitchFamily="34" charset="0"/>
                  </a:rPr>
                  <a:t>Write an equation that could be used to find the number of servings, </a:t>
                </a:r>
                <a14:m>
                  <m:oMath xmlns:m="http://schemas.openxmlformats.org/officeDocument/2006/math">
                    <m:r>
                      <a:rPr lang="en-US" sz="2200" i="1">
                        <a:latin typeface="Cambria Math" panose="02040503050406030204" pitchFamily="18" charset="0"/>
                        <a:ea typeface="Cambria Math" panose="02040503050406030204" pitchFamily="18" charset="0"/>
                      </a:rPr>
                      <m:t>𝑦</m:t>
                    </m:r>
                  </m:oMath>
                </a14:m>
                <a:r>
                  <a:rPr lang="en-US" sz="2200" dirty="0">
                    <a:latin typeface="Verdana" panose="020B0604030504040204" pitchFamily="34" charset="0"/>
                    <a:ea typeface="Verdana" panose="020B0604030504040204" pitchFamily="34" charset="0"/>
                    <a:cs typeface="Verdana" panose="020B0604030504040204" pitchFamily="34" charset="0"/>
                  </a:rPr>
                  <a:t>, that any number of spring rolls, </a:t>
                </a:r>
                <a14:m>
                  <m:oMath xmlns:m="http://schemas.openxmlformats.org/officeDocument/2006/math">
                    <m:r>
                      <a:rPr lang="en-US" sz="2200" i="1">
                        <a:latin typeface="Cambria Math" panose="02040503050406030204" pitchFamily="18" charset="0"/>
                        <a:ea typeface="Cambria Math" panose="02040503050406030204" pitchFamily="18" charset="0"/>
                      </a:rPr>
                      <m:t>𝑥</m:t>
                    </m:r>
                  </m:oMath>
                </a14:m>
                <a:r>
                  <a:rPr lang="en-US" sz="2200" dirty="0">
                    <a:latin typeface="Verdana" panose="020B0604030504040204" pitchFamily="34" charset="0"/>
                    <a:ea typeface="Verdana" panose="020B0604030504040204" pitchFamily="34" charset="0"/>
                    <a:cs typeface="Verdana" panose="020B0604030504040204" pitchFamily="34" charset="0"/>
                  </a:rPr>
                  <a:t>, could produce.</a:t>
                </a: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528159" y="377343"/>
                <a:ext cx="10800000" cy="2800767"/>
              </a:xfrm>
              <a:prstGeom prst="rect">
                <a:avLst/>
              </a:prstGeom>
              <a:blipFill rotWithShape="1">
                <a:blip r:embed="rId3"/>
                <a:stretch>
                  <a:fillRect t="-1743" r="-1525" b="-3486"/>
                </a:stretch>
              </a:blipFill>
            </p:spPr>
            <p:txBody>
              <a:bodyPr/>
              <a:lstStyle/>
              <a:p>
                <a:r>
                  <a:rPr lang="en-PH">
                    <a:noFill/>
                  </a:rPr>
                  <a:t> </a:t>
                </a:r>
              </a:p>
            </p:txBody>
          </p:sp>
        </mc:Fallback>
      </mc:AlternateContent>
      <p:sp>
        <p:nvSpPr>
          <p:cNvPr id="6"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177</a:t>
            </a:r>
            <a:endParaRPr lang="en-US"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328194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178</a:t>
            </a:r>
            <a:endParaRPr lang="en-US"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02612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167225" y="99995"/>
            <a:ext cx="108000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11.6.3 Guided Instruction: Writing Equations to Represent Proportional relationships</a:t>
            </a:r>
          </a:p>
        </p:txBody>
      </p:sp>
      <p:pic>
        <p:nvPicPr>
          <p:cNvPr id="9" name="Google Shape;345;g103996e1364_0_321">
            <a:extLst>
              <a:ext uri="{FF2B5EF4-FFF2-40B4-BE49-F238E27FC236}">
                <a16:creationId xmlns="" xmlns:a16="http://schemas.microsoft.com/office/drawing/2014/main" id="{CBDD45DF-949B-9F42-BFF6-A7167F0CF795}"/>
              </a:ext>
            </a:extLst>
          </p:cNvPr>
          <p:cNvPicPr preferRelativeResize="0"/>
          <p:nvPr/>
        </p:nvPicPr>
        <p:blipFill rotWithShape="1">
          <a:blip r:embed="rId3">
            <a:alphaModFix/>
          </a:blip>
          <a:srcRect/>
          <a:stretch/>
        </p:blipFill>
        <p:spPr>
          <a:xfrm>
            <a:off x="327091" y="389195"/>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 xmlns:a16="http://schemas.microsoft.com/office/drawing/2014/main" id="{C01B13E8-EC8D-E443-A329-C5E3593DD13A}"/>
              </a:ext>
            </a:extLst>
          </p:cNvPr>
          <p:cNvSpPr txBox="1"/>
          <p:nvPr/>
        </p:nvSpPr>
        <p:spPr>
          <a:xfrm>
            <a:off x="548137" y="1467423"/>
            <a:ext cx="10800000" cy="769441"/>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In each situation from the Exploration, an equation can be written to represent the relationship.</a:t>
            </a:r>
          </a:p>
        </p:txBody>
      </p:sp>
      <p:grpSp>
        <p:nvGrpSpPr>
          <p:cNvPr id="2" name="Group 1"/>
          <p:cNvGrpSpPr/>
          <p:nvPr/>
        </p:nvGrpSpPr>
        <p:grpSpPr>
          <a:xfrm>
            <a:off x="1448137" y="2575164"/>
            <a:ext cx="9000000" cy="2088470"/>
            <a:chOff x="1448137" y="2752964"/>
            <a:chExt cx="9000000" cy="2088470"/>
          </a:xfrm>
        </p:grpSpPr>
        <mc:AlternateContent xmlns:mc="http://schemas.openxmlformats.org/markup-compatibility/2006" xmlns:a14="http://schemas.microsoft.com/office/drawing/2010/main">
          <mc:Choice Requires="a14">
            <p:sp>
              <p:nvSpPr>
                <p:cNvPr id="17" name="Rounded Rectangle 16"/>
                <p:cNvSpPr/>
                <p:nvPr/>
              </p:nvSpPr>
              <p:spPr>
                <a:xfrm>
                  <a:off x="1448137" y="2752964"/>
                  <a:ext cx="9000000" cy="2088470"/>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0" anchor="ctr" anchorCtr="0">
                  <a:spAutoFit/>
                </a:bodyPr>
                <a:lstStyle/>
                <a:p>
                  <a:pPr marL="722313">
                    <a:spcAft>
                      <a:spcPts val="1000"/>
                    </a:spcAft>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When </a:t>
                  </a:r>
                  <a14:m>
                    <m:oMath xmlns:m="http://schemas.openxmlformats.org/officeDocument/2006/math">
                      <m:r>
                        <a:rPr lang="en-US" sz="2000" i="1">
                          <a:solidFill>
                            <a:srgbClr val="0075BF"/>
                          </a:solidFill>
                          <a:latin typeface="Cambria Math" panose="02040503050406030204" pitchFamily="18" charset="0"/>
                          <a:ea typeface="Cambria Math" panose="02040503050406030204" pitchFamily="18" charset="0"/>
                          <a:cs typeface="Verdana" panose="020B0604030504040204" pitchFamily="34" charset="0"/>
                        </a:rPr>
                        <m:t>𝑦</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is proportional to </a:t>
                  </a:r>
                  <a14:m>
                    <m:oMath xmlns:m="http://schemas.openxmlformats.org/officeDocument/2006/math">
                      <m:r>
                        <a:rPr lang="en-US" sz="2000" i="1">
                          <a:solidFill>
                            <a:srgbClr val="0075BF"/>
                          </a:solidFill>
                          <a:latin typeface="Cambria Math" panose="02040503050406030204" pitchFamily="18" charset="0"/>
                          <a:ea typeface="Cambria Math" panose="02040503050406030204" pitchFamily="18" charset="0"/>
                          <a:cs typeface="Verdana" panose="020B0604030504040204" pitchFamily="34" charset="0"/>
                        </a:rPr>
                        <m:t>𝑥</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solidFill>
                            <a:srgbClr val="0075BF"/>
                          </a:solidFill>
                          <a:latin typeface="Cambria Math" panose="02040503050406030204" pitchFamily="18" charset="0"/>
                          <a:ea typeface="Cambria Math" panose="02040503050406030204" pitchFamily="18" charset="0"/>
                          <a:cs typeface="Verdana" panose="020B0604030504040204" pitchFamily="34" charset="0"/>
                        </a:rPr>
                        <m:t>𝑥</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can be multiplied by the same number to get </a:t>
                  </a:r>
                  <a14:m>
                    <m:oMath xmlns:m="http://schemas.openxmlformats.org/officeDocument/2006/math">
                      <m:r>
                        <a:rPr lang="en-US" sz="2000" i="1">
                          <a:solidFill>
                            <a:srgbClr val="0075BF"/>
                          </a:solidFill>
                          <a:latin typeface="Cambria Math" panose="02040503050406030204" pitchFamily="18" charset="0"/>
                          <a:ea typeface="Cambria Math" panose="02040503050406030204" pitchFamily="18" charset="0"/>
                          <a:cs typeface="Verdana" panose="020B0604030504040204" pitchFamily="34" charset="0"/>
                        </a:rPr>
                        <m:t>𝑦</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The number multiplied by </a:t>
                  </a:r>
                  <a14:m>
                    <m:oMath xmlns:m="http://schemas.openxmlformats.org/officeDocument/2006/math">
                      <m:r>
                        <a:rPr lang="en-US" sz="2000" i="1">
                          <a:solidFill>
                            <a:srgbClr val="0075BF"/>
                          </a:solidFill>
                          <a:latin typeface="Cambria Math" panose="02040503050406030204" pitchFamily="18" charset="0"/>
                          <a:ea typeface="Cambria Math" panose="02040503050406030204" pitchFamily="18" charset="0"/>
                          <a:cs typeface="Verdana" panose="020B0604030504040204" pitchFamily="34" charset="0"/>
                        </a:rPr>
                        <m:t>𝑥</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is the constant of proportionality, </a:t>
                  </a:r>
                  <a14:m>
                    <m:oMath xmlns:m="http://schemas.openxmlformats.org/officeDocument/2006/math">
                      <m:r>
                        <a:rPr lang="en-US" sz="2000" i="1">
                          <a:solidFill>
                            <a:srgbClr val="0075BF"/>
                          </a:solidFill>
                          <a:latin typeface="Cambria Math" panose="02040503050406030204" pitchFamily="18" charset="0"/>
                          <a:ea typeface="Cambria Math" panose="02040503050406030204" pitchFamily="18" charset="0"/>
                          <a:cs typeface="Verdana" panose="020B0604030504040204" pitchFamily="34" charset="0"/>
                        </a:rPr>
                        <m:t>𝑘</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722313">
                    <a:spcAft>
                      <a:spcPts val="1000"/>
                    </a:spcAft>
                  </a:pPr>
                  <a:r>
                    <a:rPr lang="en-US" sz="2000" b="1" dirty="0">
                      <a:solidFill>
                        <a:srgbClr val="0075BF"/>
                      </a:solidFill>
                      <a:latin typeface="Verdana" panose="020B0604030504040204" pitchFamily="34" charset="0"/>
                      <a:ea typeface="Verdana" panose="020B0604030504040204" pitchFamily="34" charset="0"/>
                      <a:cs typeface="Verdana" panose="020B0604030504040204" pitchFamily="34" charset="0"/>
                    </a:rPr>
                    <a:t>The equation representing this proportional relationship is </a:t>
                  </a:r>
                  <a14:m>
                    <m:oMath xmlns:m="http://schemas.openxmlformats.org/officeDocument/2006/math">
                      <m:r>
                        <a:rPr lang="en-US" sz="2000" b="1" i="1">
                          <a:solidFill>
                            <a:srgbClr val="0075BF"/>
                          </a:solidFill>
                          <a:latin typeface="Cambria Math" panose="02040503050406030204" pitchFamily="18" charset="0"/>
                          <a:ea typeface="Cambria Math" panose="02040503050406030204" pitchFamily="18" charset="0"/>
                          <a:cs typeface="Verdana" panose="020B0604030504040204" pitchFamily="34" charset="0"/>
                        </a:rPr>
                        <m:t>𝒚</m:t>
                      </m:r>
                      <m:r>
                        <a:rPr lang="en-US" sz="2000" b="1" i="1">
                          <a:solidFill>
                            <a:srgbClr val="0075BF"/>
                          </a:solidFill>
                          <a:latin typeface="Cambria Math" panose="02040503050406030204" pitchFamily="18" charset="0"/>
                          <a:ea typeface="Cambria Math" panose="02040503050406030204" pitchFamily="18" charset="0"/>
                          <a:cs typeface="Verdana" panose="020B0604030504040204" pitchFamily="34" charset="0"/>
                        </a:rPr>
                        <m:t>=</m:t>
                      </m:r>
                      <m:r>
                        <a:rPr lang="en-US" sz="2000" b="1" i="1">
                          <a:solidFill>
                            <a:srgbClr val="0075BF"/>
                          </a:solidFill>
                          <a:latin typeface="Cambria Math" panose="02040503050406030204" pitchFamily="18" charset="0"/>
                          <a:ea typeface="Cambria Math" panose="02040503050406030204" pitchFamily="18" charset="0"/>
                          <a:cs typeface="Verdana" panose="020B0604030504040204" pitchFamily="34" charset="0"/>
                        </a:rPr>
                        <m:t>𝒌𝒙</m:t>
                      </m:r>
                    </m:oMath>
                  </a14:m>
                  <a:r>
                    <a:rPr lang="en-US" sz="2000" b="1" dirty="0">
                      <a:solidFill>
                        <a:srgbClr val="0075BF"/>
                      </a:solidFill>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7" name="Rounded Rectangle 16"/>
                <p:cNvSpPr>
                  <a:spLocks noRot="1" noChangeAspect="1" noMove="1" noResize="1" noEditPoints="1" noAdjustHandles="1" noChangeArrowheads="1" noChangeShapeType="1" noTextEdit="1"/>
                </p:cNvSpPr>
                <p:nvPr/>
              </p:nvSpPr>
              <p:spPr>
                <a:xfrm>
                  <a:off x="1448137" y="2752964"/>
                  <a:ext cx="9000000" cy="2088470"/>
                </a:xfrm>
                <a:prstGeom prst="roundRect">
                  <a:avLst>
                    <a:gd name="adj" fmla="val 16667"/>
                  </a:avLst>
                </a:prstGeom>
                <a:blipFill rotWithShape="1">
                  <a:blip r:embed="rId4"/>
                  <a:stretch>
                    <a:fillRect/>
                  </a:stretch>
                </a:blipFill>
                <a:ln>
                  <a:noFill/>
                </a:ln>
                <a:effectLst>
                  <a:outerShdw blurRad="50800" dist="38100" dir="2700000" algn="tl" rotWithShape="0">
                    <a:prstClr val="black">
                      <a:alpha val="40000"/>
                    </a:prstClr>
                  </a:outerShdw>
                </a:effectLst>
              </p:spPr>
              <p:txBody>
                <a:bodyPr/>
                <a:lstStyle/>
                <a:p>
                  <a:r>
                    <a:rPr lang="en-PH">
                      <a:noFill/>
                    </a:rPr>
                    <a:t> </a:t>
                  </a:r>
                </a:p>
              </p:txBody>
            </p:sp>
          </mc:Fallback>
        </mc:AlternateContent>
        <p:pic>
          <p:nvPicPr>
            <p:cNvPr id="11" name="image15.png" descr="Icon&#10;&#10;Description automatically generated"/>
            <p:cNvPicPr/>
            <p:nvPr/>
          </p:nvPicPr>
          <p:blipFill>
            <a:blip r:embed="rId5" cstate="screen">
              <a:extLst>
                <a:ext uri="{28A0092B-C50C-407E-A947-70E740481C1C}">
                  <a14:useLocalDpi xmlns:a14="http://schemas.microsoft.com/office/drawing/2010/main"/>
                </a:ext>
              </a:extLst>
            </a:blip>
            <a:srcRect/>
            <a:stretch>
              <a:fillRect/>
            </a:stretch>
          </p:blipFill>
          <p:spPr>
            <a:xfrm>
              <a:off x="1680893" y="2944947"/>
              <a:ext cx="539722" cy="515076"/>
            </a:xfrm>
            <a:prstGeom prst="rect">
              <a:avLst/>
            </a:prstGeom>
            <a:ln/>
            <a:effectLst>
              <a:outerShdw blurRad="50800" dist="38100" dir="2700000" algn="tl" rotWithShape="0">
                <a:prstClr val="black">
                  <a:alpha val="40000"/>
                </a:prstClr>
              </a:outerShdw>
            </a:effectLst>
          </p:spPr>
        </p:pic>
      </p:grpSp>
      <p:sp>
        <p:nvSpPr>
          <p:cNvPr id="12"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178</a:t>
            </a:r>
            <a:endParaRPr lang="en-US" i="1" dirty="0">
              <a:latin typeface="Calibri"/>
              <a:ea typeface="Calibri"/>
              <a:cs typeface="Calibri"/>
              <a:sym typeface="Calibri"/>
            </a:endParaRPr>
          </a:p>
        </p:txBody>
      </p:sp>
      <p:pic>
        <p:nvPicPr>
          <p:cNvPr id="14"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902457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8AE5E1E0-A54D-BE42-84B5-F917038ADE99}"/>
                  </a:ext>
                </a:extLst>
              </p:cNvPr>
              <p:cNvSpPr txBox="1"/>
              <p:nvPr/>
            </p:nvSpPr>
            <p:spPr>
              <a:xfrm>
                <a:off x="543898" y="381878"/>
                <a:ext cx="10800000" cy="2123658"/>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More than half of the sugarcane produced in the United States comes from farms in Florida. Sugarcane is grown in stalks. The graph and table of values show the relationship between the amount of sugar produced in pounds (</a:t>
                </a:r>
                <a:r>
                  <a:rPr lang="en-US" sz="2200" dirty="0" err="1">
                    <a:latin typeface="Verdana" panose="020B0604030504040204" pitchFamily="34" charset="0"/>
                    <a:ea typeface="Verdana" panose="020B0604030504040204" pitchFamily="34" charset="0"/>
                    <a:cs typeface="Verdana" panose="020B0604030504040204" pitchFamily="34" charset="0"/>
                  </a:rPr>
                  <a:t>lb</a:t>
                </a: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200" i="1">
                        <a:latin typeface="Cambria Math" panose="02040503050406030204" pitchFamily="18" charset="0"/>
                        <a:ea typeface="Cambria Math" panose="02040503050406030204" pitchFamily="18" charset="0"/>
                      </a:rPr>
                      <m:t>𝑦</m:t>
                    </m:r>
                  </m:oMath>
                </a14:m>
                <a:r>
                  <a:rPr lang="en-US" sz="2200" dirty="0">
                    <a:latin typeface="Verdana" panose="020B0604030504040204" pitchFamily="34" charset="0"/>
                    <a:ea typeface="Verdana" panose="020B0604030504040204" pitchFamily="34" charset="0"/>
                    <a:cs typeface="Verdana" panose="020B0604030504040204" pitchFamily="34" charset="0"/>
                  </a:rPr>
                  <a:t>, and the number of stalks harvested, </a:t>
                </a:r>
                <a14:m>
                  <m:oMath xmlns:m="http://schemas.openxmlformats.org/officeDocument/2006/math">
                    <m:r>
                      <a:rPr lang="en-US" sz="2200" i="1">
                        <a:latin typeface="Cambria Math" panose="02040503050406030204" pitchFamily="18" charset="0"/>
                        <a:ea typeface="Cambria Math" panose="02040503050406030204" pitchFamily="18" charset="0"/>
                      </a:rPr>
                      <m:t>𝑥</m:t>
                    </m:r>
                  </m:oMath>
                </a14:m>
                <a:r>
                  <a:rPr lang="en-US" sz="22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43898" y="381878"/>
                <a:ext cx="10800000" cy="2123658"/>
              </a:xfrm>
              <a:prstGeom prst="rect">
                <a:avLst/>
              </a:prstGeom>
              <a:blipFill rotWithShape="1">
                <a:blip r:embed="rId3"/>
                <a:stretch>
                  <a:fillRect l="-734" t="-2011"/>
                </a:stretch>
              </a:blipFill>
            </p:spPr>
            <p:txBody>
              <a:bodyPr/>
              <a:lstStyle/>
              <a:p>
                <a:r>
                  <a:rPr lang="en-PH">
                    <a:noFill/>
                  </a:rPr>
                  <a:t> </a:t>
                </a:r>
              </a:p>
            </p:txBody>
          </p:sp>
        </mc:Fallback>
      </mc:AlternateContent>
      <p:pic>
        <p:nvPicPr>
          <p:cNvPr id="2" name="Picture 1"/>
          <p:cNvPicPr>
            <a:picLocks noChangeAspect="1"/>
          </p:cNvPicPr>
          <p:nvPr/>
        </p:nvPicPr>
        <p:blipFill>
          <a:blip r:embed="rId4"/>
          <a:stretch>
            <a:fillRect/>
          </a:stretch>
        </p:blipFill>
        <p:spPr>
          <a:xfrm>
            <a:off x="2548758" y="2032122"/>
            <a:ext cx="6408116" cy="3989116"/>
          </a:xfrm>
          <a:prstGeom prst="rect">
            <a:avLst/>
          </a:prstGeom>
        </p:spPr>
      </p:pic>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178</a:t>
            </a:r>
            <a:endParaRPr lang="en-US"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393813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8AE5E1E0-A54D-BE42-84B5-F917038ADE99}"/>
                  </a:ext>
                </a:extLst>
              </p:cNvPr>
              <p:cNvSpPr txBox="1"/>
              <p:nvPr/>
            </p:nvSpPr>
            <p:spPr>
              <a:xfrm>
                <a:off x="543559" y="1911738"/>
                <a:ext cx="10800000" cy="3773212"/>
              </a:xfrm>
              <a:prstGeom prst="rect">
                <a:avLst/>
              </a:prstGeom>
              <a:noFill/>
            </p:spPr>
            <p:txBody>
              <a:bodyPr wrap="square" rtlCol="0">
                <a:spAutoFit/>
              </a:bodyPr>
              <a:lstStyle/>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Complete the steps to determine the constant of proportionality, </a:t>
                </a:r>
                <a14:m>
                  <m:oMath xmlns:m="http://schemas.openxmlformats.org/officeDocument/2006/math">
                    <m:f>
                      <m:fPr>
                        <m:ctrlPr>
                          <a:rPr lang="en-US" sz="2200" i="1">
                            <a:latin typeface="Cambria Math"/>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𝑦</m:t>
                        </m:r>
                      </m:num>
                      <m:den>
                        <m:r>
                          <a:rPr lang="en-US" sz="2200" i="1">
                            <a:latin typeface="Cambria Math" panose="02040503050406030204" pitchFamily="18" charset="0"/>
                            <a:ea typeface="Cambria Math" panose="02040503050406030204" pitchFamily="18" charset="0"/>
                          </a:rPr>
                          <m:t>𝑥</m:t>
                        </m:r>
                      </m:den>
                    </m:f>
                  </m:oMath>
                </a14:m>
                <a:r>
                  <a:rPr lang="en-US" sz="2200" dirty="0">
                    <a:latin typeface="Verdana" panose="020B0604030504040204" pitchFamily="34" charset="0"/>
                    <a:ea typeface="Verdana" panose="020B0604030504040204" pitchFamily="34" charset="0"/>
                    <a:cs typeface="Verdana" panose="020B0604030504040204" pitchFamily="34" charset="0"/>
                  </a:rPr>
                  <a:t>, using the point on the graph.</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Select any ordered pair from the table of values and use it to find the constant of proportionality, </a:t>
                </a:r>
                <a14:m>
                  <m:oMath xmlns:m="http://schemas.openxmlformats.org/officeDocument/2006/math">
                    <m:f>
                      <m:fPr>
                        <m:ctrlPr>
                          <a:rPr lang="en-US" sz="2200" i="1">
                            <a:latin typeface="Cambria Math"/>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𝑦</m:t>
                        </m:r>
                      </m:num>
                      <m:den>
                        <m:r>
                          <a:rPr lang="en-US" sz="2200" i="1">
                            <a:latin typeface="Cambria Math" panose="02040503050406030204" pitchFamily="18" charset="0"/>
                            <a:ea typeface="Cambria Math" panose="02040503050406030204" pitchFamily="18" charset="0"/>
                          </a:rPr>
                          <m:t>𝑥</m:t>
                        </m:r>
                      </m:den>
                    </m:f>
                  </m:oMath>
                </a14:m>
                <a:r>
                  <a:rPr lang="en-US" sz="22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43559" y="1911738"/>
                <a:ext cx="10800000" cy="3773212"/>
              </a:xfrm>
              <a:prstGeom prst="rect">
                <a:avLst/>
              </a:prstGeom>
              <a:blipFill rotWithShape="1">
                <a:blip r:embed="rId3"/>
                <a:stretch>
                  <a:fillRect t="-485"/>
                </a:stretch>
              </a:blipFill>
            </p:spPr>
            <p:txBody>
              <a:bodyPr/>
              <a:lstStyle/>
              <a:p>
                <a:r>
                  <a:rPr lang="en-PH">
                    <a:noFill/>
                  </a:rPr>
                  <a:t> </a:t>
                </a:r>
              </a:p>
            </p:txBody>
          </p:sp>
        </mc:Fallback>
      </mc:AlternateContent>
      <p:pic>
        <p:nvPicPr>
          <p:cNvPr id="2" name="Picture 1"/>
          <p:cNvPicPr>
            <a:picLocks noChangeAspect="1"/>
          </p:cNvPicPr>
          <p:nvPr/>
        </p:nvPicPr>
        <p:blipFill>
          <a:blip r:embed="rId4"/>
          <a:stretch>
            <a:fillRect/>
          </a:stretch>
        </p:blipFill>
        <p:spPr>
          <a:xfrm>
            <a:off x="1522307" y="348717"/>
            <a:ext cx="9227461" cy="1375694"/>
          </a:xfrm>
          <a:prstGeom prst="rect">
            <a:avLst/>
          </a:prstGeom>
        </p:spPr>
      </p:pic>
      <p:pic>
        <p:nvPicPr>
          <p:cNvPr id="3" name="Picture 2"/>
          <p:cNvPicPr>
            <a:picLocks noChangeAspect="1"/>
          </p:cNvPicPr>
          <p:nvPr/>
        </p:nvPicPr>
        <p:blipFill>
          <a:blip r:embed="rId5"/>
          <a:stretch>
            <a:fillRect/>
          </a:stretch>
        </p:blipFill>
        <p:spPr>
          <a:xfrm>
            <a:off x="4007891" y="2936267"/>
            <a:ext cx="3781179" cy="1317580"/>
          </a:xfrm>
          <a:prstGeom prst="rect">
            <a:avLst/>
          </a:prstGeom>
        </p:spPr>
      </p:pic>
      <p:pic>
        <p:nvPicPr>
          <p:cNvPr id="4" name="Picture 3"/>
          <p:cNvPicPr>
            <a:picLocks noChangeAspect="1"/>
          </p:cNvPicPr>
          <p:nvPr/>
        </p:nvPicPr>
        <p:blipFill>
          <a:blip r:embed="rId6"/>
          <a:stretch>
            <a:fillRect/>
          </a:stretch>
        </p:blipFill>
        <p:spPr>
          <a:xfrm>
            <a:off x="3944827" y="5246392"/>
            <a:ext cx="3761061" cy="1462635"/>
          </a:xfrm>
          <a:prstGeom prst="rect">
            <a:avLst/>
          </a:prstGeom>
        </p:spPr>
      </p:pic>
      <p:sp>
        <p:nvSpPr>
          <p:cNvPr id="12"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178</a:t>
            </a:r>
            <a:endParaRPr lang="en-US" i="1" dirty="0">
              <a:latin typeface="Calibri"/>
              <a:ea typeface="Calibri"/>
              <a:cs typeface="Calibri"/>
              <a:sym typeface="Calibri"/>
            </a:endParaRPr>
          </a:p>
        </p:txBody>
      </p:sp>
      <p:pic>
        <p:nvPicPr>
          <p:cNvPr id="13"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457860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 xmlns:a16="http://schemas.microsoft.com/office/drawing/2014/main" id="{8AE5E1E0-A54D-BE42-84B5-F917038ADE99}"/>
              </a:ext>
            </a:extLst>
          </p:cNvPr>
          <p:cNvSpPr txBox="1"/>
          <p:nvPr/>
        </p:nvSpPr>
        <p:spPr>
          <a:xfrm>
            <a:off x="544933" y="373411"/>
            <a:ext cx="10800000" cy="3985706"/>
          </a:xfrm>
          <a:prstGeom prst="rect">
            <a:avLst/>
          </a:prstGeom>
          <a:noFill/>
        </p:spPr>
        <p:txBody>
          <a:bodyPr wrap="square" rtlCol="0">
            <a:spAutoFit/>
          </a:bodyPr>
          <a:lstStyle/>
          <a:p>
            <a:pPr marL="914400"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Complete an equation that represents this relationship.</a:t>
            </a: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Complete the written description of this proportional relationship.</a:t>
            </a:r>
          </a:p>
          <a:p>
            <a:pPr marL="457200"/>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a:lnSpc>
                <a:spcPct val="250000"/>
              </a:lnSpc>
            </a:pPr>
            <a:r>
              <a:rPr lang="en-US" sz="2200" dirty="0">
                <a:latin typeface="Verdana" panose="020B0604030504040204" pitchFamily="34" charset="0"/>
                <a:ea typeface="Verdana" panose="020B0604030504040204" pitchFamily="34" charset="0"/>
                <a:cs typeface="Verdana" panose="020B0604030504040204" pitchFamily="34" charset="0"/>
              </a:rPr>
              <a:t>The average				 </a:t>
            </a:r>
            <a:r>
              <a:rPr lang="en-US" sz="2200" dirty="0" smtClean="0">
                <a:latin typeface="Verdana" panose="020B0604030504040204" pitchFamily="34" charset="0"/>
                <a:ea typeface="Verdana" panose="020B0604030504040204" pitchFamily="34" charset="0"/>
                <a:cs typeface="Verdana" panose="020B0604030504040204" pitchFamily="34" charset="0"/>
              </a:rPr>
              <a:t> produces </a:t>
            </a:r>
            <a:r>
              <a:rPr lang="en-US" sz="2200" dirty="0">
                <a:latin typeface="Verdana" panose="020B0604030504040204" pitchFamily="34" charset="0"/>
                <a:ea typeface="Verdana" panose="020B0604030504040204" pitchFamily="34" charset="0"/>
                <a:cs typeface="Verdana" panose="020B0604030504040204" pitchFamily="34" charset="0"/>
              </a:rPr>
              <a:t>_____</a:t>
            </a:r>
          </a:p>
        </p:txBody>
      </p:sp>
      <p:pic>
        <p:nvPicPr>
          <p:cNvPr id="2" name="Picture 1"/>
          <p:cNvPicPr>
            <a:picLocks noChangeAspect="1"/>
          </p:cNvPicPr>
          <p:nvPr/>
        </p:nvPicPr>
        <p:blipFill>
          <a:blip r:embed="rId3"/>
          <a:stretch>
            <a:fillRect/>
          </a:stretch>
        </p:blipFill>
        <p:spPr>
          <a:xfrm>
            <a:off x="3395394" y="3597745"/>
            <a:ext cx="2800033" cy="973311"/>
          </a:xfrm>
          <a:prstGeom prst="rect">
            <a:avLst/>
          </a:prstGeom>
        </p:spPr>
      </p:pic>
      <p:pic>
        <p:nvPicPr>
          <p:cNvPr id="3" name="Picture 2"/>
          <p:cNvPicPr>
            <a:picLocks noChangeAspect="1"/>
          </p:cNvPicPr>
          <p:nvPr/>
        </p:nvPicPr>
        <p:blipFill>
          <a:blip r:embed="rId4"/>
          <a:stretch>
            <a:fillRect/>
          </a:stretch>
        </p:blipFill>
        <p:spPr>
          <a:xfrm>
            <a:off x="4248832" y="821530"/>
            <a:ext cx="2421978" cy="1267502"/>
          </a:xfrm>
          <a:prstGeom prst="rect">
            <a:avLst/>
          </a:prstGeom>
        </p:spPr>
      </p:pic>
      <p:pic>
        <p:nvPicPr>
          <p:cNvPr id="4" name="Picture 3"/>
          <p:cNvPicPr>
            <a:picLocks noChangeAspect="1"/>
          </p:cNvPicPr>
          <p:nvPr/>
        </p:nvPicPr>
        <p:blipFill>
          <a:blip r:embed="rId5"/>
          <a:stretch>
            <a:fillRect/>
          </a:stretch>
        </p:blipFill>
        <p:spPr>
          <a:xfrm>
            <a:off x="8670286" y="3567792"/>
            <a:ext cx="3197454" cy="1003264"/>
          </a:xfrm>
          <a:prstGeom prst="rect">
            <a:avLst/>
          </a:prstGeom>
        </p:spPr>
      </p:pic>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178</a:t>
            </a:r>
            <a:endParaRPr lang="en-US" i="1" dirty="0">
              <a:latin typeface="Calibri"/>
              <a:ea typeface="Calibri"/>
              <a:cs typeface="Calibri"/>
              <a:sym typeface="Calibri"/>
            </a:endParaRPr>
          </a:p>
        </p:txBody>
      </p:sp>
      <p:pic>
        <p:nvPicPr>
          <p:cNvPr id="12"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120504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8AE5E1E0-A54D-BE42-84B5-F917038ADE99}"/>
                  </a:ext>
                </a:extLst>
              </p:cNvPr>
              <p:cNvSpPr txBox="1"/>
              <p:nvPr/>
            </p:nvSpPr>
            <p:spPr>
              <a:xfrm>
                <a:off x="548638" y="381877"/>
                <a:ext cx="10800000" cy="3930948"/>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When given a table of values or a graph, an equation representing the proportional relationship can be written by finding the constant of proportionality. </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5"/>
                </a:pPr>
                <a:r>
                  <a:rPr lang="en-US" sz="2200" dirty="0">
                    <a:latin typeface="Verdana" panose="020B0604030504040204" pitchFamily="34" charset="0"/>
                    <a:ea typeface="Verdana" panose="020B0604030504040204" pitchFamily="34" charset="0"/>
                    <a:cs typeface="Verdana" panose="020B0604030504040204" pitchFamily="34" charset="0"/>
                  </a:rPr>
                  <a:t>Consider the equation </a:t>
                </a:r>
                <a14:m>
                  <m:oMath xmlns:m="http://schemas.openxmlformats.org/officeDocument/2006/math">
                    <m:r>
                      <a:rPr lang="en-US" sz="2200" i="1">
                        <a:latin typeface="Cambria Math" panose="02040503050406030204" pitchFamily="18" charset="0"/>
                        <a:ea typeface="Cambria Math" panose="02040503050406030204" pitchFamily="18" charset="0"/>
                      </a:rPr>
                      <m:t>𝑦</m:t>
                    </m:r>
                    <m:r>
                      <a:rPr lang="en-US" sz="2200" i="1">
                        <a:latin typeface="Cambria Math" panose="02040503050406030204" pitchFamily="18" charset="0"/>
                        <a:ea typeface="Cambria Math" panose="02040503050406030204" pitchFamily="18" charset="0"/>
                      </a:rPr>
                      <m:t>=</m:t>
                    </m:r>
                    <m:f>
                      <m:fPr>
                        <m:ctrlPr>
                          <a:rPr lang="en-US" sz="2200" i="1">
                            <a:latin typeface="Cambria Math"/>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𝑦</m:t>
                        </m:r>
                      </m:num>
                      <m:den>
                        <m:r>
                          <a:rPr lang="en-US" sz="2200" i="1">
                            <a:latin typeface="Cambria Math" panose="02040503050406030204" pitchFamily="18" charset="0"/>
                            <a:ea typeface="Cambria Math" panose="02040503050406030204" pitchFamily="18" charset="0"/>
                          </a:rPr>
                          <m:t>𝑥</m:t>
                        </m:r>
                      </m:den>
                    </m:f>
                    <m:r>
                      <a:rPr lang="en-US" sz="2200" i="1" smtClean="0">
                        <a:latin typeface="Cambria Math"/>
                        <a:ea typeface="Cambria Math"/>
                      </a:rPr>
                      <m:t>⋅</m:t>
                    </m:r>
                    <m:r>
                      <a:rPr lang="en-US" sz="2200" i="1">
                        <a:latin typeface="Cambria Math" panose="02040503050406030204" pitchFamily="18" charset="0"/>
                        <a:ea typeface="Cambria Math" panose="02040503050406030204" pitchFamily="18" charset="0"/>
                      </a:rPr>
                      <m:t>𝑥</m:t>
                    </m:r>
                  </m:oMath>
                </a14:m>
                <a:r>
                  <a:rPr lang="en-US" sz="2200" dirty="0">
                    <a:latin typeface="Verdana" panose="020B0604030504040204" pitchFamily="34" charset="0"/>
                    <a:ea typeface="Verdana" panose="020B0604030504040204" pitchFamily="34" charset="0"/>
                    <a:cs typeface="Verdana" panose="020B0604030504040204" pitchFamily="34" charset="0"/>
                  </a:rPr>
                  <a:t>. Work with your partner to explain why both sides of this equation are equivalent.</a:t>
                </a:r>
              </a:p>
              <a:p>
                <a:pPr marL="914400" indent="-457200">
                  <a:buFont typeface="+mj-lt"/>
                  <a:buAutoNum type="alphaLcPeriod" startAt="5"/>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5"/>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5"/>
                </a:pPr>
                <a:r>
                  <a:rPr lang="en-US" sz="2200" dirty="0">
                    <a:latin typeface="Verdana" panose="020B0604030504040204" pitchFamily="34" charset="0"/>
                    <a:ea typeface="Verdana" panose="020B0604030504040204" pitchFamily="34" charset="0"/>
                    <a:cs typeface="Verdana" panose="020B0604030504040204" pitchFamily="34" charset="0"/>
                  </a:rPr>
                  <a:t>An equation for a proportional relationship can also be written in terms of </a:t>
                </a:r>
                <a14:m>
                  <m:oMath xmlns:m="http://schemas.openxmlformats.org/officeDocument/2006/math">
                    <m:r>
                      <a:rPr lang="en-US" sz="2200" i="1">
                        <a:latin typeface="Cambria Math" panose="02040503050406030204" pitchFamily="18" charset="0"/>
                        <a:ea typeface="Cambria Math" panose="02040503050406030204" pitchFamily="18" charset="0"/>
                      </a:rPr>
                      <m:t>𝑥</m:t>
                    </m:r>
                  </m:oMath>
                </a14:m>
                <a:r>
                  <a:rPr lang="en-US" sz="2200" dirty="0">
                    <a:latin typeface="Verdana" panose="020B0604030504040204" pitchFamily="34" charset="0"/>
                    <a:ea typeface="Verdana" panose="020B0604030504040204" pitchFamily="34" charset="0"/>
                    <a:cs typeface="Verdana" panose="020B0604030504040204" pitchFamily="34" charset="0"/>
                  </a:rPr>
                  <a:t>. Complete the equation using a ratio that would make both sides of the equation equivalent.</a:t>
                </a: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48638" y="381877"/>
                <a:ext cx="10800000" cy="3930948"/>
              </a:xfrm>
              <a:prstGeom prst="rect">
                <a:avLst/>
              </a:prstGeom>
              <a:blipFill rotWithShape="1">
                <a:blip r:embed="rId3"/>
                <a:stretch>
                  <a:fillRect l="-677" t="-776" b="-2329"/>
                </a:stretch>
              </a:blipFill>
            </p:spPr>
            <p:txBody>
              <a:bodyPr/>
              <a:lstStyle/>
              <a:p>
                <a:r>
                  <a:rPr lang="en-PH">
                    <a:noFill/>
                  </a:rPr>
                  <a:t> </a:t>
                </a:r>
              </a:p>
            </p:txBody>
          </p:sp>
        </mc:Fallback>
      </mc:AlternateContent>
      <p:pic>
        <p:nvPicPr>
          <p:cNvPr id="2" name="Picture 1"/>
          <p:cNvPicPr>
            <a:picLocks noChangeAspect="1"/>
          </p:cNvPicPr>
          <p:nvPr/>
        </p:nvPicPr>
        <p:blipFill>
          <a:blip r:embed="rId4"/>
          <a:stretch>
            <a:fillRect/>
          </a:stretch>
        </p:blipFill>
        <p:spPr>
          <a:xfrm>
            <a:off x="4837476" y="4478547"/>
            <a:ext cx="2222324" cy="1398316"/>
          </a:xfrm>
          <a:prstGeom prst="rect">
            <a:avLst/>
          </a:prstGeom>
        </p:spPr>
      </p:pic>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179</a:t>
            </a:r>
            <a:endParaRPr lang="en-US"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4061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8AE5E1E0-A54D-BE42-84B5-F917038ADE99}"/>
                  </a:ext>
                </a:extLst>
              </p:cNvPr>
              <p:cNvSpPr txBox="1"/>
              <p:nvPr/>
            </p:nvSpPr>
            <p:spPr>
              <a:xfrm>
                <a:off x="543559" y="348012"/>
                <a:ext cx="10800000" cy="2953053"/>
              </a:xfrm>
              <a:prstGeom prst="rect">
                <a:avLst/>
              </a:prstGeom>
              <a:noFill/>
            </p:spPr>
            <p:txBody>
              <a:bodyPr wrap="square" rtlCol="0">
                <a:spAutoFit/>
              </a:bodyPr>
              <a:lstStyle/>
              <a:p>
                <a:pPr marL="914400" indent="-457200">
                  <a:buFont typeface="+mj-lt"/>
                  <a:buAutoNum type="alphaLcPeriod" startAt="7"/>
                </a:pPr>
                <a:r>
                  <a:rPr lang="en-US" sz="2200" dirty="0">
                    <a:latin typeface="Verdana" panose="020B0604030504040204" pitchFamily="34" charset="0"/>
                    <a:ea typeface="Verdana" panose="020B0604030504040204" pitchFamily="34" charset="0"/>
                    <a:cs typeface="Verdana" panose="020B0604030504040204" pitchFamily="34" charset="0"/>
                  </a:rPr>
                  <a:t>Determine the constant of proportionality, </a:t>
                </a:r>
                <a14:m>
                  <m:oMath xmlns:m="http://schemas.openxmlformats.org/officeDocument/2006/math">
                    <m:f>
                      <m:fPr>
                        <m:ctrlPr>
                          <a:rPr lang="en-US" sz="2200" i="1">
                            <a:latin typeface="Cambria Math"/>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𝑥</m:t>
                        </m:r>
                      </m:num>
                      <m:den>
                        <m:r>
                          <a:rPr lang="en-US" sz="2200" i="1">
                            <a:latin typeface="Cambria Math" panose="02040503050406030204" pitchFamily="18" charset="0"/>
                            <a:ea typeface="Cambria Math" panose="02040503050406030204" pitchFamily="18" charset="0"/>
                          </a:rPr>
                          <m:t>𝑦</m:t>
                        </m:r>
                      </m:den>
                    </m:f>
                  </m:oMath>
                </a14:m>
                <a:r>
                  <a:rPr lang="en-US" sz="2200" dirty="0">
                    <a:latin typeface="Verdana" panose="020B0604030504040204" pitchFamily="34" charset="0"/>
                    <a:ea typeface="Verdana" panose="020B0604030504040204" pitchFamily="34" charset="0"/>
                    <a:cs typeface="Verdana" panose="020B0604030504040204" pitchFamily="34" charset="0"/>
                  </a:rPr>
                  <a:t>, for the relationship between the amount of sugar produced in pounds (</a:t>
                </a:r>
                <a:r>
                  <a:rPr lang="en-US" sz="2200" dirty="0" err="1">
                    <a:latin typeface="Verdana" panose="020B0604030504040204" pitchFamily="34" charset="0"/>
                    <a:ea typeface="Verdana" panose="020B0604030504040204" pitchFamily="34" charset="0"/>
                    <a:cs typeface="Verdana" panose="020B0604030504040204" pitchFamily="34" charset="0"/>
                  </a:rPr>
                  <a:t>lb</a:t>
                </a: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200" i="1">
                        <a:latin typeface="Cambria Math" panose="02040503050406030204" pitchFamily="18" charset="0"/>
                        <a:ea typeface="Cambria Math" panose="02040503050406030204" pitchFamily="18" charset="0"/>
                      </a:rPr>
                      <m:t>𝑦</m:t>
                    </m:r>
                  </m:oMath>
                </a14:m>
                <a:r>
                  <a:rPr lang="en-US" sz="2200" dirty="0">
                    <a:latin typeface="Verdana" panose="020B0604030504040204" pitchFamily="34" charset="0"/>
                    <a:ea typeface="Verdana" panose="020B0604030504040204" pitchFamily="34" charset="0"/>
                    <a:cs typeface="Verdana" panose="020B0604030504040204" pitchFamily="34" charset="0"/>
                  </a:rPr>
                  <a:t>, and the number of stalks harvested, </a:t>
                </a:r>
                <a14:m>
                  <m:oMath xmlns:m="http://schemas.openxmlformats.org/officeDocument/2006/math">
                    <m:r>
                      <a:rPr lang="en-US" sz="2200" i="1">
                        <a:latin typeface="Cambria Math" panose="02040503050406030204" pitchFamily="18" charset="0"/>
                        <a:ea typeface="Cambria Math" panose="02040503050406030204" pitchFamily="18" charset="0"/>
                      </a:rPr>
                      <m:t>𝑥</m:t>
                    </m:r>
                  </m:oMath>
                </a14:m>
                <a:r>
                  <a:rPr lang="en-US" sz="22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startAt="7"/>
                </a:pPr>
                <a:endParaRPr lang="en-US" sz="22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7"/>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7"/>
                </a:pPr>
                <a:r>
                  <a:rPr lang="en-US" sz="2200" dirty="0">
                    <a:latin typeface="Verdana" panose="020B0604030504040204" pitchFamily="34" charset="0"/>
                    <a:ea typeface="Verdana" panose="020B0604030504040204" pitchFamily="34" charset="0"/>
                    <a:cs typeface="Verdana" panose="020B0604030504040204" pitchFamily="34" charset="0"/>
                  </a:rPr>
                  <a:t>Write another equation to represent the same relationship in terms of </a:t>
                </a:r>
                <a14:m>
                  <m:oMath xmlns:m="http://schemas.openxmlformats.org/officeDocument/2006/math">
                    <m:r>
                      <a:rPr lang="en-US" sz="2200" i="1">
                        <a:latin typeface="Cambria Math" panose="02040503050406030204" pitchFamily="18" charset="0"/>
                        <a:ea typeface="Cambria Math" panose="02040503050406030204" pitchFamily="18" charset="0"/>
                      </a:rPr>
                      <m:t>𝑥</m:t>
                    </m:r>
                  </m:oMath>
                </a14:m>
                <a:r>
                  <a:rPr lang="en-US" sz="2200" dirty="0">
                    <a:latin typeface="Verdana" panose="020B0604030504040204" pitchFamily="34" charset="0"/>
                    <a:ea typeface="Verdana" panose="020B0604030504040204" pitchFamily="34" charset="0"/>
                    <a:cs typeface="Verdana" panose="020B0604030504040204" pitchFamily="34" charset="0"/>
                  </a:rPr>
                  <a:t>.</a:t>
                </a:r>
              </a:p>
              <a:p>
                <a:pPr marL="457200"/>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𝑥</m:t>
                      </m:r>
                      <m:r>
                        <a:rPr lang="en-US" sz="2200" i="1">
                          <a:latin typeface="Cambria Math" panose="02040503050406030204" pitchFamily="18" charset="0"/>
                          <a:ea typeface="Cambria Math" panose="02040503050406030204" pitchFamily="18" charset="0"/>
                        </a:rPr>
                        <m:t> =</m:t>
                      </m:r>
                    </m:oMath>
                  </m:oMathPara>
                </a14:m>
                <a:endParaRPr lang="en-US" sz="2200" dirty="0">
                  <a:latin typeface="Cambria Math" panose="02040503050406030204" pitchFamily="18" charset="0"/>
                  <a:ea typeface="Cambria Math" panose="02040503050406030204" pitchFamily="18"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43559" y="348012"/>
                <a:ext cx="10800000" cy="2953053"/>
              </a:xfrm>
              <a:prstGeom prst="rect">
                <a:avLst/>
              </a:prstGeom>
              <a:blipFill rotWithShape="1">
                <a:blip r:embed="rId3"/>
                <a:stretch>
                  <a:fillRect t="-619"/>
                </a:stretch>
              </a:blipFill>
            </p:spPr>
            <p:txBody>
              <a:bodyPr/>
              <a:lstStyle/>
              <a:p>
                <a:r>
                  <a:rPr lang="en-PH">
                    <a:noFill/>
                  </a:rPr>
                  <a:t> </a:t>
                </a:r>
              </a:p>
            </p:txBody>
          </p:sp>
        </mc:Fallback>
      </mc:AlternateContent>
      <p:sp>
        <p:nvSpPr>
          <p:cNvPr id="11" name="Rectangle 10"/>
          <p:cNvSpPr/>
          <p:nvPr/>
        </p:nvSpPr>
        <p:spPr>
          <a:xfrm>
            <a:off x="2635616" y="3690321"/>
            <a:ext cx="7313135" cy="1266086"/>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 name="Group 1"/>
          <p:cNvGrpSpPr/>
          <p:nvPr/>
        </p:nvGrpSpPr>
        <p:grpSpPr>
          <a:xfrm>
            <a:off x="1612183" y="3746949"/>
            <a:ext cx="9360000" cy="2544127"/>
            <a:chOff x="1997190" y="3746949"/>
            <a:chExt cx="9360000" cy="2544127"/>
          </a:xfrm>
        </p:grpSpPr>
        <mc:AlternateContent xmlns:mc="http://schemas.openxmlformats.org/markup-compatibility/2006" xmlns:a14="http://schemas.microsoft.com/office/drawing/2010/main">
          <mc:Choice Requires="a14">
            <p:sp>
              <p:nvSpPr>
                <p:cNvPr id="13" name="Rounded Rectangle 12"/>
                <p:cNvSpPr/>
                <p:nvPr/>
              </p:nvSpPr>
              <p:spPr>
                <a:xfrm>
                  <a:off x="1997190" y="3746949"/>
                  <a:ext cx="9360000" cy="2544127"/>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0" anchor="ctr" anchorCtr="0">
                  <a:spAutoFit/>
                </a:bodyPr>
                <a:lstStyle/>
                <a:p>
                  <a:pPr marL="717550">
                    <a:spcAft>
                      <a:spcPts val="1000"/>
                    </a:spcAft>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While two equations can be written to represent any proportional relationship, equations are most commonly written </a:t>
                  </a:r>
                  <a14:m>
                    <m:oMath xmlns:m="http://schemas.openxmlformats.org/officeDocument/2006/math">
                      <m:r>
                        <a:rPr lang="en-US" sz="2000" i="1">
                          <a:solidFill>
                            <a:srgbClr val="0075BF"/>
                          </a:solidFill>
                          <a:latin typeface="Cambria Math" panose="02040503050406030204" pitchFamily="18" charset="0"/>
                          <a:ea typeface="Cambria Math" panose="02040503050406030204" pitchFamily="18" charset="0"/>
                          <a:cs typeface="Verdana" panose="020B0604030504040204" pitchFamily="34" charset="0"/>
                        </a:rPr>
                        <m:t>𝑦</m:t>
                      </m:r>
                      <m:r>
                        <a:rPr lang="en-US" sz="2000" i="1">
                          <a:solidFill>
                            <a:srgbClr val="0075BF"/>
                          </a:solidFill>
                          <a:latin typeface="Cambria Math" panose="02040503050406030204" pitchFamily="18" charset="0"/>
                          <a:ea typeface="Cambria Math" panose="02040503050406030204" pitchFamily="18" charset="0"/>
                          <a:cs typeface="Verdana" panose="020B0604030504040204" pitchFamily="34" charset="0"/>
                        </a:rPr>
                        <m:t>=</m:t>
                      </m:r>
                      <m:r>
                        <a:rPr lang="en-US" sz="2000" i="1">
                          <a:solidFill>
                            <a:srgbClr val="0075BF"/>
                          </a:solidFill>
                          <a:latin typeface="Cambria Math" panose="02040503050406030204" pitchFamily="18" charset="0"/>
                          <a:ea typeface="Cambria Math" panose="02040503050406030204" pitchFamily="18" charset="0"/>
                          <a:cs typeface="Verdana" panose="020B0604030504040204" pitchFamily="34" charset="0"/>
                        </a:rPr>
                        <m:t>𝑘𝑥</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where </a:t>
                  </a:r>
                  <a14:m>
                    <m:oMath xmlns:m="http://schemas.openxmlformats.org/officeDocument/2006/math">
                      <m:r>
                        <a:rPr lang="en-US" sz="2000" i="1">
                          <a:solidFill>
                            <a:srgbClr val="0075BF"/>
                          </a:solidFill>
                          <a:latin typeface="Cambria Math" panose="02040503050406030204" pitchFamily="18" charset="0"/>
                          <a:ea typeface="Cambria Math" panose="02040503050406030204" pitchFamily="18" charset="0"/>
                          <a:cs typeface="Verdana" panose="020B0604030504040204" pitchFamily="34" charset="0"/>
                        </a:rPr>
                        <m:t>𝑥</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is the independent variable, </a:t>
                  </a:r>
                  <a14:m>
                    <m:oMath xmlns:m="http://schemas.openxmlformats.org/officeDocument/2006/math">
                      <m:r>
                        <a:rPr lang="en-US" sz="2000" i="1">
                          <a:solidFill>
                            <a:srgbClr val="0075BF"/>
                          </a:solidFill>
                          <a:latin typeface="Cambria Math" panose="02040503050406030204" pitchFamily="18" charset="0"/>
                          <a:ea typeface="Cambria Math" panose="02040503050406030204" pitchFamily="18" charset="0"/>
                          <a:cs typeface="Verdana" panose="020B0604030504040204" pitchFamily="34" charset="0"/>
                        </a:rPr>
                        <m:t>𝑦</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is the dependent variable, and </a:t>
                  </a:r>
                  <a14:m>
                    <m:oMath xmlns:m="http://schemas.openxmlformats.org/officeDocument/2006/math">
                      <m:r>
                        <a:rPr lang="en-US" sz="2000" i="1">
                          <a:solidFill>
                            <a:srgbClr val="0075BF"/>
                          </a:solidFill>
                          <a:latin typeface="Cambria Math" panose="02040503050406030204" pitchFamily="18" charset="0"/>
                          <a:ea typeface="Cambria Math" panose="02040503050406030204" pitchFamily="18" charset="0"/>
                          <a:cs typeface="Verdana" panose="020B0604030504040204" pitchFamily="34" charset="0"/>
                        </a:rPr>
                        <m:t>𝑘</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is the constant of proportionality, </a:t>
                  </a:r>
                  <a14:m>
                    <m:oMath xmlns:m="http://schemas.openxmlformats.org/officeDocument/2006/math">
                      <m:f>
                        <m:fPr>
                          <m:ctrlPr>
                            <a:rPr lang="en-US" sz="2000" i="1">
                              <a:solidFill>
                                <a:srgbClr val="0075BF"/>
                              </a:solidFill>
                              <a:latin typeface="Cambria Math"/>
                              <a:ea typeface="Cambria Math" panose="02040503050406030204" pitchFamily="18" charset="0"/>
                              <a:cs typeface="Verdana" panose="020B0604030504040204" pitchFamily="34" charset="0"/>
                            </a:rPr>
                          </m:ctrlPr>
                        </m:fPr>
                        <m:num>
                          <m:r>
                            <a:rPr lang="en-US" sz="2000" i="1">
                              <a:solidFill>
                                <a:srgbClr val="0075BF"/>
                              </a:solidFill>
                              <a:latin typeface="Cambria Math" panose="02040503050406030204" pitchFamily="18" charset="0"/>
                              <a:ea typeface="Cambria Math" panose="02040503050406030204" pitchFamily="18" charset="0"/>
                              <a:cs typeface="Verdana" panose="020B0604030504040204" pitchFamily="34" charset="0"/>
                            </a:rPr>
                            <m:t>𝑦</m:t>
                          </m:r>
                        </m:num>
                        <m:den>
                          <m:r>
                            <a:rPr lang="en-US" sz="2000" i="1">
                              <a:solidFill>
                                <a:srgbClr val="0075BF"/>
                              </a:solidFill>
                              <a:latin typeface="Cambria Math" panose="02040503050406030204" pitchFamily="18" charset="0"/>
                              <a:ea typeface="Cambria Math" panose="02040503050406030204" pitchFamily="18" charset="0"/>
                              <a:cs typeface="Verdana" panose="020B0604030504040204" pitchFamily="34" charset="0"/>
                            </a:rPr>
                            <m:t>𝑥</m:t>
                          </m:r>
                        </m:den>
                      </m:f>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717550">
                    <a:spcAft>
                      <a:spcPts val="1000"/>
                    </a:spcAft>
                  </a:pPr>
                  <a:r>
                    <a:rPr lang="en-US" sz="2000" b="1" dirty="0">
                      <a:solidFill>
                        <a:srgbClr val="0075BF"/>
                      </a:solidFill>
                      <a:latin typeface="Verdana" panose="020B0604030504040204" pitchFamily="34" charset="0"/>
                      <a:ea typeface="Verdana" panose="020B0604030504040204" pitchFamily="34" charset="0"/>
                      <a:cs typeface="Verdana" panose="020B0604030504040204" pitchFamily="34" charset="0"/>
                    </a:rPr>
                    <a:t>Any two variables can be used in the equation of a proportional relationship.</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3" name="Rounded Rectangle 12"/>
                <p:cNvSpPr>
                  <a:spLocks noRot="1" noChangeAspect="1" noMove="1" noResize="1" noEditPoints="1" noAdjustHandles="1" noChangeArrowheads="1" noChangeShapeType="1" noTextEdit="1"/>
                </p:cNvSpPr>
                <p:nvPr/>
              </p:nvSpPr>
              <p:spPr>
                <a:xfrm>
                  <a:off x="1997190" y="3746949"/>
                  <a:ext cx="9360000" cy="2544127"/>
                </a:xfrm>
                <a:prstGeom prst="roundRect">
                  <a:avLst>
                    <a:gd name="adj" fmla="val 16667"/>
                  </a:avLst>
                </a:prstGeom>
                <a:blipFill rotWithShape="1">
                  <a:blip r:embed="rId4"/>
                  <a:stretch>
                    <a:fillRect/>
                  </a:stretch>
                </a:blipFill>
                <a:ln>
                  <a:noFill/>
                </a:ln>
                <a:effectLst>
                  <a:outerShdw blurRad="50800" dist="38100" dir="2700000" algn="tl" rotWithShape="0">
                    <a:prstClr val="black">
                      <a:alpha val="40000"/>
                    </a:prstClr>
                  </a:outerShdw>
                </a:effectLst>
              </p:spPr>
              <p:txBody>
                <a:bodyPr/>
                <a:lstStyle/>
                <a:p>
                  <a:r>
                    <a:rPr lang="en-PH">
                      <a:noFill/>
                    </a:rPr>
                    <a:t> </a:t>
                  </a:r>
                </a:p>
              </p:txBody>
            </p:sp>
          </mc:Fallback>
        </mc:AlternateContent>
        <p:pic>
          <p:nvPicPr>
            <p:cNvPr id="14" name="image15.png" descr="Icon&#10;&#10;Description automatically generated"/>
            <p:cNvPicPr/>
            <p:nvPr/>
          </p:nvPicPr>
          <p:blipFill>
            <a:blip r:embed="rId5" cstate="screen">
              <a:extLst>
                <a:ext uri="{28A0092B-C50C-407E-A947-70E740481C1C}">
                  <a14:useLocalDpi xmlns:a14="http://schemas.microsoft.com/office/drawing/2010/main"/>
                </a:ext>
              </a:extLst>
            </a:blip>
            <a:srcRect/>
            <a:stretch>
              <a:fillRect/>
            </a:stretch>
          </p:blipFill>
          <p:spPr>
            <a:xfrm>
              <a:off x="2224649" y="3973037"/>
              <a:ext cx="539722" cy="515076"/>
            </a:xfrm>
            <a:prstGeom prst="rect">
              <a:avLst/>
            </a:prstGeom>
            <a:ln/>
            <a:effectLst>
              <a:outerShdw blurRad="50800" dist="38100" dir="2700000" algn="tl" rotWithShape="0">
                <a:prstClr val="black">
                  <a:alpha val="40000"/>
                </a:prstClr>
              </a:outerShdw>
            </a:effectLst>
          </p:spPr>
        </p:pic>
      </p:grpSp>
      <p:sp>
        <p:nvSpPr>
          <p:cNvPr id="10"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179</a:t>
            </a:r>
            <a:endParaRPr lang="en-US" i="1" dirty="0">
              <a:latin typeface="Calibri"/>
              <a:ea typeface="Calibri"/>
              <a:cs typeface="Calibri"/>
              <a:sym typeface="Calibri"/>
            </a:endParaRPr>
          </a:p>
        </p:txBody>
      </p:sp>
      <p:pic>
        <p:nvPicPr>
          <p:cNvPr id="15"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587180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A3BC97A7-8575-5A46-8E72-A886A83AEC7E}"/>
                  </a:ext>
                </a:extLst>
              </p:cNvPr>
              <p:cNvSpPr txBox="1"/>
              <p:nvPr/>
            </p:nvSpPr>
            <p:spPr>
              <a:xfrm>
                <a:off x="539059" y="383863"/>
                <a:ext cx="10800000" cy="3253839"/>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In 2018, there were </a:t>
                </a:r>
                <a14:m>
                  <m:oMath xmlns:m="http://schemas.openxmlformats.org/officeDocument/2006/math">
                    <m:r>
                      <a:rPr lang="en-US" sz="2200" i="1">
                        <a:latin typeface="Cambria Math" panose="02040503050406030204" pitchFamily="18" charset="0"/>
                        <a:ea typeface="Cambria Math" panose="02040503050406030204" pitchFamily="18" charset="0"/>
                      </a:rPr>
                      <m:t>481,000</m:t>
                    </m:r>
                  </m:oMath>
                </a14:m>
                <a:r>
                  <a:rPr lang="en-US" sz="2200" dirty="0">
                    <a:latin typeface="Verdana" panose="020B0604030504040204" pitchFamily="34" charset="0"/>
                    <a:ea typeface="Verdana" panose="020B0604030504040204" pitchFamily="34" charset="0"/>
                    <a:cs typeface="Verdana" panose="020B0604030504040204" pitchFamily="34" charset="0"/>
                  </a:rPr>
                  <a:t> tons of sugar produced, </a:t>
                </a:r>
                <a14:m>
                  <m:oMath xmlns:m="http://schemas.openxmlformats.org/officeDocument/2006/math">
                    <m:r>
                      <a:rPr lang="en-US" sz="2200" i="1">
                        <a:latin typeface="Cambria Math" panose="02040503050406030204" pitchFamily="18" charset="0"/>
                        <a:ea typeface="Cambria Math" panose="02040503050406030204" pitchFamily="18" charset="0"/>
                      </a:rPr>
                      <m:t>𝑠</m:t>
                    </m:r>
                  </m:oMath>
                </a14:m>
                <a:r>
                  <a:rPr lang="en-US" sz="2200" dirty="0">
                    <a:latin typeface="Verdana" panose="020B0604030504040204" pitchFamily="34" charset="0"/>
                    <a:ea typeface="Verdana" panose="020B0604030504040204" pitchFamily="34" charset="0"/>
                    <a:cs typeface="Verdana" panose="020B0604030504040204" pitchFamily="34" charset="0"/>
                  </a:rPr>
                  <a:t>, from the </a:t>
                </a:r>
                <a:r>
                  <a:rPr lang="en-PH" sz="2200" i="1" dirty="0" smtClean="0">
                    <a:latin typeface="Cambria Math" panose="02040503050406030204" pitchFamily="18" charset="0"/>
                    <a:ea typeface="Cambria Math" panose="02040503050406030204" pitchFamily="18" charset="0"/>
                  </a:rPr>
                  <a:t/>
                </a:r>
                <a:br>
                  <a:rPr lang="en-PH" sz="2200" i="1" dirty="0" smtClean="0">
                    <a:latin typeface="Cambria Math" panose="02040503050406030204" pitchFamily="18" charset="0"/>
                    <a:ea typeface="Cambria Math" panose="02040503050406030204" pitchFamily="18" charset="0"/>
                  </a:rPr>
                </a:br>
                <a14:m>
                  <m:oMath xmlns:m="http://schemas.openxmlformats.org/officeDocument/2006/math">
                    <m:r>
                      <a:rPr lang="en-US" sz="2200" i="1">
                        <a:latin typeface="Cambria Math" panose="02040503050406030204" pitchFamily="18" charset="0"/>
                        <a:ea typeface="Cambria Math" panose="02040503050406030204" pitchFamily="18" charset="0"/>
                      </a:rPr>
                      <m:t>14,800</m:t>
                    </m:r>
                  </m:oMath>
                </a14:m>
                <a:r>
                  <a:rPr lang="en-US" sz="2200" dirty="0">
                    <a:latin typeface="Verdana" panose="020B0604030504040204" pitchFamily="34" charset="0"/>
                    <a:ea typeface="Verdana" panose="020B0604030504040204" pitchFamily="34" charset="0"/>
                    <a:cs typeface="Verdana" panose="020B0604030504040204" pitchFamily="34" charset="0"/>
                  </a:rPr>
                  <a:t> acres of sugarcane harvested, </a:t>
                </a:r>
                <a14:m>
                  <m:oMath xmlns:m="http://schemas.openxmlformats.org/officeDocument/2006/math">
                    <m:r>
                      <a:rPr lang="en-US" sz="2200" i="1">
                        <a:latin typeface="Cambria Math" panose="02040503050406030204" pitchFamily="18" charset="0"/>
                        <a:ea typeface="Cambria Math" panose="02040503050406030204" pitchFamily="18" charset="0"/>
                      </a:rPr>
                      <m:t>𝑐</m:t>
                    </m:r>
                  </m:oMath>
                </a14:m>
                <a:r>
                  <a:rPr lang="en-US" sz="2200" dirty="0">
                    <a:latin typeface="Verdana" panose="020B0604030504040204" pitchFamily="34" charset="0"/>
                    <a:ea typeface="Verdana" panose="020B0604030504040204" pitchFamily="34" charset="0"/>
                    <a:cs typeface="Verdana" panose="020B0604030504040204" pitchFamily="34" charset="0"/>
                  </a:rPr>
                  <a:t>, in Martin County, FL. </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Determine the constant of proportionality, </a:t>
                </a:r>
                <a14:m>
                  <m:oMath xmlns:m="http://schemas.openxmlformats.org/officeDocument/2006/math">
                    <m:f>
                      <m:fPr>
                        <m:ctrlPr>
                          <a:rPr lang="en-US" sz="2200" i="1">
                            <a:latin typeface="Cambria Math"/>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𝑠</m:t>
                        </m:r>
                      </m:num>
                      <m:den>
                        <m:r>
                          <a:rPr lang="en-US" sz="2200" i="1">
                            <a:latin typeface="Cambria Math" panose="02040503050406030204" pitchFamily="18" charset="0"/>
                            <a:ea typeface="Cambria Math" panose="02040503050406030204" pitchFamily="18" charset="0"/>
                          </a:rPr>
                          <m:t>𝑐</m:t>
                        </m:r>
                      </m:den>
                    </m:f>
                  </m:oMath>
                </a14:m>
                <a:r>
                  <a:rPr lang="en-US" sz="2200" dirty="0">
                    <a:latin typeface="Verdana" panose="020B0604030504040204" pitchFamily="34" charset="0"/>
                    <a:ea typeface="Verdana" panose="020B0604030504040204" pitchFamily="34" charset="0"/>
                    <a:cs typeface="Verdana" panose="020B0604030504040204" pitchFamily="34" charset="0"/>
                  </a:rPr>
                  <a:t>, from this written description.</a:t>
                </a: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Write an equation to represent this relationship.</a:t>
                </a:r>
              </a:p>
            </p:txBody>
          </p:sp>
        </mc:Choice>
        <mc:Fallback xmlns="">
          <p:sp>
            <p:nvSpPr>
              <p:cNvPr id="5" name="TextBox 4">
                <a:extLst>
                  <a:ext uri="{FF2B5EF4-FFF2-40B4-BE49-F238E27FC236}">
                    <a16:creationId xmlns:a16="http://schemas.microsoft.com/office/drawing/2014/main" xmlns:a14="http://schemas.microsoft.com/office/drawing/2010/main" xmlns="" id="{A3BC97A7-8575-5A46-8E72-A886A83AEC7E}"/>
                  </a:ext>
                </a:extLst>
              </p:cNvPr>
              <p:cNvSpPr txBox="1">
                <a:spLocks noRot="1" noChangeAspect="1" noMove="1" noResize="1" noEditPoints="1" noAdjustHandles="1" noChangeArrowheads="1" noChangeShapeType="1" noTextEdit="1"/>
              </p:cNvSpPr>
              <p:nvPr/>
            </p:nvSpPr>
            <p:spPr>
              <a:xfrm>
                <a:off x="539059" y="383863"/>
                <a:ext cx="10800000" cy="3253839"/>
              </a:xfrm>
              <a:prstGeom prst="rect">
                <a:avLst/>
              </a:prstGeom>
              <a:blipFill rotWithShape="1">
                <a:blip r:embed="rId3"/>
                <a:stretch>
                  <a:fillRect l="-734" t="-1498" b="-2996"/>
                </a:stretch>
              </a:blipFill>
            </p:spPr>
            <p:txBody>
              <a:bodyPr/>
              <a:lstStyle/>
              <a:p>
                <a:r>
                  <a:rPr lang="en-PH">
                    <a:noFill/>
                  </a:rPr>
                  <a:t> </a:t>
                </a:r>
              </a:p>
            </p:txBody>
          </p:sp>
        </mc:Fallback>
      </mc:AlternateContent>
      <p:sp>
        <p:nvSpPr>
          <p:cNvPr id="6"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180</a:t>
            </a:r>
            <a:endParaRPr lang="en-US"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977679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2825"/>
            <a:ext cx="2731200" cy="68707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180</a:t>
            </a:r>
            <a:endParaRPr lang="en-US"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693014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165501" y="-25012"/>
            <a:ext cx="1004929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11.6.4 Guided Practice: Writing Equations to Represent Proportional Relationships</a:t>
            </a:r>
          </a:p>
        </p:txBody>
      </p:sp>
      <p:pic>
        <p:nvPicPr>
          <p:cNvPr id="8" name="Picture 2" descr="Icon&#10;&#10;Description automatically generated">
            <a:extLst>
              <a:ext uri="{FF2B5EF4-FFF2-40B4-BE49-F238E27FC236}">
                <a16:creationId xmlns=""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24583" y="26277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31D40250-DEDD-2C41-8538-3D4DD18CCC4A}"/>
              </a:ext>
            </a:extLst>
          </p:cNvPr>
          <p:cNvSpPr txBox="1"/>
          <p:nvPr/>
        </p:nvSpPr>
        <p:spPr>
          <a:xfrm>
            <a:off x="543077" y="1464606"/>
            <a:ext cx="9582041" cy="4493538"/>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The graph of a proportional relationship is shown.</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a:r>
              <a:rPr lang="en-US" sz="2200" dirty="0" smtClean="0">
                <a:latin typeface="Verdana" panose="020B0604030504040204" pitchFamily="34" charset="0"/>
                <a:ea typeface="Verdana" panose="020B0604030504040204" pitchFamily="34" charset="0"/>
                <a:cs typeface="Verdana" panose="020B0604030504040204" pitchFamily="34" charset="0"/>
              </a:rPr>
              <a:t>Write </a:t>
            </a:r>
            <a:r>
              <a:rPr lang="en-US" sz="2200" dirty="0">
                <a:latin typeface="Verdana" panose="020B0604030504040204" pitchFamily="34" charset="0"/>
                <a:ea typeface="Verdana" panose="020B0604030504040204" pitchFamily="34" charset="0"/>
                <a:cs typeface="Verdana" panose="020B0604030504040204" pitchFamily="34" charset="0"/>
              </a:rPr>
              <a:t>an equation to represent the relationship.</a:t>
            </a:r>
          </a:p>
        </p:txBody>
      </p:sp>
      <p:pic>
        <p:nvPicPr>
          <p:cNvPr id="9" name="Picture 8" descr="Chart, line chart&#10;&#10;Description automatically generated"/>
          <p:cNvPicPr/>
          <p:nvPr/>
        </p:nvPicPr>
        <p:blipFill>
          <a:blip r:embed="rId4" cstate="screen">
            <a:extLst>
              <a:ext uri="{28A0092B-C50C-407E-A947-70E740481C1C}">
                <a14:useLocalDpi xmlns:a14="http://schemas.microsoft.com/office/drawing/2010/main"/>
              </a:ext>
            </a:extLst>
          </a:blip>
          <a:stretch>
            <a:fillRect/>
          </a:stretch>
        </p:blipFill>
        <p:spPr>
          <a:xfrm>
            <a:off x="1123166" y="2024381"/>
            <a:ext cx="6946900" cy="3326130"/>
          </a:xfrm>
          <a:prstGeom prst="rect">
            <a:avLst/>
          </a:prstGeom>
        </p:spPr>
      </p:pic>
      <p:sp>
        <p:nvSpPr>
          <p:cNvPr id="11"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180</a:t>
            </a:r>
            <a:endParaRPr lang="en-US" i="1" dirty="0">
              <a:latin typeface="Calibri"/>
              <a:ea typeface="Calibri"/>
              <a:cs typeface="Calibri"/>
              <a:sym typeface="Calibri"/>
            </a:endParaRPr>
          </a:p>
        </p:txBody>
      </p:sp>
      <p:pic>
        <p:nvPicPr>
          <p:cNvPr id="14"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745523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A3BC97A7-8575-5A46-8E72-A886A83AEC7E}"/>
                  </a:ext>
                </a:extLst>
              </p:cNvPr>
              <p:cNvSpPr txBox="1"/>
              <p:nvPr/>
            </p:nvSpPr>
            <p:spPr>
              <a:xfrm>
                <a:off x="541105" y="378202"/>
                <a:ext cx="10800000" cy="1785104"/>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The aluminum from recycled cans can be used to make other products. The aluminum from </a:t>
                </a:r>
                <a14:m>
                  <m:oMath xmlns:m="http://schemas.openxmlformats.org/officeDocument/2006/math">
                    <m:r>
                      <a:rPr lang="en-US" sz="2200" i="1">
                        <a:latin typeface="Cambria Math" panose="02040503050406030204" pitchFamily="18" charset="0"/>
                        <a:ea typeface="Cambria Math" panose="02040503050406030204" pitchFamily="18" charset="0"/>
                      </a:rPr>
                      <m:t>32</m:t>
                    </m:r>
                  </m:oMath>
                </a14:m>
                <a:r>
                  <a:rPr lang="en-US" sz="2200" dirty="0">
                    <a:latin typeface="Verdana" panose="020B0604030504040204" pitchFamily="34" charset="0"/>
                    <a:ea typeface="Verdana" panose="020B0604030504040204" pitchFamily="34" charset="0"/>
                    <a:cs typeface="Verdana" panose="020B0604030504040204" pitchFamily="34" charset="0"/>
                  </a:rPr>
                  <a:t> cans that are recycled in Tampa, FL has a value of </a:t>
                </a:r>
                <a14:m>
                  <m:oMath xmlns:m="http://schemas.openxmlformats.org/officeDocument/2006/math">
                    <m:r>
                      <a:rPr lang="en-US" sz="2200" i="1">
                        <a:latin typeface="Cambria Math" panose="02040503050406030204" pitchFamily="18" charset="0"/>
                        <a:ea typeface="Cambria Math" panose="02040503050406030204" pitchFamily="18" charset="0"/>
                      </a:rPr>
                      <m:t>$0.40</m:t>
                    </m:r>
                  </m:oMath>
                </a14:m>
                <a:r>
                  <a:rPr lang="en-US" sz="2200" dirty="0">
                    <a:latin typeface="Verdana" panose="020B0604030504040204" pitchFamily="34" charset="0"/>
                    <a:ea typeface="Verdana" panose="020B0604030504040204" pitchFamily="34" charset="0"/>
                    <a:cs typeface="Verdana" panose="020B0604030504040204" pitchFamily="34" charset="0"/>
                  </a:rPr>
                  <a:t>. If </a:t>
                </a:r>
                <a14:m>
                  <m:oMath xmlns:m="http://schemas.openxmlformats.org/officeDocument/2006/math">
                    <m:r>
                      <a:rPr lang="en-US" sz="2200" i="1">
                        <a:latin typeface="Cambria Math" panose="02040503050406030204" pitchFamily="18" charset="0"/>
                        <a:ea typeface="Cambria Math" panose="02040503050406030204" pitchFamily="18" charset="0"/>
                      </a:rPr>
                      <m:t>𝑎</m:t>
                    </m:r>
                  </m:oMath>
                </a14:m>
                <a:r>
                  <a:rPr lang="en-US" sz="2200" dirty="0">
                    <a:latin typeface="Verdana" panose="020B0604030504040204" pitchFamily="34" charset="0"/>
                    <a:ea typeface="Verdana" panose="020B0604030504040204" pitchFamily="34" charset="0"/>
                    <a:cs typeface="Verdana" panose="020B0604030504040204" pitchFamily="34" charset="0"/>
                  </a:rPr>
                  <a:t> is the number of aluminum cans recycled and </a:t>
                </a:r>
                <a14:m>
                  <m:oMath xmlns:m="http://schemas.openxmlformats.org/officeDocument/2006/math">
                    <m:r>
                      <a:rPr lang="en-US" sz="2200" i="1">
                        <a:latin typeface="Cambria Math" panose="02040503050406030204" pitchFamily="18" charset="0"/>
                        <a:ea typeface="Cambria Math" panose="02040503050406030204" pitchFamily="18" charset="0"/>
                      </a:rPr>
                      <m:t>𝑣</m:t>
                    </m:r>
                  </m:oMath>
                </a14:m>
                <a:r>
                  <a:rPr lang="en-US" sz="2200" dirty="0">
                    <a:latin typeface="Verdana" panose="020B0604030504040204" pitchFamily="34" charset="0"/>
                    <a:ea typeface="Verdana" panose="020B0604030504040204" pitchFamily="34" charset="0"/>
                    <a:cs typeface="Verdana" panose="020B0604030504040204" pitchFamily="34" charset="0"/>
                  </a:rPr>
                  <a:t> is their value, in dollars, complete each equation to represent this relationship.</a:t>
                </a:r>
              </a:p>
            </p:txBody>
          </p:sp>
        </mc:Choice>
        <mc:Fallback xmlns="">
          <p:sp>
            <p:nvSpPr>
              <p:cNvPr id="5" name="TextBox 4">
                <a:extLst>
                  <a:ext uri="{FF2B5EF4-FFF2-40B4-BE49-F238E27FC236}">
                    <a16:creationId xmlns:a16="http://schemas.microsoft.com/office/drawing/2014/main" xmlns:a14="http://schemas.microsoft.com/office/drawing/2010/main" xmlns="" id="{A3BC97A7-8575-5A46-8E72-A886A83AEC7E}"/>
                  </a:ext>
                </a:extLst>
              </p:cNvPr>
              <p:cNvSpPr txBox="1">
                <a:spLocks noRot="1" noChangeAspect="1" noMove="1" noResize="1" noEditPoints="1" noAdjustHandles="1" noChangeArrowheads="1" noChangeShapeType="1" noTextEdit="1"/>
              </p:cNvSpPr>
              <p:nvPr/>
            </p:nvSpPr>
            <p:spPr>
              <a:xfrm>
                <a:off x="541105" y="378202"/>
                <a:ext cx="10800000" cy="1785104"/>
              </a:xfrm>
              <a:prstGeom prst="rect">
                <a:avLst/>
              </a:prstGeom>
              <a:blipFill rotWithShape="1">
                <a:blip r:embed="rId3"/>
                <a:stretch>
                  <a:fillRect l="-791" t="-2389" r="-678"/>
                </a:stretch>
              </a:blipFill>
            </p:spPr>
            <p:txBody>
              <a:bodyPr/>
              <a:lstStyle/>
              <a:p>
                <a:r>
                  <a:rPr lang="en-PH">
                    <a:noFill/>
                  </a:rPr>
                  <a:t> </a:t>
                </a:r>
              </a:p>
            </p:txBody>
          </p:sp>
        </mc:Fallback>
      </mc:AlternateContent>
      <p:pic>
        <p:nvPicPr>
          <p:cNvPr id="2" name="Picture 1"/>
          <p:cNvPicPr>
            <a:picLocks noChangeAspect="1"/>
          </p:cNvPicPr>
          <p:nvPr/>
        </p:nvPicPr>
        <p:blipFill>
          <a:blip r:embed="rId4"/>
          <a:stretch>
            <a:fillRect/>
          </a:stretch>
        </p:blipFill>
        <p:spPr>
          <a:xfrm>
            <a:off x="2883410" y="2047749"/>
            <a:ext cx="6445947" cy="1180608"/>
          </a:xfrm>
          <a:prstGeom prst="rect">
            <a:avLst/>
          </a:prstGeom>
        </p:spPr>
      </p:pic>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180</a:t>
            </a:r>
            <a:endParaRPr lang="en-US"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918385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181</a:t>
            </a:r>
            <a:endParaRPr lang="en-US"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790839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169888" y="389195"/>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11.6.5 Your Turn!</a:t>
            </a:r>
          </a:p>
        </p:txBody>
      </p:sp>
      <p:pic>
        <p:nvPicPr>
          <p:cNvPr id="9" name="Google Shape;430;g103996e1364_0_428">
            <a:extLst>
              <a:ext uri="{FF2B5EF4-FFF2-40B4-BE49-F238E27FC236}">
                <a16:creationId xmlns="" xmlns:a16="http://schemas.microsoft.com/office/drawing/2014/main" id="{032D5487-B5A9-DE4B-AE87-33198BE16145}"/>
              </a:ext>
            </a:extLst>
          </p:cNvPr>
          <p:cNvPicPr preferRelativeResize="0"/>
          <p:nvPr/>
        </p:nvPicPr>
        <p:blipFill rotWithShape="1">
          <a:blip r:embed="rId3">
            <a:alphaModFix/>
          </a:blip>
          <a:srcRect/>
          <a:stretch/>
        </p:blipFill>
        <p:spPr>
          <a:xfrm>
            <a:off x="324583" y="38919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759C3E41-93EC-B84D-963F-86A3B15AC1C6}"/>
                  </a:ext>
                </a:extLst>
              </p:cNvPr>
              <p:cNvSpPr txBox="1"/>
              <p:nvPr/>
            </p:nvSpPr>
            <p:spPr>
              <a:xfrm>
                <a:off x="545494" y="1478567"/>
                <a:ext cx="10800000" cy="1446550"/>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A bakery uses </a:t>
                </a:r>
                <a14:m>
                  <m:oMath xmlns:m="http://schemas.openxmlformats.org/officeDocument/2006/math">
                    <m:r>
                      <a:rPr lang="en-US" sz="2200" i="1">
                        <a:latin typeface="Cambria Math" panose="02040503050406030204" pitchFamily="18" charset="0"/>
                        <a:ea typeface="Cambria Math" panose="02040503050406030204" pitchFamily="18" charset="0"/>
                      </a:rPr>
                      <m:t>8</m:t>
                    </m:r>
                  </m:oMath>
                </a14:m>
                <a:r>
                  <a:rPr lang="en-US" sz="2200" dirty="0">
                    <a:latin typeface="Verdana" panose="020B0604030504040204" pitchFamily="34" charset="0"/>
                    <a:ea typeface="Verdana" panose="020B0604030504040204" pitchFamily="34" charset="0"/>
                    <a:cs typeface="Verdana" panose="020B0604030504040204" pitchFamily="34" charset="0"/>
                  </a:rPr>
                  <a:t> tablespoons of honey for every </a:t>
                </a:r>
                <a14:m>
                  <m:oMath xmlns:m="http://schemas.openxmlformats.org/officeDocument/2006/math">
                    <m:r>
                      <a:rPr lang="en-US" sz="2200" i="1">
                        <a:latin typeface="Cambria Math" panose="02040503050406030204" pitchFamily="18" charset="0"/>
                        <a:ea typeface="Cambria Math" panose="02040503050406030204" pitchFamily="18" charset="0"/>
                      </a:rPr>
                      <m:t>10</m:t>
                    </m:r>
                  </m:oMath>
                </a14:m>
                <a:r>
                  <a:rPr lang="en-US" sz="2200" dirty="0">
                    <a:latin typeface="Verdana" panose="020B0604030504040204" pitchFamily="34" charset="0"/>
                    <a:ea typeface="Verdana" panose="020B0604030504040204" pitchFamily="34" charset="0"/>
                    <a:cs typeface="Verdana" panose="020B0604030504040204" pitchFamily="34" charset="0"/>
                  </a:rPr>
                  <a:t> cups of flour to make bread dough. If </a:t>
                </a:r>
                <a14:m>
                  <m:oMath xmlns:m="http://schemas.openxmlformats.org/officeDocument/2006/math">
                    <m:r>
                      <a:rPr lang="en-US" sz="2200" i="1">
                        <a:latin typeface="Cambria Math" panose="02040503050406030204" pitchFamily="18" charset="0"/>
                        <a:ea typeface="Cambria Math" panose="02040503050406030204" pitchFamily="18" charset="0"/>
                      </a:rPr>
                      <m:t>𝑓</m:t>
                    </m:r>
                  </m:oMath>
                </a14:m>
                <a:r>
                  <a:rPr lang="en-US" sz="2200" dirty="0">
                    <a:latin typeface="Verdana" panose="020B0604030504040204" pitchFamily="34" charset="0"/>
                    <a:ea typeface="Verdana" panose="020B0604030504040204" pitchFamily="34" charset="0"/>
                    <a:cs typeface="Verdana" panose="020B0604030504040204" pitchFamily="34" charset="0"/>
                  </a:rPr>
                  <a:t> is the number of cups of flour used and </a:t>
                </a:r>
                <a14:m>
                  <m:oMath xmlns:m="http://schemas.openxmlformats.org/officeDocument/2006/math">
                    <m:r>
                      <a:rPr lang="en-US" sz="2200" i="1">
                        <a:latin typeface="Cambria Math" panose="02040503050406030204" pitchFamily="18" charset="0"/>
                        <a:ea typeface="Cambria Math" panose="02040503050406030204" pitchFamily="18" charset="0"/>
                      </a:rPr>
                      <m:t>h</m:t>
                    </m:r>
                  </m:oMath>
                </a14:m>
                <a:r>
                  <a:rPr lang="en-US" sz="2200" dirty="0">
                    <a:latin typeface="Verdana" panose="020B0604030504040204" pitchFamily="34" charset="0"/>
                    <a:ea typeface="Verdana" panose="020B0604030504040204" pitchFamily="34" charset="0"/>
                    <a:cs typeface="Verdana" panose="020B0604030504040204" pitchFamily="34" charset="0"/>
                  </a:rPr>
                  <a:t> is the number of tablespoons of honey, complete each equation to represent this relationship. </a:t>
                </a: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545494" y="1478567"/>
                <a:ext cx="10800000" cy="1446550"/>
              </a:xfrm>
              <a:prstGeom prst="rect">
                <a:avLst/>
              </a:prstGeom>
              <a:blipFill rotWithShape="1">
                <a:blip r:embed="rId4"/>
                <a:stretch>
                  <a:fillRect l="-734" t="-3376" r="-1129" b="-8017"/>
                </a:stretch>
              </a:blipFill>
            </p:spPr>
            <p:txBody>
              <a:bodyPr/>
              <a:lstStyle/>
              <a:p>
                <a:r>
                  <a:rPr lang="en-PH">
                    <a:noFill/>
                  </a:rPr>
                  <a:t> </a:t>
                </a:r>
              </a:p>
            </p:txBody>
          </p:sp>
        </mc:Fallback>
      </mc:AlternateContent>
      <p:pic>
        <p:nvPicPr>
          <p:cNvPr id="2" name="Picture 1"/>
          <p:cNvPicPr>
            <a:picLocks noChangeAspect="1"/>
          </p:cNvPicPr>
          <p:nvPr/>
        </p:nvPicPr>
        <p:blipFill>
          <a:blip r:embed="rId5"/>
          <a:stretch>
            <a:fillRect/>
          </a:stretch>
        </p:blipFill>
        <p:spPr>
          <a:xfrm>
            <a:off x="3012202" y="3127388"/>
            <a:ext cx="6423628" cy="1193083"/>
          </a:xfrm>
          <a:prstGeom prst="rect">
            <a:avLst/>
          </a:prstGeom>
        </p:spPr>
      </p:pic>
      <p:sp>
        <p:nvSpPr>
          <p:cNvPr id="14"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181</a:t>
            </a:r>
            <a:endParaRPr lang="en-US" i="1" dirty="0">
              <a:latin typeface="Calibri"/>
              <a:ea typeface="Calibri"/>
              <a:cs typeface="Calibri"/>
              <a:sym typeface="Calibri"/>
            </a:endParaRPr>
          </a:p>
        </p:txBody>
      </p:sp>
      <p:pic>
        <p:nvPicPr>
          <p:cNvPr id="15"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101299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08C67FCF-92C3-654A-BF40-5BDF7A4F9271}"/>
                  </a:ext>
                </a:extLst>
              </p:cNvPr>
              <p:cNvSpPr txBox="1"/>
              <p:nvPr/>
            </p:nvSpPr>
            <p:spPr>
              <a:xfrm>
                <a:off x="543074" y="381540"/>
                <a:ext cx="10800000" cy="4154984"/>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The table shows the amount of red paint and blue paint needed to make a certain shade of purple paint called Venusian Sunset.</a:t>
                </a: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a:r>
                  <a:rPr lang="en-US" sz="2200" dirty="0">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200" i="1">
                        <a:latin typeface="Cambria Math" panose="02040503050406030204" pitchFamily="18" charset="0"/>
                        <a:ea typeface="Cambria Math" panose="02040503050406030204" pitchFamily="18" charset="0"/>
                      </a:rPr>
                      <m:t>𝑟</m:t>
                    </m:r>
                  </m:oMath>
                </a14:m>
                <a:r>
                  <a:rPr lang="en-US" sz="2200" dirty="0">
                    <a:latin typeface="Verdana" panose="020B0604030504040204" pitchFamily="34" charset="0"/>
                    <a:ea typeface="Verdana" panose="020B0604030504040204" pitchFamily="34" charset="0"/>
                    <a:cs typeface="Verdana" panose="020B0604030504040204" pitchFamily="34" charset="0"/>
                  </a:rPr>
                  <a:t> is the amount of red paint used and </a:t>
                </a:r>
                <a14:m>
                  <m:oMath xmlns:m="http://schemas.openxmlformats.org/officeDocument/2006/math">
                    <m:r>
                      <a:rPr lang="en-US" sz="2200" i="1">
                        <a:latin typeface="Cambria Math" panose="02040503050406030204" pitchFamily="18" charset="0"/>
                        <a:ea typeface="Cambria Math" panose="02040503050406030204" pitchFamily="18" charset="0"/>
                      </a:rPr>
                      <m:t>𝑏</m:t>
                    </m:r>
                  </m:oMath>
                </a14:m>
                <a:r>
                  <a:rPr lang="en-US" sz="2200" dirty="0">
                    <a:latin typeface="Verdana" panose="020B0604030504040204" pitchFamily="34" charset="0"/>
                    <a:ea typeface="Verdana" panose="020B0604030504040204" pitchFamily="34" charset="0"/>
                    <a:cs typeface="Verdana" panose="020B0604030504040204" pitchFamily="34" charset="0"/>
                  </a:rPr>
                  <a:t> is the amount of blue paint used, complete each equation to represent this relationship.</a:t>
                </a:r>
              </a:p>
            </p:txBody>
          </p:sp>
        </mc:Choice>
        <mc:Fallback xmlns="">
          <p:sp>
            <p:nvSpPr>
              <p:cNvPr id="5" name="TextBox 4">
                <a:extLst>
                  <a:ext uri="{FF2B5EF4-FFF2-40B4-BE49-F238E27FC236}">
                    <a16:creationId xmlns:a16="http://schemas.microsoft.com/office/drawing/2014/main" xmlns:a14="http://schemas.microsoft.com/office/drawing/2010/main" xmlns="" id="{08C67FCF-92C3-654A-BF40-5BDF7A4F9271}"/>
                  </a:ext>
                </a:extLst>
              </p:cNvPr>
              <p:cNvSpPr txBox="1">
                <a:spLocks noRot="1" noChangeAspect="1" noMove="1" noResize="1" noEditPoints="1" noAdjustHandles="1" noChangeArrowheads="1" noChangeShapeType="1" noTextEdit="1"/>
              </p:cNvSpPr>
              <p:nvPr/>
            </p:nvSpPr>
            <p:spPr>
              <a:xfrm>
                <a:off x="543074" y="381540"/>
                <a:ext cx="10800000" cy="4154984"/>
              </a:xfrm>
              <a:prstGeom prst="rect">
                <a:avLst/>
              </a:prstGeom>
              <a:blipFill rotWithShape="1">
                <a:blip r:embed="rId3"/>
                <a:stretch>
                  <a:fillRect l="-734" t="-1028"/>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912378297"/>
                  </p:ext>
                </p:extLst>
              </p:nvPr>
            </p:nvGraphicFramePr>
            <p:xfrm>
              <a:off x="3203454" y="1270230"/>
              <a:ext cx="5760000" cy="1839600"/>
            </p:xfrm>
            <a:graphic>
              <a:graphicData uri="http://schemas.openxmlformats.org/drawingml/2006/table">
                <a:tbl>
                  <a:tblPr firstRow="1" firstCol="1" bandRow="1">
                    <a:tableStyleId>{5940675A-B579-460E-94D1-54222C63F5DA}</a:tableStyleId>
                  </a:tblPr>
                  <a:tblGrid>
                    <a:gridCol w="2880000">
                      <a:extLst>
                        <a:ext uri="{9D8B030D-6E8A-4147-A177-3AD203B41FA5}">
                          <a16:colId xmlns="" xmlns:a16="http://schemas.microsoft.com/office/drawing/2014/main" val="20000"/>
                        </a:ext>
                      </a:extLst>
                    </a:gridCol>
                    <a:gridCol w="2880000">
                      <a:extLst>
                        <a:ext uri="{9D8B030D-6E8A-4147-A177-3AD203B41FA5}">
                          <a16:colId xmlns="" xmlns:a16="http://schemas.microsoft.com/office/drawing/2014/main" val="20001"/>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Red Paint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(parts</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Blue Paint (parts)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28</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912378297"/>
                  </p:ext>
                </p:extLst>
              </p:nvPr>
            </p:nvGraphicFramePr>
            <p:xfrm>
              <a:off x="3203454" y="1270230"/>
              <a:ext cx="5760000" cy="1839600"/>
            </p:xfrm>
            <a:graphic>
              <a:graphicData uri="http://schemas.openxmlformats.org/drawingml/2006/table">
                <a:tbl>
                  <a:tblPr firstRow="1" firstCol="1" bandRow="1">
                    <a:tableStyleId>{5940675A-B579-460E-94D1-54222C63F5DA}</a:tableStyleId>
                  </a:tblPr>
                  <a:tblGrid>
                    <a:gridCol w="2880000">
                      <a:extLst>
                        <a:ext uri="{9D8B030D-6E8A-4147-A177-3AD203B41FA5}">
                          <a16:colId xmlns:a16="http://schemas.microsoft.com/office/drawing/2014/main" xmlns:a14="http://schemas.microsoft.com/office/drawing/2010/main" xmlns="" val="20000"/>
                        </a:ext>
                      </a:extLst>
                    </a:gridCol>
                    <a:gridCol w="2880000">
                      <a:extLst>
                        <a:ext uri="{9D8B030D-6E8A-4147-A177-3AD203B41FA5}">
                          <a16:colId xmlns:a16="http://schemas.microsoft.com/office/drawing/2014/main" xmlns:a14="http://schemas.microsoft.com/office/drawing/2010/main" xmlns="" val="20001"/>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Red Paint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(parts</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Blue Paint (parts)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4572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12" t="-102667" r="-100212" b="-201333"/>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212" t="-102667" r="-212" b="-201333"/>
                          </a:stretch>
                        </a:blipFill>
                      </a:tcPr>
                    </a:tc>
                    <a:extLst>
                      <a:ext uri="{0D108BD9-81ED-4DB2-BD59-A6C34878D82A}">
                        <a16:rowId xmlns:a16="http://schemas.microsoft.com/office/drawing/2014/main" xmlns:a14="http://schemas.microsoft.com/office/drawing/2010/main" xmlns="" val="10001"/>
                      </a:ext>
                    </a:extLst>
                  </a:tr>
                  <a:tr h="4572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12" t="-202667" r="-100212" b="-101333"/>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212" t="-202667" r="-212" b="-101333"/>
                          </a:stretch>
                        </a:blipFill>
                      </a:tcPr>
                    </a:tc>
                    <a:extLst>
                      <a:ext uri="{0D108BD9-81ED-4DB2-BD59-A6C34878D82A}">
                        <a16:rowId xmlns:a16="http://schemas.microsoft.com/office/drawing/2014/main" xmlns:a14="http://schemas.microsoft.com/office/drawing/2010/main" xmlns="" val="10002"/>
                      </a:ext>
                    </a:extLst>
                  </a:tr>
                  <a:tr h="4572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12" t="-302667" r="-100212" b="-1333"/>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212" t="-302667" r="-212" b="-1333"/>
                          </a:stretch>
                        </a:blipFill>
                      </a:tcPr>
                    </a:tc>
                    <a:extLst>
                      <a:ext uri="{0D108BD9-81ED-4DB2-BD59-A6C34878D82A}">
                        <a16:rowId xmlns:a16="http://schemas.microsoft.com/office/drawing/2014/main" xmlns:a14="http://schemas.microsoft.com/office/drawing/2010/main" xmlns="" val="10003"/>
                      </a:ext>
                    </a:extLst>
                  </a:tr>
                </a:tbl>
              </a:graphicData>
            </a:graphic>
          </p:graphicFrame>
        </mc:Fallback>
      </mc:AlternateContent>
      <p:pic>
        <p:nvPicPr>
          <p:cNvPr id="3" name="Picture 2"/>
          <p:cNvPicPr>
            <a:picLocks noChangeAspect="1"/>
          </p:cNvPicPr>
          <p:nvPr/>
        </p:nvPicPr>
        <p:blipFill>
          <a:blip r:embed="rId5"/>
          <a:stretch>
            <a:fillRect/>
          </a:stretch>
        </p:blipFill>
        <p:spPr>
          <a:xfrm>
            <a:off x="2747680" y="4423022"/>
            <a:ext cx="6390787" cy="1215685"/>
          </a:xfrm>
          <a:prstGeom prst="rect">
            <a:avLst/>
          </a:prstGeom>
        </p:spPr>
      </p:pic>
      <p:sp>
        <p:nvSpPr>
          <p:cNvPr id="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181</a:t>
            </a:r>
            <a:endParaRPr lang="en-US"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8436146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181</a:t>
            </a:r>
            <a:endParaRPr lang="en-US"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167225" y="0"/>
            <a:ext cx="96561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11.6.6 Wrap-Up: Ticket Out the Door</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3">
            <a:alphaModFix/>
          </a:blip>
          <a:srcRect/>
          <a:stretch/>
        </p:blipFill>
        <p:spPr>
          <a:xfrm>
            <a:off x="327091" y="289200"/>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 xmlns:a16="http://schemas.microsoft.com/office/drawing/2014/main" id="{0370EDB7-6994-3D43-ABF9-E04CBAFB9CD9}"/>
              </a:ext>
            </a:extLst>
          </p:cNvPr>
          <p:cNvSpPr txBox="1"/>
          <p:nvPr/>
        </p:nvSpPr>
        <p:spPr>
          <a:xfrm>
            <a:off x="548640" y="1326879"/>
            <a:ext cx="10800000" cy="769441"/>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The graph shows the amounts of almonds, in grams, for different amounts of oats, in cups, in a granola mix.</a:t>
            </a:r>
          </a:p>
        </p:txBody>
      </p:sp>
      <p:pic>
        <p:nvPicPr>
          <p:cNvPr id="8" name="Picture"/>
          <p:cNvPicPr/>
          <p:nvPr/>
        </p:nvPicPr>
        <p:blipFill>
          <a:blip r:embed="rId4" cstate="screen">
            <a:extLst>
              <a:ext uri="{28A0092B-C50C-407E-A947-70E740481C1C}">
                <a14:useLocalDpi xmlns:a14="http://schemas.microsoft.com/office/drawing/2010/main"/>
              </a:ext>
            </a:extLst>
          </a:blip>
          <a:stretch>
            <a:fillRect/>
          </a:stretch>
        </p:blipFill>
        <p:spPr bwMode="auto">
          <a:xfrm>
            <a:off x="3728566" y="2636917"/>
            <a:ext cx="3586185" cy="3561236"/>
          </a:xfrm>
          <a:prstGeom prst="rect">
            <a:avLst/>
          </a:prstGeom>
          <a:noFill/>
          <a:ln w="9525">
            <a:noFill/>
            <a:headEnd/>
            <a:tailEnd/>
          </a:ln>
        </p:spPr>
      </p:pic>
      <p:sp>
        <p:nvSpPr>
          <p:cNvPr id="10" name="Text Box 18"/>
          <p:cNvSpPr txBox="1"/>
          <p:nvPr/>
        </p:nvSpPr>
        <p:spPr>
          <a:xfrm>
            <a:off x="4832826" y="6037541"/>
            <a:ext cx="2077724" cy="274281"/>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Oats (cups)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1" name="Text Box 17"/>
          <p:cNvSpPr txBox="1"/>
          <p:nvPr/>
        </p:nvSpPr>
        <p:spPr>
          <a:xfrm rot="16200000">
            <a:off x="2360906" y="3994206"/>
            <a:ext cx="2735320" cy="45402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b="1" dirty="0">
                <a:latin typeface="Verdana" panose="020B0604030504040204" pitchFamily="34" charset="0"/>
                <a:ea typeface="Times New Roman" panose="02020603050405020304" pitchFamily="18" charset="0"/>
                <a:cs typeface="Times New Roman" panose="02020603050405020304" pitchFamily="18" charset="0"/>
              </a:rPr>
              <a:t>Almonds (grams)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181</a:t>
            </a:r>
            <a:endParaRPr lang="en-US" i="1" dirty="0">
              <a:latin typeface="Calibri"/>
              <a:ea typeface="Calibri"/>
              <a:cs typeface="Calibri"/>
              <a:sym typeface="Calibri"/>
            </a:endParaRPr>
          </a:p>
        </p:txBody>
      </p:sp>
      <p:pic>
        <p:nvPicPr>
          <p:cNvPr id="16"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553995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4CE9D117-FAE6-F74F-940B-9CD1479755BE}"/>
                  </a:ext>
                </a:extLst>
              </p:cNvPr>
              <p:cNvSpPr txBox="1"/>
              <p:nvPr/>
            </p:nvSpPr>
            <p:spPr>
              <a:xfrm>
                <a:off x="553720" y="380522"/>
                <a:ext cx="10800000" cy="1107996"/>
              </a:xfrm>
              <a:prstGeom prst="rect">
                <a:avLst/>
              </a:prstGeom>
              <a:noFill/>
            </p:spPr>
            <p:txBody>
              <a:bodyPr wrap="square" rtlCol="0">
                <a:spAutoFit/>
              </a:bodyPr>
              <a:lstStyle/>
              <a:p>
                <a:pPr marL="457200"/>
                <a:r>
                  <a:rPr lang="en-US" sz="2200" dirty="0">
                    <a:latin typeface="Verdana" panose="020B0604030504040204" pitchFamily="34" charset="0"/>
                    <a:ea typeface="Verdana" panose="020B0604030504040204" pitchFamily="34" charset="0"/>
                    <a:cs typeface="Verdana" panose="020B0604030504040204" pitchFamily="34" charset="0"/>
                  </a:rPr>
                  <a:t>Write an equation that represents the relationship between the number of cups of oats, </a:t>
                </a:r>
                <a14:m>
                  <m:oMath xmlns:m="http://schemas.openxmlformats.org/officeDocument/2006/math">
                    <m:r>
                      <a:rPr lang="en-US" sz="2200" i="1">
                        <a:latin typeface="Cambria Math" panose="02040503050406030204" pitchFamily="18" charset="0"/>
                        <a:ea typeface="Cambria Math" panose="02040503050406030204" pitchFamily="18" charset="0"/>
                      </a:rPr>
                      <m:t>𝑥</m:t>
                    </m:r>
                  </m:oMath>
                </a14:m>
                <a:r>
                  <a:rPr lang="en-US" sz="2200" dirty="0">
                    <a:latin typeface="Verdana" panose="020B0604030504040204" pitchFamily="34" charset="0"/>
                    <a:ea typeface="Verdana" panose="020B0604030504040204" pitchFamily="34" charset="0"/>
                    <a:cs typeface="Verdana" panose="020B0604030504040204" pitchFamily="34" charset="0"/>
                  </a:rPr>
                  <a:t>, and the number of grams of almonds, </a:t>
                </a:r>
                <a14:m>
                  <m:oMath xmlns:m="http://schemas.openxmlformats.org/officeDocument/2006/math">
                    <m:r>
                      <a:rPr lang="en-US" sz="2200" i="1">
                        <a:latin typeface="Cambria Math" panose="02040503050406030204" pitchFamily="18" charset="0"/>
                        <a:ea typeface="Cambria Math" panose="02040503050406030204" pitchFamily="18" charset="0"/>
                      </a:rPr>
                      <m:t>𝑦</m:t>
                    </m:r>
                  </m:oMath>
                </a14:m>
                <a:r>
                  <a:rPr lang="en-US" sz="2200" dirty="0">
                    <a:latin typeface="Verdana" panose="020B0604030504040204" pitchFamily="34" charset="0"/>
                    <a:ea typeface="Verdana" panose="020B0604030504040204" pitchFamily="34" charset="0"/>
                    <a:cs typeface="Verdana" panose="020B0604030504040204" pitchFamily="34" charset="0"/>
                  </a:rPr>
                  <a:t>, in the granola mix.</a:t>
                </a:r>
              </a:p>
            </p:txBody>
          </p:sp>
        </mc:Choice>
        <mc:Fallback xmlns="">
          <p:sp>
            <p:nvSpPr>
              <p:cNvPr id="5" name="TextBox 4">
                <a:extLst>
                  <a:ext uri="{FF2B5EF4-FFF2-40B4-BE49-F238E27FC236}">
                    <a16:creationId xmlns:a16="http://schemas.microsoft.com/office/drawing/2014/main" xmlns:a14="http://schemas.microsoft.com/office/drawing/2010/main" xmlns="" id="{4CE9D117-FAE6-F74F-940B-9CD1479755BE}"/>
                  </a:ext>
                </a:extLst>
              </p:cNvPr>
              <p:cNvSpPr txBox="1">
                <a:spLocks noRot="1" noChangeAspect="1" noMove="1" noResize="1" noEditPoints="1" noAdjustHandles="1" noChangeArrowheads="1" noChangeShapeType="1" noTextEdit="1"/>
              </p:cNvSpPr>
              <p:nvPr/>
            </p:nvSpPr>
            <p:spPr>
              <a:xfrm>
                <a:off x="553720" y="380522"/>
                <a:ext cx="10800000" cy="1107996"/>
              </a:xfrm>
              <a:prstGeom prst="rect">
                <a:avLst/>
              </a:prstGeom>
              <a:blipFill rotWithShape="1">
                <a:blip r:embed="rId3"/>
                <a:stretch>
                  <a:fillRect t="-2747" r="-791" b="-10440"/>
                </a:stretch>
              </a:blipFill>
            </p:spPr>
            <p:txBody>
              <a:bodyPr/>
              <a:lstStyle/>
              <a:p>
                <a:r>
                  <a:rPr lang="en-PH">
                    <a:noFill/>
                  </a:rPr>
                  <a:t> </a:t>
                </a:r>
              </a:p>
            </p:txBody>
          </p:sp>
        </mc:Fallback>
      </mc:AlternateContent>
      <p:pic>
        <p:nvPicPr>
          <p:cNvPr id="2" name="Picture 1"/>
          <p:cNvPicPr>
            <a:picLocks noChangeAspect="1"/>
          </p:cNvPicPr>
          <p:nvPr/>
        </p:nvPicPr>
        <p:blipFill>
          <a:blip r:embed="rId4"/>
          <a:stretch>
            <a:fillRect/>
          </a:stretch>
        </p:blipFill>
        <p:spPr>
          <a:xfrm>
            <a:off x="4711609" y="1488518"/>
            <a:ext cx="2320159" cy="1141165"/>
          </a:xfrm>
          <a:prstGeom prst="rect">
            <a:avLst/>
          </a:prstGeom>
        </p:spPr>
      </p:pic>
      <p:sp>
        <p:nvSpPr>
          <p:cNvPr id="10"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181</a:t>
            </a:r>
            <a:endParaRPr lang="en-US"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1594</TotalTime>
  <Words>1173</Words>
  <Application>Microsoft Office PowerPoint</Application>
  <PresentationFormat>Custom</PresentationFormat>
  <Paragraphs>225</Paragraphs>
  <Slides>30</Slides>
  <Notes>30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Cambria</vt:lpstr>
      <vt:lpstr>Arial Black</vt:lpstr>
      <vt:lpstr>Verdana</vt:lpstr>
      <vt:lpstr>Calibri</vt:lpstr>
      <vt:lpstr>Times New Roman</vt:lpstr>
      <vt:lpstr>Century Gothic</vt:lpstr>
      <vt:lpstr>Wingdings</vt:lpstr>
      <vt:lpstr>Cambria Math</vt:lpstr>
      <vt:lpstr>1_Office Theme</vt:lpstr>
      <vt:lpstr>7th Grade Math  Unit 11, Lesson 6  Representing Proportional Relationships with Equations  Volume 2, pg. 175  </vt:lpstr>
      <vt:lpstr>Benchmarks</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33</cp:revision>
  <dcterms:created xsi:type="dcterms:W3CDTF">2015-03-17T18:51:18Z</dcterms:created>
  <dcterms:modified xsi:type="dcterms:W3CDTF">2022-07-12T13:01:59Z</dcterms:modified>
</cp:coreProperties>
</file>