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26" r:id="rId12"/>
    <p:sldId id="327" r:id="rId13"/>
    <p:sldId id="328" r:id="rId14"/>
    <p:sldId id="329" r:id="rId15"/>
    <p:sldId id="323" r:id="rId16"/>
    <p:sldId id="324" r:id="rId17"/>
    <p:sldId id="325" r:id="rId18"/>
    <p:sldId id="314" r:id="rId19"/>
    <p:sldId id="315" r:id="rId20"/>
    <p:sldId id="316" r:id="rId21"/>
    <p:sldId id="330" r:id="rId22"/>
    <p:sldId id="306" r:id="rId23"/>
    <p:sldId id="307" r:id="rId24"/>
    <p:sldId id="310" r:id="rId25"/>
  </p:sldIdLst>
  <p:sldSz cx="12192000" cy="6858000"/>
  <p:notesSz cx="6858000" cy="9144000"/>
  <p:embeddedFontLst>
    <p:embeddedFont>
      <p:font typeface="Arial Black" panose="020B06040202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4708"/>
  </p:normalViewPr>
  <p:slideViewPr>
    <p:cSldViewPr snapToGrid="0">
      <p:cViewPr varScale="1">
        <p:scale>
          <a:sx n="128" d="100"/>
          <a:sy n="128" d="100"/>
        </p:scale>
        <p:origin x="44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80741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7152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2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3486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2724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4441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7766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879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38867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Constant of Proportionality – Part 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MA.7.AR.4.2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constant of proportionality within a mathematical or real-world context given a table, graph, or written description of a proportional relationship.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pic>
        <p:nvPicPr>
          <p:cNvPr id="12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9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constant of proportionality from a written description.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constant of proportionality to an equation representing a proportional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endParaRPr lang="en-PH" i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PH" i="1" dirty="0">
                <a:latin typeface="Calibri"/>
                <a:ea typeface="Calibri"/>
                <a:cs typeface="Calibri"/>
                <a:sym typeface="Calibri"/>
              </a:rPr>
              <a:t>	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0;p4"/>
          <p:cNvSpPr txBox="1"/>
          <p:nvPr/>
        </p:nvSpPr>
        <p:spPr>
          <a:xfrm>
            <a:off x="914400" y="1386026"/>
            <a:ext cx="1071375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represents a proportional relationship.</a:t>
            </a:r>
          </a:p>
          <a:p>
            <a:r>
              <a:rPr lang="en-PH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 situation that could be represented by this graph.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05"/>
          <a:stretch/>
        </p:blipFill>
        <p:spPr bwMode="auto">
          <a:xfrm>
            <a:off x="4225740" y="2045681"/>
            <a:ext cx="4091069" cy="36753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11.3.1 Warm-Up: Bell Work</a:t>
            </a:r>
          </a:p>
        </p:txBody>
      </p:sp>
      <p:pic>
        <p:nvPicPr>
          <p:cNvPr id="12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79;p5"/>
              <p:cNvSpPr txBox="1"/>
              <p:nvPr/>
            </p:nvSpPr>
            <p:spPr>
              <a:xfrm>
                <a:off x="914400" y="487736"/>
                <a:ext cx="10515600" cy="2677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axes with the quantities in your situation.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is a point marked 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(16, 12)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graph. What does this point represent in your situation?</a:t>
                </a:r>
              </a:p>
            </p:txBody>
          </p:sp>
        </mc:Choice>
        <mc:Fallback xmlns="">
          <p:sp>
            <p:nvSpPr>
              <p:cNvPr id="7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2677616"/>
              </a:xfrm>
              <a:prstGeom prst="rect">
                <a:avLst/>
              </a:prstGeom>
              <a:blipFill rotWithShape="1">
                <a:blip r:embed="rId3"/>
                <a:stretch>
                  <a:fillRect l="-928" t="-1822" r="-1391" b="-43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1576" y="3145106"/>
            <a:ext cx="4955499" cy="3384132"/>
          </a:xfrm>
          <a:prstGeom prst="rect">
            <a:avLst/>
          </a:prstGeom>
        </p:spPr>
      </p:pic>
      <p:pic>
        <p:nvPicPr>
          <p:cNvPr id="10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317;p19"/>
          <p:cNvSpPr txBox="1"/>
          <p:nvPr/>
        </p:nvSpPr>
        <p:spPr>
          <a:xfrm>
            <a:off x="1143000" y="140872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11.3.2 Guided Instruction: Relating the Constant of Proportionality to Written Descriptions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1" y="1386025"/>
                <a:ext cx="1022985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sand in a rectangular sandbox,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changes proportionally with relationship to the height of the sand in the sandbox,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table of values and graph represent this relationship for a rectangular sandbox measuring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long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wide with the capacity to fill to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386025"/>
                <a:ext cx="10229850" cy="1631216"/>
              </a:xfrm>
              <a:prstGeom prst="rect">
                <a:avLst/>
              </a:prstGeom>
              <a:blipFill rotWithShape="1">
                <a:blip r:embed="rId5"/>
                <a:stretch>
                  <a:fillRect l="-596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5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79;p5"/>
              <p:cNvSpPr txBox="1"/>
              <p:nvPr/>
            </p:nvSpPr>
            <p:spPr>
              <a:xfrm>
                <a:off x="914400" y="487736"/>
                <a:ext cx="10515600" cy="955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using the table of values. Show your work.</a:t>
                </a:r>
              </a:p>
            </p:txBody>
          </p:sp>
        </mc:Choice>
        <mc:Fallback xmlns="">
          <p:sp>
            <p:nvSpPr>
              <p:cNvPr id="8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955862"/>
              </a:xfrm>
              <a:prstGeom prst="rect">
                <a:avLst/>
              </a:prstGeom>
              <a:blipFill rotWithShape="1">
                <a:blip r:embed="rId3"/>
                <a:stretch>
                  <a:fillRect t="-1911" r="-406" b="-133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70" y="2651363"/>
            <a:ext cx="5209260" cy="3478293"/>
          </a:xfrm>
          <a:prstGeom prst="rect">
            <a:avLst/>
          </a:prstGeom>
        </p:spPr>
      </p:pic>
      <p:sp>
        <p:nvSpPr>
          <p:cNvPr id="8" name="Google Shape;179;p5"/>
          <p:cNvSpPr txBox="1"/>
          <p:nvPr/>
        </p:nvSpPr>
        <p:spPr>
          <a:xfrm>
            <a:off x="914400" y="487736"/>
            <a:ext cx="10515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to determine the constant of proportionality using the graph.</a:t>
            </a:r>
          </a:p>
          <a:p>
            <a:pPr marL="914400" lvl="5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5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meaning of the constant of proportionality in this context.</a:t>
            </a:r>
          </a:p>
          <a:p>
            <a:pPr lvl="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lvl="5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graph of a proportional relationship is shown.</a:t>
            </a: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8082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179;p5"/>
              <p:cNvSpPr txBox="1"/>
              <p:nvPr/>
            </p:nvSpPr>
            <p:spPr>
              <a:xfrm>
                <a:off x="914400" y="487736"/>
                <a:ext cx="10515600" cy="41974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to represent the same relationship.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the values in your table with your partner and resolve any differences, if necessary.</a:t>
                </a: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𝑦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this relationship?</a:t>
                </a:r>
              </a:p>
            </p:txBody>
          </p:sp>
        </mc:Choice>
        <mc:Fallback xmlns=""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197455"/>
              </a:xfrm>
              <a:prstGeom prst="rect">
                <a:avLst/>
              </a:prstGeom>
              <a:blipFill rotWithShape="1">
                <a:blip r:embed="rId3"/>
                <a:stretch>
                  <a:fillRect t="-8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886192"/>
                  </p:ext>
                </p:extLst>
              </p:nvPr>
            </p:nvGraphicFramePr>
            <p:xfrm>
              <a:off x="1955263" y="1122635"/>
              <a:ext cx="6112735" cy="122148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702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56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4380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107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6.2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074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886192"/>
                  </p:ext>
                </p:extLst>
              </p:nvPr>
            </p:nvGraphicFramePr>
            <p:xfrm>
              <a:off x="1955263" y="1122635"/>
              <a:ext cx="6112735" cy="122148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87021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92560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8682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  <a:gridCol w="84380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6"/>
                        </a:ext>
                      </a:extLst>
                    </a:gridCol>
                  </a:tblGrid>
                  <a:tr h="6107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699" r="-601399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95364" r="-469536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206294" r="-395804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308451" r="-298592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408451" r="-198592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504895" r="-97203" b="-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626812" r="-725" b="-99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107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699" t="-101000" r="-601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276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179;p5"/>
              <p:cNvSpPr txBox="1"/>
              <p:nvPr/>
            </p:nvSpPr>
            <p:spPr>
              <a:xfrm>
                <a:off x="914400" y="487736"/>
                <a:ext cx="10515600" cy="3910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lvl="5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the ratio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constant for each coordinate pair represented in your table using a calculator. Make edits to your work as needed.</a:t>
                </a:r>
              </a:p>
              <a:p>
                <a:pPr marL="914400" lvl="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5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constant of proportionality can be used to determine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corresponding to specific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in the table in cases where it is difficult to determine from looking at the graph.</a:t>
                </a:r>
              </a:p>
            </p:txBody>
          </p:sp>
        </mc:Choice>
        <mc:Fallback xmlns="">
          <p:sp>
            <p:nvSpPr>
              <p:cNvPr id="7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3910517"/>
              </a:xfrm>
              <a:prstGeom prst="rect">
                <a:avLst/>
              </a:prstGeom>
              <a:blipFill rotWithShape="1">
                <a:blip r:embed="rId3"/>
                <a:stretch>
                  <a:fillRect t="-468" b="-26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7344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79;p5"/>
              <p:cNvSpPr txBox="1"/>
              <p:nvPr/>
            </p:nvSpPr>
            <p:spPr>
              <a:xfrm>
                <a:off x="914400" y="487736"/>
                <a:ext cx="10515600" cy="4401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65138">
                  <a:buFont typeface="+mj-lt"/>
                  <a:buAutoNum type="alphaL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This proportional relationship can be used to represent the relationship between the original price,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change in price due to a store-wide sale,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Complete the statement to interpret the constant of proportionality found in Part C in this context.</a:t>
                </a:r>
              </a:p>
              <a:p>
                <a:pPr marL="9144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constant of proportionality is _____, so the change in price due to the sale is a 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    from the original price. This means </a:t>
                </a:r>
              </a:p>
              <a:p>
                <a:pPr marL="914400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store is having a 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sale.</a:t>
                </a:r>
              </a:p>
              <a:p>
                <a:pPr marL="4651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2338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part(s) of the graph representing this proportional relationship would not make sense mathematically for this real-world context.</a:t>
                </a:r>
              </a:p>
            </p:txBody>
          </p:sp>
        </mc:Choice>
        <mc:Fallback xmlns="">
          <p:sp>
            <p:nvSpPr>
              <p:cNvPr id="8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401164"/>
              </a:xfrm>
              <a:prstGeom prst="rect">
                <a:avLst/>
              </a:prstGeom>
              <a:blipFill rotWithShape="1">
                <a:blip r:embed="rId3"/>
                <a:stretch>
                  <a:fillRect t="-831" r="-1275" b="-1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4409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9300" y="2365064"/>
            <a:ext cx="1642900" cy="797094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204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69773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11.3.3 Guided Practice: Determining the constant of Proportionality from a Written Description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9888"/>
                <a:ext cx="10515600" cy="2802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Kyla is training for a half-marathon. She sets her treadmill to a constant speed to build up her endurance on longer runs. The relationship between the time she runs,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distance she runs,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proportional. She runs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10.5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1.75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 at this pace.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65138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9888"/>
                <a:ext cx="10515600" cy="2802562"/>
              </a:xfrm>
              <a:prstGeom prst="rect">
                <a:avLst/>
              </a:prstGeom>
              <a:blipFill rotWithShape="1">
                <a:blip r:embed="rId4"/>
                <a:stretch>
                  <a:fillRect l="-870" t="-1739" r="-1275" b="-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</a:p>
        </p:txBody>
      </p:sp>
      <p:pic>
        <p:nvPicPr>
          <p:cNvPr id="17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914400" y="398474"/>
            <a:ext cx="10515600" cy="255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 to interpret the constant of proportionality.</a:t>
            </a:r>
          </a:p>
          <a:p>
            <a:pPr marL="457200"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>
              <a:lnSpc>
                <a:spcPct val="20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this rate, Kyla runs ______	      for every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she trains on the treadmill.</a:t>
            </a:r>
          </a:p>
        </p:txBody>
      </p:sp>
      <p:sp>
        <p:nvSpPr>
          <p:cNvPr id="22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6761" y="1551854"/>
            <a:ext cx="1322972" cy="85412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368" y="2339308"/>
            <a:ext cx="1507494" cy="834168"/>
          </a:xfrm>
          <a:prstGeom prst="rect">
            <a:avLst/>
          </a:prstGeom>
        </p:spPr>
      </p:pic>
      <p:sp>
        <p:nvSpPr>
          <p:cNvPr id="2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</a:p>
        </p:txBody>
      </p:sp>
      <p:pic>
        <p:nvPicPr>
          <p:cNvPr id="26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pSp>
        <p:nvGrpSpPr>
          <p:cNvPr id="27" name="Group 26"/>
          <p:cNvGrpSpPr/>
          <p:nvPr/>
        </p:nvGrpSpPr>
        <p:grpSpPr>
          <a:xfrm>
            <a:off x="2744510" y="3815545"/>
            <a:ext cx="6855379" cy="1676069"/>
            <a:chOff x="3005417" y="4958545"/>
            <a:chExt cx="6855379" cy="16760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ounded Rectangle 27"/>
                <p:cNvSpPr/>
                <p:nvPr/>
              </p:nvSpPr>
              <p:spPr>
                <a:xfrm>
                  <a:off x="3005417" y="4958545"/>
                  <a:ext cx="6855379" cy="167606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In a real-world context, the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constant of proportionality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the amount one quantity increases or decreases each time the other quantity increases by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75B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Verdana" panose="020B0604030504040204" pitchFamily="34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unit.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Rounded 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417" y="4958545"/>
                  <a:ext cx="6855379" cy="1676069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image15.png" descr="Icon&#10;&#10;Description automatically generated"/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219112" y="5131973"/>
              <a:ext cx="539750" cy="53959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9117" y="233830"/>
            <a:ext cx="10650702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11.3.4 Collaboration: Equations Representing Proportional Relationships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309" y="34827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January 14, 2021,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U.S. dollar was worth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73.08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Indian rupees. This is a written description of a proportional relationship. Below are two other representations of the same relationship.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580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oogle Shape;311;g104476d1465_1_3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C22AC2-184E-11F3-6982-4924E6755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7121" y="2494722"/>
            <a:ext cx="6743737" cy="436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914400" y="435050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of values by filling in the missing values. Round values to the nearest thousandth, where necessary.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Proportional relationships can also be represented by equations.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828" y="435050"/>
            <a:ext cx="7780149" cy="2043122"/>
          </a:xfrm>
          <a:prstGeom prst="rect">
            <a:avLst/>
          </a:prstGeom>
        </p:spPr>
      </p:pic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123" y="1637326"/>
            <a:ext cx="6999644" cy="10109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914400" y="435050"/>
                <a:ext cx="10515600" cy="4809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quantities determined in the table of values to complete each equation that represents this relationship.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this context?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constant of proportionality,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 this context?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constants of proportionality relate to the equations of the proportional relationship.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35050"/>
                <a:ext cx="10515600" cy="4809843"/>
              </a:xfrm>
              <a:prstGeom prst="rect">
                <a:avLst/>
              </a:prstGeom>
              <a:blipFill rotWithShape="1">
                <a:blip r:embed="rId4"/>
                <a:stretch>
                  <a:fillRect l="-870" t="-1014" b="-1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11;g104476d1465_1_3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161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11.3.5 Wrap-Up: Reflection</a:t>
            </a: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914399" y="1386026"/>
            <a:ext cx="106167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Color in the arrow up to the statement that best describes your current understanding of the benchmark below.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651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constant of proportionality within a mathematical or real-world context given one of these forms: a table, graph, or written description of a proportional relationship.</a:t>
            </a:r>
          </a:p>
        </p:txBody>
      </p:sp>
      <p:pic>
        <p:nvPicPr>
          <p:cNvPr id="14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348" y="223002"/>
            <a:ext cx="5844802" cy="6221264"/>
          </a:xfrm>
          <a:prstGeom prst="rect">
            <a:avLst/>
          </a:prstGeom>
        </p:spPr>
      </p:pic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0A0F7DD-55B8-5F4D-B46D-A17EBD99C46C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Google Shape;311;g104476d1465_1_3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1065</Words>
  <Application>Microsoft Macintosh PowerPoint</Application>
  <PresentationFormat>Widescreen</PresentationFormat>
  <Paragraphs>170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Calibri</vt:lpstr>
      <vt:lpstr>Arial Black</vt:lpstr>
      <vt:lpstr>Cambria Math</vt:lpstr>
      <vt:lpstr>Wingdings</vt:lpstr>
      <vt:lpstr>Verdana</vt:lpstr>
      <vt:lpstr>Arial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34</cp:revision>
  <dcterms:created xsi:type="dcterms:W3CDTF">2015-03-17T18:51:18Z</dcterms:created>
  <dcterms:modified xsi:type="dcterms:W3CDTF">2023-01-31T16:07:48Z</dcterms:modified>
</cp:coreProperties>
</file>