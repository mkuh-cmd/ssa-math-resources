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8" r:id="rId8"/>
    <p:sldId id="311" r:id="rId9"/>
    <p:sldId id="312" r:id="rId10"/>
    <p:sldId id="313" r:id="rId11"/>
    <p:sldId id="332" r:id="rId12"/>
    <p:sldId id="333" r:id="rId13"/>
    <p:sldId id="334" r:id="rId14"/>
    <p:sldId id="335" r:id="rId15"/>
    <p:sldId id="336" r:id="rId16"/>
    <p:sldId id="337" r:id="rId17"/>
    <p:sldId id="338" r:id="rId18"/>
    <p:sldId id="339" r:id="rId19"/>
    <p:sldId id="340" r:id="rId20"/>
    <p:sldId id="329" r:id="rId21"/>
    <p:sldId id="330" r:id="rId22"/>
    <p:sldId id="331" r:id="rId23"/>
    <p:sldId id="306" r:id="rId24"/>
    <p:sldId id="307" r:id="rId25"/>
    <p:sldId id="310" r:id="rId26"/>
  </p:sldIdLst>
  <p:sldSz cx="12192000" cy="6858000"/>
  <p:notesSz cx="6858000" cy="9144000"/>
  <p:embeddedFontLst>
    <p:embeddedFont>
      <p:font typeface="Calibri" pitchFamily="34" charset="0"/>
      <p:regular r:id="rId28"/>
      <p:bold r:id="rId29"/>
      <p:italic r:id="rId30"/>
      <p:boldItalic r:id="rId31"/>
    </p:embeddedFont>
    <p:embeddedFont>
      <p:font typeface="Century Gothic" pitchFamily="34" charset="0"/>
      <p:regular r:id="rId32"/>
      <p:bold r:id="rId33"/>
      <p:italic r:id="rId34"/>
      <p:boldItalic r:id="rId35"/>
    </p:embeddedFont>
    <p:embeddedFont>
      <p:font typeface="Cambria Math" pitchFamily="18" charset="0"/>
      <p:regular r:id="rId36"/>
    </p:embeddedFont>
    <p:embeddedFont>
      <p:font typeface="Cambria" pitchFamily="18" charset="0"/>
      <p:regular r:id="rId37"/>
      <p:bold r:id="rId38"/>
      <p:italic r:id="rId39"/>
      <p:boldItalic r:id="rId40"/>
    </p:embeddedFont>
    <p:embeddedFont>
      <p:font typeface="Arial Black" pitchFamily="34" charset="0"/>
      <p:bold r:id="rId41"/>
    </p:embeddedFont>
    <p:embeddedFont>
      <p:font typeface="Verdana"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452" autoAdjust="0"/>
  </p:normalViewPr>
  <p:slideViewPr>
    <p:cSldViewPr snapToGrid="0">
      <p:cViewPr>
        <p:scale>
          <a:sx n="80" d="100"/>
          <a:sy n="80" d="100"/>
        </p:scale>
        <p:origin x="-648"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74957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8184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796983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4212506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701432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11936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58301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72723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75371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593405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80850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99075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790923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8" name="Google Shape;261;g104476d1465_0_0"/>
          <p:cNvSpPr txBox="1">
            <a:spLocks/>
          </p:cNvSpPr>
          <p:nvPr/>
        </p:nvSpPr>
        <p:spPr>
          <a:xfrm>
            <a:off x="5695209" y="2054277"/>
            <a:ext cx="522044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11, Lesson 1</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Graphing Proportional Relationships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147</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MA.7.AR.4.3</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Given a mathematical or real-world context, graph proportional relationships from a table, equation, or a written description.</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4" name="Google Shape;281;g104476d1465_1_17"/>
          <p:cNvPicPr preferRelativeResize="0"/>
          <p:nvPr/>
        </p:nvPicPr>
        <p:blipFill>
          <a:blip r:embed="rId3">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5"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6"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r>
            <a:b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real-world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1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graph a proportional relationship from a table, an equation, or a written description.</a:t>
            </a:r>
          </a:p>
          <a:p>
            <a:pPr marL="685800" indent="-685800"/>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describe common features of the graphs of proportional relationships.</a:t>
            </a:r>
          </a:p>
        </p:txBody>
      </p:sp>
      <p:sp>
        <p:nvSpPr>
          <p:cNvPr id="11"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3"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1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67;p4"/>
          <p:cNvSpPr txBox="1"/>
          <p:nvPr/>
        </p:nvSpPr>
        <p:spPr>
          <a:xfrm>
            <a:off x="1143000" y="431412"/>
            <a:ext cx="1051560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11.1.1 Warm-Up: Dancing with Math</a:t>
            </a:r>
          </a:p>
        </p:txBody>
      </p:sp>
      <p:pic>
        <p:nvPicPr>
          <p:cNvPr id="11" name="Google Shape;168;p4"/>
          <p:cNvPicPr preferRelativeResize="0"/>
          <p:nvPr/>
        </p:nvPicPr>
        <p:blipFill rotWithShape="1">
          <a:blip r:embed="rId3">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
        <p:nvSpPr>
          <p:cNvPr id="12" name="Google Shape;170;p4"/>
          <p:cNvSpPr txBox="1"/>
          <p:nvPr/>
        </p:nvSpPr>
        <p:spPr>
          <a:xfrm>
            <a:off x="914400" y="1386026"/>
            <a:ext cx="10713750" cy="4154943"/>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Karin </a:t>
            </a:r>
            <a:r>
              <a:rPr lang="en-US" sz="2400" dirty="0" err="1">
                <a:latin typeface="Verdana" panose="020B0604030504040204" pitchFamily="34" charset="0"/>
                <a:ea typeface="Verdana" panose="020B0604030504040204" pitchFamily="34" charset="0"/>
                <a:cs typeface="Verdana" panose="020B0604030504040204" pitchFamily="34" charset="0"/>
              </a:rPr>
              <a:t>Ditchfield</a:t>
            </a:r>
            <a:r>
              <a:rPr lang="en-US" sz="2400" dirty="0">
                <a:latin typeface="Verdana" panose="020B0604030504040204" pitchFamily="34" charset="0"/>
                <a:ea typeface="Verdana" panose="020B0604030504040204" pitchFamily="34" charset="0"/>
                <a:cs typeface="Verdana" panose="020B0604030504040204" pitchFamily="34" charset="0"/>
              </a:rPr>
              <a:t> lived in three different countries growing up – Brazil, England, and Argentina – where three different languages are spoken. Learning new languages can be challenging, but she explains despite these challenges the language of math was always the same.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Karin says, “Math is not just about working with numbers. I see it as a global language that has a positive impact on the world.”</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r>
              <a:rPr lang="en-US" sz="2400" dirty="0">
                <a:latin typeface="Verdana" panose="020B0604030504040204" pitchFamily="34" charset="0"/>
                <a:ea typeface="Verdana" panose="020B0604030504040204" pitchFamily="34" charset="0"/>
                <a:cs typeface="Verdana" panose="020B0604030504040204" pitchFamily="34" charset="0"/>
              </a:rPr>
              <a:t>What are some reasons why math could be considered a global language?</a:t>
            </a:r>
          </a:p>
        </p:txBody>
      </p:sp>
      <p:sp>
        <p:nvSpPr>
          <p:cNvPr id="14"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1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79;p5"/>
          <p:cNvSpPr txBox="1"/>
          <p:nvPr/>
        </p:nvSpPr>
        <p:spPr>
          <a:xfrm>
            <a:off x="914400" y="487736"/>
            <a:ext cx="10515600" cy="193895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Karin mentioned that growing up in Brazil meant growing up dancing. She says, “When you’re learning a new dance, practice makes perfect. It’s exactly the same with math.”</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00050"/>
            <a:r>
              <a:rPr lang="en-US" sz="2400" dirty="0">
                <a:latin typeface="Verdana" panose="020B0604030504040204" pitchFamily="34" charset="0"/>
                <a:ea typeface="Verdana" panose="020B0604030504040204" pitchFamily="34" charset="0"/>
                <a:cs typeface="Verdana" panose="020B0604030504040204" pitchFamily="34" charset="0"/>
              </a:rPr>
              <a:t>Explain whether you agree with this explanation. </a:t>
            </a:r>
          </a:p>
        </p:txBody>
      </p:sp>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147</a:t>
            </a: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148</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28438" y="0"/>
            <a:ext cx="110635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11.1.2 Exploration: Graphs of Proportional Relationships</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1337" y="12895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2781300" y="3270235"/>
            <a:ext cx="6629400" cy="1035050"/>
            <a:chOff x="2031300" y="3373600"/>
            <a:chExt cx="6629400" cy="1035425"/>
          </a:xfrm>
        </p:grpSpPr>
        <p:sp>
          <p:nvSpPr>
            <p:cNvPr id="11" name="Rectangle 1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2" name="Group 11"/>
            <p:cNvGrpSpPr/>
            <p:nvPr/>
          </p:nvGrpSpPr>
          <p:grpSpPr>
            <a:xfrm>
              <a:off x="2031300" y="3373600"/>
              <a:ext cx="6629400" cy="1035425"/>
              <a:chOff x="0" y="0"/>
              <a:chExt cx="6629400" cy="1035425"/>
            </a:xfrm>
          </p:grpSpPr>
          <p:sp>
            <p:nvSpPr>
              <p:cNvPr id="13" name="Rectangle 12"/>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4" name="Rounded Rectangle 13"/>
              <p:cNvSpPr/>
              <p:nvPr/>
            </p:nvSpPr>
            <p:spPr>
              <a:xfrm>
                <a:off x="0" y="1"/>
                <a:ext cx="6629400"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proportional relationship</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collection of pairs of numbers that are in equivalent ratios.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6" name="Shape 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55299" y="233096"/>
                <a:ext cx="539750" cy="539750"/>
              </a:xfrm>
              <a:prstGeom prst="rect">
                <a:avLst/>
              </a:prstGeom>
              <a:noFill/>
              <a:ln>
                <a:noFill/>
              </a:ln>
              <a:effectLst>
                <a:outerShdw blurRad="50800" dist="38100" dir="2700000" algn="tl" rotWithShape="0">
                  <a:prstClr val="black">
                    <a:alpha val="40000"/>
                  </a:prstClr>
                </a:outerShdw>
              </a:effectLst>
            </p:spPr>
          </p:pic>
        </p:grpSp>
      </p:grpSp>
      <p:sp>
        <p:nvSpPr>
          <p:cNvPr id="18" name="Google Shape;170;p4"/>
          <p:cNvSpPr txBox="1"/>
          <p:nvPr/>
        </p:nvSpPr>
        <p:spPr>
          <a:xfrm>
            <a:off x="914400" y="1386026"/>
            <a:ext cx="10713750" cy="1569620"/>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this course, </a:t>
            </a:r>
            <a:r>
              <a:rPr lang="en-US" sz="2400" b="1" i="1" dirty="0">
                <a:latin typeface="Verdana" panose="020B0604030504040204" pitchFamily="34" charset="0"/>
                <a:ea typeface="Verdana" panose="020B0604030504040204" pitchFamily="34" charset="0"/>
                <a:cs typeface="Verdana" panose="020B0604030504040204" pitchFamily="34" charset="0"/>
              </a:rPr>
              <a:t>proportional relationships</a:t>
            </a:r>
            <a:r>
              <a:rPr lang="en-US" sz="2400" dirty="0">
                <a:latin typeface="Verdana" panose="020B0604030504040204" pitchFamily="34" charset="0"/>
                <a:ea typeface="Verdana" panose="020B0604030504040204" pitchFamily="34" charset="0"/>
                <a:cs typeface="Verdana" panose="020B0604030504040204" pitchFamily="34" charset="0"/>
              </a:rPr>
              <a:t> have been used to make predictions about populations from sample data, create scale drawings, convert between units of measure, and solve problems involving percentages.</a:t>
            </a:r>
          </a:p>
        </p:txBody>
      </p:sp>
      <p:sp>
        <p:nvSpPr>
          <p:cNvPr id="1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148</a:t>
            </a:r>
            <a:endParaRPr lang="en-US" i="1" dirty="0">
              <a:latin typeface="Calibri"/>
              <a:ea typeface="Calibri"/>
              <a:cs typeface="Calibri"/>
              <a:sym typeface="Calibri"/>
            </a:endParaRPr>
          </a:p>
        </p:txBody>
      </p:sp>
      <p:pic>
        <p:nvPicPr>
          <p:cNvPr id="2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179;p5"/>
          <p:cNvSpPr txBox="1"/>
          <p:nvPr/>
        </p:nvSpPr>
        <p:spPr>
          <a:xfrm>
            <a:off x="914400" y="487736"/>
            <a:ext cx="10515600" cy="563227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Proportional relationships can be represented by graphs, tables of values, equations, and written descriptions.</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Madelyn and her family went to a U-Pick farm in Lithia, FL to pick blueberries. The table shows the weight, in pounds (</a:t>
            </a:r>
            <a:r>
              <a:rPr lang="en-US" sz="2000" dirty="0" err="1">
                <a:latin typeface="Verdana" panose="020B0604030504040204" pitchFamily="34" charset="0"/>
                <a:ea typeface="Verdana" panose="020B0604030504040204" pitchFamily="34" charset="0"/>
                <a:cs typeface="Verdana" panose="020B0604030504040204" pitchFamily="34" charset="0"/>
              </a:rPr>
              <a:t>lb</a:t>
            </a:r>
            <a:r>
              <a:rPr lang="en-US" sz="2000" dirty="0">
                <a:latin typeface="Verdana" panose="020B0604030504040204" pitchFamily="34" charset="0"/>
                <a:ea typeface="Verdana" panose="020B0604030504040204" pitchFamily="34" charset="0"/>
                <a:cs typeface="Verdana" panose="020B0604030504040204" pitchFamily="34" charset="0"/>
              </a:rPr>
              <a:t>), and price, in dollars, of the bag of blueberries each family member picked.</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unit price per pound of blueberries?</a:t>
            </a:r>
          </a:p>
        </p:txBody>
      </p:sp>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351532512"/>
                  </p:ext>
                </p:extLst>
              </p:nvPr>
            </p:nvGraphicFramePr>
            <p:xfrm>
              <a:off x="3741914" y="3198941"/>
              <a:ext cx="4118022" cy="2312338"/>
            </p:xfrm>
            <a:graphic>
              <a:graphicData uri="http://schemas.openxmlformats.org/drawingml/2006/table">
                <a:tbl>
                  <a:tblPr firstRow="1" firstCol="1" bandRow="1">
                    <a:tableStyleId>{5940675A-B579-460E-94D1-54222C63F5DA}</a:tableStyleId>
                  </a:tblPr>
                  <a:tblGrid>
                    <a:gridCol w="2059011">
                      <a:extLst>
                        <a:ext uri="{9D8B030D-6E8A-4147-A177-3AD203B41FA5}">
                          <a16:colId xmlns="" xmlns:a16="http://schemas.microsoft.com/office/drawing/2014/main" val="20000"/>
                        </a:ext>
                      </a:extLst>
                    </a:gridCol>
                    <a:gridCol w="2059011">
                      <a:extLst>
                        <a:ext uri="{9D8B030D-6E8A-4147-A177-3AD203B41FA5}">
                          <a16:colId xmlns="" xmlns:a16="http://schemas.microsoft.com/office/drawing/2014/main" val="20001"/>
                        </a:ext>
                      </a:extLst>
                    </a:gridCol>
                  </a:tblGrid>
                  <a:tr h="38539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Weight (</a:t>
                          </a:r>
                          <a:r>
                            <a:rPr lang="en-US" sz="2000" b="1" dirty="0" err="1">
                              <a:effectLst/>
                              <a:latin typeface="Verdana" panose="020B0604030504040204" pitchFamily="34" charset="0"/>
                              <a:ea typeface="Verdana" panose="020B0604030504040204" pitchFamily="34" charset="0"/>
                              <a:cs typeface="Verdana" panose="020B0604030504040204" pitchFamily="34" charset="0"/>
                            </a:rPr>
                            <a:t>lb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 xmlns:a16="http://schemas.microsoft.com/office/drawing/2014/main" val="10000"/>
                      </a:ext>
                    </a:extLst>
                  </a:tr>
                  <a:tr h="48173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0.75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48173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9.88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81737">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oMath>
                          </a14:m>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7.60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48173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4.56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351532512"/>
                  </p:ext>
                </p:extLst>
              </p:nvPr>
            </p:nvGraphicFramePr>
            <p:xfrm>
              <a:off x="3741914" y="3198941"/>
              <a:ext cx="4118022" cy="2312338"/>
            </p:xfrm>
            <a:graphic>
              <a:graphicData uri="http://schemas.openxmlformats.org/drawingml/2006/table">
                <a:tbl>
                  <a:tblPr firstRow="1" firstCol="1" bandRow="1">
                    <a:tableStyleId>{5940675A-B579-460E-94D1-54222C63F5DA}</a:tableStyleId>
                  </a:tblPr>
                  <a:tblGrid>
                    <a:gridCol w="2059011">
                      <a:extLst>
                        <a:ext uri="{9D8B030D-6E8A-4147-A177-3AD203B41FA5}">
                          <a16:colId xmlns:a16="http://schemas.microsoft.com/office/drawing/2014/main" xmlns:a14="http://schemas.microsoft.com/office/drawing/2010/main" xmlns="" val="20000"/>
                        </a:ext>
                      </a:extLst>
                    </a:gridCol>
                    <a:gridCol w="2059011">
                      <a:extLst>
                        <a:ext uri="{9D8B030D-6E8A-4147-A177-3AD203B41FA5}">
                          <a16:colId xmlns:a16="http://schemas.microsoft.com/office/drawing/2014/main" xmlns:a14="http://schemas.microsoft.com/office/drawing/2010/main" xmlns="" val="20001"/>
                        </a:ext>
                      </a:extLst>
                    </a:gridCol>
                  </a:tblGrid>
                  <a:tr h="38539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Weight (</a:t>
                          </a:r>
                          <a:r>
                            <a:rPr lang="en-US" sz="2000" b="1" dirty="0" err="1">
                              <a:effectLst/>
                              <a:latin typeface="Verdana" panose="020B0604030504040204" pitchFamily="34" charset="0"/>
                              <a:ea typeface="Verdana" panose="020B0604030504040204" pitchFamily="34" charset="0"/>
                              <a:cs typeface="Verdana" panose="020B0604030504040204" pitchFamily="34" charset="0"/>
                            </a:rPr>
                            <a:t>lb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a14="http://schemas.microsoft.com/office/drawing/2010/main" xmlns="" val="10000"/>
                      </a:ext>
                    </a:extLst>
                  </a:tr>
                  <a:tr h="48173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96" t="-87342" r="-100000" b="-30126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593" t="-87342" r="-297" b="-301266"/>
                          </a:stretch>
                        </a:blipFill>
                      </a:tcPr>
                    </a:tc>
                    <a:extLst>
                      <a:ext uri="{0D108BD9-81ED-4DB2-BD59-A6C34878D82A}">
                        <a16:rowId xmlns:a16="http://schemas.microsoft.com/office/drawing/2014/main" xmlns:a14="http://schemas.microsoft.com/office/drawing/2010/main" xmlns="" val="10001"/>
                      </a:ext>
                    </a:extLst>
                  </a:tr>
                  <a:tr h="48173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96" t="-187342" r="-100000" b="-20126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593" t="-187342" r="-297" b="-201266"/>
                          </a:stretch>
                        </a:blipFill>
                      </a:tcPr>
                    </a:tc>
                    <a:extLst>
                      <a:ext uri="{0D108BD9-81ED-4DB2-BD59-A6C34878D82A}">
                        <a16:rowId xmlns:a16="http://schemas.microsoft.com/office/drawing/2014/main" xmlns:a14="http://schemas.microsoft.com/office/drawing/2010/main" xmlns="" val="10002"/>
                      </a:ext>
                    </a:extLst>
                  </a:tr>
                  <a:tr h="48173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96" t="-287342" r="-100000" b="-10126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593" t="-287342" r="-297" b="-101266"/>
                          </a:stretch>
                        </a:blipFill>
                      </a:tcPr>
                    </a:tc>
                    <a:extLst>
                      <a:ext uri="{0D108BD9-81ED-4DB2-BD59-A6C34878D82A}">
                        <a16:rowId xmlns:a16="http://schemas.microsoft.com/office/drawing/2014/main" xmlns:a14="http://schemas.microsoft.com/office/drawing/2010/main" xmlns="" val="10003"/>
                      </a:ext>
                    </a:extLst>
                  </a:tr>
                  <a:tr h="48173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96" t="-387342" r="-100000" b="-126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593" t="-387342" r="-297" b="-1266"/>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148</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3250195" y="2017816"/>
            <a:ext cx="5076316" cy="4588039"/>
            <a:chOff x="3046043" y="2203337"/>
            <a:chExt cx="5076316" cy="4588039"/>
          </a:xfrm>
        </p:grpSpPr>
        <p:pic>
          <p:nvPicPr>
            <p:cNvPr id="6" name="Picture 5" descr="Chart, line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621017" y="2203337"/>
              <a:ext cx="4501342" cy="4454438"/>
            </a:xfrm>
            <a:prstGeom prst="rect">
              <a:avLst/>
            </a:prstGeom>
          </p:spPr>
        </p:pic>
        <p:sp>
          <p:nvSpPr>
            <p:cNvPr id="7" name="Text Box 21"/>
            <p:cNvSpPr txBox="1"/>
            <p:nvPr/>
          </p:nvSpPr>
          <p:spPr>
            <a:xfrm>
              <a:off x="4985546" y="6383071"/>
              <a:ext cx="2224978"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Weight (</a:t>
              </a:r>
              <a:r>
                <a:rPr lang="en-US" sz="2000" b="1" dirty="0" err="1">
                  <a:latin typeface="Verdana" panose="020B0604030504040204" pitchFamily="34" charset="0"/>
                  <a:ea typeface="Times New Roman" panose="02020603050405020304" pitchFamily="18" charset="0"/>
                  <a:cs typeface="Times New Roman" panose="02020603050405020304" pitchFamily="18" charset="0"/>
                </a:rPr>
                <a:t>lb</a:t>
              </a:r>
              <a:r>
                <a:rPr lang="en-US" sz="2000" b="1"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22"/>
            <p:cNvSpPr txBox="1"/>
            <p:nvPr/>
          </p:nvSpPr>
          <p:spPr>
            <a:xfrm rot="16200000">
              <a:off x="2364053" y="3657111"/>
              <a:ext cx="1772285"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Price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0" name="Google Shape;179;p5"/>
          <p:cNvSpPr txBox="1"/>
          <p:nvPr/>
        </p:nvSpPr>
        <p:spPr>
          <a:xfrm>
            <a:off x="914400" y="487736"/>
            <a:ext cx="10515600" cy="1323399"/>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how you determined the unit price.</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Graph the relationship by plotting a point to represent each family member’s bag of blueberries.</a:t>
            </a:r>
          </a:p>
        </p:txBody>
      </p:sp>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148</a:t>
            </a:r>
            <a:endParaRPr lang="en-US"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68133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Google Shape;179;p5"/>
              <p:cNvSpPr txBox="1"/>
              <p:nvPr/>
            </p:nvSpPr>
            <p:spPr>
              <a:xfrm>
                <a:off x="914400" y="487736"/>
                <a:ext cx="10515600" cy="4401164"/>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Plot a point on the graph to represent the unit price per pound of blueberries.</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Plot a point on the graph to represent the price for </a:t>
                </a:r>
                <a14:m>
                  <m:oMath xmlns:m="http://schemas.openxmlformats.org/officeDocument/2006/math">
                    <m:r>
                      <a:rPr lang="en-US" sz="2000" i="1">
                        <a:latin typeface="Cambria Math" panose="02040503050406030204" pitchFamily="18" charset="0"/>
                        <a:ea typeface="Cambria Math" panose="02040503050406030204" pitchFamily="18"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blueberries.</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Connect the points plotted on the graph. What do you notice?</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whether the graph of the relationship between the number of pounds of blueberries picked and price extends beyond the points plotted on the graph in either direction.</a:t>
                </a: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515600" cy="4401164"/>
              </a:xfrm>
              <a:prstGeom prst="rect">
                <a:avLst/>
              </a:prstGeom>
              <a:blipFill rotWithShape="1">
                <a:blip r:embed="rId3"/>
                <a:stretch>
                  <a:fillRect t="-831" r="-290" b="-1524"/>
                </a:stretch>
              </a:blipFill>
              <a:ln>
                <a:noFill/>
              </a:ln>
            </p:spPr>
            <p:txBody>
              <a:bodyPr/>
              <a:lstStyle/>
              <a:p>
                <a:r>
                  <a:rPr lang="en-US">
                    <a:noFill/>
                  </a:rPr>
                  <a:t> </a:t>
                </a:r>
              </a:p>
            </p:txBody>
          </p:sp>
        </mc:Fallback>
      </mc:AlternateContent>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149</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14966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973015" y="374089"/>
                <a:ext cx="10445262" cy="6001643"/>
              </a:xfrm>
              <a:prstGeom prst="rect">
                <a:avLst/>
              </a:prstGeom>
              <a:noFill/>
            </p:spPr>
            <p:txBody>
              <a:bodyPr wrap="square" rtlCol="0">
                <a:spAutoFit/>
              </a:bodyPr>
              <a:lstStyle/>
              <a:p>
                <a:pPr marL="914400" indent="-457200">
                  <a:buFont typeface="+mj-lt"/>
                  <a:buAutoNum type="alphaLcPeriod" startAt="8"/>
                </a:pPr>
                <a:r>
                  <a:rPr lang="en-US" sz="2400" dirty="0" smtClean="0">
                    <a:latin typeface="Verdana" panose="020B0604030504040204" pitchFamily="34" charset="0"/>
                    <a:ea typeface="Verdana" panose="020B0604030504040204" pitchFamily="34" charset="0"/>
                    <a:cs typeface="Verdana" panose="020B0604030504040204" pitchFamily="34" charset="0"/>
                  </a:rPr>
                  <a:t>Complete the statements.</a:t>
                </a:r>
              </a:p>
              <a:p>
                <a:pPr marL="9144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The graph		     </a:t>
                </a:r>
                <a:r>
                  <a:rPr lang="en-US" sz="2400" dirty="0" smtClean="0">
                    <a:latin typeface="Verdana" panose="020B0604030504040204" pitchFamily="34" charset="0"/>
                    <a:ea typeface="Verdana" panose="020B0604030504040204" pitchFamily="34" charset="0"/>
                    <a:cs typeface="Verdana" panose="020B0604030504040204" pitchFamily="34" charset="0"/>
                  </a:rPr>
                  <a:t> extend </a:t>
                </a:r>
                <a:r>
                  <a:rPr lang="en-US" sz="2400" dirty="0">
                    <a:latin typeface="Verdana" panose="020B0604030504040204" pitchFamily="34" charset="0"/>
                    <a:ea typeface="Verdana" panose="020B0604030504040204" pitchFamily="34" charset="0"/>
                    <a:cs typeface="Verdana" panose="020B0604030504040204" pitchFamily="34" charset="0"/>
                  </a:rPr>
                  <a:t>to below the point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(0, 0)</m:t>
                    </m:r>
                  </m:oMath>
                </a14:m>
                <a:r>
                  <a:rPr lang="en-US" sz="2400" dirty="0">
                    <a:latin typeface="Verdana" panose="020B0604030504040204" pitchFamily="34" charset="0"/>
                    <a:ea typeface="Verdana" panose="020B0604030504040204" pitchFamily="34" charset="0"/>
                    <a:cs typeface="Verdana" panose="020B0604030504040204" pitchFamily="34" charset="0"/>
                  </a:rPr>
                  <a:t> because it is not possible to pick </a:t>
                </a:r>
                <a:r>
                  <a:rPr lang="en-US" sz="2400" dirty="0" smtClean="0">
                    <a:latin typeface="Verdana" panose="020B0604030504040204" pitchFamily="34" charset="0"/>
                    <a:ea typeface="Verdana" panose="020B0604030504040204" pitchFamily="34" charset="0"/>
                    <a:cs typeface="Verdana" panose="020B0604030504040204" pitchFamily="34" charset="0"/>
                  </a:rPr>
                  <a:t>a                  </a:t>
                </a:r>
                <a:r>
                  <a:rPr lang="en-US" sz="2400" dirty="0">
                    <a:latin typeface="Verdana" panose="020B0604030504040204" pitchFamily="34" charset="0"/>
                    <a:ea typeface="Verdana" panose="020B0604030504040204" pitchFamily="34" charset="0"/>
                    <a:cs typeface="Verdana" panose="020B0604030504040204" pitchFamily="34" charset="0"/>
                  </a:rPr>
                  <a:t>number of pounds of blueberries.</a:t>
                </a:r>
              </a:p>
              <a:p>
                <a:pPr marL="9144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The graph		      </a:t>
                </a:r>
                <a:r>
                  <a:rPr lang="en-US" sz="2400" dirty="0" smtClean="0">
                    <a:latin typeface="Verdana" panose="020B0604030504040204" pitchFamily="34" charset="0"/>
                    <a:ea typeface="Verdana" panose="020B0604030504040204" pitchFamily="34" charset="0"/>
                    <a:cs typeface="Verdana" panose="020B0604030504040204" pitchFamily="34" charset="0"/>
                  </a:rPr>
                  <a:t> extend </a:t>
                </a:r>
                <a:r>
                  <a:rPr lang="en-US" sz="2400" dirty="0">
                    <a:latin typeface="Verdana" panose="020B0604030504040204" pitchFamily="34" charset="0"/>
                    <a:ea typeface="Verdana" panose="020B0604030504040204" pitchFamily="34" charset="0"/>
                    <a:cs typeface="Verdana" panose="020B0604030504040204" pitchFamily="34" charset="0"/>
                  </a:rPr>
                  <a:t>above the point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(2.6, 9.88)</m:t>
                    </m:r>
                  </m:oMath>
                </a14:m>
                <a:r>
                  <a:rPr lang="en-US" sz="2400" dirty="0">
                    <a:latin typeface="Verdana" panose="020B0604030504040204" pitchFamily="34" charset="0"/>
                    <a:ea typeface="Verdana" panose="020B0604030504040204" pitchFamily="34" charset="0"/>
                    <a:cs typeface="Verdana" panose="020B0604030504040204" pitchFamily="34" charset="0"/>
                  </a:rPr>
                  <a:t> because it is possible to pick </a:t>
                </a:r>
                <a:r>
                  <a:rPr lang="en-US" sz="2400" dirty="0" smtClean="0">
                    <a:latin typeface="Verdana" panose="020B0604030504040204" pitchFamily="34" charset="0"/>
                    <a:ea typeface="Verdana" panose="020B0604030504040204" pitchFamily="34" charset="0"/>
                    <a:cs typeface="Verdana" panose="020B0604030504040204" pitchFamily="34" charset="0"/>
                  </a:rPr>
                  <a:t>any     </a:t>
                </a:r>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smtClean="0">
                    <a:latin typeface="Verdana" panose="020B0604030504040204" pitchFamily="34" charset="0"/>
                    <a:ea typeface="Verdana" panose="020B0604030504040204" pitchFamily="34" charset="0"/>
                    <a:cs typeface="Verdana" panose="020B0604030504040204" pitchFamily="34" charset="0"/>
                  </a:rPr>
                  <a:t>number </a:t>
                </a:r>
                <a:r>
                  <a:rPr lang="en-US" sz="2400" dirty="0">
                    <a:latin typeface="Verdana" panose="020B0604030504040204" pitchFamily="34" charset="0"/>
                    <a:ea typeface="Verdana" panose="020B0604030504040204" pitchFamily="34" charset="0"/>
                    <a:cs typeface="Verdana" panose="020B0604030504040204" pitchFamily="34" charset="0"/>
                  </a:rPr>
                  <a:t>of pounds of blueberries.</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973015" y="374089"/>
                <a:ext cx="10445262" cy="6001643"/>
              </a:xfrm>
              <a:prstGeom prst="rect">
                <a:avLst/>
              </a:prstGeom>
              <a:blipFill rotWithShape="1">
                <a:blip r:embed="rId3"/>
                <a:stretch>
                  <a:fillRect t="-812"/>
                </a:stretch>
              </a:blipFill>
            </p:spPr>
            <p:txBody>
              <a:bodyPr/>
              <a:lstStyle/>
              <a:p>
                <a:r>
                  <a:rPr lang="en-US">
                    <a:noFill/>
                  </a:rPr>
                  <a:t> </a:t>
                </a:r>
              </a:p>
            </p:txBody>
          </p:sp>
        </mc:Fallback>
      </mc:AlternateContent>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09416" y="942287"/>
            <a:ext cx="1682303" cy="857022"/>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61651" y="1846934"/>
            <a:ext cx="1745950" cy="883819"/>
          </a:xfrm>
          <a:prstGeom prst="rect">
            <a:avLst/>
          </a:prstGeom>
        </p:spPr>
      </p:pic>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28466" y="3674314"/>
            <a:ext cx="1745950" cy="889446"/>
          </a:xfrm>
          <a:prstGeom prst="rect">
            <a:avLst/>
          </a:prstGeom>
        </p:spPr>
      </p:pic>
      <p:pic>
        <p:nvPicPr>
          <p:cNvPr id="9" name="Picture 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17326" y="4582810"/>
            <a:ext cx="1745950" cy="883819"/>
          </a:xfrm>
          <a:prstGeom prst="rect">
            <a:avLst/>
          </a:prstGeom>
        </p:spPr>
      </p:pic>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149</a:t>
            </a:r>
            <a:endParaRPr lang="en-US"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9258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83867762"/>
                  </p:ext>
                </p:extLst>
              </p:nvPr>
            </p:nvGraphicFramePr>
            <p:xfrm>
              <a:off x="3727002" y="3441074"/>
              <a:ext cx="4280924" cy="2926080"/>
            </p:xfrm>
            <a:graphic>
              <a:graphicData uri="http://schemas.openxmlformats.org/drawingml/2006/table">
                <a:tbl>
                  <a:tblPr firstRow="1" firstCol="1" bandRow="1">
                    <a:tableStyleId>{5940675A-B579-460E-94D1-54222C63F5DA}</a:tableStyleId>
                  </a:tblPr>
                  <a:tblGrid>
                    <a:gridCol w="2140462">
                      <a:extLst>
                        <a:ext uri="{9D8B030D-6E8A-4147-A177-3AD203B41FA5}">
                          <a16:colId xmlns="" xmlns:a16="http://schemas.microsoft.com/office/drawing/2014/main" val="20000"/>
                        </a:ext>
                      </a:extLst>
                    </a:gridCol>
                    <a:gridCol w="2140462">
                      <a:extLst>
                        <a:ext uri="{9D8B030D-6E8A-4147-A177-3AD203B41FA5}">
                          <a16:colId xmlns="" xmlns:a16="http://schemas.microsoft.com/office/drawing/2014/main" val="20001"/>
                        </a:ext>
                      </a:extLst>
                    </a:gridCol>
                  </a:tblGrid>
                  <a:tr h="7315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𝒏</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(in.)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𝒄</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(cm)</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 xmlns:a16="http://schemas.microsoft.com/office/drawing/2014/main" val="10000"/>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548640">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oMath>
                          </a14:m>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83867762"/>
                  </p:ext>
                </p:extLst>
              </p:nvPr>
            </p:nvGraphicFramePr>
            <p:xfrm>
              <a:off x="3727002" y="3441074"/>
              <a:ext cx="4280924" cy="2926080"/>
            </p:xfrm>
            <a:graphic>
              <a:graphicData uri="http://schemas.openxmlformats.org/drawingml/2006/table">
                <a:tbl>
                  <a:tblPr firstRow="1" firstCol="1" bandRow="1">
                    <a:tableStyleId>{5940675A-B579-460E-94D1-54222C63F5DA}</a:tableStyleId>
                  </a:tblPr>
                  <a:tblGrid>
                    <a:gridCol w="2140462">
                      <a:extLst>
                        <a:ext uri="{9D8B030D-6E8A-4147-A177-3AD203B41FA5}">
                          <a16:colId xmlns:a16="http://schemas.microsoft.com/office/drawing/2014/main" xmlns:a14="http://schemas.microsoft.com/office/drawing/2010/main" xmlns="" val="20000"/>
                        </a:ext>
                      </a:extLst>
                    </a:gridCol>
                    <a:gridCol w="2140462">
                      <a:extLst>
                        <a:ext uri="{9D8B030D-6E8A-4147-A177-3AD203B41FA5}">
                          <a16:colId xmlns:a16="http://schemas.microsoft.com/office/drawing/2014/main" xmlns:a14="http://schemas.microsoft.com/office/drawing/2010/main" xmlns="" val="20001"/>
                        </a:ext>
                      </a:extLst>
                    </a:gridCol>
                  </a:tblGrid>
                  <a:tr h="73152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r="-99716" b="-3008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285" b="-300833"/>
                          </a:stretch>
                        </a:blipFill>
                      </a:tcPr>
                    </a:tc>
                    <a:extLst>
                      <a:ext uri="{0D108BD9-81ED-4DB2-BD59-A6C34878D82A}">
                        <a16:rowId xmlns:a16="http://schemas.microsoft.com/office/drawing/2014/main" xmlns:a14="http://schemas.microsoft.com/office/drawing/2010/main" xmlns="" val="10000"/>
                      </a:ext>
                    </a:extLst>
                  </a:tr>
                  <a:tr h="5486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33333" r="-99716" b="-301111"/>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5486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33333" r="-99716" b="-201111"/>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5486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333333" r="-99716" b="-101111"/>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5486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433333" r="-99716" b="-1111"/>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mc:AlternateContent xmlns:mc="http://schemas.openxmlformats.org/markup-compatibility/2006" xmlns:a14="http://schemas.microsoft.com/office/drawing/2010/main">
        <mc:Choice Requires="a14">
          <p:sp>
            <p:nvSpPr>
              <p:cNvPr id="8" name="Google Shape;179;p5"/>
              <p:cNvSpPr txBox="1"/>
              <p:nvPr/>
            </p:nvSpPr>
            <p:spPr>
              <a:xfrm>
                <a:off x="914400" y="487736"/>
                <a:ext cx="10315575" cy="267761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There are approximately </a:t>
                </a:r>
                <a14:m>
                  <m:oMath xmlns:m="http://schemas.openxmlformats.org/officeDocument/2006/math">
                    <m:r>
                      <a:rPr lang="en-US" sz="2400" i="1">
                        <a:latin typeface="Cambria Math" panose="02040503050406030204" pitchFamily="18" charset="0"/>
                        <a:ea typeface="Cambria Math" panose="02040503050406030204" pitchFamily="18" charset="0"/>
                      </a:rPr>
                      <m:t>2.54</m:t>
                    </m:r>
                  </m:oMath>
                </a14:m>
                <a:r>
                  <a:rPr lang="en-US" sz="2400" dirty="0">
                    <a:latin typeface="Verdana" panose="020B0604030504040204" pitchFamily="34" charset="0"/>
                    <a:ea typeface="Verdana" panose="020B0604030504040204" pitchFamily="34" charset="0"/>
                    <a:cs typeface="Verdana" panose="020B0604030504040204" pitchFamily="34" charset="0"/>
                  </a:rPr>
                  <a:t> centimeters (cm) in every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inch (in.). This proportional relationship can be represented by the equation </a:t>
                </a:r>
                <a14:m>
                  <m:oMath xmlns:m="http://schemas.openxmlformats.org/officeDocument/2006/math">
                    <m:r>
                      <a:rPr lang="en-US" sz="2400" i="1">
                        <a:latin typeface="Cambria Math" panose="02040503050406030204" pitchFamily="18" charset="0"/>
                        <a:ea typeface="Cambria Math" panose="02040503050406030204" pitchFamily="18" charset="0"/>
                      </a:rPr>
                      <m:t>𝑐</m:t>
                    </m:r>
                    <m:r>
                      <a:rPr lang="en-US" sz="2400" i="1">
                        <a:latin typeface="Cambria Math" panose="02040503050406030204" pitchFamily="18" charset="0"/>
                        <a:ea typeface="Cambria Math" panose="02040503050406030204" pitchFamily="18" charset="0"/>
                      </a:rPr>
                      <m:t>=2.54</m:t>
                    </m:r>
                    <m:r>
                      <a:rPr lang="en-US" sz="2400" i="1">
                        <a:latin typeface="Cambria Math" panose="02040503050406030204" pitchFamily="18" charset="0"/>
                        <a:ea typeface="Cambria Math" panose="02040503050406030204" pitchFamily="18" charset="0"/>
                      </a:rPr>
                      <m:t>𝑛</m:t>
                    </m:r>
                  </m:oMath>
                </a14:m>
                <a:r>
                  <a:rPr lang="en-US" sz="24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400" i="1">
                        <a:latin typeface="Cambria Math" panose="02040503050406030204" pitchFamily="18" charset="0"/>
                        <a:ea typeface="Cambria Math" panose="02040503050406030204" pitchFamily="18" charset="0"/>
                      </a:rPr>
                      <m:t>𝑐</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the length of an object in centimeters, and </a:t>
                </a:r>
                <a14:m>
                  <m:oMath xmlns:m="http://schemas.openxmlformats.org/officeDocument/2006/math">
                    <m:r>
                      <a:rPr lang="en-US" sz="2400" i="1">
                        <a:latin typeface="Cambria Math" panose="02040503050406030204" pitchFamily="18" charset="0"/>
                        <a:ea typeface="Cambria Math" panose="02040503050406030204" pitchFamily="18" charset="0"/>
                      </a:rPr>
                      <m:t>𝑛</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the length of the same object in inches.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the equation to complete the table of values.</a:t>
                </a:r>
              </a:p>
            </p:txBody>
          </p:sp>
        </mc:Choice>
        <mc:Fallback xmlns="">
          <p:sp>
            <p:nvSpPr>
              <p:cNvPr id="8" name="Google Shape;179;p5"/>
              <p:cNvSpPr txBox="1">
                <a:spLocks noRot="1" noChangeAspect="1" noMove="1" noResize="1" noEditPoints="1" noAdjustHandles="1" noChangeArrowheads="1" noChangeShapeType="1" noTextEdit="1"/>
              </p:cNvSpPr>
              <p:nvPr/>
            </p:nvSpPr>
            <p:spPr>
              <a:xfrm>
                <a:off x="914400" y="487736"/>
                <a:ext cx="10315575" cy="2677616"/>
              </a:xfrm>
              <a:prstGeom prst="rect">
                <a:avLst/>
              </a:prstGeom>
              <a:blipFill rotWithShape="1">
                <a:blip r:embed="rId4"/>
                <a:stretch>
                  <a:fillRect l="-946" t="-2050" r="-1773" b="-4328"/>
                </a:stretch>
              </a:blipFill>
              <a:ln>
                <a:noFill/>
              </a:ln>
            </p:spPr>
            <p:txBody>
              <a:bodyPr/>
              <a:lstStyle/>
              <a:p>
                <a:r>
                  <a:rPr lang="en-US">
                    <a:noFill/>
                  </a:rPr>
                  <a:t> </a:t>
                </a:r>
              </a:p>
            </p:txBody>
          </p:sp>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149</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20922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3524435" y="1248715"/>
            <a:ext cx="5095504" cy="5208960"/>
            <a:chOff x="3066760" y="1039867"/>
            <a:chExt cx="5095504" cy="5208960"/>
          </a:xfrm>
        </p:grpSpPr>
        <p:pic>
          <p:nvPicPr>
            <p:cNvPr id="6" name="Picture 5" descr="Chart, line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581113" y="1039867"/>
              <a:ext cx="4581151" cy="4769916"/>
            </a:xfrm>
            <a:prstGeom prst="rect">
              <a:avLst/>
            </a:prstGeom>
          </p:spPr>
        </p:pic>
        <p:sp>
          <p:nvSpPr>
            <p:cNvPr id="7" name="Text Box 24"/>
            <p:cNvSpPr txBox="1"/>
            <p:nvPr/>
          </p:nvSpPr>
          <p:spPr>
            <a:xfrm>
              <a:off x="5126729" y="5840522"/>
              <a:ext cx="1983424"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Length (in.)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25"/>
            <p:cNvSpPr txBox="1"/>
            <p:nvPr/>
          </p:nvSpPr>
          <p:spPr>
            <a:xfrm rot="16200000">
              <a:off x="2292378" y="2842464"/>
              <a:ext cx="1957070"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Length (cm)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149</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179;p5"/>
          <p:cNvSpPr txBox="1"/>
          <p:nvPr/>
        </p:nvSpPr>
        <p:spPr>
          <a:xfrm>
            <a:off x="914400" y="487736"/>
            <a:ext cx="10315575" cy="461624"/>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Graph the ordered pairs from the table of values.</a:t>
            </a:r>
          </a:p>
        </p:txBody>
      </p:sp>
    </p:spTree>
    <p:extLst>
      <p:ext uri="{BB962C8B-B14F-4D97-AF65-F5344CB8AC3E}">
        <p14:creationId xmlns:p14="http://schemas.microsoft.com/office/powerpoint/2010/main" val="3427835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Google Shape;179;p5"/>
              <p:cNvSpPr txBox="1"/>
              <p:nvPr/>
            </p:nvSpPr>
            <p:spPr>
              <a:xfrm>
                <a:off x="914400" y="487736"/>
                <a:ext cx="10315575" cy="4154943"/>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Connect the points plotted on the graph to create a ray that represents all possible equivalent lengths. </a:t>
                </a: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whether there is a point on the line that represents the approximate number of inches that are equivalent to </a:t>
                </a:r>
                <a14:m>
                  <m:oMath xmlns:m="http://schemas.openxmlformats.org/officeDocument/2006/math">
                    <m:r>
                      <a:rPr lang="en-US" sz="2400" i="1">
                        <a:latin typeface="Cambria Math" panose="02040503050406030204" pitchFamily="18" charset="0"/>
                        <a:ea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centimeters. If there is such a point, draw an X to mark this point on the line. If there is not such a point, explain why not.</a:t>
                </a: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315575" cy="4154943"/>
              </a:xfrm>
              <a:prstGeom prst="rect">
                <a:avLst/>
              </a:prstGeom>
              <a:blipFill rotWithShape="1">
                <a:blip r:embed="rId3"/>
                <a:stretch>
                  <a:fillRect t="-1173" r="-1182" b="-2346"/>
                </a:stretch>
              </a:blipFill>
              <a:ln>
                <a:noFill/>
              </a:ln>
            </p:spPr>
            <p:txBody>
              <a:bodyPr/>
              <a:lstStyle/>
              <a:p>
                <a:r>
                  <a:rPr lang="en-US">
                    <a:noFill/>
                  </a:rPr>
                  <a:t> </a:t>
                </a:r>
              </a:p>
            </p:txBody>
          </p:sp>
        </mc:Fallback>
      </mc:AlternateContent>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150</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35999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Google Shape;179;p5"/>
              <p:cNvSpPr txBox="1"/>
              <p:nvPr/>
            </p:nvSpPr>
            <p:spPr>
              <a:xfrm>
                <a:off x="914400" y="487736"/>
                <a:ext cx="10315575" cy="378561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An empty bathtub is filling at a rate of </a:t>
                </a:r>
                <a14:m>
                  <m:oMath xmlns:m="http://schemas.openxmlformats.org/officeDocument/2006/math">
                    <m:r>
                      <a:rPr lang="en-US" sz="2400" i="1">
                        <a:latin typeface="Cambria Math" panose="02040503050406030204" pitchFamily="18" charset="0"/>
                        <a:ea typeface="Cambria Math" panose="02040503050406030204" pitchFamily="18" charset="0"/>
                      </a:rPr>
                      <m:t>4.5</m:t>
                    </m:r>
                  </m:oMath>
                </a14:m>
                <a:r>
                  <a:rPr lang="en-US" sz="2400" dirty="0">
                    <a:latin typeface="Verdana" panose="020B0604030504040204" pitchFamily="34" charset="0"/>
                    <a:ea typeface="Verdana" panose="020B0604030504040204" pitchFamily="34" charset="0"/>
                    <a:cs typeface="Verdana" panose="020B0604030504040204" pitchFamily="34" charset="0"/>
                  </a:rPr>
                  <a:t> gallons per minute.</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gallons of water are in the tub after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minutes?</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gallons of water are in the tub after </a:t>
                </a:r>
                <a14:m>
                  <m:oMath xmlns:m="http://schemas.openxmlformats.org/officeDocument/2006/math">
                    <m:r>
                      <a:rPr lang="en-US" sz="2400" i="1">
                        <a:latin typeface="Cambria Math" panose="02040503050406030204" pitchFamily="18" charset="0"/>
                        <a:ea typeface="Cambria Math" panose="02040503050406030204" pitchFamily="18"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minutes?</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minutes does it take for the tub to fill to </a:t>
                </a:r>
                <a14:m>
                  <m:oMath xmlns:m="http://schemas.openxmlformats.org/officeDocument/2006/math">
                    <m:r>
                      <a:rPr lang="en-US" sz="2400" i="1">
                        <a:latin typeface="Cambria Math" panose="02040503050406030204" pitchFamily="18" charset="0"/>
                        <a:ea typeface="Cambria Math" panose="02040503050406030204" pitchFamily="18" charset="0"/>
                      </a:rPr>
                      <m:t>31.5</m:t>
                    </m:r>
                  </m:oMath>
                </a14:m>
                <a:r>
                  <a:rPr lang="en-US" sz="2400" dirty="0">
                    <a:latin typeface="Verdana" panose="020B0604030504040204" pitchFamily="34" charset="0"/>
                    <a:ea typeface="Verdana" panose="020B0604030504040204" pitchFamily="34" charset="0"/>
                    <a:cs typeface="Verdana" panose="020B0604030504040204" pitchFamily="34" charset="0"/>
                  </a:rPr>
                  <a:t> gallons of water?</a:t>
                </a: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315575" cy="3785611"/>
              </a:xfrm>
              <a:prstGeom prst="rect">
                <a:avLst/>
              </a:prstGeom>
              <a:blipFill rotWithShape="1">
                <a:blip r:embed="rId3"/>
                <a:stretch>
                  <a:fillRect l="-946" t="-1449" b="-2738"/>
                </a:stretch>
              </a:blipFill>
              <a:ln>
                <a:noFill/>
              </a:ln>
            </p:spPr>
            <p:txBody>
              <a:bodyPr/>
              <a:lstStyle/>
              <a:p>
                <a:r>
                  <a:rPr lang="en-US">
                    <a:noFill/>
                  </a:rPr>
                  <a:t> </a:t>
                </a:r>
              </a:p>
            </p:txBody>
          </p:sp>
        </mc:Fallback>
      </mc:AlternateContent>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150</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0439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3286896" y="1963514"/>
            <a:ext cx="4870661" cy="4708600"/>
            <a:chOff x="3286896" y="1820639"/>
            <a:chExt cx="4870661" cy="4708600"/>
          </a:xfrm>
        </p:grpSpPr>
        <p:pic>
          <p:nvPicPr>
            <p:cNvPr id="6" name="Picture 5" descr="Chart, line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810001" y="1820639"/>
              <a:ext cx="4347556" cy="4197776"/>
            </a:xfrm>
            <a:prstGeom prst="rect">
              <a:avLst/>
            </a:prstGeom>
          </p:spPr>
        </p:pic>
        <p:sp>
          <p:nvSpPr>
            <p:cNvPr id="7" name="Text Box 29"/>
            <p:cNvSpPr txBox="1"/>
            <p:nvPr/>
          </p:nvSpPr>
          <p:spPr>
            <a:xfrm>
              <a:off x="4960085" y="6120934"/>
              <a:ext cx="1884061"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b="1" dirty="0">
                  <a:latin typeface="Verdana" panose="020B0604030504040204" pitchFamily="34" charset="0"/>
                  <a:ea typeface="Times New Roman" panose="02020603050405020304" pitchFamily="18" charset="0"/>
                  <a:cs typeface="Times New Roman" panose="02020603050405020304" pitchFamily="18" charset="0"/>
                </a:rPr>
                <a:t>Time (minutes)</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30"/>
            <p:cNvSpPr txBox="1"/>
            <p:nvPr/>
          </p:nvSpPr>
          <p:spPr>
            <a:xfrm rot="16200000">
              <a:off x="1485112" y="3622423"/>
              <a:ext cx="4015048" cy="4114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b="1" dirty="0">
                  <a:latin typeface="Verdana" panose="020B0604030504040204" pitchFamily="34" charset="0"/>
                  <a:ea typeface="Times New Roman" panose="02020603050405020304" pitchFamily="18" charset="0"/>
                  <a:cs typeface="Times New Roman" panose="02020603050405020304" pitchFamily="18" charset="0"/>
                </a:rPr>
                <a:t>Amount of water in the tub (gallons)</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0" name="Google Shape;179;p5"/>
          <p:cNvSpPr txBox="1"/>
          <p:nvPr/>
        </p:nvSpPr>
        <p:spPr>
          <a:xfrm>
            <a:off x="914400" y="487736"/>
            <a:ext cx="10315575" cy="1200288"/>
          </a:xfrm>
          <a:prstGeom prst="rect">
            <a:avLst/>
          </a:prstGeom>
          <a:noFill/>
          <a:ln>
            <a:noFill/>
          </a:ln>
        </p:spPr>
        <p:txBody>
          <a:bodyPr spcFirstLastPara="1" wrap="square" lIns="91425" tIns="45700" rIns="91425" bIns="45700" anchor="t" anchorCtr="0">
            <a:spAutoFit/>
          </a:bodyPr>
          <a:lstStyle/>
          <a:p>
            <a:pPr marL="914400" lvl="1"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Using the values determined in Parts A-C, represent the relationship of the amount of water in the tub, in gallons, with time, in minutes, on the coordinate grid. </a:t>
            </a:r>
          </a:p>
        </p:txBody>
      </p:sp>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150</a:t>
            </a:r>
            <a:endParaRPr lang="en-US"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69971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84313" y="1467716"/>
            <a:ext cx="1718917" cy="877525"/>
          </a:xfrm>
          <a:prstGeom prst="rect">
            <a:avLst/>
          </a:prstGeom>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65059" y="2264753"/>
            <a:ext cx="1576041" cy="879046"/>
          </a:xfrm>
          <a:prstGeom prst="rect">
            <a:avLst/>
          </a:prstGeom>
        </p:spPr>
      </p:pic>
      <p:sp>
        <p:nvSpPr>
          <p:cNvPr id="9" name="Google Shape;179;p5"/>
          <p:cNvSpPr txBox="1"/>
          <p:nvPr/>
        </p:nvSpPr>
        <p:spPr>
          <a:xfrm>
            <a:off x="914400" y="487736"/>
            <a:ext cx="10315575" cy="3477835"/>
          </a:xfrm>
          <a:prstGeom prst="rect">
            <a:avLst/>
          </a:prstGeom>
          <a:noFill/>
          <a:ln>
            <a:noFill/>
          </a:ln>
        </p:spPr>
        <p:txBody>
          <a:bodyPr spcFirstLastPara="1" wrap="square" lIns="91425" tIns="45700" rIns="91425" bIns="45700" anchor="t" anchorCtr="0">
            <a:spAutoFit/>
          </a:bodyPr>
          <a:lstStyle/>
          <a:p>
            <a:pPr marL="914400" lvl="1"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Connect the points plotted on the graph to create a ray.</a:t>
            </a:r>
          </a:p>
          <a:p>
            <a:pPr marL="914400" lvl="1"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lvl="1">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bathtub is filling up at a constant unit rate of ______  		    per</a:t>
            </a:r>
          </a:p>
          <a:p>
            <a:pPr marL="914400" lvl="1"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Place an X on the graph at the point that represents the unit rate described in Part F.</a:t>
            </a: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150</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17175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907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lang="en-US" sz="5100" b="1" dirty="0">
              <a:solidFill>
                <a:srgbClr val="54B5D1"/>
              </a:solidFill>
              <a:latin typeface="Verdana"/>
              <a:ea typeface="Verdana"/>
              <a:cs typeface="Verdana"/>
              <a:sym typeface="Verdana"/>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151</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56065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2827"/>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310640" y="160678"/>
            <a:ext cx="922851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11.1.3 Bring It Together: Graphs of Proportional Relationships</a:t>
            </a: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1141823" y="1386026"/>
                <a:ext cx="9971653" cy="4247317"/>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Each graph created in the Exploration represents a proportional relationship. Graphs representing proportional relationships have certain features in common.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to describe the common features of the graphs of proportional relationships.</a:t>
                </a:r>
              </a:p>
              <a:p>
                <a:pPr marL="914400" indent="-457200">
                  <a:lnSpc>
                    <a:spcPct val="250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Graphs of proportional relationships		       </a:t>
                </a: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origin </a:t>
                </a:r>
                <a14:m>
                  <m:oMath xmlns:m="http://schemas.openxmlformats.org/officeDocument/2006/math">
                    <m:d>
                      <m:dPr>
                        <m:ctrlPr>
                          <a:rPr lang="en-US" sz="2000" i="1">
                            <a:latin typeface="Cambria Math"/>
                            <a:ea typeface="Verdana" panose="020B0604030504040204" pitchFamily="34" charset="0"/>
                            <a:cs typeface="Verdana" panose="020B0604030504040204" pitchFamily="34" charset="0"/>
                          </a:rPr>
                        </m:ctrlPr>
                      </m:dPr>
                      <m:e>
                        <m:r>
                          <a:rPr lang="en-US" sz="2000" i="1">
                            <a:latin typeface="Cambria Math" panose="02040503050406030204" pitchFamily="18" charset="0"/>
                            <a:ea typeface="Verdana" panose="020B0604030504040204" pitchFamily="34" charset="0"/>
                            <a:cs typeface="Verdana" panose="020B0604030504040204" pitchFamily="34" charset="0"/>
                          </a:rPr>
                          <m:t>0, 0</m:t>
                        </m:r>
                      </m:e>
                    </m:d>
                  </m:oMath>
                </a14:m>
                <a:r>
                  <a:rPr lang="en-US" sz="2000" dirty="0">
                    <a:latin typeface="Verdana" panose="020B0604030504040204" pitchFamily="34" charset="0"/>
                    <a:ea typeface="Verdana" panose="020B0604030504040204" pitchFamily="34" charset="0"/>
                    <a:cs typeface="Verdana" panose="020B0604030504040204" pitchFamily="34" charset="0"/>
                  </a:rPr>
                  <a:t>, because when the value of one quantity equals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the value of the other quantity </a:t>
                </a:r>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equal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1141823" y="1386026"/>
                <a:ext cx="9971653" cy="4247317"/>
              </a:xfrm>
              <a:prstGeom prst="rect">
                <a:avLst/>
              </a:prstGeom>
              <a:blipFill rotWithShape="1">
                <a:blip r:embed="rId3"/>
                <a:stretch>
                  <a:fillRect l="-611" t="-717"/>
                </a:stretch>
              </a:blipFill>
            </p:spPr>
            <p:txBody>
              <a:bodyPr/>
              <a:lstStyle/>
              <a:p>
                <a:r>
                  <a:rPr lang="en-US">
                    <a:noFill/>
                  </a:rPr>
                  <a:t> </a:t>
                </a:r>
              </a:p>
            </p:txBody>
          </p:sp>
        </mc:Fallback>
      </mc:AlternateContent>
      <p:pic>
        <p:nvPicPr>
          <p:cNvPr id="10" name="Picture 2" descr="Icon&#10;&#10;Description automatically generated">
            <a:extLst>
              <a:ext uri="{FF2B5EF4-FFF2-40B4-BE49-F238E27FC236}">
                <a16:creationId xmlns="" xmlns:a16="http://schemas.microsoft.com/office/drawing/2014/main" id="{821E6401-0F72-0C44-A2BB-6CDA2AEE49EA}"/>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27511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55977" y="3340817"/>
            <a:ext cx="2195323" cy="786384"/>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602509" y="4854737"/>
            <a:ext cx="1491701" cy="816706"/>
          </a:xfrm>
          <a:prstGeom prst="rect">
            <a:avLst/>
          </a:prstGeom>
        </p:spPr>
      </p:pic>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151</a:t>
            </a:r>
            <a:endParaRPr lang="en-US" i="1" dirty="0">
              <a:latin typeface="Calibri"/>
              <a:ea typeface="Calibri"/>
              <a:cs typeface="Calibri"/>
              <a:sym typeface="Calibri"/>
            </a:endParaRPr>
          </a:p>
        </p:txBody>
      </p:sp>
      <p:pic>
        <p:nvPicPr>
          <p:cNvPr id="13"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99856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08C1C0E-C7C0-F14B-88E2-57B6133AD69D}"/>
                  </a:ext>
                </a:extLst>
              </p:cNvPr>
              <p:cNvSpPr txBox="1"/>
              <p:nvPr/>
            </p:nvSpPr>
            <p:spPr>
              <a:xfrm>
                <a:off x="1166075" y="505388"/>
                <a:ext cx="10105292" cy="4708981"/>
              </a:xfrm>
              <a:prstGeom prst="rect">
                <a:avLst/>
              </a:prstGeom>
              <a:noFill/>
            </p:spPr>
            <p:txBody>
              <a:bodyPr wrap="square" rtlCol="0">
                <a:spAutoFit/>
              </a:bodyPr>
              <a:lstStyle/>
              <a:p>
                <a:pPr marL="914400" indent="-457200">
                  <a:lnSpc>
                    <a:spcPct val="250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Graphs of proportional relationships form a</a:t>
                </a:r>
              </a:p>
              <a:p>
                <a:pPr marL="914400" indent="-457200">
                  <a:lnSpc>
                    <a:spcPct val="250000"/>
                  </a:lnSpc>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250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A unit rate for the proportional relationship can be identified on the graph using </a:t>
                </a:r>
                <a:r>
                  <a:rPr lang="en-US" sz="2400" dirty="0" smtClean="0">
                    <a:latin typeface="Verdana" panose="020B0604030504040204" pitchFamily="34" charset="0"/>
                    <a:ea typeface="Verdana" panose="020B0604030504040204" pitchFamily="34" charset="0"/>
                    <a:cs typeface="Verdana" panose="020B0604030504040204" pitchFamily="34" charset="0"/>
                  </a:rPr>
                  <a:t>the            </a:t>
                </a:r>
                <a:r>
                  <a:rPr lang="en-US" sz="2400" dirty="0">
                    <a:latin typeface="Verdana" panose="020B0604030504040204" pitchFamily="34" charset="0"/>
                    <a:ea typeface="Verdana" panose="020B0604030504040204" pitchFamily="34" charset="0"/>
                    <a:cs typeface="Verdana" panose="020B0604030504040204" pitchFamily="34" charset="0"/>
                  </a:rPr>
                  <a:t>of </a:t>
                </a:r>
                <a:r>
                  <a:rPr lang="en-US" sz="2400" dirty="0" smtClean="0">
                    <a:latin typeface="Verdana" panose="020B0604030504040204" pitchFamily="34" charset="0"/>
                    <a:ea typeface="Verdana" panose="020B0604030504040204" pitchFamily="34" charset="0"/>
                    <a:cs typeface="Verdana" panose="020B0604030504040204" pitchFamily="34" charset="0"/>
                  </a:rPr>
                  <a:t> the </a:t>
                </a:r>
                <a:r>
                  <a:rPr lang="en-US" sz="2400" dirty="0">
                    <a:latin typeface="Verdana" panose="020B0604030504040204" pitchFamily="34" charset="0"/>
                    <a:ea typeface="Verdana" panose="020B0604030504040204" pitchFamily="34" charset="0"/>
                    <a:cs typeface="Verdana" panose="020B0604030504040204" pitchFamily="34" charset="0"/>
                  </a:rPr>
                  <a:t>point where </a:t>
                </a:r>
                <a:r>
                  <a:rPr lang="en-US" sz="2400" dirty="0" smtClean="0">
                    <a:latin typeface="Verdana" panose="020B0604030504040204" pitchFamily="34" charset="0"/>
                    <a:ea typeface="Verdana" panose="020B0604030504040204" pitchFamily="34" charset="0"/>
                    <a:cs typeface="Verdana" panose="020B0604030504040204" pitchFamily="34" charset="0"/>
                  </a:rPr>
                  <a:t>the    </a:t>
                </a:r>
                <a:r>
                  <a:rPr lang="en-US" sz="24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a14="http://schemas.microsoft.com/office/drawing/2010/main" xmlns="" id="{A08C1C0E-C7C0-F14B-88E2-57B6133AD69D}"/>
                  </a:ext>
                </a:extLst>
              </p:cNvPr>
              <p:cNvSpPr txBox="1">
                <a:spLocks noRot="1" noChangeAspect="1" noMove="1" noResize="1" noEditPoints="1" noAdjustHandles="1" noChangeArrowheads="1" noChangeShapeType="1" noTextEdit="1"/>
              </p:cNvSpPr>
              <p:nvPr/>
            </p:nvSpPr>
            <p:spPr>
              <a:xfrm>
                <a:off x="1166075" y="505388"/>
                <a:ext cx="10105292" cy="4708981"/>
              </a:xfrm>
              <a:prstGeom prst="rect">
                <a:avLst/>
              </a:prstGeom>
              <a:blipFill rotWithShape="1">
                <a:blip r:embed="rId3"/>
                <a:stretch>
                  <a:fillRect/>
                </a:stretch>
              </a:blipFill>
            </p:spPr>
            <p:txBody>
              <a:bodyPr/>
              <a:lstStyle/>
              <a:p>
                <a:r>
                  <a:rPr lang="en-US">
                    <a:noFill/>
                  </a:rPr>
                  <a:t> </a:t>
                </a:r>
              </a:p>
            </p:txBody>
          </p:sp>
        </mc:Fallback>
      </mc:AlternateContent>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33672" y="655589"/>
            <a:ext cx="1569632" cy="969607"/>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23676" y="3431298"/>
            <a:ext cx="1567235" cy="877812"/>
          </a:xfrm>
          <a:prstGeom prst="rect">
            <a:avLst/>
          </a:prstGeom>
        </p:spPr>
      </p:pic>
      <p:pic>
        <p:nvPicPr>
          <p:cNvPr id="9" name="Picture 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795917" y="4356735"/>
            <a:ext cx="1567235" cy="877812"/>
          </a:xfrm>
          <a:prstGeom prst="rect">
            <a:avLst/>
          </a:prstGeom>
        </p:spPr>
      </p:pic>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151</a:t>
            </a:r>
            <a:endParaRPr lang="en-US"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72273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151</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2"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77146719"/>
                  </p:ext>
                </p:extLst>
              </p:nvPr>
            </p:nvGraphicFramePr>
            <p:xfrm>
              <a:off x="2884365" y="3914599"/>
              <a:ext cx="6258769" cy="2286000"/>
            </p:xfrm>
            <a:graphic>
              <a:graphicData uri="http://schemas.openxmlformats.org/drawingml/2006/table">
                <a:tbl>
                  <a:tblPr firstRow="1" firstCol="1" bandRow="1">
                    <a:tableStyleId>{5940675A-B579-460E-94D1-54222C63F5DA}</a:tableStyleId>
                  </a:tblPr>
                  <a:tblGrid>
                    <a:gridCol w="2647780">
                      <a:extLst>
                        <a:ext uri="{9D8B030D-6E8A-4147-A177-3AD203B41FA5}">
                          <a16:colId xmlns="" xmlns:a16="http://schemas.microsoft.com/office/drawing/2014/main" val="20000"/>
                        </a:ext>
                      </a:extLst>
                    </a:gridCol>
                    <a:gridCol w="3610989">
                      <a:extLst>
                        <a:ext uri="{9D8B030D-6E8A-4147-A177-3AD203B41FA5}">
                          <a16:colId xmlns="" xmlns:a16="http://schemas.microsoft.com/office/drawing/2014/main" val="2000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Days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Garbage per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Person </a:t>
                          </a:r>
                          <a:r>
                            <a:rPr lang="en-US" sz="2000" b="1" dirty="0">
                              <a:effectLst/>
                              <a:latin typeface="Verdana" panose="020B0604030504040204" pitchFamily="34" charset="0"/>
                              <a:ea typeface="Verdana" panose="020B0604030504040204" pitchFamily="34" charset="0"/>
                              <a:cs typeface="Verdana" panose="020B0604030504040204" pitchFamily="34" charset="0"/>
                            </a:rPr>
                            <a:t>(</a:t>
                          </a:r>
                          <a:r>
                            <a:rPr lang="en-US" sz="2000" b="1" dirty="0" err="1">
                              <a:effectLst/>
                              <a:latin typeface="Verdana" panose="020B0604030504040204" pitchFamily="34" charset="0"/>
                              <a:ea typeface="Verdana" panose="020B0604030504040204" pitchFamily="34" charset="0"/>
                              <a:cs typeface="Verdana" panose="020B0604030504040204" pitchFamily="34" charset="0"/>
                            </a:rPr>
                            <a:t>lb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4.4</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19.8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77146719"/>
                  </p:ext>
                </p:extLst>
              </p:nvPr>
            </p:nvGraphicFramePr>
            <p:xfrm>
              <a:off x="2884365" y="3914599"/>
              <a:ext cx="6258769" cy="2286000"/>
            </p:xfrm>
            <a:graphic>
              <a:graphicData uri="http://schemas.openxmlformats.org/drawingml/2006/table">
                <a:tbl>
                  <a:tblPr firstRow="1" firstCol="1" bandRow="1">
                    <a:tableStyleId>{5940675A-B579-460E-94D1-54222C63F5DA}</a:tableStyleId>
                  </a:tblPr>
                  <a:tblGrid>
                    <a:gridCol w="2647780">
                      <a:extLst>
                        <a:ext uri="{9D8B030D-6E8A-4147-A177-3AD203B41FA5}">
                          <a16:colId xmlns:a16="http://schemas.microsoft.com/office/drawing/2014/main" xmlns:a14="http://schemas.microsoft.com/office/drawing/2010/main" xmlns="" val="20000"/>
                        </a:ext>
                      </a:extLst>
                    </a:gridCol>
                    <a:gridCol w="3610989">
                      <a:extLst>
                        <a:ext uri="{9D8B030D-6E8A-4147-A177-3AD203B41FA5}">
                          <a16:colId xmlns:a16="http://schemas.microsoft.com/office/drawing/2014/main" xmlns:a14="http://schemas.microsoft.com/office/drawing/2010/main" xmlns="" val="2000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Days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Garbage per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Person </a:t>
                          </a:r>
                          <a:r>
                            <a:rPr lang="en-US" sz="2000" b="1" dirty="0">
                              <a:effectLst/>
                              <a:latin typeface="Verdana" panose="020B0604030504040204" pitchFamily="34" charset="0"/>
                              <a:ea typeface="Verdana" panose="020B0604030504040204" pitchFamily="34" charset="0"/>
                              <a:cs typeface="Verdana" panose="020B0604030504040204" pitchFamily="34" charset="0"/>
                            </a:rPr>
                            <a:t>(</a:t>
                          </a:r>
                          <a:r>
                            <a:rPr lang="en-US" sz="2000" b="1" dirty="0" err="1">
                              <a:effectLst/>
                              <a:latin typeface="Verdana" panose="020B0604030504040204" pitchFamily="34" charset="0"/>
                              <a:ea typeface="Verdana" panose="020B0604030504040204" pitchFamily="34" charset="0"/>
                              <a:cs typeface="Verdana" panose="020B0604030504040204" pitchFamily="34" charset="0"/>
                            </a:rPr>
                            <a:t>lb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0000" r="-136636" b="-30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3187" t="-100000" b="-301333"/>
                          </a:stretch>
                        </a:blipFill>
                      </a:tcPr>
                    </a:tc>
                    <a:extLst>
                      <a:ext uri="{0D108BD9-81ED-4DB2-BD59-A6C34878D82A}">
                        <a16:rowId xmlns:a16="http://schemas.microsoft.com/office/drawing/2014/main" xmlns:a14="http://schemas.microsoft.com/office/drawing/2010/main" xmlns="" val="10001"/>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00000" r="-136636" b="-20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3187" t="-200000" b="-201333"/>
                          </a:stretch>
                        </a:blipFill>
                      </a:tcPr>
                    </a:tc>
                    <a:extLst>
                      <a:ext uri="{0D108BD9-81ED-4DB2-BD59-A6C34878D82A}">
                        <a16:rowId xmlns:a16="http://schemas.microsoft.com/office/drawing/2014/main" xmlns:a14="http://schemas.microsoft.com/office/drawing/2010/main" xmlns="" val="10002"/>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00000" r="-136636" b="-10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3187" t="-300000" b="-101333"/>
                          </a:stretch>
                        </a:blipFill>
                      </a:tcPr>
                    </a:tc>
                    <a:extLst>
                      <a:ext uri="{0D108BD9-81ED-4DB2-BD59-A6C34878D82A}">
                        <a16:rowId xmlns:a16="http://schemas.microsoft.com/office/drawing/2014/main" xmlns:a14="http://schemas.microsoft.com/office/drawing/2010/main" xmlns="" val="10003"/>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400000" r="-136636" b="-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3187" t="-400000" b="-1333"/>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10"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151</a:t>
            </a:r>
            <a:endParaRPr i="1" dirty="0">
              <a:latin typeface="Calibri"/>
              <a:ea typeface="Calibri"/>
              <a:cs typeface="Calibri"/>
              <a:sym typeface="Calibri"/>
            </a:endParaRPr>
          </a:p>
        </p:txBody>
      </p:sp>
      <p:sp>
        <p:nvSpPr>
          <p:cNvPr id="11"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11.1.4 Wrap-Up: Ticket Out the Door</a:t>
            </a:r>
          </a:p>
        </p:txBody>
      </p:sp>
      <p:pic>
        <p:nvPicPr>
          <p:cNvPr id="13"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0370EDB7-6994-3D43-ABF9-E04CBAFB9CD9}"/>
                  </a:ext>
                </a:extLst>
              </p:cNvPr>
              <p:cNvSpPr txBox="1"/>
              <p:nvPr/>
            </p:nvSpPr>
            <p:spPr>
              <a:xfrm>
                <a:off x="914400" y="1386026"/>
                <a:ext cx="10448925"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Environmental Protection Agency (EPA) estimated that in 2013, the average amount of garbage produced in the U.S. was </a:t>
                </a:r>
                <a14:m>
                  <m:oMath xmlns:m="http://schemas.openxmlformats.org/officeDocument/2006/math">
                    <m:r>
                      <a:rPr lang="en-US" sz="2000" i="1">
                        <a:latin typeface="Cambria Math" panose="02040503050406030204" pitchFamily="18" charset="0"/>
                        <a:ea typeface="Cambria Math" panose="02040503050406030204" pitchFamily="18" charset="0"/>
                      </a:rPr>
                      <m:t>4.4</m:t>
                    </m:r>
                  </m:oMath>
                </a14:m>
                <a:r>
                  <a:rPr lang="en-US" sz="2000" dirty="0">
                    <a:latin typeface="Verdana" panose="020B0604030504040204" pitchFamily="34" charset="0"/>
                    <a:ea typeface="Verdana" panose="020B0604030504040204" pitchFamily="34" charset="0"/>
                    <a:cs typeface="Verdana" panose="020B0604030504040204" pitchFamily="34" charset="0"/>
                  </a:rPr>
                  <a:t> pounds (</a:t>
                </a:r>
                <a:r>
                  <a:rPr lang="en-US" sz="2000" dirty="0" err="1">
                    <a:latin typeface="Verdana" panose="020B0604030504040204" pitchFamily="34" charset="0"/>
                    <a:ea typeface="Verdana" panose="020B0604030504040204" pitchFamily="34" charset="0"/>
                    <a:cs typeface="Verdana" panose="020B0604030504040204" pitchFamily="34" charset="0"/>
                  </a:rPr>
                  <a:t>lb</a:t>
                </a:r>
                <a:r>
                  <a:rPr lang="en-US" sz="2000" dirty="0">
                    <a:latin typeface="Verdana" panose="020B0604030504040204" pitchFamily="34" charset="0"/>
                    <a:ea typeface="Verdana" panose="020B0604030504040204" pitchFamily="34" charset="0"/>
                    <a:cs typeface="Verdana" panose="020B0604030504040204" pitchFamily="34" charset="0"/>
                  </a:rPr>
                  <a:t>) per person per day.</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65138"/>
                <a:r>
                  <a:rPr lang="en-US" sz="2000" dirty="0">
                    <a:latin typeface="Verdana" panose="020B0604030504040204" pitchFamily="34" charset="0"/>
                    <a:ea typeface="Verdana" panose="020B0604030504040204" pitchFamily="34" charset="0"/>
                    <a:cs typeface="Verdana" panose="020B0604030504040204" pitchFamily="34" charset="0"/>
                  </a:rPr>
                  <a:t>The table of values represents the proportional relationship between the amount of garbage produced in the U.S., in pounds, per person, with time, in days.</a:t>
                </a:r>
              </a:p>
            </p:txBody>
          </p:sp>
        </mc:Choice>
        <mc:Fallback xmlns="">
          <p:sp>
            <p:nvSpPr>
              <p:cNvPr id="14" name="TextBox 13">
                <a:extLst>
                  <a:ext uri="{FF2B5EF4-FFF2-40B4-BE49-F238E27FC236}">
                    <a16:creationId xmlns=""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914400" y="1386026"/>
                <a:ext cx="10448925" cy="2246769"/>
              </a:xfrm>
              <a:prstGeom prst="rect">
                <a:avLst/>
              </a:prstGeom>
              <a:blipFill rotWithShape="1">
                <a:blip r:embed="rId6"/>
                <a:stretch>
                  <a:fillRect l="-583" t="-1626" b="-3794"/>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 name="Group 1"/>
          <p:cNvGrpSpPr/>
          <p:nvPr/>
        </p:nvGrpSpPr>
        <p:grpSpPr>
          <a:xfrm>
            <a:off x="3667765" y="1133745"/>
            <a:ext cx="4808843" cy="5493244"/>
            <a:chOff x="2866576" y="1028970"/>
            <a:chExt cx="4808843" cy="5493244"/>
          </a:xfrm>
        </p:grpSpPr>
        <p:pic>
          <p:nvPicPr>
            <p:cNvPr id="6" name="Picture 5" descr="Chart, line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423459" y="1038117"/>
              <a:ext cx="4251960" cy="4978111"/>
            </a:xfrm>
            <a:prstGeom prst="rect">
              <a:avLst/>
            </a:prstGeom>
          </p:spPr>
        </p:pic>
        <p:sp>
          <p:nvSpPr>
            <p:cNvPr id="7" name="Text Box 37"/>
            <p:cNvSpPr txBox="1"/>
            <p:nvPr/>
          </p:nvSpPr>
          <p:spPr>
            <a:xfrm>
              <a:off x="4765964" y="6113909"/>
              <a:ext cx="2327563" cy="4083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Time (days)</a:t>
              </a:r>
              <a:endParaRPr lang="en-US" sz="18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Text Box 38"/>
            <p:cNvSpPr txBox="1"/>
            <p:nvPr/>
          </p:nvSpPr>
          <p:spPr>
            <a:xfrm rot="16200000">
              <a:off x="676461" y="3219085"/>
              <a:ext cx="4791710" cy="4114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Garbage Produced per Person (</a:t>
              </a:r>
              <a:r>
                <a:rPr lang="en-US" sz="1800" b="1" dirty="0" err="1">
                  <a:latin typeface="Verdana" panose="020B0604030504040204" pitchFamily="34" charset="0"/>
                  <a:ea typeface="Times New Roman" panose="02020603050405020304" pitchFamily="18" charset="0"/>
                  <a:cs typeface="Times New Roman" panose="02020603050405020304" pitchFamily="18" charset="0"/>
                </a:rPr>
                <a:t>lb</a:t>
              </a:r>
              <a:r>
                <a:rPr lang="en-US" sz="1800" b="1" dirty="0">
                  <a:latin typeface="Verdana" panose="020B0604030504040204" pitchFamily="34" charset="0"/>
                  <a:ea typeface="Times New Roman" panose="02020603050405020304" pitchFamily="18" charset="0"/>
                  <a:cs typeface="Times New Roman" panose="02020603050405020304" pitchFamily="18" charset="0"/>
                </a:rPr>
                <a: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0" name="Google Shape;179;p5"/>
          <p:cNvSpPr txBox="1"/>
          <p:nvPr/>
        </p:nvSpPr>
        <p:spPr>
          <a:xfrm>
            <a:off x="914400" y="487736"/>
            <a:ext cx="10315575" cy="461624"/>
          </a:xfrm>
          <a:prstGeom prst="rect">
            <a:avLst/>
          </a:prstGeom>
          <a:noFill/>
          <a:ln>
            <a:noFill/>
          </a:ln>
        </p:spPr>
        <p:txBody>
          <a:bodyPr spcFirstLastPara="1" wrap="square" lIns="91425" tIns="45700" rIns="91425" bIns="45700" anchor="t" anchorCtr="0">
            <a:spAutoFit/>
          </a:bodyPr>
          <a:lstStyle/>
          <a:p>
            <a:pPr marL="465138"/>
            <a:r>
              <a:rPr lang="en-US" sz="2400" dirty="0">
                <a:latin typeface="Verdana" panose="020B0604030504040204" pitchFamily="34" charset="0"/>
                <a:ea typeface="Verdana" panose="020B0604030504040204" pitchFamily="34" charset="0"/>
                <a:cs typeface="Verdana" panose="020B0604030504040204" pitchFamily="34" charset="0"/>
              </a:rPr>
              <a:t>Graph this proportional relationship.</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151</a:t>
            </a:r>
            <a:endParaRPr i="1" dirty="0">
              <a:latin typeface="Calibri"/>
              <a:ea typeface="Calibri"/>
              <a:cs typeface="Calibri"/>
              <a:sym typeface="Calibri"/>
            </a:endParaRPr>
          </a:p>
        </p:txBody>
      </p:sp>
      <p:sp>
        <p:nvSpPr>
          <p:cNvPr id="13"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1420</TotalTime>
  <Words>876</Words>
  <Application>Microsoft Office PowerPoint</Application>
  <PresentationFormat>Custom</PresentationFormat>
  <Paragraphs>191</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Times New Roman</vt:lpstr>
      <vt:lpstr>Century Gothic</vt:lpstr>
      <vt:lpstr>Wingdings</vt:lpstr>
      <vt:lpstr>Cambria Math</vt:lpstr>
      <vt:lpstr>Cambria</vt:lpstr>
      <vt:lpstr>Arial Black</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39</cp:revision>
  <dcterms:created xsi:type="dcterms:W3CDTF">2015-03-17T18:51:18Z</dcterms:created>
  <dcterms:modified xsi:type="dcterms:W3CDTF">2022-06-11T09:52:25Z</dcterms:modified>
</cp:coreProperties>
</file>