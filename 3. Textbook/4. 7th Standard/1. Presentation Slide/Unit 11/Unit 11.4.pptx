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85" r:id="rId7"/>
    <p:sldId id="286" r:id="rId8"/>
    <p:sldId id="261" r:id="rId9"/>
    <p:sldId id="287" r:id="rId10"/>
    <p:sldId id="288" r:id="rId11"/>
    <p:sldId id="317" r:id="rId12"/>
    <p:sldId id="318" r:id="rId13"/>
    <p:sldId id="319" r:id="rId14"/>
    <p:sldId id="332" r:id="rId15"/>
    <p:sldId id="333" r:id="rId16"/>
    <p:sldId id="334" r:id="rId17"/>
    <p:sldId id="329" r:id="rId18"/>
    <p:sldId id="330" r:id="rId19"/>
    <p:sldId id="302" r:id="rId20"/>
    <p:sldId id="303" r:id="rId21"/>
    <p:sldId id="309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6301" autoAdjust="0"/>
    <p:restoredTop sz="94674"/>
  </p:normalViewPr>
  <p:slideViewPr>
    <p:cSldViewPr snapToGrid="0">
      <p:cViewPr varScale="1">
        <p:scale>
          <a:sx n="61" d="100"/>
          <a:sy n="61" d="100"/>
        </p:scale>
        <p:origin x="84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3564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4531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187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597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4952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161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5193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tiff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4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Features of Proportional Relationships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164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quantities have a proportional relationship by examining a table, graph, or written description.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pic>
        <p:nvPicPr>
          <p:cNvPr id="12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8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two quantities have a proportional relationship.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tables and graphs that represent the same relationship between two quantities in a real-world context.</a:t>
            </a:r>
          </a:p>
        </p:txBody>
      </p:sp>
      <p:pic>
        <p:nvPicPr>
          <p:cNvPr id="15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11.4.1 Warm-Up: Notice and Wonder</a:t>
            </a:r>
          </a:p>
        </p:txBody>
      </p:sp>
      <p:pic>
        <p:nvPicPr>
          <p:cNvPr id="12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170;p4"/>
              <p:cNvSpPr txBox="1"/>
              <p:nvPr/>
            </p:nvSpPr>
            <p:spPr>
              <a:xfrm>
                <a:off x="914400" y="1386026"/>
                <a:ext cx="10713750" cy="1200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graphs below show the cost,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 of buying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pounds of fruit. One graph shows the cost of buying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pounds of peaches, and the other shows the cost of buying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pounds of plums.</a:t>
                </a:r>
              </a:p>
            </p:txBody>
          </p:sp>
        </mc:Choice>
        <mc:Fallback xmlns="">
          <p:sp>
            <p:nvSpPr>
              <p:cNvPr id="14" name="Google Shape;170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713750" cy="1200288"/>
              </a:xfrm>
              <a:prstGeom prst="rect">
                <a:avLst/>
              </a:prstGeom>
              <a:blipFill rotWithShape="1">
                <a:blip r:embed="rId5"/>
                <a:stretch>
                  <a:fillRect l="-910" t="-4569" r="-1308" b="-10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D4A69A36-4BA2-3540-B101-655F7190658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520" t="25038" r="34307" b="44903"/>
          <a:stretch/>
        </p:blipFill>
        <p:spPr bwMode="auto">
          <a:xfrm>
            <a:off x="3758785" y="2586314"/>
            <a:ext cx="4161769" cy="38402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79;p5"/>
          <p:cNvSpPr txBox="1"/>
          <p:nvPr/>
        </p:nvSpPr>
        <p:spPr>
          <a:xfrm>
            <a:off x="914400" y="487736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After looking at the relationships graphed, complete the table with one thing you notice and one thing you wonder.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fruit you think costs more per pound.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81031"/>
              </p:ext>
            </p:extLst>
          </p:nvPr>
        </p:nvGraphicFramePr>
        <p:xfrm>
          <a:off x="2466501" y="1600235"/>
          <a:ext cx="7274567" cy="25659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4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89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 thing I notice is…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 thing I wonder is…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8082">
                <a:tc>
                  <a:txBody>
                    <a:bodyPr/>
                    <a:lstStyle/>
                    <a:p>
                      <a:pPr marL="0" marR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467458"/>
                  </p:ext>
                </p:extLst>
              </p:nvPr>
            </p:nvGraphicFramePr>
            <p:xfrm>
              <a:off x="1944921" y="3670643"/>
              <a:ext cx="8595360" cy="235934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1264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439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813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T-shirts are priced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each at a store. There is a sale posted that says, “Buy two T-shirts, get the second one half-price.”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table and graph show the total cost,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T-shirts.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467458"/>
                  </p:ext>
                </p:extLst>
              </p:nvPr>
            </p:nvGraphicFramePr>
            <p:xfrm>
              <a:off x="1944921" y="3670643"/>
              <a:ext cx="8595360" cy="235934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1264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439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6415" r="-40398" b="-6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280626"/>
            <a:ext cx="801964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11.4.2 Activity: Card Sort</a:t>
            </a:r>
          </a:p>
        </p:txBody>
      </p:sp>
      <p:pic>
        <p:nvPicPr>
          <p:cNvPr id="13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320;p19"/>
          <p:cNvSpPr txBox="1"/>
          <p:nvPr/>
        </p:nvSpPr>
        <p:spPr>
          <a:xfrm>
            <a:off x="914400" y="1330237"/>
            <a:ext cx="985837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scenarios are described in the chart. Your teacher will give you two sets of cards showing tables and graphs.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match a table of values and graph to each scenario. Write the matching table number and letter of the graph in the chart.</a:t>
            </a:r>
          </a:p>
        </p:txBody>
      </p:sp>
      <p:pic>
        <p:nvPicPr>
          <p:cNvPr id="17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23288"/>
                  </p:ext>
                </p:extLst>
              </p:nvPr>
            </p:nvGraphicFramePr>
            <p:xfrm>
              <a:off x="2073783" y="339330"/>
              <a:ext cx="8595360" cy="6339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1264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movie streaming service costs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$8.49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each month. The table and graph show the total cost,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months of the subscription.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recipe uses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tablespoons of honey,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cups of flour,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Camping fees,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at Blue Springs State Park in Volusia, FL include a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$6.70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reservation fee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$24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night,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Rachel ran 6 laps in 18 minutes around the track at Riverview High School in Sarasota, FL. She notes the average number of minutes, 𝑦, that have passed after each lap, 𝑥.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6"/>
                          </a:pP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Kenneth is filling his fish tank with water </a:t>
                          </a:r>
                          <a:b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</a:b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at a flow rate of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1.6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gallons per minute. </a:t>
                          </a:r>
                          <a:b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</a:b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The table and graph show the number of gallons of water,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𝑦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, after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𝑥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minutes.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23288"/>
                  </p:ext>
                </p:extLst>
              </p:nvPr>
            </p:nvGraphicFramePr>
            <p:xfrm>
              <a:off x="2073783" y="339330"/>
              <a:ext cx="8595360" cy="6339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1264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" t="-72727" r="-40557" b="-47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" t="-247826" r="-40557" b="-57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" t="-240964" r="-405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Rachel ran 6 laps in 18 minutes around the track at Riverview High School in Sarasota, FL. She notes the average number of minutes, 𝑦, that have passed after each lap, 𝑥.</a:t>
                          </a: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6"/>
                          </a:pP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Kenneth is filling his fish tank with water </a:t>
                          </a:r>
                          <a:b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</a:b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at a flow rate of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1.6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gallons per minute. </a:t>
                          </a:r>
                          <a:b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</a:b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The table and graph show the number of gallons of water,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𝑦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, after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Cambria Math"/>
                            </a:rPr>
                            <a:t>𝑥 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221E1F"/>
                              </a:solidFill>
                              <a:latin typeface="Verdana"/>
                            </a:rPr>
                            <a:t>minutes.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179;p5"/>
              <p:cNvSpPr txBox="1"/>
              <p:nvPr/>
            </p:nvSpPr>
            <p:spPr>
              <a:xfrm>
                <a:off x="914400" y="487736"/>
                <a:ext cx="10515600" cy="5940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 using the words from the bank.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two quantities are in a proportional relationship, the graph will include the ___________________,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points on the graph will form a straight ___________________. The ___________________ pairs of the points on the graph match the pairs of values in the ___________________ representing the same relationship. The ordered pairs in a proportional relationship are ___________________ ratios. The value of the ratio is called the ___________________ of proportionality.</a:t>
                </a:r>
              </a:p>
            </p:txBody>
          </p:sp>
        </mc:Choice>
        <mc:Fallback xmlns="">
          <p:sp>
            <p:nvSpPr>
              <p:cNvPr id="12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5940047"/>
              </a:xfrm>
              <a:prstGeom prst="rect">
                <a:avLst/>
              </a:prstGeom>
              <a:blipFill rotWithShape="1">
                <a:blip r:embed="rId3"/>
                <a:stretch>
                  <a:fillRect l="-638" t="-616" r="-9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916" y="1058253"/>
            <a:ext cx="6930189" cy="1016291"/>
          </a:xfrm>
          <a:prstGeom prst="rect">
            <a:avLst/>
          </a:prstGeom>
        </p:spPr>
      </p:pic>
      <p:pic>
        <p:nvPicPr>
          <p:cNvPr id="10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7259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79;p5"/>
          <p:cNvSpPr txBox="1"/>
          <p:nvPr/>
        </p:nvSpPr>
        <p:spPr>
          <a:xfrm>
            <a:off x="914400" y="487736"/>
            <a:ext cx="105156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which scenarios from the card sort represent proportional relationships using the matching tables and graphs. Write the letter P next to the written description in the chart for each relationship that is proportional. 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Graph D and the context it represents to complete the following parts with your partner.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why, for this context, it makes sense that every point on the line shown is possible.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you think the graph representing this relationship will continue increasing every minute that passes.</a:t>
            </a:r>
          </a:p>
        </p:txBody>
      </p:sp>
    </p:spTree>
    <p:extLst>
      <p:ext uri="{BB962C8B-B14F-4D97-AF65-F5344CB8AC3E}">
        <p14:creationId xmlns:p14="http://schemas.microsoft.com/office/powerpoint/2010/main" val="276801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9;p5"/>
          <p:cNvSpPr txBox="1"/>
          <p:nvPr/>
        </p:nvSpPr>
        <p:spPr>
          <a:xfrm>
            <a:off x="914400" y="487736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Graph E and the table it matches to complete the following parts with your partner.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points on Graph E form a straight line, but the situation does not represent a proportional relationship. Explain why it does not represent a proportional relationship.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at least two ordered pairs from the table of values that matches Graph E to show why this relationship is not proportional.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585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1980370" y="1453683"/>
            <a:ext cx="7757850" cy="2498612"/>
            <a:chOff x="-438383" y="-36929"/>
            <a:chExt cx="7757850" cy="24988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Group 10"/>
            <p:cNvGrpSpPr/>
            <p:nvPr/>
          </p:nvGrpSpPr>
          <p:grpSpPr>
            <a:xfrm>
              <a:off x="-438383" y="-36929"/>
              <a:ext cx="7757850" cy="2498875"/>
              <a:chOff x="1592917" y="3370763"/>
              <a:chExt cx="7757850" cy="1085742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592917" y="3370763"/>
                <a:ext cx="7757850" cy="1085742"/>
                <a:chOff x="-438383" y="-16045"/>
                <a:chExt cx="7757850" cy="1085742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ounded Rectangle 16"/>
                    <p:cNvSpPr/>
                    <p:nvPr/>
                  </p:nvSpPr>
                  <p:spPr>
                    <a:xfrm>
                      <a:off x="-438383" y="-16045"/>
                      <a:ext cx="7757850" cy="1085742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spAutoFit/>
                    </a:bodyPr>
                    <a:lstStyle/>
                    <a:p>
                      <a:pPr marL="74295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Graphs representing proportional relationships have the following in common.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138238" indent="-342900">
                        <a:spcAft>
                          <a:spcPts val="1200"/>
                        </a:spcAft>
                        <a:buClr>
                          <a:srgbClr val="417DBF"/>
                        </a:buClr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points that satisfy the relationship lie on a straight line.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138238" indent="-342900">
                        <a:buClr>
                          <a:srgbClr val="417DBF"/>
                        </a:buClr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line they lie on passes through the origin,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(0, 0)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ounded Rectangle 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438383" y="-16045"/>
                      <a:ext cx="7757850" cy="1085742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3" name="image15.png" descr="Icon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08939" y="185445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/>
          <p:cNvGrpSpPr/>
          <p:nvPr/>
        </p:nvGrpSpPr>
        <p:grpSpPr>
          <a:xfrm>
            <a:off x="2005156" y="4150372"/>
            <a:ext cx="7733064" cy="2457365"/>
            <a:chOff x="-210530" y="-215254"/>
            <a:chExt cx="7733064" cy="2457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" name="Group 18"/>
            <p:cNvGrpSpPr/>
            <p:nvPr/>
          </p:nvGrpSpPr>
          <p:grpSpPr>
            <a:xfrm>
              <a:off x="-210530" y="-215254"/>
              <a:ext cx="7733064" cy="2457622"/>
              <a:chOff x="1820770" y="3293282"/>
              <a:chExt cx="7733064" cy="1067818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820770" y="3293282"/>
                <a:ext cx="7733064" cy="1067818"/>
                <a:chOff x="-210530" y="-93526"/>
                <a:chExt cx="7733064" cy="1067818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4" name="Rounded Rectangle 23"/>
                <p:cNvSpPr/>
                <p:nvPr/>
              </p:nvSpPr>
              <p:spPr>
                <a:xfrm>
                  <a:off x="-210530" y="-93526"/>
                  <a:ext cx="7733064" cy="106781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Tables representing proportional relationships have the following in common.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1143000" indent="-342900">
                    <a:spcAft>
                      <a:spcPts val="1200"/>
                    </a:spcAft>
                    <a:buClr>
                      <a:srgbClr val="417DBF"/>
                    </a:buClr>
                    <a:buFont typeface="Symbol" panose="05050102010706020507" pitchFamily="18" charset="2"/>
                    <a:buChar char=""/>
                    <a:tabLst>
                      <a:tab pos="1257300" algn="l"/>
                    </a:tabLs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Each row in the table shows a ratio of the two quantities in the relationship.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1143000" indent="-342900">
                    <a:buClr>
                      <a:srgbClr val="417DBF"/>
                    </a:buClr>
                    <a:buFont typeface="Symbol" panose="05050102010706020507" pitchFamily="18" charset="2"/>
                    <a:buChar char=""/>
                    <a:tabLst>
                      <a:tab pos="1257300" algn="l"/>
                    </a:tabLs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All of the ratios in the relationship are equivalent.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pic>
          <p:nvPicPr>
            <p:cNvPr id="20" name="image15.png" descr="Icon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3814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6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640" y="160678"/>
            <a:ext cx="922851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11.4.3 Bring It Together: Determining If a Relationship Is Proportional</a:t>
            </a:r>
          </a:p>
        </p:txBody>
      </p:sp>
      <p:pic>
        <p:nvPicPr>
          <p:cNvPr id="27" name="Picture 2" descr="Icon&#10;&#10;Description automatically generated">
            <a:extLst>
              <a:ext uri="{FF2B5EF4-FFF2-40B4-BE49-F238E27FC236}">
                <a16:creationId xmlns:a16="http://schemas.microsoft.com/office/drawing/2014/main" id="{821E6401-0F72-0C44-A2BB-6CDA2AEE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7511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oogle Shape;156;g104476d1465_1_39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914400" y="1233626"/>
            <a:ext cx="10515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graph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</a:t>
            </a:r>
          </a:p>
          <a:p>
            <a:pPr marL="914400">
              <a:lnSpc>
                <a:spcPct val="200000"/>
              </a:lnSpc>
            </a:pP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			     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proportional relationship between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quantities.</a:t>
            </a:r>
          </a:p>
          <a:p>
            <a:pPr marL="914400" indent="-449263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selection for Part A.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1572" y="2775868"/>
            <a:ext cx="2739942" cy="805336"/>
          </a:xfrm>
          <a:prstGeom prst="rect">
            <a:avLst/>
          </a:prstGeom>
        </p:spPr>
      </p:pic>
      <p:pic>
        <p:nvPicPr>
          <p:cNvPr id="11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11.4.4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3559" y="1233626"/>
            <a:ext cx="4477025" cy="278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131570" y="386281"/>
            <a:ext cx="99898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Fountain drinks at Wawa are priced by size. The volume in fluid ounces (fl. oz.) and price in dollars ($), before tax, for each size is shown in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</a:t>
            </a:r>
          </a:p>
          <a:p>
            <a:pPr marL="914400">
              <a:lnSpc>
                <a:spcPct val="200000"/>
              </a:lnSpc>
              <a:tabLst>
                <a:tab pos="5029200" algn="l"/>
              </a:tabLst>
            </a:pP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	a proportional relationship between two quantities.</a:t>
            </a:r>
          </a:p>
          <a:p>
            <a:pPr marL="914400" indent="-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selection for Part A.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215880"/>
                  </p:ext>
                </p:extLst>
              </p:nvPr>
            </p:nvGraphicFramePr>
            <p:xfrm>
              <a:off x="3246031" y="1629267"/>
              <a:ext cx="5760897" cy="7924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056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/>
                              <a:cs typeface="Helvetica Neue"/>
                            </a:rPr>
                            <a:t>Volume (fl. oz.)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/>
                              <a:cs typeface="Helvetica Neue"/>
                            </a:rPr>
                            <a:t>Cost ($)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1.49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1.89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215880"/>
                  </p:ext>
                </p:extLst>
              </p:nvPr>
            </p:nvGraphicFramePr>
            <p:xfrm>
              <a:off x="3246031" y="1629267"/>
              <a:ext cx="5760897" cy="7924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0564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1184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/>
                              <a:cs typeface="Helvetica Neue"/>
                            </a:rPr>
                            <a:t>Volume (fl. oz.)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4674" t="-7692" r="-199457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393" t="-7692" r="-100546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14130" t="-7692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/>
                              <a:cs typeface="Helvetica Neue"/>
                            </a:rPr>
                            <a:t>Cost ($)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4674" t="-107692" r="-199457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393" t="-107692" r="-10054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14130" t="-107692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3688" y="3758553"/>
            <a:ext cx="2739942" cy="805336"/>
          </a:xfrm>
          <a:prstGeom prst="rect">
            <a:avLst/>
          </a:prstGeom>
        </p:spPr>
      </p:pic>
      <p:pic>
        <p:nvPicPr>
          <p:cNvPr id="10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336" y="2535387"/>
            <a:ext cx="7036499" cy="3227190"/>
          </a:xfrm>
          <a:prstGeom prst="rect">
            <a:avLst/>
          </a:prstGeom>
        </p:spPr>
      </p:pic>
      <p:sp>
        <p:nvSpPr>
          <p:cNvPr id="11" name="Google Shape;468;p34"/>
          <p:cNvSpPr txBox="1"/>
          <p:nvPr/>
        </p:nvSpPr>
        <p:spPr>
          <a:xfrm>
            <a:off x="1142999" y="284833"/>
            <a:ext cx="940117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11.4.5 Wrap-Up: Cool Down</a:t>
            </a: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14400" y="1386025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friend is absent today and will need the notes from class. Write a quick note to help them understand how to determine if two quantities have a proportional relationship.</a:t>
            </a:r>
          </a:p>
        </p:txBody>
      </p:sp>
      <p:pic>
        <p:nvPicPr>
          <p:cNvPr id="15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1BFA20-DD60-448E-A08B-A05F22F9C9BC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F8EE68EF-8604-4163-BD3F-B5A4575952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FE9FE3-1471-4EBD-9E00-D031034C9D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1133</Words>
  <Application>Microsoft Office PowerPoint</Application>
  <PresentationFormat>Widescreen</PresentationFormat>
  <Paragraphs>162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Cambria Math</vt:lpstr>
      <vt:lpstr>Arial Black</vt:lpstr>
      <vt:lpstr>Verdana</vt:lpstr>
      <vt:lpstr>Symbol</vt:lpstr>
      <vt:lpstr>Cambria</vt:lpstr>
      <vt:lpstr>Wingdings</vt:lpstr>
      <vt:lpstr>Arial</vt:lpstr>
      <vt:lpstr>Calibri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35</cp:revision>
  <dcterms:created xsi:type="dcterms:W3CDTF">2015-03-17T18:51:18Z</dcterms:created>
  <dcterms:modified xsi:type="dcterms:W3CDTF">2023-06-30T08:04:03Z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