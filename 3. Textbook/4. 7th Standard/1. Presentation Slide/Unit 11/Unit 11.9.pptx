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32" r:id="rId9"/>
    <p:sldId id="333" r:id="rId10"/>
    <p:sldId id="334" r:id="rId11"/>
    <p:sldId id="311" r:id="rId12"/>
    <p:sldId id="312" r:id="rId13"/>
    <p:sldId id="335" r:id="rId14"/>
    <p:sldId id="313" r:id="rId15"/>
    <p:sldId id="336" r:id="rId16"/>
    <p:sldId id="338" r:id="rId17"/>
    <p:sldId id="337" r:id="rId18"/>
    <p:sldId id="329" r:id="rId19"/>
    <p:sldId id="330" r:id="rId20"/>
    <p:sldId id="331" r:id="rId21"/>
    <p:sldId id="314" r:id="rId22"/>
    <p:sldId id="315" r:id="rId23"/>
    <p:sldId id="316" r:id="rId24"/>
    <p:sldId id="339" r:id="rId25"/>
    <p:sldId id="306" r:id="rId26"/>
    <p:sldId id="307" r:id="rId27"/>
  </p:sldIdLst>
  <p:sldSz cx="12192000" cy="6858000"/>
  <p:notesSz cx="6858000" cy="9144000"/>
  <p:embeddedFontLst>
    <p:embeddedFont>
      <p:font typeface="Calibri" pitchFamily="34" charset="0"/>
      <p:regular r:id="rId29"/>
      <p:bold r:id="rId30"/>
      <p:italic r:id="rId31"/>
      <p:boldItalic r:id="rId32"/>
    </p:embeddedFont>
    <p:embeddedFont>
      <p:font typeface="Century Gothic" pitchFamily="34" charset="0"/>
      <p:regular r:id="rId33"/>
      <p:bold r:id="rId34"/>
      <p:italic r:id="rId35"/>
      <p:boldItalic r:id="rId36"/>
    </p:embeddedFont>
    <p:embeddedFont>
      <p:font typeface="Cambria Math" pitchFamily="18" charset="0"/>
      <p:regular r:id="rId37"/>
    </p:embeddedFont>
    <p:embeddedFont>
      <p:font typeface="Cambria" pitchFamily="18" charset="0"/>
      <p:regular r:id="rId38"/>
      <p:bold r:id="rId39"/>
      <p:italic r:id="rId40"/>
      <p:boldItalic r:id="rId41"/>
    </p:embeddedFont>
    <p:embeddedFont>
      <p:font typeface="Arial Black" pitchFamily="34" charset="0"/>
      <p:bold r:id="rId42"/>
    </p:embeddedFont>
    <p:embeddedFont>
      <p:font typeface="Verdana" pitchFamily="3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99C8"/>
    <a:srgbClr val="1F3165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6249" autoAdjust="0"/>
    <p:restoredTop sz="94737"/>
  </p:normalViewPr>
  <p:slideViewPr>
    <p:cSldViewPr snapToGrid="0">
      <p:cViewPr varScale="1">
        <p:scale>
          <a:sx n="68" d="100"/>
          <a:sy n="68" d="100"/>
        </p:scale>
        <p:origin x="-126" y="-10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915695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7171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5794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4102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597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72139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29041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79289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34144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82369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74402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06461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72798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7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if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=""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12701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Picture 7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61;g104476d1465_0_0"/>
          <p:cNvSpPr txBox="1">
            <a:spLocks/>
          </p:cNvSpPr>
          <p:nvPr/>
        </p:nvSpPr>
        <p:spPr>
          <a:xfrm>
            <a:off x="5695209" y="2054277"/>
            <a:ext cx="5220441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40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9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Revisiting Relationships in Circles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192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51917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  <a:buFont typeface="Century Gothic"/>
              <a:buNone/>
            </a:pPr>
            <a:r>
              <a:rPr lang="en-US" sz="47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41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37673" y="1600200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MA.7.GR.1.3</a:t>
            </a:r>
          </a:p>
          <a:p>
            <a:pPr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Explore the proportional relationship between circumferences and diameters of circles. Apply a formula for the </a:t>
            </a:r>
            <a:r>
              <a:rPr lang="en-US" sz="3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circumference </a:t>
            </a: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a circle to solve mathematical and real-world problems</a:t>
            </a:r>
            <a:r>
              <a:rPr lang="en-US" sz="3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indent="0">
              <a:buNone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SzPts val="1100"/>
              <a:buNone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MA.7.GR.1.4</a:t>
            </a:r>
          </a:p>
          <a:p>
            <a:pPr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Explore and apply a formula to find the area of a circle to solve mathematical and real-world problems.</a:t>
            </a: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  <p:pic>
        <p:nvPicPr>
          <p:cNvPr id="12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56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5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>
              <a:buSzPts val="523"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9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301;g103996e1364_0_16">
            <a:extLst>
              <a:ext uri="{FF2B5EF4-FFF2-40B4-BE49-F238E27FC236}">
                <a16:creationId xmlns=""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8371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Targets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" name="Google Shape;303;g103996e1364_0_16">
            <a:extLst>
              <a:ext uri="{FF2B5EF4-FFF2-40B4-BE49-F238E27FC236}">
                <a16:creationId xmlns=""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209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Google Shape;302;g103996e1364_0_16">
                <a:extLst>
                  <a:ext uri="{FF2B5EF4-FFF2-40B4-BE49-F238E27FC236}">
                    <a16:creationId xmlns:a16="http://schemas.microsoft.com/office/drawing/2014/main" xmlns="" id="{9B7C98EC-F13C-9146-B728-D7044DB424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7674" y="1600200"/>
                <a:ext cx="10800000" cy="420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571500" indent="-571500">
                  <a:buFont typeface="Wingdings" panose="05000000000000000000" pitchFamily="2" charset="2"/>
                  <a:buChar char="q"/>
                </a:pPr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find the circumference of a circle in terms of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32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571500" indent="-571500">
                  <a:buFont typeface="Wingdings" panose="05000000000000000000" pitchFamily="2" charset="2"/>
                  <a:buChar char="q"/>
                </a:pPr>
                <a:endParaRPr lang="en-US" sz="3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71500" indent="-571500">
                  <a:buFont typeface="Wingdings" panose="05000000000000000000" pitchFamily="2" charset="2"/>
                  <a:buChar char="q"/>
                </a:pPr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find the area of a circle in terms of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32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571500" indent="-571500">
                  <a:buFont typeface="Wingdings" panose="05000000000000000000" pitchFamily="2" charset="2"/>
                  <a:buChar char="q"/>
                </a:pPr>
                <a:endParaRPr lang="en-US" sz="3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71500" indent="-571500">
                  <a:buFont typeface="Wingdings" panose="05000000000000000000" pitchFamily="2" charset="2"/>
                  <a:buChar char="q"/>
                </a:pPr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relate proportional relationships to circles.</a:t>
                </a:r>
                <a:endParaRPr lang="en-US" sz="32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/>
                </a:endParaRPr>
              </a:p>
            </p:txBody>
          </p:sp>
        </mc:Choice>
        <mc:Fallback>
          <p:sp>
            <p:nvSpPr>
              <p:cNvPr id="19" name="Google Shape;302;g103996e1364_0_1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B7C98EC-F13C-9146-B728-D7044DB42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74" y="1600200"/>
                <a:ext cx="10800000" cy="4205700"/>
              </a:xfrm>
              <a:prstGeom prst="rect">
                <a:avLst/>
              </a:prstGeom>
              <a:blipFill rotWithShape="1">
                <a:blip r:embed="rId5"/>
                <a:stretch>
                  <a:fillRect l="-1242" t="-20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9373" y="4542435"/>
            <a:ext cx="2040890" cy="182880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9373" y="2632685"/>
            <a:ext cx="2037080" cy="1828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6026767"/>
                  </p:ext>
                </p:extLst>
              </p:nvPr>
            </p:nvGraphicFramePr>
            <p:xfrm>
              <a:off x="2060448" y="2124200"/>
              <a:ext cx="6949440" cy="429768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29184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4572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Screenshot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1920240">
                    <a:tc>
                      <a:txBody>
                        <a:bodyPr/>
                        <a:lstStyle/>
                        <a:p>
                          <a:pPr marL="4572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diameter,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𝐾𝐸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is wrapped around the circle starting at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ending at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1920240">
                    <a:tc>
                      <a:txBody>
                        <a:bodyPr/>
                        <a:lstStyle/>
                        <a:p>
                          <a:pPr marL="4572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diameter,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𝐾𝐸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is wrapped around the circle starting at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ending at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6026767"/>
                  </p:ext>
                </p:extLst>
              </p:nvPr>
            </p:nvGraphicFramePr>
            <p:xfrm>
              <a:off x="2060448" y="2124200"/>
              <a:ext cx="6949440" cy="429768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2918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4572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Screenshot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920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23810" r="-111111" b="-1003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4572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1920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23810" r="-111111" b="-3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4572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=""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803148" y="1184775"/>
                <a:ext cx="1052525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series of screenshots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shown. In each screenshot, the line segment and arc that are the same color have the same length.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148" y="1184775"/>
                <a:ext cx="10525252" cy="707886"/>
              </a:xfrm>
              <a:prstGeom prst="rect">
                <a:avLst/>
              </a:prstGeom>
              <a:blipFill rotWithShape="1">
                <a:blip r:embed="rId6"/>
                <a:stretch>
                  <a:fillRect l="-637" t="-431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167;p4"/>
          <p:cNvSpPr txBox="1"/>
          <p:nvPr/>
        </p:nvSpPr>
        <p:spPr>
          <a:xfrm>
            <a:off x="1143000" y="327420"/>
            <a:ext cx="105156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11.9.1 Warm-Up: Bell Work</a:t>
            </a:r>
          </a:p>
        </p:txBody>
      </p:sp>
      <p:pic>
        <p:nvPicPr>
          <p:cNvPr id="16" name="Google Shape;168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6616" y="24921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7" name="Google Shape;311;g104476d1465_1_39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5189462"/>
                  </p:ext>
                </p:extLst>
              </p:nvPr>
            </p:nvGraphicFramePr>
            <p:xfrm>
              <a:off x="2475057" y="816070"/>
              <a:ext cx="6949440" cy="460248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29184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4572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Screenshot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1920240">
                    <a:tc>
                      <a:txBody>
                        <a:bodyPr/>
                        <a:lstStyle/>
                        <a:p>
                          <a:pPr marL="4572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diameter,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𝐾𝐸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is wrapped around the circle starting at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ending at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1920240">
                    <a:tc>
                      <a:txBody>
                        <a:bodyPr/>
                        <a:lstStyle/>
                        <a:p>
                          <a:pPr marL="4572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small part of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’s circumference is shown between points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 </a:t>
                          </a:r>
                        </a:p>
                        <a:p>
                          <a:pPr marL="4572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4572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Its equivalent length is shown on the diameter.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5189462"/>
                  </p:ext>
                </p:extLst>
              </p:nvPr>
            </p:nvGraphicFramePr>
            <p:xfrm>
              <a:off x="2475057" y="816070"/>
              <a:ext cx="6949440" cy="460248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2918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4572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Screenshot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920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4127" r="-111296" b="-121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4572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2225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07123" r="-111296" b="-49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4572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17838" y="1321365"/>
            <a:ext cx="2041525" cy="182880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17837" y="3447610"/>
            <a:ext cx="2039620" cy="1828800"/>
          </a:xfrm>
          <a:prstGeom prst="rect">
            <a:avLst/>
          </a:prstGeom>
        </p:spPr>
      </p:pic>
      <p:pic>
        <p:nvPicPr>
          <p:cNvPr id="8" name="Google Shape;311;g104476d1465_1_39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2926186"/>
                  </p:ext>
                </p:extLst>
              </p:nvPr>
            </p:nvGraphicFramePr>
            <p:xfrm>
              <a:off x="2475057" y="816070"/>
              <a:ext cx="6949440" cy="29870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29184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4572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Screenshot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1920240">
                    <a:tc>
                      <a:txBody>
                        <a:bodyPr/>
                        <a:lstStyle/>
                        <a:p>
                          <a:pPr marL="4572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All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diameters are shown wrapped </a:t>
                          </a: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/>
                          </a:r>
                          <a:b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around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’s circumference, as well as the small amount of the circumference that is not a complete diameter.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2926186"/>
                  </p:ext>
                </p:extLst>
              </p:nvPr>
            </p:nvGraphicFramePr>
            <p:xfrm>
              <a:off x="2475057" y="816070"/>
              <a:ext cx="6949440" cy="29870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2918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4572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Screenshot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2529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8313" r="-111296" b="-4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4572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7990" marR="6799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0714" y="1596025"/>
            <a:ext cx="2032000" cy="1828800"/>
          </a:xfrm>
          <a:prstGeom prst="rect">
            <a:avLst/>
          </a:prstGeom>
        </p:spPr>
      </p:pic>
      <p:pic>
        <p:nvPicPr>
          <p:cNvPr id="10" name="Google Shape;311;g104476d1465_1_39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7891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28507" y="374090"/>
                <a:ext cx="10800000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 to describe the relationship shown in the series of screenshots of 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>
                  <a:lnSpc>
                    <a:spcPct val="250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		       of any circle is equal to the length of the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    times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approximately _____. The screenshots show the length of the		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is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same as the length of slightly more than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507" y="374090"/>
                <a:ext cx="10800000" cy="4893647"/>
              </a:xfrm>
              <a:prstGeom prst="rect">
                <a:avLst/>
              </a:prstGeom>
              <a:blipFill rotWithShape="1">
                <a:blip r:embed="rId3"/>
                <a:stretch>
                  <a:fillRect l="-903" t="-996" r="-90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33463" y="1632279"/>
            <a:ext cx="2322095" cy="8417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0956" y="3510469"/>
            <a:ext cx="2322095" cy="84175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165" y="2530310"/>
            <a:ext cx="1672389" cy="83046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0577" y="4398164"/>
            <a:ext cx="637562" cy="9638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5361" y="4427082"/>
            <a:ext cx="1684871" cy="765383"/>
          </a:xfrm>
          <a:prstGeom prst="rect">
            <a:avLst/>
          </a:prstGeom>
        </p:spPr>
      </p:pic>
      <p:sp>
        <p:nvSpPr>
          <p:cNvPr id="12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3" name="Google Shape;311;g104476d1465_1_39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7241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50388" y="392653"/>
            <a:ext cx="105906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part of the circumference that represents the small amount of the circumference that is not a complete diameter has an approximate length of ______.</a:t>
            </a:r>
          </a:p>
        </p:txBody>
      </p:sp>
      <p:pic>
        <p:nvPicPr>
          <p:cNvPr id="7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3273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313;g104476d1465_1_39"/>
          <p:cNvSpPr txBox="1">
            <a:spLocks/>
          </p:cNvSpPr>
          <p:nvPr/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44861" y="2850881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6742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781300" y="2472057"/>
            <a:ext cx="6629400" cy="1257301"/>
            <a:chOff x="2031300" y="3373600"/>
            <a:chExt cx="6629400" cy="13399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" name="Group 10"/>
            <p:cNvGrpSpPr/>
            <p:nvPr/>
          </p:nvGrpSpPr>
          <p:grpSpPr>
            <a:xfrm>
              <a:off x="2031300" y="3373600"/>
              <a:ext cx="6629400" cy="1339960"/>
              <a:chOff x="2031300" y="3373600"/>
              <a:chExt cx="6629400" cy="1339960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3" name="Group 12"/>
              <p:cNvGrpSpPr/>
              <p:nvPr/>
            </p:nvGrpSpPr>
            <p:grpSpPr>
              <a:xfrm>
                <a:off x="2031300" y="3373600"/>
                <a:ext cx="6629400" cy="1339960"/>
                <a:chOff x="0" y="0"/>
                <a:chExt cx="6629400" cy="1339960"/>
              </a:xfrm>
            </p:grpSpPr>
            <p:sp>
              <p:nvSpPr>
                <p:cNvPr id="14" name="Rectangle 13"/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ounded Rectangle 15"/>
                    <p:cNvSpPr/>
                    <p:nvPr/>
                  </p:nvSpPr>
                  <p:spPr>
                    <a:xfrm>
                      <a:off x="0" y="0"/>
                      <a:ext cx="6629400" cy="1339960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2EED5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800100">
                        <a:spcAft>
                          <a:spcPts val="1000"/>
                        </a:spcAft>
                      </a:pPr>
                      <a:r>
                        <a:rPr lang="en-US" sz="2000" b="1" i="1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Area of a Circle</a:t>
                      </a:r>
                      <a:r>
                        <a:rPr lang="en-US" sz="2000" b="1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, </a:t>
                      </a:r>
                      <a14:m>
                        <m:oMath xmlns:m="http://schemas.openxmlformats.org/officeDocument/2006/math">
                          <m:r>
                            <a:rPr lang="en-US" sz="2000" b="1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m:t>𝑨</m:t>
                          </m:r>
                        </m:oMath>
                      </a14:m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800100">
                        <a:spcAft>
                          <a:spcPts val="1000"/>
                        </a:spcAft>
                      </a:pP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m:t>𝐴</m:t>
                          </m:r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m:t>=</m:t>
                          </m:r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/>
                                  <a:ea typeface="Cambria Math" panose="02040503050406030204" pitchFamily="18" charset="0"/>
                                  <a:cs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erdana" panose="020B0604030504040204" pitchFamily="3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oMath>
                      </a14:m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, where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m:t>𝑟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is the radius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ounded Rectangle 15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0" y="0"/>
                      <a:ext cx="6629400" cy="1339960"/>
                    </a:xfrm>
                    <a:prstGeom prst="roundRect">
                      <a:avLst>
                        <a:gd name="adj" fmla="val 16667"/>
                      </a:avLst>
                    </a:prstGeom>
                    <a:blipFill rotWithShape="0">
                      <a:blip r:embed="rId5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17" name="Shape 7" descr="Icon&#10;&#10;Description automatically generated"/>
                <p:cNvPicPr preferRelativeResize="0"/>
                <p:nvPr/>
              </p:nvPicPr>
              <p:blipFill rotWithShape="1">
                <a:blip r:embed="rId6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231851" y="191807"/>
                  <a:ext cx="539750" cy="53975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  <p:grpSp>
        <p:nvGrpSpPr>
          <p:cNvPr id="18" name="Group 17"/>
          <p:cNvGrpSpPr/>
          <p:nvPr/>
        </p:nvGrpSpPr>
        <p:grpSpPr>
          <a:xfrm>
            <a:off x="2781300" y="4198069"/>
            <a:ext cx="6629400" cy="1592485"/>
            <a:chOff x="2031300" y="3373600"/>
            <a:chExt cx="6629400" cy="1697180"/>
          </a:xfrm>
        </p:grpSpPr>
        <p:sp>
          <p:nvSpPr>
            <p:cNvPr id="19" name="Rectangle 18"/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2031300" y="3373600"/>
              <a:ext cx="6629400" cy="1697180"/>
              <a:chOff x="0" y="0"/>
              <a:chExt cx="6629400" cy="169718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0" y="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" name="Rounded Rectangle 21"/>
                  <p:cNvSpPr/>
                  <p:nvPr/>
                </p:nvSpPr>
                <p:spPr>
                  <a:xfrm>
                    <a:off x="0" y="0"/>
                    <a:ext cx="6629400" cy="169718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2EED5"/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57150">
                      <a:spcAft>
                        <a:spcPts val="1000"/>
                      </a:spcAft>
                    </a:pPr>
                    <a:r>
                      <a:rPr lang="en-US" sz="2000" b="1" i="1" dirty="0" smtClean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Circumference of a Circle</a:t>
                    </a:r>
                    <a:r>
                      <a:rPr lang="en-US" sz="2000" b="1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, </a:t>
                    </a:r>
                    <a14:m>
                      <m:oMath xmlns:m="http://schemas.openxmlformats.org/officeDocument/2006/math">
                        <m:r>
                          <a:rPr lang="en-US" sz="2000" b="1" i="1">
                            <a:solidFill>
                              <a:srgbClr val="6C993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𝑪</m:t>
                        </m:r>
                      </m:oMath>
                    </a14:m>
                    <a:endParaRPr lang="en-US" sz="2000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  <a:p>
                    <a:pPr marL="57150">
                      <a:spcAft>
                        <a:spcPts val="1000"/>
                      </a:spcAft>
                    </a:pPr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6C993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𝐶</m:t>
                        </m:r>
                        <m:r>
                          <a:rPr lang="en-US" sz="2000" i="1">
                            <a:solidFill>
                              <a:srgbClr val="6C993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=</m:t>
                        </m:r>
                        <m:r>
                          <a:rPr lang="en-US" sz="2000" i="1">
                            <a:solidFill>
                              <a:srgbClr val="6C993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𝜋</m:t>
                        </m:r>
                        <m:r>
                          <a:rPr lang="en-US" sz="2000" i="1">
                            <a:solidFill>
                              <a:srgbClr val="6C993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𝑑</m:t>
                        </m:r>
                      </m:oMath>
                    </a14:m>
                    <a:r>
                      <a:rPr lang="en-US" sz="2000" i="1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	</a:t>
                    </a:r>
                    <a:r>
                      <a:rPr lang="en-US" sz="2000" dirty="0" smtClean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or</a:t>
                    </a:r>
                    <a:r>
                      <a: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6C993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𝐶</m:t>
                        </m:r>
                        <m:r>
                          <a:rPr lang="en-US" sz="2000" i="1">
                            <a:solidFill>
                              <a:srgbClr val="6C993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=2</m:t>
                        </m:r>
                        <m:r>
                          <a:rPr lang="en-US" sz="2000" i="1">
                            <a:solidFill>
                              <a:srgbClr val="6C993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𝜋</m:t>
                        </m:r>
                        <m:r>
                          <a:rPr lang="en-US" sz="2000" i="1">
                            <a:solidFill>
                              <a:srgbClr val="6C993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𝑟</m:t>
                        </m:r>
                      </m:oMath>
                    </a14:m>
                    <a:r>
                      <a:rPr lang="en-US" sz="2000" dirty="0" smtClean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, where </a:t>
                    </a:r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6C993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𝑑</m:t>
                        </m:r>
                      </m:oMath>
                    </a14:m>
                    <a:r>
                      <a: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 is the diameter and </a:t>
                    </a:r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6C993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𝑟</m:t>
                        </m:r>
                      </m:oMath>
                    </a14:m>
                    <a:r>
                      <a: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 is the radius</a:t>
                    </a:r>
                    <a:endParaRPr lang="en-US" sz="2000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</mc:Choice>
            <mc:Fallback>
              <p:sp>
                <p:nvSpPr>
                  <p:cNvPr id="22" name="Rounded Rectangle 2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0"/>
                    <a:ext cx="6629400" cy="1697180"/>
                  </a:xfrm>
                  <a:prstGeom prst="roundRect">
                    <a:avLst>
                      <a:gd name="adj" fmla="val 16667"/>
                    </a:avLst>
                  </a:prstGeom>
                  <a:blipFill rotWithShape="1">
                    <a:blip r:embed="rId7"/>
                    <a:stretch>
                      <a:fillRect/>
                    </a:stretch>
                  </a:blip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/>
                  <a:lstStyle/>
                  <a:p>
                    <a:r>
                      <a:rPr lang="en-PH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24" name="Google Shape;311;g104476d1465_1_39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5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28438" y="0"/>
            <a:ext cx="899663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11.9.2 Exploration: </a:t>
            </a: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Revisiting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Relationships in Circles</a:t>
            </a:r>
          </a:p>
        </p:txBody>
      </p:sp>
      <p:pic>
        <p:nvPicPr>
          <p:cNvPr id="27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1337" y="286723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Google Shape;170;p4"/>
          <p:cNvSpPr txBox="1"/>
          <p:nvPr/>
        </p:nvSpPr>
        <p:spPr>
          <a:xfrm>
            <a:off x="914400" y="1386026"/>
            <a:ext cx="1071375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formulas for finding the circumference and area of a circle are shown.</a:t>
            </a: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1393810"/>
                  </p:ext>
                </p:extLst>
              </p:nvPr>
            </p:nvGraphicFramePr>
            <p:xfrm>
              <a:off x="2229854" y="1148256"/>
              <a:ext cx="7411451" cy="1524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283686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1024973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1025698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1025698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  <a:gridCol w="1025698">
                      <a:extLst>
                        <a:ext uri="{9D8B030D-6E8A-4147-A177-3AD203B41FA5}">
                          <a16:colId xmlns="" xmlns:a16="http://schemas.microsoft.com/office/drawing/2014/main" val="20004"/>
                        </a:ext>
                      </a:extLst>
                    </a:gridCol>
                    <a:gridCol w="1025698">
                      <a:extLst>
                        <a:ext uri="{9D8B030D-6E8A-4147-A177-3AD203B41FA5}">
                          <a16:colId xmlns="" xmlns:a16="http://schemas.microsoft.com/office/drawing/2014/main" val="20005"/>
                        </a:ext>
                      </a:extLst>
                    </a:gridCol>
                  </a:tblGrid>
                  <a:tr h="0">
                    <a:tc gridSpan="6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Table A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Diameter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(inches)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Circumference (inches)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1393810"/>
                  </p:ext>
                </p:extLst>
              </p:nvPr>
            </p:nvGraphicFramePr>
            <p:xfrm>
              <a:off x="2229854" y="1148256"/>
              <a:ext cx="7411451" cy="1524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28368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02497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02569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02569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  <a:gridCol w="102569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4"/>
                        </a:ext>
                      </a:extLst>
                    </a:gridCol>
                    <a:gridCol w="102569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5"/>
                        </a:ext>
                      </a:extLst>
                    </a:gridCol>
                  </a:tblGrid>
                  <a:tr h="304800">
                    <a:tc gridSpan="6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Table A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Diameter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(inches)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23810" t="-62000" r="-400595" b="-12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23810" t="-62000" r="-300595" b="-12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23810" t="-62000" r="-200595" b="-12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20710" t="-62000" r="-99408" b="-12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624405" t="-62000" b="-12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Circumference (inches)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2370601"/>
                  </p:ext>
                </p:extLst>
              </p:nvPr>
            </p:nvGraphicFramePr>
            <p:xfrm>
              <a:off x="2229855" y="3026614"/>
              <a:ext cx="7411449" cy="1524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283685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1024972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1025698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1025698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  <a:gridCol w="1025698">
                      <a:extLst>
                        <a:ext uri="{9D8B030D-6E8A-4147-A177-3AD203B41FA5}">
                          <a16:colId xmlns="" xmlns:a16="http://schemas.microsoft.com/office/drawing/2014/main" val="20004"/>
                        </a:ext>
                      </a:extLst>
                    </a:gridCol>
                    <a:gridCol w="1025698">
                      <a:extLst>
                        <a:ext uri="{9D8B030D-6E8A-4147-A177-3AD203B41FA5}">
                          <a16:colId xmlns="" xmlns:a16="http://schemas.microsoft.com/office/drawing/2014/main" val="20005"/>
                        </a:ext>
                      </a:extLst>
                    </a:gridCol>
                  </a:tblGrid>
                  <a:tr h="0">
                    <a:tc gridSpan="6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Table B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Radius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(inches)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Circumference (inches)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2370601"/>
                  </p:ext>
                </p:extLst>
              </p:nvPr>
            </p:nvGraphicFramePr>
            <p:xfrm>
              <a:off x="2229855" y="3026614"/>
              <a:ext cx="7411449" cy="1524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28368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02497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02569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02569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  <a:gridCol w="102569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4"/>
                        </a:ext>
                      </a:extLst>
                    </a:gridCol>
                    <a:gridCol w="102569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5"/>
                        </a:ext>
                      </a:extLst>
                    </a:gridCol>
                  </a:tblGrid>
                  <a:tr h="304800">
                    <a:tc gridSpan="6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Table B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Radius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(inches)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23810" t="-62000" r="-400595" b="-12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23810" t="-62000" r="-300595" b="-12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23810" t="-62000" r="-200595" b="-12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20710" t="-62000" r="-99408" b="-12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24405" t="-62000" b="-12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Circumference (inches)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6316270"/>
                  </p:ext>
                </p:extLst>
              </p:nvPr>
            </p:nvGraphicFramePr>
            <p:xfrm>
              <a:off x="2229854" y="4752572"/>
              <a:ext cx="7411449" cy="1524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283685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1024972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1025698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1025698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  <a:gridCol w="1025698">
                      <a:extLst>
                        <a:ext uri="{9D8B030D-6E8A-4147-A177-3AD203B41FA5}">
                          <a16:colId xmlns="" xmlns:a16="http://schemas.microsoft.com/office/drawing/2014/main" val="20004"/>
                        </a:ext>
                      </a:extLst>
                    </a:gridCol>
                    <a:gridCol w="1025698">
                      <a:extLst>
                        <a:ext uri="{9D8B030D-6E8A-4147-A177-3AD203B41FA5}">
                          <a16:colId xmlns="" xmlns:a16="http://schemas.microsoft.com/office/drawing/2014/main" val="20005"/>
                        </a:ext>
                      </a:extLst>
                    </a:gridCol>
                  </a:tblGrid>
                  <a:tr h="0">
                    <a:tc gridSpan="6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Table C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Radius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(inches)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Area</a:t>
                          </a:r>
                          <a:b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(sq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 inches)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6316270"/>
                  </p:ext>
                </p:extLst>
              </p:nvPr>
            </p:nvGraphicFramePr>
            <p:xfrm>
              <a:off x="2229854" y="4752572"/>
              <a:ext cx="7411449" cy="1524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283685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0"/>
                        </a:ext>
                      </a:extLst>
                    </a:gridCol>
                    <a:gridCol w="1024972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1"/>
                        </a:ext>
                      </a:extLst>
                    </a:gridCol>
                    <a:gridCol w="1025698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2"/>
                        </a:ext>
                      </a:extLst>
                    </a:gridCol>
                    <a:gridCol w="1025698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3"/>
                        </a:ext>
                      </a:extLst>
                    </a:gridCol>
                    <a:gridCol w="1025698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4"/>
                        </a:ext>
                      </a:extLst>
                    </a:gridCol>
                    <a:gridCol w="1025698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5"/>
                        </a:ext>
                      </a:extLst>
                    </a:gridCol>
                  </a:tblGrid>
                  <a:tr h="304800">
                    <a:tc gridSpan="6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Table C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0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Radius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(inches)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23810" t="-63000" r="-400595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23810" t="-63000" r="-300595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23810" t="-63000" r="-200595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20710" t="-63000" r="-99408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624405" t="-63000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1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Area</a:t>
                          </a:r>
                          <a:b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(sq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 inches)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Google Shape;311;g104476d1465_1_39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Google Shape;179;p5"/>
              <p:cNvSpPr txBox="1"/>
              <p:nvPr/>
            </p:nvSpPr>
            <p:spPr>
              <a:xfrm>
                <a:off x="914400" y="487736"/>
                <a:ext cx="10515600" cy="400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each table of values in terms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7736"/>
                <a:ext cx="10515600" cy="400069"/>
              </a:xfrm>
              <a:prstGeom prst="rect">
                <a:avLst/>
              </a:prstGeom>
              <a:blipFill rotWithShape="1">
                <a:blip r:embed="rId7"/>
                <a:stretch>
                  <a:fillRect l="-638" t="-9091" b="-257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3870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94125"/>
              </p:ext>
            </p:extLst>
          </p:nvPr>
        </p:nvGraphicFramePr>
        <p:xfrm>
          <a:off x="2448996" y="1714384"/>
          <a:ext cx="7446408" cy="448621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90388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54252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Graph</a:t>
                      </a:r>
                    </a:p>
                  </a:txBody>
                  <a:tcPr marL="60435" marR="6043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Table</a:t>
                      </a:r>
                    </a:p>
                  </a:txBody>
                  <a:tcPr marL="60435" marR="6043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290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    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Table A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Table B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Table C</a:t>
                      </a:r>
                    </a:p>
                  </a:txBody>
                  <a:tcPr marL="60435" marR="6043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8123" y="2246195"/>
            <a:ext cx="4439920" cy="3886200"/>
          </a:xfrm>
          <a:prstGeom prst="rect">
            <a:avLst/>
          </a:prstGeom>
        </p:spPr>
      </p:pic>
      <p:pic>
        <p:nvPicPr>
          <p:cNvPr id="9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179;p5"/>
              <p:cNvSpPr txBox="1"/>
              <p:nvPr/>
            </p:nvSpPr>
            <p:spPr>
              <a:xfrm>
                <a:off x="914400" y="487736"/>
                <a:ext cx="10515600" cy="10156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Three graphs are shown.</a:t>
                </a:r>
              </a:p>
              <a:p>
                <a:pPr marL="4651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your own, mark the table that matches each graph and label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-axes appropriately.</a:t>
                </a:r>
              </a:p>
            </p:txBody>
          </p:sp>
        </mc:Choice>
        <mc:Fallback xmlns="">
          <p:sp>
            <p:nvSpPr>
              <p:cNvPr id="11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7736"/>
                <a:ext cx="10515600" cy="1015622"/>
              </a:xfrm>
              <a:prstGeom prst="rect">
                <a:avLst/>
              </a:prstGeom>
              <a:blipFill rotWithShape="1">
                <a:blip r:embed="rId5"/>
                <a:stretch>
                  <a:fillRect l="-638" t="-3593" b="-95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2324" y="1026186"/>
            <a:ext cx="4439920" cy="38862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698714"/>
              </p:ext>
            </p:extLst>
          </p:nvPr>
        </p:nvGraphicFramePr>
        <p:xfrm>
          <a:off x="2448996" y="487736"/>
          <a:ext cx="7446408" cy="448621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90388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54252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Graph</a:t>
                      </a:r>
                    </a:p>
                  </a:txBody>
                  <a:tcPr marL="60435" marR="6043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Table</a:t>
                      </a:r>
                    </a:p>
                  </a:txBody>
                  <a:tcPr marL="60435" marR="6043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290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    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Table A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Table B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Table C</a:t>
                      </a:r>
                    </a:p>
                  </a:txBody>
                  <a:tcPr marL="60435" marR="6043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1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5516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12646" y="1025911"/>
            <a:ext cx="4439920" cy="388620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365963"/>
              </p:ext>
            </p:extLst>
          </p:nvPr>
        </p:nvGraphicFramePr>
        <p:xfrm>
          <a:off x="2448996" y="487736"/>
          <a:ext cx="7446408" cy="448621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90388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54252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Graph</a:t>
                      </a:r>
                    </a:p>
                  </a:txBody>
                  <a:tcPr marL="60435" marR="6043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Table</a:t>
                      </a:r>
                    </a:p>
                  </a:txBody>
                  <a:tcPr marL="60435" marR="6043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290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    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Table A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Table B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Table C</a:t>
                      </a:r>
                    </a:p>
                  </a:txBody>
                  <a:tcPr marL="60435" marR="6043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3269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79;p5"/>
          <p:cNvSpPr txBox="1"/>
          <p:nvPr/>
        </p:nvSpPr>
        <p:spPr>
          <a:xfrm>
            <a:off x="914400" y="487736"/>
            <a:ext cx="105156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Check your work with your partner and if necessary, resolve any differences.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which relationships appear to be proportional, including what evidence there is to support your thinking. Then, summarize your discussion.</a:t>
            </a:r>
          </a:p>
        </p:txBody>
      </p:sp>
    </p:spTree>
    <p:extLst>
      <p:ext uri="{BB962C8B-B14F-4D97-AF65-F5344CB8AC3E}">
        <p14:creationId xmlns:p14="http://schemas.microsoft.com/office/powerpoint/2010/main" val="4009423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5255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mc="http://schemas.openxmlformats.org/markup-compatibility/2006" xmlns:a14="http://schemas.microsoft.com/office/drawing/2010/main" xmlns="" xmlns:a16="http://schemas.microsoft.com/office/drawing/2014/main" id="{669E00F9-F39F-5043-888E-B0A2D8C9AE0F}"/>
              </a:ext>
            </a:extLst>
          </p:cNvPr>
          <p:cNvSpPr txBox="1"/>
          <p:nvPr/>
        </p:nvSpPr>
        <p:spPr>
          <a:xfrm>
            <a:off x="550980" y="1386026"/>
            <a:ext cx="9971653" cy="2107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statements.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250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There		a proportional relationship between the diameter and circumference of a circle.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-12827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4979" y="2107169"/>
            <a:ext cx="1378618" cy="88411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019" y="3728441"/>
            <a:ext cx="6866021" cy="873502"/>
          </a:xfrm>
          <a:prstGeom prst="rect">
            <a:avLst/>
          </a:prstGeom>
        </p:spPr>
      </p:pic>
      <p:sp>
        <p:nvSpPr>
          <p:cNvPr id="12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1824" y="160678"/>
            <a:ext cx="922851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11.9.3 Bring It Together: </a:t>
            </a: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Revisiting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Relationships in Circles</a:t>
            </a:r>
          </a:p>
        </p:txBody>
      </p:sp>
      <p:pic>
        <p:nvPicPr>
          <p:cNvPr id="13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821E6401-0F72-0C44-A2BB-6CDA2AEE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016" y="27511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Google Shape;311;g104476d1465_1_39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79;p5"/>
          <p:cNvSpPr txBox="1"/>
          <p:nvPr/>
        </p:nvSpPr>
        <p:spPr>
          <a:xfrm>
            <a:off x="562708" y="487736"/>
            <a:ext cx="10515600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lnSpc>
                <a:spcPct val="250000"/>
              </a:lnSpc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There		a proportional relationship between the radius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circumference of a circle.</a:t>
            </a:r>
          </a:p>
          <a:p>
            <a:pPr marL="457200" indent="-457200">
              <a:lnSpc>
                <a:spcPct val="250000"/>
              </a:lnSpc>
              <a:buFont typeface="+mj-lt"/>
              <a:buAutoNum type="arabicPeriod" startAt="2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250000"/>
              </a:lnSpc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250000"/>
              </a:lnSpc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There		a proportional relationship between the radius and area of a circle.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38151" y="563936"/>
            <a:ext cx="1378618" cy="8841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7676" y="3637154"/>
            <a:ext cx="1378618" cy="88411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1530" y="2230252"/>
            <a:ext cx="6866021" cy="87350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1529" y="5226701"/>
            <a:ext cx="6866021" cy="873502"/>
          </a:xfrm>
          <a:prstGeom prst="rect">
            <a:avLst/>
          </a:prstGeom>
        </p:spPr>
      </p:pic>
      <p:pic>
        <p:nvPicPr>
          <p:cNvPr id="12" name="Google Shape;311;g104476d1465_1_39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2273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=""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2" name="Picture 1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5364" y="2184668"/>
            <a:ext cx="3544570" cy="3657600"/>
          </a:xfrm>
          <a:prstGeom prst="rect">
            <a:avLst/>
          </a:prstGeom>
        </p:spPr>
      </p:pic>
      <p:sp>
        <p:nvSpPr>
          <p:cNvPr id="11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9117" y="233830"/>
            <a:ext cx="10650702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11.9.4 Collaboration: Diameter and Circumference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xmlns="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9309" y="348270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536913" y="1386026"/>
                <a:ext cx="997165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 with diameter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𝐹𝐺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13" y="1386026"/>
                <a:ext cx="9971653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917" t="-11842" b="-2763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Google Shape;311;g104476d1465_1_39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Google Shape;179;p5"/>
              <p:cNvSpPr txBox="1"/>
              <p:nvPr/>
            </p:nvSpPr>
            <p:spPr>
              <a:xfrm>
                <a:off x="534572" y="487736"/>
                <a:ext cx="10515600" cy="4505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Miranda uses a drawing program to change the size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Find the circumference, in terms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for each diameter she uses.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Suppose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represents the diameter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represents the circumference. Write the constant of proportionality,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8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72" y="487736"/>
                <a:ext cx="10515600" cy="4505232"/>
              </a:xfrm>
              <a:prstGeom prst="rect">
                <a:avLst/>
              </a:prstGeom>
              <a:blipFill rotWithShape="1">
                <a:blip r:embed="rId3"/>
                <a:stretch>
                  <a:fillRect l="-638" t="-8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-4665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1421863"/>
                  </p:ext>
                </p:extLst>
              </p:nvPr>
            </p:nvGraphicFramePr>
            <p:xfrm>
              <a:off x="3041078" y="1532615"/>
              <a:ext cx="4901565" cy="2286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450465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24511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Diameter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Circumference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146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1421863"/>
                  </p:ext>
                </p:extLst>
              </p:nvPr>
            </p:nvGraphicFramePr>
            <p:xfrm>
              <a:off x="3041078" y="1532615"/>
              <a:ext cx="4901565" cy="2286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450465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0"/>
                        </a:ext>
                      </a:extLst>
                    </a:gridCol>
                    <a:gridCol w="24511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Diameter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Circumference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9" t="-100000" r="-100000" b="-3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9" t="-200000" r="-100000" b="-2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9" t="-300000" r="-100000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9" t="-400000" r="-100000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Google Shape;311;g104476d1465_1_39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78;g104476d1465_1_17">
            <a:extLst>
              <a:ext uri="{FF2B5EF4-FFF2-40B4-BE49-F238E27FC236}">
                <a16:creationId xmlns="" xmlns:a16="http://schemas.microsoft.com/office/drawing/2014/main" id="{64980AA9-EE7B-F14F-9404-A379C9D20DE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Google Shape;179;p5"/>
              <p:cNvSpPr txBox="1"/>
              <p:nvPr/>
            </p:nvSpPr>
            <p:spPr>
              <a:xfrm>
                <a:off x="534573" y="487736"/>
                <a:ext cx="10515600" cy="30469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>
                  <a:lnSpc>
                    <a:spcPct val="150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As the value of the diameter increases by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value of circumference increases by ______.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an equation that represents the relationship between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diameter,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circumference. </a:t>
                </a:r>
              </a:p>
            </p:txBody>
          </p:sp>
        </mc:Choice>
        <mc:Fallback>
          <p:sp>
            <p:nvSpPr>
              <p:cNvPr id="10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73" y="487736"/>
                <a:ext cx="10515600" cy="3046948"/>
              </a:xfrm>
              <a:prstGeom prst="rect">
                <a:avLst/>
              </a:prstGeom>
              <a:blipFill rotWithShape="1">
                <a:blip r:embed="rId4"/>
                <a:stretch>
                  <a:fillRect l="-928" t="-1600" b="-34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61310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=""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086" y="2287897"/>
            <a:ext cx="6152147" cy="4037346"/>
          </a:xfrm>
          <a:prstGeom prst="rect">
            <a:avLst/>
          </a:prstGeom>
        </p:spPr>
      </p:pic>
      <p:sp>
        <p:nvSpPr>
          <p:cNvPr id="11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11.9.5 Wrap-Up: Reflection</a:t>
            </a:r>
          </a:p>
        </p:txBody>
      </p:sp>
      <p:pic>
        <p:nvPicPr>
          <p:cNvPr id="13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4" name="Google Shape;311;g104476d1465_1_39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34570" y="1386026"/>
            <a:ext cx="106167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Take a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SELFIE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by checking the box that best matches what you did today.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1602</TotalTime>
  <Words>804</Words>
  <Application>Microsoft Office PowerPoint</Application>
  <PresentationFormat>Custom</PresentationFormat>
  <Paragraphs>220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Arial</vt:lpstr>
      <vt:lpstr>Calibri</vt:lpstr>
      <vt:lpstr>Courier New</vt:lpstr>
      <vt:lpstr>Times New Roman</vt:lpstr>
      <vt:lpstr>Century Gothic</vt:lpstr>
      <vt:lpstr>Cambria Math</vt:lpstr>
      <vt:lpstr>Wingdings</vt:lpstr>
      <vt:lpstr>Cambria</vt:lpstr>
      <vt:lpstr>Arial Black</vt:lpstr>
      <vt:lpstr>Verdana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36</cp:revision>
  <dcterms:created xsi:type="dcterms:W3CDTF">2015-03-17T18:51:18Z</dcterms:created>
  <dcterms:modified xsi:type="dcterms:W3CDTF">2022-07-12T23:43:50Z</dcterms:modified>
</cp:coreProperties>
</file>