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85" r:id="rId4"/>
    <p:sldId id="286" r:id="rId5"/>
    <p:sldId id="261" r:id="rId6"/>
    <p:sldId id="287" r:id="rId7"/>
    <p:sldId id="288" r:id="rId8"/>
    <p:sldId id="374" r:id="rId9"/>
    <p:sldId id="311" r:id="rId10"/>
    <p:sldId id="312" r:id="rId11"/>
    <p:sldId id="366" r:id="rId12"/>
    <p:sldId id="367" r:id="rId13"/>
    <p:sldId id="368" r:id="rId14"/>
    <p:sldId id="373" r:id="rId15"/>
    <p:sldId id="375" r:id="rId16"/>
    <p:sldId id="376" r:id="rId17"/>
    <p:sldId id="326" r:id="rId18"/>
    <p:sldId id="327" r:id="rId19"/>
    <p:sldId id="358" r:id="rId20"/>
    <p:sldId id="306" r:id="rId21"/>
    <p:sldId id="307" r:id="rId22"/>
    <p:sldId id="377" r:id="rId23"/>
  </p:sldIdLst>
  <p:sldSz cx="12192000" cy="6858000"/>
  <p:notesSz cx="6858000" cy="9144000"/>
  <p:embeddedFontLst>
    <p:embeddedFont>
      <p:font typeface="Arial Black" panose="020B0A04020102020204" pitchFamily="34" charset="0"/>
      <p:regular r:id="rId25"/>
      <p:bold r:id="rId26"/>
    </p:embeddedFont>
    <p:embeddedFont>
      <p:font typeface="Calibri" panose="020F0502020204030204" pitchFamily="34" charset="0"/>
      <p:regular r:id="rId27"/>
      <p:bold r:id="rId28"/>
      <p:italic r:id="rId29"/>
      <p:boldItalic r:id="rId30"/>
    </p:embeddedFont>
    <p:embeddedFont>
      <p:font typeface="Cambria Math" panose="02040503050406030204" pitchFamily="18" charset="0"/>
      <p:regular r:id="rId31"/>
    </p:embeddedFont>
    <p:embeddedFont>
      <p:font typeface="Century Gothic" panose="020B0502020202020204" pitchFamily="34" charset="0"/>
      <p:regular r:id="rId32"/>
      <p:bold r:id="rId33"/>
      <p:italic r:id="rId34"/>
      <p:boldItalic r:id="rId35"/>
    </p:embeddedFont>
    <p:embeddedFont>
      <p:font typeface="Verdana" panose="020B060403050404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5036"/>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589"/>
    <p:restoredTop sz="94694"/>
  </p:normalViewPr>
  <p:slideViewPr>
    <p:cSldViewPr snapToGrid="0">
      <p:cViewPr varScale="1">
        <p:scale>
          <a:sx n="54" d="100"/>
          <a:sy n="54" d="100"/>
        </p:scale>
        <p:origin x="108" y="17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342909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348483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5284607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8692199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8241773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4502846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447353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4840320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7272897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41773241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7075552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hyperlink" Target="https://en.wikipedia.org/wiki/Exchange_rate" TargetMode="External"/><Relationship Id="rId5" Type="http://schemas.openxmlformats.org/officeDocument/2006/relationships/image" Target="../media/image13.jp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200" b="1" dirty="0">
                <a:solidFill>
                  <a:srgbClr val="417DBF"/>
                </a:solidFill>
                <a:latin typeface="Verdana"/>
                <a:ea typeface="Verdana"/>
                <a:cs typeface="Verdana"/>
                <a:sym typeface="Verdana"/>
              </a:rPr>
              <a:t>7</a:t>
            </a:r>
            <a:r>
              <a:rPr lang="en-US" sz="3200" b="1" baseline="30000" dirty="0">
                <a:solidFill>
                  <a:srgbClr val="417DBF"/>
                </a:solidFill>
                <a:latin typeface="Verdana"/>
                <a:ea typeface="Verdana"/>
                <a:cs typeface="Verdana"/>
                <a:sym typeface="Verdana"/>
              </a:rPr>
              <a:t>th</a:t>
            </a:r>
            <a:r>
              <a:rPr lang="en-US" sz="3200" b="1" dirty="0">
                <a:solidFill>
                  <a:srgbClr val="417DBF"/>
                </a:solidFill>
                <a:latin typeface="Verdana"/>
                <a:ea typeface="Verdana"/>
                <a:cs typeface="Verdana"/>
                <a:sym typeface="Verdana"/>
              </a:rPr>
              <a:t> Grade Math</a:t>
            </a:r>
            <a:br>
              <a:rPr lang="en-US" sz="3200" b="1" dirty="0">
                <a:solidFill>
                  <a:srgbClr val="417DBF"/>
                </a:solidFill>
                <a:latin typeface="Verdana"/>
                <a:ea typeface="Verdana"/>
                <a:cs typeface="Verdana"/>
                <a:sym typeface="Verdana"/>
              </a:rPr>
            </a:br>
            <a:endParaRPr lang="en-US" sz="3200" b="1" dirty="0">
              <a:solidFill>
                <a:srgbClr val="417DBF"/>
              </a:solidFill>
              <a:latin typeface="Verdana"/>
              <a:ea typeface="Verdana"/>
              <a:cs typeface="Verdana"/>
              <a:sym typeface="Verdana"/>
            </a:endParaRPr>
          </a:p>
          <a:p>
            <a:pPr algn="ctr">
              <a:lnSpc>
                <a:spcPct val="100000"/>
              </a:lnSpc>
              <a:buClr>
                <a:srgbClr val="000000"/>
              </a:buClr>
            </a:pPr>
            <a:r>
              <a:rPr lang="en-US" sz="3200" b="1" dirty="0">
                <a:solidFill>
                  <a:srgbClr val="417DBF"/>
                </a:solidFill>
                <a:latin typeface="Verdana"/>
                <a:ea typeface="Verdana"/>
                <a:cs typeface="Verdana"/>
                <a:sym typeface="Verdana"/>
              </a:rPr>
              <a:t>Unit 6, Lesson 1</a:t>
            </a:r>
            <a:br>
              <a:rPr lang="en-US" sz="3200" b="1" dirty="0">
                <a:solidFill>
                  <a:srgbClr val="417DBF"/>
                </a:solidFill>
                <a:latin typeface="Verdana"/>
                <a:ea typeface="Verdana"/>
                <a:cs typeface="Verdana"/>
                <a:sym typeface="Verdana"/>
              </a:rPr>
            </a:b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Paying Your Way in </a:t>
            </a:r>
            <a:r>
              <a:rPr lang="en-US" sz="3200" b="1" dirty="0" err="1">
                <a:solidFill>
                  <a:srgbClr val="417DBF"/>
                </a:solidFill>
                <a:latin typeface="Verdana"/>
                <a:ea typeface="Verdana"/>
                <a:cs typeface="Verdana"/>
                <a:sym typeface="Verdana"/>
              </a:rPr>
              <a:t>Mathlandia</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237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59232" y="1692057"/>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52307" y="-12020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505007" y="136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7314749" y="6455229"/>
            <a:ext cx="4077169" cy="40264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1919"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696686" y="1140550"/>
            <a:ext cx="9514114" cy="466535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MA.7.AR.3.3</a:t>
            </a:r>
          </a:p>
          <a:p>
            <a:pPr indent="0">
              <a:buNone/>
            </a:pPr>
            <a:r>
              <a:rPr lang="en-US" sz="2000" dirty="0">
                <a:latin typeface="Verdana" panose="020B0604030504040204" pitchFamily="34" charset="0"/>
                <a:ea typeface="Verdana" panose="020B0604030504040204" pitchFamily="34" charset="0"/>
                <a:cs typeface="Verdana" panose="020B0604030504040204" pitchFamily="34" charset="0"/>
              </a:rPr>
              <a:t>Solve mathematical and real-world problems involving the conversion of units across different measurement systems.  </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515893" y="14929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9005"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263193" y="-57102"/>
            <a:ext cx="1132798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740229" y="1596390"/>
            <a:ext cx="947057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a:t>
            </a:r>
          </a:p>
        </p:txBody>
      </p:sp>
      <p:sp>
        <p:nvSpPr>
          <p:cNvPr id="9" name="Google Shape;282;g104476d1465_1_17">
            <a:extLst>
              <a:ext uri="{FF2B5EF4-FFF2-40B4-BE49-F238E27FC236}">
                <a16:creationId xmlns:a16="http://schemas.microsoft.com/office/drawing/2014/main" id="{7E42EF11-5FC6-7744-AF68-159F2F06D67F}"/>
              </a:ext>
            </a:extLst>
          </p:cNvPr>
          <p:cNvSpPr txBox="1"/>
          <p:nvPr/>
        </p:nvSpPr>
        <p:spPr>
          <a:xfrm>
            <a:off x="7314750" y="6501882"/>
            <a:ext cx="4164255" cy="400078"/>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237</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1771" y="6129037"/>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84999" y="-8225"/>
            <a:ext cx="927623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437699" y="2436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740229" y="1609531"/>
            <a:ext cx="1071154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600" dirty="0">
                <a:latin typeface="Verdana" panose="020B0604030504040204" pitchFamily="34" charset="0"/>
                <a:ea typeface="Verdana" panose="020B0604030504040204" pitchFamily="34" charset="0"/>
                <a:cs typeface="Verdana" panose="020B0604030504040204" pitchFamily="34" charset="0"/>
              </a:rPr>
              <a:t> I can determine the exchange rate between two forms of currency. </a:t>
            </a:r>
          </a:p>
        </p:txBody>
      </p:sp>
      <p:sp>
        <p:nvSpPr>
          <p:cNvPr id="8" name="Google Shape;282;g104476d1465_1_17">
            <a:extLst>
              <a:ext uri="{FF2B5EF4-FFF2-40B4-BE49-F238E27FC236}">
                <a16:creationId xmlns:a16="http://schemas.microsoft.com/office/drawing/2014/main" id="{6793C8E2-E1C4-B24A-AB6C-B7DBDD28D85B}"/>
              </a:ext>
            </a:extLst>
          </p:cNvPr>
          <p:cNvSpPr txBox="1"/>
          <p:nvPr/>
        </p:nvSpPr>
        <p:spPr>
          <a:xfrm>
            <a:off x="7314749" y="6433802"/>
            <a:ext cx="4137021"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237</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3433" y="6129037"/>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6BCEEC8C-9B17-C841-8ED4-211C80FA09C6}"/>
              </a:ext>
            </a:extLst>
          </p:cNvPr>
          <p:cNvSpPr txBox="1"/>
          <p:nvPr/>
        </p:nvSpPr>
        <p:spPr>
          <a:xfrm>
            <a:off x="7314749" y="6455229"/>
            <a:ext cx="4218683" cy="40264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2588" y="602008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82068" y="60325"/>
            <a:ext cx="935708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6.1.1 Warm-Up: Currency Exchanges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34768" y="349525"/>
            <a:ext cx="747300" cy="747300"/>
          </a:xfrm>
          <a:prstGeom prst="rect">
            <a:avLst/>
          </a:prstGeom>
          <a:noFill/>
          <a:ln>
            <a:noFill/>
          </a:ln>
          <a:effectLst>
            <a:outerShdw blurRad="50800" dist="38100" dir="2700000" algn="tl" rotWithShape="0">
              <a:prstClr val="black">
                <a:alpha val="40000"/>
              </a:prstClr>
            </a:outerShdw>
          </a:effectLst>
        </p:spPr>
      </p:pic>
      <p:sp>
        <p:nvSpPr>
          <p:cNvPr id="5" name="Rectangle 4">
            <a:extLst>
              <a:ext uri="{FF2B5EF4-FFF2-40B4-BE49-F238E27FC236}">
                <a16:creationId xmlns:a16="http://schemas.microsoft.com/office/drawing/2014/main" id="{353081A1-25B1-2A4B-8FF2-3F1C264A000D}"/>
              </a:ext>
            </a:extLst>
          </p:cNvPr>
          <p:cNvSpPr/>
          <p:nvPr/>
        </p:nvSpPr>
        <p:spPr>
          <a:xfrm>
            <a:off x="609600" y="1637499"/>
            <a:ext cx="5990019" cy="3170099"/>
          </a:xfrm>
          <a:prstGeom prst="rect">
            <a:avLst/>
          </a:prstGeom>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If you travel to another country, chances are you’ll need to exchange currency. For example, this could mean exchanging U.S. dollars for pesos of an equivalent value while visiting Mexico. Almost no two currencies are worth the same amount and their values change daily, sometimes even hourly. Currency exchange rates are used to determine the equivalent values at the time of exchange. </a:t>
            </a:r>
            <a:endParaRPr lang="en-US" dirty="0"/>
          </a:p>
        </p:txBody>
      </p:sp>
      <p:sp>
        <p:nvSpPr>
          <p:cNvPr id="14" name="Google Shape;282;g104476d1465_1_17">
            <a:extLst>
              <a:ext uri="{FF2B5EF4-FFF2-40B4-BE49-F238E27FC236}">
                <a16:creationId xmlns:a16="http://schemas.microsoft.com/office/drawing/2014/main" id="{478CDDBB-860A-D748-B9D0-C51751F3670A}"/>
              </a:ext>
            </a:extLst>
          </p:cNvPr>
          <p:cNvSpPr txBox="1"/>
          <p:nvPr/>
        </p:nvSpPr>
        <p:spPr>
          <a:xfrm>
            <a:off x="7314750" y="6466113"/>
            <a:ext cx="4097838"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237</a:t>
            </a:r>
            <a:endParaRPr i="1" dirty="0">
              <a:latin typeface="Calibri"/>
              <a:ea typeface="Calibri"/>
              <a:cs typeface="Calibri"/>
              <a:sym typeface="Calibri"/>
            </a:endParaRPr>
          </a:p>
        </p:txBody>
      </p:sp>
      <p:pic>
        <p:nvPicPr>
          <p:cNvPr id="9" name="Picture 8" descr="Exchange rate - Wikipedia">
            <a:extLst>
              <a:ext uri="{FF2B5EF4-FFF2-40B4-BE49-F238E27FC236}">
                <a16:creationId xmlns:a16="http://schemas.microsoft.com/office/drawing/2014/main" id="{9EF89468-B4F5-6740-9BB5-4F393A65B8C1}"/>
              </a:ext>
            </a:extLst>
          </p:cNvPr>
          <p:cNvPicPr>
            <a:picLocks noChangeAspect="1"/>
          </p:cNvPicPr>
          <p:nvPr/>
        </p:nvPicPr>
        <p:blipFill>
          <a:blip r:embed="rId5">
            <a:extLst>
              <a:ext uri="{28A0092B-C50C-407E-A947-70E740481C1C}">
                <a14:useLocalDpi xmlns:a14="http://schemas.microsoft.com/office/drawing/2010/main"/>
              </a:ext>
              <a:ext uri="{837473B0-CC2E-450A-ABE3-18F120FF3D39}">
                <a1611:picAttrSrcUrl xmlns:a1611="http://schemas.microsoft.com/office/drawing/2016/11/main" r:id="rId6"/>
              </a:ext>
            </a:extLst>
          </a:blip>
          <a:stretch>
            <a:fillRect/>
          </a:stretch>
        </p:blipFill>
        <p:spPr>
          <a:xfrm>
            <a:off x="7706093" y="1637499"/>
            <a:ext cx="3706495" cy="278003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5462" y="6129037"/>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70015" y="520394"/>
            <a:ext cx="9764885" cy="2677656"/>
          </a:xfrm>
          <a:prstGeom prst="rect">
            <a:avLst/>
          </a:prstGeom>
          <a:noFill/>
        </p:spPr>
        <p:txBody>
          <a:bodyPr wrap="square" rtlCol="0">
            <a:spAutoFit/>
          </a:bodyPr>
          <a:lstStyle/>
          <a:p>
            <a:pPr marL="463550" indent="-46355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are two things you wonder about currency exchanges?</a:t>
            </a:r>
          </a:p>
          <a:p>
            <a:pPr marL="342900" indent="-3429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An example of a currency exchange calculator is shown.</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What are two things you notice?</a:t>
            </a:r>
          </a:p>
        </p:txBody>
      </p:sp>
      <p:sp>
        <p:nvSpPr>
          <p:cNvPr id="6" name="Google Shape;282;g104476d1465_1_17">
            <a:extLst>
              <a:ext uri="{FF2B5EF4-FFF2-40B4-BE49-F238E27FC236}">
                <a16:creationId xmlns:a16="http://schemas.microsoft.com/office/drawing/2014/main" id="{CA7FA3A8-DC78-A94D-B466-9C41BEDD6321}"/>
              </a:ext>
            </a:extLst>
          </p:cNvPr>
          <p:cNvSpPr txBox="1"/>
          <p:nvPr/>
        </p:nvSpPr>
        <p:spPr>
          <a:xfrm>
            <a:off x="7314750" y="6444343"/>
            <a:ext cx="4120712" cy="413532"/>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237</a:t>
            </a:r>
            <a:endParaRPr i="1" dirty="0">
              <a:latin typeface="Calibri"/>
              <a:ea typeface="Calibri"/>
              <a:cs typeface="Calibri"/>
              <a:sym typeface="Calibri"/>
            </a:endParaRPr>
          </a:p>
        </p:txBody>
      </p:sp>
      <p:pic>
        <p:nvPicPr>
          <p:cNvPr id="8" name="Picture 7">
            <a:extLst>
              <a:ext uri="{FF2B5EF4-FFF2-40B4-BE49-F238E27FC236}">
                <a16:creationId xmlns:a16="http://schemas.microsoft.com/office/drawing/2014/main" id="{E24DF839-18BC-6046-A8A9-5F62837CE444}"/>
              </a:ext>
            </a:extLst>
          </p:cNvPr>
          <p:cNvPicPr>
            <a:picLocks noChangeAspect="1"/>
          </p:cNvPicPr>
          <p:nvPr/>
        </p:nvPicPr>
        <p:blipFill rotWithShape="1">
          <a:blip r:embed="rId4">
            <a:extLst>
              <a:ext uri="{28A0092B-C50C-407E-A947-70E740481C1C}">
                <a14:useLocalDpi xmlns:a14="http://schemas.microsoft.com/office/drawing/2010/main"/>
              </a:ext>
            </a:extLst>
          </a:blip>
          <a:srcRect r="2610"/>
          <a:stretch/>
        </p:blipFill>
        <p:spPr bwMode="auto">
          <a:xfrm>
            <a:off x="6825343" y="3198050"/>
            <a:ext cx="4443086" cy="228119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6308" y="6139253"/>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58140" y="540185"/>
                <a:ext cx="11078687" cy="2308324"/>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Peyton wrote the currency exchange as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$10 ≈ 8.57</m:t>
                    </m:r>
                  </m:oMath>
                </a14:m>
                <a:r>
                  <a:rPr lang="en-US" sz="2400" dirty="0">
                    <a:latin typeface="Verdana" panose="020B0604030504040204" pitchFamily="34" charset="0"/>
                    <a:ea typeface="Verdana" panose="020B0604030504040204" pitchFamily="34" charset="0"/>
                    <a:cs typeface="Verdana" panose="020B0604030504040204" pitchFamily="34" charset="0"/>
                  </a:rPr>
                  <a:t> Euros, €.  The symbol,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means “is approximately equal to.” This is the symbol often used to show the relationship between currencies instead of an equal sign,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marL="454025" indent="42863"/>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Why do you think that is?</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58140" y="540185"/>
                <a:ext cx="11078687" cy="2308324"/>
              </a:xfrm>
              <a:prstGeom prst="rect">
                <a:avLst/>
              </a:prstGeom>
              <a:blipFill>
                <a:blip r:embed="rId4"/>
                <a:stretch>
                  <a:fillRect l="-881" t="-2381" b="-5291"/>
                </a:stretch>
              </a:blipFill>
            </p:spPr>
            <p:txBody>
              <a:bodyPr/>
              <a:lstStyle/>
              <a:p>
                <a:r>
                  <a:rPr lang="en-US">
                    <a:noFill/>
                  </a:rPr>
                  <a:t> </a:t>
                </a:r>
              </a:p>
            </p:txBody>
          </p:sp>
        </mc:Fallback>
      </mc:AlternateContent>
      <p:sp>
        <p:nvSpPr>
          <p:cNvPr id="6" name="Google Shape;282;g104476d1465_1_17">
            <a:extLst>
              <a:ext uri="{FF2B5EF4-FFF2-40B4-BE49-F238E27FC236}">
                <a16:creationId xmlns:a16="http://schemas.microsoft.com/office/drawing/2014/main" id="{CA7FA3A8-DC78-A94D-B466-9C41BEDD6321}"/>
              </a:ext>
            </a:extLst>
          </p:cNvPr>
          <p:cNvSpPr txBox="1"/>
          <p:nvPr/>
        </p:nvSpPr>
        <p:spPr>
          <a:xfrm>
            <a:off x="7314750" y="6487885"/>
            <a:ext cx="4241558"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238</a:t>
            </a:r>
            <a:endParaRPr i="1" dirty="0">
              <a:latin typeface="Calibri"/>
              <a:ea typeface="Calibri"/>
              <a:cs typeface="Calibri"/>
              <a:sym typeface="Calibri"/>
            </a:endParaRPr>
          </a:p>
        </p:txBody>
      </p:sp>
    </p:spTree>
    <p:extLst>
      <p:ext uri="{BB962C8B-B14F-4D97-AF65-F5344CB8AC3E}">
        <p14:creationId xmlns:p14="http://schemas.microsoft.com/office/powerpoint/2010/main" val="1977537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3433"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ED0D4F70-A5F7-6844-B49C-C7559A226638}"/>
              </a:ext>
            </a:extLst>
          </p:cNvPr>
          <p:cNvSpPr txBox="1"/>
          <p:nvPr/>
        </p:nvSpPr>
        <p:spPr>
          <a:xfrm>
            <a:off x="7314749" y="6498771"/>
            <a:ext cx="421868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238</a:t>
            </a:r>
            <a:endParaRPr i="1" dirty="0">
              <a:latin typeface="Calibri"/>
              <a:ea typeface="Calibri"/>
              <a:cs typeface="Calibri"/>
              <a:sym typeface="Calibri"/>
            </a:endParaRPr>
          </a:p>
        </p:txBody>
      </p:sp>
    </p:spTree>
    <p:extLst>
      <p:ext uri="{BB962C8B-B14F-4D97-AF65-F5344CB8AC3E}">
        <p14:creationId xmlns:p14="http://schemas.microsoft.com/office/powerpoint/2010/main" val="4196971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5462"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78805" y="-91154"/>
            <a:ext cx="1082050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6.1.2 Exploration: Journey Through </a:t>
            </a:r>
            <a:r>
              <a:rPr lang="en-US" sz="3200" b="1" dirty="0" err="1">
                <a:solidFill>
                  <a:srgbClr val="33BEA6"/>
                </a:solidFill>
                <a:latin typeface="Verdana"/>
                <a:ea typeface="Verdana"/>
                <a:cs typeface="Verdana"/>
                <a:sym typeface="Verdana"/>
              </a:rPr>
              <a:t>Mathlandia</a:t>
            </a:r>
            <a:endParaRPr lang="en-US" sz="3200" b="1" dirty="0">
              <a:solidFill>
                <a:srgbClr val="33BEA6"/>
              </a:solidFill>
              <a:latin typeface="Verdana"/>
              <a:ea typeface="Verdana"/>
              <a:cs typeface="Verdana"/>
              <a:sym typeface="Verdana"/>
            </a:endParaRP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26550" y="195569"/>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1C46F4F-A85A-084E-B29C-01BB2615DE1E}"/>
              </a:ext>
            </a:extLst>
          </p:cNvPr>
          <p:cNvSpPr/>
          <p:nvPr/>
        </p:nvSpPr>
        <p:spPr>
          <a:xfrm>
            <a:off x="674915" y="1234546"/>
            <a:ext cx="9484064" cy="4093428"/>
          </a:xfrm>
          <a:prstGeom prst="rect">
            <a:avLst/>
          </a:prstGeom>
        </p:spPr>
        <p:txBody>
          <a:bodyPr wrap="square">
            <a:spAutoFit/>
          </a:bodyPr>
          <a:lstStyle/>
          <a:p>
            <a:pPr lvl="0"/>
            <a:r>
              <a:rPr lang="en-US" sz="2000" dirty="0">
                <a:latin typeface="Verdana" panose="020B0604030504040204" pitchFamily="34" charset="0"/>
                <a:ea typeface="Times New Roman" panose="02020603050405020304" pitchFamily="18" charset="0"/>
              </a:rPr>
              <a:t>In class today, you will visit different countries in </a:t>
            </a:r>
            <a:r>
              <a:rPr lang="en-US" sz="2000" dirty="0" err="1">
                <a:latin typeface="Verdana" panose="020B0604030504040204" pitchFamily="34" charset="0"/>
                <a:ea typeface="Times New Roman" panose="02020603050405020304" pitchFamily="18" charset="0"/>
              </a:rPr>
              <a:t>Mathlandia</a:t>
            </a:r>
            <a:r>
              <a:rPr lang="en-US" sz="2000" dirty="0">
                <a:latin typeface="Verdana" panose="020B0604030504040204" pitchFamily="34" charset="0"/>
                <a:ea typeface="Times New Roman" panose="02020603050405020304" pitchFamily="18" charset="0"/>
              </a:rPr>
              <a:t>. In each country, you will see sets of souvenir items of the same value for sale, but with prices in each country’s currency. Use the table to record the prices of the items in each country. Place a star beside your “home” country. As you visit each country, you will work together to determine the exchange rate in comparison to your “home country.” Happy travels!</a:t>
            </a:r>
          </a:p>
          <a:p>
            <a:pPr lvl="0"/>
            <a:endParaRPr lang="en-US" sz="2000" dirty="0">
              <a:latin typeface="Verdana" panose="020B0604030504040204" pitchFamily="34" charset="0"/>
              <a:ea typeface="Times New Roman" panose="02020603050405020304" pitchFamily="18" charset="0"/>
            </a:endParaRPr>
          </a:p>
          <a:p>
            <a:pPr lvl="0"/>
            <a:r>
              <a:rPr lang="en-US" sz="2000" dirty="0">
                <a:latin typeface="Verdana" panose="020B0604030504040204" pitchFamily="34" charset="0"/>
                <a:ea typeface="Times New Roman" panose="02020603050405020304" pitchFamily="18" charset="0"/>
              </a:rPr>
              <a:t>In the first column of the table, each country’s name is listed in bold. The country’s currency is listed below the country’s name with the symbol for its units in parentheses.</a:t>
            </a:r>
          </a:p>
          <a:p>
            <a:pPr lvl="0"/>
            <a:endParaRPr lang="en-US" sz="2000" dirty="0">
              <a:latin typeface="Verdana" panose="020B0604030504040204" pitchFamily="34" charset="0"/>
              <a:ea typeface="Times New Roman" panose="02020603050405020304" pitchFamily="18" charset="0"/>
            </a:endParaRPr>
          </a:p>
          <a:p>
            <a:pPr lvl="0"/>
            <a:r>
              <a:rPr lang="en-US" sz="2000" dirty="0">
                <a:latin typeface="Verdana" panose="020B0604030504040204" pitchFamily="34" charset="0"/>
                <a:ea typeface="Times New Roman" panose="02020603050405020304" pitchFamily="18" charset="0"/>
              </a:rPr>
              <a:t>Write your “home” country’s name and currency on the lines provided.</a:t>
            </a:r>
          </a:p>
        </p:txBody>
      </p:sp>
      <p:sp>
        <p:nvSpPr>
          <p:cNvPr id="13" name="Google Shape;282;g104476d1465_1_17">
            <a:extLst>
              <a:ext uri="{FF2B5EF4-FFF2-40B4-BE49-F238E27FC236}">
                <a16:creationId xmlns:a16="http://schemas.microsoft.com/office/drawing/2014/main" id="{201E82E5-44E0-F44C-89CC-51BF5F797282}"/>
              </a:ext>
            </a:extLst>
          </p:cNvPr>
          <p:cNvSpPr txBox="1"/>
          <p:nvPr/>
        </p:nvSpPr>
        <p:spPr>
          <a:xfrm>
            <a:off x="7314750" y="6520543"/>
            <a:ext cx="4120712"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238</a:t>
            </a:r>
            <a:endParaRPr i="1" dirty="0">
              <a:latin typeface="Calibri"/>
              <a:ea typeface="Calibri"/>
              <a:cs typeface="Calibri"/>
              <a:sym typeface="Calibri"/>
            </a:endParaRPr>
          </a:p>
        </p:txBody>
      </p:sp>
    </p:spTree>
    <p:extLst>
      <p:ext uri="{BB962C8B-B14F-4D97-AF65-F5344CB8AC3E}">
        <p14:creationId xmlns:p14="http://schemas.microsoft.com/office/powerpoint/2010/main" val="2235248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4384" y="-8225"/>
            <a:ext cx="223200" cy="6866100"/>
          </a:xfrm>
          <a:prstGeom prst="rect">
            <a:avLst/>
          </a:prstGeom>
          <a:solidFill>
            <a:srgbClr val="035036"/>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24576" y="6129037"/>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621792" y="234643"/>
            <a:ext cx="9713109" cy="1477328"/>
          </a:xfrm>
          <a:prstGeom prst="rect">
            <a:avLst/>
          </a:prstGeom>
          <a:noFill/>
        </p:spPr>
        <p:txBody>
          <a:bodyPr wrap="square" rtlCol="0">
            <a:spAutoFit/>
          </a:bodyPr>
          <a:lstStyle/>
          <a:p>
            <a:pPr lvl="2" indent="349250"/>
            <a:r>
              <a:rPr lang="en-US" sz="1800" b="1" dirty="0">
                <a:latin typeface="Verdana" panose="020B0604030504040204" pitchFamily="34" charset="0"/>
                <a:ea typeface="Verdana" panose="020B0604030504040204" pitchFamily="34" charset="0"/>
                <a:cs typeface="Verdana" panose="020B0604030504040204" pitchFamily="34" charset="0"/>
              </a:rPr>
              <a:t>“Home” Country Name _________________</a:t>
            </a:r>
          </a:p>
          <a:p>
            <a:pPr lvl="2" indent="349250" algn="ctr"/>
            <a:r>
              <a:rPr lang="en-US" sz="1800" b="1" dirty="0">
                <a:latin typeface="Verdana" panose="020B0604030504040204" pitchFamily="34" charset="0"/>
                <a:ea typeface="Verdana" panose="020B0604030504040204" pitchFamily="34" charset="0"/>
                <a:cs typeface="Verdana" panose="020B0604030504040204" pitchFamily="34" charset="0"/>
              </a:rPr>
              <a:t> </a:t>
            </a:r>
          </a:p>
          <a:p>
            <a:pPr lvl="2" indent="349250"/>
            <a:r>
              <a:rPr lang="en-US" sz="1800" b="1" dirty="0">
                <a:latin typeface="Verdana" panose="020B0604030504040204" pitchFamily="34" charset="0"/>
                <a:ea typeface="Verdana" panose="020B0604030504040204" pitchFamily="34" charset="0"/>
                <a:cs typeface="Verdana" panose="020B0604030504040204" pitchFamily="34" charset="0"/>
              </a:rPr>
              <a:t>  currency (units) ___________________</a:t>
            </a:r>
          </a:p>
          <a:p>
            <a:pPr lvl="2" indent="349250" algn="ctr"/>
            <a:r>
              <a:rPr lang="en-US" sz="1800" b="1" dirty="0">
                <a:latin typeface="Verdana" panose="020B0604030504040204" pitchFamily="34" charset="0"/>
                <a:ea typeface="Verdana" panose="020B0604030504040204" pitchFamily="34" charset="0"/>
                <a:cs typeface="Verdana" panose="020B0604030504040204" pitchFamily="34" charset="0"/>
              </a:rPr>
              <a:t> </a:t>
            </a:r>
          </a:p>
          <a:p>
            <a:pPr lvl="2" indent="349250"/>
            <a:r>
              <a:rPr lang="en-US" sz="1800" b="1" dirty="0">
                <a:latin typeface="Verdana" panose="020B0604030504040204" pitchFamily="34" charset="0"/>
                <a:ea typeface="Verdana" panose="020B0604030504040204" pitchFamily="34" charset="0"/>
                <a:cs typeface="Verdana" panose="020B0604030504040204" pitchFamily="34" charset="0"/>
              </a:rPr>
              <a:t>	Price of Goods by Country</a:t>
            </a:r>
          </a:p>
        </p:txBody>
      </p:sp>
      <p:sp>
        <p:nvSpPr>
          <p:cNvPr id="8" name="Google Shape;282;g104476d1465_1_17">
            <a:extLst>
              <a:ext uri="{FF2B5EF4-FFF2-40B4-BE49-F238E27FC236}">
                <a16:creationId xmlns:a16="http://schemas.microsoft.com/office/drawing/2014/main" id="{E91541B9-7C1E-4043-A1D5-12779C6D7B04}"/>
              </a:ext>
            </a:extLst>
          </p:cNvPr>
          <p:cNvSpPr txBox="1"/>
          <p:nvPr/>
        </p:nvSpPr>
        <p:spPr>
          <a:xfrm>
            <a:off x="7314750" y="6457675"/>
            <a:ext cx="4109826"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238</a:t>
            </a:r>
            <a:endParaRPr i="1" dirty="0">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2488C8AF-D304-1647-AC2B-78BD72807779}"/>
              </a:ext>
            </a:extLst>
          </p:cNvPr>
          <p:cNvGraphicFramePr>
            <a:graphicFrameLocks noGrp="1"/>
          </p:cNvGraphicFramePr>
          <p:nvPr>
            <p:extLst>
              <p:ext uri="{D42A27DB-BD31-4B8C-83A1-F6EECF244321}">
                <p14:modId xmlns:p14="http://schemas.microsoft.com/office/powerpoint/2010/main" val="3753242054"/>
              </p:ext>
            </p:extLst>
          </p:nvPr>
        </p:nvGraphicFramePr>
        <p:xfrm>
          <a:off x="2544746" y="1918203"/>
          <a:ext cx="7253175" cy="4333240"/>
        </p:xfrm>
        <a:graphic>
          <a:graphicData uri="http://schemas.openxmlformats.org/drawingml/2006/table">
            <a:tbl>
              <a:tblPr firstRow="1" firstCol="1" bandRow="1">
                <a:tableStyleId>{A91F0D33-8C57-4600-99A7-42BC86742BE1}</a:tableStyleId>
              </a:tblPr>
              <a:tblGrid>
                <a:gridCol w="1631456">
                  <a:extLst>
                    <a:ext uri="{9D8B030D-6E8A-4147-A177-3AD203B41FA5}">
                      <a16:colId xmlns:a16="http://schemas.microsoft.com/office/drawing/2014/main" val="2776401058"/>
                    </a:ext>
                  </a:extLst>
                </a:gridCol>
                <a:gridCol w="1050390">
                  <a:extLst>
                    <a:ext uri="{9D8B030D-6E8A-4147-A177-3AD203B41FA5}">
                      <a16:colId xmlns:a16="http://schemas.microsoft.com/office/drawing/2014/main" val="1327140297"/>
                    </a:ext>
                  </a:extLst>
                </a:gridCol>
                <a:gridCol w="1307061">
                  <a:extLst>
                    <a:ext uri="{9D8B030D-6E8A-4147-A177-3AD203B41FA5}">
                      <a16:colId xmlns:a16="http://schemas.microsoft.com/office/drawing/2014/main" val="496535587"/>
                    </a:ext>
                  </a:extLst>
                </a:gridCol>
                <a:gridCol w="1084929">
                  <a:extLst>
                    <a:ext uri="{9D8B030D-6E8A-4147-A177-3AD203B41FA5}">
                      <a16:colId xmlns:a16="http://schemas.microsoft.com/office/drawing/2014/main" val="1782540019"/>
                    </a:ext>
                  </a:extLst>
                </a:gridCol>
                <a:gridCol w="1036845">
                  <a:extLst>
                    <a:ext uri="{9D8B030D-6E8A-4147-A177-3AD203B41FA5}">
                      <a16:colId xmlns:a16="http://schemas.microsoft.com/office/drawing/2014/main" val="2681736705"/>
                    </a:ext>
                  </a:extLst>
                </a:gridCol>
                <a:gridCol w="1142494">
                  <a:extLst>
                    <a:ext uri="{9D8B030D-6E8A-4147-A177-3AD203B41FA5}">
                      <a16:colId xmlns:a16="http://schemas.microsoft.com/office/drawing/2014/main" val="2756165483"/>
                    </a:ext>
                  </a:extLst>
                </a:gridCol>
              </a:tblGrid>
              <a:tr h="508000">
                <a:tc>
                  <a:txBody>
                    <a:bodyPr/>
                    <a:lstStyle/>
                    <a:p>
                      <a:pPr marL="0" marR="0">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 </a:t>
                      </a:r>
                      <a:endParaRPr lang="en-CO" sz="1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Mug</a:t>
                      </a:r>
                      <a:endParaRPr lang="en-CO" sz="1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Keychain</a:t>
                      </a:r>
                      <a:endParaRPr lang="en-CO" sz="1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Magnet</a:t>
                      </a:r>
                      <a:endParaRPr lang="en-CO" sz="1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T-shirt</a:t>
                      </a:r>
                      <a:endParaRPr lang="en-CO" sz="1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Picture Frame</a:t>
                      </a:r>
                      <a:endParaRPr lang="en-CO" sz="12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43156992"/>
                  </a:ext>
                </a:extLst>
              </a:tr>
              <a:tr h="1275080">
                <a:tc>
                  <a:txBody>
                    <a:bodyPr/>
                    <a:lstStyle/>
                    <a:p>
                      <a:pPr marL="0" marR="0" algn="ctr">
                        <a:spcBef>
                          <a:spcPts val="0"/>
                        </a:spcBef>
                        <a:spcAft>
                          <a:spcPts val="0"/>
                        </a:spcAft>
                      </a:pPr>
                      <a:r>
                        <a:rPr lang="en-US" sz="1600" b="1" dirty="0" err="1">
                          <a:effectLst/>
                          <a:latin typeface="Verdana" panose="020B0604030504040204" pitchFamily="34" charset="0"/>
                          <a:ea typeface="Verdana" panose="020B0604030504040204" pitchFamily="34" charset="0"/>
                          <a:cs typeface="Verdana" panose="020B0604030504040204" pitchFamily="34" charset="0"/>
                        </a:rPr>
                        <a:t>Scalenia</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600" b="0" dirty="0" err="1">
                          <a:effectLst/>
                          <a:latin typeface="Verdana" panose="020B0604030504040204" pitchFamily="34" charset="0"/>
                          <a:ea typeface="Verdana" panose="020B0604030504040204" pitchFamily="34" charset="0"/>
                          <a:cs typeface="Verdana" panose="020B0604030504040204" pitchFamily="34" charset="0"/>
                        </a:rPr>
                        <a:t>sal</a:t>
                      </a:r>
                      <a:r>
                        <a:rPr lang="en-US" sz="1600" b="0" dirty="0">
                          <a:effectLst/>
                          <a:latin typeface="Verdana" panose="020B0604030504040204" pitchFamily="34" charset="0"/>
                          <a:ea typeface="Verdana" panose="020B0604030504040204" pitchFamily="34" charset="0"/>
                          <a:cs typeface="Verdana" panose="020B0604030504040204" pitchFamily="34" charset="0"/>
                        </a:rPr>
                        <a:t> (§)</a:t>
                      </a:r>
                      <a:endParaRPr lang="en-CO" sz="1200" b="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047700"/>
                  </a:ext>
                </a:extLst>
              </a:tr>
              <a:tr h="1275080">
                <a:tc>
                  <a:txBody>
                    <a:bodyPr/>
                    <a:lstStyle/>
                    <a:p>
                      <a:pPr marL="0" marR="0" algn="ctr">
                        <a:spcBef>
                          <a:spcPts val="0"/>
                        </a:spcBef>
                        <a:spcAft>
                          <a:spcPts val="0"/>
                        </a:spcAft>
                      </a:pPr>
                      <a:r>
                        <a:rPr lang="en-US" sz="1600" b="1" dirty="0" err="1">
                          <a:effectLst/>
                          <a:latin typeface="Verdana" panose="020B0604030504040204" pitchFamily="34" charset="0"/>
                          <a:ea typeface="Verdana" panose="020B0604030504040204" pitchFamily="34" charset="0"/>
                          <a:cs typeface="Verdana" panose="020B0604030504040204" pitchFamily="34" charset="0"/>
                        </a:rPr>
                        <a:t>Prismopolis</a:t>
                      </a:r>
                      <a:r>
                        <a:rPr lang="en-US" sz="1600" b="1" dirty="0">
                          <a:effectLst/>
                          <a:latin typeface="Verdana" panose="020B0604030504040204" pitchFamily="34" charset="0"/>
                          <a:ea typeface="Verdana" panose="020B0604030504040204" pitchFamily="34" charset="0"/>
                          <a:cs typeface="Verdana" panose="020B0604030504040204" pitchFamily="34" charset="0"/>
                        </a:rPr>
                        <a:t> </a:t>
                      </a:r>
                      <a:r>
                        <a:rPr lang="en-US" sz="1600" b="0" dirty="0">
                          <a:effectLst/>
                          <a:latin typeface="Verdana" panose="020B0604030504040204" pitchFamily="34" charset="0"/>
                          <a:ea typeface="Verdana" panose="020B0604030504040204" pitchFamily="34" charset="0"/>
                          <a:cs typeface="Verdana" panose="020B0604030504040204" pitchFamily="34" charset="0"/>
                        </a:rPr>
                        <a:t>peak (</a:t>
                      </a:r>
                      <a:r>
                        <a:rPr lang="en-US" sz="1600" b="0" dirty="0" err="1">
                          <a:effectLst/>
                          <a:latin typeface="Verdana" panose="020B0604030504040204" pitchFamily="34" charset="0"/>
                          <a:ea typeface="Verdana" panose="020B0604030504040204" pitchFamily="34" charset="0"/>
                          <a:cs typeface="Verdana" panose="020B0604030504040204" pitchFamily="34" charset="0"/>
                        </a:rPr>
                        <a:t>ᐰ</a:t>
                      </a:r>
                      <a:r>
                        <a:rPr lang="en-US" sz="1600" b="0" dirty="0">
                          <a:effectLst/>
                          <a:latin typeface="Verdana" panose="020B0604030504040204" pitchFamily="34" charset="0"/>
                          <a:ea typeface="Verdana" panose="020B0604030504040204" pitchFamily="34" charset="0"/>
                          <a:cs typeface="Verdana" panose="020B0604030504040204" pitchFamily="34" charset="0"/>
                        </a:rPr>
                        <a:t>)</a:t>
                      </a:r>
                      <a:endParaRPr lang="en-CO" sz="1200" b="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1154968"/>
                  </a:ext>
                </a:extLst>
              </a:tr>
              <a:tr h="1275080">
                <a:tc>
                  <a:txBody>
                    <a:bodyPr/>
                    <a:lstStyle/>
                    <a:p>
                      <a:pPr marL="0" marR="0" algn="ctr">
                        <a:spcBef>
                          <a:spcPts val="0"/>
                        </a:spcBef>
                        <a:spcAft>
                          <a:spcPts val="0"/>
                        </a:spcAft>
                      </a:pPr>
                      <a:r>
                        <a:rPr lang="en-US" sz="1600" b="1" dirty="0" err="1">
                          <a:effectLst/>
                          <a:latin typeface="Verdana" panose="020B0604030504040204" pitchFamily="34" charset="0"/>
                          <a:ea typeface="Verdana" panose="020B0604030504040204" pitchFamily="34" charset="0"/>
                          <a:cs typeface="Verdana" panose="020B0604030504040204" pitchFamily="34" charset="0"/>
                        </a:rPr>
                        <a:t>Proportia</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600" b="0" dirty="0">
                          <a:effectLst/>
                          <a:latin typeface="Verdana" panose="020B0604030504040204" pitchFamily="34" charset="0"/>
                          <a:ea typeface="Verdana" panose="020B0604030504040204" pitchFamily="34" charset="0"/>
                          <a:cs typeface="Verdana" panose="020B0604030504040204" pitchFamily="34" charset="0"/>
                        </a:rPr>
                        <a:t>pop (</a:t>
                      </a:r>
                      <a:r>
                        <a:rPr lang="en-US" sz="1600" b="0" dirty="0" err="1">
                          <a:effectLst/>
                          <a:latin typeface="Verdana" panose="020B0604030504040204" pitchFamily="34" charset="0"/>
                          <a:ea typeface="Verdana" panose="020B0604030504040204" pitchFamily="34" charset="0"/>
                          <a:cs typeface="Verdana" panose="020B0604030504040204" pitchFamily="34" charset="0"/>
                        </a:rPr>
                        <a:t>ᖘ</a:t>
                      </a:r>
                      <a:r>
                        <a:rPr lang="en-US" sz="1600" b="0" dirty="0">
                          <a:effectLst/>
                          <a:latin typeface="Verdana" panose="020B0604030504040204" pitchFamily="34" charset="0"/>
                          <a:ea typeface="Verdana" panose="020B0604030504040204" pitchFamily="34" charset="0"/>
                          <a:cs typeface="Verdana" panose="020B0604030504040204" pitchFamily="34" charset="0"/>
                        </a:rPr>
                        <a:t>)</a:t>
                      </a:r>
                      <a:endParaRPr lang="en-CO" sz="1200" b="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1517879"/>
                  </a:ext>
                </a:extLst>
              </a:tr>
            </a:tbl>
          </a:graphicData>
        </a:graphic>
      </p:graphicFrame>
    </p:spTree>
    <p:extLst>
      <p:ext uri="{BB962C8B-B14F-4D97-AF65-F5344CB8AC3E}">
        <p14:creationId xmlns:p14="http://schemas.microsoft.com/office/powerpoint/2010/main" val="2165538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9" y="6061531"/>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EE8B73DB-0DF7-EE46-891E-B7CF14DC7489}"/>
              </a:ext>
            </a:extLst>
          </p:cNvPr>
          <p:cNvSpPr txBox="1"/>
          <p:nvPr/>
        </p:nvSpPr>
        <p:spPr>
          <a:xfrm>
            <a:off x="7314749" y="6466113"/>
            <a:ext cx="4153369"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238</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id="{EAC38F79-1EFE-5247-943B-6E5157E51394}"/>
              </a:ext>
            </a:extLst>
          </p:cNvPr>
          <p:cNvGraphicFramePr>
            <a:graphicFrameLocks noGrp="1"/>
          </p:cNvGraphicFramePr>
          <p:nvPr>
            <p:extLst>
              <p:ext uri="{D42A27DB-BD31-4B8C-83A1-F6EECF244321}">
                <p14:modId xmlns:p14="http://schemas.microsoft.com/office/powerpoint/2010/main" val="863476246"/>
              </p:ext>
            </p:extLst>
          </p:nvPr>
        </p:nvGraphicFramePr>
        <p:xfrm>
          <a:off x="1555834" y="1272719"/>
          <a:ext cx="9080331" cy="3825240"/>
        </p:xfrm>
        <a:graphic>
          <a:graphicData uri="http://schemas.openxmlformats.org/drawingml/2006/table">
            <a:tbl>
              <a:tblPr firstRow="1" firstCol="1" bandRow="1">
                <a:tableStyleId>{A91F0D33-8C57-4600-99A7-42BC86742BE1}</a:tableStyleId>
              </a:tblPr>
              <a:tblGrid>
                <a:gridCol w="2042438">
                  <a:extLst>
                    <a:ext uri="{9D8B030D-6E8A-4147-A177-3AD203B41FA5}">
                      <a16:colId xmlns:a16="http://schemas.microsoft.com/office/drawing/2014/main" val="243559243"/>
                    </a:ext>
                  </a:extLst>
                </a:gridCol>
                <a:gridCol w="1314995">
                  <a:extLst>
                    <a:ext uri="{9D8B030D-6E8A-4147-A177-3AD203B41FA5}">
                      <a16:colId xmlns:a16="http://schemas.microsoft.com/office/drawing/2014/main" val="4095717946"/>
                    </a:ext>
                  </a:extLst>
                </a:gridCol>
                <a:gridCol w="1636324">
                  <a:extLst>
                    <a:ext uri="{9D8B030D-6E8A-4147-A177-3AD203B41FA5}">
                      <a16:colId xmlns:a16="http://schemas.microsoft.com/office/drawing/2014/main" val="2832541023"/>
                    </a:ext>
                  </a:extLst>
                </a:gridCol>
                <a:gridCol w="1358235">
                  <a:extLst>
                    <a:ext uri="{9D8B030D-6E8A-4147-A177-3AD203B41FA5}">
                      <a16:colId xmlns:a16="http://schemas.microsoft.com/office/drawing/2014/main" val="1158461140"/>
                    </a:ext>
                  </a:extLst>
                </a:gridCol>
                <a:gridCol w="1298038">
                  <a:extLst>
                    <a:ext uri="{9D8B030D-6E8A-4147-A177-3AD203B41FA5}">
                      <a16:colId xmlns:a16="http://schemas.microsoft.com/office/drawing/2014/main" val="1236881909"/>
                    </a:ext>
                  </a:extLst>
                </a:gridCol>
                <a:gridCol w="1430301">
                  <a:extLst>
                    <a:ext uri="{9D8B030D-6E8A-4147-A177-3AD203B41FA5}">
                      <a16:colId xmlns:a16="http://schemas.microsoft.com/office/drawing/2014/main" val="1861840080"/>
                    </a:ext>
                  </a:extLst>
                </a:gridCol>
              </a:tblGrid>
              <a:tr h="1275080">
                <a:tc>
                  <a:txBody>
                    <a:bodyPr/>
                    <a:lstStyle/>
                    <a:p>
                      <a:pPr marL="0" marR="0" algn="ctr">
                        <a:spcBef>
                          <a:spcPts val="0"/>
                        </a:spcBef>
                        <a:spcAft>
                          <a:spcPts val="0"/>
                        </a:spcAft>
                      </a:pPr>
                      <a:r>
                        <a:rPr lang="en-US" sz="1600" b="1" dirty="0" err="1">
                          <a:effectLst/>
                          <a:latin typeface="Verdana" panose="020B0604030504040204" pitchFamily="34" charset="0"/>
                          <a:ea typeface="Verdana" panose="020B0604030504040204" pitchFamily="34" charset="0"/>
                          <a:cs typeface="Verdana" panose="020B0604030504040204" pitchFamily="34" charset="0"/>
                        </a:rPr>
                        <a:t>Equivaland</a:t>
                      </a:r>
                      <a:r>
                        <a:rPr lang="en-US" sz="1600" b="1"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1600" b="0" dirty="0" err="1">
                          <a:effectLst/>
                          <a:latin typeface="Verdana" panose="020B0604030504040204" pitchFamily="34" charset="0"/>
                          <a:ea typeface="Verdana" panose="020B0604030504040204" pitchFamily="34" charset="0"/>
                          <a:cs typeface="Verdana" panose="020B0604030504040204" pitchFamily="34" charset="0"/>
                        </a:rPr>
                        <a:t>equi</a:t>
                      </a:r>
                      <a:r>
                        <a:rPr lang="en-US" sz="1600" b="0" dirty="0">
                          <a:effectLst/>
                          <a:latin typeface="Verdana" panose="020B0604030504040204" pitchFamily="34" charset="0"/>
                          <a:ea typeface="Verdana" panose="020B0604030504040204" pitchFamily="34" charset="0"/>
                          <a:cs typeface="Verdana" panose="020B0604030504040204" pitchFamily="34" charset="0"/>
                        </a:rPr>
                        <a:t> (ᕮ)</a:t>
                      </a:r>
                      <a:endParaRPr lang="en-CO" sz="1200" b="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7230173"/>
                  </a:ext>
                </a:extLst>
              </a:tr>
              <a:tr h="1275080">
                <a:tc>
                  <a:txBody>
                    <a:bodyPr/>
                    <a:lstStyle/>
                    <a:p>
                      <a:pPr marL="0" marR="0" algn="ctr">
                        <a:spcBef>
                          <a:spcPts val="0"/>
                        </a:spcBef>
                        <a:spcAft>
                          <a:spcPts val="0"/>
                        </a:spcAft>
                      </a:pPr>
                      <a:r>
                        <a:rPr lang="en-US" sz="1600" b="1" dirty="0" err="1">
                          <a:effectLst/>
                          <a:latin typeface="Verdana" panose="020B0604030504040204" pitchFamily="34" charset="0"/>
                          <a:ea typeface="Verdana" panose="020B0604030504040204" pitchFamily="34" charset="0"/>
                          <a:cs typeface="Verdana" panose="020B0604030504040204" pitchFamily="34" charset="0"/>
                        </a:rPr>
                        <a:t>Variableya</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600" b="0" dirty="0">
                          <a:effectLst/>
                          <a:latin typeface="Verdana" panose="020B0604030504040204" pitchFamily="34" charset="0"/>
                          <a:ea typeface="Verdana" panose="020B0604030504040204" pitchFamily="34" charset="0"/>
                          <a:cs typeface="Verdana" panose="020B0604030504040204" pitchFamily="34" charset="0"/>
                        </a:rPr>
                        <a:t>var (</a:t>
                      </a:r>
                      <a:r>
                        <a:rPr lang="en-US" sz="1600" b="0" dirty="0" err="1">
                          <a:effectLst/>
                          <a:latin typeface="Verdana" panose="020B0604030504040204" pitchFamily="34" charset="0"/>
                          <a:ea typeface="Verdana" panose="020B0604030504040204" pitchFamily="34" charset="0"/>
                          <a:cs typeface="Verdana" panose="020B0604030504040204" pitchFamily="34" charset="0"/>
                        </a:rPr>
                        <a:t>ṽ</a:t>
                      </a:r>
                      <a:r>
                        <a:rPr lang="en-US" sz="1600" b="0" dirty="0">
                          <a:effectLst/>
                          <a:latin typeface="Verdana" panose="020B0604030504040204" pitchFamily="34" charset="0"/>
                          <a:ea typeface="Verdana" panose="020B0604030504040204" pitchFamily="34" charset="0"/>
                          <a:cs typeface="Verdana" panose="020B0604030504040204" pitchFamily="34" charset="0"/>
                        </a:rPr>
                        <a:t>)</a:t>
                      </a:r>
                      <a:endParaRPr lang="en-CO" sz="1200" b="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8555285"/>
                  </a:ext>
                </a:extLst>
              </a:tr>
              <a:tr h="1275080">
                <a:tc>
                  <a:txBody>
                    <a:bodyPr/>
                    <a:lstStyle/>
                    <a:p>
                      <a:pPr marL="0" marR="0" algn="ctr">
                        <a:spcBef>
                          <a:spcPts val="0"/>
                        </a:spcBef>
                        <a:spcAft>
                          <a:spcPts val="0"/>
                        </a:spcAft>
                      </a:pPr>
                      <a:r>
                        <a:rPr lang="en-US" sz="1600" b="1" dirty="0" err="1">
                          <a:effectLst/>
                          <a:latin typeface="Verdana" panose="020B0604030504040204" pitchFamily="34" charset="0"/>
                          <a:ea typeface="Verdana" panose="020B0604030504040204" pitchFamily="34" charset="0"/>
                          <a:cs typeface="Verdana" panose="020B0604030504040204" pitchFamily="34" charset="0"/>
                        </a:rPr>
                        <a:t>Integerina</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600" b="0" dirty="0">
                          <a:effectLst/>
                          <a:latin typeface="Verdana" panose="020B0604030504040204" pitchFamily="34" charset="0"/>
                          <a:ea typeface="Verdana" panose="020B0604030504040204" pitchFamily="34" charset="0"/>
                          <a:cs typeface="Verdana" panose="020B0604030504040204" pitchFamily="34" charset="0"/>
                        </a:rPr>
                        <a:t>op (⊕)</a:t>
                      </a:r>
                      <a:endParaRPr lang="en-CO" sz="1200" b="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0935559"/>
                  </a:ext>
                </a:extLst>
              </a:tr>
            </a:tbl>
          </a:graphicData>
        </a:graphic>
      </p:graphicFrame>
    </p:spTree>
    <p:extLst>
      <p:ext uri="{BB962C8B-B14F-4D97-AF65-F5344CB8AC3E}">
        <p14:creationId xmlns:p14="http://schemas.microsoft.com/office/powerpoint/2010/main" val="1191343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8833" y="6129037"/>
            <a:ext cx="563850" cy="657276"/>
          </a:xfrm>
          <a:prstGeom prst="rect">
            <a:avLst/>
          </a:prstGeom>
          <a:noFill/>
          <a:ln>
            <a:noFill/>
          </a:ln>
          <a:effectLst>
            <a:outerShdw blurRad="57150" dist="19050" dir="5400000" algn="bl" rotWithShape="0">
              <a:srgbClr val="000000">
                <a:alpha val="50000"/>
              </a:srgbClr>
            </a:outerShdw>
          </a:effectLst>
        </p:spPr>
      </p:pic>
      <p:sp>
        <p:nvSpPr>
          <p:cNvPr id="18" name="Google Shape;282;g104476d1465_1_17">
            <a:extLst>
              <a:ext uri="{FF2B5EF4-FFF2-40B4-BE49-F238E27FC236}">
                <a16:creationId xmlns:a16="http://schemas.microsoft.com/office/drawing/2014/main" id="{D3CFD391-E431-9C4A-9934-6764E12AD456}"/>
              </a:ext>
            </a:extLst>
          </p:cNvPr>
          <p:cNvSpPr txBox="1"/>
          <p:nvPr/>
        </p:nvSpPr>
        <p:spPr>
          <a:xfrm>
            <a:off x="7314749" y="6509657"/>
            <a:ext cx="422408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239</a:t>
            </a:r>
            <a:endParaRPr i="1" dirty="0">
              <a:latin typeface="Calibri"/>
              <a:ea typeface="Calibri"/>
              <a:cs typeface="Calibri"/>
              <a:sym typeface="Calibri"/>
            </a:endParaRPr>
          </a:p>
        </p:txBody>
      </p:sp>
      <p:sp>
        <p:nvSpPr>
          <p:cNvPr id="19" name="Rectangle 18">
            <a:extLst>
              <a:ext uri="{FF2B5EF4-FFF2-40B4-BE49-F238E27FC236}">
                <a16:creationId xmlns:a16="http://schemas.microsoft.com/office/drawing/2014/main" id="{1CF8FBDD-4B48-3C40-9166-098D9F255394}"/>
              </a:ext>
            </a:extLst>
          </p:cNvPr>
          <p:cNvSpPr/>
          <p:nvPr/>
        </p:nvSpPr>
        <p:spPr>
          <a:xfrm>
            <a:off x="511629" y="463929"/>
            <a:ext cx="11571514" cy="707886"/>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rPr>
              <a:t>Complete the statement to summarize the information given about the souvenir items in each country, using the words or phrases in the bank.</a:t>
            </a:r>
          </a:p>
        </p:txBody>
      </p:sp>
      <p:sp>
        <p:nvSpPr>
          <p:cNvPr id="20" name="Rounded Rectangle 19">
            <a:extLst>
              <a:ext uri="{FF2B5EF4-FFF2-40B4-BE49-F238E27FC236}">
                <a16:creationId xmlns:a16="http://schemas.microsoft.com/office/drawing/2014/main" id="{8A7F6B6C-A7B5-C34E-BA5E-B27F3ED77A73}"/>
              </a:ext>
            </a:extLst>
          </p:cNvPr>
          <p:cNvSpPr/>
          <p:nvPr/>
        </p:nvSpPr>
        <p:spPr>
          <a:xfrm>
            <a:off x="3728720" y="1689735"/>
            <a:ext cx="4734560" cy="50673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1800">
                <a:solidFill>
                  <a:srgbClr val="000000"/>
                </a:solidFill>
                <a:latin typeface="Verdana" panose="020B0604030504040204" pitchFamily="34" charset="0"/>
                <a:ea typeface="Times New Roman" panose="02020603050405020304" pitchFamily="18" charset="0"/>
              </a:rPr>
              <a:t>currency           equal to            value</a:t>
            </a:r>
            <a:endParaRPr lang="en-CO" sz="1200">
              <a:latin typeface="Times New Roman" panose="02020603050405020304" pitchFamily="18" charset="0"/>
              <a:ea typeface="Times New Roman" panose="02020603050405020304" pitchFamily="18" charset="0"/>
            </a:endParaRPr>
          </a:p>
        </p:txBody>
      </p:sp>
      <p:sp>
        <p:nvSpPr>
          <p:cNvPr id="21" name="Rectangle 20">
            <a:extLst>
              <a:ext uri="{FF2B5EF4-FFF2-40B4-BE49-F238E27FC236}">
                <a16:creationId xmlns:a16="http://schemas.microsoft.com/office/drawing/2014/main" id="{A35893E2-BB1E-464B-B22B-0337BBC09ACF}"/>
              </a:ext>
            </a:extLst>
          </p:cNvPr>
          <p:cNvSpPr/>
          <p:nvPr/>
        </p:nvSpPr>
        <p:spPr>
          <a:xfrm>
            <a:off x="1080655" y="2449890"/>
            <a:ext cx="10307781" cy="2800062"/>
          </a:xfrm>
          <a:prstGeom prst="rect">
            <a:avLst/>
          </a:prstGeom>
        </p:spPr>
        <p:txBody>
          <a:bodyPr wrap="square">
            <a:spAutoFit/>
          </a:bodyPr>
          <a:lstStyle/>
          <a:p>
            <a:pPr lvl="0">
              <a:lnSpc>
                <a:spcPct val="150000"/>
              </a:lnSpc>
            </a:pPr>
            <a:r>
              <a:rPr lang="en-US" sz="2000" dirty="0">
                <a:latin typeface="Verdana" panose="020B0604030504040204" pitchFamily="34" charset="0"/>
                <a:ea typeface="Times New Roman" panose="02020603050405020304" pitchFamily="18" charset="0"/>
              </a:rPr>
              <a:t>Each type of souvenir has the same ____________, which means it is worth the same amount of money. The price of each item is listed in that country’s ____________. Because the price of each souvenir from each country has the same value, the prices in different currencies can be set ____________ each other. This can then be used to determine a currency exchange rate that can be used to approximate the cost of other items. </a:t>
            </a:r>
          </a:p>
        </p:txBody>
      </p:sp>
    </p:spTree>
    <p:extLst>
      <p:ext uri="{BB962C8B-B14F-4D97-AF65-F5344CB8AC3E}">
        <p14:creationId xmlns:p14="http://schemas.microsoft.com/office/powerpoint/2010/main" val="3129476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00776" y="6129037"/>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536E777F-D0DF-0441-9B6F-CED39C7EAD8D}"/>
              </a:ext>
            </a:extLst>
          </p:cNvPr>
          <p:cNvSpPr/>
          <p:nvPr/>
        </p:nvSpPr>
        <p:spPr>
          <a:xfrm>
            <a:off x="570015" y="596537"/>
            <a:ext cx="10355283" cy="3785652"/>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rPr>
              <a:t>With your partner, discuss how this information can be used to find the exchange rate between two currencies.  Write a summary of your discussion.</a:t>
            </a:r>
          </a:p>
          <a:p>
            <a:pPr marL="295275" indent="-295275"/>
            <a:r>
              <a:rPr lang="en-US" sz="2000" dirty="0">
                <a:latin typeface="Verdana" panose="020B0604030504040204" pitchFamily="34" charset="0"/>
                <a:ea typeface="Times New Roman" panose="02020603050405020304" pitchFamily="18" charset="0"/>
              </a:rPr>
              <a:t> </a:t>
            </a:r>
          </a:p>
          <a:p>
            <a:pPr marL="295275" indent="-295275"/>
            <a:r>
              <a:rPr lang="en-US" sz="2000" dirty="0">
                <a:latin typeface="Verdana" panose="020B0604030504040204" pitchFamily="34" charset="0"/>
                <a:ea typeface="Times New Roman" panose="02020603050405020304" pitchFamily="18" charset="0"/>
              </a:rPr>
              <a:t> </a:t>
            </a:r>
          </a:p>
          <a:p>
            <a:pPr marL="295275" indent="-295275"/>
            <a:r>
              <a:rPr lang="en-US" sz="2000" dirty="0">
                <a:latin typeface="Verdana" panose="020B0604030504040204" pitchFamily="34" charset="0"/>
                <a:ea typeface="Times New Roman" panose="02020603050405020304" pitchFamily="18" charset="0"/>
              </a:rPr>
              <a:t> </a:t>
            </a:r>
          </a:p>
          <a:p>
            <a:pPr marL="295275" indent="-295275"/>
            <a:endParaRPr lang="en-US" sz="2000" dirty="0">
              <a:latin typeface="Verdana" panose="020B0604030504040204" pitchFamily="34" charset="0"/>
              <a:ea typeface="Times New Roman" panose="02020603050405020304" pitchFamily="18" charset="0"/>
            </a:endParaRPr>
          </a:p>
          <a:p>
            <a:pPr marL="295275" indent="-295275"/>
            <a:endParaRPr lang="en-US" sz="2000" dirty="0">
              <a:latin typeface="Verdana" panose="020B0604030504040204" pitchFamily="34" charset="0"/>
              <a:ea typeface="Times New Roman" panose="02020603050405020304" pitchFamily="18" charset="0"/>
            </a:endParaRPr>
          </a:p>
          <a:p>
            <a:pPr marL="295275" indent="-295275"/>
            <a:endParaRPr lang="en-US" sz="2000" dirty="0">
              <a:latin typeface="Verdana" panose="020B0604030504040204" pitchFamily="34" charset="0"/>
              <a:ea typeface="Times New Roman" panose="02020603050405020304" pitchFamily="18" charset="0"/>
            </a:endParaRPr>
          </a:p>
          <a:p>
            <a:pPr marL="295275" indent="-295275"/>
            <a:r>
              <a:rPr lang="en-US" sz="2000" dirty="0">
                <a:latin typeface="Verdana" panose="020B0604030504040204" pitchFamily="34" charset="0"/>
                <a:ea typeface="Times New Roman" panose="02020603050405020304" pitchFamily="18" charset="0"/>
              </a:rPr>
              <a:t> </a:t>
            </a:r>
          </a:p>
          <a:p>
            <a:pPr marL="457200" indent="-457200">
              <a:buFont typeface="+mj-lt"/>
              <a:buAutoNum type="arabicPeriod" startAt="3"/>
            </a:pPr>
            <a:r>
              <a:rPr lang="en-US" sz="2000" dirty="0">
                <a:latin typeface="Verdana" panose="020B0604030504040204" pitchFamily="34" charset="0"/>
                <a:ea typeface="Times New Roman" panose="02020603050405020304" pitchFamily="18" charset="0"/>
              </a:rPr>
              <a:t>Show an example of how to find the exchange rate between two currencies. Be sure to label the units.</a:t>
            </a:r>
          </a:p>
        </p:txBody>
      </p:sp>
      <p:sp>
        <p:nvSpPr>
          <p:cNvPr id="9" name="Google Shape;282;g104476d1465_1_17">
            <a:extLst>
              <a:ext uri="{FF2B5EF4-FFF2-40B4-BE49-F238E27FC236}">
                <a16:creationId xmlns:a16="http://schemas.microsoft.com/office/drawing/2014/main" id="{9E6F9533-123C-CA49-AA3D-81D4359CF011}"/>
              </a:ext>
            </a:extLst>
          </p:cNvPr>
          <p:cNvSpPr txBox="1"/>
          <p:nvPr/>
        </p:nvSpPr>
        <p:spPr>
          <a:xfrm>
            <a:off x="7314750" y="6487885"/>
            <a:ext cx="4186026"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239</a:t>
            </a:r>
            <a:endParaRPr i="1" dirty="0">
              <a:latin typeface="Calibri"/>
              <a:ea typeface="Calibri"/>
              <a:cs typeface="Calibri"/>
              <a:sym typeface="Calibri"/>
            </a:endParaRPr>
          </a:p>
        </p:txBody>
      </p:sp>
    </p:spTree>
    <p:extLst>
      <p:ext uri="{BB962C8B-B14F-4D97-AF65-F5344CB8AC3E}">
        <p14:creationId xmlns:p14="http://schemas.microsoft.com/office/powerpoint/2010/main" val="3203094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30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22548" y="6124399"/>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536E777F-D0DF-0441-9B6F-CED39C7EAD8D}"/>
              </a:ext>
            </a:extLst>
          </p:cNvPr>
          <p:cNvSpPr/>
          <p:nvPr/>
        </p:nvSpPr>
        <p:spPr>
          <a:xfrm>
            <a:off x="546266" y="553985"/>
            <a:ext cx="9767968" cy="1323439"/>
          </a:xfrm>
          <a:prstGeom prst="rect">
            <a:avLst/>
          </a:prstGeom>
        </p:spPr>
        <p:txBody>
          <a:bodyPr wrap="square">
            <a:spAutoFit/>
          </a:bodyPr>
          <a:lstStyle/>
          <a:p>
            <a:pPr marL="457200" indent="-457200">
              <a:buFont typeface="+mj-lt"/>
              <a:buAutoNum type="arabicPeriod" startAt="4"/>
            </a:pPr>
            <a:r>
              <a:rPr lang="en-US" sz="2000" dirty="0">
                <a:latin typeface="Verdana" panose="020B0604030504040204" pitchFamily="34" charset="0"/>
                <a:ea typeface="Times New Roman" panose="02020603050405020304" pitchFamily="18" charset="0"/>
              </a:rPr>
              <a:t>Use the information you gathered on your journey to calculate the exchange rates for each of the other currencies in comparison to your “home” currency. Record them in the section of the table for your “home” country’s currency. Round to the nearest hundredth.</a:t>
            </a:r>
          </a:p>
        </p:txBody>
      </p:sp>
      <p:sp>
        <p:nvSpPr>
          <p:cNvPr id="9" name="Google Shape;282;g104476d1465_1_17">
            <a:extLst>
              <a:ext uri="{FF2B5EF4-FFF2-40B4-BE49-F238E27FC236}">
                <a16:creationId xmlns:a16="http://schemas.microsoft.com/office/drawing/2014/main" id="{9E6F9533-123C-CA49-AA3D-81D4359CF011}"/>
              </a:ext>
            </a:extLst>
          </p:cNvPr>
          <p:cNvSpPr txBox="1"/>
          <p:nvPr/>
        </p:nvSpPr>
        <p:spPr>
          <a:xfrm>
            <a:off x="7314750" y="6509657"/>
            <a:ext cx="4207798"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239</a:t>
            </a:r>
            <a:endParaRPr i="1" dirty="0">
              <a:latin typeface="Calibri"/>
              <a:ea typeface="Calibri"/>
              <a:cs typeface="Calibri"/>
              <a:sym typeface="Calibri"/>
            </a:endParaRPr>
          </a:p>
        </p:txBody>
      </p:sp>
      <p:pic>
        <p:nvPicPr>
          <p:cNvPr id="5" name="Picture 4" descr="Table&#10;&#10;Description automatically generated with medium confidence">
            <a:extLst>
              <a:ext uri="{FF2B5EF4-FFF2-40B4-BE49-F238E27FC236}">
                <a16:creationId xmlns:a16="http://schemas.microsoft.com/office/drawing/2014/main" id="{B150621A-B2E6-A742-BD6D-3C4220EB994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229620" y="2406681"/>
            <a:ext cx="6401260" cy="2499861"/>
          </a:xfrm>
          <a:prstGeom prst="rect">
            <a:avLst/>
          </a:prstGeom>
        </p:spPr>
      </p:pic>
    </p:spTree>
    <p:extLst>
      <p:ext uri="{BB962C8B-B14F-4D97-AF65-F5344CB8AC3E}">
        <p14:creationId xmlns:p14="http://schemas.microsoft.com/office/powerpoint/2010/main" val="1613790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6348"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9E6F9533-123C-CA49-AA3D-81D4359CF011}"/>
              </a:ext>
            </a:extLst>
          </p:cNvPr>
          <p:cNvSpPr txBox="1"/>
          <p:nvPr/>
        </p:nvSpPr>
        <p:spPr>
          <a:xfrm>
            <a:off x="7314749" y="6504263"/>
            <a:ext cx="423499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239</a:t>
            </a:r>
            <a:endParaRPr i="1" dirty="0">
              <a:latin typeface="Calibri"/>
              <a:ea typeface="Calibri"/>
              <a:cs typeface="Calibri"/>
              <a:sym typeface="Calibri"/>
            </a:endParaRPr>
          </a:p>
        </p:txBody>
      </p:sp>
      <p:pic>
        <p:nvPicPr>
          <p:cNvPr id="4" name="Picture 3" descr="Table&#10;&#10;Description automatically generated">
            <a:extLst>
              <a:ext uri="{FF2B5EF4-FFF2-40B4-BE49-F238E27FC236}">
                <a16:creationId xmlns:a16="http://schemas.microsoft.com/office/drawing/2014/main" id="{B91E7E35-8BB2-B247-A60B-7BA956E08DF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244804" y="353737"/>
            <a:ext cx="5702393" cy="4432427"/>
          </a:xfrm>
          <a:prstGeom prst="rect">
            <a:avLst/>
          </a:prstGeom>
        </p:spPr>
      </p:pic>
      <p:sp>
        <p:nvSpPr>
          <p:cNvPr id="10" name="Rectangle 9">
            <a:extLst>
              <a:ext uri="{FF2B5EF4-FFF2-40B4-BE49-F238E27FC236}">
                <a16:creationId xmlns:a16="http://schemas.microsoft.com/office/drawing/2014/main" id="{E7BAD6BE-AD99-1247-AC7A-924B64838593}"/>
              </a:ext>
            </a:extLst>
          </p:cNvPr>
          <p:cNvSpPr/>
          <p:nvPr/>
        </p:nvSpPr>
        <p:spPr>
          <a:xfrm>
            <a:off x="546265" y="5026560"/>
            <a:ext cx="9506711" cy="707886"/>
          </a:xfrm>
          <a:prstGeom prst="rect">
            <a:avLst/>
          </a:prstGeom>
        </p:spPr>
        <p:txBody>
          <a:bodyPr wrap="square">
            <a:spAutoFit/>
          </a:bodyPr>
          <a:lstStyle/>
          <a:p>
            <a:pPr marL="457200" indent="-457200">
              <a:buFont typeface="+mj-lt"/>
              <a:buAutoNum type="arabicPeriod" startAt="5"/>
            </a:pPr>
            <a:r>
              <a:rPr lang="en-US" sz="2000" dirty="0">
                <a:latin typeface="Verdana" panose="020B0604030504040204" pitchFamily="34" charset="0"/>
                <a:ea typeface="Times New Roman" panose="02020603050405020304" pitchFamily="18" charset="0"/>
              </a:rPr>
              <a:t>Review the exchange rates displayed by other groups.  Complete the table with the exchange rates for each currency. </a:t>
            </a:r>
          </a:p>
        </p:txBody>
      </p:sp>
    </p:spTree>
    <p:extLst>
      <p:ext uri="{BB962C8B-B14F-4D97-AF65-F5344CB8AC3E}">
        <p14:creationId xmlns:p14="http://schemas.microsoft.com/office/powerpoint/2010/main" val="10277629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3194"/>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7234"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Bring It Together</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50" y="6476999"/>
            <a:ext cx="4142484"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240</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id="{C8593B4F-0075-4A4D-A590-B41259CD5E7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706748" y="2843633"/>
            <a:ext cx="1152447" cy="115244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062107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9"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02307" y="-191787"/>
            <a:ext cx="950500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6.1.3 Bring It Together: Exchanging Currency</a:t>
            </a:r>
          </a:p>
        </p:txBody>
      </p:sp>
      <p:sp>
        <p:nvSpPr>
          <p:cNvPr id="2" name="Rectangle 1">
            <a:extLst>
              <a:ext uri="{FF2B5EF4-FFF2-40B4-BE49-F238E27FC236}">
                <a16:creationId xmlns:a16="http://schemas.microsoft.com/office/drawing/2014/main" id="{C0EEC4E3-DFCF-C94C-B80D-045F3E6BF764}"/>
              </a:ext>
            </a:extLst>
          </p:cNvPr>
          <p:cNvSpPr/>
          <p:nvPr/>
        </p:nvSpPr>
        <p:spPr>
          <a:xfrm>
            <a:off x="617517" y="1536175"/>
            <a:ext cx="9751904" cy="4401205"/>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Write two observations you made about the currencies from the activity.</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Write a ratio that can be used to represent the exchange rate of ops (⊕) to peaks (</a:t>
            </a:r>
            <a:r>
              <a:rPr lang="iu-Cans-CA" sz="2000" dirty="0">
                <a:latin typeface="Verdana" panose="020B0604030504040204" pitchFamily="34" charset="0"/>
                <a:ea typeface="Times New Roman" panose="02020603050405020304" pitchFamily="18" charset="0"/>
                <a:cs typeface="Times New Roman" panose="02020603050405020304" pitchFamily="18" charset="0"/>
              </a:rPr>
              <a:t>ᐰ).</a:t>
            </a:r>
          </a:p>
          <a:p>
            <a:r>
              <a:rPr lang="iu-Cans-CA" sz="2000" dirty="0">
                <a:latin typeface="Verdana" panose="020B0604030504040204" pitchFamily="34" charset="0"/>
                <a:ea typeface="Times New Roman" panose="02020603050405020304" pitchFamily="18" charset="0"/>
                <a:cs typeface="Times New Roman" panose="02020603050405020304" pitchFamily="18" charset="0"/>
              </a:rPr>
              <a:t> </a:t>
            </a:r>
          </a:p>
          <a:p>
            <a:r>
              <a:rPr lang="iu-Cans-CA" sz="2000" dirty="0">
                <a:latin typeface="Verdana" panose="020B0604030504040204" pitchFamily="34" charset="0"/>
                <a:ea typeface="Times New Roman" panose="02020603050405020304" pitchFamily="18" charset="0"/>
                <a:cs typeface="Times New Roman" panose="02020603050405020304" pitchFamily="18" charset="0"/>
              </a:rPr>
              <a:t> </a:t>
            </a:r>
            <a:endParaRPr lang="es-ES" sz="2000" dirty="0">
              <a:latin typeface="Verdana" panose="020B0604030504040204" pitchFamily="34" charset="0"/>
              <a:ea typeface="Times New Roman" panose="02020603050405020304" pitchFamily="18" charset="0"/>
              <a:cs typeface="Times New Roman" panose="02020603050405020304" pitchFamily="18" charset="0"/>
            </a:endParaRPr>
          </a:p>
          <a:p>
            <a:endParaRPr lang="iu-Cans-CA" sz="2000" dirty="0">
              <a:latin typeface="Verdana" panose="020B0604030504040204" pitchFamily="34" charset="0"/>
              <a:ea typeface="Times New Roman" panose="02020603050405020304" pitchFamily="18" charset="0"/>
              <a:cs typeface="Times New Roman" panose="02020603050405020304" pitchFamily="18" charset="0"/>
            </a:endParaRPr>
          </a:p>
          <a:p>
            <a:r>
              <a:rPr lang="iu-Cans-CA"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Write a ratio that can be used to represent the exchange rate of peaks (</a:t>
            </a:r>
            <a:r>
              <a:rPr lang="iu-Cans-CA" sz="2000" dirty="0">
                <a:latin typeface="Verdana" panose="020B0604030504040204" pitchFamily="34" charset="0"/>
                <a:ea typeface="Times New Roman" panose="02020603050405020304" pitchFamily="18" charset="0"/>
                <a:cs typeface="Times New Roman" panose="02020603050405020304" pitchFamily="18" charset="0"/>
              </a:rPr>
              <a:t>ᐰ) </a:t>
            </a:r>
            <a:r>
              <a:rPr lang="en-US" sz="2000" dirty="0">
                <a:latin typeface="Verdana" panose="020B0604030504040204" pitchFamily="34" charset="0"/>
                <a:ea typeface="Times New Roman" panose="02020603050405020304" pitchFamily="18" charset="0"/>
                <a:cs typeface="Times New Roman" panose="02020603050405020304" pitchFamily="18" charset="0"/>
              </a:rPr>
              <a:t>to ops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49" y="6487885"/>
            <a:ext cx="4153369"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240</a:t>
            </a:r>
            <a:endParaRPr i="1" dirty="0">
              <a:latin typeface="Calibri"/>
              <a:ea typeface="Calibri"/>
              <a:cs typeface="Calibri"/>
              <a:sym typeface="Calibri"/>
            </a:endParaRPr>
          </a:p>
        </p:txBody>
      </p:sp>
      <p:pic>
        <p:nvPicPr>
          <p:cNvPr id="12" name="Picture 11" descr="Icon&#10;&#10;Description automatically generated">
            <a:extLst>
              <a:ext uri="{FF2B5EF4-FFF2-40B4-BE49-F238E27FC236}">
                <a16:creationId xmlns:a16="http://schemas.microsoft.com/office/drawing/2014/main" id="{A8E4C09F-0E07-1043-B313-8A236D2641C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14354" y="96159"/>
            <a:ext cx="749808" cy="749808"/>
          </a:xfrm>
          <a:prstGeom prst="rect">
            <a:avLst/>
          </a:prstGeom>
        </p:spPr>
      </p:pic>
    </p:spTree>
    <p:extLst>
      <p:ext uri="{BB962C8B-B14F-4D97-AF65-F5344CB8AC3E}">
        <p14:creationId xmlns:p14="http://schemas.microsoft.com/office/powerpoint/2010/main" val="1364029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5339"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9005" y="6181274"/>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49" y="6509657"/>
            <a:ext cx="4164255"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84B30E62-DBC7-A64B-9D39-DD94DF002123}"/>
                  </a:ext>
                </a:extLst>
              </p:cNvPr>
              <p:cNvSpPr/>
              <p:nvPr/>
            </p:nvSpPr>
            <p:spPr>
              <a:xfrm>
                <a:off x="617517" y="631465"/>
                <a:ext cx="9751903" cy="4401205"/>
              </a:xfrm>
              <a:prstGeom prst="rect">
                <a:avLst/>
              </a:prstGeom>
            </p:spPr>
            <p:txBody>
              <a:bodyPr wrap="square">
                <a:spAutoFit/>
              </a:bodyPr>
              <a:lstStyle/>
              <a:p>
                <a:pPr marL="457200" indent="-457200">
                  <a:buFont typeface="+mj-lt"/>
                  <a:buAutoNum type="arabi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What do you notice about these two ratios?</a:t>
                </a:r>
              </a:p>
              <a:p>
                <a:pPr marL="457200" indent="-457200">
                  <a:buFont typeface="+mj-lt"/>
                  <a:buAutoNum type="arabi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A hat costs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255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peaks (</a:t>
                </a:r>
                <a:r>
                  <a:rPr lang="iu-Cans-CA" sz="2000" dirty="0">
                    <a:latin typeface="Verdana" panose="020B0604030504040204" pitchFamily="34" charset="0"/>
                    <a:ea typeface="Times New Roman" panose="02020603050405020304" pitchFamily="18" charset="0"/>
                    <a:cs typeface="Times New Roman" panose="02020603050405020304" pitchFamily="18" charset="0"/>
                  </a:rPr>
                  <a:t>ᐰ). </a:t>
                </a:r>
                <a:r>
                  <a:rPr lang="en-US" sz="2000" dirty="0">
                    <a:latin typeface="Verdana" panose="020B0604030504040204" pitchFamily="34" charset="0"/>
                    <a:ea typeface="Times New Roman" panose="02020603050405020304" pitchFamily="18" charset="0"/>
                    <a:cs typeface="Times New Roman" panose="02020603050405020304" pitchFamily="18" charset="0"/>
                  </a:rPr>
                  <a:t>Which ratio can be used to determine how much the same hat would cost in ops (⊕)?</a:t>
                </a:r>
              </a:p>
              <a:p>
                <a:pPr marL="457200" indent="-457200">
                  <a:buFont typeface="+mj-lt"/>
                  <a:buAutoNum type="arabi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What is the cost of the hat in ops (⊕)? Show your work.</a:t>
                </a:r>
              </a:p>
            </p:txBody>
          </p:sp>
        </mc:Choice>
        <mc:Fallback xmlns="">
          <p:sp>
            <p:nvSpPr>
              <p:cNvPr id="12" name="Rectangle 11">
                <a:extLst>
                  <a:ext uri="{FF2B5EF4-FFF2-40B4-BE49-F238E27FC236}">
                    <a16:creationId xmlns:a16="http://schemas.microsoft.com/office/drawing/2014/main" id="{84B30E62-DBC7-A64B-9D39-DD94DF002123}"/>
                  </a:ext>
                </a:extLst>
              </p:cNvPr>
              <p:cNvSpPr>
                <a:spLocks noRot="1" noChangeAspect="1" noMove="1" noResize="1" noEditPoints="1" noAdjustHandles="1" noChangeArrowheads="1" noChangeShapeType="1" noTextEdit="1"/>
              </p:cNvSpPr>
              <p:nvPr/>
            </p:nvSpPr>
            <p:spPr>
              <a:xfrm>
                <a:off x="617517" y="631465"/>
                <a:ext cx="9751903" cy="4401205"/>
              </a:xfrm>
              <a:prstGeom prst="rect">
                <a:avLst/>
              </a:prstGeom>
              <a:blipFill>
                <a:blip r:embed="rId4"/>
                <a:stretch>
                  <a:fillRect l="-688" t="-970" b="-1524"/>
                </a:stretch>
              </a:blipFill>
            </p:spPr>
            <p:txBody>
              <a:bodyPr/>
              <a:lstStyle/>
              <a:p>
                <a:r>
                  <a:rPr lang="en-US">
                    <a:noFill/>
                  </a:rPr>
                  <a:t> </a:t>
                </a:r>
              </a:p>
            </p:txBody>
          </p:sp>
        </mc:Fallback>
      </mc:AlternateContent>
    </p:spTree>
    <p:extLst>
      <p:ext uri="{BB962C8B-B14F-4D97-AF65-F5344CB8AC3E}">
        <p14:creationId xmlns:p14="http://schemas.microsoft.com/office/powerpoint/2010/main" val="2219150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23078"/>
            <a:ext cx="2743200" cy="6881078"/>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44319"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EFCC6CD7-3972-624A-AEF1-A2489A486756}"/>
              </a:ext>
            </a:extLst>
          </p:cNvPr>
          <p:cNvSpPr txBox="1"/>
          <p:nvPr/>
        </p:nvSpPr>
        <p:spPr>
          <a:xfrm>
            <a:off x="7314749" y="6466113"/>
            <a:ext cx="4229569"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240</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1662"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77700" y="0"/>
            <a:ext cx="9436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6.1.4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37400" y="206629"/>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D9F7A919-8B1E-2741-BB78-98A66295B9F8}"/>
              </a:ext>
            </a:extLst>
          </p:cNvPr>
          <p:cNvSpPr/>
          <p:nvPr/>
        </p:nvSpPr>
        <p:spPr>
          <a:xfrm>
            <a:off x="1034143" y="1542078"/>
            <a:ext cx="9512893" cy="1569660"/>
          </a:xfrm>
          <a:prstGeom prst="rect">
            <a:avLst/>
          </a:prstGeom>
        </p:spPr>
        <p:txBody>
          <a:bodyPr wrap="square">
            <a:spAutoFit/>
          </a:bodyPr>
          <a:lstStyle/>
          <a:p>
            <a:pPr lvl="0"/>
            <a:r>
              <a:rPr lang="en-US" sz="2400" dirty="0">
                <a:latin typeface="Verdana" panose="020B0604030504040204" pitchFamily="34" charset="0"/>
                <a:ea typeface="Times New Roman" panose="02020603050405020304" pitchFamily="18" charset="0"/>
              </a:rPr>
              <a:t>Complete each statement as you reflect on today’s </a:t>
            </a:r>
            <a:r>
              <a:rPr lang="en-US" sz="2400">
                <a:latin typeface="Verdana" panose="020B0604030504040204" pitchFamily="34" charset="0"/>
                <a:ea typeface="Times New Roman" panose="02020603050405020304" pitchFamily="18" charset="0"/>
              </a:rPr>
              <a:t>learning.</a:t>
            </a:r>
            <a:endParaRPr lang="en-US" sz="2400" dirty="0">
              <a:latin typeface="Verdana" panose="020B0604030504040204" pitchFamily="34" charset="0"/>
              <a:ea typeface="Times New Roman" panose="02020603050405020304" pitchFamily="18" charset="0"/>
            </a:endParaRPr>
          </a:p>
          <a:p>
            <a:pPr lvl="0"/>
            <a:endParaRPr lang="en-US" sz="2400" dirty="0">
              <a:latin typeface="Verdana" panose="020B0604030504040204" pitchFamily="34" charset="0"/>
              <a:ea typeface="Times New Roman" panose="02020603050405020304" pitchFamily="18" charset="0"/>
            </a:endParaRPr>
          </a:p>
          <a:p>
            <a:pPr marL="342900" indent="-342900">
              <a:buFont typeface="+mj-lt"/>
              <a:buAutoNum type="arabicPeriod"/>
            </a:pPr>
            <a:r>
              <a:rPr lang="en-US" sz="2400" dirty="0">
                <a:latin typeface="Verdana" panose="020B0604030504040204" pitchFamily="34" charset="0"/>
                <a:ea typeface="Times New Roman" panose="02020603050405020304" pitchFamily="18" charset="0"/>
              </a:rPr>
              <a:t> When someone asks me what I did in math class today, I can say …</a:t>
            </a:r>
          </a:p>
        </p:txBody>
      </p:sp>
      <p:sp>
        <p:nvSpPr>
          <p:cNvPr id="11" name="Google Shape;282;g104476d1465_1_17">
            <a:extLst>
              <a:ext uri="{FF2B5EF4-FFF2-40B4-BE49-F238E27FC236}">
                <a16:creationId xmlns:a16="http://schemas.microsoft.com/office/drawing/2014/main" id="{F719A187-0842-F343-A6A1-7FD23B0B7316}"/>
              </a:ext>
            </a:extLst>
          </p:cNvPr>
          <p:cNvSpPr txBox="1"/>
          <p:nvPr/>
        </p:nvSpPr>
        <p:spPr>
          <a:xfrm>
            <a:off x="7314750" y="6487885"/>
            <a:ext cx="4196912"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240</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22548" y="6129037"/>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D9F7A919-8B1E-2741-BB78-98A66295B9F8}"/>
              </a:ext>
            </a:extLst>
          </p:cNvPr>
          <p:cNvSpPr/>
          <p:nvPr/>
        </p:nvSpPr>
        <p:spPr>
          <a:xfrm>
            <a:off x="982650" y="606649"/>
            <a:ext cx="8400836" cy="3416320"/>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rPr>
              <a:t>The thing that made the most sense to me today was …</a:t>
            </a:r>
          </a:p>
          <a:p>
            <a:pPr lvl="0"/>
            <a:r>
              <a:rPr lang="en-US" sz="2400" dirty="0">
                <a:latin typeface="Verdana" panose="020B0604030504040204" pitchFamily="34" charset="0"/>
                <a:ea typeface="Times New Roman" panose="02020603050405020304" pitchFamily="18" charset="0"/>
              </a:rPr>
              <a:t> </a:t>
            </a:r>
          </a:p>
          <a:p>
            <a:pPr lvl="0"/>
            <a:r>
              <a:rPr lang="en-US" sz="2400" dirty="0">
                <a:latin typeface="Verdana" panose="020B0604030504040204" pitchFamily="34" charset="0"/>
                <a:ea typeface="Times New Roman" panose="02020603050405020304" pitchFamily="18" charset="0"/>
              </a:rPr>
              <a:t> </a:t>
            </a:r>
          </a:p>
          <a:p>
            <a:pPr lvl="0"/>
            <a:r>
              <a:rPr lang="en-US" sz="2400" dirty="0">
                <a:latin typeface="Verdana" panose="020B0604030504040204" pitchFamily="34" charset="0"/>
                <a:ea typeface="Times New Roman" panose="02020603050405020304" pitchFamily="18" charset="0"/>
              </a:rPr>
              <a:t> </a:t>
            </a:r>
          </a:p>
          <a:p>
            <a:pPr lvl="0"/>
            <a:r>
              <a:rPr lang="en-US" sz="2400" dirty="0">
                <a:latin typeface="Verdana" panose="020B0604030504040204" pitchFamily="34" charset="0"/>
                <a:ea typeface="Times New Roman" panose="02020603050405020304" pitchFamily="18" charset="0"/>
              </a:rPr>
              <a:t>  </a:t>
            </a:r>
          </a:p>
          <a:p>
            <a:pPr lvl="0"/>
            <a:r>
              <a:rPr lang="en-US" sz="2400" dirty="0">
                <a:latin typeface="Verdana" panose="020B0604030504040204" pitchFamily="34" charset="0"/>
                <a:ea typeface="Times New Roman" panose="02020603050405020304" pitchFamily="18" charset="0"/>
              </a:rPr>
              <a:t> </a:t>
            </a:r>
          </a:p>
          <a:p>
            <a:pPr lvl="0"/>
            <a:r>
              <a:rPr lang="en-US" sz="2400" dirty="0">
                <a:latin typeface="Verdana" panose="020B0604030504040204" pitchFamily="34" charset="0"/>
                <a:ea typeface="Times New Roman" panose="02020603050405020304" pitchFamily="18" charset="0"/>
              </a:rPr>
              <a:t> </a:t>
            </a:r>
          </a:p>
          <a:p>
            <a:pPr marL="457200" indent="-457200">
              <a:buFont typeface="+mj-lt"/>
              <a:buAutoNum type="arabicPeriod" startAt="3"/>
            </a:pPr>
            <a:r>
              <a:rPr lang="en-US" sz="2400" dirty="0">
                <a:latin typeface="Verdana" panose="020B0604030504040204" pitchFamily="34" charset="0"/>
                <a:ea typeface="Times New Roman" panose="02020603050405020304" pitchFamily="18" charset="0"/>
              </a:rPr>
              <a:t>Something that I still do not understand is …</a:t>
            </a:r>
          </a:p>
        </p:txBody>
      </p:sp>
      <p:sp>
        <p:nvSpPr>
          <p:cNvPr id="11" name="Google Shape;282;g104476d1465_1_17">
            <a:extLst>
              <a:ext uri="{FF2B5EF4-FFF2-40B4-BE49-F238E27FC236}">
                <a16:creationId xmlns:a16="http://schemas.microsoft.com/office/drawing/2014/main" id="{F719A187-0842-F343-A6A1-7FD23B0B7316}"/>
              </a:ext>
            </a:extLst>
          </p:cNvPr>
          <p:cNvSpPr txBox="1"/>
          <p:nvPr/>
        </p:nvSpPr>
        <p:spPr>
          <a:xfrm>
            <a:off x="7314750" y="6466113"/>
            <a:ext cx="4207798"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240</a:t>
            </a:r>
            <a:endParaRPr i="1" dirty="0">
              <a:latin typeface="Calibri"/>
              <a:ea typeface="Calibri"/>
              <a:cs typeface="Calibri"/>
              <a:sym typeface="Calibri"/>
            </a:endParaRPr>
          </a:p>
        </p:txBody>
      </p:sp>
    </p:spTree>
    <p:extLst>
      <p:ext uri="{BB962C8B-B14F-4D97-AF65-F5344CB8AC3E}">
        <p14:creationId xmlns:p14="http://schemas.microsoft.com/office/powerpoint/2010/main" val="3221648716"/>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1360</TotalTime>
  <Words>1054</Words>
  <Application>Microsoft Office PowerPoint</Application>
  <PresentationFormat>Widescreen</PresentationFormat>
  <Paragraphs>178</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Times New Roman</vt:lpstr>
      <vt:lpstr>Arial Black</vt:lpstr>
      <vt:lpstr>Verdana</vt:lpstr>
      <vt:lpstr>Century Gothic</vt:lpstr>
      <vt:lpstr>Arial</vt:lpstr>
      <vt:lpstr>Cambria Math</vt:lpstr>
      <vt:lpstr>Wingdings</vt:lpstr>
      <vt:lpstr>Calibri</vt:lpstr>
      <vt:lpstr>1_Office Theme</vt:lpstr>
      <vt:lpstr>7th Grade Math  Unit 6, Lesson 1  Paying Your Way in Mathlandia  Volume 1, pg. 237  </vt:lpstr>
      <vt:lpstr>Benchmark</vt:lpstr>
      <vt:lpstr>PowerPoint Presentation</vt:lpstr>
      <vt:lpstr>PowerPoint Presentation</vt:lpstr>
      <vt:lpstr>Warm-Up</vt:lpstr>
      <vt:lpstr>PowerPoint Presentation</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24</cp:revision>
  <dcterms:created xsi:type="dcterms:W3CDTF">2015-03-17T18:51:18Z</dcterms:created>
  <dcterms:modified xsi:type="dcterms:W3CDTF">2022-07-11T02:59:52Z</dcterms:modified>
</cp:coreProperties>
</file>