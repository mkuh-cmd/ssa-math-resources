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85" r:id="rId4"/>
    <p:sldId id="286" r:id="rId5"/>
    <p:sldId id="261" r:id="rId6"/>
    <p:sldId id="287" r:id="rId7"/>
    <p:sldId id="381" r:id="rId8"/>
    <p:sldId id="382" r:id="rId9"/>
    <p:sldId id="383" r:id="rId10"/>
    <p:sldId id="311" r:id="rId11"/>
    <p:sldId id="312" r:id="rId12"/>
    <p:sldId id="366" r:id="rId13"/>
    <p:sldId id="387" r:id="rId14"/>
    <p:sldId id="388" r:id="rId15"/>
    <p:sldId id="389" r:id="rId16"/>
    <p:sldId id="390" r:id="rId17"/>
    <p:sldId id="391" r:id="rId18"/>
    <p:sldId id="306" r:id="rId19"/>
    <p:sldId id="307" r:id="rId20"/>
  </p:sldIdLst>
  <p:sldSz cx="12192000" cy="6858000"/>
  <p:notesSz cx="6858000" cy="9144000"/>
  <p:embeddedFontLst>
    <p:embeddedFont>
      <p:font typeface="Arial Black" panose="020B0A04020102020204" pitchFamily="34" charset="0"/>
      <p:regular r:id="rId22"/>
      <p:bold r:id="rId23"/>
    </p:embeddedFont>
    <p:embeddedFont>
      <p:font typeface="Calibri" panose="020F0502020204030204" pitchFamily="34" charset="0"/>
      <p:regular r:id="rId24"/>
      <p:bold r:id="rId25"/>
      <p:italic r:id="rId26"/>
      <p:boldItalic r:id="rId27"/>
    </p:embeddedFont>
    <p:embeddedFont>
      <p:font typeface="Cambria Math" panose="02040503050406030204" pitchFamily="18" charset="0"/>
      <p:regular r:id="rId28"/>
    </p:embeddedFont>
    <p:embeddedFont>
      <p:font typeface="Century Gothic" panose="020B0502020202020204" pitchFamily="34" charset="0"/>
      <p:regular r:id="rId29"/>
      <p:bold r:id="rId30"/>
      <p:italic r:id="rId31"/>
      <p:boldItalic r:id="rId32"/>
    </p:embeddedFont>
    <p:embeddedFont>
      <p:font typeface="Verdana" panose="020B0604030504040204" pitchFamily="34"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4E5F"/>
    <a:srgbClr val="45BFA9"/>
    <a:srgbClr val="035036"/>
    <a:srgbClr val="3465B0"/>
    <a:srgbClr val="DA4487"/>
    <a:srgbClr val="276C46"/>
    <a:srgbClr val="C9DF6F"/>
    <a:srgbClr val="417DBF"/>
    <a:srgbClr val="3F2A67"/>
    <a:srgbClr val="26B7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45"/>
    <p:restoredTop sz="94718"/>
  </p:normalViewPr>
  <p:slideViewPr>
    <p:cSldViewPr snapToGrid="0">
      <p:cViewPr varScale="1">
        <p:scale>
          <a:sx n="81" d="100"/>
          <a:sy n="81" d="100"/>
        </p:scale>
        <p:origin x="624"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font" Target="fonts/font13.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54560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6078080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3165661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3484838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12168322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8799254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3426315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883484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7043033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7166881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hyperlink" Target="https://en.wikipedia.org/wiki/John_Thomson_(cartographer)" TargetMode="External"/><Relationship Id="rId5" Type="http://schemas.openxmlformats.org/officeDocument/2006/relationships/image" Target="../media/image13.jpe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200" b="1" dirty="0">
                <a:solidFill>
                  <a:srgbClr val="417DBF"/>
                </a:solidFill>
                <a:latin typeface="Verdana"/>
                <a:ea typeface="Verdana"/>
                <a:cs typeface="Verdana"/>
                <a:sym typeface="Verdana"/>
              </a:rPr>
              <a:t>7</a:t>
            </a:r>
            <a:r>
              <a:rPr lang="en-US" sz="3200" b="1" baseline="30000" dirty="0">
                <a:solidFill>
                  <a:srgbClr val="417DBF"/>
                </a:solidFill>
                <a:latin typeface="Verdana"/>
                <a:ea typeface="Verdana"/>
                <a:cs typeface="Verdana"/>
                <a:sym typeface="Verdana"/>
              </a:rPr>
              <a:t>th</a:t>
            </a:r>
            <a:r>
              <a:rPr lang="en-US" sz="3200" b="1" dirty="0">
                <a:solidFill>
                  <a:srgbClr val="417DBF"/>
                </a:solidFill>
                <a:latin typeface="Verdana"/>
                <a:ea typeface="Verdana"/>
                <a:cs typeface="Verdana"/>
                <a:sym typeface="Verdana"/>
              </a:rPr>
              <a:t> Grade Math</a:t>
            </a:r>
            <a:br>
              <a:rPr lang="en-US" sz="3200" b="1" dirty="0">
                <a:solidFill>
                  <a:srgbClr val="417DBF"/>
                </a:solidFill>
                <a:latin typeface="Verdana"/>
                <a:ea typeface="Verdana"/>
                <a:cs typeface="Verdana"/>
                <a:sym typeface="Verdana"/>
              </a:rPr>
            </a:br>
            <a:endParaRPr lang="en-US" sz="3200" b="1" dirty="0">
              <a:solidFill>
                <a:srgbClr val="417DBF"/>
              </a:solidFill>
              <a:latin typeface="Verdana"/>
              <a:ea typeface="Verdana"/>
              <a:cs typeface="Verdana"/>
              <a:sym typeface="Verdana"/>
            </a:endParaRPr>
          </a:p>
          <a:p>
            <a:pPr algn="ctr">
              <a:lnSpc>
                <a:spcPct val="100000"/>
              </a:lnSpc>
              <a:buClr>
                <a:srgbClr val="000000"/>
              </a:buClr>
            </a:pPr>
            <a:r>
              <a:rPr lang="en-US" sz="3200" b="1" dirty="0">
                <a:solidFill>
                  <a:srgbClr val="417DBF"/>
                </a:solidFill>
                <a:latin typeface="Verdana"/>
                <a:ea typeface="Verdana"/>
                <a:cs typeface="Verdana"/>
                <a:sym typeface="Verdana"/>
              </a:rPr>
              <a:t>Unit 6, Lesson 10</a:t>
            </a:r>
            <a:br>
              <a:rPr lang="en-US" sz="3200" b="1" dirty="0">
                <a:solidFill>
                  <a:srgbClr val="417DBF"/>
                </a:solidFill>
                <a:latin typeface="Verdana"/>
                <a:ea typeface="Verdana"/>
                <a:cs typeface="Verdana"/>
                <a:sym typeface="Verdana"/>
              </a:rPr>
            </a:br>
            <a:br>
              <a:rPr lang="en-US" sz="32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Solving Multi-Step Proportion Problems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282</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0503" y="1607888"/>
            <a:ext cx="2973100" cy="34657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1850" y="-12020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4900" y="1365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7314749" y="6509657"/>
            <a:ext cx="4044511"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282</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59261"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126671" y="1578428"/>
            <a:ext cx="9938657"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MA.7.AR.4.5</a:t>
            </a:r>
          </a:p>
          <a:p>
            <a:pPr indent="0">
              <a:buNone/>
            </a:pPr>
            <a:r>
              <a:rPr lang="en-US" sz="2500" dirty="0">
                <a:latin typeface="Verdana" panose="020B0604030504040204" pitchFamily="34" charset="0"/>
                <a:ea typeface="Verdana" panose="020B0604030504040204" pitchFamily="34" charset="0"/>
                <a:cs typeface="Verdana" panose="020B0604030504040204" pitchFamily="34" charset="0"/>
              </a:rPr>
              <a:t>Solve real-world problems involving proportional relationships.</a:t>
            </a:r>
            <a:endParaRPr lang="en-US" sz="25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472350" y="168046"/>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8119" y="6142013"/>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219650" y="-8225"/>
            <a:ext cx="1205710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473836" y="1656187"/>
            <a:ext cx="973845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p>
        </p:txBody>
      </p:sp>
      <p:sp>
        <p:nvSpPr>
          <p:cNvPr id="9" name="Google Shape;282;g104476d1465_1_17">
            <a:extLst>
              <a:ext uri="{FF2B5EF4-FFF2-40B4-BE49-F238E27FC236}">
                <a16:creationId xmlns:a16="http://schemas.microsoft.com/office/drawing/2014/main" id="{7E42EF11-5FC6-7744-AF68-159F2F06D67F}"/>
              </a:ext>
            </a:extLst>
          </p:cNvPr>
          <p:cNvSpPr txBox="1"/>
          <p:nvPr/>
        </p:nvSpPr>
        <p:spPr>
          <a:xfrm>
            <a:off x="7314749" y="6455229"/>
            <a:ext cx="4153369" cy="402646"/>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282</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4645" y="6144903"/>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338943" y="-101538"/>
            <a:ext cx="917826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481241" y="156575"/>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902791" y="1738068"/>
            <a:ext cx="1085377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itchFamily="2" charset="2"/>
              <a:buChar char="q"/>
            </a:pPr>
            <a:r>
              <a:rPr lang="en-US" sz="2500" dirty="0">
                <a:latin typeface="Verdana" panose="020B0604030504040204" pitchFamily="34" charset="0"/>
                <a:ea typeface="Verdana" panose="020B0604030504040204" pitchFamily="34" charset="0"/>
                <a:cs typeface="Verdana" panose="020B0604030504040204" pitchFamily="34" charset="0"/>
              </a:rPr>
              <a:t> I can solve multi-step problems involving proportions. </a:t>
            </a:r>
          </a:p>
        </p:txBody>
      </p:sp>
      <p:sp>
        <p:nvSpPr>
          <p:cNvPr id="8" name="Google Shape;282;g104476d1465_1_17">
            <a:extLst>
              <a:ext uri="{FF2B5EF4-FFF2-40B4-BE49-F238E27FC236}">
                <a16:creationId xmlns:a16="http://schemas.microsoft.com/office/drawing/2014/main" id="{6793C8E2-E1C4-B24A-AB6C-B7DBDD28D85B}"/>
              </a:ext>
            </a:extLst>
          </p:cNvPr>
          <p:cNvSpPr txBox="1"/>
          <p:nvPr/>
        </p:nvSpPr>
        <p:spPr>
          <a:xfrm>
            <a:off x="7314749" y="6457674"/>
            <a:ext cx="4159895" cy="400201"/>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282</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9004" y="6129037"/>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6BCEEC8C-9B17-C841-8ED4-211C80FA09C6}"/>
              </a:ext>
            </a:extLst>
          </p:cNvPr>
          <p:cNvSpPr txBox="1"/>
          <p:nvPr/>
        </p:nvSpPr>
        <p:spPr>
          <a:xfrm>
            <a:off x="7314749" y="6476999"/>
            <a:ext cx="4245879"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283</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7233"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82067" y="-120757"/>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6.10.1 Warm-Up: Making Maps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434767" y="153942"/>
            <a:ext cx="747300" cy="747300"/>
          </a:xfrm>
          <a:prstGeom prst="rect">
            <a:avLst/>
          </a:prstGeom>
          <a:noFill/>
          <a:ln>
            <a:noFill/>
          </a:ln>
          <a:effectLst>
            <a:outerShdw blurRad="50800" dist="38100" dir="2700000" algn="tl" rotWithShape="0">
              <a:prstClr val="black">
                <a:alpha val="40000"/>
              </a:prstClr>
            </a:outerShdw>
          </a:effectLst>
        </p:spPr>
      </p:pic>
      <p:sp>
        <p:nvSpPr>
          <p:cNvPr id="5" name="Rectangle 4">
            <a:extLst>
              <a:ext uri="{FF2B5EF4-FFF2-40B4-BE49-F238E27FC236}">
                <a16:creationId xmlns:a16="http://schemas.microsoft.com/office/drawing/2014/main" id="{353081A1-25B1-2A4B-8FF2-3F1C264A000D}"/>
              </a:ext>
            </a:extLst>
          </p:cNvPr>
          <p:cNvSpPr/>
          <p:nvPr/>
        </p:nvSpPr>
        <p:spPr>
          <a:xfrm>
            <a:off x="434767" y="1386026"/>
            <a:ext cx="5811358" cy="2246769"/>
          </a:xfrm>
          <a:prstGeom prst="rect">
            <a:avLst/>
          </a:prstGeom>
        </p:spPr>
        <p:txBody>
          <a:bodyPr wrap="square">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Cartographers and photogrammetrists are the professionals who collect and analyze data that they then use to create maps. Cartographers design accessible maps for general use, while photogrammetrists create more detailed maps of Earth’s features.</a:t>
            </a:r>
          </a:p>
        </p:txBody>
      </p:sp>
      <p:sp>
        <p:nvSpPr>
          <p:cNvPr id="14" name="Google Shape;282;g104476d1465_1_17">
            <a:extLst>
              <a:ext uri="{FF2B5EF4-FFF2-40B4-BE49-F238E27FC236}">
                <a16:creationId xmlns:a16="http://schemas.microsoft.com/office/drawing/2014/main" id="{478CDDBB-860A-D748-B9D0-C51751F3670A}"/>
              </a:ext>
            </a:extLst>
          </p:cNvPr>
          <p:cNvSpPr txBox="1"/>
          <p:nvPr/>
        </p:nvSpPr>
        <p:spPr>
          <a:xfrm>
            <a:off x="7314749" y="6466113"/>
            <a:ext cx="4142483"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283</a:t>
            </a:r>
            <a:endParaRPr i="1" dirty="0">
              <a:latin typeface="Calibri"/>
              <a:ea typeface="Calibri"/>
              <a:cs typeface="Calibri"/>
              <a:sym typeface="Calibri"/>
            </a:endParaRPr>
          </a:p>
        </p:txBody>
      </p:sp>
      <p:sp>
        <p:nvSpPr>
          <p:cNvPr id="11" name="Rectangle 10">
            <a:extLst>
              <a:ext uri="{FF2B5EF4-FFF2-40B4-BE49-F238E27FC236}">
                <a16:creationId xmlns:a16="http://schemas.microsoft.com/office/drawing/2014/main" id="{768B01B2-A6E1-A040-B327-F84CE961ABE7}"/>
              </a:ext>
            </a:extLst>
          </p:cNvPr>
          <p:cNvSpPr/>
          <p:nvPr/>
        </p:nvSpPr>
        <p:spPr>
          <a:xfrm>
            <a:off x="1182067" y="4738917"/>
            <a:ext cx="8019300" cy="707886"/>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What are some of the ways mathematics can be used for map creation?</a:t>
            </a:r>
          </a:p>
        </p:txBody>
      </p:sp>
      <p:pic>
        <p:nvPicPr>
          <p:cNvPr id="12" name="Picture 11" descr="John Thomson (cartographer) - Wikipedia">
            <a:extLst>
              <a:ext uri="{FF2B5EF4-FFF2-40B4-BE49-F238E27FC236}">
                <a16:creationId xmlns:a16="http://schemas.microsoft.com/office/drawing/2014/main" id="{1750E22D-8D69-054E-892B-3788C1FAF955}"/>
              </a:ext>
            </a:extLst>
          </p:cNvPr>
          <p:cNvPicPr>
            <a:picLocks noChangeAspect="1"/>
          </p:cNvPicPr>
          <p:nvPr/>
        </p:nvPicPr>
        <p:blipFill>
          <a:blip r:embed="rId5" cstate="screen">
            <a:extLst>
              <a:ext uri="{28A0092B-C50C-407E-A947-70E740481C1C}">
                <a14:useLocalDpi xmlns:a14="http://schemas.microsoft.com/office/drawing/2010/main"/>
              </a:ext>
              <a:ext uri="{837473B0-CC2E-450A-ABE3-18F120FF3D39}">
                <a1611:picAttrSrcUrl xmlns:a1611="http://schemas.microsoft.com/office/drawing/2016/11/main" r:id="rId6"/>
              </a:ext>
            </a:extLst>
          </a:blip>
          <a:stretch>
            <a:fillRect/>
          </a:stretch>
        </p:blipFill>
        <p:spPr>
          <a:xfrm>
            <a:off x="6150586" y="1529220"/>
            <a:ext cx="4311015" cy="2800350"/>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9005"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59194" y="2766145"/>
            <a:ext cx="4480750"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4400" b="1" dirty="0">
                <a:solidFill>
                  <a:srgbClr val="45BFA9"/>
                </a:solidFill>
                <a:latin typeface="Verdana"/>
                <a:ea typeface="Verdana"/>
                <a:cs typeface="Verdana"/>
                <a:sym typeface="Verdana"/>
              </a:rPr>
              <a:t>Collaboration</a:t>
            </a:r>
            <a:endParaRPr sz="4000" b="1" dirty="0">
              <a:solidFill>
                <a:srgbClr val="45BFA9"/>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7314749" y="6466113"/>
            <a:ext cx="4164255"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283</a:t>
            </a:r>
            <a:endParaRPr i="1" dirty="0">
              <a:latin typeface="Calibri"/>
              <a:ea typeface="Calibri"/>
              <a:cs typeface="Calibri"/>
              <a:sym typeface="Calibri"/>
            </a:endParaRPr>
          </a:p>
        </p:txBody>
      </p:sp>
      <p:pic>
        <p:nvPicPr>
          <p:cNvPr id="9" name="image5.png">
            <a:extLst>
              <a:ext uri="{FF2B5EF4-FFF2-40B4-BE49-F238E27FC236}">
                <a16:creationId xmlns:a16="http://schemas.microsoft.com/office/drawing/2014/main" id="{2E1E89A8-D0E7-C648-8036-51C32583B580}"/>
              </a:ext>
            </a:extLst>
          </p:cNvPr>
          <p:cNvPicPr/>
          <p:nvPr/>
        </p:nvPicPr>
        <p:blipFill>
          <a:blip r:embed="rId4" cstate="print">
            <a:extLst>
              <a:ext uri="{28A0092B-C50C-407E-A947-70E740481C1C}">
                <a14:useLocalDpi xmlns:a14="http://schemas.microsoft.com/office/drawing/2010/main"/>
              </a:ext>
            </a:extLst>
          </a:blip>
          <a:stretch>
            <a:fillRect/>
          </a:stretch>
        </p:blipFill>
        <p:spPr>
          <a:xfrm>
            <a:off x="4601700" y="2852778"/>
            <a:ext cx="1152447" cy="1152447"/>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581370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59262" y="612903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55315" y="-39324"/>
            <a:ext cx="901410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45BFA9"/>
                </a:solidFill>
                <a:latin typeface="Verdana"/>
                <a:ea typeface="Verdana"/>
                <a:cs typeface="Verdana"/>
                <a:sym typeface="Verdana"/>
              </a:rPr>
              <a:t>6.10.2 Collaboration: The “Right” Way</a:t>
            </a:r>
          </a:p>
        </p:txBody>
      </p:sp>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C0EEC4E3-DFCF-C94C-B80D-045F3E6BF764}"/>
                  </a:ext>
                </a:extLst>
              </p:cNvPr>
              <p:cNvSpPr/>
              <p:nvPr/>
            </p:nvSpPr>
            <p:spPr>
              <a:xfrm>
                <a:off x="736270" y="1286376"/>
                <a:ext cx="9633151" cy="2308324"/>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Work with your partner to answer the following questions.</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r>
                  <a:rPr lang="en-US" sz="2400" dirty="0">
                    <a:latin typeface="Verdana" panose="020B0604030504040204" pitchFamily="34" charset="0"/>
                    <a:ea typeface="Times New Roman" panose="02020603050405020304" pitchFamily="18" charset="0"/>
                    <a:cs typeface="Times New Roman" panose="02020603050405020304" pitchFamily="18" charset="0"/>
                  </a:rPr>
                  <a:t>Lucas’s favorite hot cocoa recipe calls for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cup (c) of milk and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tablespoons (tbsp) of cocoa. Today, he accidentally added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tablespoons of cocoa to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cup of milk and it was way too chocolatey. </a:t>
                </a:r>
              </a:p>
            </p:txBody>
          </p:sp>
        </mc:Choice>
        <mc:Fallback>
          <p:sp>
            <p:nvSpPr>
              <p:cNvPr id="2" name="Rectangle 1">
                <a:extLst>
                  <a:ext uri="{FF2B5EF4-FFF2-40B4-BE49-F238E27FC236}">
                    <a16:creationId xmlns:a16="http://schemas.microsoft.com/office/drawing/2014/main" id="{C0EEC4E3-DFCF-C94C-B80D-045F3E6BF764}"/>
                  </a:ext>
                </a:extLst>
              </p:cNvPr>
              <p:cNvSpPr>
                <a:spLocks noRot="1" noChangeAspect="1" noMove="1" noResize="1" noEditPoints="1" noAdjustHandles="1" noChangeArrowheads="1" noChangeShapeType="1" noTextEdit="1"/>
              </p:cNvSpPr>
              <p:nvPr/>
            </p:nvSpPr>
            <p:spPr>
              <a:xfrm>
                <a:off x="736270" y="1286376"/>
                <a:ext cx="9633151" cy="2308324"/>
              </a:xfrm>
              <a:prstGeom prst="rect">
                <a:avLst/>
              </a:prstGeom>
              <a:blipFill>
                <a:blip r:embed="rId4"/>
                <a:stretch>
                  <a:fillRect l="-1013" t="-2111" r="-1962" b="-5013"/>
                </a:stretch>
              </a:blipFill>
            </p:spPr>
            <p:txBody>
              <a:bodyPr/>
              <a:lstStyle/>
              <a:p>
                <a:r>
                  <a:rPr lang="en-US">
                    <a:noFill/>
                  </a:rPr>
                  <a:t> </a:t>
                </a:r>
              </a:p>
            </p:txBody>
          </p:sp>
        </mc:Fallback>
      </mc:AlternateContent>
      <p:sp>
        <p:nvSpPr>
          <p:cNvPr id="16" name="Google Shape;282;g104476d1465_1_17">
            <a:extLst>
              <a:ext uri="{FF2B5EF4-FFF2-40B4-BE49-F238E27FC236}">
                <a16:creationId xmlns:a16="http://schemas.microsoft.com/office/drawing/2014/main" id="{4E354D11-4333-5B4D-A7B5-313F4353BB7E}"/>
              </a:ext>
            </a:extLst>
          </p:cNvPr>
          <p:cNvSpPr txBox="1"/>
          <p:nvPr/>
        </p:nvSpPr>
        <p:spPr>
          <a:xfrm>
            <a:off x="7314750" y="6466113"/>
            <a:ext cx="4044512"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283</a:t>
            </a:r>
            <a:endParaRPr i="1" dirty="0">
              <a:latin typeface="Calibri"/>
              <a:ea typeface="Calibri"/>
              <a:cs typeface="Calibri"/>
              <a:sym typeface="Calibri"/>
            </a:endParaRPr>
          </a:p>
        </p:txBody>
      </p:sp>
      <p:pic>
        <p:nvPicPr>
          <p:cNvPr id="8" name="image5.png">
            <a:extLst>
              <a:ext uri="{FF2B5EF4-FFF2-40B4-BE49-F238E27FC236}">
                <a16:creationId xmlns:a16="http://schemas.microsoft.com/office/drawing/2014/main" id="{A179F127-9C9B-DE48-9971-FF132544006E}"/>
              </a:ext>
            </a:extLst>
          </p:cNvPr>
          <p:cNvPicPr/>
          <p:nvPr/>
        </p:nvPicPr>
        <p:blipFill>
          <a:blip r:embed="rId5" cstate="screen">
            <a:extLst>
              <a:ext uri="{28A0092B-C50C-407E-A947-70E740481C1C}">
                <a14:useLocalDpi xmlns:a14="http://schemas.microsoft.com/office/drawing/2010/main"/>
              </a:ext>
            </a:extLst>
          </a:blip>
          <a:stretch>
            <a:fillRect/>
          </a:stretch>
        </p:blipFill>
        <p:spPr>
          <a:xfrm>
            <a:off x="414354" y="139703"/>
            <a:ext cx="749808" cy="749808"/>
          </a:xfrm>
          <a:prstGeom prst="rect">
            <a:avLst/>
          </a:prstGeom>
          <a:ln/>
        </p:spPr>
      </p:pic>
      <p:pic>
        <p:nvPicPr>
          <p:cNvPr id="9" name="Picture 8" descr="A picture containing cup&#10;&#10;Description automatically generated">
            <a:extLst>
              <a:ext uri="{FF2B5EF4-FFF2-40B4-BE49-F238E27FC236}">
                <a16:creationId xmlns:a16="http://schemas.microsoft.com/office/drawing/2014/main" id="{D500D312-FAFC-2C4F-824B-10C3EBC0C4BD}"/>
              </a:ext>
            </a:extLst>
          </p:cNvPr>
          <p:cNvPicPr>
            <a:picLocks noChangeAspect="1"/>
          </p:cNvPicPr>
          <p:nvPr/>
        </p:nvPicPr>
        <p:blipFill>
          <a:blip r:embed="rId6"/>
          <a:stretch>
            <a:fillRect/>
          </a:stretch>
        </p:blipFill>
        <p:spPr>
          <a:xfrm>
            <a:off x="3480118" y="4371784"/>
            <a:ext cx="5231765" cy="1664335"/>
          </a:xfrm>
          <a:prstGeom prst="rect">
            <a:avLst/>
          </a:prstGeom>
        </p:spPr>
      </p:pic>
    </p:spTree>
    <p:extLst>
      <p:ext uri="{BB962C8B-B14F-4D97-AF65-F5344CB8AC3E}">
        <p14:creationId xmlns:p14="http://schemas.microsoft.com/office/powerpoint/2010/main" val="39981323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89890" y="6129037"/>
            <a:ext cx="563850" cy="657276"/>
          </a:xfrm>
          <a:prstGeom prst="rect">
            <a:avLst/>
          </a:prstGeom>
          <a:noFill/>
          <a:ln>
            <a:noFill/>
          </a:ln>
          <a:effectLst>
            <a:outerShdw blurRad="57150" dist="19050" dir="5400000" algn="bl" rotWithShape="0">
              <a:srgbClr val="000000">
                <a:alpha val="50000"/>
              </a:srgbClr>
            </a:outerShdw>
          </a:effectLst>
        </p:spPr>
      </p:pic>
      <p:grpSp>
        <p:nvGrpSpPr>
          <p:cNvPr id="6" name="Group 5">
            <a:extLst>
              <a:ext uri="{FF2B5EF4-FFF2-40B4-BE49-F238E27FC236}">
                <a16:creationId xmlns:a16="http://schemas.microsoft.com/office/drawing/2014/main" id="{BB50F0A2-AA71-F744-8A32-914ADD8F78F3}"/>
              </a:ext>
            </a:extLst>
          </p:cNvPr>
          <p:cNvGrpSpPr/>
          <p:nvPr/>
        </p:nvGrpSpPr>
        <p:grpSpPr>
          <a:xfrm>
            <a:off x="2558100" y="2622400"/>
            <a:ext cx="7662765" cy="1717351"/>
            <a:chOff x="2031300" y="3373600"/>
            <a:chExt cx="6629400" cy="812800"/>
          </a:xfrm>
        </p:grpSpPr>
        <p:sp>
          <p:nvSpPr>
            <p:cNvPr id="7" name="Rectangle 6">
              <a:extLst>
                <a:ext uri="{FF2B5EF4-FFF2-40B4-BE49-F238E27FC236}">
                  <a16:creationId xmlns:a16="http://schemas.microsoft.com/office/drawing/2014/main" id="{3A97EBD9-7A07-BD48-A87B-42FC0C60B5F6}"/>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sp>
          <p:nvSpPr>
            <p:cNvPr id="9" name="Rectangle 8">
              <a:extLst>
                <a:ext uri="{FF2B5EF4-FFF2-40B4-BE49-F238E27FC236}">
                  <a16:creationId xmlns:a16="http://schemas.microsoft.com/office/drawing/2014/main" id="{4B00D7E9-D011-6F4F-93E3-9B17DFC18634}"/>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grpSp>
      <p:sp>
        <p:nvSpPr>
          <p:cNvPr id="11" name="Google Shape;282;g104476d1465_1_17">
            <a:extLst>
              <a:ext uri="{FF2B5EF4-FFF2-40B4-BE49-F238E27FC236}">
                <a16:creationId xmlns:a16="http://schemas.microsoft.com/office/drawing/2014/main" id="{1D80B3B1-A0AC-4E49-8B8A-BB2777B1A70C}"/>
              </a:ext>
            </a:extLst>
          </p:cNvPr>
          <p:cNvSpPr txBox="1"/>
          <p:nvPr/>
        </p:nvSpPr>
        <p:spPr>
          <a:xfrm>
            <a:off x="7314750" y="6476999"/>
            <a:ext cx="417514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283</a:t>
            </a:r>
            <a:endParaRPr i="1" dirty="0">
              <a:latin typeface="Calibri"/>
              <a:ea typeface="Calibri"/>
              <a:cs typeface="Calibri"/>
              <a:sym typeface="Calibri"/>
            </a:endParaRPr>
          </a:p>
        </p:txBody>
      </p:sp>
      <p:sp>
        <p:nvSpPr>
          <p:cNvPr id="12" name="Rectangle 11">
            <a:extLst>
              <a:ext uri="{FF2B5EF4-FFF2-40B4-BE49-F238E27FC236}">
                <a16:creationId xmlns:a16="http://schemas.microsoft.com/office/drawing/2014/main" id="{84B30E62-DBC7-A64B-9D39-DD94DF002123}"/>
              </a:ext>
            </a:extLst>
          </p:cNvPr>
          <p:cNvSpPr/>
          <p:nvPr/>
        </p:nvSpPr>
        <p:spPr>
          <a:xfrm>
            <a:off x="748145" y="997508"/>
            <a:ext cx="10100247" cy="4093428"/>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His sister Meredith told him he could just add more milk to fix the flavor. How much milk would he need to add to get the right flavor?</a:t>
            </a: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His brother Tyler told him he could fix it by adding both milk and cocoa. How much more of each would he need to add to get the right flavor?</a:t>
            </a: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Which sibling had the correct solution to Lucas’s problem? Explain.</a:t>
            </a:r>
          </a:p>
        </p:txBody>
      </p:sp>
    </p:spTree>
    <p:extLst>
      <p:ext uri="{BB962C8B-B14F-4D97-AF65-F5344CB8AC3E}">
        <p14:creationId xmlns:p14="http://schemas.microsoft.com/office/powerpoint/2010/main" val="1736028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7233"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426339"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ED0D4F70-A5F7-6844-B49C-C7559A226638}"/>
              </a:ext>
            </a:extLst>
          </p:cNvPr>
          <p:cNvSpPr txBox="1"/>
          <p:nvPr/>
        </p:nvSpPr>
        <p:spPr>
          <a:xfrm>
            <a:off x="7314749" y="6509657"/>
            <a:ext cx="4142483"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284</a:t>
            </a:r>
            <a:endParaRPr i="1" dirty="0">
              <a:latin typeface="Calibri"/>
              <a:ea typeface="Calibri"/>
              <a:cs typeface="Calibri"/>
              <a:sym typeface="Calibri"/>
            </a:endParaRPr>
          </a:p>
        </p:txBody>
      </p:sp>
      <p:pic>
        <p:nvPicPr>
          <p:cNvPr id="7" name="Picture 6" descr="Icon&#10;&#10;Description automatically generated">
            <a:extLst>
              <a:ext uri="{FF2B5EF4-FFF2-40B4-BE49-F238E27FC236}">
                <a16:creationId xmlns:a16="http://schemas.microsoft.com/office/drawing/2014/main" id="{D59AB6C1-62BF-0041-9BFE-981CA8EF694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688122" y="2850881"/>
            <a:ext cx="1156228" cy="115622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1969715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04951"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87736" y="-94983"/>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6.10.3 Activity: Gallery Walk</a:t>
            </a:r>
          </a:p>
        </p:txBody>
      </p:sp>
      <p:sp>
        <p:nvSpPr>
          <p:cNvPr id="2" name="Rectangle 1">
            <a:extLst>
              <a:ext uri="{FF2B5EF4-FFF2-40B4-BE49-F238E27FC236}">
                <a16:creationId xmlns:a16="http://schemas.microsoft.com/office/drawing/2014/main" id="{B1C46F4F-A85A-084E-B29C-01BB2615DE1E}"/>
              </a:ext>
            </a:extLst>
          </p:cNvPr>
          <p:cNvSpPr/>
          <p:nvPr/>
        </p:nvSpPr>
        <p:spPr>
          <a:xfrm>
            <a:off x="629392" y="1314896"/>
            <a:ext cx="9529586" cy="1015663"/>
          </a:xfrm>
          <a:prstGeom prst="rect">
            <a:avLst/>
          </a:prstGeom>
        </p:spPr>
        <p:txBody>
          <a:bodyPr wrap="square">
            <a:spAutoFit/>
          </a:bodyPr>
          <a:lstStyle/>
          <a:p>
            <a:pPr lvl="0"/>
            <a:r>
              <a:rPr lang="en-US" sz="2000" dirty="0">
                <a:latin typeface="Verdana" panose="020B0604030504040204" pitchFamily="34" charset="0"/>
                <a:ea typeface="Times New Roman" panose="02020603050405020304" pitchFamily="18" charset="0"/>
              </a:rPr>
              <a:t>With your group, read the information given in each scenario. Then, write three different questions that could be answered using the information that was given. </a:t>
            </a:r>
          </a:p>
        </p:txBody>
      </p:sp>
      <p:sp>
        <p:nvSpPr>
          <p:cNvPr id="13" name="Google Shape;282;g104476d1465_1_17">
            <a:extLst>
              <a:ext uri="{FF2B5EF4-FFF2-40B4-BE49-F238E27FC236}">
                <a16:creationId xmlns:a16="http://schemas.microsoft.com/office/drawing/2014/main" id="{201E82E5-44E0-F44C-89CC-51BF5F797282}"/>
              </a:ext>
            </a:extLst>
          </p:cNvPr>
          <p:cNvSpPr txBox="1"/>
          <p:nvPr/>
        </p:nvSpPr>
        <p:spPr>
          <a:xfrm>
            <a:off x="7314749" y="6510499"/>
            <a:ext cx="4090201"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284</a:t>
            </a:r>
            <a:endParaRPr i="1" dirty="0">
              <a:latin typeface="Calibri"/>
              <a:ea typeface="Calibri"/>
              <a:cs typeface="Calibri"/>
              <a:sym typeface="Calibri"/>
            </a:endParaRPr>
          </a:p>
        </p:txBody>
      </p:sp>
      <p:pic>
        <p:nvPicPr>
          <p:cNvPr id="9" name="Picture 8" descr="Icon&#10;&#10;Description automatically generated">
            <a:extLst>
              <a:ext uri="{FF2B5EF4-FFF2-40B4-BE49-F238E27FC236}">
                <a16:creationId xmlns:a16="http://schemas.microsoft.com/office/drawing/2014/main" id="{44BD3746-8420-AF4A-972B-1C63264C3F3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38361" y="188707"/>
            <a:ext cx="758320" cy="758320"/>
          </a:xfrm>
          <a:prstGeom prst="rect">
            <a:avLst/>
          </a:prstGeom>
        </p:spPr>
      </p:pic>
      <p:graphicFrame>
        <p:nvGraphicFramePr>
          <p:cNvPr id="4" name="Table 3">
            <a:extLst>
              <a:ext uri="{FF2B5EF4-FFF2-40B4-BE49-F238E27FC236}">
                <a16:creationId xmlns:a16="http://schemas.microsoft.com/office/drawing/2014/main" id="{BEDFC8B8-4042-DA45-88E8-28A4AACBA22D}"/>
              </a:ext>
            </a:extLst>
          </p:cNvPr>
          <p:cNvGraphicFramePr>
            <a:graphicFrameLocks noGrp="1"/>
          </p:cNvGraphicFramePr>
          <p:nvPr>
            <p:extLst>
              <p:ext uri="{D42A27DB-BD31-4B8C-83A1-F6EECF244321}">
                <p14:modId xmlns:p14="http://schemas.microsoft.com/office/powerpoint/2010/main" val="1402243785"/>
              </p:ext>
            </p:extLst>
          </p:nvPr>
        </p:nvGraphicFramePr>
        <p:xfrm>
          <a:off x="2370162" y="2578683"/>
          <a:ext cx="7451677" cy="3743065"/>
        </p:xfrm>
        <a:graphic>
          <a:graphicData uri="http://schemas.openxmlformats.org/drawingml/2006/table">
            <a:tbl>
              <a:tblPr firstRow="1" firstCol="1" bandRow="1">
                <a:tableStyleId>{A91F0D33-8C57-4600-99A7-42BC86742BE1}</a:tableStyleId>
              </a:tblPr>
              <a:tblGrid>
                <a:gridCol w="2224846">
                  <a:extLst>
                    <a:ext uri="{9D8B030D-6E8A-4147-A177-3AD203B41FA5}">
                      <a16:colId xmlns:a16="http://schemas.microsoft.com/office/drawing/2014/main" val="3179482097"/>
                    </a:ext>
                  </a:extLst>
                </a:gridCol>
                <a:gridCol w="5226831">
                  <a:extLst>
                    <a:ext uri="{9D8B030D-6E8A-4147-A177-3AD203B41FA5}">
                      <a16:colId xmlns:a16="http://schemas.microsoft.com/office/drawing/2014/main" val="2037334"/>
                    </a:ext>
                  </a:extLst>
                </a:gridCol>
              </a:tblGrid>
              <a:tr h="176096">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Scenario</a:t>
                      </a:r>
                      <a:endParaRPr lang="en-CO" sz="2000" b="1" i="1" dirty="0">
                        <a:effectLst/>
                        <a:latin typeface="Verdana" panose="020B0604030504040204" pitchFamily="34" charset="0"/>
                        <a:ea typeface="Verdana" panose="020B0604030504040204" pitchFamily="34" charset="0"/>
                        <a:cs typeface="Verdana" panose="020B0604030504040204" pitchFamily="34" charset="0"/>
                      </a:endParaRPr>
                    </a:p>
                  </a:txBody>
                  <a:tcPr marL="47013" marR="470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Questions That Could Be Answered</a:t>
                      </a:r>
                      <a:endParaRPr lang="en-CO" sz="2000" b="1" i="1" dirty="0">
                        <a:effectLst/>
                        <a:latin typeface="Verdana" panose="020B0604030504040204" pitchFamily="34" charset="0"/>
                        <a:ea typeface="Verdana" panose="020B0604030504040204" pitchFamily="34" charset="0"/>
                        <a:cs typeface="Verdana" panose="020B0604030504040204" pitchFamily="34" charset="0"/>
                      </a:endParaRPr>
                    </a:p>
                  </a:txBody>
                  <a:tcPr marL="47013" marR="470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980055653"/>
                  </a:ext>
                </a:extLst>
              </a:tr>
              <a:tr h="1148607">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Two Maps</a:t>
                      </a:r>
                      <a:endParaRPr lang="en-CO" sz="2000" i="1">
                        <a:effectLst/>
                        <a:latin typeface="Verdana" panose="020B0604030504040204" pitchFamily="34" charset="0"/>
                        <a:ea typeface="Verdana" panose="020B0604030504040204" pitchFamily="34" charset="0"/>
                        <a:cs typeface="Verdana" panose="020B0604030504040204" pitchFamily="34" charset="0"/>
                      </a:endParaRPr>
                    </a:p>
                  </a:txBody>
                  <a:tcPr marL="47013" marR="470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i="1" dirty="0">
                        <a:effectLst/>
                        <a:latin typeface="Verdana" panose="020B0604030504040204" pitchFamily="34" charset="0"/>
                        <a:ea typeface="Verdana" panose="020B0604030504040204" pitchFamily="34" charset="0"/>
                        <a:cs typeface="Verdana" panose="020B0604030504040204" pitchFamily="34" charset="0"/>
                      </a:endParaRPr>
                    </a:p>
                  </a:txBody>
                  <a:tcPr marL="47013" marR="470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7345860"/>
                  </a:ext>
                </a:extLst>
              </a:tr>
              <a:tr h="1148607">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Favorite Pasta</a:t>
                      </a:r>
                      <a:endParaRPr lang="en-CO" sz="2000" i="1" dirty="0">
                        <a:effectLst/>
                        <a:latin typeface="Verdana" panose="020B0604030504040204" pitchFamily="34" charset="0"/>
                        <a:ea typeface="Verdana" panose="020B0604030504040204" pitchFamily="34" charset="0"/>
                        <a:cs typeface="Verdana" panose="020B0604030504040204" pitchFamily="34" charset="0"/>
                      </a:endParaRPr>
                    </a:p>
                  </a:txBody>
                  <a:tcPr marL="47013" marR="470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i="1" dirty="0">
                        <a:effectLst/>
                        <a:latin typeface="Verdana" panose="020B0604030504040204" pitchFamily="34" charset="0"/>
                        <a:ea typeface="Verdana" panose="020B0604030504040204" pitchFamily="34" charset="0"/>
                        <a:cs typeface="Verdana" panose="020B0604030504040204" pitchFamily="34" charset="0"/>
                      </a:endParaRPr>
                    </a:p>
                  </a:txBody>
                  <a:tcPr marL="47013" marR="470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9195981"/>
                  </a:ext>
                </a:extLst>
              </a:tr>
              <a:tr h="1148607">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Making Muffins</a:t>
                      </a:r>
                      <a:endParaRPr lang="en-CO" sz="2000" i="1">
                        <a:effectLst/>
                        <a:latin typeface="Verdana" panose="020B0604030504040204" pitchFamily="34" charset="0"/>
                        <a:ea typeface="Verdana" panose="020B0604030504040204" pitchFamily="34" charset="0"/>
                        <a:cs typeface="Verdana" panose="020B0604030504040204" pitchFamily="34" charset="0"/>
                      </a:endParaRPr>
                    </a:p>
                  </a:txBody>
                  <a:tcPr marL="47013" marR="470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i="1" dirty="0">
                        <a:effectLst/>
                        <a:latin typeface="Verdana" panose="020B0604030504040204" pitchFamily="34" charset="0"/>
                        <a:ea typeface="Verdana" panose="020B0604030504040204" pitchFamily="34" charset="0"/>
                        <a:cs typeface="Verdana" panose="020B0604030504040204" pitchFamily="34" charset="0"/>
                      </a:endParaRPr>
                    </a:p>
                  </a:txBody>
                  <a:tcPr marL="47013" marR="470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4860341"/>
                  </a:ext>
                </a:extLst>
              </a:tr>
            </a:tbl>
          </a:graphicData>
        </a:graphic>
      </p:graphicFrame>
    </p:spTree>
    <p:extLst>
      <p:ext uri="{BB962C8B-B14F-4D97-AF65-F5344CB8AC3E}">
        <p14:creationId xmlns:p14="http://schemas.microsoft.com/office/powerpoint/2010/main" val="2235248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9750" y="-8225"/>
            <a:ext cx="223200" cy="6866100"/>
          </a:xfrm>
          <a:prstGeom prst="rect">
            <a:avLst/>
          </a:prstGeom>
          <a:solidFill>
            <a:srgbClr val="035036"/>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35461" y="6129037"/>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581891" y="445827"/>
            <a:ext cx="9737766" cy="830997"/>
          </a:xfrm>
          <a:prstGeom prst="rect">
            <a:avLst/>
          </a:prstGeom>
          <a:noFill/>
        </p:spPr>
        <p:txBody>
          <a:bodyPr wrap="square" rtlCol="0">
            <a:spAutoFit/>
          </a:bodyPr>
          <a:lstStyle/>
          <a:p>
            <a:pPr lvl="2" indent="12700"/>
            <a:r>
              <a:rPr lang="en-US" sz="2400" dirty="0">
                <a:latin typeface="Verdana" panose="020B0604030504040204" pitchFamily="34" charset="0"/>
                <a:ea typeface="Verdana" panose="020B0604030504040204" pitchFamily="34" charset="0"/>
                <a:cs typeface="Verdana" panose="020B0604030504040204" pitchFamily="34" charset="0"/>
              </a:rPr>
              <a:t>Choose one scenario. Discuss how each question could be answered. Then complete the table. </a:t>
            </a:r>
          </a:p>
        </p:txBody>
      </p:sp>
      <p:sp>
        <p:nvSpPr>
          <p:cNvPr id="8" name="Google Shape;282;g104476d1465_1_17">
            <a:extLst>
              <a:ext uri="{FF2B5EF4-FFF2-40B4-BE49-F238E27FC236}">
                <a16:creationId xmlns:a16="http://schemas.microsoft.com/office/drawing/2014/main" id="{E91541B9-7C1E-4043-A1D5-12779C6D7B04}"/>
              </a:ext>
            </a:extLst>
          </p:cNvPr>
          <p:cNvSpPr txBox="1"/>
          <p:nvPr/>
        </p:nvSpPr>
        <p:spPr>
          <a:xfrm>
            <a:off x="7314750" y="6412173"/>
            <a:ext cx="4120711"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284</a:t>
            </a:r>
            <a:endParaRPr i="1" dirty="0">
              <a:latin typeface="Calibri"/>
              <a:ea typeface="Calibri"/>
              <a:cs typeface="Calibri"/>
              <a:sym typeface="Calibri"/>
            </a:endParaRPr>
          </a:p>
        </p:txBody>
      </p:sp>
      <p:graphicFrame>
        <p:nvGraphicFramePr>
          <p:cNvPr id="2" name="Table 1">
            <a:extLst>
              <a:ext uri="{FF2B5EF4-FFF2-40B4-BE49-F238E27FC236}">
                <a16:creationId xmlns:a16="http://schemas.microsoft.com/office/drawing/2014/main" id="{8198C140-7815-8943-A180-E80DBD103F28}"/>
              </a:ext>
            </a:extLst>
          </p:cNvPr>
          <p:cNvGraphicFramePr>
            <a:graphicFrameLocks noGrp="1"/>
          </p:cNvGraphicFramePr>
          <p:nvPr>
            <p:extLst>
              <p:ext uri="{D42A27DB-BD31-4B8C-83A1-F6EECF244321}">
                <p14:modId xmlns:p14="http://schemas.microsoft.com/office/powerpoint/2010/main" val="2411700917"/>
              </p:ext>
            </p:extLst>
          </p:nvPr>
        </p:nvGraphicFramePr>
        <p:xfrm>
          <a:off x="3080970" y="1729681"/>
          <a:ext cx="6030060" cy="4578763"/>
        </p:xfrm>
        <a:graphic>
          <a:graphicData uri="http://schemas.openxmlformats.org/drawingml/2006/table">
            <a:tbl>
              <a:tblPr firstRow="1" firstCol="1" bandRow="1">
                <a:tableStyleId>{A91F0D33-8C57-4600-99A7-42BC86742BE1}</a:tableStyleId>
              </a:tblPr>
              <a:tblGrid>
                <a:gridCol w="2826260">
                  <a:extLst>
                    <a:ext uri="{9D8B030D-6E8A-4147-A177-3AD203B41FA5}">
                      <a16:colId xmlns:a16="http://schemas.microsoft.com/office/drawing/2014/main" val="2681935679"/>
                    </a:ext>
                  </a:extLst>
                </a:gridCol>
                <a:gridCol w="3203800">
                  <a:extLst>
                    <a:ext uri="{9D8B030D-6E8A-4147-A177-3AD203B41FA5}">
                      <a16:colId xmlns:a16="http://schemas.microsoft.com/office/drawing/2014/main" val="1707819259"/>
                    </a:ext>
                  </a:extLst>
                </a:gridCol>
              </a:tblGrid>
              <a:tr h="722090">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Question</a:t>
                      </a:r>
                      <a:endParaRPr lang="en-CO" sz="2000" b="1" i="1" dirty="0">
                        <a:effectLst/>
                        <a:latin typeface="Verdana" panose="020B0604030504040204" pitchFamily="34" charset="0"/>
                        <a:ea typeface="Verdana" panose="020B0604030504040204" pitchFamily="34" charset="0"/>
                        <a:cs typeface="Verdana" panose="020B0604030504040204" pitchFamily="34" charset="0"/>
                      </a:endParaRPr>
                    </a:p>
                  </a:txBody>
                  <a:tcPr marL="56389" marR="5638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My Summary of How to Answer the Question</a:t>
                      </a:r>
                      <a:endParaRPr lang="en-CO" sz="2000" b="1" i="1" dirty="0">
                        <a:effectLst/>
                        <a:latin typeface="Verdana" panose="020B0604030504040204" pitchFamily="34" charset="0"/>
                        <a:ea typeface="Verdana" panose="020B0604030504040204" pitchFamily="34" charset="0"/>
                        <a:cs typeface="Verdana" panose="020B0604030504040204" pitchFamily="34" charset="0"/>
                      </a:endParaRPr>
                    </a:p>
                  </a:txBody>
                  <a:tcPr marL="56389" marR="5638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723685849"/>
                  </a:ext>
                </a:extLst>
              </a:tr>
              <a:tr h="1209749">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20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2000" i="1">
                        <a:effectLst/>
                        <a:latin typeface="Verdana" panose="020B0604030504040204" pitchFamily="34" charset="0"/>
                        <a:ea typeface="Verdana" panose="020B0604030504040204" pitchFamily="34" charset="0"/>
                        <a:cs typeface="Verdana" panose="020B0604030504040204" pitchFamily="34" charset="0"/>
                      </a:endParaRPr>
                    </a:p>
                  </a:txBody>
                  <a:tcPr marL="56389" marR="5638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i="1" dirty="0">
                        <a:effectLst/>
                        <a:latin typeface="Verdana" panose="020B0604030504040204" pitchFamily="34" charset="0"/>
                        <a:ea typeface="Verdana" panose="020B0604030504040204" pitchFamily="34" charset="0"/>
                        <a:cs typeface="Verdana" panose="020B0604030504040204" pitchFamily="34" charset="0"/>
                      </a:endParaRPr>
                    </a:p>
                  </a:txBody>
                  <a:tcPr marL="56389" marR="5638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4025461"/>
                  </a:ext>
                </a:extLst>
              </a:tr>
              <a:tr h="1209749">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20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2000" i="1">
                        <a:effectLst/>
                        <a:latin typeface="Verdana" panose="020B0604030504040204" pitchFamily="34" charset="0"/>
                        <a:ea typeface="Verdana" panose="020B0604030504040204" pitchFamily="34" charset="0"/>
                        <a:cs typeface="Verdana" panose="020B0604030504040204" pitchFamily="34" charset="0"/>
                      </a:endParaRPr>
                    </a:p>
                  </a:txBody>
                  <a:tcPr marL="56389" marR="5638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i="1" dirty="0">
                        <a:effectLst/>
                        <a:latin typeface="Verdana" panose="020B0604030504040204" pitchFamily="34" charset="0"/>
                        <a:ea typeface="Verdana" panose="020B0604030504040204" pitchFamily="34" charset="0"/>
                        <a:cs typeface="Verdana" panose="020B0604030504040204" pitchFamily="34" charset="0"/>
                      </a:endParaRPr>
                    </a:p>
                  </a:txBody>
                  <a:tcPr marL="56389" marR="5638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0185264"/>
                  </a:ext>
                </a:extLst>
              </a:tr>
              <a:tr h="1209749">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20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2000" i="1">
                        <a:effectLst/>
                        <a:latin typeface="Verdana" panose="020B0604030504040204" pitchFamily="34" charset="0"/>
                        <a:ea typeface="Verdana" panose="020B0604030504040204" pitchFamily="34" charset="0"/>
                        <a:cs typeface="Verdana" panose="020B0604030504040204" pitchFamily="34" charset="0"/>
                      </a:endParaRPr>
                    </a:p>
                  </a:txBody>
                  <a:tcPr marL="56389" marR="5638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i="1" dirty="0">
                        <a:effectLst/>
                        <a:latin typeface="Verdana" panose="020B0604030504040204" pitchFamily="34" charset="0"/>
                        <a:ea typeface="Verdana" panose="020B0604030504040204" pitchFamily="34" charset="0"/>
                        <a:cs typeface="Verdana" panose="020B0604030504040204" pitchFamily="34" charset="0"/>
                      </a:endParaRPr>
                    </a:p>
                  </a:txBody>
                  <a:tcPr marL="56389" marR="5638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4063911"/>
                  </a:ext>
                </a:extLst>
              </a:tr>
            </a:tbl>
          </a:graphicData>
        </a:graphic>
      </p:graphicFrame>
    </p:spTree>
    <p:extLst>
      <p:ext uri="{BB962C8B-B14F-4D97-AF65-F5344CB8AC3E}">
        <p14:creationId xmlns:p14="http://schemas.microsoft.com/office/powerpoint/2010/main" val="2165538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467" y="-8225"/>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13690"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7314750" y="6422571"/>
            <a:ext cx="409894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285</a:t>
            </a:r>
            <a:endParaRPr i="1" dirty="0">
              <a:latin typeface="Calibri"/>
              <a:ea typeface="Calibri"/>
              <a:cs typeface="Calibri"/>
              <a:sym typeface="Calibri"/>
            </a:endParaRPr>
          </a:p>
        </p:txBody>
      </p:sp>
      <p:pic>
        <p:nvPicPr>
          <p:cNvPr id="9" name="Picture 8" descr="Icon&#10;&#10;Description automatically generated">
            <a:extLst>
              <a:ext uri="{FF2B5EF4-FFF2-40B4-BE49-F238E27FC236}">
                <a16:creationId xmlns:a16="http://schemas.microsoft.com/office/drawing/2014/main" id="{4C5DAF65-3EE3-C044-AA58-E5FB79E2A74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429137" y="2852778"/>
            <a:ext cx="1152447" cy="1152447"/>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472733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91919" y="612903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78878" y="-36403"/>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E24E5F"/>
                </a:solidFill>
                <a:latin typeface="Verdana"/>
                <a:ea typeface="Verdana"/>
                <a:cs typeface="Verdana"/>
                <a:sym typeface="Verdana"/>
              </a:rPr>
              <a:t>6.10.4 Your Turn!</a:t>
            </a:r>
          </a:p>
        </p:txBody>
      </p:sp>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C0EEC4E3-DFCF-C94C-B80D-045F3E6BF764}"/>
                  </a:ext>
                </a:extLst>
              </p:cNvPr>
              <p:cNvSpPr/>
              <p:nvPr/>
            </p:nvSpPr>
            <p:spPr>
              <a:xfrm>
                <a:off x="617517" y="1286376"/>
                <a:ext cx="5956156" cy="3477875"/>
              </a:xfrm>
              <a:prstGeom prst="rect">
                <a:avLst/>
              </a:prstGeom>
            </p:spPr>
            <p:txBody>
              <a:bodyPr wrap="square">
                <a:spAutoFit/>
              </a:bodyPr>
              <a:lstStyle/>
              <a:p>
                <a:pPr marL="457200" indent="-457200">
                  <a:buFont typeface="+mj-lt"/>
                  <a:buAutoNum type="arabicPeriod"/>
                </a:pPr>
                <a:r>
                  <a:rPr lang="en-US" sz="2200" dirty="0">
                    <a:latin typeface="Verdana" panose="020B0604030504040204" pitchFamily="34" charset="0"/>
                    <a:ea typeface="Times New Roman" panose="02020603050405020304" pitchFamily="18" charset="0"/>
                    <a:cs typeface="Times New Roman" panose="02020603050405020304" pitchFamily="18" charset="0"/>
                  </a:rPr>
                  <a:t>Chen surveys a random sample of students about their favorite pasta dish served by the cafeteria and makes a bar graph of the results. </a:t>
                </a:r>
              </a:p>
              <a:p>
                <a:pPr marL="457200" indent="-457200">
                  <a:buFont typeface="+mj-lt"/>
                  <a:buAutoNum type="arabicPeriod"/>
                </a:pPr>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pPr marL="444500"/>
                <a:r>
                  <a:rPr lang="en-US" sz="2200" dirty="0">
                    <a:latin typeface="Verdana" panose="020B0604030504040204" pitchFamily="34" charset="0"/>
                    <a:ea typeface="Times New Roman" panose="02020603050405020304" pitchFamily="18" charset="0"/>
                    <a:cs typeface="Times New Roman" panose="02020603050405020304" pitchFamily="18" charset="0"/>
                  </a:rPr>
                  <a:t>There are </a:t>
                </a:r>
                <a14:m>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1,256</m:t>
                    </m:r>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students who attend the school. Use Chen’s data to estimate the number of students at the school whose favorite dish is lasagna.</a:t>
                </a:r>
              </a:p>
            </p:txBody>
          </p:sp>
        </mc:Choice>
        <mc:Fallback>
          <p:sp>
            <p:nvSpPr>
              <p:cNvPr id="2" name="Rectangle 1">
                <a:extLst>
                  <a:ext uri="{FF2B5EF4-FFF2-40B4-BE49-F238E27FC236}">
                    <a16:creationId xmlns:a16="http://schemas.microsoft.com/office/drawing/2014/main" id="{C0EEC4E3-DFCF-C94C-B80D-045F3E6BF764}"/>
                  </a:ext>
                </a:extLst>
              </p:cNvPr>
              <p:cNvSpPr>
                <a:spLocks noRot="1" noChangeAspect="1" noMove="1" noResize="1" noEditPoints="1" noAdjustHandles="1" noChangeArrowheads="1" noChangeShapeType="1" noTextEdit="1"/>
              </p:cNvSpPr>
              <p:nvPr/>
            </p:nvSpPr>
            <p:spPr>
              <a:xfrm>
                <a:off x="617517" y="1286376"/>
                <a:ext cx="5956156" cy="3477875"/>
              </a:xfrm>
              <a:prstGeom prst="rect">
                <a:avLst/>
              </a:prstGeom>
              <a:blipFill>
                <a:blip r:embed="rId4"/>
                <a:stretch>
                  <a:fillRect l="-1331" t="-1226" b="-2802"/>
                </a:stretch>
              </a:blipFill>
            </p:spPr>
            <p:txBody>
              <a:bodyPr/>
              <a:lstStyle/>
              <a:p>
                <a:r>
                  <a:rPr lang="en-US">
                    <a:noFill/>
                  </a:rPr>
                  <a:t> </a:t>
                </a:r>
              </a:p>
            </p:txBody>
          </p:sp>
        </mc:Fallback>
      </mc:AlternateContent>
      <p:sp>
        <p:nvSpPr>
          <p:cNvPr id="16" name="Google Shape;282;g104476d1465_1_17">
            <a:extLst>
              <a:ext uri="{FF2B5EF4-FFF2-40B4-BE49-F238E27FC236}">
                <a16:creationId xmlns:a16="http://schemas.microsoft.com/office/drawing/2014/main" id="{4E354D11-4333-5B4D-A7B5-313F4353BB7E}"/>
              </a:ext>
            </a:extLst>
          </p:cNvPr>
          <p:cNvSpPr txBox="1"/>
          <p:nvPr/>
        </p:nvSpPr>
        <p:spPr>
          <a:xfrm>
            <a:off x="7314750" y="6485765"/>
            <a:ext cx="396285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285</a:t>
            </a:r>
            <a:endParaRPr i="1" dirty="0">
              <a:latin typeface="Calibri"/>
              <a:ea typeface="Calibri"/>
              <a:cs typeface="Calibri"/>
              <a:sym typeface="Calibri"/>
            </a:endParaRPr>
          </a:p>
        </p:txBody>
      </p:sp>
      <p:pic>
        <p:nvPicPr>
          <p:cNvPr id="8" name="Picture 7" descr="Icon&#10;&#10;Description automatically generated">
            <a:extLst>
              <a:ext uri="{FF2B5EF4-FFF2-40B4-BE49-F238E27FC236}">
                <a16:creationId xmlns:a16="http://schemas.microsoft.com/office/drawing/2014/main" id="{4DE960C7-966F-634E-8FF4-BBDA3EF8E25F}"/>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14354" y="170183"/>
            <a:ext cx="749808" cy="749808"/>
          </a:xfrm>
          <a:prstGeom prst="rect">
            <a:avLst/>
          </a:prstGeom>
        </p:spPr>
      </p:pic>
      <p:pic>
        <p:nvPicPr>
          <p:cNvPr id="9" name="Picture 8" descr="Chart, bar chart&#10;&#10;Description automatically generated">
            <a:extLst>
              <a:ext uri="{FF2B5EF4-FFF2-40B4-BE49-F238E27FC236}">
                <a16:creationId xmlns:a16="http://schemas.microsoft.com/office/drawing/2014/main" id="{4FF1468E-09AE-E64D-8664-7DD8830D0231}"/>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6982567" y="1676931"/>
            <a:ext cx="2832100" cy="2832100"/>
          </a:xfrm>
          <a:prstGeom prst="rect">
            <a:avLst/>
          </a:prstGeom>
        </p:spPr>
      </p:pic>
      <p:sp>
        <p:nvSpPr>
          <p:cNvPr id="10" name="Text Box 21">
            <a:extLst>
              <a:ext uri="{FF2B5EF4-FFF2-40B4-BE49-F238E27FC236}">
                <a16:creationId xmlns:a16="http://schemas.microsoft.com/office/drawing/2014/main" id="{F72A0F95-F776-9D45-BF7D-56424E2804E5}"/>
              </a:ext>
            </a:extLst>
          </p:cNvPr>
          <p:cNvSpPr txBox="1"/>
          <p:nvPr/>
        </p:nvSpPr>
        <p:spPr>
          <a:xfrm>
            <a:off x="7277324" y="4281881"/>
            <a:ext cx="2472055" cy="3721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200">
                <a:latin typeface="Verdana" panose="020B0604030504040204" pitchFamily="34" charset="0"/>
                <a:ea typeface="Cambria Math" panose="02040503050406030204" pitchFamily="18" charset="0"/>
                <a:cs typeface="Cambria Math" panose="02040503050406030204" pitchFamily="18" charset="0"/>
              </a:rPr>
              <a:t>spaghetti   lasagna   alfredo</a:t>
            </a:r>
            <a:endParaRPr lang="en-CO" sz="1600" i="1">
              <a:latin typeface="Cambria Math" panose="02040503050406030204" pitchFamily="18" charset="0"/>
              <a:ea typeface="Cambria Math" panose="02040503050406030204" pitchFamily="18" charset="0"/>
              <a:cs typeface="Cambria Math" panose="02040503050406030204" pitchFamily="18" charset="0"/>
            </a:endParaRPr>
          </a:p>
        </p:txBody>
      </p:sp>
    </p:spTree>
    <p:extLst>
      <p:ext uri="{BB962C8B-B14F-4D97-AF65-F5344CB8AC3E}">
        <p14:creationId xmlns:p14="http://schemas.microsoft.com/office/powerpoint/2010/main" val="1737725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89890" y="6129037"/>
            <a:ext cx="563850" cy="657276"/>
          </a:xfrm>
          <a:prstGeom prst="rect">
            <a:avLst/>
          </a:prstGeom>
          <a:noFill/>
          <a:ln>
            <a:noFill/>
          </a:ln>
          <a:effectLst>
            <a:outerShdw blurRad="57150" dist="19050" dir="5400000" algn="bl" rotWithShape="0">
              <a:srgbClr val="000000">
                <a:alpha val="50000"/>
              </a:srgbClr>
            </a:outerShdw>
          </a:effectLst>
        </p:spPr>
      </p:pic>
      <p:grpSp>
        <p:nvGrpSpPr>
          <p:cNvPr id="6" name="Group 5">
            <a:extLst>
              <a:ext uri="{FF2B5EF4-FFF2-40B4-BE49-F238E27FC236}">
                <a16:creationId xmlns:a16="http://schemas.microsoft.com/office/drawing/2014/main" id="{BB50F0A2-AA71-F744-8A32-914ADD8F78F3}"/>
              </a:ext>
            </a:extLst>
          </p:cNvPr>
          <p:cNvGrpSpPr/>
          <p:nvPr/>
        </p:nvGrpSpPr>
        <p:grpSpPr>
          <a:xfrm>
            <a:off x="2558100" y="2622400"/>
            <a:ext cx="7662765" cy="1717351"/>
            <a:chOff x="2031300" y="3373600"/>
            <a:chExt cx="6629400" cy="812800"/>
          </a:xfrm>
        </p:grpSpPr>
        <p:sp>
          <p:nvSpPr>
            <p:cNvPr id="7" name="Rectangle 6">
              <a:extLst>
                <a:ext uri="{FF2B5EF4-FFF2-40B4-BE49-F238E27FC236}">
                  <a16:creationId xmlns:a16="http://schemas.microsoft.com/office/drawing/2014/main" id="{3A97EBD9-7A07-BD48-A87B-42FC0C60B5F6}"/>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sp>
          <p:nvSpPr>
            <p:cNvPr id="9" name="Rectangle 8">
              <a:extLst>
                <a:ext uri="{FF2B5EF4-FFF2-40B4-BE49-F238E27FC236}">
                  <a16:creationId xmlns:a16="http://schemas.microsoft.com/office/drawing/2014/main" id="{4B00D7E9-D011-6F4F-93E3-9B17DFC18634}"/>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grpSp>
      <p:sp>
        <p:nvSpPr>
          <p:cNvPr id="11" name="Google Shape;282;g104476d1465_1_17">
            <a:extLst>
              <a:ext uri="{FF2B5EF4-FFF2-40B4-BE49-F238E27FC236}">
                <a16:creationId xmlns:a16="http://schemas.microsoft.com/office/drawing/2014/main" id="{1D80B3B1-A0AC-4E49-8B8A-BB2777B1A70C}"/>
              </a:ext>
            </a:extLst>
          </p:cNvPr>
          <p:cNvSpPr txBox="1"/>
          <p:nvPr/>
        </p:nvSpPr>
        <p:spPr>
          <a:xfrm>
            <a:off x="7314750" y="6436203"/>
            <a:ext cx="417514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285</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12" name="Rectangle 11">
                <a:extLst>
                  <a:ext uri="{FF2B5EF4-FFF2-40B4-BE49-F238E27FC236}">
                    <a16:creationId xmlns:a16="http://schemas.microsoft.com/office/drawing/2014/main" id="{84B30E62-DBC7-A64B-9D39-DD94DF002123}"/>
                  </a:ext>
                </a:extLst>
              </p:cNvPr>
              <p:cNvSpPr/>
              <p:nvPr/>
            </p:nvSpPr>
            <p:spPr>
              <a:xfrm>
                <a:off x="629393" y="707473"/>
                <a:ext cx="8772928" cy="4555927"/>
              </a:xfrm>
              <a:prstGeom prst="rect">
                <a:avLst/>
              </a:prstGeom>
            </p:spPr>
            <p:txBody>
              <a:bodyPr wrap="square">
                <a:spAutoFit/>
              </a:bodyPr>
              <a:lstStyle/>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Jaxon is baking blueberry muffins with a recipe that calls for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cups (c) of flour and </a:t>
                </a:r>
                <a14:m>
                  <m:oMath xmlns:m="http://schemas.openxmlformats.org/officeDocument/2006/math">
                    <m:f>
                      <m:fPr>
                        <m:ctrlPr>
                          <a:rPr lang="en-US" sz="2000" i="1" dirty="0">
                            <a:latin typeface="Cambria Math" panose="02040503050406030204" pitchFamily="18" charset="0"/>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3</m:t>
                        </m:r>
                      </m:num>
                      <m:den>
                        <m:r>
                          <a:rPr lang="es-ES" sz="2000" i="1" dirty="0">
                            <a:latin typeface="Cambria Math" panose="02040503050406030204" pitchFamily="18" charset="0"/>
                            <a:cs typeface="Times New Roman" panose="02020603050405020304" pitchFamily="18" charset="0"/>
                          </a:rPr>
                          <m:t>4</m:t>
                        </m:r>
                      </m:den>
                    </m:f>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cup of sugar to make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muffins. Jaxon wants to make as many muffins as possible using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cups of flour. </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Exactly how many cups of sugar will Jaxon use if he uses all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cups of flour?</a:t>
                </a: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Exactly how many muffins will Jaxon make if he uses all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cups of flour?</a:t>
                </a:r>
              </a:p>
            </p:txBody>
          </p:sp>
        </mc:Choice>
        <mc:Fallback>
          <p:sp>
            <p:nvSpPr>
              <p:cNvPr id="12" name="Rectangle 11">
                <a:extLst>
                  <a:ext uri="{FF2B5EF4-FFF2-40B4-BE49-F238E27FC236}">
                    <a16:creationId xmlns:a16="http://schemas.microsoft.com/office/drawing/2014/main" id="{84B30E62-DBC7-A64B-9D39-DD94DF002123}"/>
                  </a:ext>
                </a:extLst>
              </p:cNvPr>
              <p:cNvSpPr>
                <a:spLocks noRot="1" noChangeAspect="1" noMove="1" noResize="1" noEditPoints="1" noAdjustHandles="1" noChangeArrowheads="1" noChangeShapeType="1" noTextEdit="1"/>
              </p:cNvSpPr>
              <p:nvPr/>
            </p:nvSpPr>
            <p:spPr>
              <a:xfrm>
                <a:off x="629393" y="707473"/>
                <a:ext cx="8772928" cy="4555927"/>
              </a:xfrm>
              <a:prstGeom prst="rect">
                <a:avLst/>
              </a:prstGeom>
              <a:blipFill>
                <a:blip r:embed="rId4"/>
                <a:stretch>
                  <a:fillRect l="-764" t="-937" b="-937"/>
                </a:stretch>
              </a:blipFill>
            </p:spPr>
            <p:txBody>
              <a:bodyPr/>
              <a:lstStyle/>
              <a:p>
                <a:r>
                  <a:rPr lang="en-US">
                    <a:noFill/>
                  </a:rPr>
                  <a:t> </a:t>
                </a:r>
              </a:p>
            </p:txBody>
          </p:sp>
        </mc:Fallback>
      </mc:AlternateContent>
    </p:spTree>
    <p:extLst>
      <p:ext uri="{BB962C8B-B14F-4D97-AF65-F5344CB8AC3E}">
        <p14:creationId xmlns:p14="http://schemas.microsoft.com/office/powerpoint/2010/main" val="41379219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24576" y="6129037"/>
            <a:ext cx="563850" cy="657276"/>
          </a:xfrm>
          <a:prstGeom prst="rect">
            <a:avLst/>
          </a:prstGeom>
          <a:noFill/>
          <a:ln>
            <a:noFill/>
          </a:ln>
          <a:effectLst>
            <a:outerShdw blurRad="57150" dist="19050" dir="5400000" algn="bl" rotWithShape="0">
              <a:srgbClr val="000000">
                <a:alpha val="50000"/>
              </a:srgbClr>
            </a:outerShdw>
          </a:effectLst>
        </p:spPr>
      </p:pic>
      <p:grpSp>
        <p:nvGrpSpPr>
          <p:cNvPr id="6" name="Group 5">
            <a:extLst>
              <a:ext uri="{FF2B5EF4-FFF2-40B4-BE49-F238E27FC236}">
                <a16:creationId xmlns:a16="http://schemas.microsoft.com/office/drawing/2014/main" id="{BB50F0A2-AA71-F744-8A32-914ADD8F78F3}"/>
              </a:ext>
            </a:extLst>
          </p:cNvPr>
          <p:cNvGrpSpPr/>
          <p:nvPr/>
        </p:nvGrpSpPr>
        <p:grpSpPr>
          <a:xfrm>
            <a:off x="2558100" y="2622400"/>
            <a:ext cx="7662765" cy="1717351"/>
            <a:chOff x="2031300" y="3373600"/>
            <a:chExt cx="6629400" cy="812800"/>
          </a:xfrm>
        </p:grpSpPr>
        <p:sp>
          <p:nvSpPr>
            <p:cNvPr id="7" name="Rectangle 6">
              <a:extLst>
                <a:ext uri="{FF2B5EF4-FFF2-40B4-BE49-F238E27FC236}">
                  <a16:creationId xmlns:a16="http://schemas.microsoft.com/office/drawing/2014/main" id="{3A97EBD9-7A07-BD48-A87B-42FC0C60B5F6}"/>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sp>
          <p:nvSpPr>
            <p:cNvPr id="9" name="Rectangle 8">
              <a:extLst>
                <a:ext uri="{FF2B5EF4-FFF2-40B4-BE49-F238E27FC236}">
                  <a16:creationId xmlns:a16="http://schemas.microsoft.com/office/drawing/2014/main" id="{4B00D7E9-D011-6F4F-93E3-9B17DFC18634}"/>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grpSp>
      <p:sp>
        <p:nvSpPr>
          <p:cNvPr id="11" name="Google Shape;282;g104476d1465_1_17">
            <a:extLst>
              <a:ext uri="{FF2B5EF4-FFF2-40B4-BE49-F238E27FC236}">
                <a16:creationId xmlns:a16="http://schemas.microsoft.com/office/drawing/2014/main" id="{1D80B3B1-A0AC-4E49-8B8A-BB2777B1A70C}"/>
              </a:ext>
            </a:extLst>
          </p:cNvPr>
          <p:cNvSpPr txBox="1"/>
          <p:nvPr/>
        </p:nvSpPr>
        <p:spPr>
          <a:xfrm>
            <a:off x="7314750" y="6444343"/>
            <a:ext cx="4109826" cy="413532"/>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285</a:t>
            </a:r>
            <a:endParaRPr i="1" dirty="0">
              <a:latin typeface="Calibri"/>
              <a:ea typeface="Calibri"/>
              <a:cs typeface="Calibri"/>
              <a:sym typeface="Calibri"/>
            </a:endParaRPr>
          </a:p>
        </p:txBody>
      </p:sp>
      <p:sp>
        <p:nvSpPr>
          <p:cNvPr id="12" name="Rectangle 11">
            <a:extLst>
              <a:ext uri="{FF2B5EF4-FFF2-40B4-BE49-F238E27FC236}">
                <a16:creationId xmlns:a16="http://schemas.microsoft.com/office/drawing/2014/main" id="{84B30E62-DBC7-A64B-9D39-DD94DF002123}"/>
              </a:ext>
            </a:extLst>
          </p:cNvPr>
          <p:cNvSpPr/>
          <p:nvPr/>
        </p:nvSpPr>
        <p:spPr>
          <a:xfrm>
            <a:off x="629393" y="683131"/>
            <a:ext cx="9740028" cy="461665"/>
          </a:xfrm>
          <a:prstGeom prst="rect">
            <a:avLst/>
          </a:prstGeom>
        </p:spPr>
        <p:txBody>
          <a:bodyPr wrap="square">
            <a:spAutoFit/>
          </a:bodyPr>
          <a:lstStyle/>
          <a:p>
            <a:pPr marL="457200" indent="-457200">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The two maps show the same area at two different scales.</a:t>
            </a:r>
          </a:p>
        </p:txBody>
      </p:sp>
      <p:pic>
        <p:nvPicPr>
          <p:cNvPr id="3" name="Picture 2" descr="Diagram&#10;&#10;Description automatically generated with medium confidence">
            <a:extLst>
              <a:ext uri="{FF2B5EF4-FFF2-40B4-BE49-F238E27FC236}">
                <a16:creationId xmlns:a16="http://schemas.microsoft.com/office/drawing/2014/main" id="{E9CAA78B-1D42-FF4D-BB0D-AF59D5AC2E6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971135" y="1731988"/>
            <a:ext cx="6733685" cy="3034800"/>
          </a:xfrm>
          <a:prstGeom prst="rect">
            <a:avLst/>
          </a:prstGeom>
        </p:spPr>
      </p:pic>
    </p:spTree>
    <p:extLst>
      <p:ext uri="{BB962C8B-B14F-4D97-AF65-F5344CB8AC3E}">
        <p14:creationId xmlns:p14="http://schemas.microsoft.com/office/powerpoint/2010/main" val="39579360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589"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43435" y="6129037"/>
            <a:ext cx="563850" cy="657276"/>
          </a:xfrm>
          <a:prstGeom prst="rect">
            <a:avLst/>
          </a:prstGeom>
          <a:noFill/>
          <a:ln>
            <a:noFill/>
          </a:ln>
          <a:effectLst>
            <a:outerShdw blurRad="57150" dist="19050" dir="5400000" algn="bl" rotWithShape="0">
              <a:srgbClr val="000000">
                <a:alpha val="50000"/>
              </a:srgbClr>
            </a:outerShdw>
          </a:effectLst>
        </p:spPr>
      </p:pic>
      <p:grpSp>
        <p:nvGrpSpPr>
          <p:cNvPr id="6" name="Group 5">
            <a:extLst>
              <a:ext uri="{FF2B5EF4-FFF2-40B4-BE49-F238E27FC236}">
                <a16:creationId xmlns:a16="http://schemas.microsoft.com/office/drawing/2014/main" id="{BB50F0A2-AA71-F744-8A32-914ADD8F78F3}"/>
              </a:ext>
            </a:extLst>
          </p:cNvPr>
          <p:cNvGrpSpPr/>
          <p:nvPr/>
        </p:nvGrpSpPr>
        <p:grpSpPr>
          <a:xfrm>
            <a:off x="2558100" y="2622400"/>
            <a:ext cx="7662765" cy="1717351"/>
            <a:chOff x="2031300" y="3373600"/>
            <a:chExt cx="6629400" cy="812800"/>
          </a:xfrm>
        </p:grpSpPr>
        <p:sp>
          <p:nvSpPr>
            <p:cNvPr id="7" name="Rectangle 6">
              <a:extLst>
                <a:ext uri="{FF2B5EF4-FFF2-40B4-BE49-F238E27FC236}">
                  <a16:creationId xmlns:a16="http://schemas.microsoft.com/office/drawing/2014/main" id="{3A97EBD9-7A07-BD48-A87B-42FC0C60B5F6}"/>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sp>
          <p:nvSpPr>
            <p:cNvPr id="9" name="Rectangle 8">
              <a:extLst>
                <a:ext uri="{FF2B5EF4-FFF2-40B4-BE49-F238E27FC236}">
                  <a16:creationId xmlns:a16="http://schemas.microsoft.com/office/drawing/2014/main" id="{4B00D7E9-D011-6F4F-93E3-9B17DFC18634}"/>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grpSp>
      <p:sp>
        <p:nvSpPr>
          <p:cNvPr id="11" name="Google Shape;282;g104476d1465_1_17">
            <a:extLst>
              <a:ext uri="{FF2B5EF4-FFF2-40B4-BE49-F238E27FC236}">
                <a16:creationId xmlns:a16="http://schemas.microsoft.com/office/drawing/2014/main" id="{1D80B3B1-A0AC-4E49-8B8A-BB2777B1A70C}"/>
              </a:ext>
            </a:extLst>
          </p:cNvPr>
          <p:cNvSpPr txBox="1"/>
          <p:nvPr/>
        </p:nvSpPr>
        <p:spPr>
          <a:xfrm>
            <a:off x="7314749" y="6466113"/>
            <a:ext cx="4228685"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285</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12" name="Rectangle 11">
                <a:extLst>
                  <a:ext uri="{FF2B5EF4-FFF2-40B4-BE49-F238E27FC236}">
                    <a16:creationId xmlns:a16="http://schemas.microsoft.com/office/drawing/2014/main" id="{84B30E62-DBC7-A64B-9D39-DD94DF002123}"/>
                  </a:ext>
                </a:extLst>
              </p:cNvPr>
              <p:cNvSpPr/>
              <p:nvPr/>
            </p:nvSpPr>
            <p:spPr>
              <a:xfrm>
                <a:off x="617517" y="836909"/>
                <a:ext cx="10358393" cy="2800767"/>
              </a:xfrm>
              <a:prstGeom prst="rect">
                <a:avLst/>
              </a:prstGeom>
            </p:spPr>
            <p:txBody>
              <a:bodyPr wrap="square">
                <a:spAutoFit/>
              </a:bodyPr>
              <a:lstStyle/>
              <a:p>
                <a:r>
                  <a:rPr lang="en-US" sz="2200" dirty="0">
                    <a:latin typeface="Verdana" panose="020B0604030504040204" pitchFamily="34" charset="0"/>
                    <a:ea typeface="Times New Roman" panose="02020603050405020304" pitchFamily="18" charset="0"/>
                    <a:cs typeface="Times New Roman" panose="02020603050405020304" pitchFamily="18" charset="0"/>
                  </a:rPr>
                  <a:t>Grandin is not on Map A, and Map B does not have a scale.</a:t>
                </a:r>
              </a:p>
              <a:p>
                <a:r>
                  <a:rPr lang="en-US" sz="2200" dirty="0">
                    <a:latin typeface="Verdana" panose="020B0604030504040204" pitchFamily="34" charset="0"/>
                    <a:ea typeface="Times New Roman" panose="02020603050405020304" pitchFamily="18" charset="0"/>
                    <a:cs typeface="Times New Roman" panose="02020603050405020304" pitchFamily="18" charset="0"/>
                  </a:rPr>
                  <a:t> </a:t>
                </a:r>
              </a:p>
              <a:p>
                <a:pPr marL="914400" indent="-457200">
                  <a:buFont typeface="Arial" panose="020B0604020202020204" pitchFamily="34" charset="0"/>
                  <a:buChar char="•"/>
                </a:pPr>
                <a:r>
                  <a:rPr lang="en-US" sz="2200" dirty="0">
                    <a:latin typeface="Verdana" panose="020B0604030504040204" pitchFamily="34" charset="0"/>
                    <a:ea typeface="Times New Roman" panose="02020603050405020304" pitchFamily="18" charset="0"/>
                    <a:cs typeface="Times New Roman" panose="02020603050405020304" pitchFamily="18" charset="0"/>
                  </a:rPr>
                  <a:t>Windsor and Hawthorne are </a:t>
                </a:r>
                <a14:m>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2.9</m:t>
                    </m:r>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cm apart on Map A.</a:t>
                </a:r>
              </a:p>
              <a:p>
                <a:pPr marL="914400" indent="-457200">
                  <a:buFont typeface="Arial" panose="020B0604020202020204" pitchFamily="34" charset="0"/>
                  <a:buChar char="•"/>
                </a:pPr>
                <a:r>
                  <a:rPr lang="en-US" sz="2200" dirty="0">
                    <a:latin typeface="Verdana" panose="020B0604030504040204" pitchFamily="34" charset="0"/>
                    <a:ea typeface="Times New Roman" panose="02020603050405020304" pitchFamily="18" charset="0"/>
                    <a:cs typeface="Times New Roman" panose="02020603050405020304" pitchFamily="18" charset="0"/>
                  </a:rPr>
                  <a:t>Windsor and Hawthorne are </a:t>
                </a:r>
                <a14:m>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4.3</m:t>
                    </m:r>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cm apart on Map B.</a:t>
                </a:r>
              </a:p>
              <a:p>
                <a:pPr marL="914400" indent="-457200">
                  <a:buFont typeface="Arial" panose="020B0604020202020204" pitchFamily="34" charset="0"/>
                  <a:buChar char="•"/>
                </a:pPr>
                <a:r>
                  <a:rPr lang="en-US" sz="2200" dirty="0">
                    <a:latin typeface="Verdana" panose="020B0604030504040204" pitchFamily="34" charset="0"/>
                    <a:ea typeface="Times New Roman" panose="02020603050405020304" pitchFamily="18" charset="0"/>
                    <a:cs typeface="Times New Roman" panose="02020603050405020304" pitchFamily="18" charset="0"/>
                  </a:rPr>
                  <a:t>Windsor and Grandin are </a:t>
                </a:r>
                <a14:m>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6.2</m:t>
                    </m:r>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cm apart on Map B.</a:t>
                </a:r>
              </a:p>
              <a:p>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r>
                  <a:rPr lang="en-US" sz="2200" dirty="0">
                    <a:latin typeface="Verdana" panose="020B0604030504040204" pitchFamily="34" charset="0"/>
                    <a:ea typeface="Times New Roman" panose="02020603050405020304" pitchFamily="18" charset="0"/>
                    <a:cs typeface="Times New Roman" panose="02020603050405020304" pitchFamily="18" charset="0"/>
                  </a:rPr>
                  <a:t>What is the distance, in miles, between Hawthorne and Grandin? Round to the nearest hundredth.</a:t>
                </a:r>
              </a:p>
            </p:txBody>
          </p:sp>
        </mc:Choice>
        <mc:Fallback>
          <p:sp>
            <p:nvSpPr>
              <p:cNvPr id="12" name="Rectangle 11">
                <a:extLst>
                  <a:ext uri="{FF2B5EF4-FFF2-40B4-BE49-F238E27FC236}">
                    <a16:creationId xmlns:a16="http://schemas.microsoft.com/office/drawing/2014/main" id="{84B30E62-DBC7-A64B-9D39-DD94DF002123}"/>
                  </a:ext>
                </a:extLst>
              </p:cNvPr>
              <p:cNvSpPr>
                <a:spLocks noRot="1" noChangeAspect="1" noMove="1" noResize="1" noEditPoints="1" noAdjustHandles="1" noChangeArrowheads="1" noChangeShapeType="1" noTextEdit="1"/>
              </p:cNvSpPr>
              <p:nvPr/>
            </p:nvSpPr>
            <p:spPr>
              <a:xfrm>
                <a:off x="617517" y="836909"/>
                <a:ext cx="10358393" cy="2800767"/>
              </a:xfrm>
              <a:prstGeom prst="rect">
                <a:avLst/>
              </a:prstGeom>
              <a:blipFill>
                <a:blip r:embed="rId4"/>
                <a:stretch>
                  <a:fillRect l="-765" t="-1087" r="-1176" b="-3696"/>
                </a:stretch>
              </a:blipFill>
            </p:spPr>
            <p:txBody>
              <a:bodyPr/>
              <a:lstStyle/>
              <a:p>
                <a:r>
                  <a:rPr lang="en-US">
                    <a:noFill/>
                  </a:rPr>
                  <a:t> </a:t>
                </a:r>
              </a:p>
            </p:txBody>
          </p:sp>
        </mc:Fallback>
      </mc:AlternateContent>
    </p:spTree>
    <p:extLst>
      <p:ext uri="{BB962C8B-B14F-4D97-AF65-F5344CB8AC3E}">
        <p14:creationId xmlns:p14="http://schemas.microsoft.com/office/powerpoint/2010/main" val="41697023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22547"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EFCC6CD7-3972-624A-AEF1-A2489A486756}"/>
              </a:ext>
            </a:extLst>
          </p:cNvPr>
          <p:cNvSpPr txBox="1"/>
          <p:nvPr/>
        </p:nvSpPr>
        <p:spPr>
          <a:xfrm>
            <a:off x="7314749" y="6466113"/>
            <a:ext cx="4207797"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286</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157"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13691" y="612903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86278" y="-8225"/>
            <a:ext cx="9435022" cy="1161522"/>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6.10.5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438978" y="116797"/>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D9F7A919-8B1E-2741-BB78-98A66295B9F8}"/>
                  </a:ext>
                </a:extLst>
              </p:cNvPr>
              <p:cNvSpPr/>
              <p:nvPr/>
            </p:nvSpPr>
            <p:spPr>
              <a:xfrm>
                <a:off x="605642" y="1395220"/>
                <a:ext cx="10480847" cy="1938992"/>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rPr>
                  <a:t>David’s car can travel about </a:t>
                </a:r>
                <a14:m>
                  <m:oMath xmlns:m="http://schemas.openxmlformats.org/officeDocument/2006/math">
                    <m:r>
                      <a:rPr lang="en-US" sz="2400" i="1" dirty="0">
                        <a:latin typeface="Cambria Math" panose="02040503050406030204" pitchFamily="18" charset="0"/>
                        <a:ea typeface="Times New Roman" panose="02020603050405020304" pitchFamily="18" charset="0"/>
                      </a:rPr>
                      <m:t>25</m:t>
                    </m:r>
                  </m:oMath>
                </a14:m>
                <a:r>
                  <a:rPr lang="en-US" sz="2400" dirty="0">
                    <a:latin typeface="Verdana" panose="020B0604030504040204" pitchFamily="34" charset="0"/>
                    <a:ea typeface="Times New Roman" panose="02020603050405020304" pitchFamily="18" charset="0"/>
                  </a:rPr>
                  <a:t> miles per gallon and his fuel tank holds </a:t>
                </a:r>
                <a14:m>
                  <m:oMath xmlns:m="http://schemas.openxmlformats.org/officeDocument/2006/math">
                    <m:r>
                      <a:rPr lang="en-US" sz="2400" i="1" dirty="0">
                        <a:latin typeface="Cambria Math" panose="02040503050406030204" pitchFamily="18" charset="0"/>
                        <a:ea typeface="Times New Roman" panose="02020603050405020304" pitchFamily="18" charset="0"/>
                      </a:rPr>
                      <m:t>12</m:t>
                    </m:r>
                  </m:oMath>
                </a14:m>
                <a:r>
                  <a:rPr lang="en-US" sz="2400" dirty="0">
                    <a:latin typeface="Verdana" panose="020B0604030504040204" pitchFamily="34" charset="0"/>
                    <a:ea typeface="Times New Roman" panose="02020603050405020304" pitchFamily="18" charset="0"/>
                  </a:rPr>
                  <a:t> gallons. He’s driving </a:t>
                </a:r>
                <a14:m>
                  <m:oMath xmlns:m="http://schemas.openxmlformats.org/officeDocument/2006/math">
                    <m:r>
                      <a:rPr lang="en-US" sz="2400" i="1" dirty="0">
                        <a:latin typeface="Cambria Math" panose="02040503050406030204" pitchFamily="18" charset="0"/>
                        <a:ea typeface="Times New Roman" panose="02020603050405020304" pitchFamily="18" charset="0"/>
                      </a:rPr>
                      <m:t>663</m:t>
                    </m:r>
                  </m:oMath>
                </a14:m>
                <a:r>
                  <a:rPr lang="en-US" sz="2400" dirty="0">
                    <a:latin typeface="Verdana" panose="020B0604030504040204" pitchFamily="34" charset="0"/>
                    <a:ea typeface="Times New Roman" panose="02020603050405020304" pitchFamily="18" charset="0"/>
                  </a:rPr>
                  <a:t> miles on a road trip from Miami, Florida to Atlanta, Georgia. If he starts with a full tank of gas in Miami, how many times will he have to stop for gas on the trip to Atlanta?</a:t>
                </a:r>
              </a:p>
            </p:txBody>
          </p:sp>
        </mc:Choice>
        <mc:Fallback>
          <p:sp>
            <p:nvSpPr>
              <p:cNvPr id="2" name="Rectangle 1">
                <a:extLst>
                  <a:ext uri="{FF2B5EF4-FFF2-40B4-BE49-F238E27FC236}">
                    <a16:creationId xmlns:a16="http://schemas.microsoft.com/office/drawing/2014/main" id="{D9F7A919-8B1E-2741-BB78-98A66295B9F8}"/>
                  </a:ext>
                </a:extLst>
              </p:cNvPr>
              <p:cNvSpPr>
                <a:spLocks noRot="1" noChangeAspect="1" noMove="1" noResize="1" noEditPoints="1" noAdjustHandles="1" noChangeArrowheads="1" noChangeShapeType="1" noTextEdit="1"/>
              </p:cNvSpPr>
              <p:nvPr/>
            </p:nvSpPr>
            <p:spPr>
              <a:xfrm>
                <a:off x="605642" y="1395220"/>
                <a:ext cx="10480847" cy="1938992"/>
              </a:xfrm>
              <a:prstGeom prst="rect">
                <a:avLst/>
              </a:prstGeom>
              <a:blipFill>
                <a:blip r:embed="rId5"/>
                <a:stretch>
                  <a:fillRect l="-872" t="-2830" r="-1744" b="-6289"/>
                </a:stretch>
              </a:blipFill>
            </p:spPr>
            <p:txBody>
              <a:bodyPr/>
              <a:lstStyle/>
              <a:p>
                <a:r>
                  <a:rPr lang="en-US">
                    <a:noFill/>
                  </a:rPr>
                  <a:t> </a:t>
                </a:r>
              </a:p>
            </p:txBody>
          </p:sp>
        </mc:Fallback>
      </mc:AlternateContent>
      <p:sp>
        <p:nvSpPr>
          <p:cNvPr id="11" name="Google Shape;282;g104476d1465_1_17">
            <a:extLst>
              <a:ext uri="{FF2B5EF4-FFF2-40B4-BE49-F238E27FC236}">
                <a16:creationId xmlns:a16="http://schemas.microsoft.com/office/drawing/2014/main" id="{F719A187-0842-F343-A6A1-7FD23B0B7316}"/>
              </a:ext>
            </a:extLst>
          </p:cNvPr>
          <p:cNvSpPr txBox="1"/>
          <p:nvPr/>
        </p:nvSpPr>
        <p:spPr>
          <a:xfrm>
            <a:off x="7314749" y="6487885"/>
            <a:ext cx="4098941"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286</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1389</TotalTime>
  <Words>790</Words>
  <Application>Microsoft Office PowerPoint</Application>
  <PresentationFormat>Widescreen</PresentationFormat>
  <Paragraphs>124</Paragraphs>
  <Slides>19</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Cambria Math</vt:lpstr>
      <vt:lpstr>Arial</vt:lpstr>
      <vt:lpstr>Verdana</vt:lpstr>
      <vt:lpstr>Wingdings</vt:lpstr>
      <vt:lpstr>Century Gothic</vt:lpstr>
      <vt:lpstr>Calibri</vt:lpstr>
      <vt:lpstr>Arial Black</vt:lpstr>
      <vt:lpstr>1_Office Theme</vt:lpstr>
      <vt:lpstr>7th Grade Math  Unit 6, Lesson 10  Solving Multi-Step Proportion Problems  Volume 1, pg. 282  </vt:lpstr>
      <vt:lpstr>Benchmark</vt:lpstr>
      <vt:lpstr>PowerPoint Presentation</vt:lpstr>
      <vt:lpstr>PowerPoint Presentation</vt:lpstr>
      <vt:lpstr>Warm-Up</vt:lpstr>
      <vt:lpstr>PowerPoint Presentation</vt:lpstr>
      <vt:lpstr>Collaboration</vt:lpstr>
      <vt:lpstr>PowerPoint Presentation</vt:lpstr>
      <vt:lpstr>PowerPoint Presentation</vt:lpstr>
      <vt:lpstr>Activity</vt:lpstr>
      <vt:lpstr>PowerPoint Presentation</vt:lpstr>
      <vt:lpstr>PowerPoint Presentation</vt:lpstr>
      <vt:lpstr>Your Turn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24</cp:revision>
  <dcterms:created xsi:type="dcterms:W3CDTF">2015-03-17T18:51:18Z</dcterms:created>
  <dcterms:modified xsi:type="dcterms:W3CDTF">2022-06-08T17:36:49Z</dcterms:modified>
</cp:coreProperties>
</file>