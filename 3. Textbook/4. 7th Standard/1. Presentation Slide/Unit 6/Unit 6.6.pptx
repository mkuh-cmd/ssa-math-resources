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67" r:id="rId11"/>
    <p:sldId id="368" r:id="rId12"/>
    <p:sldId id="326" r:id="rId13"/>
    <p:sldId id="327" r:id="rId14"/>
    <p:sldId id="398" r:id="rId15"/>
    <p:sldId id="378" r:id="rId16"/>
    <p:sldId id="379" r:id="rId17"/>
    <p:sldId id="380" r:id="rId18"/>
    <p:sldId id="390" r:id="rId19"/>
    <p:sldId id="393" r:id="rId20"/>
    <p:sldId id="394" r:id="rId21"/>
    <p:sldId id="395" r:id="rId22"/>
    <p:sldId id="396" r:id="rId23"/>
    <p:sldId id="381" r:id="rId24"/>
    <p:sldId id="382" r:id="rId25"/>
    <p:sldId id="383" r:id="rId26"/>
    <p:sldId id="392" r:id="rId27"/>
    <p:sldId id="399" r:id="rId28"/>
    <p:sldId id="306" r:id="rId29"/>
    <p:sldId id="307" r:id="rId30"/>
    <p:sldId id="377" r:id="rId31"/>
  </p:sldIdLst>
  <p:sldSz cx="12192000" cy="6858000"/>
  <p:notesSz cx="6858000" cy="9144000"/>
  <p:embeddedFontLst>
    <p:embeddedFont>
      <p:font typeface="Arial Black" panose="020B0A04020102020204" pitchFamily="34" charset="0"/>
      <p:regular r:id="rId33"/>
      <p:bold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ambria Math" panose="02040503050406030204" pitchFamily="18" charset="0"/>
      <p:regular r:id="rId39"/>
    </p:embeddedFont>
    <p:embeddedFont>
      <p:font typeface="Century Gothic" panose="020B0502020202020204" pitchFamily="34" charset="0"/>
      <p:regular r:id="rId40"/>
      <p:bold r:id="rId41"/>
      <p:italic r:id="rId42"/>
      <p:boldItalic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45BFA9"/>
    <a:srgbClr val="035036"/>
    <a:srgbClr val="3465B0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60"/>
    <p:restoredTop sz="94694"/>
  </p:normalViewPr>
  <p:slideViewPr>
    <p:cSldViewPr snapToGrid="0">
      <p:cViewPr varScale="1">
        <p:scale>
          <a:sx n="79" d="100"/>
          <a:sy n="79" d="100"/>
        </p:scale>
        <p:origin x="6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219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398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2586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8912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412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499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9412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4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958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09480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456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8080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65661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259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0671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7555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0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https://lh4.googleusercontent.com/2fPSmGZFeoRpIdYf__PehWRue5ZlpuEJvpCjVIdob_7Od71O_3PDUziieKXI4zYOwvYPHEwl_uCpuxDjax2zhOv3nCWsV_hKRoRBI-4FC0rx93VHSP5SQ_xBapBZ_7zNh_QPz9z0" TargetMode="Externa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https://lh4.googleusercontent.com/2fPSmGZFeoRpIdYf__PehWRue5ZlpuEJvpCjVIdob_7Od71O_3PDUziieKXI4zYOwvYPHEwl_uCpuxDjax2zhOv3nCWsV_hKRoRBI-4FC0rx93VHSP5SQ_xBapBZ_7zNh_QPz9z0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hyperlink" Target="https://www.publicdomainpictures.net/en/view-image.php?image=82758&amp;picture=house-illustration-clipart" TargetMode="External"/><Relationship Id="rId4" Type="http://schemas.openxmlformats.org/officeDocument/2006/relationships/image" Target="../media/image40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6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Creating Proportions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262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775" y="1696107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52307" y="-15267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07" y="136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7314750" y="6522275"/>
            <a:ext cx="425676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664029" y="1374569"/>
            <a:ext cx="954677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MA.7.AR.3.2</a:t>
            </a:r>
          </a:p>
          <a:p>
            <a:pPr indent="0">
              <a:buNone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previous understanding of ratios to solve real-world problems involving proportions.</a:t>
            </a:r>
            <a:endParaRPr lang="en-US" sz="26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50" y="2307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8407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338943" y="71435"/>
            <a:ext cx="92778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838200" y="1596390"/>
            <a:ext cx="9372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6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E42EF11-5FC6-7744-AF68-159F2F06D67F}"/>
              </a:ext>
            </a:extLst>
          </p:cNvPr>
          <p:cNvSpPr txBox="1"/>
          <p:nvPr/>
        </p:nvSpPr>
        <p:spPr>
          <a:xfrm>
            <a:off x="7314749" y="6498771"/>
            <a:ext cx="419365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28541" y="-16189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41" y="13480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653143" y="1609531"/>
            <a:ext cx="95576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create proportions to represent a situation.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793C8E2-E1C4-B24A-AB6C-B7DBDD28D85B}"/>
              </a:ext>
            </a:extLst>
          </p:cNvPr>
          <p:cNvSpPr txBox="1"/>
          <p:nvPr/>
        </p:nvSpPr>
        <p:spPr>
          <a:xfrm>
            <a:off x="7314749" y="6455229"/>
            <a:ext cx="4218683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BCEEC8C-9B17-C841-8ED4-211C80FA09C6}"/>
              </a:ext>
            </a:extLst>
          </p:cNvPr>
          <p:cNvSpPr txBox="1"/>
          <p:nvPr/>
        </p:nvSpPr>
        <p:spPr>
          <a:xfrm>
            <a:off x="7314749" y="6433457"/>
            <a:ext cx="42186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5709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15373" y="-157029"/>
            <a:ext cx="909694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6.6.1 Warm-Up: Math Flop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73" y="1321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629393" y="1343076"/>
            <a:ext cx="705810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advertisement encourages making </a:t>
            </a:r>
            <a:r>
              <a:rPr lang="en-US" sz="24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DiGiorno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pizza a part of your weekly meals.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advertisement?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478CDDBB-860A-D748-B9D0-C51751F3670A}"/>
              </a:ext>
            </a:extLst>
          </p:cNvPr>
          <p:cNvSpPr txBox="1"/>
          <p:nvPr/>
        </p:nvSpPr>
        <p:spPr>
          <a:xfrm>
            <a:off x="7314750" y="6487885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9CF1D90F-64B0-BF43-A3A2-8DAFAFD06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87495" y="1168671"/>
            <a:ext cx="4084320" cy="39833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0595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78089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D0D4F70-A5F7-6844-B49C-C7559A226638}"/>
              </a:ext>
            </a:extLst>
          </p:cNvPr>
          <p:cNvSpPr txBox="1"/>
          <p:nvPr/>
        </p:nvSpPr>
        <p:spPr>
          <a:xfrm>
            <a:off x="7314750" y="6487885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403A473E-F433-DD4A-A580-E1EF255DED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1857" y="2850884"/>
            <a:ext cx="1156233" cy="11562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15719" y="60584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83180" y="-171826"/>
            <a:ext cx="975537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6.6.2 Exploration: Proportional Thinking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C46F4F-A85A-084E-B29C-01BB2615DE1E}"/>
              </a:ext>
            </a:extLst>
          </p:cNvPr>
          <p:cNvSpPr/>
          <p:nvPr/>
        </p:nvSpPr>
        <p:spPr>
          <a:xfrm>
            <a:off x="647725" y="1205906"/>
            <a:ext cx="97553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A photograph is enlarged to make a poster. Measurements are given in centimeters (cm). </a:t>
            </a: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201E82E5-44E0-F44C-89CC-51BF5F797282}"/>
              </a:ext>
            </a:extLst>
          </p:cNvPr>
          <p:cNvSpPr txBox="1"/>
          <p:nvPr/>
        </p:nvSpPr>
        <p:spPr>
          <a:xfrm>
            <a:off x="7314749" y="6448144"/>
            <a:ext cx="4000969" cy="409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878CA7D6-F2D6-9A4F-919D-68D269CDF8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569" y="60325"/>
            <a:ext cx="759870" cy="759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2862F616-2396-9942-9514-26A0636E9697}"/>
                  </a:ext>
                </a:extLst>
              </p:cNvPr>
              <p:cNvSpPr txBox="1"/>
              <p:nvPr/>
            </p:nvSpPr>
            <p:spPr>
              <a:xfrm>
                <a:off x="2653705" y="3962359"/>
                <a:ext cx="937260" cy="36576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16 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cm</a:t>
                </a:r>
                <a:endParaRPr lang="en-CO" sz="1600" i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2862F616-2396-9942-9514-26A0636E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05" y="3962359"/>
                <a:ext cx="937260" cy="365760"/>
              </a:xfrm>
              <a:prstGeom prst="rect">
                <a:avLst/>
              </a:prstGeom>
              <a:blipFill>
                <a:blip r:embed="rId5"/>
                <a:stretch>
                  <a:fillRect t="-11667" b="-2500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2">
                <a:extLst>
                  <a:ext uri="{FF2B5EF4-FFF2-40B4-BE49-F238E27FC236}">
                    <a16:creationId xmlns:a16="http://schemas.microsoft.com/office/drawing/2014/main" id="{F318CB39-2BD6-0846-B9E5-D1E697132205}"/>
                  </a:ext>
                </a:extLst>
              </p:cNvPr>
              <p:cNvSpPr txBox="1"/>
              <p:nvPr/>
            </p:nvSpPr>
            <p:spPr>
              <a:xfrm>
                <a:off x="3905925" y="5286334"/>
                <a:ext cx="937260" cy="36576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 cm</a:t>
                </a:r>
                <a:endParaRPr lang="en-CO" sz="1600" i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 Box 12">
                <a:extLst>
                  <a:ext uri="{FF2B5EF4-FFF2-40B4-BE49-F238E27FC236}">
                    <a16:creationId xmlns:a16="http://schemas.microsoft.com/office/drawing/2014/main" id="{F318CB39-2BD6-0846-B9E5-D1E697132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925" y="5286334"/>
                <a:ext cx="937260" cy="365760"/>
              </a:xfrm>
              <a:prstGeom prst="rect">
                <a:avLst/>
              </a:prstGeom>
              <a:blipFill>
                <a:blip r:embed="rId6"/>
                <a:stretch>
                  <a:fillRect t="-10000" b="-2500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 descr="A cat sitting on the floor&#10;&#10;Description automatically generated with medium confidence">
            <a:extLst>
              <a:ext uri="{FF2B5EF4-FFF2-40B4-BE49-F238E27FC236}">
                <a16:creationId xmlns:a16="http://schemas.microsoft.com/office/drawing/2014/main" id="{B25C77B6-B777-6343-9D3C-37D53C19AC5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" r="4956" b="-2"/>
          <a:stretch/>
        </p:blipFill>
        <p:spPr bwMode="auto">
          <a:xfrm>
            <a:off x="3755430" y="3164164"/>
            <a:ext cx="1238250" cy="1962150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 descr="A cat sitting on the floor&#10;&#10;Description automatically generated with medium confidence">
            <a:extLst>
              <a:ext uri="{FF2B5EF4-FFF2-40B4-BE49-F238E27FC236}">
                <a16:creationId xmlns:a16="http://schemas.microsoft.com/office/drawing/2014/main" id="{BB4E05EB-882C-FD4D-802E-BAFC7F1FC35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56"/>
          <a:stretch/>
        </p:blipFill>
        <p:spPr bwMode="auto">
          <a:xfrm>
            <a:off x="6263190" y="2754985"/>
            <a:ext cx="2103120" cy="3331845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7">
                <a:extLst>
                  <a:ext uri="{FF2B5EF4-FFF2-40B4-BE49-F238E27FC236}">
                    <a16:creationId xmlns:a16="http://schemas.microsoft.com/office/drawing/2014/main" id="{067C34F6-1500-3342-9E07-4009DEFD35F4}"/>
                  </a:ext>
                </a:extLst>
              </p:cNvPr>
              <p:cNvSpPr txBox="1"/>
              <p:nvPr/>
            </p:nvSpPr>
            <p:spPr>
              <a:xfrm>
                <a:off x="6794050" y="6082384"/>
                <a:ext cx="937260" cy="36576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1800"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 cm</a:t>
                </a:r>
                <a:endParaRPr lang="en-CO" sz="1600" i="1"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 Box 17">
                <a:extLst>
                  <a:ext uri="{FF2B5EF4-FFF2-40B4-BE49-F238E27FC236}">
                    <a16:creationId xmlns:a16="http://schemas.microsoft.com/office/drawing/2014/main" id="{067C34F6-1500-3342-9E07-4009DEFD3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050" y="6082384"/>
                <a:ext cx="937260" cy="365760"/>
              </a:xfrm>
              <a:prstGeom prst="rect">
                <a:avLst/>
              </a:prstGeom>
              <a:blipFill>
                <a:blip r:embed="rId9"/>
                <a:stretch>
                  <a:fillRect t="-11667" b="-25000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4">
            <a:extLst>
              <a:ext uri="{FF2B5EF4-FFF2-40B4-BE49-F238E27FC236}">
                <a16:creationId xmlns:a16="http://schemas.microsoft.com/office/drawing/2014/main" id="{B2677D0E-0D9E-4A41-8C4E-D924AC15BC31}"/>
              </a:ext>
            </a:extLst>
          </p:cNvPr>
          <p:cNvSpPr txBox="1"/>
          <p:nvPr/>
        </p:nvSpPr>
        <p:spPr>
          <a:xfrm>
            <a:off x="5592240" y="4098639"/>
            <a:ext cx="937260" cy="365760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?</a:t>
            </a:r>
            <a:endParaRPr lang="en-CO" sz="1600" i="1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572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605642" y="599215"/>
                <a:ext cx="10011184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2" indent="127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Abigail used her pencil and measured the photo’s width using her finger to mark off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cm on the pencil. She then used the pencil to estimate the height using the mark on her pencil.</a:t>
                </a:r>
              </a:p>
              <a:p>
                <a:pPr lvl="2" indent="127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2" indent="127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lvl="2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Abigail’s strategy could lead to an incorrect answer.</a:t>
                </a:r>
              </a:p>
              <a:p>
                <a:pPr lvl="2" indent="127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lvl="2" indent="127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2" indent="127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42" y="599215"/>
                <a:ext cx="10011184" cy="3785652"/>
              </a:xfrm>
              <a:prstGeom prst="rect">
                <a:avLst/>
              </a:prstGeom>
              <a:blipFill>
                <a:blip r:embed="rId4"/>
                <a:stretch>
                  <a:fillRect l="-913" t="-1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91541B9-7C1E-4043-A1D5-12779C6D7B04}"/>
              </a:ext>
            </a:extLst>
          </p:cNvPr>
          <p:cNvSpPr txBox="1"/>
          <p:nvPr/>
        </p:nvSpPr>
        <p:spPr>
          <a:xfrm>
            <a:off x="7314749" y="6520543"/>
            <a:ext cx="41424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0654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8B73DB-0DF7-EE46-891E-B7CF14DC7489}"/>
              </a:ext>
            </a:extLst>
          </p:cNvPr>
          <p:cNvSpPr txBox="1"/>
          <p:nvPr/>
        </p:nvSpPr>
        <p:spPr>
          <a:xfrm>
            <a:off x="7314749" y="6394072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B0F11-BEA5-4E48-82F0-9DF382CC5712}"/>
              </a:ext>
            </a:extLst>
          </p:cNvPr>
          <p:cNvSpPr/>
          <p:nvPr/>
        </p:nvSpPr>
        <p:spPr>
          <a:xfrm>
            <a:off x="617517" y="463928"/>
            <a:ext cx="94354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Mariana and Yousef used different strategies to find the height of the poster. Review their solution strategies. Then, work with your partner to answer the questions that follow.</a:t>
            </a:r>
          </a:p>
        </p:txBody>
      </p:sp>
      <p:pic>
        <p:nvPicPr>
          <p:cNvPr id="5" name="Picture 4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65665D24-11C8-334F-84BC-538A296069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3644" y="1992895"/>
            <a:ext cx="7301948" cy="29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D3CFD391-E431-9C4A-9934-6764E12AD456}"/>
              </a:ext>
            </a:extLst>
          </p:cNvPr>
          <p:cNvSpPr txBox="1"/>
          <p:nvPr/>
        </p:nvSpPr>
        <p:spPr>
          <a:xfrm>
            <a:off x="7314749" y="6455229"/>
            <a:ext cx="4153369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F8FBDD-4B48-3C40-9166-098D9F255394}"/>
              </a:ext>
            </a:extLst>
          </p:cNvPr>
          <p:cNvSpPr/>
          <p:nvPr/>
        </p:nvSpPr>
        <p:spPr>
          <a:xfrm>
            <a:off x="629392" y="734092"/>
            <a:ext cx="1026028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How are Mariana and Yousef’s solution strategies similar?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How are their solution strategies different?</a:t>
            </a:r>
          </a:p>
        </p:txBody>
      </p:sp>
    </p:spTree>
    <p:extLst>
      <p:ext uri="{BB962C8B-B14F-4D97-AF65-F5344CB8AC3E}">
        <p14:creationId xmlns:p14="http://schemas.microsoft.com/office/powerpoint/2010/main" val="312947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509657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C8593B4F-0075-4A4D-A590-B41259CD5E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6748" y="2843633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37007" y="71686"/>
            <a:ext cx="10667796" cy="107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6.6.3 Bring It Together: Proportional Relationships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411686"/>
            <a:ext cx="416968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A8E4C09F-0E07-1043-B313-8A236D2641C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197" y="189064"/>
            <a:ext cx="749808" cy="749808"/>
          </a:xfrm>
          <a:prstGeom prst="rect">
            <a:avLst/>
          </a:prstGeom>
        </p:spPr>
      </p:pic>
      <p:sp>
        <p:nvSpPr>
          <p:cNvPr id="11" name="Text Box 11">
            <a:extLst>
              <a:ext uri="{FF2B5EF4-FFF2-40B4-BE49-F238E27FC236}">
                <a16:creationId xmlns:a16="http://schemas.microsoft.com/office/drawing/2014/main" id="{A6F11C28-256E-294F-B634-F01D06E2AFA5}"/>
              </a:ext>
            </a:extLst>
          </p:cNvPr>
          <p:cNvSpPr txBox="1"/>
          <p:nvPr/>
        </p:nvSpPr>
        <p:spPr>
          <a:xfrm>
            <a:off x="2508606" y="1630593"/>
            <a:ext cx="7167450" cy="2665730"/>
          </a:xfrm>
          <a:prstGeom prst="roundRect">
            <a:avLst/>
          </a:prstGeom>
          <a:solidFill>
            <a:srgbClr val="B8E6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4295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In a </a:t>
            </a:r>
            <a:r>
              <a:rPr lang="en-US" sz="1800" b="1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proportional relationship</a:t>
            </a: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, the values for one quantity are each multiplied by the same number to get the values for the other quantity. </a:t>
            </a:r>
            <a:endParaRPr lang="en-CO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  <a:p>
            <a:pPr marL="742950"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A </a:t>
            </a:r>
            <a:r>
              <a:rPr lang="en-US" sz="1800" b="1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proportion</a:t>
            </a:r>
            <a:r>
              <a:rPr lang="en-US" sz="1800" dirty="0">
                <a:solidFill>
                  <a:srgbClr val="0075BF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 sets two or more equivalent ratios in such relationships as equal to each other and can be used to solve problems.</a:t>
            </a:r>
            <a:endParaRPr lang="en-CO" sz="1600" i="1" dirty="0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27593508-ACC1-2B4C-AF6C-76996AA0A5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04630" y="2038345"/>
            <a:ext cx="539750" cy="5397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4C4B5BE-7C6B-8848-BA6D-B5EBF2CF066A}"/>
              </a:ext>
            </a:extLst>
          </p:cNvPr>
          <p:cNvGrpSpPr/>
          <p:nvPr/>
        </p:nvGrpSpPr>
        <p:grpSpPr>
          <a:xfrm>
            <a:off x="2519850" y="4744809"/>
            <a:ext cx="7156206" cy="1068070"/>
            <a:chOff x="-261450" y="-1"/>
            <a:chExt cx="7156206" cy="10684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37">
                  <a:extLst>
                    <a:ext uri="{FF2B5EF4-FFF2-40B4-BE49-F238E27FC236}">
                      <a16:creationId xmlns:a16="http://schemas.microsoft.com/office/drawing/2014/main" id="{7665D4F7-A62C-9E4C-B37F-32D127BC4A04}"/>
                    </a:ext>
                  </a:extLst>
                </p:cNvPr>
                <p:cNvSpPr txBox="1"/>
                <p:nvPr/>
              </p:nvSpPr>
              <p:spPr>
                <a:xfrm>
                  <a:off x="-261450" y="-1"/>
                  <a:ext cx="7156206" cy="1068405"/>
                </a:xfrm>
                <a:prstGeom prst="roundRect">
                  <a:avLst/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742950">
                    <a:lnSpc>
                      <a:spcPct val="107000"/>
                    </a:lnSpc>
                  </a:pP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A</a:t>
                  </a:r>
                  <a:r>
                    <a:rPr lang="en-US" sz="1800" b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 </a:t>
                  </a:r>
                  <a:r>
                    <a:rPr lang="en-US" sz="18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unit rate </a:t>
                  </a:r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is a ratio comparing a number of units of one quantity to </a:t>
                  </a:r>
                  <a14:m>
                    <m:oMath xmlns:m="http://schemas.openxmlformats.org/officeDocument/2006/math">
                      <m:r>
                        <a:rPr lang="en-US" sz="18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1</m:t>
                      </m:r>
                    </m:oMath>
                  </a14:m>
                  <a:r>
                    <a:rPr lang="en-US" sz="18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 unit of a second quantity.</a:t>
                  </a:r>
                  <a:r>
                    <a:rPr lang="es-ES" sz="1600" b="1" i="1" dirty="0">
                      <a:solidFill>
                        <a:srgbClr val="6C993D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  <a:cs typeface="Cambria Math" panose="02040503050406030204" pitchFamily="18" charset="0"/>
                    </a:rPr>
                    <a:t> </a:t>
                  </a:r>
                  <a:endParaRPr lang="en-CO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37">
                  <a:extLst>
                    <a:ext uri="{FF2B5EF4-FFF2-40B4-BE49-F238E27FC236}">
                      <a16:creationId xmlns:a16="http://schemas.microsoft.com/office/drawing/2014/main" id="{7665D4F7-A62C-9E4C-B37F-32D127BC4A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1450" y="-1"/>
                  <a:ext cx="7156206" cy="1068405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52EC7E84-721D-3C4D-92D7-462BCF71D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70799" y="118880"/>
              <a:ext cx="539750" cy="5397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3571" y="614861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489665"/>
            <a:ext cx="424882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3D1362-476C-304C-9164-16045E1768A6}"/>
              </a:ext>
            </a:extLst>
          </p:cNvPr>
          <p:cNvSpPr/>
          <p:nvPr/>
        </p:nvSpPr>
        <p:spPr>
          <a:xfrm>
            <a:off x="605642" y="368334"/>
            <a:ext cx="97637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words and phrases in the bank below to complete the description of Mariana and Yousef’s work.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C836614-A531-2546-932B-34CF52CD6DFD}"/>
              </a:ext>
            </a:extLst>
          </p:cNvPr>
          <p:cNvSpPr/>
          <p:nvPr/>
        </p:nvSpPr>
        <p:spPr>
          <a:xfrm>
            <a:off x="2918460" y="1283197"/>
            <a:ext cx="6355080" cy="47498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Verdana" panose="020B0604030504040204" pitchFamily="34" charset="0"/>
                <a:ea typeface="Cambria Math" panose="02040503050406030204" pitchFamily="18" charset="0"/>
                <a:cs typeface="Cambria Math" panose="02040503050406030204" pitchFamily="18" charset="0"/>
              </a:rPr>
              <a:t>is equal to        proportion        ratio        unit rate</a:t>
            </a:r>
            <a:endParaRPr lang="en-CO" sz="1600" i="1">
              <a:latin typeface="Cambria Math" panose="02040503050406030204" pitchFamily="18" charset="0"/>
              <a:ea typeface="Cambria Math" panose="02040503050406030204" pitchFamily="18" charset="0"/>
              <a:cs typeface="Cambria Math" panose="020405030504060302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D6DCF2-0BE1-284B-B32C-8DF17D8C12DD}"/>
              </a:ext>
            </a:extLst>
          </p:cNvPr>
          <p:cNvSpPr/>
          <p:nvPr/>
        </p:nvSpPr>
        <p:spPr>
          <a:xfrm>
            <a:off x="605642" y="2038108"/>
            <a:ext cx="9763779" cy="3261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3550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photograph and the poster are in a </a:t>
            </a:r>
            <a:r>
              <a:rPr lang="en-US" sz="20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proportional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because the poster is a scaled version of the photograph. Mariana found the scale factor, which is a _______________, and multiplied it by the height of the photo to find the height of the poster. Yousef set up a _______________ stating the _______________ of the height to width of the photograph _______________ the ratio of the height to width of the poster. </a:t>
            </a:r>
          </a:p>
        </p:txBody>
      </p:sp>
    </p:spTree>
    <p:extLst>
      <p:ext uri="{BB962C8B-B14F-4D97-AF65-F5344CB8AC3E}">
        <p14:creationId xmlns:p14="http://schemas.microsoft.com/office/powerpoint/2010/main" val="24080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4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5808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49" y="6498771"/>
            <a:ext cx="41642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8E3F22CB-8A0F-AC4E-856F-EA318A2338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4712" y="2843633"/>
            <a:ext cx="1152447" cy="11524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124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7114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0743" y="611608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55316" y="-39324"/>
            <a:ext cx="104073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6.6.4 Guided Instruction: Proportional Thinking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EEC4E3-DFCF-C94C-B80D-045F3E6BF764}"/>
              </a:ext>
            </a:extLst>
          </p:cNvPr>
          <p:cNvSpPr/>
          <p:nvPr/>
        </p:nvSpPr>
        <p:spPr>
          <a:xfrm>
            <a:off x="598715" y="1361531"/>
            <a:ext cx="977070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Proportions can be set up in different ways using the relationships between each quantity.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different proportions that can be used to find the height of the poster are shown.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49" y="6455229"/>
            <a:ext cx="4165993" cy="402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AE7533EC-AC83-3644-BAC2-0266BF5C79C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354" y="248622"/>
            <a:ext cx="749808" cy="749808"/>
          </a:xfrm>
          <a:prstGeom prst="rect">
            <a:avLst/>
          </a:prstGeom>
        </p:spPr>
      </p:pic>
      <p:pic>
        <p:nvPicPr>
          <p:cNvPr id="4" name="Picture 3" descr="Table&#10;&#10;Description automatically generated with medium confidence">
            <a:extLst>
              <a:ext uri="{FF2B5EF4-FFF2-40B4-BE49-F238E27FC236}">
                <a16:creationId xmlns:a16="http://schemas.microsoft.com/office/drawing/2014/main" id="{EAD659DC-E3D4-8A45-93B1-3A8316B368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39852" y="3429000"/>
            <a:ext cx="6911009" cy="236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111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520543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17517" y="3646229"/>
            <a:ext cx="97519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of the proportions show that the ratios of </a:t>
            </a:r>
            <a:r>
              <a:rPr lang="en-US" sz="2400" dirty="0">
                <a:solidFill>
                  <a:srgbClr val="7030A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dimensions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photograph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>
                <a:solidFill>
                  <a:srgbClr val="7030A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dimensions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poster</a:t>
            </a: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are equivalent. </a:t>
            </a:r>
          </a:p>
        </p:txBody>
      </p:sp>
      <p:pic>
        <p:nvPicPr>
          <p:cNvPr id="4" name="Picture 3" descr="Table&#10;&#10;Description automatically generated with low confidence">
            <a:extLst>
              <a:ext uri="{FF2B5EF4-FFF2-40B4-BE49-F238E27FC236}">
                <a16:creationId xmlns:a16="http://schemas.microsoft.com/office/drawing/2014/main" id="{8004F978-E9FA-FC4F-A00A-E4DD48E69C5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35537" y="649643"/>
            <a:ext cx="6798365" cy="233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03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44343"/>
            <a:ext cx="4164255" cy="413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17517" y="764469"/>
            <a:ext cx="9751903" cy="477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statements based on the proportions.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dimensions of the poster are            times larger than the photograph.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height of both the photograph and poster is 	     times larger than the width.</a:t>
            </a: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39A9F0CE-2381-5945-932E-A04C9CB1EAB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3857" y="1839022"/>
            <a:ext cx="1108765" cy="961507"/>
          </a:xfrm>
          <a:prstGeom prst="rect">
            <a:avLst/>
          </a:prstGeom>
        </p:spPr>
      </p:pic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9332CE17-AB48-1346-8B66-E86FA71684A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4668" y="4067445"/>
            <a:ext cx="1108765" cy="96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98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531429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7" name="Picture 2" descr="Icon&#10;&#10;Description automatically generated">
            <a:extLst>
              <a:ext uri="{FF2B5EF4-FFF2-40B4-BE49-F238E27FC236}">
                <a16:creationId xmlns:a16="http://schemas.microsoft.com/office/drawing/2014/main" id="{57B8D6DC-D881-2C41-9A88-1C0C405A6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r:link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6748" y="2852772"/>
            <a:ext cx="1152447" cy="115244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644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40419" y="-76593"/>
            <a:ext cx="92764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6.6.5 Guided Practice: Proportional Thinking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621717" y="1524545"/>
                <a:ext cx="9747704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city of Tampa collected sample data on pet ownership to use when determining whether or not it needed to build additional dog parks. A city parks officer randomly sampled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households in Tampa and found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the households had a dog. Using the results of the sample, determine how many households have a dog if there are 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153,918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households in Tampa.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17" y="1524545"/>
                <a:ext cx="9747704" cy="2677656"/>
              </a:xfrm>
              <a:prstGeom prst="rect">
                <a:avLst/>
              </a:prstGeom>
              <a:blipFill>
                <a:blip r:embed="rId4"/>
                <a:stretch>
                  <a:fillRect l="-1001" t="-1822" r="-125" b="-4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520543"/>
            <a:ext cx="41098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1" name="Picture 2" descr="Icon&#10;&#10;Description automatically generated">
            <a:extLst>
              <a:ext uri="{FF2B5EF4-FFF2-40B4-BE49-F238E27FC236}">
                <a16:creationId xmlns:a16="http://schemas.microsoft.com/office/drawing/2014/main" id="{3E36ED94-08F2-0046-8C79-70041F8D7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r:link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1717" y="168005"/>
            <a:ext cx="749808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1579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3433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87885"/>
            <a:ext cx="4218683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17517" y="729574"/>
            <a:ext cx="975190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statements to describe the relationships that are being compared.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4400" indent="-447675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number of households with a dog is being 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2233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compared to the ______________________.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47675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sample is being compared to the </a:t>
            </a:r>
          </a:p>
          <a:p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22338"/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___________________________ of Tampa.</a:t>
            </a:r>
          </a:p>
        </p:txBody>
      </p:sp>
    </p:spTree>
    <p:extLst>
      <p:ext uri="{BB962C8B-B14F-4D97-AF65-F5344CB8AC3E}">
        <p14:creationId xmlns:p14="http://schemas.microsoft.com/office/powerpoint/2010/main" val="3209011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9005" y="617038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412521"/>
            <a:ext cx="404993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96687" y="445479"/>
            <a:ext cx="96727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proportions that represent this situation are below, but one of them has an error.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097791A-0A20-034B-9BBD-69CCFA3B0D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8166156"/>
                  </p:ext>
                </p:extLst>
              </p:nvPr>
            </p:nvGraphicFramePr>
            <p:xfrm>
              <a:off x="2695575" y="1393092"/>
              <a:ext cx="6800850" cy="13436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89960">
                      <a:extLst>
                        <a:ext uri="{9D8B030D-6E8A-4147-A177-3AD203B41FA5}">
                          <a16:colId xmlns:a16="http://schemas.microsoft.com/office/drawing/2014/main" val="2042453693"/>
                        </a:ext>
                      </a:extLst>
                    </a:gridCol>
                    <a:gridCol w="3310890">
                      <a:extLst>
                        <a:ext uri="{9D8B030D-6E8A-4147-A177-3AD203B41FA5}">
                          <a16:colId xmlns:a16="http://schemas.microsoft.com/office/drawing/2014/main" val="3892890727"/>
                        </a:ext>
                      </a:extLst>
                    </a:gridCol>
                  </a:tblGrid>
                  <a:tr h="2825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 A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 B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853519"/>
                      </a:ext>
                    </a:extLst>
                  </a:tr>
                  <a:tr h="106108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126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153,918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153,918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126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096016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097791A-0A20-034B-9BBD-69CCFA3B0D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8166156"/>
                  </p:ext>
                </p:extLst>
              </p:nvPr>
            </p:nvGraphicFramePr>
            <p:xfrm>
              <a:off x="2695575" y="1393092"/>
              <a:ext cx="6800850" cy="13436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89960">
                      <a:extLst>
                        <a:ext uri="{9D8B030D-6E8A-4147-A177-3AD203B41FA5}">
                          <a16:colId xmlns:a16="http://schemas.microsoft.com/office/drawing/2014/main" val="2042453693"/>
                        </a:ext>
                      </a:extLst>
                    </a:gridCol>
                    <a:gridCol w="3310890">
                      <a:extLst>
                        <a:ext uri="{9D8B030D-6E8A-4147-A177-3AD203B41FA5}">
                          <a16:colId xmlns:a16="http://schemas.microsoft.com/office/drawing/2014/main" val="3892890727"/>
                        </a:ext>
                      </a:extLst>
                    </a:gridCol>
                  </a:tblGrid>
                  <a:tr h="28257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 A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Proportion B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853519"/>
                      </a:ext>
                    </a:extLst>
                  </a:tr>
                  <a:tr h="10610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5" t="-33143" r="-95113" b="-1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5709" t="-33143" r="-368" b="-1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6016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4D9779-8D9C-4E41-9239-6D25E9D1E2ED}"/>
                  </a:ext>
                </a:extLst>
              </p:cNvPr>
              <p:cNvSpPr/>
              <p:nvPr/>
            </p:nvSpPr>
            <p:spPr>
              <a:xfrm>
                <a:off x="593766" y="3014216"/>
                <a:ext cx="9775655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Proportion         is not set up correctly. The proportion</a:t>
                </a:r>
              </a:p>
              <a:p>
                <a:pPr marL="466725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66725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should be   </a:t>
                </a:r>
                <a14:m>
                  <m:oMath xmlns:m="http://schemas.openxmlformats.org/officeDocument/2006/math"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___________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E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___________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number of households expected to have a dog.</a:t>
                </a: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34D9779-8D9C-4E41-9239-6D25E9D1E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6" y="3014216"/>
                <a:ext cx="9775655" cy="1938992"/>
              </a:xfrm>
              <a:prstGeom prst="rect">
                <a:avLst/>
              </a:prstGeom>
              <a:blipFill>
                <a:blip r:embed="rId5"/>
                <a:stretch>
                  <a:fillRect l="-686" t="-1567" b="-4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FEEEB0DE-54C8-934E-A14A-16D82D4014F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3071" y="2869816"/>
            <a:ext cx="650313" cy="7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16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59194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45BFA9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45BFA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7314750" y="6476999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5.png">
            <a:extLst>
              <a:ext uri="{FF2B5EF4-FFF2-40B4-BE49-F238E27FC236}">
                <a16:creationId xmlns:a16="http://schemas.microsoft.com/office/drawing/2014/main" id="{2E1E89A8-D0E7-C648-8036-51C32583B58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01700" y="2852778"/>
            <a:ext cx="1152447" cy="115244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13708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488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6348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77241" y="-137357"/>
            <a:ext cx="1010431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45BFA9"/>
                </a:solidFill>
                <a:latin typeface="Verdana"/>
                <a:ea typeface="Verdana"/>
                <a:cs typeface="Verdana"/>
                <a:sym typeface="Verdana"/>
              </a:rPr>
              <a:t>6.6.6 Collaboration: Creating Proportions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617516" y="1365255"/>
                <a:ext cx="8110847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Javad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drove his car to Canada. He was driving on a road and saw the sign shown to the right. According to his speedometer, </a:t>
                </a: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Javad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was driving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 per hour when he was pulled over for speeding. Canadian speed limits are given in kilometers (km) per hour because they use the metric system. There are approximately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1.61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kilometers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16" y="1365255"/>
                <a:ext cx="8110847" cy="2246769"/>
              </a:xfrm>
              <a:prstGeom prst="rect">
                <a:avLst/>
              </a:prstGeom>
              <a:blipFill>
                <a:blip r:embed="rId4"/>
                <a:stretch>
                  <a:fillRect l="-826" t="-1897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4E354D11-4333-5B4D-A7B5-313F4353BB7E}"/>
              </a:ext>
            </a:extLst>
          </p:cNvPr>
          <p:cNvSpPr txBox="1"/>
          <p:nvPr/>
        </p:nvSpPr>
        <p:spPr>
          <a:xfrm>
            <a:off x="7314750" y="6487885"/>
            <a:ext cx="4131598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5.png">
            <a:extLst>
              <a:ext uri="{FF2B5EF4-FFF2-40B4-BE49-F238E27FC236}">
                <a16:creationId xmlns:a16="http://schemas.microsoft.com/office/drawing/2014/main" id="{A179F127-9C9B-DE48-9971-FF132544006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48" y="150589"/>
            <a:ext cx="749808" cy="749808"/>
          </a:xfrm>
          <a:prstGeom prst="rect">
            <a:avLst/>
          </a:prstGeom>
          <a:ln/>
        </p:spPr>
      </p:pic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90A58FD0-03F6-B549-94B7-F3929EEB90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03417" y="1311669"/>
            <a:ext cx="2047671" cy="228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32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68119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49" y="6498771"/>
            <a:ext cx="41533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581891" y="504474"/>
            <a:ext cx="97875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two different proportions that could be used to find </a:t>
            </a:r>
            <a:r>
              <a:rPr lang="en-US" sz="20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Javad’s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speed in kilometers per hour.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ED04D1-8B73-1646-A6AD-AFF98A20B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97224"/>
              </p:ext>
            </p:extLst>
          </p:nvPr>
        </p:nvGraphicFramePr>
        <p:xfrm>
          <a:off x="2849229" y="1451759"/>
          <a:ext cx="6776085" cy="163912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17570">
                  <a:extLst>
                    <a:ext uri="{9D8B030D-6E8A-4147-A177-3AD203B41FA5}">
                      <a16:colId xmlns:a16="http://schemas.microsoft.com/office/drawing/2014/main" val="405354594"/>
                    </a:ext>
                  </a:extLst>
                </a:gridCol>
                <a:gridCol w="3358515">
                  <a:extLst>
                    <a:ext uri="{9D8B030D-6E8A-4147-A177-3AD203B41FA5}">
                      <a16:colId xmlns:a16="http://schemas.microsoft.com/office/drawing/2014/main" val="1985938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Proportion A</a:t>
                      </a:r>
                      <a:endParaRPr lang="en-CO" sz="16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Proportion B</a:t>
                      </a:r>
                      <a:endParaRPr lang="en-CO" sz="16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78137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6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6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904079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A4D0EE1-D5B0-6A4C-9B05-C800BF079B6A}"/>
              </a:ext>
            </a:extLst>
          </p:cNvPr>
          <p:cNvSpPr/>
          <p:nvPr/>
        </p:nvSpPr>
        <p:spPr>
          <a:xfrm>
            <a:off x="581891" y="3671744"/>
            <a:ext cx="97875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fast was </a:t>
            </a:r>
            <a:r>
              <a:rPr lang="en-US" sz="20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Javad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traveling in kilometers per hour?</a:t>
            </a:r>
          </a:p>
          <a:p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02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00776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520543"/>
            <a:ext cx="41860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05643" y="579499"/>
            <a:ext cx="97637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architect made a scale drawing of a house as shown.</a:t>
            </a:r>
          </a:p>
        </p:txBody>
      </p:sp>
      <p:pic>
        <p:nvPicPr>
          <p:cNvPr id="20" name="Picture 19" descr="House Illustration Clipart Free Stock Photo - Public ...">
            <a:extLst>
              <a:ext uri="{FF2B5EF4-FFF2-40B4-BE49-F238E27FC236}">
                <a16:creationId xmlns:a16="http://schemas.microsoft.com/office/drawing/2014/main" id="{A27B1FB9-3B00-1D4F-9A1F-0C3125DBD10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3082" t="9675" b="12926"/>
          <a:stretch/>
        </p:blipFill>
        <p:spPr bwMode="auto">
          <a:xfrm>
            <a:off x="3792855" y="1454005"/>
            <a:ext cx="4606290" cy="2929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Picture 20" descr="A picture containing text, measuring stick, antenna&#10;&#10;Description automatically generated">
            <a:extLst>
              <a:ext uri="{FF2B5EF4-FFF2-40B4-BE49-F238E27FC236}">
                <a16:creationId xmlns:a16="http://schemas.microsoft.com/office/drawing/2014/main" id="{90FBBC4C-A437-3B4D-BB8D-B18707092E3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9040" y="4414627"/>
            <a:ext cx="4693920" cy="10058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4EE0C6-9987-BB44-A36E-5734E32A14C3}"/>
                  </a:ext>
                </a:extLst>
              </p:cNvPr>
              <p:cNvSpPr/>
              <p:nvPr/>
            </p:nvSpPr>
            <p:spPr>
              <a:xfrm>
                <a:off x="605643" y="5615324"/>
                <a:ext cx="9763777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355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scale for the drawing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inch =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feet.</a:t>
                </a:r>
              </a:p>
            </p:txBody>
          </p:sp>
        </mc:Choice>
        <mc:Fallback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24EE0C6-9987-BB44-A36E-5734E32A14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43" y="5615324"/>
                <a:ext cx="9763777" cy="613886"/>
              </a:xfrm>
              <a:prstGeom prst="rect">
                <a:avLst/>
              </a:prstGeom>
              <a:blipFill>
                <a:blip r:embed="rId7"/>
                <a:stretch>
                  <a:fillRect b="-6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753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2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D80B3B1-A0AC-4E49-8B8A-BB2777B1A70C}"/>
              </a:ext>
            </a:extLst>
          </p:cNvPr>
          <p:cNvSpPr txBox="1"/>
          <p:nvPr/>
        </p:nvSpPr>
        <p:spPr>
          <a:xfrm>
            <a:off x="7314750" y="6498771"/>
            <a:ext cx="4196912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30E62-DBC7-A64B-9D39-DD94DF002123}"/>
              </a:ext>
            </a:extLst>
          </p:cNvPr>
          <p:cNvSpPr/>
          <p:nvPr/>
        </p:nvSpPr>
        <p:spPr>
          <a:xfrm>
            <a:off x="605642" y="579499"/>
            <a:ext cx="97637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 two different proportions that could be used to find the actual length of the house represented by the drawing.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345B30-FCBB-274D-AF20-B6315499D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389326"/>
              </p:ext>
            </p:extLst>
          </p:nvPr>
        </p:nvGraphicFramePr>
        <p:xfrm>
          <a:off x="2834306" y="1956529"/>
          <a:ext cx="6805930" cy="242144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17570">
                  <a:extLst>
                    <a:ext uri="{9D8B030D-6E8A-4147-A177-3AD203B41FA5}">
                      <a16:colId xmlns:a16="http://schemas.microsoft.com/office/drawing/2014/main" val="2219684120"/>
                    </a:ext>
                  </a:extLst>
                </a:gridCol>
                <a:gridCol w="3388360">
                  <a:extLst>
                    <a:ext uri="{9D8B030D-6E8A-4147-A177-3AD203B41FA5}">
                      <a16:colId xmlns:a16="http://schemas.microsoft.com/office/drawing/2014/main" val="33598592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Proportion A</a:t>
                      </a:r>
                      <a:endParaRPr lang="en-CO" sz="16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Proportion B</a:t>
                      </a:r>
                      <a:endParaRPr lang="en-CO" sz="16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583459"/>
                  </a:ext>
                </a:extLst>
              </a:tr>
              <a:tr h="21539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6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en-CO" sz="16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804535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BEB4177E-2321-3B4F-A251-8B928B7D9CFE}"/>
              </a:ext>
            </a:extLst>
          </p:cNvPr>
          <p:cNvSpPr/>
          <p:nvPr/>
        </p:nvSpPr>
        <p:spPr>
          <a:xfrm>
            <a:off x="605641" y="4873203"/>
            <a:ext cx="97637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length of the house represented by the drawing?</a:t>
            </a:r>
          </a:p>
        </p:txBody>
      </p:sp>
    </p:spTree>
    <p:extLst>
      <p:ext uri="{BB962C8B-B14F-4D97-AF65-F5344CB8AC3E}">
        <p14:creationId xmlns:p14="http://schemas.microsoft.com/office/powerpoint/2010/main" val="2665933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989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FCC6CD7-3972-624A-AEF1-A2489A486756}"/>
              </a:ext>
            </a:extLst>
          </p:cNvPr>
          <p:cNvSpPr txBox="1"/>
          <p:nvPr/>
        </p:nvSpPr>
        <p:spPr>
          <a:xfrm>
            <a:off x="7314750" y="6466113"/>
            <a:ext cx="417514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4576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989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6.6.7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40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593766" y="1302369"/>
                <a:ext cx="995327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Jacksonville and Gainesville are approximately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1.4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 inches (in.) apart on a scaled map of Florida. The scale used for the map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in. =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90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miles (mi).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Three students set up proportions to find the actual distance between Jacksonville and Gainesville, but two of them made errors.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6" y="1302369"/>
                <a:ext cx="9953270" cy="2677656"/>
              </a:xfrm>
              <a:prstGeom prst="rect">
                <a:avLst/>
              </a:prstGeom>
              <a:blipFill>
                <a:blip r:embed="rId5"/>
                <a:stretch>
                  <a:fillRect l="-919" t="-2050" r="-1531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7314750" y="6487885"/>
            <a:ext cx="4109826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035036"/>
          </a:solidFill>
          <a:ln w="9525" cap="flat" cmpd="sng">
            <a:solidFill>
              <a:srgbClr val="03503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1661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F7A919-8B1E-2741-BB78-98A66295B9F8}"/>
              </a:ext>
            </a:extLst>
          </p:cNvPr>
          <p:cNvSpPr/>
          <p:nvPr/>
        </p:nvSpPr>
        <p:spPr>
          <a:xfrm>
            <a:off x="605642" y="586573"/>
            <a:ext cx="98337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For each proportion, check whether it is correct or incorrect. If it is incorrect, fix the error by changing one of the ratios in the proportion.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719A187-0842-F343-A6A1-7FD23B0B7316}"/>
              </a:ext>
            </a:extLst>
          </p:cNvPr>
          <p:cNvSpPr txBox="1"/>
          <p:nvPr/>
        </p:nvSpPr>
        <p:spPr>
          <a:xfrm>
            <a:off x="7314749" y="6509657"/>
            <a:ext cx="4196911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4F6E577-C419-5748-9242-54D780E1E6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146249"/>
                  </p:ext>
                </p:extLst>
              </p:nvPr>
            </p:nvGraphicFramePr>
            <p:xfrm>
              <a:off x="2005029" y="2389562"/>
              <a:ext cx="6828155" cy="24688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59965">
                      <a:extLst>
                        <a:ext uri="{9D8B030D-6E8A-4147-A177-3AD203B41FA5}">
                          <a16:colId xmlns:a16="http://schemas.microsoft.com/office/drawing/2014/main" val="1345406163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3639847615"/>
                        </a:ext>
                      </a:extLst>
                    </a:gridCol>
                    <a:gridCol w="2253615">
                      <a:extLst>
                        <a:ext uri="{9D8B030D-6E8A-4147-A177-3AD203B41FA5}">
                          <a16:colId xmlns:a16="http://schemas.microsoft.com/office/drawing/2014/main" val="38645847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Lily’s Proportion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Eli’s Proportion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Mia’s Proportion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440317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1.4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1.4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1.4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CO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4801772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  <a:endParaRPr lang="en-CO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  <a:endParaRPr lang="en-CO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  <a:endParaRPr lang="en-CO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805136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4F6E577-C419-5748-9242-54D780E1E6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146249"/>
                  </p:ext>
                </p:extLst>
              </p:nvPr>
            </p:nvGraphicFramePr>
            <p:xfrm>
              <a:off x="2005029" y="2389562"/>
              <a:ext cx="6828155" cy="246888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259965">
                      <a:extLst>
                        <a:ext uri="{9D8B030D-6E8A-4147-A177-3AD203B41FA5}">
                          <a16:colId xmlns:a16="http://schemas.microsoft.com/office/drawing/2014/main" val="1345406163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3639847615"/>
                        </a:ext>
                      </a:extLst>
                    </a:gridCol>
                    <a:gridCol w="2253615">
                      <a:extLst>
                        <a:ext uri="{9D8B030D-6E8A-4147-A177-3AD203B41FA5}">
                          <a16:colId xmlns:a16="http://schemas.microsoft.com/office/drawing/2014/main" val="38645847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Lily’s Proportion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Eli’s Proportion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Mia’s Proportion</a:t>
                          </a:r>
                          <a:endParaRPr lang="en-CO" sz="1600" b="1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440317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0" t="-28761" r="-202965" b="-5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7638" t="-28761" r="-97638" b="-579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3514" t="-28761" r="-541" b="-579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017729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  <a:endParaRPr lang="en-CO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  <a:endParaRPr lang="en-CO" sz="1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CO" sz="1600" i="1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  <a:endParaRPr lang="en-CO" sz="1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CO" sz="1600" i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80513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16487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1187</Words>
  <Application>Microsoft Office PowerPoint</Application>
  <PresentationFormat>Widescreen</PresentationFormat>
  <Paragraphs>187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Cambria Math</vt:lpstr>
      <vt:lpstr>Courier New</vt:lpstr>
      <vt:lpstr>Arial</vt:lpstr>
      <vt:lpstr>Verdana</vt:lpstr>
      <vt:lpstr>Wingdings</vt:lpstr>
      <vt:lpstr>Century Gothic</vt:lpstr>
      <vt:lpstr>Calibri</vt:lpstr>
      <vt:lpstr>Arial Black</vt:lpstr>
      <vt:lpstr>1_Office Theme</vt:lpstr>
      <vt:lpstr>7th Grade Math  Unit 6, Lesson 6  Creating Proportions  Volume 1, pg. 262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27</cp:revision>
  <dcterms:created xsi:type="dcterms:W3CDTF">2015-03-17T18:51:18Z</dcterms:created>
  <dcterms:modified xsi:type="dcterms:W3CDTF">2022-06-08T15:30:07Z</dcterms:modified>
</cp:coreProperties>
</file>