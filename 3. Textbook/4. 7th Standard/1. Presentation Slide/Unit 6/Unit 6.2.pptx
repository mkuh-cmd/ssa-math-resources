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66" r:id="rId10"/>
    <p:sldId id="367" r:id="rId11"/>
    <p:sldId id="326" r:id="rId12"/>
    <p:sldId id="327" r:id="rId13"/>
    <p:sldId id="358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06" r:id="rId22"/>
    <p:sldId id="307" r:id="rId23"/>
    <p:sldId id="377" r:id="rId24"/>
  </p:sldIdLst>
  <p:sldSz cx="12192000" cy="6858000"/>
  <p:notesSz cx="6858000" cy="9144000"/>
  <p:embeddedFontLst>
    <p:embeddedFont>
      <p:font typeface="Arial Black" panose="020B0A04020102020204" pitchFamily="34" charset="0"/>
      <p:regular r:id="rId26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035036"/>
    <a:srgbClr val="3465B0"/>
    <a:srgbClr val="DA4487"/>
    <a:srgbClr val="276C46"/>
    <a:srgbClr val="C9DF6F"/>
    <a:srgbClr val="417DBF"/>
    <a:srgbClr val="3F2A67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131"/>
    <p:restoredTop sz="94694"/>
  </p:normalViewPr>
  <p:slideViewPr>
    <p:cSldViewPr snapToGrid="0">
      <p:cViewPr varScale="1">
        <p:scale>
          <a:sx n="79" d="100"/>
          <a:sy n="79" d="100"/>
        </p:scale>
        <p:origin x="17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83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8460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7324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32516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85400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0668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50572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12718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11863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38347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7555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https://lh4.googleusercontent.com/2fPSmGZFeoRpIdYf__PehWRue5ZlpuEJvpCjVIdob_7Od71O_3PDUziieKXI4zYOwvYPHEwl_uCpuxDjax2zhOv3nCWsV_hKRoRBI-4FC0rx93VHSP5SQ_xBapBZ_7zNh_QPz9z0" TargetMode="Externa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https://lh4.googleusercontent.com/2fPSmGZFeoRpIdYf__PehWRue5ZlpuEJvpCjVIdob_7Od71O_3PDUziieKXI4zYOwvYPHEwl_uCpuxDjax2zhOv3nCWsV_hKRoRBI-4FC0rx93VHSP5SQ_xBapBZ_7zNh_QPz9z0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00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2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Currency Conversions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241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782947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-8898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0021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7314750" y="6458589"/>
            <a:ext cx="4109826" cy="399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631371" y="1600200"/>
            <a:ext cx="957942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MA.7.AR.3.3</a:t>
            </a:r>
          </a:p>
          <a:p>
            <a:pPr indent="0"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the conversion of units across different measurement systems.  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122" y="1296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0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41422" y="-57102"/>
            <a:ext cx="108042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494122" y="1596390"/>
            <a:ext cx="971667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E42EF11-5FC6-7744-AF68-159F2F06D67F}"/>
              </a:ext>
            </a:extLst>
          </p:cNvPr>
          <p:cNvSpPr txBox="1"/>
          <p:nvPr/>
        </p:nvSpPr>
        <p:spPr>
          <a:xfrm>
            <a:off x="7314749" y="6521513"/>
            <a:ext cx="426985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3690" y="605737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50489" y="-37391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55" y="1565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23288" y="1435359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convert between two different forms of currency.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793C8E2-E1C4-B24A-AB6C-B7DBDD28D85B}"/>
              </a:ext>
            </a:extLst>
          </p:cNvPr>
          <p:cNvSpPr txBox="1"/>
          <p:nvPr/>
        </p:nvSpPr>
        <p:spPr>
          <a:xfrm>
            <a:off x="7314750" y="6411686"/>
            <a:ext cx="419145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4874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BCEEC8C-9B17-C841-8ED4-211C80FA09C6}"/>
              </a:ext>
            </a:extLst>
          </p:cNvPr>
          <p:cNvSpPr txBox="1"/>
          <p:nvPr/>
        </p:nvSpPr>
        <p:spPr>
          <a:xfrm>
            <a:off x="7314750" y="6433457"/>
            <a:ext cx="41860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4403" y="-177725"/>
            <a:ext cx="945341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6.2.1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437" y="762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3081A1-25B1-2A4B-8FF2-3F1C264A000D}"/>
              </a:ext>
            </a:extLst>
          </p:cNvPr>
          <p:cNvSpPr/>
          <p:nvPr/>
        </p:nvSpPr>
        <p:spPr>
          <a:xfrm>
            <a:off x="597408" y="1386026"/>
            <a:ext cx="94555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exchange rates from currency in a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Mathlandia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country,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Scalenia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compared to the United States (U.S.) dollar.</a:t>
            </a:r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478CDDBB-860A-D748-B9D0-C51751F3670A}"/>
              </a:ext>
            </a:extLst>
          </p:cNvPr>
          <p:cNvSpPr txBox="1"/>
          <p:nvPr/>
        </p:nvSpPr>
        <p:spPr>
          <a:xfrm>
            <a:off x="7314749" y="6487885"/>
            <a:ext cx="419691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0F6643F-49D9-FD41-A2E4-1C7402868D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8412110"/>
                  </p:ext>
                </p:extLst>
              </p:nvPr>
            </p:nvGraphicFramePr>
            <p:xfrm>
              <a:off x="2695575" y="2842754"/>
              <a:ext cx="6800850" cy="17602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242185">
                      <a:extLst>
                        <a:ext uri="{9D8B030D-6E8A-4147-A177-3AD203B41FA5}">
                          <a16:colId xmlns:a16="http://schemas.microsoft.com/office/drawing/2014/main" val="2107800162"/>
                        </a:ext>
                      </a:extLst>
                    </a:gridCol>
                    <a:gridCol w="2301240">
                      <a:extLst>
                        <a:ext uri="{9D8B030D-6E8A-4147-A177-3AD203B41FA5}">
                          <a16:colId xmlns:a16="http://schemas.microsoft.com/office/drawing/2014/main" val="4257454261"/>
                        </a:ext>
                      </a:extLst>
                    </a:gridCol>
                    <a:gridCol w="2257425">
                      <a:extLst>
                        <a:ext uri="{9D8B030D-6E8A-4147-A177-3AD203B41FA5}">
                          <a16:colId xmlns:a16="http://schemas.microsoft.com/office/drawing/2014/main" val="3100370651"/>
                        </a:ext>
                      </a:extLst>
                    </a:gridCol>
                  </a:tblGrid>
                  <a:tr h="8699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U.S. dollar ($) Equivalent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Currency per U.S. dollar ($)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0024459"/>
                      </a:ext>
                    </a:extLst>
                  </a:tr>
                  <a:tr h="89027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Scalenia</a:t>
                          </a: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18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 </a:t>
                          </a:r>
                          <a:r>
                            <a:rPr lang="en-US" sz="1800" b="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sal</a:t>
                          </a:r>
                          <a:r>
                            <a:rPr lang="en-US" sz="18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(§)</a:t>
                          </a:r>
                          <a:endParaRPr lang="en-CO" sz="1600" b="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1.5939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0.6274</m:t>
                                </m:r>
                              </m:oMath>
                            </m:oMathPara>
                          </a14:m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8182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0F6643F-49D9-FD41-A2E4-1C7402868D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8412110"/>
                  </p:ext>
                </p:extLst>
              </p:nvPr>
            </p:nvGraphicFramePr>
            <p:xfrm>
              <a:off x="2695575" y="2842754"/>
              <a:ext cx="6800850" cy="17602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242185">
                      <a:extLst>
                        <a:ext uri="{9D8B030D-6E8A-4147-A177-3AD203B41FA5}">
                          <a16:colId xmlns:a16="http://schemas.microsoft.com/office/drawing/2014/main" val="2107800162"/>
                        </a:ext>
                      </a:extLst>
                    </a:gridCol>
                    <a:gridCol w="2301240">
                      <a:extLst>
                        <a:ext uri="{9D8B030D-6E8A-4147-A177-3AD203B41FA5}">
                          <a16:colId xmlns:a16="http://schemas.microsoft.com/office/drawing/2014/main" val="4257454261"/>
                        </a:ext>
                      </a:extLst>
                    </a:gridCol>
                    <a:gridCol w="2257425">
                      <a:extLst>
                        <a:ext uri="{9D8B030D-6E8A-4147-A177-3AD203B41FA5}">
                          <a16:colId xmlns:a16="http://schemas.microsoft.com/office/drawing/2014/main" val="3100370651"/>
                        </a:ext>
                      </a:extLst>
                    </a:gridCol>
                  </a:tblGrid>
                  <a:tr h="8699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U.S. dollar ($) Equivalent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Currency per U.S. dollar ($)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0024459"/>
                      </a:ext>
                    </a:extLst>
                  </a:tr>
                  <a:tr h="89027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Scalenia</a:t>
                          </a: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18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 </a:t>
                          </a:r>
                          <a:r>
                            <a:rPr lang="en-US" sz="1800" b="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sal</a:t>
                          </a:r>
                          <a:r>
                            <a:rPr lang="en-US" sz="18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(§)</a:t>
                          </a:r>
                          <a:endParaRPr lang="en-CO" sz="1600" b="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7619" t="-97959" r="-98413" b="-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92" t="-97959" r="-541" b="-1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8182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A2735D3-9ACB-944A-AC59-76CDB063DD3A}"/>
                  </a:ext>
                </a:extLst>
              </p:cNvPr>
              <p:cNvSpPr/>
              <p:nvPr/>
            </p:nvSpPr>
            <p:spPr>
              <a:xfrm>
                <a:off x="599564" y="4893500"/>
                <a:ext cx="945341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Would you rather have §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$100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 Explain your reasoning.</a:t>
                </a: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A2735D3-9ACB-944A-AC59-76CDB063DD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64" y="4893500"/>
                <a:ext cx="9453413" cy="830997"/>
              </a:xfrm>
              <a:prstGeom prst="rect">
                <a:avLst/>
              </a:prstGeom>
              <a:blipFill>
                <a:blip r:embed="rId6"/>
                <a:stretch>
                  <a:fillRect l="-967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D0D4F70-A5F7-6844-B49C-C7559A226638}"/>
              </a:ext>
            </a:extLst>
          </p:cNvPr>
          <p:cNvSpPr txBox="1"/>
          <p:nvPr/>
        </p:nvSpPr>
        <p:spPr>
          <a:xfrm>
            <a:off x="7314749" y="6455229"/>
            <a:ext cx="4153369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5.png">
            <a:extLst>
              <a:ext uri="{FF2B5EF4-FFF2-40B4-BE49-F238E27FC236}">
                <a16:creationId xmlns:a16="http://schemas.microsoft.com/office/drawing/2014/main" id="{0F6DB26B-16CD-CE4B-9DDF-1CF9C09AA51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0951" y="2814306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43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81439" y="42496"/>
            <a:ext cx="1079284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6.2.2 Collaboration: Reasoning and Sense Making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1C46F4F-A85A-084E-B29C-01BB2615DE1E}"/>
                  </a:ext>
                </a:extLst>
              </p:cNvPr>
              <p:cNvSpPr/>
              <p:nvPr/>
            </p:nvSpPr>
            <p:spPr>
              <a:xfrm>
                <a:off x="597409" y="1491619"/>
                <a:ext cx="9561570" cy="24690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Work with your partner on the following problems.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The exchange rate used to change Multiplicity macs (m) to </a:t>
                </a: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</a:rPr>
                  <a:t>Proportia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pops (</a:t>
                </a:r>
                <a:r>
                  <a:rPr lang="iu-Cans-CA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ᖘ) 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 Complete the statement.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4445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For every _____ mac(s) there are ______ pop(s).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1C46F4F-A85A-084E-B29C-01BB2615DE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09" y="1491619"/>
                <a:ext cx="9561570" cy="2469074"/>
              </a:xfrm>
              <a:prstGeom prst="rect">
                <a:avLst/>
              </a:prstGeom>
              <a:blipFill>
                <a:blip r:embed="rId4"/>
                <a:stretch>
                  <a:fillRect l="-957" t="-1975" b="-4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201E82E5-44E0-F44C-89CC-51BF5F797282}"/>
              </a:ext>
            </a:extLst>
          </p:cNvPr>
          <p:cNvSpPr txBox="1"/>
          <p:nvPr/>
        </p:nvSpPr>
        <p:spPr>
          <a:xfrm>
            <a:off x="7314750" y="6509657"/>
            <a:ext cx="409568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5.png">
            <a:extLst>
              <a:ext uri="{FF2B5EF4-FFF2-40B4-BE49-F238E27FC236}">
                <a16:creationId xmlns:a16="http://schemas.microsoft.com/office/drawing/2014/main" id="{51D9D010-418C-5045-995D-8F00423D69C7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184" y="198726"/>
            <a:ext cx="752255" cy="75225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21793" y="485756"/>
                <a:ext cx="589728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2" indent="-3429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October 28, 2020, Lorenzo’s family exchanged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U.S. dollars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5,330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Mexican pesos.</a:t>
                </a:r>
              </a:p>
              <a:p>
                <a:pPr marL="342900" lvl="2" indent="-3429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635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  <a:p>
                <a:pPr lvl="2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3" y="485756"/>
                <a:ext cx="5897288" cy="1938992"/>
              </a:xfrm>
              <a:prstGeom prst="rect">
                <a:avLst/>
              </a:prstGeom>
              <a:blipFill>
                <a:blip r:embed="rId4"/>
                <a:stretch>
                  <a:fillRect l="-1138" t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91541B9-7C1E-4043-A1D5-12779C6D7B04}"/>
              </a:ext>
            </a:extLst>
          </p:cNvPr>
          <p:cNvSpPr txBox="1"/>
          <p:nvPr/>
        </p:nvSpPr>
        <p:spPr>
          <a:xfrm>
            <a:off x="7314750" y="6424054"/>
            <a:ext cx="40336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BC0A95B-A5EA-2D4B-BB6A-EA8FF929C5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7671404"/>
                  </p:ext>
                </p:extLst>
              </p:nvPr>
            </p:nvGraphicFramePr>
            <p:xfrm>
              <a:off x="6999193" y="433946"/>
              <a:ext cx="2397125" cy="19685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10310">
                      <a:extLst>
                        <a:ext uri="{9D8B030D-6E8A-4147-A177-3AD203B41FA5}">
                          <a16:colId xmlns:a16="http://schemas.microsoft.com/office/drawing/2014/main" val="1148285646"/>
                        </a:ext>
                      </a:extLst>
                    </a:gridCol>
                    <a:gridCol w="1186815">
                      <a:extLst>
                        <a:ext uri="{9D8B030D-6E8A-4147-A177-3AD203B41FA5}">
                          <a16:colId xmlns:a16="http://schemas.microsoft.com/office/drawing/2014/main" val="564527791"/>
                        </a:ext>
                      </a:extLst>
                    </a:gridCol>
                  </a:tblGrid>
                  <a:tr h="79883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U.S. dollars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Mexican pesos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5392918"/>
                      </a:ext>
                    </a:extLst>
                  </a:tr>
                  <a:tr h="38989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250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5,330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4771145"/>
                      </a:ext>
                    </a:extLst>
                  </a:tr>
                  <a:tr h="38989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40332261"/>
                      </a:ext>
                    </a:extLst>
                  </a:tr>
                  <a:tr h="38989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2.50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36530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BC0A95B-A5EA-2D4B-BB6A-EA8FF929C5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7671404"/>
                  </p:ext>
                </p:extLst>
              </p:nvPr>
            </p:nvGraphicFramePr>
            <p:xfrm>
              <a:off x="6999193" y="433946"/>
              <a:ext cx="2397125" cy="19685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10310">
                      <a:extLst>
                        <a:ext uri="{9D8B030D-6E8A-4147-A177-3AD203B41FA5}">
                          <a16:colId xmlns:a16="http://schemas.microsoft.com/office/drawing/2014/main" val="1148285646"/>
                        </a:ext>
                      </a:extLst>
                    </a:gridCol>
                    <a:gridCol w="1186815">
                      <a:extLst>
                        <a:ext uri="{9D8B030D-6E8A-4147-A177-3AD203B41FA5}">
                          <a16:colId xmlns:a16="http://schemas.microsoft.com/office/drawing/2014/main" val="564527791"/>
                        </a:ext>
                      </a:extLst>
                    </a:gridCol>
                  </a:tblGrid>
                  <a:tr h="79883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U.S. dollars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Mexican pesos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5392918"/>
                      </a:ext>
                    </a:extLst>
                  </a:tr>
                  <a:tr h="3898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3" t="-203077" r="-9899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564" t="-203077" r="-102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4771145"/>
                      </a:ext>
                    </a:extLst>
                  </a:tr>
                  <a:tr h="3898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3" t="-307813" r="-98995" b="-1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40332261"/>
                      </a:ext>
                    </a:extLst>
                  </a:tr>
                  <a:tr h="3898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3" t="-407813" r="-98995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36530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40CDA2-69EE-0F42-9632-0CB144A45A54}"/>
                  </a:ext>
                </a:extLst>
              </p:cNvPr>
              <p:cNvSpPr txBox="1"/>
              <p:nvPr/>
            </p:nvSpPr>
            <p:spPr>
              <a:xfrm>
                <a:off x="621793" y="3106125"/>
                <a:ext cx="9431184" cy="1312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2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rate to represent the exchange rate of Mexican pesos per U.S. dollar on October 28, 2020.</a:t>
                </a:r>
              </a:p>
              <a:p>
                <a:pPr marL="457200"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fPr>
                        <m:num/>
                        <m:den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1 </m:t>
                          </m:r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𝑈𝑆</m:t>
                          </m:r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 </m:t>
                          </m:r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𝑑𝑜𝑙𝑙𝑎𝑟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40CDA2-69EE-0F42-9632-0CB144A45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3" y="3106125"/>
                <a:ext cx="9431184" cy="1312795"/>
              </a:xfrm>
              <a:prstGeom prst="rect">
                <a:avLst/>
              </a:prstGeom>
              <a:blipFill>
                <a:blip r:embed="rId6"/>
                <a:stretch>
                  <a:fillRect t="-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5538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8B73DB-0DF7-EE46-891E-B7CF14DC7489}"/>
              </a:ext>
            </a:extLst>
          </p:cNvPr>
          <p:cNvSpPr txBox="1"/>
          <p:nvPr/>
        </p:nvSpPr>
        <p:spPr>
          <a:xfrm>
            <a:off x="7314750" y="6476999"/>
            <a:ext cx="414248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F73294-DADB-7C40-BA5D-6C0F6533FB9C}"/>
                  </a:ext>
                </a:extLst>
              </p:cNvPr>
              <p:cNvSpPr txBox="1"/>
              <p:nvPr/>
            </p:nvSpPr>
            <p:spPr>
              <a:xfrm>
                <a:off x="633985" y="458461"/>
                <a:ext cx="9418992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2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Lorenzo bought a blanket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247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pesos that day. Without calculating, estimate the cost of the blanket in dollars.  </a:t>
                </a:r>
              </a:p>
              <a:p>
                <a:pPr marL="914400" lvl="2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was the cost of the blanket in dollars?</a:t>
                </a:r>
              </a:p>
              <a:p>
                <a:pPr marL="914400" lvl="2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was the exchange rate in terms of U.S. dollars per peso on October 28, 2020? Write your answer as a decimal to the nearest hundredth.</a:t>
                </a:r>
              </a:p>
              <a:p>
                <a:pPr lvl="2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2" algn="ctr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 U.S. dollars per Mexican peso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F73294-DADB-7C40-BA5D-6C0F6533F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85" y="458461"/>
                <a:ext cx="9418992" cy="5324535"/>
              </a:xfrm>
              <a:prstGeom prst="rect">
                <a:avLst/>
              </a:prstGeom>
              <a:blipFill>
                <a:blip r:embed="rId4"/>
                <a:stretch>
                  <a:fillRect t="-801" r="-1230" b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1343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5808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50" y="6455229"/>
            <a:ext cx="4218684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C4363876-C106-A248-B55A-B5D968CA52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2555" y="2829985"/>
            <a:ext cx="1152447" cy="11524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7132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27347" y="-194385"/>
            <a:ext cx="1002833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6.2.3 Guided Instruction: Converting Currencies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EEC4E3-DFCF-C94C-B80D-045F3E6BF764}"/>
              </a:ext>
            </a:extLst>
          </p:cNvPr>
          <p:cNvSpPr/>
          <p:nvPr/>
        </p:nvSpPr>
        <p:spPr>
          <a:xfrm>
            <a:off x="609600" y="4644273"/>
            <a:ext cx="975982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Ratio tables, proportions, or other equations are useful when converting one currency to another.</a:t>
            </a:r>
          </a:p>
        </p:txBody>
      </p: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50" y="6455229"/>
            <a:ext cx="4267650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C9737F2B-E39A-754B-B078-FD8E970ABEF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38" y="93561"/>
            <a:ext cx="749808" cy="749808"/>
          </a:xfrm>
          <a:prstGeom prst="rect">
            <a:avLst/>
          </a:prstGeom>
        </p:spPr>
      </p:pic>
      <p:sp>
        <p:nvSpPr>
          <p:cNvPr id="9" name="Text Box 40">
            <a:extLst>
              <a:ext uri="{FF2B5EF4-FFF2-40B4-BE49-F238E27FC236}">
                <a16:creationId xmlns:a16="http://schemas.microsoft.com/office/drawing/2014/main" id="{C76BA3CF-C8DD-C44A-BB41-21A52FA47326}"/>
              </a:ext>
            </a:extLst>
          </p:cNvPr>
          <p:cNvSpPr txBox="1"/>
          <p:nvPr/>
        </p:nvSpPr>
        <p:spPr>
          <a:xfrm>
            <a:off x="1610868" y="1509135"/>
            <a:ext cx="6740288" cy="2329180"/>
          </a:xfrm>
          <a:prstGeom prst="roundRect">
            <a:avLst/>
          </a:prstGeom>
          <a:solidFill>
            <a:srgbClr val="B8E6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4295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75BF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An </a:t>
            </a:r>
            <a:r>
              <a:rPr lang="en-US" sz="1800" b="1" dirty="0">
                <a:solidFill>
                  <a:srgbClr val="0075BF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exchange rate</a:t>
            </a:r>
            <a:r>
              <a:rPr lang="en-US" sz="1800" dirty="0">
                <a:solidFill>
                  <a:srgbClr val="0075BF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 is a ratio that compares two different currencies. An exchange rate can be written as a fraction, ratio, or decimal.</a:t>
            </a:r>
            <a:endParaRPr lang="en-CO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74295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75BF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When the exchange rate is written as a unit rate, it shows the value of a certain currency for each one unit of the other currency.</a:t>
            </a:r>
            <a:endParaRPr lang="en-CO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6CE74B9A-BA95-7D4D-855E-F0E70C1BD40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6430" y="1667398"/>
            <a:ext cx="539750" cy="539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941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171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49" y="6447265"/>
            <a:ext cx="4286963" cy="410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30E62-DBC7-A64B-9D39-DD94DF002123}"/>
              </a:ext>
            </a:extLst>
          </p:cNvPr>
          <p:cNvSpPr/>
          <p:nvPr/>
        </p:nvSpPr>
        <p:spPr>
          <a:xfrm>
            <a:off x="621792" y="504473"/>
            <a:ext cx="97476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Recall the exchange rates from the </a:t>
            </a:r>
            <a:r>
              <a:rPr lang="en-US" sz="2000" dirty="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Mathlandia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Exploration.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45D6DFB-303C-434B-B8F6-BB74698451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309814"/>
                  </p:ext>
                </p:extLst>
              </p:nvPr>
            </p:nvGraphicFramePr>
            <p:xfrm>
              <a:off x="3654425" y="1193709"/>
              <a:ext cx="4883150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28140">
                      <a:extLst>
                        <a:ext uri="{9D8B030D-6E8A-4147-A177-3AD203B41FA5}">
                          <a16:colId xmlns:a16="http://schemas.microsoft.com/office/drawing/2014/main" val="3951671216"/>
                        </a:ext>
                      </a:extLst>
                    </a:gridCol>
                    <a:gridCol w="397510">
                      <a:extLst>
                        <a:ext uri="{9D8B030D-6E8A-4147-A177-3AD203B41FA5}">
                          <a16:colId xmlns:a16="http://schemas.microsoft.com/office/drawing/2014/main" val="611741380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1506061143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1011419064"/>
                        </a:ext>
                      </a:extLst>
                    </a:gridCol>
                  </a:tblGrid>
                  <a:tr h="365760">
                    <a:tc rowSpan="5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Equivaland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 </a:t>
                          </a:r>
                          <a:r>
                            <a:rPr lang="en-US" sz="18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:r>
                            <a:rPr lang="en-US" sz="18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ᕮ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≈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1.32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sals, §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01385349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0.85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pop, ᖘ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91786014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15.90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peaks, ᐰ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92301884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0.30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var, ṽ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49847454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7.75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ops, ⊕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718566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45D6DFB-303C-434B-B8F6-BB74698451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309814"/>
                  </p:ext>
                </p:extLst>
              </p:nvPr>
            </p:nvGraphicFramePr>
            <p:xfrm>
              <a:off x="3654425" y="1193709"/>
              <a:ext cx="4883150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28140">
                      <a:extLst>
                        <a:ext uri="{9D8B030D-6E8A-4147-A177-3AD203B41FA5}">
                          <a16:colId xmlns:a16="http://schemas.microsoft.com/office/drawing/2014/main" val="3951671216"/>
                        </a:ext>
                      </a:extLst>
                    </a:gridCol>
                    <a:gridCol w="397510">
                      <a:extLst>
                        <a:ext uri="{9D8B030D-6E8A-4147-A177-3AD203B41FA5}">
                          <a16:colId xmlns:a16="http://schemas.microsoft.com/office/drawing/2014/main" val="611741380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1506061143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1011419064"/>
                        </a:ext>
                      </a:extLst>
                    </a:gridCol>
                  </a:tblGrid>
                  <a:tr h="365760">
                    <a:tc rowSpan="5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Equivaland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 </a:t>
                          </a:r>
                          <a:r>
                            <a:rPr lang="en-US" sz="18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:r>
                            <a:rPr lang="en-US" sz="18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ᕮ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≈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2735" t="-8333" r="-101282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sals, §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01385349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2735" t="-108333" r="-101282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pop, ᖘ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91786014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2735" t="-204918" r="-101282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peaks, ᐰ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92301884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2735" t="-310000" r="-101282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var, ṽ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49847454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2735" t="-410000" r="-10128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ops, ⊕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718566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21EC1B3-AF82-184E-804A-0F9D59F4EE16}"/>
                  </a:ext>
                </a:extLst>
              </p:cNvPr>
              <p:cNvSpPr/>
              <p:nvPr/>
            </p:nvSpPr>
            <p:spPr>
              <a:xfrm>
                <a:off x="621793" y="3411448"/>
                <a:ext cx="9747628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the values for each exchange.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equis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________ pops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1,113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peaks = _______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equis</a:t>
                </a: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21EC1B3-AF82-184E-804A-0F9D59F4EE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3" y="3411448"/>
                <a:ext cx="9747628" cy="2246769"/>
              </a:xfrm>
              <a:prstGeom prst="rect">
                <a:avLst/>
              </a:prstGeom>
              <a:blipFill>
                <a:blip r:embed="rId5"/>
                <a:stretch>
                  <a:fillRect l="-688" t="-1902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150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49" y="6457677"/>
            <a:ext cx="4175141" cy="400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/>
              <p:nvPr/>
            </p:nvSpPr>
            <p:spPr>
              <a:xfrm>
                <a:off x="609600" y="504474"/>
                <a:ext cx="9759820" cy="4093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Emma travels to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Scalenia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from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Equivaland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She exchanges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equis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How much does she receive in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sals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Emma purchases these items while in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Scalenia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What is the cost of each item in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equis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iu-Cans-CA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ᕮ?</a:t>
                </a:r>
              </a:p>
              <a:p>
                <a:r>
                  <a:rPr lang="iu-Cans-CA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08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necklace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§64.35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20750" indent="-4445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20750" indent="-4445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20750" indent="-4445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085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scarf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§11.22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04474"/>
                <a:ext cx="9759820" cy="4093428"/>
              </a:xfrm>
              <a:prstGeom prst="rect">
                <a:avLst/>
              </a:prstGeom>
              <a:blipFill>
                <a:blip r:embed="rId4"/>
                <a:stretch>
                  <a:fillRect l="-687" t="-1043" b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422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7702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8212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5808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50" y="6498771"/>
            <a:ext cx="424346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6742144-A256-E849-9F1C-646376E8D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53888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O"/>
          </a:p>
        </p:txBody>
      </p:sp>
      <p:pic>
        <p:nvPicPr>
          <p:cNvPr id="7171" name="Picture 2">
            <a:extLst>
              <a:ext uri="{FF2B5EF4-FFF2-40B4-BE49-F238E27FC236}">
                <a16:creationId xmlns:a16="http://schemas.microsoft.com/office/drawing/2014/main" id="{4A51BDC8-26CB-464F-B3D1-1530C59E0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43554" y="2839125"/>
            <a:ext cx="1152447" cy="115244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5282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93167" y="-137281"/>
            <a:ext cx="924598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6.2.4 Guided Practice: Converting Currencies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/>
              <p:nvPr/>
            </p:nvSpPr>
            <p:spPr>
              <a:xfrm>
                <a:off x="621793" y="1297290"/>
                <a:ext cx="9747628" cy="3170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Jaxon exchanged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dollars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euros. 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was the exchange rate in euros per dollar?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Jaxon paid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16.49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euros for a shirt. Do you expect the price of the shirt to be more or less than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16.49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dollars? Explain your thinking without doing any calculations.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3" y="1297290"/>
                <a:ext cx="9747628" cy="3170099"/>
              </a:xfrm>
              <a:prstGeom prst="rect">
                <a:avLst/>
              </a:prstGeom>
              <a:blipFill>
                <a:blip r:embed="rId4"/>
                <a:stretch>
                  <a:fillRect l="-688" t="-1346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2580A-C382-2D4B-9C6B-62E8F2BEC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904" y="878752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O"/>
          </a:p>
        </p:txBody>
      </p:sp>
      <p:pic>
        <p:nvPicPr>
          <p:cNvPr id="8193" name="Picture 2">
            <a:extLst>
              <a:ext uri="{FF2B5EF4-FFF2-40B4-BE49-F238E27FC236}">
                <a16:creationId xmlns:a16="http://schemas.microsoft.com/office/drawing/2014/main" id="{D2B964DA-2BC2-5E49-90E8-ADEA21713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r:link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4238" y="119823"/>
            <a:ext cx="758929" cy="758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054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967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50" y="6457675"/>
            <a:ext cx="4186026" cy="40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/>
              <p:nvPr/>
            </p:nvSpPr>
            <p:spPr>
              <a:xfrm>
                <a:off x="609599" y="504475"/>
                <a:ext cx="9759821" cy="3170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price of the shirt in dollars?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Keisha travels from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Proportia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Variableya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The currency exchange rate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pop =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0.35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var. Keisha exchanges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pops. How much does she receive in vars?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504475"/>
                <a:ext cx="9759821" cy="3170099"/>
              </a:xfrm>
              <a:prstGeom prst="rect">
                <a:avLst/>
              </a:prstGeom>
              <a:blipFill>
                <a:blip r:embed="rId4"/>
                <a:stretch>
                  <a:fillRect l="-687" t="-1346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8298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2227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5962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5808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50" y="6476999"/>
            <a:ext cx="417514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6742144-A256-E849-9F1C-646376E8D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53888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O"/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5969C4DB-3601-F143-BF85-532170CB08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5637" y="2825477"/>
            <a:ext cx="1166309" cy="11663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5410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95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18055" y="-105867"/>
            <a:ext cx="932109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6.2.5 Your Turn!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EEC4E3-DFCF-C94C-B80D-045F3E6BF764}"/>
              </a:ext>
            </a:extLst>
          </p:cNvPr>
          <p:cNvSpPr/>
          <p:nvPr/>
        </p:nvSpPr>
        <p:spPr>
          <a:xfrm>
            <a:off x="597408" y="1297288"/>
            <a:ext cx="96307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Recall the exchange rates from the </a:t>
            </a:r>
            <a:r>
              <a:rPr lang="en-US" sz="1800" dirty="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Mathlandia</a:t>
            </a:r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Exploration.</a:t>
            </a:r>
          </a:p>
        </p:txBody>
      </p: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49" y="6514747"/>
            <a:ext cx="409020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2580A-C382-2D4B-9C6B-62E8F2BEC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904" y="878752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O"/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24E0C76F-B484-0349-8C61-682C5E43767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305" y="98002"/>
            <a:ext cx="780750" cy="780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7D1BAA5-EE91-7A4E-9474-2F252F47E3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550973"/>
                  </p:ext>
                </p:extLst>
              </p:nvPr>
            </p:nvGraphicFramePr>
            <p:xfrm>
              <a:off x="3654425" y="1987121"/>
              <a:ext cx="4883150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28140">
                      <a:extLst>
                        <a:ext uri="{9D8B030D-6E8A-4147-A177-3AD203B41FA5}">
                          <a16:colId xmlns:a16="http://schemas.microsoft.com/office/drawing/2014/main" val="561586882"/>
                        </a:ext>
                      </a:extLst>
                    </a:gridCol>
                    <a:gridCol w="397510">
                      <a:extLst>
                        <a:ext uri="{9D8B030D-6E8A-4147-A177-3AD203B41FA5}">
                          <a16:colId xmlns:a16="http://schemas.microsoft.com/office/drawing/2014/main" val="8940291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913169849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1208830396"/>
                        </a:ext>
                      </a:extLst>
                    </a:gridCol>
                  </a:tblGrid>
                  <a:tr h="365760">
                    <a:tc rowSpan="5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Scalenia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 </a:t>
                          </a:r>
                          <a:r>
                            <a:rPr lang="en-US" sz="18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sal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§ 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≈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0.64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pop, ᖘ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42568508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12.05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peaks, ᐰ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48634336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0.76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equi, ᕮ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71210381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0.23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var, ṽ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01815775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5.88</m:t>
                                </m:r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ops, ⊕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43177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7D1BAA5-EE91-7A4E-9474-2F252F47E3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550973"/>
                  </p:ext>
                </p:extLst>
              </p:nvPr>
            </p:nvGraphicFramePr>
            <p:xfrm>
              <a:off x="3654425" y="1987121"/>
              <a:ext cx="4883150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28140">
                      <a:extLst>
                        <a:ext uri="{9D8B030D-6E8A-4147-A177-3AD203B41FA5}">
                          <a16:colId xmlns:a16="http://schemas.microsoft.com/office/drawing/2014/main" val="561586882"/>
                        </a:ext>
                      </a:extLst>
                    </a:gridCol>
                    <a:gridCol w="397510">
                      <a:extLst>
                        <a:ext uri="{9D8B030D-6E8A-4147-A177-3AD203B41FA5}">
                          <a16:colId xmlns:a16="http://schemas.microsoft.com/office/drawing/2014/main" val="8940291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913169849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1208830396"/>
                        </a:ext>
                      </a:extLst>
                    </a:gridCol>
                  </a:tblGrid>
                  <a:tr h="365760">
                    <a:tc rowSpan="5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Scalenia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 </a:t>
                          </a:r>
                          <a:r>
                            <a:rPr lang="en-US" sz="18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sal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§ 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≈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42735" t="-8333" r="-101282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pop, ᖘ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42568508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42735" t="-108333" r="-101282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peaks, ᐰ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48634336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42735" t="-204918" r="-101282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equi, ᕮ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71210381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42735" t="-310000" r="-101282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var, ṽ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01815775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42735" t="-410000" r="-10128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ops, ⊕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43177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1E5FB35-275E-5642-921E-8B005CE539A9}"/>
                  </a:ext>
                </a:extLst>
              </p:cNvPr>
              <p:cNvSpPr/>
              <p:nvPr/>
            </p:nvSpPr>
            <p:spPr>
              <a:xfrm>
                <a:off x="597409" y="4149672"/>
                <a:ext cx="9630740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the equivalent values for each currency exchange.</a:t>
                </a:r>
              </a:p>
              <a:p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1313"/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61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sals</a:t>
                </a:r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______ vars		______ </a:t>
                </a:r>
                <a:r>
                  <a:rPr lang="en-US" sz="18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sals</a:t>
                </a:r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106.40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equis</a:t>
                </a:r>
                <a:endParaRPr lang="en-US" sz="18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341313"/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18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peaks = ______ </a:t>
                </a:r>
                <a:r>
                  <a:rPr lang="en-US" sz="18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sals</a:t>
                </a:r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90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sals</a:t>
                </a:r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______ ops</a:t>
                </a: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1E5FB35-275E-5642-921E-8B005CE539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09" y="4149672"/>
                <a:ext cx="9630740" cy="2031325"/>
              </a:xfrm>
              <a:prstGeom prst="rect">
                <a:avLst/>
              </a:prstGeom>
              <a:blipFill>
                <a:blip r:embed="rId6"/>
                <a:stretch>
                  <a:fillRect l="-506" t="-18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319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967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548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50" y="6457675"/>
            <a:ext cx="4207798" cy="40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/>
              <p:nvPr/>
            </p:nvSpPr>
            <p:spPr>
              <a:xfrm>
                <a:off x="646176" y="504475"/>
                <a:ext cx="9723245" cy="4524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Logan lives in </a:t>
                </a: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Equivaland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wants to take his family on vacation. 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6355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exchange rate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equi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iu-Cans-CA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ᕮ) = </a:t>
                </a:r>
                <a14:m>
                  <m:oMath xmlns:m="http://schemas.openxmlformats.org/officeDocument/2006/math">
                    <m:r>
                      <a:rPr lang="iu-Cans-CA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7.75</m:t>
                    </m:r>
                  </m:oMath>
                </a14:m>
                <a:r>
                  <a:rPr lang="iu-Cans-CA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ops (⊕).</a:t>
                </a:r>
              </a:p>
              <a:p>
                <a:pPr marL="46355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6355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Logan has saved up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equis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the trip. Aunt Emma, from </a:t>
                </a: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Prismopolis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sent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1,200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peaks to help pay for the trip. The exchange rate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equi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15.9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peaks. </a:t>
                </a:r>
              </a:p>
              <a:p>
                <a:pPr marL="46355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6355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With Aunt Emma’s gift, how much does Logan have available for the trip in </a:t>
                </a: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equis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 Round to the nearest hundredth.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76" y="504475"/>
                <a:ext cx="9723245" cy="4524315"/>
              </a:xfrm>
              <a:prstGeom prst="rect">
                <a:avLst/>
              </a:prstGeom>
              <a:blipFill>
                <a:blip r:embed="rId4"/>
                <a:stretch>
                  <a:fillRect l="-940" t="-1078" r="-1317" b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896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FCC6CD7-3972-624A-AEF1-A2489A486756}"/>
              </a:ext>
            </a:extLst>
          </p:cNvPr>
          <p:cNvSpPr txBox="1"/>
          <p:nvPr/>
        </p:nvSpPr>
        <p:spPr>
          <a:xfrm>
            <a:off x="7314750" y="6509657"/>
            <a:ext cx="414248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4331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3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84700" y="-150631"/>
            <a:ext cx="9436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6.2.6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400" y="13856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/>
              <p:nvPr/>
            </p:nvSpPr>
            <p:spPr>
              <a:xfrm>
                <a:off x="533400" y="1420158"/>
                <a:ext cx="10013636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Milo exchanged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$400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367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francs. Complete the two statements based on this currency exchange.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indent="4445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1 dollar = __________ franc(s)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indent="4445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1 franc = __________ dollar(s)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420158"/>
                <a:ext cx="10013636" cy="3785652"/>
              </a:xfrm>
              <a:prstGeom prst="rect">
                <a:avLst/>
              </a:prstGeom>
              <a:blipFill>
                <a:blip r:embed="rId5"/>
                <a:stretch>
                  <a:fillRect l="-974" t="-1449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719A187-0842-F343-A6A1-7FD23B0B7316}"/>
              </a:ext>
            </a:extLst>
          </p:cNvPr>
          <p:cNvSpPr txBox="1"/>
          <p:nvPr/>
        </p:nvSpPr>
        <p:spPr>
          <a:xfrm>
            <a:off x="7314749" y="6509657"/>
            <a:ext cx="42295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068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/>
              <p:nvPr/>
            </p:nvSpPr>
            <p:spPr>
              <a:xfrm>
                <a:off x="762000" y="684828"/>
                <a:ext cx="9677400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The exchange rate from </a:t>
                </a: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</a:rPr>
                  <a:t>Integerina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ops to </a:t>
                </a: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</a:rPr>
                  <a:t>Prismopolis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peaks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op =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2.05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peaks.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445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Ava exchanged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500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peaks for ops. How many ops did she receive?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684828"/>
                <a:ext cx="9677400" cy="1938992"/>
              </a:xfrm>
              <a:prstGeom prst="rect">
                <a:avLst/>
              </a:prstGeom>
              <a:blipFill>
                <a:blip r:embed="rId4"/>
                <a:stretch>
                  <a:fillRect l="-945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719A187-0842-F343-A6A1-7FD23B0B7316}"/>
              </a:ext>
            </a:extLst>
          </p:cNvPr>
          <p:cNvSpPr txBox="1"/>
          <p:nvPr/>
        </p:nvSpPr>
        <p:spPr>
          <a:xfrm>
            <a:off x="7314750" y="6487885"/>
            <a:ext cx="419691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164871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1372</TotalTime>
  <Words>1047</Words>
  <Application>Microsoft Office PowerPoint</Application>
  <PresentationFormat>Widescreen</PresentationFormat>
  <Paragraphs>205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Cambria Math</vt:lpstr>
      <vt:lpstr>Arial</vt:lpstr>
      <vt:lpstr>Verdana</vt:lpstr>
      <vt:lpstr>Wingdings</vt:lpstr>
      <vt:lpstr>Century Gothic</vt:lpstr>
      <vt:lpstr>Calibri</vt:lpstr>
      <vt:lpstr>Arial Black</vt:lpstr>
      <vt:lpstr>1_Office Theme</vt:lpstr>
      <vt:lpstr>7th Grade Math  Unit 6, Lesson 2  Currency Conversions  Volume 1, pg. 241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23</cp:revision>
  <dcterms:created xsi:type="dcterms:W3CDTF">2015-03-17T18:51:18Z</dcterms:created>
  <dcterms:modified xsi:type="dcterms:W3CDTF">2022-06-08T12:43:38Z</dcterms:modified>
</cp:coreProperties>
</file>