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66" r:id="rId10"/>
    <p:sldId id="367" r:id="rId11"/>
    <p:sldId id="368" r:id="rId12"/>
    <p:sldId id="390" r:id="rId13"/>
    <p:sldId id="391" r:id="rId14"/>
    <p:sldId id="326" r:id="rId15"/>
    <p:sldId id="327" r:id="rId16"/>
    <p:sldId id="392" r:id="rId17"/>
    <p:sldId id="393" r:id="rId18"/>
    <p:sldId id="387" r:id="rId19"/>
    <p:sldId id="388" r:id="rId20"/>
    <p:sldId id="389" r:id="rId21"/>
    <p:sldId id="306" r:id="rId22"/>
    <p:sldId id="307" r:id="rId23"/>
  </p:sldIdLst>
  <p:sldSz cx="12192000" cy="6858000"/>
  <p:notesSz cx="6858000" cy="9144000"/>
  <p:embeddedFontLst>
    <p:embeddedFont>
      <p:font typeface="Arial Black" panose="020B0A04020102020204" pitchFamily="34" charset="0"/>
      <p:regular r:id="rId25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mbria Math" panose="02040503050406030204" pitchFamily="18" charset="0"/>
      <p:regular r:id="rId31"/>
    </p:embeddedFont>
    <p:embeddedFont>
      <p:font typeface="Century Gothic" panose="020B0502020202020204" pitchFamily="34" charset="0"/>
      <p:regular r:id="rId32"/>
      <p:bold r:id="rId33"/>
      <p:italic r:id="rId34"/>
      <p:boldItalic r:id="rId35"/>
    </p:embeddedFont>
    <p:embeddedFont>
      <p:font typeface="Verdana" panose="020B0604030504040204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4E5F"/>
    <a:srgbClr val="45BFA9"/>
    <a:srgbClr val="035036"/>
    <a:srgbClr val="3465B0"/>
    <a:srgbClr val="DA4487"/>
    <a:srgbClr val="276C46"/>
    <a:srgbClr val="C9DF6F"/>
    <a:srgbClr val="417DBF"/>
    <a:srgbClr val="3F2A67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584"/>
    <p:restoredTop sz="94694"/>
  </p:normalViewPr>
  <p:slideViewPr>
    <p:cSldViewPr snapToGrid="0">
      <p:cViewPr varScale="1">
        <p:scale>
          <a:sx n="79" d="100"/>
          <a:sy n="79" d="100"/>
        </p:scale>
        <p:origin x="22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83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84607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92199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36804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23299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40320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72897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18856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90618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68322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99254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26315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2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8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Real-World Problems Involving Proportions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273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2406" y="-9144"/>
            <a:ext cx="4094106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3992" y="1597002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0536" y="-12020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36" y="7856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7314750" y="6444343"/>
            <a:ext cx="4175140" cy="413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0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613612" y="1326150"/>
            <a:ext cx="985889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MA.7.AR.3.2</a:t>
            </a:r>
          </a:p>
          <a:p>
            <a:pPr indent="0">
              <a:buNone/>
            </a:pPr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previous understanding of ratios to solve real-world problems involving proportions.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4401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632" y="11763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233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84964" y="-1"/>
            <a:ext cx="10172268" cy="1166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537664" y="1516564"/>
            <a:ext cx="1044602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7E42EF11-5FC6-7744-AF68-159F2F06D67F}"/>
              </a:ext>
            </a:extLst>
          </p:cNvPr>
          <p:cNvSpPr txBox="1"/>
          <p:nvPr/>
        </p:nvSpPr>
        <p:spPr>
          <a:xfrm>
            <a:off x="7314749" y="6457675"/>
            <a:ext cx="4142483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0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372261" y="-14351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670" y="14568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09320" y="1544216"/>
            <a:ext cx="8229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Wingdings" pitchFamily="2" charset="2"/>
              <a:buChar char="q"/>
            </a:pPr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problems using proportions. 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793C8E2-E1C4-B24A-AB6C-B7DBDD28D85B}"/>
              </a:ext>
            </a:extLst>
          </p:cNvPr>
          <p:cNvSpPr txBox="1"/>
          <p:nvPr/>
        </p:nvSpPr>
        <p:spPr>
          <a:xfrm>
            <a:off x="7314750" y="6401144"/>
            <a:ext cx="417514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7194" y="613925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BCEEC8C-9B17-C841-8ED4-211C80FA09C6}"/>
              </a:ext>
            </a:extLst>
          </p:cNvPr>
          <p:cNvSpPr txBox="1"/>
          <p:nvPr/>
        </p:nvSpPr>
        <p:spPr>
          <a:xfrm>
            <a:off x="7314750" y="6476999"/>
            <a:ext cx="425244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2234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4951" y="614524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82067" y="-90739"/>
            <a:ext cx="1093373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6.8.1 Warm-Up: Proportions with Fractions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767" y="10858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53081A1-25B1-2A4B-8FF2-3F1C264A000D}"/>
              </a:ext>
            </a:extLst>
          </p:cNvPr>
          <p:cNvSpPr/>
          <p:nvPr/>
        </p:nvSpPr>
        <p:spPr>
          <a:xfrm>
            <a:off x="589548" y="1637500"/>
            <a:ext cx="95706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Place a digit in each blue box to make the equality statement true. Use only digits 1 to 9, at most one time each. </a:t>
            </a:r>
          </a:p>
        </p:txBody>
      </p:sp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id="{478CDDBB-860A-D748-B9D0-C51751F3670A}"/>
              </a:ext>
            </a:extLst>
          </p:cNvPr>
          <p:cNvSpPr txBox="1"/>
          <p:nvPr/>
        </p:nvSpPr>
        <p:spPr>
          <a:xfrm>
            <a:off x="7314749" y="6473883"/>
            <a:ext cx="4090201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picture containing clock, clipart&#10;&#10;Description automatically generated">
            <a:extLst>
              <a:ext uri="{FF2B5EF4-FFF2-40B4-BE49-F238E27FC236}">
                <a16:creationId xmlns:a16="http://schemas.microsoft.com/office/drawing/2014/main" id="{0728972B-ACE4-444B-B304-538649D7389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5630" y="3044884"/>
            <a:ext cx="2840741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662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790595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D0D4F70-A5F7-6844-B49C-C7559A226638}"/>
              </a:ext>
            </a:extLst>
          </p:cNvPr>
          <p:cNvSpPr txBox="1"/>
          <p:nvPr/>
        </p:nvSpPr>
        <p:spPr>
          <a:xfrm>
            <a:off x="8870525" y="643210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06F0F09A-FB6B-3F44-9440-16A85BE3B2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4782" y="2850879"/>
            <a:ext cx="1156233" cy="11562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233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81439" y="-8225"/>
            <a:ext cx="10031993" cy="120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6.8.2 Exploration: Which Information Should I Use?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1C46F4F-A85A-084E-B29C-01BB2615DE1E}"/>
                  </a:ext>
                </a:extLst>
              </p:cNvPr>
              <p:cNvSpPr/>
              <p:nvPr/>
            </p:nvSpPr>
            <p:spPr>
              <a:xfrm>
                <a:off x="589547" y="1386025"/>
                <a:ext cx="9569431" cy="46467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Elena is making large batches of fruit punch and marinated chicken for her upcoming family reunion. 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She makes fruit punch by mixing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parts cranberry juice with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parts apple juice.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Complete the statement to explain what this means by writing numbers in each blank. 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49263">
                  <a:lnSpc>
                    <a:spcPct val="15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Regardless of the unit she uses to measure, Elena will use a ratio of cranberry to apple juice that is _____ to _____. For example, if she is measuring in cups, she would add _____ cups of apple juice for every _____ cups of cranberry juice she adds.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1C46F4F-A85A-084E-B29C-01BB2615DE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47" y="1386025"/>
                <a:ext cx="9569431" cy="4646721"/>
              </a:xfrm>
              <a:prstGeom prst="rect">
                <a:avLst/>
              </a:prstGeom>
              <a:blipFill>
                <a:blip r:embed="rId4"/>
                <a:stretch>
                  <a:fillRect l="-701" t="-655" b="-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201E82E5-44E0-F44C-89CC-51BF5F797282}"/>
              </a:ext>
            </a:extLst>
          </p:cNvPr>
          <p:cNvSpPr txBox="1"/>
          <p:nvPr/>
        </p:nvSpPr>
        <p:spPr>
          <a:xfrm>
            <a:off x="7314749" y="6422571"/>
            <a:ext cx="41424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7241F4DF-1731-CF47-B1E1-1F06CCA36F6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119" y="156051"/>
            <a:ext cx="758320" cy="75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18279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01579" y="685311"/>
                <a:ext cx="10015247" cy="43127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2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Elena plans to make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cups of fruit punch. Work with your partner to complete the proportion that could be used to find how much apple juice she needs for the fruit punch, 𝑎.</a:t>
                </a:r>
              </a:p>
              <a:p>
                <a:pPr lvl="2" indent="127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</a:t>
                </a:r>
                <a:endParaRPr lang="es-ES" sz="2000" i="1" dirty="0">
                  <a:latin typeface="Cambria Math" panose="02040503050406030204" pitchFamily="18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2" indent="127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es-E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 </m:t>
                          </m:r>
                        </m:num>
                        <m:den>
                          <m:r>
                            <a:rPr lang="es-E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           </m:t>
                          </m:r>
                        </m:den>
                      </m:f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 =  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es-E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𝑎</m:t>
                          </m:r>
                        </m:num>
                        <m:den>
                          <m:r>
                            <a:rPr lang="es-E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40</m:t>
                          </m:r>
                        </m:den>
                      </m:f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2" indent="127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lvl="2" indent="127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lvl="2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does the numerator of each ratio represent in the proportion?</a:t>
                </a:r>
              </a:p>
              <a:p>
                <a:pPr lvl="2" indent="127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lvl="2" indent="127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lvl="2" indent="127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2" indent="127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lvl="2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does the denominator of each ratio represent in the proportion?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79" y="685311"/>
                <a:ext cx="10015247" cy="4312784"/>
              </a:xfrm>
              <a:prstGeom prst="rect">
                <a:avLst/>
              </a:prstGeom>
              <a:blipFill>
                <a:blip r:embed="rId4"/>
                <a:stretch>
                  <a:fillRect l="-670" t="-847" r="-852"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91541B9-7C1E-4043-A1D5-12779C6D7B04}"/>
              </a:ext>
            </a:extLst>
          </p:cNvPr>
          <p:cNvSpPr txBox="1"/>
          <p:nvPr/>
        </p:nvSpPr>
        <p:spPr>
          <a:xfrm>
            <a:off x="7314750" y="6455229"/>
            <a:ext cx="4109826" cy="40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5538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8B73DB-0DF7-EE46-891E-B7CF14DC7489}"/>
              </a:ext>
            </a:extLst>
          </p:cNvPr>
          <p:cNvSpPr txBox="1"/>
          <p:nvPr/>
        </p:nvSpPr>
        <p:spPr>
          <a:xfrm>
            <a:off x="7314749" y="6444343"/>
            <a:ext cx="4175141" cy="413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4EB0F11-BEA5-4E48-82F0-9DF382CC5712}"/>
                  </a:ext>
                </a:extLst>
              </p:cNvPr>
              <p:cNvSpPr/>
              <p:nvPr/>
            </p:nvSpPr>
            <p:spPr>
              <a:xfrm>
                <a:off x="613611" y="676485"/>
                <a:ext cx="10003215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How did you use the values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to determine the numerator and denominator of the first ratio?</a:t>
                </a: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How much apple juice will Elena need to make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40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cups of fruit punch?</a:t>
                </a: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4EB0F11-BEA5-4E48-82F0-9DF382CC57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11" y="676485"/>
                <a:ext cx="10003215" cy="3416320"/>
              </a:xfrm>
              <a:prstGeom prst="rect">
                <a:avLst/>
              </a:prstGeom>
              <a:blipFill>
                <a:blip r:embed="rId4"/>
                <a:stretch>
                  <a:fillRect l="-975" t="-1607" b="-3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1343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004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D3CFD391-E431-9C4A-9934-6764E12AD456}"/>
              </a:ext>
            </a:extLst>
          </p:cNvPr>
          <p:cNvSpPr txBox="1"/>
          <p:nvPr/>
        </p:nvSpPr>
        <p:spPr>
          <a:xfrm>
            <a:off x="7314750" y="6466113"/>
            <a:ext cx="416425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CF8FBDD-4B48-3C40-9166-098D9F255394}"/>
                  </a:ext>
                </a:extLst>
              </p:cNvPr>
              <p:cNvSpPr/>
              <p:nvPr/>
            </p:nvSpPr>
            <p:spPr>
              <a:xfrm>
                <a:off x="613612" y="618046"/>
                <a:ext cx="10751074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The chicken marinade recipe she uses says, “Mix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parts oil with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parts soy sauce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part orange juice.” Elena needs to make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13.5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cups of marinade for the amount of chicken she’s marinating.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Create a proportion that could be used to find the amount of oil Elena needs for the recipe.</a:t>
                </a:r>
              </a:p>
            </p:txBody>
          </p:sp>
        </mc:Choice>
        <mc:Fallback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CF8FBDD-4B48-3C40-9166-098D9F2553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12" y="618046"/>
                <a:ext cx="10751074" cy="2677656"/>
              </a:xfrm>
              <a:prstGeom prst="rect">
                <a:avLst/>
              </a:prstGeom>
              <a:blipFill>
                <a:blip r:embed="rId4"/>
                <a:stretch>
                  <a:fillRect l="-908" t="-2045" b="-4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9476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233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D3CFD391-E431-9C4A-9934-6764E12AD456}"/>
              </a:ext>
            </a:extLst>
          </p:cNvPr>
          <p:cNvSpPr txBox="1"/>
          <p:nvPr/>
        </p:nvSpPr>
        <p:spPr>
          <a:xfrm>
            <a:off x="7314749" y="6466113"/>
            <a:ext cx="41424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F8FBDD-4B48-3C40-9166-098D9F255394}"/>
              </a:ext>
            </a:extLst>
          </p:cNvPr>
          <p:cNvSpPr/>
          <p:nvPr/>
        </p:nvSpPr>
        <p:spPr>
          <a:xfrm>
            <a:off x="601579" y="548722"/>
            <a:ext cx="1009365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8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Elena is scaling the recipe up to make a larger batch. By what scale factor is Elena enlarging the recipe? Explain or show how you know.</a:t>
            </a:r>
          </a:p>
          <a:p>
            <a:pPr lvl="0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 </a:t>
            </a:r>
          </a:p>
          <a:p>
            <a:pPr lvl="0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 </a:t>
            </a:r>
          </a:p>
          <a:p>
            <a:pPr lvl="0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 </a:t>
            </a:r>
          </a:p>
          <a:p>
            <a:pPr lvl="0"/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lvl="0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 </a:t>
            </a:r>
          </a:p>
          <a:p>
            <a:pPr marL="457200" indent="-457200">
              <a:buFont typeface="+mj-lt"/>
              <a:buAutoNum type="arabicPeriod" startAt="9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How could this scale factor be used to determine how many cups of each ingredient she needs to make the marinade? </a:t>
            </a:r>
          </a:p>
        </p:txBody>
      </p:sp>
    </p:spTree>
    <p:extLst>
      <p:ext uri="{BB962C8B-B14F-4D97-AF65-F5344CB8AC3E}">
        <p14:creationId xmlns:p14="http://schemas.microsoft.com/office/powerpoint/2010/main" val="3694660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00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D3CFD391-E431-9C4A-9934-6764E12AD456}"/>
              </a:ext>
            </a:extLst>
          </p:cNvPr>
          <p:cNvSpPr txBox="1"/>
          <p:nvPr/>
        </p:nvSpPr>
        <p:spPr>
          <a:xfrm>
            <a:off x="7314749" y="6476999"/>
            <a:ext cx="416425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CF8FBDD-4B48-3C40-9166-098D9F255394}"/>
                  </a:ext>
                </a:extLst>
              </p:cNvPr>
              <p:cNvSpPr/>
              <p:nvPr/>
            </p:nvSpPr>
            <p:spPr>
              <a:xfrm>
                <a:off x="625642" y="801385"/>
                <a:ext cx="9709259" cy="38956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641350" indent="-627063">
                  <a:buFont typeface="+mj-lt"/>
                  <a:buAutoNum type="arabicPeriod" startAt="10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Complete the summary by writing numbers on each blank based on the situation.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641350">
                  <a:lnSpc>
                    <a:spcPct val="150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If she’s measuring in cups, Elena can make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cups of marinade using the original recipe. She is scaling the recipe up by a scale factor of _____ to make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13.5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cups of marinade. To do this, she will mix _____ cups of oil with _____ cups of soy sauce and _____ cups of orange juice.</a:t>
                </a:r>
              </a:p>
            </p:txBody>
          </p:sp>
        </mc:Choice>
        <mc:Fallback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CF8FBDD-4B48-3C40-9166-098D9F2553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42" y="801385"/>
                <a:ext cx="9709259" cy="3895618"/>
              </a:xfrm>
              <a:prstGeom prst="rect">
                <a:avLst/>
              </a:prstGeom>
              <a:blipFill>
                <a:blip r:embed="rId4"/>
                <a:stretch>
                  <a:fillRect l="-879" t="-1250" r="-1005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7557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004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7314750" y="6444343"/>
            <a:ext cx="4164254" cy="413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C8593B4F-0075-4A4D-A590-B41259CD5E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6748" y="2843633"/>
            <a:ext cx="1152447" cy="11524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2107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8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64162" y="0"/>
            <a:ext cx="9580038" cy="1191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6.8.3 Bring It Together: Proportions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EEC4E3-DFCF-C94C-B80D-045F3E6BF764}"/>
              </a:ext>
            </a:extLst>
          </p:cNvPr>
          <p:cNvSpPr/>
          <p:nvPr/>
        </p:nvSpPr>
        <p:spPr>
          <a:xfrm>
            <a:off x="625642" y="1286376"/>
            <a:ext cx="974377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Recall that ratios can be used to describe part-to-part relationships or part-to-whole relationships. </a:t>
            </a:r>
          </a:p>
        </p:txBody>
      </p:sp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4E354D11-4333-5B4D-A7B5-313F4353BB7E}"/>
              </a:ext>
            </a:extLst>
          </p:cNvPr>
          <p:cNvSpPr txBox="1"/>
          <p:nvPr/>
        </p:nvSpPr>
        <p:spPr>
          <a:xfrm>
            <a:off x="7314750" y="6455229"/>
            <a:ext cx="4131598" cy="40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A8E4C09F-0E07-1043-B313-8A236D2641C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354" y="117930"/>
            <a:ext cx="749808" cy="74980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ED56FA5-0C0E-B449-84D8-A2DEC0A85D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2857585"/>
                  </p:ext>
                </p:extLst>
              </p:nvPr>
            </p:nvGraphicFramePr>
            <p:xfrm>
              <a:off x="1813393" y="2320454"/>
              <a:ext cx="6856730" cy="201168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71545">
                      <a:extLst>
                        <a:ext uri="{9D8B030D-6E8A-4147-A177-3AD203B41FA5}">
                          <a16:colId xmlns:a16="http://schemas.microsoft.com/office/drawing/2014/main" val="3052308569"/>
                        </a:ext>
                      </a:extLst>
                    </a:gridCol>
                    <a:gridCol w="3385185">
                      <a:extLst>
                        <a:ext uri="{9D8B030D-6E8A-4147-A177-3AD203B41FA5}">
                          <a16:colId xmlns:a16="http://schemas.microsoft.com/office/drawing/2014/main" val="3073445972"/>
                        </a:ext>
                      </a:extLst>
                    </a:gridCol>
                  </a:tblGrid>
                  <a:tr h="822960">
                    <a:tc gridSpan="2"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Situation: </a:t>
                          </a: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Elena’s fruit punch recipe uses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parts cranberry juice for every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parts apple juice.</a:t>
                          </a:r>
                          <a:endParaRPr lang="en-CO" sz="16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879399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Part-to-Part Example</a:t>
                          </a:r>
                          <a:endParaRPr lang="en-CO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Part-to-Whole Example</a:t>
                          </a:r>
                          <a:endParaRPr lang="en-CO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1261869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ratio of cranberry juice to apple juice is 5:3.</a:t>
                          </a:r>
                          <a:endParaRPr lang="en-CO" sz="16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ratio of cranberry juice to total fruit punch is 5:8.</a:t>
                          </a:r>
                          <a:endParaRPr lang="en-CO" sz="16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4343987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ED56FA5-0C0E-B449-84D8-A2DEC0A85D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2857585"/>
                  </p:ext>
                </p:extLst>
              </p:nvPr>
            </p:nvGraphicFramePr>
            <p:xfrm>
              <a:off x="1813393" y="2320454"/>
              <a:ext cx="6856730" cy="201168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71545">
                      <a:extLst>
                        <a:ext uri="{9D8B030D-6E8A-4147-A177-3AD203B41FA5}">
                          <a16:colId xmlns:a16="http://schemas.microsoft.com/office/drawing/2014/main" val="3052308569"/>
                        </a:ext>
                      </a:extLst>
                    </a:gridCol>
                    <a:gridCol w="3385185">
                      <a:extLst>
                        <a:ext uri="{9D8B030D-6E8A-4147-A177-3AD203B41FA5}">
                          <a16:colId xmlns:a16="http://schemas.microsoft.com/office/drawing/2014/main" val="3073445972"/>
                        </a:ext>
                      </a:extLst>
                    </a:gridCol>
                  </a:tblGrid>
                  <a:tr h="82296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9" t="-741" r="-178" b="-15185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879399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Part-to-Part Example</a:t>
                          </a:r>
                          <a:endParaRPr lang="en-CO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Part-to-Whole Example</a:t>
                          </a:r>
                          <a:endParaRPr lang="en-CO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1261869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ratio of cranberry juice to apple juice is 5:3.</a:t>
                          </a:r>
                          <a:endParaRPr lang="en-CO" sz="16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ratio of cranberry juice to total fruit punch is 5:8.</a:t>
                          </a:r>
                          <a:endParaRPr lang="en-CO" sz="16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434398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5E211B14-34C1-FA4D-ACC8-E60F03CBB96D}"/>
              </a:ext>
            </a:extLst>
          </p:cNvPr>
          <p:cNvSpPr/>
          <p:nvPr/>
        </p:nvSpPr>
        <p:spPr>
          <a:xfrm>
            <a:off x="625641" y="4611468"/>
            <a:ext cx="974377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setting up proportions to solve problems, it’s important to first determine which quantities need to be compared to find the missing value. </a:t>
            </a:r>
          </a:p>
        </p:txBody>
      </p:sp>
    </p:spTree>
    <p:extLst>
      <p:ext uri="{BB962C8B-B14F-4D97-AF65-F5344CB8AC3E}">
        <p14:creationId xmlns:p14="http://schemas.microsoft.com/office/powerpoint/2010/main" val="1364029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3518" y="-11086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661" y="611351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0EEC4E3-DFCF-C94C-B80D-045F3E6BF764}"/>
              </a:ext>
            </a:extLst>
          </p:cNvPr>
          <p:cNvSpPr/>
          <p:nvPr/>
        </p:nvSpPr>
        <p:spPr>
          <a:xfrm>
            <a:off x="718457" y="413541"/>
            <a:ext cx="96509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table.</a:t>
            </a:r>
          </a:p>
        </p:txBody>
      </p:sp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4E354D11-4333-5B4D-A7B5-313F4353BB7E}"/>
              </a:ext>
            </a:extLst>
          </p:cNvPr>
          <p:cNvSpPr txBox="1"/>
          <p:nvPr/>
        </p:nvSpPr>
        <p:spPr>
          <a:xfrm>
            <a:off x="7314749" y="6396210"/>
            <a:ext cx="4196911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B8C1B37-1BD5-E54D-8D90-C90EAA8A71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7791506"/>
                  </p:ext>
                </p:extLst>
              </p:nvPr>
            </p:nvGraphicFramePr>
            <p:xfrm>
              <a:off x="2639954" y="1330037"/>
              <a:ext cx="6912092" cy="438353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398029">
                      <a:extLst>
                        <a:ext uri="{9D8B030D-6E8A-4147-A177-3AD203B41FA5}">
                          <a16:colId xmlns:a16="http://schemas.microsoft.com/office/drawing/2014/main" val="4154613508"/>
                        </a:ext>
                      </a:extLst>
                    </a:gridCol>
                    <a:gridCol w="3514063">
                      <a:extLst>
                        <a:ext uri="{9D8B030D-6E8A-4147-A177-3AD203B41FA5}">
                          <a16:colId xmlns:a16="http://schemas.microsoft.com/office/drawing/2014/main" val="365348957"/>
                        </a:ext>
                      </a:extLst>
                    </a:gridCol>
                  </a:tblGrid>
                  <a:tr h="1287498">
                    <a:tc gridSpan="2"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Situation: </a:t>
                          </a: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 teacher is planning a field trip to the aquarium. The aquarium requires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chaperones for every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students. The teacher plans accordingly and orders a total of </a:t>
                          </a:r>
                          <a14:m>
                            <m:oMath xmlns:m="http://schemas.openxmlformats.org/officeDocument/2006/math"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85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tickets.</a:t>
                          </a:r>
                          <a:endParaRPr lang="en-CO" sz="16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7049" marR="67049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5880873"/>
                      </a:ext>
                    </a:extLst>
                  </a:tr>
                  <a:tr h="1555158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Set up a proportion that can be used to determine the number of students the teacher is planning to have on the field trip.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7049" marR="67049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7049" marR="67049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45253783"/>
                      </a:ext>
                    </a:extLst>
                  </a:tr>
                  <a:tr h="1540879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Set up a proportion that can be used to determine the number of chaperones the teacher is planning to have on the field trip. 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7049" marR="67049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6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7049" marR="67049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564295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B8C1B37-1BD5-E54D-8D90-C90EAA8A71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7791506"/>
                  </p:ext>
                </p:extLst>
              </p:nvPr>
            </p:nvGraphicFramePr>
            <p:xfrm>
              <a:off x="2639954" y="1330037"/>
              <a:ext cx="6912092" cy="438353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398029">
                      <a:extLst>
                        <a:ext uri="{9D8B030D-6E8A-4147-A177-3AD203B41FA5}">
                          <a16:colId xmlns:a16="http://schemas.microsoft.com/office/drawing/2014/main" val="4154613508"/>
                        </a:ext>
                      </a:extLst>
                    </a:gridCol>
                    <a:gridCol w="3514063">
                      <a:extLst>
                        <a:ext uri="{9D8B030D-6E8A-4147-A177-3AD203B41FA5}">
                          <a16:colId xmlns:a16="http://schemas.microsoft.com/office/drawing/2014/main" val="365348957"/>
                        </a:ext>
                      </a:extLst>
                    </a:gridCol>
                  </a:tblGrid>
                  <a:tr h="1287498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049" marR="67049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8" t="-6635" r="-265" b="-24455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05880873"/>
                      </a:ext>
                    </a:extLst>
                  </a:tr>
                  <a:tr h="1555158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Set up a proportion that can be used to determine the number of students the teacher is planning to have on the field trip.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7049" marR="67049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7049" marR="67049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45253783"/>
                      </a:ext>
                    </a:extLst>
                  </a:tr>
                  <a:tr h="1540879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Set up a proportion that can be used to determine the number of chaperones the teacher is planning to have on the field trip. 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7049" marR="67049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16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7049" marR="67049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564295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96159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8119" y="6068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0EEC4E3-DFCF-C94C-B80D-045F3E6BF764}"/>
              </a:ext>
            </a:extLst>
          </p:cNvPr>
          <p:cNvSpPr/>
          <p:nvPr/>
        </p:nvSpPr>
        <p:spPr>
          <a:xfrm>
            <a:off x="613611" y="774486"/>
            <a:ext cx="1042761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Solve only one of the proportions above.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 how the solution to the proportion can be used to determine both the number of student tickets and the number of chaperone tickets the teacher ordered.</a:t>
            </a:r>
          </a:p>
        </p:txBody>
      </p:sp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4E354D11-4333-5B4D-A7B5-313F4353BB7E}"/>
              </a:ext>
            </a:extLst>
          </p:cNvPr>
          <p:cNvSpPr txBox="1"/>
          <p:nvPr/>
        </p:nvSpPr>
        <p:spPr>
          <a:xfrm>
            <a:off x="7314749" y="6433457"/>
            <a:ext cx="4153369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4948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8119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7314749" y="6466113"/>
            <a:ext cx="4153369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4C5DAF65-3EE3-C044-AA58-E5FB79E2A7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29137" y="2852778"/>
            <a:ext cx="1152447" cy="11524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2733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1034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82110" y="-17219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6.8.4 Your Turn!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0EEC4E3-DFCF-C94C-B80D-045F3E6BF764}"/>
                  </a:ext>
                </a:extLst>
              </p:cNvPr>
              <p:cNvSpPr/>
              <p:nvPr/>
            </p:nvSpPr>
            <p:spPr>
              <a:xfrm>
                <a:off x="625643" y="1319601"/>
                <a:ext cx="9787424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Solve each problem using proportional reasoning. Show your work.</a:t>
                </a: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recipe for salad dressing calls for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parts oil for every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part vinegar. How much oil is needed to make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teaspoons (tsp) of salad dressing?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0EEC4E3-DFCF-C94C-B80D-045F3E6BF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43" y="1319601"/>
                <a:ext cx="9787424" cy="2677656"/>
              </a:xfrm>
              <a:prstGeom prst="rect">
                <a:avLst/>
              </a:prstGeom>
              <a:blipFill>
                <a:blip r:embed="rId4"/>
                <a:stretch>
                  <a:fillRect l="-997" t="-1818" b="-4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4E354D11-4333-5B4D-A7B5-313F4353BB7E}"/>
              </a:ext>
            </a:extLst>
          </p:cNvPr>
          <p:cNvSpPr txBox="1"/>
          <p:nvPr/>
        </p:nvSpPr>
        <p:spPr>
          <a:xfrm>
            <a:off x="7314750" y="6487885"/>
            <a:ext cx="406628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4DE960C7-966F-634E-8FF4-BBDA3EF8E25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713" y="115754"/>
            <a:ext cx="749808" cy="74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725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7079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4319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50F0A2-AA71-F744-8A32-914ADD8F78F3}"/>
              </a:ext>
            </a:extLst>
          </p:cNvPr>
          <p:cNvGrpSpPr/>
          <p:nvPr/>
        </p:nvGrpSpPr>
        <p:grpSpPr>
          <a:xfrm>
            <a:off x="2558100" y="2622400"/>
            <a:ext cx="7662765" cy="1717351"/>
            <a:chOff x="2031300" y="3373600"/>
            <a:chExt cx="6629400" cy="8128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97EBD9-7A07-BD48-A87B-42FC0C60B5F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00D7E9-D011-6F4F-93E3-9B17DFC18634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</p:grp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D80B3B1-A0AC-4E49-8B8A-BB2777B1A70C}"/>
              </a:ext>
            </a:extLst>
          </p:cNvPr>
          <p:cNvSpPr txBox="1"/>
          <p:nvPr/>
        </p:nvSpPr>
        <p:spPr>
          <a:xfrm>
            <a:off x="7314749" y="6433457"/>
            <a:ext cx="4229569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4B30E62-DBC7-A64B-9D39-DD94DF002123}"/>
                  </a:ext>
                </a:extLst>
              </p:cNvPr>
              <p:cNvSpPr/>
              <p:nvPr/>
            </p:nvSpPr>
            <p:spPr>
              <a:xfrm>
                <a:off x="613611" y="822624"/>
                <a:ext cx="9721290" cy="41549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grocer can buy strawberries from a local farmer for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$1.38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per pound (</a:t>
                </a:r>
                <a:r>
                  <a:rPr lang="en-US" sz="24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lb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). His last strawberry order cost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$241.50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How many pounds did the grocer order?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Andre and Han are moving boxes. Andre can move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boxes every half hour. Han can move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boxes every half hour. How long will it take Andre and Han to move all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boxes?</a:t>
                </a: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4B30E62-DBC7-A64B-9D39-DD94DF0021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11" y="822624"/>
                <a:ext cx="9721290" cy="4154984"/>
              </a:xfrm>
              <a:prstGeom prst="rect">
                <a:avLst/>
              </a:prstGeom>
              <a:blipFill>
                <a:blip r:embed="rId4"/>
                <a:stretch>
                  <a:fillRect l="-1004" t="-1320" r="-1568" b="-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7921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43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FCC6CD7-3972-624A-AEF1-A2489A486756}"/>
              </a:ext>
            </a:extLst>
          </p:cNvPr>
          <p:cNvSpPr txBox="1"/>
          <p:nvPr/>
        </p:nvSpPr>
        <p:spPr>
          <a:xfrm>
            <a:off x="7314749" y="6520543"/>
            <a:ext cx="4229569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811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84699" y="0"/>
            <a:ext cx="919855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6.8.5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7400" y="20662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F7A919-8B1E-2741-BB78-98A66295B9F8}"/>
                  </a:ext>
                </a:extLst>
              </p:cNvPr>
              <p:cNvSpPr/>
              <p:nvPr/>
            </p:nvSpPr>
            <p:spPr>
              <a:xfrm>
                <a:off x="613612" y="1163490"/>
                <a:ext cx="10334354" cy="42491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A recipe for sparkling grape juice calls for </a:t>
                </a:r>
                <a14:m>
                  <m:oMath xmlns:m="http://schemas.openxmlformats.org/officeDocument/2006/math">
                    <m:r>
                      <a:rPr lang="es-E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</m:t>
                    </m:r>
                    <m:f>
                      <m:fPr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quarts of sparkling water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quart of grape juice.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How much sparkling water should be mixed with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quarts of grape juice?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How much grape juice should be mixed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quarts of sparkling water?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F7A919-8B1E-2741-BB78-98A66295B9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12" y="1163490"/>
                <a:ext cx="10334354" cy="4249112"/>
              </a:xfrm>
              <a:prstGeom prst="rect">
                <a:avLst/>
              </a:prstGeom>
              <a:blipFill>
                <a:blip r:embed="rId5"/>
                <a:stretch>
                  <a:fillRect l="-944" b="-2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719A187-0842-F343-A6A1-7FD23B0B7316}"/>
              </a:ext>
            </a:extLst>
          </p:cNvPr>
          <p:cNvSpPr txBox="1"/>
          <p:nvPr/>
        </p:nvSpPr>
        <p:spPr>
          <a:xfrm>
            <a:off x="7314750" y="6466113"/>
            <a:ext cx="4153368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1425</TotalTime>
  <Words>1080</Words>
  <Application>Microsoft Office PowerPoint</Application>
  <PresentationFormat>Widescreen</PresentationFormat>
  <Paragraphs>143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Cambria Math</vt:lpstr>
      <vt:lpstr>Arial</vt:lpstr>
      <vt:lpstr>Verdana</vt:lpstr>
      <vt:lpstr>Wingdings</vt:lpstr>
      <vt:lpstr>Century Gothic</vt:lpstr>
      <vt:lpstr>Calibri</vt:lpstr>
      <vt:lpstr>Arial Black</vt:lpstr>
      <vt:lpstr>1_Office Theme</vt:lpstr>
      <vt:lpstr>7th Grade Math  Unit 6, Lesson 8  Solving Real-World Problems Involving Proportions  Volume 1, pg. 273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27</cp:revision>
  <dcterms:created xsi:type="dcterms:W3CDTF">2015-03-17T18:51:18Z</dcterms:created>
  <dcterms:modified xsi:type="dcterms:W3CDTF">2022-06-08T16:50:37Z</dcterms:modified>
</cp:coreProperties>
</file>