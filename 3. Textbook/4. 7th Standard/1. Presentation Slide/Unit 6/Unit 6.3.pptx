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2"/>
  </p:notesMasterIdLst>
  <p:sldIdLst>
    <p:sldId id="256" r:id="rId2"/>
    <p:sldId id="257" r:id="rId3"/>
    <p:sldId id="285" r:id="rId4"/>
    <p:sldId id="286" r:id="rId5"/>
    <p:sldId id="261" r:id="rId6"/>
    <p:sldId id="287" r:id="rId7"/>
    <p:sldId id="288" r:id="rId8"/>
    <p:sldId id="311" r:id="rId9"/>
    <p:sldId id="312" r:id="rId10"/>
    <p:sldId id="366" r:id="rId11"/>
    <p:sldId id="367" r:id="rId12"/>
    <p:sldId id="368" r:id="rId13"/>
    <p:sldId id="326" r:id="rId14"/>
    <p:sldId id="327" r:id="rId15"/>
    <p:sldId id="378" r:id="rId16"/>
    <p:sldId id="379" r:id="rId17"/>
    <p:sldId id="380" r:id="rId18"/>
    <p:sldId id="390" r:id="rId19"/>
    <p:sldId id="391" r:id="rId20"/>
    <p:sldId id="381" r:id="rId21"/>
    <p:sldId id="382" r:id="rId22"/>
    <p:sldId id="383" r:id="rId23"/>
    <p:sldId id="392" r:id="rId24"/>
    <p:sldId id="384" r:id="rId25"/>
    <p:sldId id="385" r:id="rId26"/>
    <p:sldId id="387" r:id="rId27"/>
    <p:sldId id="388" r:id="rId28"/>
    <p:sldId id="389" r:id="rId29"/>
    <p:sldId id="306" r:id="rId30"/>
    <p:sldId id="307" r:id="rId31"/>
  </p:sldIdLst>
  <p:sldSz cx="12192000" cy="6858000"/>
  <p:notesSz cx="6858000" cy="9144000"/>
  <p:embeddedFontLst>
    <p:embeddedFont>
      <p:font typeface="Arial Black" panose="020B0604020202020204" pitchFamily="34" charset="0"/>
      <p:regular r:id="rId33"/>
      <p:bold r:id="rId34"/>
    </p:embeddedFont>
    <p:embeddedFont>
      <p:font typeface="Calibri" panose="020F0502020204030204" pitchFamily="34" charset="0"/>
      <p:regular r:id="rId35"/>
      <p:bold r:id="rId36"/>
      <p:italic r:id="rId37"/>
      <p:boldItalic r:id="rId38"/>
    </p:embeddedFont>
    <p:embeddedFont>
      <p:font typeface="Cambria Math" panose="02040503050406030204" pitchFamily="18" charset="0"/>
      <p:regular r:id="rId39"/>
    </p:embeddedFont>
    <p:embeddedFont>
      <p:font typeface="Century Gothic" panose="020B0502020202020204" pitchFamily="34" charset="0"/>
      <p:regular r:id="rId40"/>
      <p:bold r:id="rId41"/>
      <p:italic r:id="rId42"/>
      <p:boldItalic r:id="rId43"/>
    </p:embeddedFont>
    <p:embeddedFont>
      <p:font typeface="Verdana" panose="020B0604030504040204" pitchFamily="34" charset="0"/>
      <p:regular r:id="rId44"/>
      <p:bold r:id="rId45"/>
      <p:italic r:id="rId46"/>
      <p:boldItalic r:id="rId4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24E5F"/>
    <a:srgbClr val="45BFA9"/>
    <a:srgbClr val="035036"/>
    <a:srgbClr val="3465B0"/>
    <a:srgbClr val="DA4487"/>
    <a:srgbClr val="276C46"/>
    <a:srgbClr val="C9DF6F"/>
    <a:srgbClr val="417DBF"/>
    <a:srgbClr val="3F2A67"/>
    <a:srgbClr val="26B7D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423"/>
    <p:restoredTop sz="94694"/>
  </p:normalViewPr>
  <p:slideViewPr>
    <p:cSldViewPr snapToGrid="0">
      <p:cViewPr varScale="1">
        <p:scale>
          <a:sx n="121" d="100"/>
          <a:sy n="121" d="100"/>
        </p:scale>
        <p:origin x="752" y="17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7.fntdata"/><Relationship Id="rId21" Type="http://schemas.openxmlformats.org/officeDocument/2006/relationships/slide" Target="slides/slide20.xml"/><Relationship Id="rId34" Type="http://schemas.openxmlformats.org/officeDocument/2006/relationships/font" Target="fonts/font2.fntdata"/><Relationship Id="rId42" Type="http://schemas.openxmlformats.org/officeDocument/2006/relationships/font" Target="fonts/font10.fntdata"/><Relationship Id="rId47" Type="http://schemas.openxmlformats.org/officeDocument/2006/relationships/font" Target="fonts/font15.fntdata"/><Relationship Id="rId55" Type="http://customschemas.google.com/relationships/presentationmetadata" Target="meta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font" Target="fonts/font5.fntdata"/><Relationship Id="rId40" Type="http://schemas.openxmlformats.org/officeDocument/2006/relationships/font" Target="fonts/font8.fntdata"/><Relationship Id="rId45" Type="http://schemas.openxmlformats.org/officeDocument/2006/relationships/font" Target="fonts/font13.fntdata"/><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4.fntdata"/><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1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3.fntdata"/><Relationship Id="rId43" Type="http://schemas.openxmlformats.org/officeDocument/2006/relationships/font" Target="fonts/font11.fntdata"/><Relationship Id="rId56"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1.fntdata"/><Relationship Id="rId38" Type="http://schemas.openxmlformats.org/officeDocument/2006/relationships/font" Target="fonts/font6.fntdata"/><Relationship Id="rId46" Type="http://schemas.openxmlformats.org/officeDocument/2006/relationships/font" Target="fonts/font14.fntdata"/><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extLst>
      <p:ext uri="{BB962C8B-B14F-4D97-AF65-F5344CB8AC3E}">
        <p14:creationId xmlns:p14="http://schemas.microsoft.com/office/powerpoint/2010/main" val="30639936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25052413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11205093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13484838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15284607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8692199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extLst>
      <p:ext uri="{BB962C8B-B14F-4D97-AF65-F5344CB8AC3E}">
        <p14:creationId xmlns:p14="http://schemas.microsoft.com/office/powerpoint/2010/main" val="48403201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172728978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extLst>
      <p:ext uri="{BB962C8B-B14F-4D97-AF65-F5344CB8AC3E}">
        <p14:creationId xmlns:p14="http://schemas.microsoft.com/office/powerpoint/2010/main" val="56258629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399891262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36441233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167149911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165624230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extLst>
      <p:ext uri="{BB962C8B-B14F-4D97-AF65-F5344CB8AC3E}">
        <p14:creationId xmlns:p14="http://schemas.microsoft.com/office/powerpoint/2010/main" val="25545600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360780803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231656611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23</a:t>
            </a:fld>
            <a:endParaRPr/>
          </a:p>
        </p:txBody>
      </p:sp>
    </p:spTree>
    <p:extLst>
      <p:ext uri="{BB962C8B-B14F-4D97-AF65-F5344CB8AC3E}">
        <p14:creationId xmlns:p14="http://schemas.microsoft.com/office/powerpoint/2010/main" val="222125997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24</a:t>
            </a:fld>
            <a:endParaRPr/>
          </a:p>
        </p:txBody>
      </p:sp>
    </p:spTree>
    <p:extLst>
      <p:ext uri="{BB962C8B-B14F-4D97-AF65-F5344CB8AC3E}">
        <p14:creationId xmlns:p14="http://schemas.microsoft.com/office/powerpoint/2010/main" val="326749750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25</a:t>
            </a:fld>
            <a:endParaRPr/>
          </a:p>
        </p:txBody>
      </p:sp>
    </p:spTree>
    <p:extLst>
      <p:ext uri="{BB962C8B-B14F-4D97-AF65-F5344CB8AC3E}">
        <p14:creationId xmlns:p14="http://schemas.microsoft.com/office/powerpoint/2010/main" val="114883165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26</a:t>
            </a:fld>
            <a:endParaRPr/>
          </a:p>
        </p:txBody>
      </p:sp>
    </p:spTree>
    <p:extLst>
      <p:ext uri="{BB962C8B-B14F-4D97-AF65-F5344CB8AC3E}">
        <p14:creationId xmlns:p14="http://schemas.microsoft.com/office/powerpoint/2010/main" val="121683229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27</a:t>
            </a:fld>
            <a:endParaRPr/>
          </a:p>
        </p:txBody>
      </p:sp>
    </p:spTree>
    <p:extLst>
      <p:ext uri="{BB962C8B-B14F-4D97-AF65-F5344CB8AC3E}">
        <p14:creationId xmlns:p14="http://schemas.microsoft.com/office/powerpoint/2010/main" val="287992542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28</a:t>
            </a:fld>
            <a:endParaRPr/>
          </a:p>
        </p:txBody>
      </p:sp>
    </p:spTree>
    <p:extLst>
      <p:ext uri="{BB962C8B-B14F-4D97-AF65-F5344CB8AC3E}">
        <p14:creationId xmlns:p14="http://schemas.microsoft.com/office/powerpoint/2010/main" val="234263158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29</a:t>
            </a:fld>
            <a:endParaRPr/>
          </a:p>
        </p:txBody>
      </p:sp>
    </p:spTree>
    <p:extLst>
      <p:ext uri="{BB962C8B-B14F-4D97-AF65-F5344CB8AC3E}">
        <p14:creationId xmlns:p14="http://schemas.microsoft.com/office/powerpoint/2010/main" val="71668810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30</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8.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150.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 Id="rId5" Type="http://schemas.openxmlformats.org/officeDocument/2006/relationships/image" Target="../media/image160.png"/><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8.xml"/><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8.xml"/><Relationship Id="rId5" Type="http://schemas.openxmlformats.org/officeDocument/2006/relationships/image" Target="../media/image20.png"/><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8.xml"/><Relationship Id="rId5" Type="http://schemas.openxmlformats.org/officeDocument/2006/relationships/image" Target="https://lh4.googleusercontent.com/2fPSmGZFeoRpIdYf__PehWRue5ZlpuEJvpCjVIdob_7Od71O_3PDUziieKXI4zYOwvYPHEwl_uCpuxDjax2zhOv3nCWsV_hKRoRBI-4FC0rx93VHSP5SQ_xBapBZ_7zNh_QPz9z0" TargetMode="External"/><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8.xml"/><Relationship Id="rId6" Type="http://schemas.openxmlformats.org/officeDocument/2006/relationships/image" Target="../media/image23.png"/><Relationship Id="rId5" Type="http://schemas.openxmlformats.org/officeDocument/2006/relationships/image" Target="https://lh4.googleusercontent.com/2fPSmGZFeoRpIdYf__PehWRue5ZlpuEJvpCjVIdob_7Od71O_3PDUziieKXI4zYOwvYPHEwl_uCpuxDjax2zhOv3nCWsV_hKRoRBI-4FC0rx93VHSP5SQ_xBapBZ_7zNh_QPz9z0" TargetMode="External"/><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24.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8.xml"/><Relationship Id="rId4" Type="http://schemas.openxmlformats.org/officeDocument/2006/relationships/image" Target="../media/image240.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8.xml"/><Relationship Id="rId4" Type="http://schemas.openxmlformats.org/officeDocument/2006/relationships/image" Target="../media/image25.pn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8.xml"/><Relationship Id="rId5" Type="http://schemas.openxmlformats.org/officeDocument/2006/relationships/image" Target="../media/image27.png"/><Relationship Id="rId4" Type="http://schemas.openxmlformats.org/officeDocument/2006/relationships/image" Target="../media/image26.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8.xml"/><Relationship Id="rId4" Type="http://schemas.openxmlformats.org/officeDocument/2006/relationships/image" Target="../media/image28.png"/></Relationships>
</file>

<file path=ppt/slides/_rels/slide23.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10.png"/><Relationship Id="rId7" Type="http://schemas.openxmlformats.org/officeDocument/2006/relationships/image" Target="../media/image290.png"/><Relationship Id="rId2" Type="http://schemas.openxmlformats.org/officeDocument/2006/relationships/notesSlide" Target="../notesSlides/notesSlide23.xml"/><Relationship Id="rId1" Type="http://schemas.openxmlformats.org/officeDocument/2006/relationships/slideLayout" Target="../slideLayouts/slideLayout8.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8.xml"/><Relationship Id="rId4" Type="http://schemas.openxmlformats.org/officeDocument/2006/relationships/image" Target="../media/image33.png"/></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8.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6.xml"/><Relationship Id="rId1" Type="http://schemas.openxmlformats.org/officeDocument/2006/relationships/slideLayout" Target="../slideLayouts/slideLayout8.xml"/><Relationship Id="rId4" Type="http://schemas.openxmlformats.org/officeDocument/2006/relationships/image" Target="../media/image37.png"/></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7.xml"/><Relationship Id="rId1" Type="http://schemas.openxmlformats.org/officeDocument/2006/relationships/slideLayout" Target="../slideLayouts/slideLayout8.xml"/><Relationship Id="rId5" Type="http://schemas.openxmlformats.org/officeDocument/2006/relationships/image" Target="../media/image39.png"/><Relationship Id="rId4" Type="http://schemas.openxmlformats.org/officeDocument/2006/relationships/image" Target="../media/image38.png"/></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8.xml"/><Relationship Id="rId1" Type="http://schemas.openxmlformats.org/officeDocument/2006/relationships/slideLayout" Target="../slideLayouts/slideLayout8.xml"/><Relationship Id="rId4" Type="http://schemas.openxmlformats.org/officeDocument/2006/relationships/image" Target="../media/image40.png"/></Relationships>
</file>

<file path=ppt/slides/_rels/slide2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9.xml"/><Relationship Id="rId1" Type="http://schemas.openxmlformats.org/officeDocument/2006/relationships/slideLayout" Target="../slideLayouts/slideLayout8.xml"/><Relationship Id="rId4" Type="http://schemas.openxmlformats.org/officeDocument/2006/relationships/image" Target="../media/image41.png"/></Relationships>
</file>

<file path=ppt/slides/_rels/slide3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0.xml"/><Relationship Id="rId1" Type="http://schemas.openxmlformats.org/officeDocument/2006/relationships/slideLayout" Target="../slideLayouts/slideLayout8.xml"/><Relationship Id="rId5" Type="http://schemas.openxmlformats.org/officeDocument/2006/relationships/image" Target="../media/image42.png"/><Relationship Id="rId4" Type="http://schemas.openxmlformats.org/officeDocument/2006/relationships/image" Target="../media/image4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590352" y="2054277"/>
            <a:ext cx="5077649" cy="3194455"/>
          </a:xfrm>
          <a:prstGeom prst="rect">
            <a:avLst/>
          </a:prstGeom>
        </p:spPr>
        <p:txBody>
          <a:bodyPr spcFirstLastPara="1" wrap="square" lIns="91425" tIns="45700" rIns="91425" bIns="45700" anchor="ctr" anchorCtr="0">
            <a:noAutofit/>
          </a:bodyPr>
          <a:lstStyle/>
          <a:p>
            <a:pPr algn="ctr">
              <a:lnSpc>
                <a:spcPct val="100000"/>
              </a:lnSpc>
            </a:pPr>
            <a:r>
              <a:rPr lang="en-US" sz="3200" b="1" dirty="0">
                <a:solidFill>
                  <a:srgbClr val="417DBF"/>
                </a:solidFill>
                <a:latin typeface="Verdana"/>
                <a:ea typeface="Verdana"/>
                <a:cs typeface="Verdana"/>
                <a:sym typeface="Verdana"/>
              </a:rPr>
              <a:t>7</a:t>
            </a:r>
            <a:r>
              <a:rPr lang="en-US" sz="3200" b="1" baseline="30000" dirty="0">
                <a:solidFill>
                  <a:srgbClr val="417DBF"/>
                </a:solidFill>
                <a:latin typeface="Verdana"/>
                <a:ea typeface="Verdana"/>
                <a:cs typeface="Verdana"/>
                <a:sym typeface="Verdana"/>
              </a:rPr>
              <a:t>th</a:t>
            </a:r>
            <a:r>
              <a:rPr lang="en-US" sz="3200" b="1" dirty="0">
                <a:solidFill>
                  <a:srgbClr val="417DBF"/>
                </a:solidFill>
                <a:latin typeface="Verdana"/>
                <a:ea typeface="Verdana"/>
                <a:cs typeface="Verdana"/>
                <a:sym typeface="Verdana"/>
              </a:rPr>
              <a:t> Grade Math</a:t>
            </a:r>
            <a:br>
              <a:rPr lang="en-US" sz="3200" b="1" dirty="0">
                <a:solidFill>
                  <a:srgbClr val="417DBF"/>
                </a:solidFill>
                <a:latin typeface="Verdana"/>
                <a:ea typeface="Verdana"/>
                <a:cs typeface="Verdana"/>
                <a:sym typeface="Verdana"/>
              </a:rPr>
            </a:br>
            <a:endParaRPr lang="en-US" sz="3200" b="1" dirty="0">
              <a:solidFill>
                <a:srgbClr val="417DBF"/>
              </a:solidFill>
              <a:latin typeface="Verdana"/>
              <a:ea typeface="Verdana"/>
              <a:cs typeface="Verdana"/>
              <a:sym typeface="Verdana"/>
            </a:endParaRPr>
          </a:p>
          <a:p>
            <a:pPr algn="ctr">
              <a:lnSpc>
                <a:spcPct val="100000"/>
              </a:lnSpc>
              <a:buClr>
                <a:srgbClr val="000000"/>
              </a:buClr>
            </a:pPr>
            <a:r>
              <a:rPr lang="en-US" sz="3200" b="1" dirty="0">
                <a:solidFill>
                  <a:srgbClr val="417DBF"/>
                </a:solidFill>
                <a:latin typeface="Verdana"/>
                <a:ea typeface="Verdana"/>
                <a:cs typeface="Verdana"/>
                <a:sym typeface="Verdana"/>
              </a:rPr>
              <a:t>Unit 6, Lesson 3</a:t>
            </a:r>
            <a:br>
              <a:rPr lang="en-US" sz="3200" b="1" dirty="0">
                <a:solidFill>
                  <a:srgbClr val="417DBF"/>
                </a:solidFill>
                <a:latin typeface="Verdana"/>
                <a:ea typeface="Verdana"/>
                <a:cs typeface="Verdana"/>
                <a:sym typeface="Verdana"/>
              </a:rPr>
            </a:br>
            <a:br>
              <a:rPr lang="en-US" sz="3200" b="1" dirty="0">
                <a:solidFill>
                  <a:srgbClr val="417DBF"/>
                </a:solidFill>
                <a:latin typeface="Verdana"/>
                <a:ea typeface="Verdana"/>
                <a:cs typeface="Verdana"/>
                <a:sym typeface="Verdana"/>
              </a:rPr>
            </a:br>
            <a:r>
              <a:rPr lang="en-US" sz="3200" b="1" dirty="0">
                <a:solidFill>
                  <a:srgbClr val="417DBF"/>
                </a:solidFill>
                <a:latin typeface="Verdana"/>
                <a:ea typeface="Verdana"/>
                <a:cs typeface="Verdana"/>
                <a:sym typeface="Verdana"/>
              </a:rPr>
              <a:t>Converting Units of Length</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1, pg. 245</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id="{566F1422-A32C-7745-9E85-5AF7B9DBC697}"/>
              </a:ext>
            </a:extLst>
          </p:cNvPr>
          <p:cNvSpPr/>
          <p:nvPr/>
        </p:nvSpPr>
        <p:spPr>
          <a:xfrm>
            <a:off x="0" y="0"/>
            <a:ext cx="4094106" cy="6866100"/>
          </a:xfrm>
          <a:prstGeom prst="rect">
            <a:avLst/>
          </a:prstGeom>
          <a:solidFill>
            <a:srgbClr val="035036"/>
          </a:solidFill>
          <a:ln w="9525" cap="flat" cmpd="sng">
            <a:solidFill>
              <a:srgbClr val="035036"/>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4" name="Picture 3" descr="Logo&#10;&#10;Description automatically generated">
            <a:extLst>
              <a:ext uri="{FF2B5EF4-FFF2-40B4-BE49-F238E27FC236}">
                <a16:creationId xmlns:a16="http://schemas.microsoft.com/office/drawing/2014/main" id="{52C00464-EFA3-6346-BE43-A03DFF537B3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702775" y="1696107"/>
            <a:ext cx="2973100" cy="346578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035036"/>
          </a:solidFill>
          <a:ln w="9525" cap="flat" cmpd="sng">
            <a:solidFill>
              <a:srgbClr val="03503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197879" y="-120200"/>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450579" y="136525"/>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7314750" y="6455229"/>
            <a:ext cx="4106572" cy="402646"/>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245</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21322" y="6129037"/>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724394" y="1398321"/>
            <a:ext cx="9486405" cy="42057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MA.7.AR.3.3</a:t>
            </a:r>
          </a:p>
          <a:p>
            <a:pPr indent="0">
              <a:buNone/>
            </a:pPr>
            <a:r>
              <a:rPr lang="en-US" sz="2800" dirty="0">
                <a:latin typeface="Verdana" panose="020B0604030504040204" pitchFamily="34" charset="0"/>
                <a:ea typeface="Verdana" panose="020B0604030504040204" pitchFamily="34" charset="0"/>
                <a:cs typeface="Verdana" panose="020B0604030504040204" pitchFamily="34" charset="0"/>
              </a:rPr>
              <a:t>Solve mathematical and real-world problems involving the conversion of units across different measurement systems.  </a:t>
            </a:r>
            <a:endPar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Century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035036"/>
          </a:solidFill>
          <a:ln w="9525" cap="flat" cmpd="sng">
            <a:solidFill>
              <a:srgbClr val="03503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1" name="Google Shape;281;g104476d1465_1_17"/>
          <p:cNvPicPr preferRelativeResize="0"/>
          <p:nvPr/>
        </p:nvPicPr>
        <p:blipFill>
          <a:blip r:embed="rId3">
            <a:alphaModFix/>
          </a:blip>
          <a:stretch>
            <a:fillRect/>
          </a:stretch>
        </p:blipFill>
        <p:spPr>
          <a:xfrm>
            <a:off x="407036" y="119788"/>
            <a:ext cx="747300" cy="747300"/>
          </a:xfrm>
          <a:prstGeom prst="rect">
            <a:avLst/>
          </a:prstGeom>
          <a:noFill/>
          <a:ln>
            <a:noFill/>
          </a:ln>
          <a:effectLst>
            <a:outerShdw blurRad="57150" dist="19050" dir="5400000" algn="bl" rotWithShape="0">
              <a:srgbClr val="000000">
                <a:alpha val="50000"/>
              </a:srgbClr>
            </a:outerShdw>
          </a:effectLst>
        </p:spPr>
      </p:pic>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46348" y="6150355"/>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id="{08B3C7FF-E6D0-2145-9A84-003D15672764}"/>
              </a:ext>
            </a:extLst>
          </p:cNvPr>
          <p:cNvSpPr txBox="1">
            <a:spLocks/>
          </p:cNvSpPr>
          <p:nvPr/>
        </p:nvSpPr>
        <p:spPr>
          <a:xfrm>
            <a:off x="1154337" y="-57102"/>
            <a:ext cx="10855862"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1" name="Google Shape;296;g103996e1364_0_10">
            <a:extLst>
              <a:ext uri="{FF2B5EF4-FFF2-40B4-BE49-F238E27FC236}">
                <a16:creationId xmlns:a16="http://schemas.microsoft.com/office/drawing/2014/main" id="{A6E18E39-B007-D647-9935-55A748533A45}"/>
              </a:ext>
            </a:extLst>
          </p:cNvPr>
          <p:cNvSpPr txBox="1">
            <a:spLocks/>
          </p:cNvSpPr>
          <p:nvPr/>
        </p:nvSpPr>
        <p:spPr>
          <a:xfrm>
            <a:off x="736270" y="1445488"/>
            <a:ext cx="10081113"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MA.K12.MTR.3.1 Complete tasks with mathematical fluency.</a:t>
            </a:r>
          </a:p>
        </p:txBody>
      </p:sp>
      <p:sp>
        <p:nvSpPr>
          <p:cNvPr id="9" name="Google Shape;282;g104476d1465_1_17">
            <a:extLst>
              <a:ext uri="{FF2B5EF4-FFF2-40B4-BE49-F238E27FC236}">
                <a16:creationId xmlns:a16="http://schemas.microsoft.com/office/drawing/2014/main" id="{7E42EF11-5FC6-7744-AF68-159F2F06D67F}"/>
              </a:ext>
            </a:extLst>
          </p:cNvPr>
          <p:cNvSpPr txBox="1"/>
          <p:nvPr/>
        </p:nvSpPr>
        <p:spPr>
          <a:xfrm>
            <a:off x="7401836" y="6457921"/>
            <a:ext cx="4044512"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245</a:t>
            </a:r>
            <a:endParaRPr i="1" dirty="0">
              <a:latin typeface="Calibri"/>
              <a:ea typeface="Calibri"/>
              <a:cs typeface="Calibri"/>
              <a:sym typeface="Calibri"/>
            </a:endParaRPr>
          </a:p>
        </p:txBody>
      </p:sp>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035036"/>
          </a:solidFill>
          <a:ln w="9525" cap="flat" cmpd="sng">
            <a:solidFill>
              <a:srgbClr val="03503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57233" y="6129037"/>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206771" y="-154397"/>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4">
            <a:alphaModFix/>
          </a:blip>
          <a:stretch>
            <a:fillRect/>
          </a:stretch>
        </p:blipFill>
        <p:spPr>
          <a:xfrm>
            <a:off x="459471" y="134803"/>
            <a:ext cx="747300" cy="747300"/>
          </a:xfrm>
          <a:prstGeom prst="rect">
            <a:avLst/>
          </a:prstGeom>
          <a:noFill/>
          <a:ln>
            <a:noFill/>
          </a:ln>
          <a:effectLst>
            <a:outerShdw blurRad="50800" dist="38100" dir="2700000" algn="tl" rotWithShape="0">
              <a:prstClr val="black">
                <a:alpha val="40000"/>
              </a:prstClr>
            </a:outerShdw>
          </a:effectLst>
        </p:spPr>
      </p:pic>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641269" y="1609531"/>
            <a:ext cx="9569532"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63550" indent="-463550">
              <a:buFont typeface="Wingdings" pitchFamily="2" charset="2"/>
              <a:buChar char="q"/>
            </a:pPr>
            <a:r>
              <a:rPr lang="en-US" sz="2600" dirty="0">
                <a:latin typeface="Verdana" panose="020B0604030504040204" pitchFamily="34" charset="0"/>
                <a:ea typeface="Verdana" panose="020B0604030504040204" pitchFamily="34" charset="0"/>
                <a:cs typeface="Verdana" panose="020B0604030504040204" pitchFamily="34" charset="0"/>
              </a:rPr>
              <a:t>I can convert length measurements across different measurement systems. </a:t>
            </a:r>
          </a:p>
        </p:txBody>
      </p:sp>
      <p:sp>
        <p:nvSpPr>
          <p:cNvPr id="8" name="Google Shape;282;g104476d1465_1_17">
            <a:extLst>
              <a:ext uri="{FF2B5EF4-FFF2-40B4-BE49-F238E27FC236}">
                <a16:creationId xmlns:a16="http://schemas.microsoft.com/office/drawing/2014/main" id="{6793C8E2-E1C4-B24A-AB6C-B7DBDD28D85B}"/>
              </a:ext>
            </a:extLst>
          </p:cNvPr>
          <p:cNvSpPr txBox="1"/>
          <p:nvPr/>
        </p:nvSpPr>
        <p:spPr>
          <a:xfrm>
            <a:off x="7314749" y="6433457"/>
            <a:ext cx="4142484"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245</a:t>
            </a:r>
            <a:endParaRPr i="1" dirty="0">
              <a:latin typeface="Calibri"/>
              <a:ea typeface="Calibri"/>
              <a:cs typeface="Calibri"/>
              <a:sym typeface="Calibri"/>
            </a:endParaRPr>
          </a:p>
        </p:txBody>
      </p:sp>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035036"/>
          </a:solidFill>
          <a:ln w="9525" cap="flat" cmpd="sng">
            <a:solidFill>
              <a:srgbClr val="035036"/>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00776" y="6129037"/>
            <a:ext cx="563850" cy="657276"/>
          </a:xfrm>
          <a:prstGeom prst="rect">
            <a:avLst/>
          </a:prstGeom>
          <a:noFill/>
          <a:ln>
            <a:noFill/>
          </a:ln>
          <a:effectLst>
            <a:outerShdw blurRad="57150" dist="19050" dir="5400000" algn="bl" rotWithShape="0">
              <a:srgbClr val="000000">
                <a:alpha val="50000"/>
              </a:srgbClr>
            </a:outerShdw>
          </a:effectLst>
        </p:spPr>
      </p:pic>
      <p:pic>
        <p:nvPicPr>
          <p:cNvPr id="312" name="Google Shape;312;g104476d1465_1_39"/>
          <p:cNvPicPr preferRelativeResize="0"/>
          <p:nvPr/>
        </p:nvPicPr>
        <p:blipFill>
          <a:blip r:embed="rId4">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id="{6BCEEC8C-9B17-C841-8ED4-211C80FA09C6}"/>
              </a:ext>
            </a:extLst>
          </p:cNvPr>
          <p:cNvSpPr txBox="1"/>
          <p:nvPr/>
        </p:nvSpPr>
        <p:spPr>
          <a:xfrm>
            <a:off x="7314750" y="6455229"/>
            <a:ext cx="4186026" cy="402646"/>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246</a:t>
            </a:r>
            <a:endParaRPr i="1" dirty="0">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035036"/>
          </a:solidFill>
          <a:ln w="9525" cap="flat" cmpd="sng">
            <a:solidFill>
              <a:srgbClr val="03503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3434" y="62007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182067" y="-146143"/>
            <a:ext cx="9357083"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3F2A67"/>
                </a:solidFill>
                <a:latin typeface="Verdana"/>
                <a:ea typeface="Verdana"/>
                <a:cs typeface="Verdana"/>
                <a:sym typeface="Verdana"/>
              </a:rPr>
              <a:t>6.3.1 Warm-Up: A Closer Look at Rulers</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4">
            <a:alphaModFix/>
          </a:blip>
          <a:stretch>
            <a:fillRect/>
          </a:stretch>
        </p:blipFill>
        <p:spPr>
          <a:xfrm>
            <a:off x="434767" y="143057"/>
            <a:ext cx="747300" cy="747300"/>
          </a:xfrm>
          <a:prstGeom prst="rect">
            <a:avLst/>
          </a:prstGeom>
          <a:noFill/>
          <a:ln>
            <a:noFill/>
          </a:ln>
          <a:effectLst>
            <a:outerShdw blurRad="50800" dist="38100" dir="2700000" algn="tl" rotWithShape="0">
              <a:prstClr val="black">
                <a:alpha val="40000"/>
              </a:prstClr>
            </a:outerShdw>
          </a:effectLst>
        </p:spPr>
      </p:pic>
      <p:sp>
        <p:nvSpPr>
          <p:cNvPr id="5" name="Rectangle 4">
            <a:extLst>
              <a:ext uri="{FF2B5EF4-FFF2-40B4-BE49-F238E27FC236}">
                <a16:creationId xmlns:a16="http://schemas.microsoft.com/office/drawing/2014/main" id="{353081A1-25B1-2A4B-8FF2-3F1C264A000D}"/>
              </a:ext>
            </a:extLst>
          </p:cNvPr>
          <p:cNvSpPr/>
          <p:nvPr/>
        </p:nvSpPr>
        <p:spPr>
          <a:xfrm>
            <a:off x="803152" y="1637500"/>
            <a:ext cx="9357083" cy="830997"/>
          </a:xfrm>
          <a:prstGeom prst="rect">
            <a:avLst/>
          </a:prstGeom>
        </p:spPr>
        <p:txBody>
          <a:bodyPr wrap="square">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A screenshot of a ruler that shows inches (in.) and centimeters (cm) is shown. The image is not to scale.</a:t>
            </a:r>
          </a:p>
        </p:txBody>
      </p:sp>
      <p:sp>
        <p:nvSpPr>
          <p:cNvPr id="14" name="Google Shape;282;g104476d1465_1_17">
            <a:extLst>
              <a:ext uri="{FF2B5EF4-FFF2-40B4-BE49-F238E27FC236}">
                <a16:creationId xmlns:a16="http://schemas.microsoft.com/office/drawing/2014/main" id="{478CDDBB-860A-D748-B9D0-C51751F3670A}"/>
              </a:ext>
            </a:extLst>
          </p:cNvPr>
          <p:cNvSpPr txBox="1"/>
          <p:nvPr/>
        </p:nvSpPr>
        <p:spPr>
          <a:xfrm>
            <a:off x="7314750" y="6509657"/>
            <a:ext cx="4218684"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246</a:t>
            </a:r>
            <a:endParaRPr i="1" dirty="0">
              <a:latin typeface="Calibri"/>
              <a:ea typeface="Calibri"/>
              <a:cs typeface="Calibri"/>
              <a:sym typeface="Calibri"/>
            </a:endParaRPr>
          </a:p>
        </p:txBody>
      </p:sp>
      <p:pic>
        <p:nvPicPr>
          <p:cNvPr id="10" name="Picture 9" descr="A picture containing text, measuring stick, antenna, wrench&#10;&#10;Description automatically generated">
            <a:extLst>
              <a:ext uri="{FF2B5EF4-FFF2-40B4-BE49-F238E27FC236}">
                <a16:creationId xmlns:a16="http://schemas.microsoft.com/office/drawing/2014/main" id="{4417F78F-3EF5-C747-9D2E-8AF662C78778}"/>
              </a:ext>
            </a:extLst>
          </p:cNvPr>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2621280" y="3168201"/>
            <a:ext cx="6949440" cy="1479550"/>
          </a:xfrm>
          <a:prstGeom prst="rect">
            <a:avLst/>
          </a:prstGeom>
        </p:spPr>
      </p:pic>
      <p:sp>
        <p:nvSpPr>
          <p:cNvPr id="11" name="Rectangle 10">
            <a:extLst>
              <a:ext uri="{FF2B5EF4-FFF2-40B4-BE49-F238E27FC236}">
                <a16:creationId xmlns:a16="http://schemas.microsoft.com/office/drawing/2014/main" id="{768B01B2-A6E1-A040-B327-F84CE961ABE7}"/>
              </a:ext>
            </a:extLst>
          </p:cNvPr>
          <p:cNvSpPr/>
          <p:nvPr/>
        </p:nvSpPr>
        <p:spPr>
          <a:xfrm>
            <a:off x="803152" y="4978125"/>
            <a:ext cx="9357083" cy="461665"/>
          </a:xfrm>
          <a:prstGeom prst="rect">
            <a:avLst/>
          </a:prstGeom>
        </p:spPr>
        <p:txBody>
          <a:bodyPr wrap="square">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Look closely at the markings and labels on the ruler. </a:t>
            </a:r>
          </a:p>
        </p:txBody>
      </p:sp>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035036"/>
          </a:solidFill>
          <a:ln w="9525" cap="flat" cmpd="sng">
            <a:solidFill>
              <a:srgbClr val="03503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56308" y="6129037"/>
            <a:ext cx="563850" cy="657276"/>
          </a:xfrm>
          <a:prstGeom prst="rect">
            <a:avLst/>
          </a:prstGeom>
          <a:noFill/>
          <a:ln>
            <a:noFill/>
          </a:ln>
          <a:effectLst>
            <a:outerShdw blurRad="57150" dist="19050" dir="5400000" algn="bl" rotWithShape="0">
              <a:srgbClr val="000000">
                <a:alpha val="50000"/>
              </a:srgbClr>
            </a:outerShdw>
          </a:effectLst>
        </p:spPr>
      </p:pic>
      <p:sp>
        <p:nvSpPr>
          <p:cNvPr id="14" name="TextBox 13">
            <a:extLst>
              <a:ext uri="{FF2B5EF4-FFF2-40B4-BE49-F238E27FC236}">
                <a16:creationId xmlns:a16="http://schemas.microsoft.com/office/drawing/2014/main" id="{2FA392D8-3ED3-7940-83A8-1451AA8A08D4}"/>
              </a:ext>
            </a:extLst>
          </p:cNvPr>
          <p:cNvSpPr txBox="1"/>
          <p:nvPr/>
        </p:nvSpPr>
        <p:spPr>
          <a:xfrm>
            <a:off x="653143" y="813318"/>
            <a:ext cx="9681758" cy="3785652"/>
          </a:xfrm>
          <a:prstGeom prst="rect">
            <a:avLst/>
          </a:prstGeom>
          <a:noFill/>
        </p:spPr>
        <p:txBody>
          <a:bodyPr wrap="square" rtlCol="0">
            <a:spAutoFit/>
          </a:bodyPr>
          <a:lstStyle/>
          <a:p>
            <a:pPr marL="466725"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Write three observations about the markings and measurements on the ruler.</a:t>
            </a:r>
          </a:p>
          <a:p>
            <a:pPr marL="342900" indent="-3429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66725"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Compare observations with your partner. Add any additional observations your partner made to your list above.</a:t>
            </a:r>
          </a:p>
        </p:txBody>
      </p:sp>
      <p:sp>
        <p:nvSpPr>
          <p:cNvPr id="6" name="Google Shape;282;g104476d1465_1_17">
            <a:extLst>
              <a:ext uri="{FF2B5EF4-FFF2-40B4-BE49-F238E27FC236}">
                <a16:creationId xmlns:a16="http://schemas.microsoft.com/office/drawing/2014/main" id="{CA7FA3A8-DC78-A94D-B466-9C41BEDD6321}"/>
              </a:ext>
            </a:extLst>
          </p:cNvPr>
          <p:cNvSpPr txBox="1"/>
          <p:nvPr/>
        </p:nvSpPr>
        <p:spPr>
          <a:xfrm>
            <a:off x="7314750" y="6466113"/>
            <a:ext cx="4241558"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246</a:t>
            </a:r>
            <a:endParaRPr i="1" dirty="0">
              <a:latin typeface="Calibri"/>
              <a:ea typeface="Calibri"/>
              <a:cs typeface="Calibri"/>
              <a:sym typeface="Calibri"/>
            </a:endParaRPr>
          </a:p>
        </p:txBody>
      </p:sp>
    </p:spTree>
    <p:extLst>
      <p:ext uri="{BB962C8B-B14F-4D97-AF65-F5344CB8AC3E}">
        <p14:creationId xmlns:p14="http://schemas.microsoft.com/office/powerpoint/2010/main" val="25982330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035036"/>
          </a:solidFill>
          <a:ln w="9525" cap="flat" cmpd="sng">
            <a:solidFill>
              <a:srgbClr val="035036"/>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57233" y="6129037"/>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426339" y="2766145"/>
            <a:ext cx="439693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3BEA6"/>
                </a:solidFill>
                <a:latin typeface="Verdana"/>
                <a:ea typeface="Verdana"/>
                <a:cs typeface="Verdana"/>
                <a:sym typeface="Verdana"/>
              </a:rPr>
              <a:t>Activity</a:t>
            </a:r>
            <a:endParaRPr sz="5100" b="1" dirty="0">
              <a:solidFill>
                <a:srgbClr val="33BEA6"/>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id="{ED0D4F70-A5F7-6844-B49C-C7559A226638}"/>
              </a:ext>
            </a:extLst>
          </p:cNvPr>
          <p:cNvSpPr txBox="1"/>
          <p:nvPr/>
        </p:nvSpPr>
        <p:spPr>
          <a:xfrm>
            <a:off x="7314749" y="6476999"/>
            <a:ext cx="4142483"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246</a:t>
            </a:r>
            <a:endParaRPr i="1" dirty="0">
              <a:latin typeface="Calibri"/>
              <a:ea typeface="Calibri"/>
              <a:cs typeface="Calibri"/>
              <a:sym typeface="Calibri"/>
            </a:endParaRPr>
          </a:p>
        </p:txBody>
      </p:sp>
      <p:pic>
        <p:nvPicPr>
          <p:cNvPr id="7" name="Picture 6" descr="Icon&#10;&#10;Description automatically generated">
            <a:extLst>
              <a:ext uri="{FF2B5EF4-FFF2-40B4-BE49-F238E27FC236}">
                <a16:creationId xmlns:a16="http://schemas.microsoft.com/office/drawing/2014/main" id="{D59AB6C1-62BF-0041-9BFE-981CA8EF6941}"/>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4688122" y="2850881"/>
            <a:ext cx="1156228" cy="1156228"/>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41969715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1501" y="-8225"/>
            <a:ext cx="223200" cy="6866100"/>
          </a:xfrm>
          <a:prstGeom prst="rect">
            <a:avLst/>
          </a:prstGeom>
          <a:solidFill>
            <a:srgbClr val="035036"/>
          </a:solidFill>
          <a:ln w="9525" cap="flat" cmpd="sng">
            <a:solidFill>
              <a:srgbClr val="03503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46348" y="6129037"/>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186626" y="-68405"/>
            <a:ext cx="11538857"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33BEA6"/>
                </a:solidFill>
                <a:latin typeface="Verdana"/>
                <a:ea typeface="Verdana"/>
                <a:cs typeface="Verdana"/>
                <a:sym typeface="Verdana"/>
              </a:rPr>
              <a:t>6.3.2 Activity: Measuring Objects to Determine Conversion Rates</a:t>
            </a:r>
          </a:p>
        </p:txBody>
      </p:sp>
      <p:sp>
        <p:nvSpPr>
          <p:cNvPr id="2" name="Rectangle 1">
            <a:extLst>
              <a:ext uri="{FF2B5EF4-FFF2-40B4-BE49-F238E27FC236}">
                <a16:creationId xmlns:a16="http://schemas.microsoft.com/office/drawing/2014/main" id="{B1C46F4F-A85A-084E-B29C-01BB2615DE1E}"/>
              </a:ext>
            </a:extLst>
          </p:cNvPr>
          <p:cNvSpPr/>
          <p:nvPr/>
        </p:nvSpPr>
        <p:spPr>
          <a:xfrm>
            <a:off x="736271" y="1491619"/>
            <a:ext cx="9422708" cy="1323439"/>
          </a:xfrm>
          <a:prstGeom prst="rect">
            <a:avLst/>
          </a:prstGeom>
        </p:spPr>
        <p:txBody>
          <a:bodyPr wrap="square">
            <a:spAutoFit/>
          </a:bodyPr>
          <a:lstStyle/>
          <a:p>
            <a:pPr marL="457200" indent="-457200">
              <a:buFont typeface="+mj-lt"/>
              <a:buAutoNum type="arabicPeriod"/>
            </a:pPr>
            <a:r>
              <a:rPr lang="en-US" sz="2000" dirty="0">
                <a:latin typeface="Verdana" panose="020B0604030504040204" pitchFamily="34" charset="0"/>
                <a:ea typeface="Times New Roman" panose="02020603050405020304" pitchFamily="18" charset="0"/>
              </a:rPr>
              <a:t>With your partner, choose three classroom objects that can be measured with a standard ruler. Measure each object’s length in inches (in.) and in centimeters (cm). Use the measurements to complete the table, being as precise as possible. </a:t>
            </a:r>
          </a:p>
        </p:txBody>
      </p:sp>
      <p:sp>
        <p:nvSpPr>
          <p:cNvPr id="13" name="Google Shape;282;g104476d1465_1_17">
            <a:extLst>
              <a:ext uri="{FF2B5EF4-FFF2-40B4-BE49-F238E27FC236}">
                <a16:creationId xmlns:a16="http://schemas.microsoft.com/office/drawing/2014/main" id="{201E82E5-44E0-F44C-89CC-51BF5F797282}"/>
              </a:ext>
            </a:extLst>
          </p:cNvPr>
          <p:cNvSpPr txBox="1"/>
          <p:nvPr/>
        </p:nvSpPr>
        <p:spPr>
          <a:xfrm>
            <a:off x="7314750" y="6509657"/>
            <a:ext cx="4131598"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246</a:t>
            </a:r>
            <a:endParaRPr i="1" dirty="0">
              <a:latin typeface="Calibri"/>
              <a:ea typeface="Calibri"/>
              <a:cs typeface="Calibri"/>
              <a:sym typeface="Calibri"/>
            </a:endParaRPr>
          </a:p>
        </p:txBody>
      </p:sp>
      <p:pic>
        <p:nvPicPr>
          <p:cNvPr id="9" name="Picture 8" descr="Icon&#10;&#10;Description automatically generated">
            <a:extLst>
              <a:ext uri="{FF2B5EF4-FFF2-40B4-BE49-F238E27FC236}">
                <a16:creationId xmlns:a16="http://schemas.microsoft.com/office/drawing/2014/main" id="{44BD3746-8420-AF4A-972B-1C63264C3F3F}"/>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428306" y="60325"/>
            <a:ext cx="758320" cy="758320"/>
          </a:xfrm>
          <a:prstGeom prst="rect">
            <a:avLst/>
          </a:prstGeom>
        </p:spPr>
      </p:pic>
      <p:graphicFrame>
        <p:nvGraphicFramePr>
          <p:cNvPr id="3" name="Table 2">
            <a:extLst>
              <a:ext uri="{FF2B5EF4-FFF2-40B4-BE49-F238E27FC236}">
                <a16:creationId xmlns:a16="http://schemas.microsoft.com/office/drawing/2014/main" id="{F33399C9-4202-1146-9FB9-D987EAE86BE7}"/>
              </a:ext>
            </a:extLst>
          </p:cNvPr>
          <p:cNvGraphicFramePr>
            <a:graphicFrameLocks noGrp="1"/>
          </p:cNvGraphicFramePr>
          <p:nvPr>
            <p:extLst>
              <p:ext uri="{D42A27DB-BD31-4B8C-83A1-F6EECF244321}">
                <p14:modId xmlns:p14="http://schemas.microsoft.com/office/powerpoint/2010/main" val="1256768879"/>
              </p:ext>
            </p:extLst>
          </p:nvPr>
        </p:nvGraphicFramePr>
        <p:xfrm>
          <a:off x="1740725" y="3195678"/>
          <a:ext cx="6858000" cy="2405380"/>
        </p:xfrm>
        <a:graphic>
          <a:graphicData uri="http://schemas.openxmlformats.org/drawingml/2006/table">
            <a:tbl>
              <a:tblPr firstRow="1" firstCol="1" bandRow="1">
                <a:tableStyleId>{A91F0D33-8C57-4600-99A7-42BC86742BE1}</a:tableStyleId>
              </a:tblPr>
              <a:tblGrid>
                <a:gridCol w="2291080">
                  <a:extLst>
                    <a:ext uri="{9D8B030D-6E8A-4147-A177-3AD203B41FA5}">
                      <a16:colId xmlns:a16="http://schemas.microsoft.com/office/drawing/2014/main" val="3265649025"/>
                    </a:ext>
                  </a:extLst>
                </a:gridCol>
                <a:gridCol w="2109470">
                  <a:extLst>
                    <a:ext uri="{9D8B030D-6E8A-4147-A177-3AD203B41FA5}">
                      <a16:colId xmlns:a16="http://schemas.microsoft.com/office/drawing/2014/main" val="4097613641"/>
                    </a:ext>
                  </a:extLst>
                </a:gridCol>
                <a:gridCol w="2457450">
                  <a:extLst>
                    <a:ext uri="{9D8B030D-6E8A-4147-A177-3AD203B41FA5}">
                      <a16:colId xmlns:a16="http://schemas.microsoft.com/office/drawing/2014/main" val="1829284025"/>
                    </a:ext>
                  </a:extLst>
                </a:gridCol>
              </a:tblGrid>
              <a:tr h="685165">
                <a:tc>
                  <a:txBody>
                    <a:bodyPr/>
                    <a:lstStyle/>
                    <a:p>
                      <a:pPr marL="0" marR="0" algn="ctr">
                        <a:lnSpc>
                          <a:spcPct val="107000"/>
                        </a:lnSpc>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Object</a:t>
                      </a:r>
                      <a:endParaRPr lang="en-CO" sz="16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lnSpc>
                          <a:spcPct val="107000"/>
                        </a:lnSpc>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Length in </a:t>
                      </a:r>
                      <a:br>
                        <a:rPr lang="en-US" sz="1800" b="1" dirty="0">
                          <a:effectLst/>
                          <a:latin typeface="Verdana" panose="020B0604030504040204" pitchFamily="34" charset="0"/>
                          <a:ea typeface="Verdana" panose="020B0604030504040204" pitchFamily="34" charset="0"/>
                          <a:cs typeface="Verdana" panose="020B0604030504040204" pitchFamily="34" charset="0"/>
                        </a:rPr>
                      </a:br>
                      <a:r>
                        <a:rPr lang="en-US" sz="1800" b="1" dirty="0">
                          <a:effectLst/>
                          <a:latin typeface="Verdana" panose="020B0604030504040204" pitchFamily="34" charset="0"/>
                          <a:ea typeface="Verdana" panose="020B0604030504040204" pitchFamily="34" charset="0"/>
                          <a:cs typeface="Verdana" panose="020B0604030504040204" pitchFamily="34" charset="0"/>
                        </a:rPr>
                        <a:t>Inches (in.)</a:t>
                      </a:r>
                      <a:endParaRPr lang="en-CO" sz="16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lnSpc>
                          <a:spcPct val="107000"/>
                        </a:lnSpc>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Length in Centimeters (cm)</a:t>
                      </a:r>
                      <a:endParaRPr lang="en-CO" sz="16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1222738243"/>
                  </a:ext>
                </a:extLst>
              </a:tr>
              <a:tr h="573405">
                <a:tc>
                  <a:txBody>
                    <a:bodyPr/>
                    <a:lstStyle/>
                    <a:p>
                      <a:pPr marL="0" marR="0" algn="ctr">
                        <a:lnSpc>
                          <a:spcPct val="107000"/>
                        </a:lnSpc>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CO" sz="16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CO" sz="16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CO" sz="16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19866463"/>
                  </a:ext>
                </a:extLst>
              </a:tr>
              <a:tr h="573405">
                <a:tc>
                  <a:txBody>
                    <a:bodyPr/>
                    <a:lstStyle/>
                    <a:p>
                      <a:pPr marL="0" marR="0" algn="ctr">
                        <a:lnSpc>
                          <a:spcPct val="107000"/>
                        </a:lnSpc>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CO" sz="16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CO" sz="16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CO" sz="16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14342425"/>
                  </a:ext>
                </a:extLst>
              </a:tr>
              <a:tr h="573405">
                <a:tc>
                  <a:txBody>
                    <a:bodyPr/>
                    <a:lstStyle/>
                    <a:p>
                      <a:pPr marL="0" marR="0" algn="ctr">
                        <a:lnSpc>
                          <a:spcPct val="107000"/>
                        </a:lnSpc>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CO" sz="16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CO" sz="16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en-CO" sz="16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18442685"/>
                  </a:ext>
                </a:extLst>
              </a:tr>
            </a:tbl>
          </a:graphicData>
        </a:graphic>
      </p:graphicFrame>
    </p:spTree>
    <p:extLst>
      <p:ext uri="{BB962C8B-B14F-4D97-AF65-F5344CB8AC3E}">
        <p14:creationId xmlns:p14="http://schemas.microsoft.com/office/powerpoint/2010/main" val="22352480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11875" y="-8225"/>
            <a:ext cx="223200" cy="6866100"/>
          </a:xfrm>
          <a:prstGeom prst="rect">
            <a:avLst/>
          </a:prstGeom>
          <a:solidFill>
            <a:srgbClr val="035036"/>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24576" y="6129037"/>
            <a:ext cx="563850" cy="657276"/>
          </a:xfrm>
          <a:prstGeom prst="rect">
            <a:avLst/>
          </a:prstGeom>
          <a:noFill/>
          <a:ln>
            <a:noFill/>
          </a:ln>
          <a:effectLst>
            <a:outerShdw blurRad="57150" dist="19050" dir="5400000" algn="bl" rotWithShape="0">
              <a:srgbClr val="000000">
                <a:alpha val="50000"/>
              </a:srgbClr>
            </a:outerShdw>
          </a:effectLst>
        </p:spPr>
      </p:pic>
      <p:sp>
        <p:nvSpPr>
          <p:cNvPr id="14" name="TextBox 13">
            <a:extLst>
              <a:ext uri="{FF2B5EF4-FFF2-40B4-BE49-F238E27FC236}">
                <a16:creationId xmlns:a16="http://schemas.microsoft.com/office/drawing/2014/main" id="{2FA392D8-3ED3-7940-83A8-1451AA8A08D4}"/>
              </a:ext>
            </a:extLst>
          </p:cNvPr>
          <p:cNvSpPr txBox="1"/>
          <p:nvPr/>
        </p:nvSpPr>
        <p:spPr>
          <a:xfrm>
            <a:off x="736269" y="522027"/>
            <a:ext cx="9598631" cy="3170099"/>
          </a:xfrm>
          <a:prstGeom prst="rect">
            <a:avLst/>
          </a:prstGeom>
          <a:noFill/>
        </p:spPr>
        <p:txBody>
          <a:bodyPr wrap="square" rtlCol="0">
            <a:spAutoFit/>
          </a:bodyPr>
          <a:lstStyle/>
          <a:p>
            <a:pPr lvl="2" indent="12700"/>
            <a:r>
              <a:rPr lang="en-US" sz="2000" dirty="0">
                <a:latin typeface="Verdana" panose="020B0604030504040204" pitchFamily="34" charset="0"/>
                <a:ea typeface="Verdana" panose="020B0604030504040204" pitchFamily="34" charset="0"/>
                <a:cs typeface="Verdana" panose="020B0604030504040204" pitchFamily="34" charset="0"/>
              </a:rPr>
              <a:t>Similar to using exchange rates to convert currencies, you can use conversion rates to convert measurements.</a:t>
            </a:r>
          </a:p>
          <a:p>
            <a:pPr lvl="2" indent="349250"/>
            <a:r>
              <a:rPr lang="en-US" sz="2000" dirty="0">
                <a:latin typeface="Verdana" panose="020B0604030504040204" pitchFamily="34" charset="0"/>
                <a:ea typeface="Verdana" panose="020B0604030504040204" pitchFamily="34" charset="0"/>
                <a:cs typeface="Verdana" panose="020B0604030504040204" pitchFamily="34" charset="0"/>
              </a:rPr>
              <a:t> </a:t>
            </a:r>
          </a:p>
          <a:p>
            <a:pPr lvl="2" indent="12700"/>
            <a:r>
              <a:rPr lang="en-US" sz="2000" dirty="0">
                <a:latin typeface="Verdana" panose="020B0604030504040204" pitchFamily="34" charset="0"/>
                <a:ea typeface="Verdana" panose="020B0604030504040204" pitchFamily="34" charset="0"/>
                <a:cs typeface="Verdana" panose="020B0604030504040204" pitchFamily="34" charset="0"/>
              </a:rPr>
              <a:t>To convert the length from inches (in.) to centimeters (cm), multiply the length in inches by a conversion rate. The result is the length in centimeters. </a:t>
            </a:r>
          </a:p>
          <a:p>
            <a:pPr lvl="2" indent="349250"/>
            <a:r>
              <a:rPr lang="en-US" sz="2000" dirty="0">
                <a:latin typeface="Verdana" panose="020B0604030504040204" pitchFamily="34" charset="0"/>
                <a:ea typeface="Verdana" panose="020B0604030504040204" pitchFamily="34" charset="0"/>
                <a:cs typeface="Verdana" panose="020B0604030504040204" pitchFamily="34" charset="0"/>
              </a:rPr>
              <a:t> </a:t>
            </a:r>
          </a:p>
          <a:p>
            <a:pPr lvl="2" indent="349250"/>
            <a:r>
              <a:rPr lang="en-US" sz="2000" dirty="0">
                <a:latin typeface="Verdana" panose="020B0604030504040204" pitchFamily="34" charset="0"/>
                <a:ea typeface="Verdana" panose="020B0604030504040204" pitchFamily="34" charset="0"/>
                <a:cs typeface="Verdana" panose="020B0604030504040204" pitchFamily="34" charset="0"/>
              </a:rPr>
              <a:t> </a:t>
            </a:r>
          </a:p>
          <a:p>
            <a:pPr marL="342900" lvl="2" indent="-3429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Use the two measurements for each object you measured to estimate a conversion rate for converting inches to centimeters. </a:t>
            </a:r>
          </a:p>
        </p:txBody>
      </p:sp>
      <p:sp>
        <p:nvSpPr>
          <p:cNvPr id="8" name="Google Shape;282;g104476d1465_1_17">
            <a:extLst>
              <a:ext uri="{FF2B5EF4-FFF2-40B4-BE49-F238E27FC236}">
                <a16:creationId xmlns:a16="http://schemas.microsoft.com/office/drawing/2014/main" id="{E91541B9-7C1E-4043-A1D5-12779C6D7B04}"/>
              </a:ext>
            </a:extLst>
          </p:cNvPr>
          <p:cNvSpPr txBox="1"/>
          <p:nvPr/>
        </p:nvSpPr>
        <p:spPr>
          <a:xfrm>
            <a:off x="7314750" y="6557273"/>
            <a:ext cx="4202336"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246</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6765CC0D-E7FA-214D-8257-743D50D55406}"/>
                  </a:ext>
                </a:extLst>
              </p:cNvPr>
              <p:cNvGraphicFramePr>
                <a:graphicFrameLocks noGrp="1"/>
              </p:cNvGraphicFramePr>
              <p:nvPr>
                <p:extLst>
                  <p:ext uri="{D42A27DB-BD31-4B8C-83A1-F6EECF244321}">
                    <p14:modId xmlns:p14="http://schemas.microsoft.com/office/powerpoint/2010/main" val="486730566"/>
                  </p:ext>
                </p:extLst>
              </p:nvPr>
            </p:nvGraphicFramePr>
            <p:xfrm>
              <a:off x="2667000" y="4438900"/>
              <a:ext cx="6858000" cy="1371600"/>
            </p:xfrm>
            <a:graphic>
              <a:graphicData uri="http://schemas.openxmlformats.org/drawingml/2006/table">
                <a:tbl>
                  <a:tblPr firstRow="1" firstCol="1" bandRow="1">
                    <a:tableStyleId>{A91F0D33-8C57-4600-99A7-42BC86742BE1}</a:tableStyleId>
                  </a:tblPr>
                  <a:tblGrid>
                    <a:gridCol w="1539875">
                      <a:extLst>
                        <a:ext uri="{9D8B030D-6E8A-4147-A177-3AD203B41FA5}">
                          <a16:colId xmlns:a16="http://schemas.microsoft.com/office/drawing/2014/main" val="1444518350"/>
                        </a:ext>
                      </a:extLst>
                    </a:gridCol>
                    <a:gridCol w="3486150">
                      <a:extLst>
                        <a:ext uri="{9D8B030D-6E8A-4147-A177-3AD203B41FA5}">
                          <a16:colId xmlns:a16="http://schemas.microsoft.com/office/drawing/2014/main" val="682222249"/>
                        </a:ext>
                      </a:extLst>
                    </a:gridCol>
                    <a:gridCol w="1831975">
                      <a:extLst>
                        <a:ext uri="{9D8B030D-6E8A-4147-A177-3AD203B41FA5}">
                          <a16:colId xmlns:a16="http://schemas.microsoft.com/office/drawing/2014/main" val="343961780"/>
                        </a:ext>
                      </a:extLst>
                    </a:gridCol>
                  </a:tblGrid>
                  <a:tr h="457200">
                    <a:tc>
                      <a:txBody>
                        <a:bodyPr/>
                        <a:lstStyle/>
                        <a:p>
                          <a:pPr marL="0" marR="0" algn="ctr">
                            <a:lnSpc>
                              <a:spcPct val="107000"/>
                            </a:lnSpc>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Object 1</a:t>
                          </a:r>
                          <a:endParaRPr lang="en-CO" sz="16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_________×</m:t>
                                </m:r>
                                <m:sSub>
                                  <m:sSubPr>
                                    <m:ctrlPr>
                                      <a:rPr lang="en-CO" sz="1800" i="1">
                                        <a:effectLst/>
                                        <a:latin typeface="Cambria Math" panose="02040503050406030204" pitchFamily="18" charset="0"/>
                                      </a:rPr>
                                    </m:ctrlPr>
                                  </m:sSubPr>
                                  <m:e>
                                    <m:r>
                                      <a:rPr lang="en-US" sz="1800">
                                        <a:effectLst/>
                                        <a:latin typeface="Cambria Math" panose="02040503050406030204" pitchFamily="18" charset="0"/>
                                      </a:rPr>
                                      <m:t>𝑟</m:t>
                                    </m:r>
                                  </m:e>
                                  <m:sub>
                                    <m:r>
                                      <a:rPr lang="en-US" sz="1800">
                                        <a:effectLst/>
                                        <a:latin typeface="Cambria Math" panose="02040503050406030204" pitchFamily="18" charset="0"/>
                                      </a:rPr>
                                      <m:t>1</m:t>
                                    </m:r>
                                  </m:sub>
                                </m:sSub>
                                <m:r>
                                  <a:rPr lang="en-US" sz="1800">
                                    <a:effectLst/>
                                    <a:latin typeface="Cambria Math" panose="02040503050406030204" pitchFamily="18" charset="0"/>
                                  </a:rPr>
                                  <m:t>=__________</m:t>
                                </m:r>
                              </m:oMath>
                            </m:oMathPara>
                          </a14:m>
                          <a:endParaRPr lang="en-CO" sz="16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sSub>
                                  <m:sSubPr>
                                    <m:ctrlPr>
                                      <a:rPr lang="en-CO" sz="1800" i="1">
                                        <a:effectLst/>
                                        <a:latin typeface="Cambria Math" panose="02040503050406030204" pitchFamily="18" charset="0"/>
                                      </a:rPr>
                                    </m:ctrlPr>
                                  </m:sSubPr>
                                  <m:e>
                                    <m:r>
                                      <a:rPr lang="en-US" sz="1800">
                                        <a:effectLst/>
                                        <a:latin typeface="Cambria Math" panose="02040503050406030204" pitchFamily="18" charset="0"/>
                                      </a:rPr>
                                      <m:t>𝑟</m:t>
                                    </m:r>
                                  </m:e>
                                  <m:sub>
                                    <m:r>
                                      <a:rPr lang="en-US" sz="1800">
                                        <a:effectLst/>
                                        <a:latin typeface="Cambria Math" panose="02040503050406030204" pitchFamily="18" charset="0"/>
                                      </a:rPr>
                                      <m:t>1</m:t>
                                    </m:r>
                                  </m:sub>
                                </m:sSub>
                                <m:r>
                                  <a:rPr lang="en-US" sz="1800">
                                    <a:effectLst/>
                                    <a:latin typeface="Cambria Math" panose="02040503050406030204" pitchFamily="18" charset="0"/>
                                  </a:rPr>
                                  <m:t>=__________</m:t>
                                </m:r>
                              </m:oMath>
                            </m:oMathPara>
                          </a14:m>
                          <a:endParaRPr lang="en-CO" sz="16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7952358"/>
                      </a:ext>
                    </a:extLst>
                  </a:tr>
                  <a:tr h="457200">
                    <a:tc>
                      <a:txBody>
                        <a:bodyPr/>
                        <a:lstStyle/>
                        <a:p>
                          <a:pPr marL="0" marR="0" algn="ctr">
                            <a:lnSpc>
                              <a:spcPct val="107000"/>
                            </a:lnSpc>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Object 2</a:t>
                          </a:r>
                          <a:endParaRPr lang="en-CO" sz="16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_________×</m:t>
                                </m:r>
                                <m:sSub>
                                  <m:sSubPr>
                                    <m:ctrlPr>
                                      <a:rPr lang="en-CO" sz="1800" i="1">
                                        <a:effectLst/>
                                        <a:latin typeface="Cambria Math" panose="02040503050406030204" pitchFamily="18" charset="0"/>
                                      </a:rPr>
                                    </m:ctrlPr>
                                  </m:sSubPr>
                                  <m:e>
                                    <m:r>
                                      <a:rPr lang="en-US" sz="1800">
                                        <a:effectLst/>
                                        <a:latin typeface="Cambria Math" panose="02040503050406030204" pitchFamily="18" charset="0"/>
                                      </a:rPr>
                                      <m:t>𝑟</m:t>
                                    </m:r>
                                  </m:e>
                                  <m:sub>
                                    <m:r>
                                      <a:rPr lang="en-US" sz="1800">
                                        <a:effectLst/>
                                        <a:latin typeface="Cambria Math" panose="02040503050406030204" pitchFamily="18" charset="0"/>
                                      </a:rPr>
                                      <m:t>2</m:t>
                                    </m:r>
                                  </m:sub>
                                </m:sSub>
                                <m:r>
                                  <a:rPr lang="en-US" sz="1800">
                                    <a:effectLst/>
                                    <a:latin typeface="Cambria Math" panose="02040503050406030204" pitchFamily="18" charset="0"/>
                                  </a:rPr>
                                  <m:t>=__________</m:t>
                                </m:r>
                              </m:oMath>
                            </m:oMathPara>
                          </a14:m>
                          <a:endParaRPr lang="en-CO" sz="16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sSub>
                                  <m:sSubPr>
                                    <m:ctrlPr>
                                      <a:rPr lang="en-CO" sz="1800" i="1">
                                        <a:effectLst/>
                                        <a:latin typeface="Cambria Math" panose="02040503050406030204" pitchFamily="18" charset="0"/>
                                      </a:rPr>
                                    </m:ctrlPr>
                                  </m:sSubPr>
                                  <m:e>
                                    <m:r>
                                      <a:rPr lang="en-US" sz="1800">
                                        <a:effectLst/>
                                        <a:latin typeface="Cambria Math" panose="02040503050406030204" pitchFamily="18" charset="0"/>
                                      </a:rPr>
                                      <m:t>𝑟</m:t>
                                    </m:r>
                                  </m:e>
                                  <m:sub>
                                    <m:r>
                                      <a:rPr lang="en-US" sz="1800">
                                        <a:effectLst/>
                                        <a:latin typeface="Cambria Math" panose="02040503050406030204" pitchFamily="18" charset="0"/>
                                      </a:rPr>
                                      <m:t>2</m:t>
                                    </m:r>
                                  </m:sub>
                                </m:sSub>
                                <m:r>
                                  <a:rPr lang="en-US" sz="1800">
                                    <a:effectLst/>
                                    <a:latin typeface="Cambria Math" panose="02040503050406030204" pitchFamily="18" charset="0"/>
                                  </a:rPr>
                                  <m:t>=__________</m:t>
                                </m:r>
                              </m:oMath>
                            </m:oMathPara>
                          </a14:m>
                          <a:endParaRPr lang="en-CO" sz="16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43669735"/>
                      </a:ext>
                    </a:extLst>
                  </a:tr>
                  <a:tr h="457200">
                    <a:tc>
                      <a:txBody>
                        <a:bodyPr/>
                        <a:lstStyle/>
                        <a:p>
                          <a:pPr marL="0" marR="0" algn="ctr">
                            <a:lnSpc>
                              <a:spcPct val="107000"/>
                            </a:lnSpc>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Object 3</a:t>
                          </a:r>
                          <a:endParaRPr lang="en-CO" sz="16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_________×</m:t>
                                </m:r>
                                <m:sSub>
                                  <m:sSubPr>
                                    <m:ctrlPr>
                                      <a:rPr lang="en-CO" sz="1800" i="1">
                                        <a:effectLst/>
                                        <a:latin typeface="Cambria Math" panose="02040503050406030204" pitchFamily="18" charset="0"/>
                                      </a:rPr>
                                    </m:ctrlPr>
                                  </m:sSubPr>
                                  <m:e>
                                    <m:r>
                                      <a:rPr lang="en-US" sz="1800">
                                        <a:effectLst/>
                                        <a:latin typeface="Cambria Math" panose="02040503050406030204" pitchFamily="18" charset="0"/>
                                      </a:rPr>
                                      <m:t>𝑟</m:t>
                                    </m:r>
                                  </m:e>
                                  <m:sub>
                                    <m:r>
                                      <a:rPr lang="en-US" sz="1800">
                                        <a:effectLst/>
                                        <a:latin typeface="Cambria Math" panose="02040503050406030204" pitchFamily="18" charset="0"/>
                                      </a:rPr>
                                      <m:t>3</m:t>
                                    </m:r>
                                  </m:sub>
                                </m:sSub>
                                <m:r>
                                  <a:rPr lang="en-US" sz="1800">
                                    <a:effectLst/>
                                    <a:latin typeface="Cambria Math" panose="02040503050406030204" pitchFamily="18" charset="0"/>
                                  </a:rPr>
                                  <m:t>=__________</m:t>
                                </m:r>
                              </m:oMath>
                            </m:oMathPara>
                          </a14:m>
                          <a:endParaRPr lang="en-CO" sz="16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sSub>
                                  <m:sSubPr>
                                    <m:ctrlPr>
                                      <a:rPr lang="en-CO" sz="1800" i="1">
                                        <a:effectLst/>
                                        <a:latin typeface="Cambria Math" panose="02040503050406030204" pitchFamily="18" charset="0"/>
                                      </a:rPr>
                                    </m:ctrlPr>
                                  </m:sSubPr>
                                  <m:e>
                                    <m:r>
                                      <a:rPr lang="en-US" sz="1800">
                                        <a:effectLst/>
                                        <a:latin typeface="Cambria Math" panose="02040503050406030204" pitchFamily="18" charset="0"/>
                                      </a:rPr>
                                      <m:t>𝑟</m:t>
                                    </m:r>
                                  </m:e>
                                  <m:sub>
                                    <m:r>
                                      <a:rPr lang="en-US" sz="1800">
                                        <a:effectLst/>
                                        <a:latin typeface="Cambria Math" panose="02040503050406030204" pitchFamily="18" charset="0"/>
                                      </a:rPr>
                                      <m:t>3</m:t>
                                    </m:r>
                                  </m:sub>
                                </m:sSub>
                                <m:r>
                                  <a:rPr lang="en-US" sz="1800">
                                    <a:effectLst/>
                                    <a:latin typeface="Cambria Math" panose="02040503050406030204" pitchFamily="18" charset="0"/>
                                  </a:rPr>
                                  <m:t>=__________</m:t>
                                </m:r>
                              </m:oMath>
                            </m:oMathPara>
                          </a14:m>
                          <a:endParaRPr lang="en-CO" sz="16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48699655"/>
                      </a:ext>
                    </a:extLst>
                  </a:tr>
                </a:tbl>
              </a:graphicData>
            </a:graphic>
          </p:graphicFrame>
        </mc:Choice>
        <mc:Fallback xmlns="">
          <p:graphicFrame>
            <p:nvGraphicFramePr>
              <p:cNvPr id="3" name="Table 2">
                <a:extLst>
                  <a:ext uri="{FF2B5EF4-FFF2-40B4-BE49-F238E27FC236}">
                    <a16:creationId xmlns:a16="http://schemas.microsoft.com/office/drawing/2014/main" id="{6765CC0D-E7FA-214D-8257-743D50D55406}"/>
                  </a:ext>
                </a:extLst>
              </p:cNvPr>
              <p:cNvGraphicFramePr>
                <a:graphicFrameLocks noGrp="1"/>
              </p:cNvGraphicFramePr>
              <p:nvPr>
                <p:extLst>
                  <p:ext uri="{D42A27DB-BD31-4B8C-83A1-F6EECF244321}">
                    <p14:modId xmlns:p14="http://schemas.microsoft.com/office/powerpoint/2010/main" val="486730566"/>
                  </p:ext>
                </p:extLst>
              </p:nvPr>
            </p:nvGraphicFramePr>
            <p:xfrm>
              <a:off x="2667000" y="4438900"/>
              <a:ext cx="6858000" cy="1371600"/>
            </p:xfrm>
            <a:graphic>
              <a:graphicData uri="http://schemas.openxmlformats.org/drawingml/2006/table">
                <a:tbl>
                  <a:tblPr firstRow="1" firstCol="1" bandRow="1">
                    <a:tableStyleId>{A91F0D33-8C57-4600-99A7-42BC86742BE1}</a:tableStyleId>
                  </a:tblPr>
                  <a:tblGrid>
                    <a:gridCol w="1539875">
                      <a:extLst>
                        <a:ext uri="{9D8B030D-6E8A-4147-A177-3AD203B41FA5}">
                          <a16:colId xmlns:a16="http://schemas.microsoft.com/office/drawing/2014/main" val="1444518350"/>
                        </a:ext>
                      </a:extLst>
                    </a:gridCol>
                    <a:gridCol w="3486150">
                      <a:extLst>
                        <a:ext uri="{9D8B030D-6E8A-4147-A177-3AD203B41FA5}">
                          <a16:colId xmlns:a16="http://schemas.microsoft.com/office/drawing/2014/main" val="682222249"/>
                        </a:ext>
                      </a:extLst>
                    </a:gridCol>
                    <a:gridCol w="1831975">
                      <a:extLst>
                        <a:ext uri="{9D8B030D-6E8A-4147-A177-3AD203B41FA5}">
                          <a16:colId xmlns:a16="http://schemas.microsoft.com/office/drawing/2014/main" val="343961780"/>
                        </a:ext>
                      </a:extLst>
                    </a:gridCol>
                  </a:tblGrid>
                  <a:tr h="457200">
                    <a:tc>
                      <a:txBody>
                        <a:bodyPr/>
                        <a:lstStyle/>
                        <a:p>
                          <a:pPr marL="0" marR="0" algn="ctr">
                            <a:lnSpc>
                              <a:spcPct val="107000"/>
                            </a:lnSpc>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Object 1</a:t>
                          </a:r>
                          <a:endParaRPr lang="en-CO" sz="16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44406" t="-1333" r="-52972" b="-210667"/>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74419" t="-1333" r="-664" b="-210667"/>
                          </a:stretch>
                        </a:blipFill>
                      </a:tcPr>
                    </a:tc>
                    <a:extLst>
                      <a:ext uri="{0D108BD9-81ED-4DB2-BD59-A6C34878D82A}">
                        <a16:rowId xmlns:a16="http://schemas.microsoft.com/office/drawing/2014/main" val="127952358"/>
                      </a:ext>
                    </a:extLst>
                  </a:tr>
                  <a:tr h="457200">
                    <a:tc>
                      <a:txBody>
                        <a:bodyPr/>
                        <a:lstStyle/>
                        <a:p>
                          <a:pPr marL="0" marR="0" algn="ctr">
                            <a:lnSpc>
                              <a:spcPct val="107000"/>
                            </a:lnSpc>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Object 2</a:t>
                          </a:r>
                          <a:endParaRPr lang="en-CO" sz="16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44406" t="-100000" r="-52972" b="-107895"/>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74419" t="-100000" r="-664" b="-107895"/>
                          </a:stretch>
                        </a:blipFill>
                      </a:tcPr>
                    </a:tc>
                    <a:extLst>
                      <a:ext uri="{0D108BD9-81ED-4DB2-BD59-A6C34878D82A}">
                        <a16:rowId xmlns:a16="http://schemas.microsoft.com/office/drawing/2014/main" val="2443669735"/>
                      </a:ext>
                    </a:extLst>
                  </a:tr>
                  <a:tr h="457200">
                    <a:tc>
                      <a:txBody>
                        <a:bodyPr/>
                        <a:lstStyle/>
                        <a:p>
                          <a:pPr marL="0" marR="0" algn="ctr">
                            <a:lnSpc>
                              <a:spcPct val="107000"/>
                            </a:lnSpc>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Object 3</a:t>
                          </a:r>
                          <a:endParaRPr lang="en-CO" sz="16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44406" t="-202667" r="-52972" b="-9333"/>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74419" t="-202667" r="-664" b="-9333"/>
                          </a:stretch>
                        </a:blipFill>
                      </a:tcPr>
                    </a:tc>
                    <a:extLst>
                      <a:ext uri="{0D108BD9-81ED-4DB2-BD59-A6C34878D82A}">
                        <a16:rowId xmlns:a16="http://schemas.microsoft.com/office/drawing/2014/main" val="2448699655"/>
                      </a:ext>
                    </a:extLst>
                  </a:tr>
                </a:tbl>
              </a:graphicData>
            </a:graphic>
          </p:graphicFrame>
        </mc:Fallback>
      </mc:AlternateContent>
    </p:spTree>
    <p:extLst>
      <p:ext uri="{BB962C8B-B14F-4D97-AF65-F5344CB8AC3E}">
        <p14:creationId xmlns:p14="http://schemas.microsoft.com/office/powerpoint/2010/main" val="21655381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035036"/>
          </a:solidFill>
          <a:ln w="9525" cap="flat" cmpd="sng">
            <a:solidFill>
              <a:srgbClr val="03503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04950" y="6065434"/>
            <a:ext cx="563850" cy="657276"/>
          </a:xfrm>
          <a:prstGeom prst="rect">
            <a:avLst/>
          </a:prstGeom>
          <a:noFill/>
          <a:ln>
            <a:noFill/>
          </a:ln>
          <a:effectLst>
            <a:outerShdw blurRad="57150" dist="19050" dir="5400000" algn="bl" rotWithShape="0">
              <a:srgbClr val="000000">
                <a:alpha val="50000"/>
              </a:srgbClr>
            </a:outerShdw>
          </a:effectLst>
        </p:spPr>
      </p:pic>
      <p:sp>
        <p:nvSpPr>
          <p:cNvPr id="9" name="Google Shape;282;g104476d1465_1_17">
            <a:extLst>
              <a:ext uri="{FF2B5EF4-FFF2-40B4-BE49-F238E27FC236}">
                <a16:creationId xmlns:a16="http://schemas.microsoft.com/office/drawing/2014/main" id="{EE8B73DB-0DF7-EE46-891E-B7CF14DC7489}"/>
              </a:ext>
            </a:extLst>
          </p:cNvPr>
          <p:cNvSpPr txBox="1"/>
          <p:nvPr/>
        </p:nvSpPr>
        <p:spPr>
          <a:xfrm>
            <a:off x="7314750" y="6394072"/>
            <a:ext cx="40902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247</a:t>
            </a:r>
            <a:endParaRPr i="1" dirty="0">
              <a:latin typeface="Calibri"/>
              <a:ea typeface="Calibri"/>
              <a:cs typeface="Calibri"/>
              <a:sym typeface="Calibri"/>
            </a:endParaRPr>
          </a:p>
        </p:txBody>
      </p:sp>
      <mc:AlternateContent xmlns:mc="http://schemas.openxmlformats.org/markup-compatibility/2006">
        <mc:Choice xmlns:a14="http://schemas.microsoft.com/office/drawing/2010/main" Requires="a14">
          <p:sp>
            <p:nvSpPr>
              <p:cNvPr id="6" name="Rectangle 5">
                <a:extLst>
                  <a:ext uri="{FF2B5EF4-FFF2-40B4-BE49-F238E27FC236}">
                    <a16:creationId xmlns:a16="http://schemas.microsoft.com/office/drawing/2014/main" id="{F4EB0F11-BEA5-4E48-82F0-9DF382CC5712}"/>
                  </a:ext>
                </a:extLst>
              </p:cNvPr>
              <p:cNvSpPr/>
              <p:nvPr/>
            </p:nvSpPr>
            <p:spPr>
              <a:xfrm>
                <a:off x="724395" y="463928"/>
                <a:ext cx="9328581" cy="3785652"/>
              </a:xfrm>
              <a:prstGeom prst="rect">
                <a:avLst/>
              </a:prstGeom>
            </p:spPr>
            <p:txBody>
              <a:bodyPr wrap="square">
                <a:spAutoFit/>
              </a:bodyPr>
              <a:lstStyle/>
              <a:p>
                <a:pPr marL="457200" indent="-457200">
                  <a:buFont typeface="+mj-lt"/>
                  <a:buAutoNum type="arabicPeriod" startAt="3"/>
                </a:pPr>
                <a:r>
                  <a:rPr lang="en-US" sz="2000" dirty="0">
                    <a:latin typeface="Verdana" panose="020B0604030504040204" pitchFamily="34" charset="0"/>
                    <a:ea typeface="Times New Roman" panose="02020603050405020304" pitchFamily="18" charset="0"/>
                  </a:rPr>
                  <a:t>What is an estimate for the conversion rate of </a:t>
                </a:r>
                <a:r>
                  <a:rPr lang="en-US" sz="2000" b="1" dirty="0">
                    <a:latin typeface="Verdana" panose="020B0604030504040204" pitchFamily="34" charset="0"/>
                    <a:ea typeface="Times New Roman" panose="02020603050405020304" pitchFamily="18" charset="0"/>
                  </a:rPr>
                  <a:t>inches to centimeters</a:t>
                </a:r>
                <a:r>
                  <a:rPr lang="en-US" sz="2000" dirty="0">
                    <a:latin typeface="Verdana" panose="020B0604030504040204" pitchFamily="34" charset="0"/>
                    <a:ea typeface="Times New Roman" panose="02020603050405020304" pitchFamily="18" charset="0"/>
                  </a:rPr>
                  <a:t>?  </a:t>
                </a:r>
              </a:p>
              <a:p>
                <a:pPr lvl="0" algn="ctr"/>
                <a:r>
                  <a:rPr lang="en-US" sz="2000" dirty="0">
                    <a:latin typeface="Verdana" panose="020B0604030504040204" pitchFamily="34" charset="0"/>
                    <a:ea typeface="Times New Roman" panose="02020603050405020304" pitchFamily="18" charset="0"/>
                  </a:rPr>
                  <a:t>𝑟</a:t>
                </a:r>
                <a14:m>
                  <m:oMath xmlns:m="http://schemas.openxmlformats.org/officeDocument/2006/math">
                    <m:r>
                      <a:rPr lang="en-US" sz="2000" i="1" dirty="0" smtClean="0">
                        <a:latin typeface="Cambria Math" panose="02040503050406030204" pitchFamily="18" charset="0"/>
                        <a:ea typeface="Cambria Math" panose="02040503050406030204" pitchFamily="18" charset="0"/>
                      </a:rPr>
                      <m:t>≈</m:t>
                    </m:r>
                  </m:oMath>
                </a14:m>
                <a:r>
                  <a:rPr lang="en-US" sz="2000" dirty="0">
                    <a:latin typeface="Verdana" panose="020B0604030504040204" pitchFamily="34" charset="0"/>
                    <a:ea typeface="Times New Roman" panose="02020603050405020304" pitchFamily="18" charset="0"/>
                  </a:rPr>
                  <a:t>__________</a:t>
                </a:r>
              </a:p>
              <a:p>
                <a:pPr lvl="0"/>
                <a:r>
                  <a:rPr lang="en-US" sz="2000" dirty="0">
                    <a:latin typeface="Verdana" panose="020B0604030504040204" pitchFamily="34" charset="0"/>
                    <a:ea typeface="Times New Roman" panose="02020603050405020304" pitchFamily="18" charset="0"/>
                  </a:rPr>
                  <a:t> </a:t>
                </a:r>
              </a:p>
              <a:p>
                <a:pPr lvl="0"/>
                <a:r>
                  <a:rPr lang="en-US" sz="2000" dirty="0">
                    <a:latin typeface="Verdana" panose="020B0604030504040204" pitchFamily="34" charset="0"/>
                    <a:ea typeface="Times New Roman" panose="02020603050405020304" pitchFamily="18" charset="0"/>
                  </a:rPr>
                  <a:t>To convert the length from centimeters to inches, multiply the length in centimeters (cm) by a conversion rate. The result is the length in inches (in.). </a:t>
                </a:r>
              </a:p>
              <a:p>
                <a:pPr lvl="0"/>
                <a:endParaRPr lang="en-US" sz="2000" dirty="0">
                  <a:latin typeface="Verdana" panose="020B0604030504040204" pitchFamily="34" charset="0"/>
                  <a:ea typeface="Times New Roman" panose="02020603050405020304" pitchFamily="18" charset="0"/>
                </a:endParaRPr>
              </a:p>
              <a:p>
                <a:pPr lvl="0"/>
                <a:endParaRPr lang="en-US" sz="2000" dirty="0">
                  <a:latin typeface="Verdana" panose="020B0604030504040204" pitchFamily="34" charset="0"/>
                  <a:ea typeface="Times New Roman" panose="02020603050405020304" pitchFamily="18" charset="0"/>
                </a:endParaRPr>
              </a:p>
              <a:p>
                <a:pPr lvl="0"/>
                <a:endParaRPr lang="en-US" sz="2000" dirty="0">
                  <a:latin typeface="Verdana" panose="020B0604030504040204" pitchFamily="34" charset="0"/>
                  <a:ea typeface="Times New Roman" panose="02020603050405020304" pitchFamily="18" charset="0"/>
                </a:endParaRPr>
              </a:p>
              <a:p>
                <a:pPr marL="457200" indent="-457200">
                  <a:buFont typeface="+mj-lt"/>
                  <a:buAutoNum type="arabicPeriod" startAt="4"/>
                </a:pPr>
                <a:r>
                  <a:rPr lang="en-US" sz="2000" dirty="0">
                    <a:latin typeface="Verdana" panose="020B0604030504040204" pitchFamily="34" charset="0"/>
                    <a:ea typeface="Times New Roman" panose="02020603050405020304" pitchFamily="18" charset="0"/>
                  </a:rPr>
                  <a:t>For each object, use the two measurements to estimate conversion rate for converting centimeters to inches.</a:t>
                </a:r>
              </a:p>
            </p:txBody>
          </p:sp>
        </mc:Choice>
        <mc:Fallback>
          <p:sp>
            <p:nvSpPr>
              <p:cNvPr id="6" name="Rectangle 5">
                <a:extLst>
                  <a:ext uri="{FF2B5EF4-FFF2-40B4-BE49-F238E27FC236}">
                    <a16:creationId xmlns:a16="http://schemas.microsoft.com/office/drawing/2014/main" id="{F4EB0F11-BEA5-4E48-82F0-9DF382CC5712}"/>
                  </a:ext>
                </a:extLst>
              </p:cNvPr>
              <p:cNvSpPr>
                <a:spLocks noRot="1" noChangeAspect="1" noMove="1" noResize="1" noEditPoints="1" noAdjustHandles="1" noChangeArrowheads="1" noChangeShapeType="1" noTextEdit="1"/>
              </p:cNvSpPr>
              <p:nvPr/>
            </p:nvSpPr>
            <p:spPr>
              <a:xfrm>
                <a:off x="724395" y="463928"/>
                <a:ext cx="9328581" cy="3785652"/>
              </a:xfrm>
              <a:prstGeom prst="rect">
                <a:avLst/>
              </a:prstGeom>
              <a:blipFill>
                <a:blip r:embed="rId4"/>
                <a:stretch>
                  <a:fillRect l="-816" t="-669" r="-816" b="-200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F0FD2EDD-8B10-8140-A643-BC90D687861A}"/>
                  </a:ext>
                </a:extLst>
              </p:cNvPr>
              <p:cNvGraphicFramePr>
                <a:graphicFrameLocks noGrp="1"/>
              </p:cNvGraphicFramePr>
              <p:nvPr>
                <p:extLst>
                  <p:ext uri="{D42A27DB-BD31-4B8C-83A1-F6EECF244321}">
                    <p14:modId xmlns:p14="http://schemas.microsoft.com/office/powerpoint/2010/main" val="1087154737"/>
                  </p:ext>
                </p:extLst>
              </p:nvPr>
            </p:nvGraphicFramePr>
            <p:xfrm>
              <a:off x="2667000" y="4528010"/>
              <a:ext cx="6858000" cy="1672590"/>
            </p:xfrm>
            <a:graphic>
              <a:graphicData uri="http://schemas.openxmlformats.org/drawingml/2006/table">
                <a:tbl>
                  <a:tblPr firstRow="1" firstCol="1" bandRow="1">
                    <a:tableStyleId>{A91F0D33-8C57-4600-99A7-42BC86742BE1}</a:tableStyleId>
                  </a:tblPr>
                  <a:tblGrid>
                    <a:gridCol w="1544955">
                      <a:extLst>
                        <a:ext uri="{9D8B030D-6E8A-4147-A177-3AD203B41FA5}">
                          <a16:colId xmlns:a16="http://schemas.microsoft.com/office/drawing/2014/main" val="2806071004"/>
                        </a:ext>
                      </a:extLst>
                    </a:gridCol>
                    <a:gridCol w="3498850">
                      <a:extLst>
                        <a:ext uri="{9D8B030D-6E8A-4147-A177-3AD203B41FA5}">
                          <a16:colId xmlns:a16="http://schemas.microsoft.com/office/drawing/2014/main" val="2148992474"/>
                        </a:ext>
                      </a:extLst>
                    </a:gridCol>
                    <a:gridCol w="1814195">
                      <a:extLst>
                        <a:ext uri="{9D8B030D-6E8A-4147-A177-3AD203B41FA5}">
                          <a16:colId xmlns:a16="http://schemas.microsoft.com/office/drawing/2014/main" val="1998327493"/>
                        </a:ext>
                      </a:extLst>
                    </a:gridCol>
                  </a:tblGrid>
                  <a:tr h="557530">
                    <a:tc>
                      <a:txBody>
                        <a:bodyPr/>
                        <a:lstStyle/>
                        <a:p>
                          <a:pPr marL="0" marR="0" algn="ctr">
                            <a:lnSpc>
                              <a:spcPct val="107000"/>
                            </a:lnSpc>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Object 1</a:t>
                          </a:r>
                          <a:endParaRPr lang="en-CO" sz="16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_________×</m:t>
                                </m:r>
                                <m:sSub>
                                  <m:sSubPr>
                                    <m:ctrlPr>
                                      <a:rPr lang="en-CO" sz="1800" i="1">
                                        <a:effectLst/>
                                        <a:latin typeface="Cambria Math" panose="02040503050406030204" pitchFamily="18" charset="0"/>
                                      </a:rPr>
                                    </m:ctrlPr>
                                  </m:sSubPr>
                                  <m:e>
                                    <m:r>
                                      <a:rPr lang="en-US" sz="1800">
                                        <a:effectLst/>
                                        <a:latin typeface="Cambria Math" panose="02040503050406030204" pitchFamily="18" charset="0"/>
                                      </a:rPr>
                                      <m:t>𝑟</m:t>
                                    </m:r>
                                  </m:e>
                                  <m:sub>
                                    <m:r>
                                      <a:rPr lang="en-US" sz="1800">
                                        <a:effectLst/>
                                        <a:latin typeface="Cambria Math" panose="02040503050406030204" pitchFamily="18" charset="0"/>
                                      </a:rPr>
                                      <m:t>4</m:t>
                                    </m:r>
                                  </m:sub>
                                </m:sSub>
                                <m:r>
                                  <a:rPr lang="en-US" sz="1800">
                                    <a:effectLst/>
                                    <a:latin typeface="Cambria Math" panose="02040503050406030204" pitchFamily="18" charset="0"/>
                                  </a:rPr>
                                  <m:t>=__________</m:t>
                                </m:r>
                              </m:oMath>
                            </m:oMathPara>
                          </a14:m>
                          <a:endParaRPr lang="en-CO" sz="16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sSub>
                                  <m:sSubPr>
                                    <m:ctrlPr>
                                      <a:rPr lang="en-CO" sz="1800" i="1">
                                        <a:effectLst/>
                                        <a:latin typeface="Cambria Math" panose="02040503050406030204" pitchFamily="18" charset="0"/>
                                      </a:rPr>
                                    </m:ctrlPr>
                                  </m:sSubPr>
                                  <m:e>
                                    <m:r>
                                      <a:rPr lang="en-US" sz="1800">
                                        <a:effectLst/>
                                        <a:latin typeface="Cambria Math" panose="02040503050406030204" pitchFamily="18" charset="0"/>
                                      </a:rPr>
                                      <m:t>𝑟</m:t>
                                    </m:r>
                                  </m:e>
                                  <m:sub>
                                    <m:r>
                                      <a:rPr lang="en-US" sz="1800">
                                        <a:effectLst/>
                                        <a:latin typeface="Cambria Math" panose="02040503050406030204" pitchFamily="18" charset="0"/>
                                      </a:rPr>
                                      <m:t>4</m:t>
                                    </m:r>
                                  </m:sub>
                                </m:sSub>
                                <m:r>
                                  <a:rPr lang="en-US" sz="1800">
                                    <a:effectLst/>
                                    <a:latin typeface="Cambria Math" panose="02040503050406030204" pitchFamily="18" charset="0"/>
                                  </a:rPr>
                                  <m:t>=__________</m:t>
                                </m:r>
                              </m:oMath>
                            </m:oMathPara>
                          </a14:m>
                          <a:endParaRPr lang="en-CO" sz="16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46046736"/>
                      </a:ext>
                    </a:extLst>
                  </a:tr>
                  <a:tr h="557530">
                    <a:tc>
                      <a:txBody>
                        <a:bodyPr/>
                        <a:lstStyle/>
                        <a:p>
                          <a:pPr marL="0" marR="0" algn="ctr">
                            <a:lnSpc>
                              <a:spcPct val="107000"/>
                            </a:lnSpc>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Object 2</a:t>
                          </a:r>
                          <a:endParaRPr lang="en-CO" sz="16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_________×</m:t>
                                </m:r>
                                <m:sSub>
                                  <m:sSubPr>
                                    <m:ctrlPr>
                                      <a:rPr lang="en-CO" sz="1800" i="1">
                                        <a:effectLst/>
                                        <a:latin typeface="Cambria Math" panose="02040503050406030204" pitchFamily="18" charset="0"/>
                                      </a:rPr>
                                    </m:ctrlPr>
                                  </m:sSubPr>
                                  <m:e>
                                    <m:r>
                                      <a:rPr lang="en-US" sz="1800">
                                        <a:effectLst/>
                                        <a:latin typeface="Cambria Math" panose="02040503050406030204" pitchFamily="18" charset="0"/>
                                      </a:rPr>
                                      <m:t>𝑟</m:t>
                                    </m:r>
                                  </m:e>
                                  <m:sub>
                                    <m:r>
                                      <a:rPr lang="en-US" sz="1800">
                                        <a:effectLst/>
                                        <a:latin typeface="Cambria Math" panose="02040503050406030204" pitchFamily="18" charset="0"/>
                                      </a:rPr>
                                      <m:t>5</m:t>
                                    </m:r>
                                  </m:sub>
                                </m:sSub>
                                <m:r>
                                  <a:rPr lang="en-US" sz="1800">
                                    <a:effectLst/>
                                    <a:latin typeface="Cambria Math" panose="02040503050406030204" pitchFamily="18" charset="0"/>
                                  </a:rPr>
                                  <m:t>=__________</m:t>
                                </m:r>
                              </m:oMath>
                            </m:oMathPara>
                          </a14:m>
                          <a:endParaRPr lang="en-CO" sz="16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sSub>
                                  <m:sSubPr>
                                    <m:ctrlPr>
                                      <a:rPr lang="en-CO" sz="1800" i="1">
                                        <a:effectLst/>
                                        <a:latin typeface="Cambria Math" panose="02040503050406030204" pitchFamily="18" charset="0"/>
                                      </a:rPr>
                                    </m:ctrlPr>
                                  </m:sSubPr>
                                  <m:e>
                                    <m:r>
                                      <a:rPr lang="en-US" sz="1800">
                                        <a:effectLst/>
                                        <a:latin typeface="Cambria Math" panose="02040503050406030204" pitchFamily="18" charset="0"/>
                                      </a:rPr>
                                      <m:t>𝑟</m:t>
                                    </m:r>
                                  </m:e>
                                  <m:sub>
                                    <m:r>
                                      <a:rPr lang="en-US" sz="1800">
                                        <a:effectLst/>
                                        <a:latin typeface="Cambria Math" panose="02040503050406030204" pitchFamily="18" charset="0"/>
                                      </a:rPr>
                                      <m:t>5</m:t>
                                    </m:r>
                                  </m:sub>
                                </m:sSub>
                                <m:r>
                                  <a:rPr lang="en-US" sz="1800">
                                    <a:effectLst/>
                                    <a:latin typeface="Cambria Math" panose="02040503050406030204" pitchFamily="18" charset="0"/>
                                  </a:rPr>
                                  <m:t>=__________</m:t>
                                </m:r>
                              </m:oMath>
                            </m:oMathPara>
                          </a14:m>
                          <a:endParaRPr lang="en-CO" sz="16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33612342"/>
                      </a:ext>
                    </a:extLst>
                  </a:tr>
                  <a:tr h="557530">
                    <a:tc>
                      <a:txBody>
                        <a:bodyPr/>
                        <a:lstStyle/>
                        <a:p>
                          <a:pPr marL="0" marR="0" algn="ctr">
                            <a:lnSpc>
                              <a:spcPct val="107000"/>
                            </a:lnSpc>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Object 3</a:t>
                          </a:r>
                          <a:endParaRPr lang="en-CO" sz="16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_________×</m:t>
                                </m:r>
                                <m:sSub>
                                  <m:sSubPr>
                                    <m:ctrlPr>
                                      <a:rPr lang="en-CO" sz="1800" i="1">
                                        <a:effectLst/>
                                        <a:latin typeface="Cambria Math" panose="02040503050406030204" pitchFamily="18" charset="0"/>
                                      </a:rPr>
                                    </m:ctrlPr>
                                  </m:sSubPr>
                                  <m:e>
                                    <m:r>
                                      <a:rPr lang="en-US" sz="1800">
                                        <a:effectLst/>
                                        <a:latin typeface="Cambria Math" panose="02040503050406030204" pitchFamily="18" charset="0"/>
                                      </a:rPr>
                                      <m:t>𝑟</m:t>
                                    </m:r>
                                  </m:e>
                                  <m:sub>
                                    <m:r>
                                      <a:rPr lang="en-US" sz="1800">
                                        <a:effectLst/>
                                        <a:latin typeface="Cambria Math" panose="02040503050406030204" pitchFamily="18" charset="0"/>
                                      </a:rPr>
                                      <m:t>6</m:t>
                                    </m:r>
                                  </m:sub>
                                </m:sSub>
                                <m:r>
                                  <a:rPr lang="en-US" sz="1800">
                                    <a:effectLst/>
                                    <a:latin typeface="Cambria Math" panose="02040503050406030204" pitchFamily="18" charset="0"/>
                                  </a:rPr>
                                  <m:t>=__________</m:t>
                                </m:r>
                              </m:oMath>
                            </m:oMathPara>
                          </a14:m>
                          <a:endParaRPr lang="en-CO" sz="16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sSub>
                                  <m:sSubPr>
                                    <m:ctrlPr>
                                      <a:rPr lang="en-CO" sz="1800" i="1">
                                        <a:effectLst/>
                                        <a:latin typeface="Cambria Math" panose="02040503050406030204" pitchFamily="18" charset="0"/>
                                      </a:rPr>
                                    </m:ctrlPr>
                                  </m:sSubPr>
                                  <m:e>
                                    <m:r>
                                      <a:rPr lang="en-US" sz="1800">
                                        <a:effectLst/>
                                        <a:latin typeface="Cambria Math" panose="02040503050406030204" pitchFamily="18" charset="0"/>
                                      </a:rPr>
                                      <m:t>𝑟</m:t>
                                    </m:r>
                                  </m:e>
                                  <m:sub>
                                    <m:r>
                                      <a:rPr lang="en-US" sz="1800">
                                        <a:effectLst/>
                                        <a:latin typeface="Cambria Math" panose="02040503050406030204" pitchFamily="18" charset="0"/>
                                      </a:rPr>
                                      <m:t>6</m:t>
                                    </m:r>
                                  </m:sub>
                                </m:sSub>
                                <m:r>
                                  <a:rPr lang="en-US" sz="1800">
                                    <a:effectLst/>
                                    <a:latin typeface="Cambria Math" panose="02040503050406030204" pitchFamily="18" charset="0"/>
                                  </a:rPr>
                                  <m:t>=__________</m:t>
                                </m:r>
                              </m:oMath>
                            </m:oMathPara>
                          </a14:m>
                          <a:endParaRPr lang="en-CO" sz="16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88851321"/>
                      </a:ext>
                    </a:extLst>
                  </a:tr>
                </a:tbl>
              </a:graphicData>
            </a:graphic>
          </p:graphicFrame>
        </mc:Choice>
        <mc:Fallback xmlns="">
          <p:graphicFrame>
            <p:nvGraphicFramePr>
              <p:cNvPr id="2" name="Table 1">
                <a:extLst>
                  <a:ext uri="{FF2B5EF4-FFF2-40B4-BE49-F238E27FC236}">
                    <a16:creationId xmlns:a16="http://schemas.microsoft.com/office/drawing/2014/main" id="{F0FD2EDD-8B10-8140-A643-BC90D687861A}"/>
                  </a:ext>
                </a:extLst>
              </p:cNvPr>
              <p:cNvGraphicFramePr>
                <a:graphicFrameLocks noGrp="1"/>
              </p:cNvGraphicFramePr>
              <p:nvPr>
                <p:extLst>
                  <p:ext uri="{D42A27DB-BD31-4B8C-83A1-F6EECF244321}">
                    <p14:modId xmlns:p14="http://schemas.microsoft.com/office/powerpoint/2010/main" val="1087154737"/>
                  </p:ext>
                </p:extLst>
              </p:nvPr>
            </p:nvGraphicFramePr>
            <p:xfrm>
              <a:off x="2667000" y="4528010"/>
              <a:ext cx="6858000" cy="1672590"/>
            </p:xfrm>
            <a:graphic>
              <a:graphicData uri="http://schemas.openxmlformats.org/drawingml/2006/table">
                <a:tbl>
                  <a:tblPr firstRow="1" firstCol="1" bandRow="1">
                    <a:tableStyleId>{A91F0D33-8C57-4600-99A7-42BC86742BE1}</a:tableStyleId>
                  </a:tblPr>
                  <a:tblGrid>
                    <a:gridCol w="1544955">
                      <a:extLst>
                        <a:ext uri="{9D8B030D-6E8A-4147-A177-3AD203B41FA5}">
                          <a16:colId xmlns:a16="http://schemas.microsoft.com/office/drawing/2014/main" val="2806071004"/>
                        </a:ext>
                      </a:extLst>
                    </a:gridCol>
                    <a:gridCol w="3498850">
                      <a:extLst>
                        <a:ext uri="{9D8B030D-6E8A-4147-A177-3AD203B41FA5}">
                          <a16:colId xmlns:a16="http://schemas.microsoft.com/office/drawing/2014/main" val="2148992474"/>
                        </a:ext>
                      </a:extLst>
                    </a:gridCol>
                    <a:gridCol w="1814195">
                      <a:extLst>
                        <a:ext uri="{9D8B030D-6E8A-4147-A177-3AD203B41FA5}">
                          <a16:colId xmlns:a16="http://schemas.microsoft.com/office/drawing/2014/main" val="1998327493"/>
                        </a:ext>
                      </a:extLst>
                    </a:gridCol>
                  </a:tblGrid>
                  <a:tr h="557530">
                    <a:tc>
                      <a:txBody>
                        <a:bodyPr/>
                        <a:lstStyle/>
                        <a:p>
                          <a:pPr marL="0" marR="0" algn="ctr">
                            <a:lnSpc>
                              <a:spcPct val="107000"/>
                            </a:lnSpc>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Object 1</a:t>
                          </a:r>
                          <a:endParaRPr lang="en-CO" sz="16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44425" t="-1087" r="-52265" b="-202174"/>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78188" t="-1087" r="-671" b="-202174"/>
                          </a:stretch>
                        </a:blipFill>
                      </a:tcPr>
                    </a:tc>
                    <a:extLst>
                      <a:ext uri="{0D108BD9-81ED-4DB2-BD59-A6C34878D82A}">
                        <a16:rowId xmlns:a16="http://schemas.microsoft.com/office/drawing/2014/main" val="1446046736"/>
                      </a:ext>
                    </a:extLst>
                  </a:tr>
                  <a:tr h="557530">
                    <a:tc>
                      <a:txBody>
                        <a:bodyPr/>
                        <a:lstStyle/>
                        <a:p>
                          <a:pPr marL="0" marR="0" algn="ctr">
                            <a:lnSpc>
                              <a:spcPct val="107000"/>
                            </a:lnSpc>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Object 2</a:t>
                          </a:r>
                          <a:endParaRPr lang="en-CO" sz="16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44425" t="-101087" r="-52265" b="-102174"/>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78188" t="-101087" r="-671" b="-102174"/>
                          </a:stretch>
                        </a:blipFill>
                      </a:tcPr>
                    </a:tc>
                    <a:extLst>
                      <a:ext uri="{0D108BD9-81ED-4DB2-BD59-A6C34878D82A}">
                        <a16:rowId xmlns:a16="http://schemas.microsoft.com/office/drawing/2014/main" val="3333612342"/>
                      </a:ext>
                    </a:extLst>
                  </a:tr>
                  <a:tr h="557530">
                    <a:tc>
                      <a:txBody>
                        <a:bodyPr/>
                        <a:lstStyle/>
                        <a:p>
                          <a:pPr marL="0" marR="0" algn="ctr">
                            <a:lnSpc>
                              <a:spcPct val="107000"/>
                            </a:lnSpc>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Object 3</a:t>
                          </a:r>
                          <a:endParaRPr lang="en-CO" sz="16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44425" t="-201087" r="-52265" b="-2174"/>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78188" t="-201087" r="-671" b="-2174"/>
                          </a:stretch>
                        </a:blipFill>
                      </a:tcPr>
                    </a:tc>
                    <a:extLst>
                      <a:ext uri="{0D108BD9-81ED-4DB2-BD59-A6C34878D82A}">
                        <a16:rowId xmlns:a16="http://schemas.microsoft.com/office/drawing/2014/main" val="3788851321"/>
                      </a:ext>
                    </a:extLst>
                  </a:tr>
                </a:tbl>
              </a:graphicData>
            </a:graphic>
          </p:graphicFrame>
        </mc:Fallback>
      </mc:AlternateContent>
    </p:spTree>
    <p:extLst>
      <p:ext uri="{BB962C8B-B14F-4D97-AF65-F5344CB8AC3E}">
        <p14:creationId xmlns:p14="http://schemas.microsoft.com/office/powerpoint/2010/main" val="11913439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035036"/>
          </a:solidFill>
          <a:ln w="9525" cap="flat" cmpd="sng">
            <a:solidFill>
              <a:srgbClr val="03503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370147" y="6129037"/>
            <a:ext cx="563850" cy="657276"/>
          </a:xfrm>
          <a:prstGeom prst="rect">
            <a:avLst/>
          </a:prstGeom>
          <a:noFill/>
          <a:ln>
            <a:noFill/>
          </a:ln>
          <a:effectLst>
            <a:outerShdw blurRad="57150" dist="19050" dir="5400000" algn="bl" rotWithShape="0">
              <a:srgbClr val="000000">
                <a:alpha val="50000"/>
              </a:srgbClr>
            </a:outerShdw>
          </a:effectLst>
        </p:spPr>
      </p:pic>
      <p:sp>
        <p:nvSpPr>
          <p:cNvPr id="18" name="Google Shape;282;g104476d1465_1_17">
            <a:extLst>
              <a:ext uri="{FF2B5EF4-FFF2-40B4-BE49-F238E27FC236}">
                <a16:creationId xmlns:a16="http://schemas.microsoft.com/office/drawing/2014/main" id="{D3CFD391-E431-9C4A-9934-6764E12AD456}"/>
              </a:ext>
            </a:extLst>
          </p:cNvPr>
          <p:cNvSpPr txBox="1"/>
          <p:nvPr/>
        </p:nvSpPr>
        <p:spPr>
          <a:xfrm>
            <a:off x="7314749" y="6498771"/>
            <a:ext cx="4169679"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247</a:t>
            </a:r>
            <a:endParaRPr i="1" dirty="0">
              <a:latin typeface="Calibri"/>
              <a:ea typeface="Calibri"/>
              <a:cs typeface="Calibri"/>
              <a:sym typeface="Calibri"/>
            </a:endParaRPr>
          </a:p>
        </p:txBody>
      </p:sp>
      <mc:AlternateContent xmlns:mc="http://schemas.openxmlformats.org/markup-compatibility/2006">
        <mc:Choice xmlns:a14="http://schemas.microsoft.com/office/drawing/2010/main" Requires="a14">
          <p:sp>
            <p:nvSpPr>
              <p:cNvPr id="19" name="Rectangle 18">
                <a:extLst>
                  <a:ext uri="{FF2B5EF4-FFF2-40B4-BE49-F238E27FC236}">
                    <a16:creationId xmlns:a16="http://schemas.microsoft.com/office/drawing/2014/main" id="{1CF8FBDD-4B48-3C40-9166-098D9F255394}"/>
                  </a:ext>
                </a:extLst>
              </p:cNvPr>
              <p:cNvSpPr/>
              <p:nvPr/>
            </p:nvSpPr>
            <p:spPr>
              <a:xfrm>
                <a:off x="736269" y="731124"/>
                <a:ext cx="9904021" cy="1569660"/>
              </a:xfrm>
              <a:prstGeom prst="rect">
                <a:avLst/>
              </a:prstGeom>
            </p:spPr>
            <p:txBody>
              <a:bodyPr wrap="square">
                <a:spAutoFit/>
              </a:bodyPr>
              <a:lstStyle/>
              <a:p>
                <a:pPr marL="457200" indent="-457200">
                  <a:buFont typeface="+mj-lt"/>
                  <a:buAutoNum type="arabicPeriod" startAt="5"/>
                </a:pPr>
                <a:r>
                  <a:rPr lang="en-US" sz="2400" dirty="0">
                    <a:latin typeface="Verdana" panose="020B0604030504040204" pitchFamily="34" charset="0"/>
                    <a:ea typeface="Times New Roman" panose="02020603050405020304" pitchFamily="18" charset="0"/>
                  </a:rPr>
                  <a:t>What is an estimate for the conversion rate of </a:t>
                </a:r>
                <a:r>
                  <a:rPr lang="en-US" sz="2400" b="1" dirty="0">
                    <a:latin typeface="Verdana" panose="020B0604030504040204" pitchFamily="34" charset="0"/>
                    <a:ea typeface="Times New Roman" panose="02020603050405020304" pitchFamily="18" charset="0"/>
                  </a:rPr>
                  <a:t>centimeters to inches</a:t>
                </a:r>
                <a:r>
                  <a:rPr lang="en-US" sz="2400" dirty="0">
                    <a:latin typeface="Verdana" panose="020B0604030504040204" pitchFamily="34" charset="0"/>
                    <a:ea typeface="Times New Roman" panose="02020603050405020304" pitchFamily="18" charset="0"/>
                  </a:rPr>
                  <a:t>?  </a:t>
                </a:r>
              </a:p>
              <a:p>
                <a:pPr lvl="0"/>
                <a:endParaRPr lang="en-US" sz="2400" dirty="0">
                  <a:latin typeface="Verdana" panose="020B0604030504040204" pitchFamily="34" charset="0"/>
                  <a:ea typeface="Times New Roman" panose="02020603050405020304" pitchFamily="18" charset="0"/>
                </a:endParaRPr>
              </a:p>
              <a:p>
                <a:pPr lvl="0" algn="ctr"/>
                <a:r>
                  <a:rPr lang="en-US" sz="2400" dirty="0">
                    <a:latin typeface="Verdana" panose="020B0604030504040204" pitchFamily="34" charset="0"/>
                    <a:ea typeface="Times New Roman" panose="02020603050405020304" pitchFamily="18" charset="0"/>
                  </a:rPr>
                  <a:t>𝑟</a:t>
                </a:r>
                <a:r>
                  <a:rPr lang="en-US" sz="2400" dirty="0">
                    <a:ea typeface="Cambria Math" panose="02040503050406030204" pitchFamily="18" charset="0"/>
                  </a:rPr>
                  <a:t> </a:t>
                </a:r>
                <a14:m>
                  <m:oMath xmlns:m="http://schemas.openxmlformats.org/officeDocument/2006/math">
                    <m:r>
                      <a:rPr lang="en-US" sz="2400" i="1" dirty="0" smtClean="0">
                        <a:latin typeface="Cambria Math" panose="02040503050406030204" pitchFamily="18" charset="0"/>
                        <a:ea typeface="Cambria Math" panose="02040503050406030204" pitchFamily="18" charset="0"/>
                      </a:rPr>
                      <m:t>≈ </m:t>
                    </m:r>
                  </m:oMath>
                </a14:m>
                <a:r>
                  <a:rPr lang="en-US" sz="2400" dirty="0">
                    <a:latin typeface="Verdana" panose="020B0604030504040204" pitchFamily="34" charset="0"/>
                    <a:ea typeface="Times New Roman" panose="02020603050405020304" pitchFamily="18" charset="0"/>
                  </a:rPr>
                  <a:t>__________</a:t>
                </a:r>
              </a:p>
            </p:txBody>
          </p:sp>
        </mc:Choice>
        <mc:Fallback>
          <p:sp>
            <p:nvSpPr>
              <p:cNvPr id="19" name="Rectangle 18">
                <a:extLst>
                  <a:ext uri="{FF2B5EF4-FFF2-40B4-BE49-F238E27FC236}">
                    <a16:creationId xmlns:a16="http://schemas.microsoft.com/office/drawing/2014/main" id="{1CF8FBDD-4B48-3C40-9166-098D9F255394}"/>
                  </a:ext>
                </a:extLst>
              </p:cNvPr>
              <p:cNvSpPr>
                <a:spLocks noRot="1" noChangeAspect="1" noMove="1" noResize="1" noEditPoints="1" noAdjustHandles="1" noChangeArrowheads="1" noChangeShapeType="1" noTextEdit="1"/>
              </p:cNvSpPr>
              <p:nvPr/>
            </p:nvSpPr>
            <p:spPr>
              <a:xfrm>
                <a:off x="736269" y="731124"/>
                <a:ext cx="9904021" cy="1569660"/>
              </a:xfrm>
              <a:prstGeom prst="rect">
                <a:avLst/>
              </a:prstGeom>
              <a:blipFill>
                <a:blip r:embed="rId4"/>
                <a:stretch>
                  <a:fillRect l="-1026" t="-3226" r="-1795" b="-8871"/>
                </a:stretch>
              </a:blipFill>
            </p:spPr>
            <p:txBody>
              <a:bodyPr/>
              <a:lstStyle/>
              <a:p>
                <a:r>
                  <a:rPr lang="en-US">
                    <a:noFill/>
                  </a:rPr>
                  <a:t> </a:t>
                </a:r>
              </a:p>
            </p:txBody>
          </p:sp>
        </mc:Fallback>
      </mc:AlternateContent>
    </p:spTree>
    <p:extLst>
      <p:ext uri="{BB962C8B-B14F-4D97-AF65-F5344CB8AC3E}">
        <p14:creationId xmlns:p14="http://schemas.microsoft.com/office/powerpoint/2010/main" val="31294762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035036"/>
          </a:solidFill>
          <a:ln w="9525" cap="flat" cmpd="sng">
            <a:solidFill>
              <a:srgbClr val="035036"/>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68119" y="6129037"/>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518563"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Bring It Together</a:t>
            </a:r>
            <a:endParaRPr sz="5100" b="1" dirty="0">
              <a:solidFill>
                <a:srgbClr val="54B5D1"/>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id="{33005AFD-D615-1344-BDC0-5A40F6454816}"/>
              </a:ext>
            </a:extLst>
          </p:cNvPr>
          <p:cNvSpPr txBox="1"/>
          <p:nvPr/>
        </p:nvSpPr>
        <p:spPr>
          <a:xfrm>
            <a:off x="7314749" y="6498771"/>
            <a:ext cx="4153369"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247</a:t>
            </a:r>
            <a:endParaRPr i="1" dirty="0">
              <a:latin typeface="Calibri"/>
              <a:ea typeface="Calibri"/>
              <a:cs typeface="Calibri"/>
              <a:sym typeface="Calibri"/>
            </a:endParaRPr>
          </a:p>
        </p:txBody>
      </p:sp>
      <p:pic>
        <p:nvPicPr>
          <p:cNvPr id="7" name="Picture 6" descr="Icon&#10;&#10;Description automatically generated">
            <a:extLst>
              <a:ext uri="{FF2B5EF4-FFF2-40B4-BE49-F238E27FC236}">
                <a16:creationId xmlns:a16="http://schemas.microsoft.com/office/drawing/2014/main" id="{C8593B4F-0075-4A4D-A590-B41259CD5E78}"/>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4706748" y="2843633"/>
            <a:ext cx="1152447" cy="1152447"/>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0621070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0"/>
            <a:ext cx="223200" cy="6866100"/>
          </a:xfrm>
          <a:prstGeom prst="rect">
            <a:avLst/>
          </a:prstGeom>
          <a:solidFill>
            <a:srgbClr val="035036"/>
          </a:solidFill>
          <a:ln w="9525" cap="flat" cmpd="sng">
            <a:solidFill>
              <a:srgbClr val="03503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370148" y="6129037"/>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164162" y="-92793"/>
            <a:ext cx="10690381"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54B5D1"/>
                </a:solidFill>
                <a:latin typeface="Verdana"/>
                <a:ea typeface="Verdana"/>
                <a:cs typeface="Verdana"/>
                <a:sym typeface="Verdana"/>
              </a:rPr>
              <a:t>6.3.3 Bring It Together: Measurement Systems</a:t>
            </a:r>
          </a:p>
        </p:txBody>
      </p:sp>
      <p:sp>
        <p:nvSpPr>
          <p:cNvPr id="2" name="Rectangle 1">
            <a:extLst>
              <a:ext uri="{FF2B5EF4-FFF2-40B4-BE49-F238E27FC236}">
                <a16:creationId xmlns:a16="http://schemas.microsoft.com/office/drawing/2014/main" id="{C0EEC4E3-DFCF-C94C-B80D-045F3E6BF764}"/>
              </a:ext>
            </a:extLst>
          </p:cNvPr>
          <p:cNvSpPr/>
          <p:nvPr/>
        </p:nvSpPr>
        <p:spPr>
          <a:xfrm>
            <a:off x="736271" y="1286377"/>
            <a:ext cx="9633150" cy="1015663"/>
          </a:xfrm>
          <a:prstGeom prst="rect">
            <a:avLst/>
          </a:prstGeom>
        </p:spPr>
        <p:txBody>
          <a:bodyPr wrap="square">
            <a:spAutoFit/>
          </a:bodyPr>
          <a:lstStyle/>
          <a:p>
            <a:r>
              <a:rPr lang="en-US" sz="2000" dirty="0">
                <a:latin typeface="Verdana" panose="020B0604030504040204" pitchFamily="34" charset="0"/>
                <a:ea typeface="Times New Roman" panose="02020603050405020304" pitchFamily="18" charset="0"/>
                <a:cs typeface="Times New Roman" panose="02020603050405020304" pitchFamily="18" charset="0"/>
              </a:rPr>
              <a:t>Inches (in.) are a common unit for measuring length in the U.S. customary system, while centimeters (cm) are a common unit for measuring length in the metric system.</a:t>
            </a:r>
          </a:p>
        </p:txBody>
      </p:sp>
      <p:sp>
        <p:nvSpPr>
          <p:cNvPr id="16" name="Google Shape;282;g104476d1465_1_17">
            <a:extLst>
              <a:ext uri="{FF2B5EF4-FFF2-40B4-BE49-F238E27FC236}">
                <a16:creationId xmlns:a16="http://schemas.microsoft.com/office/drawing/2014/main" id="{4E354D11-4333-5B4D-A7B5-313F4353BB7E}"/>
              </a:ext>
            </a:extLst>
          </p:cNvPr>
          <p:cNvSpPr txBox="1"/>
          <p:nvPr/>
        </p:nvSpPr>
        <p:spPr>
          <a:xfrm>
            <a:off x="7314749" y="6520543"/>
            <a:ext cx="4137021"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247</a:t>
            </a:r>
            <a:endParaRPr i="1" dirty="0">
              <a:latin typeface="Calibri"/>
              <a:ea typeface="Calibri"/>
              <a:cs typeface="Calibri"/>
              <a:sym typeface="Calibri"/>
            </a:endParaRPr>
          </a:p>
        </p:txBody>
      </p:sp>
      <p:pic>
        <p:nvPicPr>
          <p:cNvPr id="12" name="Picture 11" descr="Icon&#10;&#10;Description automatically generated">
            <a:extLst>
              <a:ext uri="{FF2B5EF4-FFF2-40B4-BE49-F238E27FC236}">
                <a16:creationId xmlns:a16="http://schemas.microsoft.com/office/drawing/2014/main" id="{A8E4C09F-0E07-1043-B313-8A236D2641C0}"/>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414354" y="130629"/>
            <a:ext cx="749808" cy="749808"/>
          </a:xfrm>
          <a:prstGeom prst="rect">
            <a:avLst/>
          </a:prstGeom>
        </p:spPr>
      </p:pic>
      <p:sp>
        <p:nvSpPr>
          <p:cNvPr id="8" name="Text Box 40">
            <a:extLst>
              <a:ext uri="{FF2B5EF4-FFF2-40B4-BE49-F238E27FC236}">
                <a16:creationId xmlns:a16="http://schemas.microsoft.com/office/drawing/2014/main" id="{9C93543B-7EF5-424F-85A5-DE507FBA2E4C}"/>
              </a:ext>
            </a:extLst>
          </p:cNvPr>
          <p:cNvSpPr txBox="1"/>
          <p:nvPr/>
        </p:nvSpPr>
        <p:spPr>
          <a:xfrm>
            <a:off x="1758786" y="2661369"/>
            <a:ext cx="7588119" cy="1668705"/>
          </a:xfrm>
          <a:prstGeom prst="roundRect">
            <a:avLst/>
          </a:prstGeom>
          <a:solidFill>
            <a:srgbClr val="B8E6F5"/>
          </a:solidFill>
          <a:ln>
            <a:noFill/>
          </a:ln>
          <a:effectLst>
            <a:outerShdw blurRad="50800" dist="38100" dir="2700000" algn="tl" rotWithShape="0">
              <a:prstClr val="black">
                <a:alpha val="40000"/>
              </a:prstClr>
            </a:outerShdw>
          </a:effectLst>
        </p:spPr>
        <p:style>
          <a:lnRef idx="3">
            <a:schemeClr val="lt1"/>
          </a:lnRef>
          <a:fillRef idx="1">
            <a:schemeClr val="accent5"/>
          </a:fillRef>
          <a:effectRef idx="1">
            <a:schemeClr val="accent5"/>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742950">
              <a:lnSpc>
                <a:spcPct val="107000"/>
              </a:lnSpc>
              <a:spcAft>
                <a:spcPts val="800"/>
              </a:spcAft>
            </a:pPr>
            <a:r>
              <a:rPr lang="en-US" sz="1800" b="1" dirty="0">
                <a:solidFill>
                  <a:srgbClr val="0075BF"/>
                </a:solidFill>
                <a:latin typeface="Verdana" panose="020B0604030504040204" pitchFamily="34" charset="0"/>
                <a:ea typeface="Cambria Math" panose="02040503050406030204" pitchFamily="18" charset="0"/>
                <a:cs typeface="Cambria Math" panose="02040503050406030204" pitchFamily="18" charset="0"/>
              </a:rPr>
              <a:t>Did you know?</a:t>
            </a:r>
            <a:endParaRPr lang="en-CO" sz="1600" i="1" dirty="0">
              <a:latin typeface="Cambria Math" panose="02040503050406030204" pitchFamily="18" charset="0"/>
              <a:ea typeface="Cambria Math" panose="02040503050406030204" pitchFamily="18" charset="0"/>
              <a:cs typeface="Cambria Math" panose="02040503050406030204" pitchFamily="18" charset="0"/>
            </a:endParaRPr>
          </a:p>
          <a:p>
            <a:pPr marL="742950">
              <a:lnSpc>
                <a:spcPct val="107000"/>
              </a:lnSpc>
              <a:spcAft>
                <a:spcPts val="800"/>
              </a:spcAft>
            </a:pPr>
            <a:r>
              <a:rPr lang="en-US" sz="1800" dirty="0">
                <a:solidFill>
                  <a:srgbClr val="0075BF"/>
                </a:solidFill>
                <a:latin typeface="Verdana" panose="020B0604030504040204" pitchFamily="34" charset="0"/>
                <a:ea typeface="Cambria Math" panose="02040503050406030204" pitchFamily="18" charset="0"/>
                <a:cs typeface="Cambria Math" panose="02040503050406030204" pitchFamily="18" charset="0"/>
              </a:rPr>
              <a:t>Most countries use the metric system of measurement. In fact, only three countries still use the customary system – the United States, Liberia, and Myanmar.</a:t>
            </a:r>
            <a:endParaRPr lang="en-CO" sz="1600" i="1" dirty="0">
              <a:latin typeface="Cambria Math" panose="02040503050406030204" pitchFamily="18" charset="0"/>
              <a:ea typeface="Cambria Math" panose="02040503050406030204" pitchFamily="18" charset="0"/>
              <a:cs typeface="Cambria Math" panose="02040503050406030204" pitchFamily="18" charset="0"/>
            </a:endParaRPr>
          </a:p>
        </p:txBody>
      </p:sp>
      <p:pic>
        <p:nvPicPr>
          <p:cNvPr id="9" name="Picture 8" descr="Icon&#10;&#10;Description automatically generated">
            <a:extLst>
              <a:ext uri="{FF2B5EF4-FFF2-40B4-BE49-F238E27FC236}">
                <a16:creationId xmlns:a16="http://schemas.microsoft.com/office/drawing/2014/main" id="{17331AE8-BF6C-E846-81AC-74D1A06407C7}"/>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967832" y="2787659"/>
            <a:ext cx="539750" cy="539750"/>
          </a:xfrm>
          <a:prstGeom prst="rect">
            <a:avLst/>
          </a:prstGeom>
          <a:effectLst>
            <a:outerShdw blurRad="50800" dist="38100" dir="2700000" algn="tl" rotWithShape="0">
              <a:prstClr val="black">
                <a:alpha val="40000"/>
              </a:prstClr>
            </a:outerShdw>
          </a:effectLst>
        </p:spPr>
      </p:pic>
      <p:sp>
        <p:nvSpPr>
          <p:cNvPr id="10" name="Rectangle 9">
            <a:extLst>
              <a:ext uri="{FF2B5EF4-FFF2-40B4-BE49-F238E27FC236}">
                <a16:creationId xmlns:a16="http://schemas.microsoft.com/office/drawing/2014/main" id="{F972A860-62BC-4A43-B3B5-99ABB5D12BD8}"/>
              </a:ext>
            </a:extLst>
          </p:cNvPr>
          <p:cNvSpPr/>
          <p:nvPr/>
        </p:nvSpPr>
        <p:spPr>
          <a:xfrm>
            <a:off x="736271" y="4708845"/>
            <a:ext cx="9633150" cy="707886"/>
          </a:xfrm>
          <a:prstGeom prst="rect">
            <a:avLst/>
          </a:prstGeom>
        </p:spPr>
        <p:txBody>
          <a:bodyPr wrap="square">
            <a:spAutoFit/>
          </a:bodyPr>
          <a:lstStyle/>
          <a:p>
            <a:r>
              <a:rPr lang="en-US" sz="2000" dirty="0">
                <a:latin typeface="Verdana" panose="020B0604030504040204" pitchFamily="34" charset="0"/>
                <a:ea typeface="Times New Roman" panose="02020603050405020304" pitchFamily="18" charset="0"/>
                <a:cs typeface="Times New Roman" panose="02020603050405020304" pitchFamily="18" charset="0"/>
              </a:rPr>
              <a:t>Conversion tables are a useful tool for converting one measurement system to another. </a:t>
            </a:r>
          </a:p>
        </p:txBody>
      </p:sp>
    </p:spTree>
    <p:extLst>
      <p:ext uri="{BB962C8B-B14F-4D97-AF65-F5344CB8AC3E}">
        <p14:creationId xmlns:p14="http://schemas.microsoft.com/office/powerpoint/2010/main" val="13640290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035036"/>
          </a:solidFill>
          <a:ln w="9525" cap="flat" cmpd="sng">
            <a:solidFill>
              <a:srgbClr val="035036"/>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64432" y="6129037"/>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518563"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Practice</a:t>
            </a:r>
            <a:endParaRPr sz="5100" b="1" dirty="0">
              <a:solidFill>
                <a:srgbClr val="54B5D1"/>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id="{33005AFD-D615-1344-BDC0-5A40F6454816}"/>
              </a:ext>
            </a:extLst>
          </p:cNvPr>
          <p:cNvSpPr txBox="1"/>
          <p:nvPr/>
        </p:nvSpPr>
        <p:spPr>
          <a:xfrm>
            <a:off x="7314750" y="6509657"/>
            <a:ext cx="4249682"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248</a:t>
            </a:r>
            <a:endParaRPr i="1" dirty="0">
              <a:latin typeface="Calibri"/>
              <a:ea typeface="Calibri"/>
              <a:cs typeface="Calibri"/>
              <a:sym typeface="Calibri"/>
            </a:endParaRPr>
          </a:p>
        </p:txBody>
      </p:sp>
      <p:pic>
        <p:nvPicPr>
          <p:cNvPr id="4097" name="Picture 2" descr="Icon&#10;&#10;Description automatically generated">
            <a:extLst>
              <a:ext uri="{FF2B5EF4-FFF2-40B4-BE49-F238E27FC236}">
                <a16:creationId xmlns:a16="http://schemas.microsoft.com/office/drawing/2014/main" id="{57B8D6DC-D881-2C41-9A88-1C0C405A67E4}"/>
              </a:ext>
            </a:extLst>
          </p:cNvPr>
          <p:cNvPicPr>
            <a:picLocks noChangeAspect="1" noChangeArrowheads="1"/>
          </p:cNvPicPr>
          <p:nvPr/>
        </p:nvPicPr>
        <p:blipFill>
          <a:blip r:embed="rId4" r:link="rId5" cstate="screen">
            <a:extLst>
              <a:ext uri="{28A0092B-C50C-407E-A947-70E740481C1C}">
                <a14:useLocalDpi xmlns:a14="http://schemas.microsoft.com/office/drawing/2010/main"/>
              </a:ext>
            </a:extLst>
          </a:blip>
          <a:srcRect/>
          <a:stretch>
            <a:fillRect/>
          </a:stretch>
        </p:blipFill>
        <p:spPr bwMode="auto">
          <a:xfrm>
            <a:off x="4706748" y="2852772"/>
            <a:ext cx="1152447" cy="1152447"/>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612401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035036"/>
          </a:solidFill>
          <a:ln w="9525" cap="flat" cmpd="sng">
            <a:solidFill>
              <a:srgbClr val="03503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32207" y="6129037"/>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182873" y="-100548"/>
            <a:ext cx="10813184"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54B5D1"/>
                </a:solidFill>
                <a:latin typeface="Verdana"/>
                <a:ea typeface="Verdana"/>
                <a:cs typeface="Verdana"/>
                <a:sym typeface="Verdana"/>
              </a:rPr>
              <a:t>6.3.4 Guided Practice: Using Conversion Tables</a:t>
            </a:r>
          </a:p>
        </p:txBody>
      </p:sp>
      <p:sp>
        <p:nvSpPr>
          <p:cNvPr id="2" name="Rectangle 1">
            <a:extLst>
              <a:ext uri="{FF2B5EF4-FFF2-40B4-BE49-F238E27FC236}">
                <a16:creationId xmlns:a16="http://schemas.microsoft.com/office/drawing/2014/main" id="{C0EEC4E3-DFCF-C94C-B80D-045F3E6BF764}"/>
              </a:ext>
            </a:extLst>
          </p:cNvPr>
          <p:cNvSpPr/>
          <p:nvPr/>
        </p:nvSpPr>
        <p:spPr>
          <a:xfrm>
            <a:off x="724395" y="1298913"/>
            <a:ext cx="9645025" cy="707886"/>
          </a:xfrm>
          <a:prstGeom prst="rect">
            <a:avLst/>
          </a:prstGeom>
        </p:spPr>
        <p:txBody>
          <a:bodyPr wrap="square">
            <a:spAutoFit/>
          </a:bodyPr>
          <a:lstStyle/>
          <a:p>
            <a:r>
              <a:rPr lang="en-US" sz="2000" dirty="0">
                <a:latin typeface="Verdana" panose="020B0604030504040204" pitchFamily="34" charset="0"/>
                <a:ea typeface="Times New Roman" panose="02020603050405020304" pitchFamily="18" charset="0"/>
                <a:cs typeface="Times New Roman" panose="02020603050405020304" pitchFamily="18" charset="0"/>
              </a:rPr>
              <a:t>The tables below show the conversion rates for common units of length in the US Customary and Metric systems.</a:t>
            </a:r>
          </a:p>
        </p:txBody>
      </p:sp>
      <p:sp>
        <p:nvSpPr>
          <p:cNvPr id="16" name="Google Shape;282;g104476d1465_1_17">
            <a:extLst>
              <a:ext uri="{FF2B5EF4-FFF2-40B4-BE49-F238E27FC236}">
                <a16:creationId xmlns:a16="http://schemas.microsoft.com/office/drawing/2014/main" id="{4E354D11-4333-5B4D-A7B5-313F4353BB7E}"/>
              </a:ext>
            </a:extLst>
          </p:cNvPr>
          <p:cNvSpPr txBox="1"/>
          <p:nvPr/>
        </p:nvSpPr>
        <p:spPr>
          <a:xfrm>
            <a:off x="7314749" y="6457675"/>
            <a:ext cx="4117457"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248</a:t>
            </a:r>
            <a:endParaRPr i="1" dirty="0">
              <a:latin typeface="Calibri"/>
              <a:ea typeface="Calibri"/>
              <a:cs typeface="Calibri"/>
              <a:sym typeface="Calibri"/>
            </a:endParaRPr>
          </a:p>
        </p:txBody>
      </p:sp>
      <p:pic>
        <p:nvPicPr>
          <p:cNvPr id="5121" name="Picture 2" descr="Icon&#10;&#10;Description automatically generated">
            <a:extLst>
              <a:ext uri="{FF2B5EF4-FFF2-40B4-BE49-F238E27FC236}">
                <a16:creationId xmlns:a16="http://schemas.microsoft.com/office/drawing/2014/main" id="{3E36ED94-08F2-0046-8C79-70041F8D7BF2}"/>
              </a:ext>
            </a:extLst>
          </p:cNvPr>
          <p:cNvPicPr>
            <a:picLocks noChangeAspect="1" noChangeArrowheads="1"/>
          </p:cNvPicPr>
          <p:nvPr/>
        </p:nvPicPr>
        <p:blipFill>
          <a:blip r:embed="rId4" r:link="rId5" cstate="screen">
            <a:extLst>
              <a:ext uri="{28A0092B-C50C-407E-A947-70E740481C1C}">
                <a14:useLocalDpi xmlns:a14="http://schemas.microsoft.com/office/drawing/2010/main"/>
              </a:ext>
            </a:extLst>
          </a:blip>
          <a:srcRect/>
          <a:stretch>
            <a:fillRect/>
          </a:stretch>
        </p:blipFill>
        <p:spPr bwMode="auto">
          <a:xfrm>
            <a:off x="433065" y="102691"/>
            <a:ext cx="749808" cy="749808"/>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descr="Table&#10;&#10;Description automatically generated">
            <a:extLst>
              <a:ext uri="{FF2B5EF4-FFF2-40B4-BE49-F238E27FC236}">
                <a16:creationId xmlns:a16="http://schemas.microsoft.com/office/drawing/2014/main" id="{85DA64E0-B9E1-E740-B82F-2EA91A3C9FA6}"/>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2084833" y="2635135"/>
            <a:ext cx="6407290" cy="3032700"/>
          </a:xfrm>
          <a:prstGeom prst="rect">
            <a:avLst/>
          </a:prstGeom>
        </p:spPr>
      </p:pic>
    </p:spTree>
    <p:extLst>
      <p:ext uri="{BB962C8B-B14F-4D97-AF65-F5344CB8AC3E}">
        <p14:creationId xmlns:p14="http://schemas.microsoft.com/office/powerpoint/2010/main" val="40661117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3650"/>
            <a:ext cx="223200" cy="6866100"/>
          </a:xfrm>
          <a:prstGeom prst="rect">
            <a:avLst/>
          </a:prstGeom>
          <a:solidFill>
            <a:srgbClr val="035036"/>
          </a:solidFill>
          <a:ln w="9525" cap="flat" cmpd="sng">
            <a:solidFill>
              <a:srgbClr val="03503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79004" y="6129037"/>
            <a:ext cx="563850" cy="657276"/>
          </a:xfrm>
          <a:prstGeom prst="rect">
            <a:avLst/>
          </a:prstGeom>
          <a:noFill/>
          <a:ln>
            <a:noFill/>
          </a:ln>
          <a:effectLst>
            <a:outerShdw blurRad="57150" dist="19050" dir="5400000" algn="bl" rotWithShape="0">
              <a:srgbClr val="000000">
                <a:alpha val="50000"/>
              </a:srgbClr>
            </a:outerShdw>
          </a:effectLst>
        </p:spPr>
      </p:pic>
      <p:grpSp>
        <p:nvGrpSpPr>
          <p:cNvPr id="6" name="Group 5">
            <a:extLst>
              <a:ext uri="{FF2B5EF4-FFF2-40B4-BE49-F238E27FC236}">
                <a16:creationId xmlns:a16="http://schemas.microsoft.com/office/drawing/2014/main" id="{BB50F0A2-AA71-F744-8A32-914ADD8F78F3}"/>
              </a:ext>
            </a:extLst>
          </p:cNvPr>
          <p:cNvGrpSpPr/>
          <p:nvPr/>
        </p:nvGrpSpPr>
        <p:grpSpPr>
          <a:xfrm>
            <a:off x="2558100" y="2622400"/>
            <a:ext cx="7662765" cy="1717351"/>
            <a:chOff x="2031300" y="3373600"/>
            <a:chExt cx="6629400" cy="812800"/>
          </a:xfrm>
        </p:grpSpPr>
        <p:sp>
          <p:nvSpPr>
            <p:cNvPr id="7" name="Rectangle 6">
              <a:extLst>
                <a:ext uri="{FF2B5EF4-FFF2-40B4-BE49-F238E27FC236}">
                  <a16:creationId xmlns:a16="http://schemas.microsoft.com/office/drawing/2014/main" id="{3A97EBD9-7A07-BD48-A87B-42FC0C60B5F6}"/>
                </a:ext>
              </a:extLst>
            </p:cNvPr>
            <p:cNvSpPr/>
            <p:nvPr/>
          </p:nvSpPr>
          <p:spPr>
            <a:xfrm>
              <a:off x="2031300" y="3373600"/>
              <a:ext cx="6629400" cy="812800"/>
            </a:xfrm>
            <a:prstGeom prst="rect">
              <a:avLst/>
            </a:prstGeom>
            <a:noFill/>
            <a:ln>
              <a:noFill/>
            </a:ln>
          </p:spPr>
          <p:txBody>
            <a:bodyPr spcFirstLastPara="1" wrap="square" lIns="91425" tIns="91425" rIns="91425" bIns="91425" anchor="ctr" anchorCtr="0">
              <a:noAutofit/>
            </a:bodyPr>
            <a:lstStyle/>
            <a:p>
              <a:r>
                <a:rPr lang="en-US" sz="2400">
                  <a:latin typeface="Verdana" panose="020B0604030504040204" pitchFamily="34" charset="0"/>
                  <a:ea typeface="Verdana" panose="020B0604030504040204" pitchFamily="34" charset="0"/>
                  <a:cs typeface="Verdana" panose="020B0604030504040204" pitchFamily="34" charset="0"/>
                </a:rPr>
                <a:t> </a:t>
              </a:r>
            </a:p>
          </p:txBody>
        </p:sp>
        <p:sp>
          <p:nvSpPr>
            <p:cNvPr id="9" name="Rectangle 8">
              <a:extLst>
                <a:ext uri="{FF2B5EF4-FFF2-40B4-BE49-F238E27FC236}">
                  <a16:creationId xmlns:a16="http://schemas.microsoft.com/office/drawing/2014/main" id="{4B00D7E9-D011-6F4F-93E3-9B17DFC18634}"/>
                </a:ext>
              </a:extLst>
            </p:cNvPr>
            <p:cNvSpPr/>
            <p:nvPr/>
          </p:nvSpPr>
          <p:spPr>
            <a:xfrm>
              <a:off x="2031300" y="3373600"/>
              <a:ext cx="6629400" cy="812800"/>
            </a:xfrm>
            <a:prstGeom prst="rect">
              <a:avLst/>
            </a:prstGeom>
            <a:noFill/>
            <a:ln>
              <a:noFill/>
            </a:ln>
          </p:spPr>
          <p:txBody>
            <a:bodyPr spcFirstLastPara="1" wrap="square" lIns="91425" tIns="91425" rIns="91425" bIns="91425" anchor="ctr" anchorCtr="0">
              <a:noAutofit/>
            </a:bodyPr>
            <a:lstStyle/>
            <a:p>
              <a:r>
                <a:rPr lang="en-US" sz="2400">
                  <a:latin typeface="Verdana" panose="020B0604030504040204" pitchFamily="34" charset="0"/>
                  <a:ea typeface="Verdana" panose="020B0604030504040204" pitchFamily="34" charset="0"/>
                  <a:cs typeface="Verdana" panose="020B0604030504040204" pitchFamily="34" charset="0"/>
                </a:rPr>
                <a:t> </a:t>
              </a:r>
            </a:p>
          </p:txBody>
        </p:sp>
      </p:grpSp>
      <p:sp>
        <p:nvSpPr>
          <p:cNvPr id="11" name="Google Shape;282;g104476d1465_1_17">
            <a:extLst>
              <a:ext uri="{FF2B5EF4-FFF2-40B4-BE49-F238E27FC236}">
                <a16:creationId xmlns:a16="http://schemas.microsoft.com/office/drawing/2014/main" id="{1D80B3B1-A0AC-4E49-8B8A-BB2777B1A70C}"/>
              </a:ext>
            </a:extLst>
          </p:cNvPr>
          <p:cNvSpPr txBox="1"/>
          <p:nvPr/>
        </p:nvSpPr>
        <p:spPr>
          <a:xfrm>
            <a:off x="8735976"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248</a:t>
            </a:r>
            <a:endParaRPr i="1" dirty="0">
              <a:latin typeface="Calibri"/>
              <a:ea typeface="Calibri"/>
              <a:cs typeface="Calibri"/>
              <a:sym typeface="Calibri"/>
            </a:endParaRPr>
          </a:p>
        </p:txBody>
      </p:sp>
      <p:sp>
        <p:nvSpPr>
          <p:cNvPr id="12" name="Rectangle 11">
            <a:extLst>
              <a:ext uri="{FF2B5EF4-FFF2-40B4-BE49-F238E27FC236}">
                <a16:creationId xmlns:a16="http://schemas.microsoft.com/office/drawing/2014/main" id="{84B30E62-DBC7-A64B-9D39-DD94DF002123}"/>
              </a:ext>
            </a:extLst>
          </p:cNvPr>
          <p:cNvSpPr/>
          <p:nvPr/>
        </p:nvSpPr>
        <p:spPr>
          <a:xfrm>
            <a:off x="736270" y="4121622"/>
            <a:ext cx="9633151" cy="1631216"/>
          </a:xfrm>
          <a:prstGeom prst="rect">
            <a:avLst/>
          </a:prstGeom>
        </p:spPr>
        <p:txBody>
          <a:bodyPr wrap="square">
            <a:spAutoFit/>
          </a:bodyPr>
          <a:lstStyle/>
          <a:p>
            <a:r>
              <a:rPr lang="en-US" sz="2000" dirty="0">
                <a:latin typeface="Verdana" panose="020B0604030504040204" pitchFamily="34" charset="0"/>
                <a:ea typeface="Times New Roman" panose="02020603050405020304" pitchFamily="18" charset="0"/>
                <a:cs typeface="Times New Roman" panose="02020603050405020304" pitchFamily="18" charset="0"/>
              </a:rPr>
              <a:t>Complete the statements below using the information from the conversion tables.</a:t>
            </a:r>
          </a:p>
          <a:p>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To convert feet to centimeters, multiply the number of feet by _______ to find the equivalent number of centimeters.</a:t>
            </a:r>
          </a:p>
        </p:txBody>
      </p:sp>
      <p:pic>
        <p:nvPicPr>
          <p:cNvPr id="3" name="Picture 2" descr="Table&#10;&#10;Description automatically generated">
            <a:extLst>
              <a:ext uri="{FF2B5EF4-FFF2-40B4-BE49-F238E27FC236}">
                <a16:creationId xmlns:a16="http://schemas.microsoft.com/office/drawing/2014/main" id="{A7EDAC18-D452-4448-BADB-23E8F5C64991}"/>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2712966" y="427392"/>
            <a:ext cx="6766069" cy="3202517"/>
          </a:xfrm>
          <a:prstGeom prst="rect">
            <a:avLst/>
          </a:prstGeom>
        </p:spPr>
      </p:pic>
    </p:spTree>
    <p:extLst>
      <p:ext uri="{BB962C8B-B14F-4D97-AF65-F5344CB8AC3E}">
        <p14:creationId xmlns:p14="http://schemas.microsoft.com/office/powerpoint/2010/main" val="21709031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3650"/>
            <a:ext cx="223200" cy="6866100"/>
          </a:xfrm>
          <a:prstGeom prst="rect">
            <a:avLst/>
          </a:prstGeom>
          <a:solidFill>
            <a:srgbClr val="035036"/>
          </a:solidFill>
          <a:ln w="9525" cap="flat" cmpd="sng">
            <a:solidFill>
              <a:srgbClr val="03503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46346" y="6129158"/>
            <a:ext cx="563850" cy="657276"/>
          </a:xfrm>
          <a:prstGeom prst="rect">
            <a:avLst/>
          </a:prstGeom>
          <a:noFill/>
          <a:ln>
            <a:noFill/>
          </a:ln>
          <a:effectLst>
            <a:outerShdw blurRad="57150" dist="19050" dir="5400000" algn="bl" rotWithShape="0">
              <a:srgbClr val="000000">
                <a:alpha val="50000"/>
              </a:srgbClr>
            </a:outerShdw>
          </a:effectLst>
        </p:spPr>
      </p:pic>
      <p:grpSp>
        <p:nvGrpSpPr>
          <p:cNvPr id="6" name="Group 5">
            <a:extLst>
              <a:ext uri="{FF2B5EF4-FFF2-40B4-BE49-F238E27FC236}">
                <a16:creationId xmlns:a16="http://schemas.microsoft.com/office/drawing/2014/main" id="{BB50F0A2-AA71-F744-8A32-914ADD8F78F3}"/>
              </a:ext>
            </a:extLst>
          </p:cNvPr>
          <p:cNvGrpSpPr/>
          <p:nvPr/>
        </p:nvGrpSpPr>
        <p:grpSpPr>
          <a:xfrm>
            <a:off x="2558100" y="2622400"/>
            <a:ext cx="7662765" cy="1717351"/>
            <a:chOff x="2031300" y="3373600"/>
            <a:chExt cx="6629400" cy="812800"/>
          </a:xfrm>
        </p:grpSpPr>
        <p:sp>
          <p:nvSpPr>
            <p:cNvPr id="7" name="Rectangle 6">
              <a:extLst>
                <a:ext uri="{FF2B5EF4-FFF2-40B4-BE49-F238E27FC236}">
                  <a16:creationId xmlns:a16="http://schemas.microsoft.com/office/drawing/2014/main" id="{3A97EBD9-7A07-BD48-A87B-42FC0C60B5F6}"/>
                </a:ext>
              </a:extLst>
            </p:cNvPr>
            <p:cNvSpPr/>
            <p:nvPr/>
          </p:nvSpPr>
          <p:spPr>
            <a:xfrm>
              <a:off x="2031300" y="3373600"/>
              <a:ext cx="6629400" cy="812800"/>
            </a:xfrm>
            <a:prstGeom prst="rect">
              <a:avLst/>
            </a:prstGeom>
            <a:noFill/>
            <a:ln>
              <a:noFill/>
            </a:ln>
          </p:spPr>
          <p:txBody>
            <a:bodyPr spcFirstLastPara="1" wrap="square" lIns="91425" tIns="91425" rIns="91425" bIns="91425" anchor="ctr" anchorCtr="0">
              <a:noAutofit/>
            </a:bodyPr>
            <a:lstStyle/>
            <a:p>
              <a:r>
                <a:rPr lang="en-US" sz="2400">
                  <a:latin typeface="Verdana" panose="020B0604030504040204" pitchFamily="34" charset="0"/>
                  <a:ea typeface="Verdana" panose="020B0604030504040204" pitchFamily="34" charset="0"/>
                  <a:cs typeface="Verdana" panose="020B0604030504040204" pitchFamily="34" charset="0"/>
                </a:rPr>
                <a:t> </a:t>
              </a:r>
            </a:p>
          </p:txBody>
        </p:sp>
        <p:sp>
          <p:nvSpPr>
            <p:cNvPr id="9" name="Rectangle 8">
              <a:extLst>
                <a:ext uri="{FF2B5EF4-FFF2-40B4-BE49-F238E27FC236}">
                  <a16:creationId xmlns:a16="http://schemas.microsoft.com/office/drawing/2014/main" id="{4B00D7E9-D011-6F4F-93E3-9B17DFC18634}"/>
                </a:ext>
              </a:extLst>
            </p:cNvPr>
            <p:cNvSpPr/>
            <p:nvPr/>
          </p:nvSpPr>
          <p:spPr>
            <a:xfrm>
              <a:off x="2031300" y="3373600"/>
              <a:ext cx="6629400" cy="812800"/>
            </a:xfrm>
            <a:prstGeom prst="rect">
              <a:avLst/>
            </a:prstGeom>
            <a:noFill/>
            <a:ln>
              <a:noFill/>
            </a:ln>
          </p:spPr>
          <p:txBody>
            <a:bodyPr spcFirstLastPara="1" wrap="square" lIns="91425" tIns="91425" rIns="91425" bIns="91425" anchor="ctr" anchorCtr="0">
              <a:noAutofit/>
            </a:bodyPr>
            <a:lstStyle/>
            <a:p>
              <a:r>
                <a:rPr lang="en-US" sz="2400">
                  <a:latin typeface="Verdana" panose="020B0604030504040204" pitchFamily="34" charset="0"/>
                  <a:ea typeface="Verdana" panose="020B0604030504040204" pitchFamily="34" charset="0"/>
                  <a:cs typeface="Verdana" panose="020B0604030504040204" pitchFamily="34" charset="0"/>
                </a:rPr>
                <a:t> </a:t>
              </a:r>
            </a:p>
          </p:txBody>
        </p:sp>
      </p:grpSp>
      <p:sp>
        <p:nvSpPr>
          <p:cNvPr id="11" name="Google Shape;282;g104476d1465_1_17">
            <a:extLst>
              <a:ext uri="{FF2B5EF4-FFF2-40B4-BE49-F238E27FC236}">
                <a16:creationId xmlns:a16="http://schemas.microsoft.com/office/drawing/2014/main" id="{1D80B3B1-A0AC-4E49-8B8A-BB2777B1A70C}"/>
              </a:ext>
            </a:extLst>
          </p:cNvPr>
          <p:cNvSpPr txBox="1"/>
          <p:nvPr/>
        </p:nvSpPr>
        <p:spPr>
          <a:xfrm>
            <a:off x="7314749" y="6531429"/>
            <a:ext cx="4131597"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248</a:t>
            </a:r>
            <a:endParaRPr i="1" dirty="0">
              <a:latin typeface="Calibri"/>
              <a:ea typeface="Calibri"/>
              <a:cs typeface="Calibri"/>
              <a:sym typeface="Calibri"/>
            </a:endParaRPr>
          </a:p>
        </p:txBody>
      </p:sp>
      <p:sp>
        <p:nvSpPr>
          <p:cNvPr id="12" name="Rectangle 11">
            <a:extLst>
              <a:ext uri="{FF2B5EF4-FFF2-40B4-BE49-F238E27FC236}">
                <a16:creationId xmlns:a16="http://schemas.microsoft.com/office/drawing/2014/main" id="{84B30E62-DBC7-A64B-9D39-DD94DF002123}"/>
              </a:ext>
            </a:extLst>
          </p:cNvPr>
          <p:cNvSpPr/>
          <p:nvPr/>
        </p:nvSpPr>
        <p:spPr>
          <a:xfrm>
            <a:off x="724395" y="764469"/>
            <a:ext cx="9645026" cy="4524315"/>
          </a:xfrm>
          <a:prstGeom prst="rect">
            <a:avLst/>
          </a:prstGeom>
        </p:spPr>
        <p:txBody>
          <a:bodyPr wrap="square">
            <a:spAutoFit/>
          </a:bodyPr>
          <a:lstStyle/>
          <a:p>
            <a:pPr marL="457200" indent="-457200">
              <a:buFont typeface="+mj-lt"/>
              <a:buAutoNum type="arabicPeriod" startAt="2"/>
            </a:pPr>
            <a:r>
              <a:rPr lang="en-US" sz="2400" dirty="0">
                <a:latin typeface="Verdana" panose="020B0604030504040204" pitchFamily="34" charset="0"/>
                <a:ea typeface="Times New Roman" panose="02020603050405020304" pitchFamily="18" charset="0"/>
                <a:cs typeface="Times New Roman" panose="02020603050405020304" pitchFamily="18" charset="0"/>
              </a:rPr>
              <a:t>To convert centimeters to feet, multiply the number of centimeters by _____ to find the equivalent number of feet.</a:t>
            </a:r>
          </a:p>
          <a:p>
            <a:r>
              <a:rPr lang="en-US" sz="2400" dirty="0">
                <a:latin typeface="Verdana" panose="020B0604030504040204" pitchFamily="34" charset="0"/>
                <a:ea typeface="Times New Roman" panose="02020603050405020304" pitchFamily="18" charset="0"/>
                <a:cs typeface="Times New Roman" panose="02020603050405020304" pitchFamily="18" charset="0"/>
              </a:rPr>
              <a:t> </a:t>
            </a:r>
          </a:p>
          <a:p>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startAt="3"/>
            </a:pPr>
            <a:r>
              <a:rPr lang="en-US" sz="2400" dirty="0">
                <a:latin typeface="Verdana" panose="020B0604030504040204" pitchFamily="34" charset="0"/>
                <a:ea typeface="Times New Roman" panose="02020603050405020304" pitchFamily="18" charset="0"/>
                <a:cs typeface="Times New Roman" panose="02020603050405020304" pitchFamily="18" charset="0"/>
              </a:rPr>
              <a:t>To convert meters to yards, multiply the number of meters by _______ to find the equivalent number of yards.</a:t>
            </a:r>
          </a:p>
          <a:p>
            <a:r>
              <a:rPr lang="en-US" sz="2400" dirty="0">
                <a:latin typeface="Verdana" panose="020B0604030504040204" pitchFamily="34" charset="0"/>
                <a:ea typeface="Times New Roman" panose="02020603050405020304" pitchFamily="18" charset="0"/>
                <a:cs typeface="Times New Roman" panose="02020603050405020304" pitchFamily="18" charset="0"/>
              </a:rPr>
              <a:t> </a:t>
            </a:r>
          </a:p>
          <a:p>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startAt="4"/>
            </a:pPr>
            <a:r>
              <a:rPr lang="en-US" sz="2400" dirty="0">
                <a:latin typeface="Verdana" panose="020B0604030504040204" pitchFamily="34" charset="0"/>
                <a:ea typeface="Times New Roman" panose="02020603050405020304" pitchFamily="18" charset="0"/>
                <a:cs typeface="Times New Roman" panose="02020603050405020304" pitchFamily="18" charset="0"/>
              </a:rPr>
              <a:t>To convert yards to meters, multiply the number of yards by _______ to find the equivalent number of meters.</a:t>
            </a:r>
          </a:p>
        </p:txBody>
      </p:sp>
    </p:spTree>
    <p:extLst>
      <p:ext uri="{BB962C8B-B14F-4D97-AF65-F5344CB8AC3E}">
        <p14:creationId xmlns:p14="http://schemas.microsoft.com/office/powerpoint/2010/main" val="32989984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3650"/>
            <a:ext cx="223200" cy="6866100"/>
          </a:xfrm>
          <a:prstGeom prst="rect">
            <a:avLst/>
          </a:prstGeom>
          <a:solidFill>
            <a:srgbClr val="035036"/>
          </a:solidFill>
          <a:ln w="9525" cap="flat" cmpd="sng">
            <a:solidFill>
              <a:srgbClr val="03503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391918" y="6063306"/>
            <a:ext cx="563850" cy="657276"/>
          </a:xfrm>
          <a:prstGeom prst="rect">
            <a:avLst/>
          </a:prstGeom>
          <a:noFill/>
          <a:ln>
            <a:noFill/>
          </a:ln>
          <a:effectLst>
            <a:outerShdw blurRad="57150" dist="19050" dir="5400000" algn="bl" rotWithShape="0">
              <a:srgbClr val="000000">
                <a:alpha val="50000"/>
              </a:srgbClr>
            </a:outerShdw>
          </a:effectLst>
        </p:spPr>
      </p:pic>
      <p:grpSp>
        <p:nvGrpSpPr>
          <p:cNvPr id="6" name="Group 5">
            <a:extLst>
              <a:ext uri="{FF2B5EF4-FFF2-40B4-BE49-F238E27FC236}">
                <a16:creationId xmlns:a16="http://schemas.microsoft.com/office/drawing/2014/main" id="{BB50F0A2-AA71-F744-8A32-914ADD8F78F3}"/>
              </a:ext>
            </a:extLst>
          </p:cNvPr>
          <p:cNvGrpSpPr/>
          <p:nvPr/>
        </p:nvGrpSpPr>
        <p:grpSpPr>
          <a:xfrm>
            <a:off x="2558100" y="2622400"/>
            <a:ext cx="7662765" cy="1717351"/>
            <a:chOff x="2031300" y="3373600"/>
            <a:chExt cx="6629400" cy="812800"/>
          </a:xfrm>
        </p:grpSpPr>
        <p:sp>
          <p:nvSpPr>
            <p:cNvPr id="7" name="Rectangle 6">
              <a:extLst>
                <a:ext uri="{FF2B5EF4-FFF2-40B4-BE49-F238E27FC236}">
                  <a16:creationId xmlns:a16="http://schemas.microsoft.com/office/drawing/2014/main" id="{3A97EBD9-7A07-BD48-A87B-42FC0C60B5F6}"/>
                </a:ext>
              </a:extLst>
            </p:cNvPr>
            <p:cNvSpPr/>
            <p:nvPr/>
          </p:nvSpPr>
          <p:spPr>
            <a:xfrm>
              <a:off x="2031300" y="3373600"/>
              <a:ext cx="6629400" cy="812800"/>
            </a:xfrm>
            <a:prstGeom prst="rect">
              <a:avLst/>
            </a:prstGeom>
            <a:noFill/>
            <a:ln>
              <a:noFill/>
            </a:ln>
          </p:spPr>
          <p:txBody>
            <a:bodyPr spcFirstLastPara="1" wrap="square" lIns="91425" tIns="91425" rIns="91425" bIns="91425" anchor="ctr" anchorCtr="0">
              <a:noAutofit/>
            </a:bodyPr>
            <a:lstStyle/>
            <a:p>
              <a:r>
                <a:rPr lang="en-US" sz="2400">
                  <a:latin typeface="Verdana" panose="020B0604030504040204" pitchFamily="34" charset="0"/>
                  <a:ea typeface="Verdana" panose="020B0604030504040204" pitchFamily="34" charset="0"/>
                  <a:cs typeface="Verdana" panose="020B0604030504040204" pitchFamily="34" charset="0"/>
                </a:rPr>
                <a:t> </a:t>
              </a:r>
            </a:p>
          </p:txBody>
        </p:sp>
        <p:sp>
          <p:nvSpPr>
            <p:cNvPr id="9" name="Rectangle 8">
              <a:extLst>
                <a:ext uri="{FF2B5EF4-FFF2-40B4-BE49-F238E27FC236}">
                  <a16:creationId xmlns:a16="http://schemas.microsoft.com/office/drawing/2014/main" id="{4B00D7E9-D011-6F4F-93E3-9B17DFC18634}"/>
                </a:ext>
              </a:extLst>
            </p:cNvPr>
            <p:cNvSpPr/>
            <p:nvPr/>
          </p:nvSpPr>
          <p:spPr>
            <a:xfrm>
              <a:off x="2031300" y="3373600"/>
              <a:ext cx="6629400" cy="812800"/>
            </a:xfrm>
            <a:prstGeom prst="rect">
              <a:avLst/>
            </a:prstGeom>
            <a:noFill/>
            <a:ln>
              <a:noFill/>
            </a:ln>
          </p:spPr>
          <p:txBody>
            <a:bodyPr spcFirstLastPara="1" wrap="square" lIns="91425" tIns="91425" rIns="91425" bIns="91425" anchor="ctr" anchorCtr="0">
              <a:noAutofit/>
            </a:bodyPr>
            <a:lstStyle/>
            <a:p>
              <a:r>
                <a:rPr lang="en-US" sz="2400">
                  <a:latin typeface="Verdana" panose="020B0604030504040204" pitchFamily="34" charset="0"/>
                  <a:ea typeface="Verdana" panose="020B0604030504040204" pitchFamily="34" charset="0"/>
                  <a:cs typeface="Verdana" panose="020B0604030504040204" pitchFamily="34" charset="0"/>
                </a:rPr>
                <a:t> </a:t>
              </a:r>
            </a:p>
          </p:txBody>
        </p:sp>
      </p:grpSp>
      <p:sp>
        <p:nvSpPr>
          <p:cNvPr id="11" name="Google Shape;282;g104476d1465_1_17">
            <a:extLst>
              <a:ext uri="{FF2B5EF4-FFF2-40B4-BE49-F238E27FC236}">
                <a16:creationId xmlns:a16="http://schemas.microsoft.com/office/drawing/2014/main" id="{1D80B3B1-A0AC-4E49-8B8A-BB2777B1A70C}"/>
              </a:ext>
            </a:extLst>
          </p:cNvPr>
          <p:cNvSpPr txBox="1"/>
          <p:nvPr/>
        </p:nvSpPr>
        <p:spPr>
          <a:xfrm>
            <a:off x="7314749" y="6520543"/>
            <a:ext cx="4077169"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248</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12" name="Rectangle 11">
                <a:extLst>
                  <a:ext uri="{FF2B5EF4-FFF2-40B4-BE49-F238E27FC236}">
                    <a16:creationId xmlns:a16="http://schemas.microsoft.com/office/drawing/2014/main" id="{84B30E62-DBC7-A64B-9D39-DD94DF002123}"/>
                  </a:ext>
                </a:extLst>
              </p:cNvPr>
              <p:cNvSpPr/>
              <p:nvPr/>
            </p:nvSpPr>
            <p:spPr>
              <a:xfrm>
                <a:off x="724395" y="712216"/>
                <a:ext cx="9645025" cy="4708981"/>
              </a:xfrm>
              <a:prstGeom prst="rect">
                <a:avLst/>
              </a:prstGeom>
            </p:spPr>
            <p:txBody>
              <a:bodyPr wrap="square">
                <a:spAutoFit/>
              </a:bodyPr>
              <a:lstStyle/>
              <a:p>
                <a:pPr marL="457200" indent="-457200">
                  <a:buFont typeface="+mj-lt"/>
                  <a:buAutoNum type="arabicPeriod" startAt="5"/>
                </a:pPr>
                <a:r>
                  <a:rPr lang="en-US" sz="2000" dirty="0">
                    <a:latin typeface="Verdana" panose="020B0604030504040204" pitchFamily="34" charset="0"/>
                    <a:ea typeface="Times New Roman" panose="02020603050405020304" pitchFamily="18" charset="0"/>
                    <a:cs typeface="Times New Roman" panose="02020603050405020304" pitchFamily="18" charset="0"/>
                  </a:rPr>
                  <a:t>Use the conversion rates to convert each measurement length.</a:t>
                </a:r>
              </a:p>
              <a:p>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30</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miles = ______ kilometers </a:t>
                </a:r>
              </a:p>
              <a:p>
                <a:pPr marL="914400" indent="-457200">
                  <a:buFont typeface="+mj-lt"/>
                  <a:buAutoNum type="alphaL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65</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kilometers = ______ miles </a:t>
                </a:r>
              </a:p>
              <a:p>
                <a:pPr marL="914400" indent="-457200">
                  <a:buFont typeface="+mj-lt"/>
                  <a:buAutoNum type="alphaL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10</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inches = ______ millimeters </a:t>
                </a:r>
              </a:p>
              <a:p>
                <a:pPr marL="914400" indent="-457200">
                  <a:buFont typeface="+mj-lt"/>
                  <a:buAutoNum type="alphaL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450</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millimeters = ______ inches</a:t>
                </a:r>
              </a:p>
            </p:txBody>
          </p:sp>
        </mc:Choice>
        <mc:Fallback xmlns="">
          <p:sp>
            <p:nvSpPr>
              <p:cNvPr id="12" name="Rectangle 11">
                <a:extLst>
                  <a:ext uri="{FF2B5EF4-FFF2-40B4-BE49-F238E27FC236}">
                    <a16:creationId xmlns:a16="http://schemas.microsoft.com/office/drawing/2014/main" id="{84B30E62-DBC7-A64B-9D39-DD94DF002123}"/>
                  </a:ext>
                </a:extLst>
              </p:cNvPr>
              <p:cNvSpPr>
                <a:spLocks noRot="1" noChangeAspect="1" noMove="1" noResize="1" noEditPoints="1" noAdjustHandles="1" noChangeArrowheads="1" noChangeShapeType="1" noTextEdit="1"/>
              </p:cNvSpPr>
              <p:nvPr/>
            </p:nvSpPr>
            <p:spPr>
              <a:xfrm>
                <a:off x="724395" y="712216"/>
                <a:ext cx="9645025" cy="4708981"/>
              </a:xfrm>
              <a:prstGeom prst="rect">
                <a:avLst/>
              </a:prstGeom>
              <a:blipFill>
                <a:blip r:embed="rId4"/>
                <a:stretch>
                  <a:fillRect l="-695" t="-907" b="-1425"/>
                </a:stretch>
              </a:blipFill>
            </p:spPr>
            <p:txBody>
              <a:bodyPr/>
              <a:lstStyle/>
              <a:p>
                <a:r>
                  <a:rPr lang="en-US">
                    <a:noFill/>
                  </a:rPr>
                  <a:t> </a:t>
                </a:r>
              </a:p>
            </p:txBody>
          </p:sp>
        </mc:Fallback>
      </mc:AlternateContent>
    </p:spTree>
    <p:extLst>
      <p:ext uri="{BB962C8B-B14F-4D97-AF65-F5344CB8AC3E}">
        <p14:creationId xmlns:p14="http://schemas.microsoft.com/office/powerpoint/2010/main" val="3651028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5"/>
            <a:ext cx="2731200" cy="6866100"/>
          </a:xfrm>
          <a:prstGeom prst="rect">
            <a:avLst/>
          </a:prstGeom>
          <a:solidFill>
            <a:srgbClr val="035036"/>
          </a:solidFill>
          <a:ln w="9525" cap="flat" cmpd="sng">
            <a:solidFill>
              <a:srgbClr val="035036"/>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11662" y="6129037"/>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859194" y="2766145"/>
            <a:ext cx="4480750" cy="1325700"/>
          </a:xfrm>
          <a:prstGeom prst="rect">
            <a:avLst/>
          </a:prstGeom>
          <a:noFill/>
          <a:ln>
            <a:noFill/>
          </a:ln>
        </p:spPr>
        <p:txBody>
          <a:bodyPr spcFirstLastPara="1" wrap="square" lIns="91425" tIns="45700" rIns="91425" bIns="45700" anchor="ctr" anchorCtr="0">
            <a:noAutofit/>
          </a:bodyPr>
          <a:lstStyle/>
          <a:p>
            <a:pPr algn="ctr">
              <a:buClr>
                <a:schemeClr val="lt1"/>
              </a:buClr>
              <a:buSzPts val="4800"/>
            </a:pPr>
            <a:r>
              <a:rPr lang="en-US" sz="4400" b="1" dirty="0">
                <a:solidFill>
                  <a:srgbClr val="45BFA9"/>
                </a:solidFill>
                <a:latin typeface="Verdana"/>
                <a:ea typeface="Verdana"/>
                <a:cs typeface="Verdana"/>
                <a:sym typeface="Verdana"/>
              </a:rPr>
              <a:t>Collaboration</a:t>
            </a:r>
            <a:endParaRPr sz="4000" b="1" dirty="0">
              <a:solidFill>
                <a:srgbClr val="45BFA9"/>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id="{33005AFD-D615-1344-BDC0-5A40F6454816}"/>
              </a:ext>
            </a:extLst>
          </p:cNvPr>
          <p:cNvSpPr txBox="1"/>
          <p:nvPr/>
        </p:nvSpPr>
        <p:spPr>
          <a:xfrm>
            <a:off x="7314750" y="6487885"/>
            <a:ext cx="4196912"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249</a:t>
            </a:r>
            <a:endParaRPr i="1" dirty="0">
              <a:latin typeface="Calibri"/>
              <a:ea typeface="Calibri"/>
              <a:cs typeface="Calibri"/>
              <a:sym typeface="Calibri"/>
            </a:endParaRPr>
          </a:p>
        </p:txBody>
      </p:sp>
      <p:pic>
        <p:nvPicPr>
          <p:cNvPr id="9" name="image5.png">
            <a:extLst>
              <a:ext uri="{FF2B5EF4-FFF2-40B4-BE49-F238E27FC236}">
                <a16:creationId xmlns:a16="http://schemas.microsoft.com/office/drawing/2014/main" id="{2E1E89A8-D0E7-C648-8036-51C32583B580}"/>
              </a:ext>
            </a:extLst>
          </p:cNvPr>
          <p:cNvPicPr/>
          <p:nvPr/>
        </p:nvPicPr>
        <p:blipFill>
          <a:blip r:embed="rId4" cstate="print">
            <a:extLst>
              <a:ext uri="{28A0092B-C50C-407E-A947-70E740481C1C}">
                <a14:useLocalDpi xmlns:a14="http://schemas.microsoft.com/office/drawing/2010/main"/>
              </a:ext>
            </a:extLst>
          </a:blip>
          <a:stretch>
            <a:fillRect/>
          </a:stretch>
        </p:blipFill>
        <p:spPr>
          <a:xfrm>
            <a:off x="4601700" y="2852778"/>
            <a:ext cx="1152447" cy="1152447"/>
          </a:xfrm>
          <a:prstGeom prst="rect">
            <a:avLst/>
          </a:prstGeom>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5813708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035036"/>
          </a:solidFill>
          <a:ln w="9525" cap="flat" cmpd="sng">
            <a:solidFill>
              <a:srgbClr val="03503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351420" y="6129037"/>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164162" y="-39324"/>
            <a:ext cx="11027838"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45BFA9"/>
                </a:solidFill>
                <a:latin typeface="Verdana"/>
                <a:ea typeface="Verdana"/>
                <a:cs typeface="Verdana"/>
                <a:sym typeface="Verdana"/>
              </a:rPr>
              <a:t>6.3.5 Collaboration: Digging Deeper into Conversion Rates</a:t>
            </a:r>
          </a:p>
        </p:txBody>
      </p:sp>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C0EEC4E3-DFCF-C94C-B80D-045F3E6BF764}"/>
                  </a:ext>
                </a:extLst>
              </p:cNvPr>
              <p:cNvSpPr/>
              <p:nvPr/>
            </p:nvSpPr>
            <p:spPr>
              <a:xfrm>
                <a:off x="724395" y="1482319"/>
                <a:ext cx="10908950" cy="3671198"/>
              </a:xfrm>
              <a:prstGeom prst="rect">
                <a:avLst/>
              </a:prstGeom>
            </p:spPr>
            <p:txBody>
              <a:bodyPr wrap="square">
                <a:spAutoFit/>
              </a:bodyPr>
              <a:lstStyle/>
              <a:p>
                <a:r>
                  <a:rPr lang="en-US" sz="2000" dirty="0">
                    <a:latin typeface="Verdana" panose="020B0604030504040204" pitchFamily="34" charset="0"/>
                    <a:ea typeface="Times New Roman" panose="02020603050405020304" pitchFamily="18" charset="0"/>
                    <a:cs typeface="Times New Roman" panose="02020603050405020304" pitchFamily="18" charset="0"/>
                  </a:rPr>
                  <a:t>The calculations below show how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5</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feet (ft) can be converted to centimeters.</a:t>
                </a:r>
              </a:p>
              <a:p>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algn="ctr"/>
                <a14:m>
                  <m:oMath xmlns:m="http://schemas.openxmlformats.org/officeDocument/2006/math">
                    <m:f>
                      <m:fPr>
                        <m:ctrlPr>
                          <a:rPr lang="en-US" sz="2000" i="1" dirty="0">
                            <a:latin typeface="Cambria Math" panose="02040503050406030204" pitchFamily="18" charset="0"/>
                            <a:cs typeface="Times New Roman" panose="02020603050405020304" pitchFamily="18" charset="0"/>
                          </a:rPr>
                        </m:ctrlPr>
                      </m:fPr>
                      <m:num>
                        <m:r>
                          <a:rPr lang="es-ES" sz="2000" i="1" dirty="0">
                            <a:latin typeface="Cambria Math" panose="02040503050406030204" pitchFamily="18" charset="0"/>
                            <a:cs typeface="Times New Roman" panose="02020603050405020304" pitchFamily="18" charset="0"/>
                          </a:rPr>
                          <m:t>5 </m:t>
                        </m:r>
                        <m:r>
                          <a:rPr lang="es-ES" sz="2000" i="1" dirty="0">
                            <a:latin typeface="Cambria Math" panose="02040503050406030204" pitchFamily="18" charset="0"/>
                            <a:cs typeface="Times New Roman" panose="02020603050405020304" pitchFamily="18" charset="0"/>
                          </a:rPr>
                          <m:t>𝑓𝑡</m:t>
                        </m:r>
                      </m:num>
                      <m:den>
                        <m:r>
                          <a:rPr lang="es-ES" sz="2000" i="1" dirty="0">
                            <a:latin typeface="Cambria Math" panose="02040503050406030204" pitchFamily="18" charset="0"/>
                            <a:cs typeface="Times New Roman" panose="02020603050405020304" pitchFamily="18" charset="0"/>
                          </a:rPr>
                          <m:t>1</m:t>
                        </m:r>
                      </m:den>
                    </m:f>
                    <m:r>
                      <a:rPr lang="en-US" sz="2000" i="1" dirty="0">
                        <a:latin typeface="Cambria Math" panose="02040503050406030204" pitchFamily="18" charset="0"/>
                        <a:ea typeface="Times New Roman" panose="02020603050405020304" pitchFamily="18" charset="0"/>
                        <a:cs typeface="Times New Roman" panose="02020603050405020304" pitchFamily="18" charset="0"/>
                      </a:rPr>
                      <m:t>  ×  </m:t>
                    </m:r>
                    <m:f>
                      <m:fPr>
                        <m:ctrlPr>
                          <a:rPr lang="en-US" sz="2000" i="1" dirty="0">
                            <a:latin typeface="Cambria Math" panose="02040503050406030204" pitchFamily="18" charset="0"/>
                            <a:cs typeface="Times New Roman" panose="02020603050405020304" pitchFamily="18" charset="0"/>
                          </a:rPr>
                        </m:ctrlPr>
                      </m:fPr>
                      <m:num>
                        <m:r>
                          <a:rPr lang="es-ES" sz="2000" i="1" dirty="0">
                            <a:latin typeface="Cambria Math" panose="02040503050406030204" pitchFamily="18" charset="0"/>
                            <a:cs typeface="Times New Roman" panose="02020603050405020304" pitchFamily="18" charset="0"/>
                          </a:rPr>
                          <m:t>30.48 </m:t>
                        </m:r>
                        <m:r>
                          <a:rPr lang="es-ES" sz="2000" i="1" dirty="0">
                            <a:latin typeface="Cambria Math" panose="02040503050406030204" pitchFamily="18" charset="0"/>
                            <a:cs typeface="Times New Roman" panose="02020603050405020304" pitchFamily="18" charset="0"/>
                          </a:rPr>
                          <m:t>𝑐𝑚</m:t>
                        </m:r>
                      </m:num>
                      <m:den>
                        <m:r>
                          <a:rPr lang="es-ES" sz="2000" i="1" dirty="0">
                            <a:latin typeface="Cambria Math" panose="02040503050406030204" pitchFamily="18" charset="0"/>
                            <a:cs typeface="Times New Roman" panose="02020603050405020304" pitchFamily="18" charset="0"/>
                          </a:rPr>
                          <m:t>1 </m:t>
                        </m:r>
                        <m:r>
                          <a:rPr lang="es-ES" sz="2000" i="1" dirty="0">
                            <a:latin typeface="Cambria Math" panose="02040503050406030204" pitchFamily="18" charset="0"/>
                            <a:cs typeface="Times New Roman" panose="02020603050405020304" pitchFamily="18" charset="0"/>
                          </a:rPr>
                          <m:t>𝑓𝑡</m:t>
                        </m:r>
                      </m:den>
                    </m:f>
                    <m:r>
                      <a:rPr lang="es-ES" sz="2000" i="1" dirty="0">
                        <a:latin typeface="Cambria Math" panose="02040503050406030204" pitchFamily="18" charset="0"/>
                        <a:cs typeface="Times New Roman" panose="02020603050405020304" pitchFamily="18" charset="0"/>
                      </a:rPr>
                      <m:t> </m:t>
                    </m:r>
                    <m:r>
                      <a:rPr lang="en-US" sz="2000" i="1" dirty="0">
                        <a:latin typeface="Cambria Math" panose="02040503050406030204" pitchFamily="18" charset="0"/>
                        <a:ea typeface="Times New Roman" panose="02020603050405020304" pitchFamily="18" charset="0"/>
                        <a:cs typeface="Times New Roman" panose="02020603050405020304" pitchFamily="18" charset="0"/>
                      </a:rPr>
                      <m:t>= 152.4 </m:t>
                    </m:r>
                    <m:r>
                      <a:rPr lang="en-US" sz="2000" i="1" dirty="0">
                        <a:latin typeface="Cambria Math" panose="02040503050406030204" pitchFamily="18" charset="0"/>
                        <a:ea typeface="Times New Roman" panose="02020603050405020304" pitchFamily="18" charset="0"/>
                        <a:cs typeface="Times New Roman" panose="02020603050405020304" pitchFamily="18" charset="0"/>
                      </a:rPr>
                      <m:t>𝑐𝑚</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a:t>
                </a:r>
              </a:p>
              <a:p>
                <a:r>
                  <a:rPr lang="en-US" sz="2000" dirty="0">
                    <a:latin typeface="Verdana" panose="020B0604030504040204" pitchFamily="34" charset="0"/>
                    <a:ea typeface="Times New Roman" panose="02020603050405020304" pitchFamily="18" charset="0"/>
                    <a:cs typeface="Times New Roman" panose="02020603050405020304" pitchFamily="18" charset="0"/>
                  </a:rPr>
                  <a:t> </a:t>
                </a:r>
              </a:p>
              <a:p>
                <a:r>
                  <a:rPr lang="en-US" sz="2000" dirty="0">
                    <a:latin typeface="Verdana" panose="020B0604030504040204" pitchFamily="34" charset="0"/>
                    <a:ea typeface="Times New Roman" panose="02020603050405020304" pitchFamily="18" charset="0"/>
                    <a:cs typeface="Times New Roman" panose="02020603050405020304" pitchFamily="18" charset="0"/>
                  </a:rPr>
                  <a:t>Koji said the factor </a:t>
                </a:r>
                <a14:m>
                  <m:oMath xmlns:m="http://schemas.openxmlformats.org/officeDocument/2006/math">
                    <m:f>
                      <m:fPr>
                        <m:ctrlPr>
                          <a:rPr lang="en-US" sz="2000" i="1" dirty="0">
                            <a:latin typeface="Cambria Math" panose="02040503050406030204" pitchFamily="18" charset="0"/>
                            <a:cs typeface="Times New Roman" panose="02020603050405020304" pitchFamily="18" charset="0"/>
                          </a:rPr>
                        </m:ctrlPr>
                      </m:fPr>
                      <m:num>
                        <m:r>
                          <a:rPr lang="es-ES" sz="2000" i="1" dirty="0">
                            <a:latin typeface="Cambria Math" panose="02040503050406030204" pitchFamily="18" charset="0"/>
                            <a:cs typeface="Times New Roman" panose="02020603050405020304" pitchFamily="18" charset="0"/>
                          </a:rPr>
                          <m:t>30.48 </m:t>
                        </m:r>
                        <m:r>
                          <a:rPr lang="es-ES" sz="2000" i="1" dirty="0">
                            <a:latin typeface="Cambria Math" panose="02040503050406030204" pitchFamily="18" charset="0"/>
                            <a:cs typeface="Times New Roman" panose="02020603050405020304" pitchFamily="18" charset="0"/>
                          </a:rPr>
                          <m:t>𝑐𝑚</m:t>
                        </m:r>
                      </m:num>
                      <m:den>
                        <m:r>
                          <a:rPr lang="es-ES" sz="2000" i="1" dirty="0">
                            <a:latin typeface="Cambria Math" panose="02040503050406030204" pitchFamily="18" charset="0"/>
                            <a:cs typeface="Times New Roman" panose="02020603050405020304" pitchFamily="18" charset="0"/>
                          </a:rPr>
                          <m:t>1 </m:t>
                        </m:r>
                        <m:r>
                          <a:rPr lang="es-ES" sz="2000" i="1" dirty="0">
                            <a:latin typeface="Cambria Math" panose="02040503050406030204" pitchFamily="18" charset="0"/>
                            <a:cs typeface="Times New Roman" panose="02020603050405020304" pitchFamily="18" charset="0"/>
                          </a:rPr>
                          <m:t>𝑓𝑡</m:t>
                        </m:r>
                      </m:den>
                    </m:f>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is equivalent to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1</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because the numerator and denominator are equivalent values.</a:t>
                </a:r>
              </a:p>
              <a:p>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With your partner, discuss what Koji used to say that </a:t>
                </a:r>
                <a14:m>
                  <m:oMath xmlns:m="http://schemas.openxmlformats.org/officeDocument/2006/math">
                    <m:f>
                      <m:fPr>
                        <m:ctrlPr>
                          <a:rPr lang="en-US" sz="2000" i="1" dirty="0">
                            <a:latin typeface="Cambria Math" panose="02040503050406030204" pitchFamily="18" charset="0"/>
                            <a:cs typeface="Times New Roman" panose="02020603050405020304" pitchFamily="18" charset="0"/>
                          </a:rPr>
                        </m:ctrlPr>
                      </m:fPr>
                      <m:num>
                        <m:r>
                          <a:rPr lang="es-ES" sz="2000" i="1" dirty="0">
                            <a:latin typeface="Cambria Math" panose="02040503050406030204" pitchFamily="18" charset="0"/>
                            <a:cs typeface="Times New Roman" panose="02020603050405020304" pitchFamily="18" charset="0"/>
                          </a:rPr>
                          <m:t>30.48 </m:t>
                        </m:r>
                        <m:r>
                          <a:rPr lang="es-ES" sz="2000" i="1" dirty="0">
                            <a:latin typeface="Cambria Math" panose="02040503050406030204" pitchFamily="18" charset="0"/>
                            <a:cs typeface="Times New Roman" panose="02020603050405020304" pitchFamily="18" charset="0"/>
                          </a:rPr>
                          <m:t>𝑐𝑚</m:t>
                        </m:r>
                      </m:num>
                      <m:den>
                        <m:r>
                          <a:rPr lang="es-ES" sz="2000" i="1" dirty="0">
                            <a:latin typeface="Cambria Math" panose="02040503050406030204" pitchFamily="18" charset="0"/>
                            <a:cs typeface="Times New Roman" panose="02020603050405020304" pitchFamily="18" charset="0"/>
                          </a:rPr>
                          <m:t>1 </m:t>
                        </m:r>
                        <m:r>
                          <a:rPr lang="es-ES" sz="2000" i="1" dirty="0">
                            <a:latin typeface="Cambria Math" panose="02040503050406030204" pitchFamily="18" charset="0"/>
                            <a:cs typeface="Times New Roman" panose="02020603050405020304" pitchFamily="18" charset="0"/>
                          </a:rPr>
                          <m:t>𝑓𝑡</m:t>
                        </m:r>
                      </m:den>
                    </m:f>
                    <m:r>
                      <a:rPr lang="es-ES" sz="2000" i="1" dirty="0">
                        <a:latin typeface="Cambria Math" panose="02040503050406030204" pitchFamily="18" charset="0"/>
                        <a:cs typeface="Times New Roman" panose="02020603050405020304" pitchFamily="18" charset="0"/>
                      </a:rPr>
                      <m:t> </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is equivalent to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1</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a:t>
                </a:r>
              </a:p>
              <a:p>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p:txBody>
          </p:sp>
        </mc:Choice>
        <mc:Fallback xmlns="">
          <p:sp>
            <p:nvSpPr>
              <p:cNvPr id="2" name="Rectangle 1">
                <a:extLst>
                  <a:ext uri="{FF2B5EF4-FFF2-40B4-BE49-F238E27FC236}">
                    <a16:creationId xmlns:a16="http://schemas.microsoft.com/office/drawing/2014/main" id="{C0EEC4E3-DFCF-C94C-B80D-045F3E6BF764}"/>
                  </a:ext>
                </a:extLst>
              </p:cNvPr>
              <p:cNvSpPr>
                <a:spLocks noRot="1" noChangeAspect="1" noMove="1" noResize="1" noEditPoints="1" noAdjustHandles="1" noChangeArrowheads="1" noChangeShapeType="1" noTextEdit="1"/>
              </p:cNvSpPr>
              <p:nvPr/>
            </p:nvSpPr>
            <p:spPr>
              <a:xfrm>
                <a:off x="724395" y="1482319"/>
                <a:ext cx="10908950" cy="3671198"/>
              </a:xfrm>
              <a:prstGeom prst="rect">
                <a:avLst/>
              </a:prstGeom>
              <a:blipFill>
                <a:blip r:embed="rId4"/>
                <a:stretch>
                  <a:fillRect l="-615" t="-831"/>
                </a:stretch>
              </a:blipFill>
            </p:spPr>
            <p:txBody>
              <a:bodyPr/>
              <a:lstStyle/>
              <a:p>
                <a:r>
                  <a:rPr lang="en-US">
                    <a:noFill/>
                  </a:rPr>
                  <a:t> </a:t>
                </a:r>
              </a:p>
            </p:txBody>
          </p:sp>
        </mc:Fallback>
      </mc:AlternateContent>
      <p:sp>
        <p:nvSpPr>
          <p:cNvPr id="16" name="Google Shape;282;g104476d1465_1_17">
            <a:extLst>
              <a:ext uri="{FF2B5EF4-FFF2-40B4-BE49-F238E27FC236}">
                <a16:creationId xmlns:a16="http://schemas.microsoft.com/office/drawing/2014/main" id="{4E354D11-4333-5B4D-A7B5-313F4353BB7E}"/>
              </a:ext>
            </a:extLst>
          </p:cNvPr>
          <p:cNvSpPr txBox="1"/>
          <p:nvPr/>
        </p:nvSpPr>
        <p:spPr>
          <a:xfrm>
            <a:off x="7314750" y="6455229"/>
            <a:ext cx="4036670" cy="402646"/>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249</a:t>
            </a:r>
            <a:endParaRPr i="1" dirty="0">
              <a:latin typeface="Calibri"/>
              <a:ea typeface="Calibri"/>
              <a:cs typeface="Calibri"/>
              <a:sym typeface="Calibri"/>
            </a:endParaRPr>
          </a:p>
        </p:txBody>
      </p:sp>
      <p:pic>
        <p:nvPicPr>
          <p:cNvPr id="8" name="image5.png">
            <a:extLst>
              <a:ext uri="{FF2B5EF4-FFF2-40B4-BE49-F238E27FC236}">
                <a16:creationId xmlns:a16="http://schemas.microsoft.com/office/drawing/2014/main" id="{A179F127-9C9B-DE48-9971-FF132544006E}"/>
              </a:ext>
            </a:extLst>
          </p:cNvPr>
          <p:cNvPicPr/>
          <p:nvPr/>
        </p:nvPicPr>
        <p:blipFill>
          <a:blip r:embed="rId5" cstate="screen">
            <a:extLst>
              <a:ext uri="{28A0092B-C50C-407E-A947-70E740481C1C}">
                <a14:useLocalDpi xmlns:a14="http://schemas.microsoft.com/office/drawing/2010/main"/>
              </a:ext>
            </a:extLst>
          </a:blip>
          <a:stretch>
            <a:fillRect/>
          </a:stretch>
        </p:blipFill>
        <p:spPr>
          <a:xfrm>
            <a:off x="414354" y="248622"/>
            <a:ext cx="749808" cy="749808"/>
          </a:xfrm>
          <a:prstGeom prst="rect">
            <a:avLst/>
          </a:prstGeom>
          <a:ln/>
        </p:spPr>
      </p:pic>
    </p:spTree>
    <p:extLst>
      <p:ext uri="{BB962C8B-B14F-4D97-AF65-F5344CB8AC3E}">
        <p14:creationId xmlns:p14="http://schemas.microsoft.com/office/powerpoint/2010/main" val="39981323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11875"/>
            <a:ext cx="223200" cy="6866100"/>
          </a:xfrm>
          <a:prstGeom prst="rect">
            <a:avLst/>
          </a:prstGeom>
          <a:solidFill>
            <a:srgbClr val="035036"/>
          </a:solidFill>
          <a:ln w="9525" cap="flat" cmpd="sng">
            <a:solidFill>
              <a:srgbClr val="03503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35461" y="6129037"/>
            <a:ext cx="563850" cy="657276"/>
          </a:xfrm>
          <a:prstGeom prst="rect">
            <a:avLst/>
          </a:prstGeom>
          <a:noFill/>
          <a:ln>
            <a:noFill/>
          </a:ln>
          <a:effectLst>
            <a:outerShdw blurRad="57150" dist="19050" dir="5400000" algn="bl" rotWithShape="0">
              <a:srgbClr val="000000">
                <a:alpha val="50000"/>
              </a:srgbClr>
            </a:outerShdw>
          </a:effectLst>
        </p:spPr>
      </p:pic>
      <p:grpSp>
        <p:nvGrpSpPr>
          <p:cNvPr id="6" name="Group 5">
            <a:extLst>
              <a:ext uri="{FF2B5EF4-FFF2-40B4-BE49-F238E27FC236}">
                <a16:creationId xmlns:a16="http://schemas.microsoft.com/office/drawing/2014/main" id="{BB50F0A2-AA71-F744-8A32-914ADD8F78F3}"/>
              </a:ext>
            </a:extLst>
          </p:cNvPr>
          <p:cNvGrpSpPr/>
          <p:nvPr/>
        </p:nvGrpSpPr>
        <p:grpSpPr>
          <a:xfrm>
            <a:off x="2558100" y="2622400"/>
            <a:ext cx="7662765" cy="1717351"/>
            <a:chOff x="2031300" y="3373600"/>
            <a:chExt cx="6629400" cy="812800"/>
          </a:xfrm>
        </p:grpSpPr>
        <p:sp>
          <p:nvSpPr>
            <p:cNvPr id="7" name="Rectangle 6">
              <a:extLst>
                <a:ext uri="{FF2B5EF4-FFF2-40B4-BE49-F238E27FC236}">
                  <a16:creationId xmlns:a16="http://schemas.microsoft.com/office/drawing/2014/main" id="{3A97EBD9-7A07-BD48-A87B-42FC0C60B5F6}"/>
                </a:ext>
              </a:extLst>
            </p:cNvPr>
            <p:cNvSpPr/>
            <p:nvPr/>
          </p:nvSpPr>
          <p:spPr>
            <a:xfrm>
              <a:off x="2031300" y="3373600"/>
              <a:ext cx="6629400" cy="812800"/>
            </a:xfrm>
            <a:prstGeom prst="rect">
              <a:avLst/>
            </a:prstGeom>
            <a:noFill/>
            <a:ln>
              <a:noFill/>
            </a:ln>
          </p:spPr>
          <p:txBody>
            <a:bodyPr spcFirstLastPara="1" wrap="square" lIns="91425" tIns="91425" rIns="91425" bIns="91425" anchor="ctr" anchorCtr="0">
              <a:noAutofit/>
            </a:bodyPr>
            <a:lstStyle/>
            <a:p>
              <a:r>
                <a:rPr lang="en-US" sz="2400">
                  <a:latin typeface="Verdana" panose="020B0604030504040204" pitchFamily="34" charset="0"/>
                  <a:ea typeface="Verdana" panose="020B0604030504040204" pitchFamily="34" charset="0"/>
                  <a:cs typeface="Verdana" panose="020B0604030504040204" pitchFamily="34" charset="0"/>
                </a:rPr>
                <a:t> </a:t>
              </a:r>
            </a:p>
          </p:txBody>
        </p:sp>
        <p:sp>
          <p:nvSpPr>
            <p:cNvPr id="9" name="Rectangle 8">
              <a:extLst>
                <a:ext uri="{FF2B5EF4-FFF2-40B4-BE49-F238E27FC236}">
                  <a16:creationId xmlns:a16="http://schemas.microsoft.com/office/drawing/2014/main" id="{4B00D7E9-D011-6F4F-93E3-9B17DFC18634}"/>
                </a:ext>
              </a:extLst>
            </p:cNvPr>
            <p:cNvSpPr/>
            <p:nvPr/>
          </p:nvSpPr>
          <p:spPr>
            <a:xfrm>
              <a:off x="2031300" y="3373600"/>
              <a:ext cx="6629400" cy="812800"/>
            </a:xfrm>
            <a:prstGeom prst="rect">
              <a:avLst/>
            </a:prstGeom>
            <a:noFill/>
            <a:ln>
              <a:noFill/>
            </a:ln>
          </p:spPr>
          <p:txBody>
            <a:bodyPr spcFirstLastPara="1" wrap="square" lIns="91425" tIns="91425" rIns="91425" bIns="91425" anchor="ctr" anchorCtr="0">
              <a:noAutofit/>
            </a:bodyPr>
            <a:lstStyle/>
            <a:p>
              <a:r>
                <a:rPr lang="en-US" sz="2400">
                  <a:latin typeface="Verdana" panose="020B0604030504040204" pitchFamily="34" charset="0"/>
                  <a:ea typeface="Verdana" panose="020B0604030504040204" pitchFamily="34" charset="0"/>
                  <a:cs typeface="Verdana" panose="020B0604030504040204" pitchFamily="34" charset="0"/>
                </a:rPr>
                <a:t> </a:t>
              </a:r>
            </a:p>
          </p:txBody>
        </p:sp>
      </p:grpSp>
      <p:sp>
        <p:nvSpPr>
          <p:cNvPr id="11" name="Google Shape;282;g104476d1465_1_17">
            <a:extLst>
              <a:ext uri="{FF2B5EF4-FFF2-40B4-BE49-F238E27FC236}">
                <a16:creationId xmlns:a16="http://schemas.microsoft.com/office/drawing/2014/main" id="{1D80B3B1-A0AC-4E49-8B8A-BB2777B1A70C}"/>
              </a:ext>
            </a:extLst>
          </p:cNvPr>
          <p:cNvSpPr txBox="1"/>
          <p:nvPr/>
        </p:nvSpPr>
        <p:spPr>
          <a:xfrm>
            <a:off x="7314749" y="6509657"/>
            <a:ext cx="4120711"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249</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12" name="Rectangle 11">
                <a:extLst>
                  <a:ext uri="{FF2B5EF4-FFF2-40B4-BE49-F238E27FC236}">
                    <a16:creationId xmlns:a16="http://schemas.microsoft.com/office/drawing/2014/main" id="{84B30E62-DBC7-A64B-9D39-DD94DF002123}"/>
                  </a:ext>
                </a:extLst>
              </p:cNvPr>
              <p:cNvSpPr/>
              <p:nvPr/>
            </p:nvSpPr>
            <p:spPr>
              <a:xfrm>
                <a:off x="736271" y="795755"/>
                <a:ext cx="9970608" cy="3785652"/>
              </a:xfrm>
              <a:prstGeom prst="rect">
                <a:avLst/>
              </a:prstGeom>
            </p:spPr>
            <p:txBody>
              <a:bodyPr wrap="square">
                <a:spAutoFit/>
              </a:bodyPr>
              <a:lstStyle/>
              <a:p>
                <a:pPr marL="457200" indent="-457200">
                  <a:buFont typeface="+mj-lt"/>
                  <a:buAutoNum type="arabicPeriod" startAt="2"/>
                </a:pPr>
                <a:r>
                  <a:rPr lang="en-US" sz="2000" dirty="0">
                    <a:latin typeface="Verdana" panose="020B0604030504040204" pitchFamily="34" charset="0"/>
                    <a:ea typeface="Times New Roman" panose="02020603050405020304" pitchFamily="18" charset="0"/>
                    <a:cs typeface="Times New Roman" panose="02020603050405020304" pitchFamily="18" charset="0"/>
                  </a:rPr>
                  <a:t>Explain how this shows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5</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ft is equal to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152.4</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cm.</a:t>
                </a:r>
              </a:p>
              <a:p>
                <a:pPr marL="457200" indent="-457200">
                  <a:buFont typeface="+mj-lt"/>
                  <a:buAutoNum type="arabicPeriod" startAt="2"/>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startAt="2"/>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startAt="2"/>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startAt="2"/>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startAt="2"/>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startAt="2"/>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startAt="2"/>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startAt="2"/>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startAt="2"/>
                </a:pPr>
                <a:r>
                  <a:rPr lang="en-US" sz="2000" dirty="0">
                    <a:latin typeface="Verdana" panose="020B0604030504040204" pitchFamily="34" charset="0"/>
                    <a:ea typeface="Times New Roman" panose="02020603050405020304" pitchFamily="18" charset="0"/>
                    <a:cs typeface="Times New Roman" panose="02020603050405020304" pitchFamily="18" charset="0"/>
                  </a:rPr>
                  <a:t>Eva noticed that in the calculation of the conversion, the unit feet (ft) was in the numerator and the denominator. How does this eliminate the units of feet in the calculation?</a:t>
                </a:r>
              </a:p>
            </p:txBody>
          </p:sp>
        </mc:Choice>
        <mc:Fallback xmlns="">
          <p:sp>
            <p:nvSpPr>
              <p:cNvPr id="12" name="Rectangle 11">
                <a:extLst>
                  <a:ext uri="{FF2B5EF4-FFF2-40B4-BE49-F238E27FC236}">
                    <a16:creationId xmlns:a16="http://schemas.microsoft.com/office/drawing/2014/main" id="{84B30E62-DBC7-A64B-9D39-DD94DF002123}"/>
                  </a:ext>
                </a:extLst>
              </p:cNvPr>
              <p:cNvSpPr>
                <a:spLocks noRot="1" noChangeAspect="1" noMove="1" noResize="1" noEditPoints="1" noAdjustHandles="1" noChangeArrowheads="1" noChangeShapeType="1" noTextEdit="1"/>
              </p:cNvSpPr>
              <p:nvPr/>
            </p:nvSpPr>
            <p:spPr>
              <a:xfrm>
                <a:off x="736271" y="795755"/>
                <a:ext cx="9970608" cy="3785652"/>
              </a:xfrm>
              <a:prstGeom prst="rect">
                <a:avLst/>
              </a:prstGeom>
              <a:blipFill>
                <a:blip r:embed="rId4"/>
                <a:stretch>
                  <a:fillRect l="-673" t="-1127" r="-612" b="-1932"/>
                </a:stretch>
              </a:blipFill>
            </p:spPr>
            <p:txBody>
              <a:bodyPr/>
              <a:lstStyle/>
              <a:p>
                <a:r>
                  <a:rPr lang="en-US">
                    <a:noFill/>
                  </a:rPr>
                  <a:t> </a:t>
                </a:r>
              </a:p>
            </p:txBody>
          </p:sp>
        </mc:Fallback>
      </mc:AlternateContent>
    </p:spTree>
    <p:extLst>
      <p:ext uri="{BB962C8B-B14F-4D97-AF65-F5344CB8AC3E}">
        <p14:creationId xmlns:p14="http://schemas.microsoft.com/office/powerpoint/2010/main" val="17360288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389" y="-8225"/>
            <a:ext cx="223200" cy="6866100"/>
          </a:xfrm>
          <a:prstGeom prst="rect">
            <a:avLst/>
          </a:prstGeom>
          <a:solidFill>
            <a:srgbClr val="035036"/>
          </a:solidFill>
          <a:ln w="9525" cap="flat" cmpd="sng">
            <a:solidFill>
              <a:srgbClr val="03503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391919" y="6134581"/>
            <a:ext cx="563850" cy="657276"/>
          </a:xfrm>
          <a:prstGeom prst="rect">
            <a:avLst/>
          </a:prstGeom>
          <a:noFill/>
          <a:ln>
            <a:noFill/>
          </a:ln>
          <a:effectLst>
            <a:outerShdw blurRad="57150" dist="19050" dir="5400000" algn="bl" rotWithShape="0">
              <a:srgbClr val="000000">
                <a:alpha val="50000"/>
              </a:srgbClr>
            </a:outerShdw>
          </a:effectLst>
        </p:spPr>
      </p:pic>
      <p:grpSp>
        <p:nvGrpSpPr>
          <p:cNvPr id="6" name="Group 5">
            <a:extLst>
              <a:ext uri="{FF2B5EF4-FFF2-40B4-BE49-F238E27FC236}">
                <a16:creationId xmlns:a16="http://schemas.microsoft.com/office/drawing/2014/main" id="{BB50F0A2-AA71-F744-8A32-914ADD8F78F3}"/>
              </a:ext>
            </a:extLst>
          </p:cNvPr>
          <p:cNvGrpSpPr/>
          <p:nvPr/>
        </p:nvGrpSpPr>
        <p:grpSpPr>
          <a:xfrm>
            <a:off x="2558100" y="2622400"/>
            <a:ext cx="7662765" cy="1717351"/>
            <a:chOff x="2031300" y="3373600"/>
            <a:chExt cx="6629400" cy="812800"/>
          </a:xfrm>
        </p:grpSpPr>
        <p:sp>
          <p:nvSpPr>
            <p:cNvPr id="7" name="Rectangle 6">
              <a:extLst>
                <a:ext uri="{FF2B5EF4-FFF2-40B4-BE49-F238E27FC236}">
                  <a16:creationId xmlns:a16="http://schemas.microsoft.com/office/drawing/2014/main" id="{3A97EBD9-7A07-BD48-A87B-42FC0C60B5F6}"/>
                </a:ext>
              </a:extLst>
            </p:cNvPr>
            <p:cNvSpPr/>
            <p:nvPr/>
          </p:nvSpPr>
          <p:spPr>
            <a:xfrm>
              <a:off x="2031300" y="3373600"/>
              <a:ext cx="6629400" cy="812800"/>
            </a:xfrm>
            <a:prstGeom prst="rect">
              <a:avLst/>
            </a:prstGeom>
            <a:noFill/>
            <a:ln>
              <a:noFill/>
            </a:ln>
          </p:spPr>
          <p:txBody>
            <a:bodyPr spcFirstLastPara="1" wrap="square" lIns="91425" tIns="91425" rIns="91425" bIns="91425" anchor="ctr" anchorCtr="0">
              <a:noAutofit/>
            </a:bodyPr>
            <a:lstStyle/>
            <a:p>
              <a:r>
                <a:rPr lang="en-US" sz="2400">
                  <a:latin typeface="Verdana" panose="020B0604030504040204" pitchFamily="34" charset="0"/>
                  <a:ea typeface="Verdana" panose="020B0604030504040204" pitchFamily="34" charset="0"/>
                  <a:cs typeface="Verdana" panose="020B0604030504040204" pitchFamily="34" charset="0"/>
                </a:rPr>
                <a:t> </a:t>
              </a:r>
            </a:p>
          </p:txBody>
        </p:sp>
        <p:sp>
          <p:nvSpPr>
            <p:cNvPr id="9" name="Rectangle 8">
              <a:extLst>
                <a:ext uri="{FF2B5EF4-FFF2-40B4-BE49-F238E27FC236}">
                  <a16:creationId xmlns:a16="http://schemas.microsoft.com/office/drawing/2014/main" id="{4B00D7E9-D011-6F4F-93E3-9B17DFC18634}"/>
                </a:ext>
              </a:extLst>
            </p:cNvPr>
            <p:cNvSpPr/>
            <p:nvPr/>
          </p:nvSpPr>
          <p:spPr>
            <a:xfrm>
              <a:off x="2031300" y="3373600"/>
              <a:ext cx="6629400" cy="812800"/>
            </a:xfrm>
            <a:prstGeom prst="rect">
              <a:avLst/>
            </a:prstGeom>
            <a:noFill/>
            <a:ln>
              <a:noFill/>
            </a:ln>
          </p:spPr>
          <p:txBody>
            <a:bodyPr spcFirstLastPara="1" wrap="square" lIns="91425" tIns="91425" rIns="91425" bIns="91425" anchor="ctr" anchorCtr="0">
              <a:noAutofit/>
            </a:bodyPr>
            <a:lstStyle/>
            <a:p>
              <a:r>
                <a:rPr lang="en-US" sz="2400">
                  <a:latin typeface="Verdana" panose="020B0604030504040204" pitchFamily="34" charset="0"/>
                  <a:ea typeface="Verdana" panose="020B0604030504040204" pitchFamily="34" charset="0"/>
                  <a:cs typeface="Verdana" panose="020B0604030504040204" pitchFamily="34" charset="0"/>
                </a:rPr>
                <a:t> </a:t>
              </a:r>
            </a:p>
          </p:txBody>
        </p:sp>
      </p:grpSp>
      <p:sp>
        <p:nvSpPr>
          <p:cNvPr id="11" name="Google Shape;282;g104476d1465_1_17">
            <a:extLst>
              <a:ext uri="{FF2B5EF4-FFF2-40B4-BE49-F238E27FC236}">
                <a16:creationId xmlns:a16="http://schemas.microsoft.com/office/drawing/2014/main" id="{1D80B3B1-A0AC-4E49-8B8A-BB2777B1A70C}"/>
              </a:ext>
            </a:extLst>
          </p:cNvPr>
          <p:cNvSpPr txBox="1"/>
          <p:nvPr/>
        </p:nvSpPr>
        <p:spPr>
          <a:xfrm>
            <a:off x="7314749" y="6457675"/>
            <a:ext cx="4077169" cy="40019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249</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12" name="Rectangle 11">
                <a:extLst>
                  <a:ext uri="{FF2B5EF4-FFF2-40B4-BE49-F238E27FC236}">
                    <a16:creationId xmlns:a16="http://schemas.microsoft.com/office/drawing/2014/main" id="{84B30E62-DBC7-A64B-9D39-DD94DF002123}"/>
                  </a:ext>
                </a:extLst>
              </p:cNvPr>
              <p:cNvSpPr/>
              <p:nvPr/>
            </p:nvSpPr>
            <p:spPr>
              <a:xfrm>
                <a:off x="724395" y="504475"/>
                <a:ext cx="9645026" cy="4401205"/>
              </a:xfrm>
              <a:prstGeom prst="rect">
                <a:avLst/>
              </a:prstGeom>
            </p:spPr>
            <p:txBody>
              <a:bodyPr wrap="square">
                <a:spAutoFit/>
              </a:bodyPr>
              <a:lstStyle/>
              <a:p>
                <a:pPr marL="457200" indent="-457200">
                  <a:buFont typeface="+mj-lt"/>
                  <a:buAutoNum type="arabicPeriod" startAt="4"/>
                </a:pPr>
                <a:r>
                  <a:rPr lang="en-US" sz="2000" dirty="0">
                    <a:latin typeface="Verdana" panose="020B0604030504040204" pitchFamily="34" charset="0"/>
                    <a:ea typeface="Times New Roman" panose="02020603050405020304" pitchFamily="18" charset="0"/>
                    <a:cs typeface="Times New Roman" panose="02020603050405020304" pitchFamily="18" charset="0"/>
                  </a:rPr>
                  <a:t>Complete the statements below.</a:t>
                </a:r>
              </a:p>
              <a:p>
                <a:pPr marL="457200" indent="-457200">
                  <a:buFont typeface="+mj-lt"/>
                  <a:buAutoNum type="arabicPeriod" startAt="4"/>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63550"/>
                <a:r>
                  <a:rPr lang="en-US" sz="2000" dirty="0">
                    <a:latin typeface="Verdana" panose="020B0604030504040204" pitchFamily="34" charset="0"/>
                    <a:ea typeface="Times New Roman" panose="02020603050405020304" pitchFamily="18" charset="0"/>
                    <a:cs typeface="Times New Roman" panose="02020603050405020304" pitchFamily="18" charset="0"/>
                  </a:rPr>
                  <a:t>When multiplying a measurement by a conversion factor, the </a:t>
                </a:r>
              </a:p>
              <a:p>
                <a:pPr marL="463550"/>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63550"/>
                <a:r>
                  <a:rPr lang="en-US" sz="2000" dirty="0">
                    <a:latin typeface="Verdana" panose="020B0604030504040204" pitchFamily="34" charset="0"/>
                    <a:ea typeface="Times New Roman" panose="02020603050405020304" pitchFamily="18" charset="0"/>
                    <a:cs typeface="Times New Roman" panose="02020603050405020304" pitchFamily="18" charset="0"/>
                  </a:rPr>
                  <a:t>value of the measurement                   change because the </a:t>
                </a:r>
              </a:p>
              <a:p>
                <a:pPr marL="463550"/>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63550"/>
                <a:r>
                  <a:rPr lang="en-US" sz="2000" dirty="0">
                    <a:latin typeface="Verdana" panose="020B0604030504040204" pitchFamily="34" charset="0"/>
                    <a:ea typeface="Times New Roman" panose="02020603050405020304" pitchFamily="18" charset="0"/>
                    <a:cs typeface="Times New Roman" panose="02020603050405020304" pitchFamily="18" charset="0"/>
                  </a:rPr>
                  <a:t>conversion factor is equivalent to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1</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The units                 </a:t>
                </a:r>
              </a:p>
              <a:p>
                <a:pPr marL="463550"/>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63550"/>
                <a:r>
                  <a:rPr lang="en-US" sz="2000" dirty="0">
                    <a:latin typeface="Verdana" panose="020B0604030504040204" pitchFamily="34" charset="0"/>
                    <a:ea typeface="Times New Roman" panose="02020603050405020304" pitchFamily="18" charset="0"/>
                    <a:cs typeface="Times New Roman" panose="02020603050405020304" pitchFamily="18" charset="0"/>
                  </a:rPr>
                  <a:t>change because when the same units appear in the numerator </a:t>
                </a:r>
              </a:p>
              <a:p>
                <a:pPr marL="463550"/>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63550"/>
                <a:r>
                  <a:rPr lang="en-US" sz="2000" dirty="0">
                    <a:latin typeface="Verdana" panose="020B0604030504040204" pitchFamily="34" charset="0"/>
                    <a:ea typeface="Times New Roman" panose="02020603050405020304" pitchFamily="18" charset="0"/>
                    <a:cs typeface="Times New Roman" panose="02020603050405020304" pitchFamily="18" charset="0"/>
                  </a:rPr>
                  <a:t>and denominator, it is similar to having the same value in the </a:t>
                </a:r>
              </a:p>
              <a:p>
                <a:pPr marL="463550"/>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63550"/>
                <a:r>
                  <a:rPr lang="en-US" sz="2000" dirty="0">
                    <a:latin typeface="Verdana" panose="020B0604030504040204" pitchFamily="34" charset="0"/>
                    <a:ea typeface="Times New Roman" panose="02020603050405020304" pitchFamily="18" charset="0"/>
                    <a:cs typeface="Times New Roman" panose="02020603050405020304" pitchFamily="18" charset="0"/>
                  </a:rPr>
                  <a:t>numerator and denominator, so these units become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1</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a:t>
                </a:r>
              </a:p>
              <a:p>
                <a:pPr marL="463550"/>
                <a:r>
                  <a:rPr lang="en-US" sz="2000" dirty="0">
                    <a:latin typeface="Verdana" panose="020B0604030504040204" pitchFamily="34" charset="0"/>
                    <a:ea typeface="Times New Roman" panose="02020603050405020304" pitchFamily="18" charset="0"/>
                    <a:cs typeface="Times New Roman" panose="02020603050405020304" pitchFamily="18" charset="0"/>
                  </a:rPr>
                  <a:t> </a:t>
                </a:r>
              </a:p>
            </p:txBody>
          </p:sp>
        </mc:Choice>
        <mc:Fallback xmlns="">
          <p:sp>
            <p:nvSpPr>
              <p:cNvPr id="12" name="Rectangle 11">
                <a:extLst>
                  <a:ext uri="{FF2B5EF4-FFF2-40B4-BE49-F238E27FC236}">
                    <a16:creationId xmlns:a16="http://schemas.microsoft.com/office/drawing/2014/main" id="{84B30E62-DBC7-A64B-9D39-DD94DF002123}"/>
                  </a:ext>
                </a:extLst>
              </p:cNvPr>
              <p:cNvSpPr>
                <a:spLocks noRot="1" noChangeAspect="1" noMove="1" noResize="1" noEditPoints="1" noAdjustHandles="1" noChangeArrowheads="1" noChangeShapeType="1" noTextEdit="1"/>
              </p:cNvSpPr>
              <p:nvPr/>
            </p:nvSpPr>
            <p:spPr>
              <a:xfrm>
                <a:off x="724395" y="504475"/>
                <a:ext cx="9645026" cy="4401205"/>
              </a:xfrm>
              <a:prstGeom prst="rect">
                <a:avLst/>
              </a:prstGeom>
              <a:blipFill>
                <a:blip r:embed="rId4"/>
                <a:stretch>
                  <a:fillRect l="-695" t="-970"/>
                </a:stretch>
              </a:blipFill>
            </p:spPr>
            <p:txBody>
              <a:bodyPr/>
              <a:lstStyle/>
              <a:p>
                <a:r>
                  <a:rPr lang="en-US">
                    <a:noFill/>
                  </a:rPr>
                  <a:t> </a:t>
                </a:r>
              </a:p>
            </p:txBody>
          </p:sp>
        </mc:Fallback>
      </mc:AlternateContent>
      <p:pic>
        <p:nvPicPr>
          <p:cNvPr id="3" name="Picture 2" descr="A picture containing shape&#10;&#10;Description automatically generated">
            <a:extLst>
              <a:ext uri="{FF2B5EF4-FFF2-40B4-BE49-F238E27FC236}">
                <a16:creationId xmlns:a16="http://schemas.microsoft.com/office/drawing/2014/main" id="{E138D7D7-0594-C144-87ED-539776BE4A59}"/>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4708386" y="1535743"/>
            <a:ext cx="1496501" cy="791050"/>
          </a:xfrm>
          <a:prstGeom prst="rect">
            <a:avLst/>
          </a:prstGeom>
        </p:spPr>
      </p:pic>
      <p:pic>
        <p:nvPicPr>
          <p:cNvPr id="5" name="Picture 4" descr="A picture containing shape&#10;&#10;Description automatically generated">
            <a:extLst>
              <a:ext uri="{FF2B5EF4-FFF2-40B4-BE49-F238E27FC236}">
                <a16:creationId xmlns:a16="http://schemas.microsoft.com/office/drawing/2014/main" id="{0D691212-9D8F-A24B-8249-A2B912D8B3F4}"/>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7216333" y="2151526"/>
            <a:ext cx="1241863" cy="791050"/>
          </a:xfrm>
          <a:prstGeom prst="rect">
            <a:avLst/>
          </a:prstGeom>
        </p:spPr>
      </p:pic>
      <p:grpSp>
        <p:nvGrpSpPr>
          <p:cNvPr id="13" name="Group 12">
            <a:extLst>
              <a:ext uri="{FF2B5EF4-FFF2-40B4-BE49-F238E27FC236}">
                <a16:creationId xmlns:a16="http://schemas.microsoft.com/office/drawing/2014/main" id="{020905D9-990D-6048-B4ED-C653D8A3BB40}"/>
              </a:ext>
            </a:extLst>
          </p:cNvPr>
          <p:cNvGrpSpPr/>
          <p:nvPr/>
        </p:nvGrpSpPr>
        <p:grpSpPr>
          <a:xfrm>
            <a:off x="2781300" y="5201287"/>
            <a:ext cx="6629400" cy="933771"/>
            <a:chOff x="2031300" y="3252629"/>
            <a:chExt cx="6629400" cy="933771"/>
          </a:xfrm>
        </p:grpSpPr>
        <p:grpSp>
          <p:nvGrpSpPr>
            <p:cNvPr id="14" name="Group 13">
              <a:extLst>
                <a:ext uri="{FF2B5EF4-FFF2-40B4-BE49-F238E27FC236}">
                  <a16:creationId xmlns:a16="http://schemas.microsoft.com/office/drawing/2014/main" id="{6EA05D55-A587-E64F-AC88-9F84E435434C}"/>
                </a:ext>
              </a:extLst>
            </p:cNvPr>
            <p:cNvGrpSpPr/>
            <p:nvPr/>
          </p:nvGrpSpPr>
          <p:grpSpPr>
            <a:xfrm>
              <a:off x="2031300" y="3252629"/>
              <a:ext cx="6629400" cy="933771"/>
              <a:chOff x="2031300" y="3252629"/>
              <a:chExt cx="6629400" cy="933771"/>
            </a:xfrm>
          </p:grpSpPr>
          <p:sp>
            <p:nvSpPr>
              <p:cNvPr id="15" name="Rectangle 14">
                <a:extLst>
                  <a:ext uri="{FF2B5EF4-FFF2-40B4-BE49-F238E27FC236}">
                    <a16:creationId xmlns:a16="http://schemas.microsoft.com/office/drawing/2014/main" id="{396F60DA-593D-C94C-ADA6-780DB677FCB8}"/>
                  </a:ext>
                </a:extLst>
              </p:cNvPr>
              <p:cNvSpPr/>
              <p:nvPr/>
            </p:nvSpPr>
            <p:spPr>
              <a:xfrm>
                <a:off x="2031300" y="3373600"/>
                <a:ext cx="6629400" cy="812800"/>
              </a:xfrm>
              <a:prstGeom prst="rect">
                <a:avLst/>
              </a:prstGeom>
              <a:noFill/>
              <a:ln>
                <a:noFill/>
              </a:ln>
            </p:spPr>
            <p:txBody>
              <a:bodyPr spcFirstLastPara="1" wrap="square" lIns="91425" tIns="91425" rIns="91425" bIns="91425" anchor="ctr" anchorCtr="0">
                <a:noAutofit/>
              </a:bodyPr>
              <a:lstStyle/>
              <a:p>
                <a:pPr>
                  <a:lnSpc>
                    <a:spcPct val="107000"/>
                  </a:lnSpc>
                  <a:spcAft>
                    <a:spcPts val="800"/>
                  </a:spcAft>
                </a:pPr>
                <a:r>
                  <a:rPr lang="en-US" sz="1600" i="1">
                    <a:latin typeface="Cambria Math" panose="02040503050406030204" pitchFamily="18" charset="0"/>
                    <a:ea typeface="Cambria Math" panose="02040503050406030204" pitchFamily="18" charset="0"/>
                    <a:cs typeface="Cambria Math" panose="02040503050406030204" pitchFamily="18" charset="0"/>
                  </a:rPr>
                  <a:t> </a:t>
                </a:r>
                <a:endParaRPr lang="en-CO" sz="1600" i="1">
                  <a:latin typeface="Cambria Math" panose="02040503050406030204" pitchFamily="18" charset="0"/>
                  <a:ea typeface="Cambria Math" panose="02040503050406030204" pitchFamily="18" charset="0"/>
                  <a:cs typeface="Cambria Math" panose="02040503050406030204" pitchFamily="18" charset="0"/>
                </a:endParaRPr>
              </a:p>
            </p:txBody>
          </p:sp>
          <p:grpSp>
            <p:nvGrpSpPr>
              <p:cNvPr id="16" name="Group 15">
                <a:extLst>
                  <a:ext uri="{FF2B5EF4-FFF2-40B4-BE49-F238E27FC236}">
                    <a16:creationId xmlns:a16="http://schemas.microsoft.com/office/drawing/2014/main" id="{BC5947FA-B166-2740-982E-FFFAD4CE45C8}"/>
                  </a:ext>
                </a:extLst>
              </p:cNvPr>
              <p:cNvGrpSpPr/>
              <p:nvPr/>
            </p:nvGrpSpPr>
            <p:grpSpPr>
              <a:xfrm>
                <a:off x="2031300" y="3252629"/>
                <a:ext cx="6629400" cy="933771"/>
                <a:chOff x="0" y="-120971"/>
                <a:chExt cx="6629400" cy="933771"/>
              </a:xfrm>
            </p:grpSpPr>
            <p:sp>
              <p:nvSpPr>
                <p:cNvPr id="17" name="Rectangle 16">
                  <a:extLst>
                    <a:ext uri="{FF2B5EF4-FFF2-40B4-BE49-F238E27FC236}">
                      <a16:creationId xmlns:a16="http://schemas.microsoft.com/office/drawing/2014/main" id="{C32CD946-2B13-5240-BA7B-C3541212F543}"/>
                    </a:ext>
                  </a:extLst>
                </p:cNvPr>
                <p:cNvSpPr/>
                <p:nvPr/>
              </p:nvSpPr>
              <p:spPr>
                <a:xfrm>
                  <a:off x="0" y="0"/>
                  <a:ext cx="6629400" cy="812800"/>
                </a:xfrm>
                <a:prstGeom prst="rect">
                  <a:avLst/>
                </a:prstGeom>
                <a:noFill/>
                <a:ln>
                  <a:noFill/>
                </a:ln>
              </p:spPr>
              <p:txBody>
                <a:bodyPr spcFirstLastPara="1" wrap="square" lIns="91425" tIns="91425" rIns="91425" bIns="91425" anchor="ctr" anchorCtr="0">
                  <a:noAutofit/>
                </a:bodyPr>
                <a:lstStyle/>
                <a:p>
                  <a:pPr>
                    <a:lnSpc>
                      <a:spcPct val="107000"/>
                    </a:lnSpc>
                    <a:spcAft>
                      <a:spcPts val="800"/>
                    </a:spcAft>
                  </a:pPr>
                  <a:r>
                    <a:rPr lang="en-US" sz="1600" i="1">
                      <a:latin typeface="Cambria Math" panose="02040503050406030204" pitchFamily="18" charset="0"/>
                      <a:ea typeface="Cambria Math" panose="02040503050406030204" pitchFamily="18" charset="0"/>
                      <a:cs typeface="Cambria Math" panose="02040503050406030204" pitchFamily="18" charset="0"/>
                    </a:rPr>
                    <a:t> </a:t>
                  </a:r>
                  <a:endParaRPr lang="en-CO" sz="1600" i="1">
                    <a:latin typeface="Cambria Math" panose="02040503050406030204" pitchFamily="18" charset="0"/>
                    <a:ea typeface="Cambria Math" panose="02040503050406030204" pitchFamily="18" charset="0"/>
                    <a:cs typeface="Cambria Math" panose="02040503050406030204" pitchFamily="18" charset="0"/>
                  </a:endParaRPr>
                </a:p>
              </p:txBody>
            </p:sp>
            <mc:AlternateContent xmlns:mc="http://schemas.openxmlformats.org/markup-compatibility/2006" xmlns:a14="http://schemas.microsoft.com/office/drawing/2010/main">
              <mc:Choice Requires="a14">
                <p:sp>
                  <p:nvSpPr>
                    <p:cNvPr id="18" name="Rounded Rectangle 17">
                      <a:extLst>
                        <a:ext uri="{FF2B5EF4-FFF2-40B4-BE49-F238E27FC236}">
                          <a16:creationId xmlns:a16="http://schemas.microsoft.com/office/drawing/2014/main" id="{D1550B5F-88A6-5E4F-B3FA-A144C1E04FE2}"/>
                        </a:ext>
                      </a:extLst>
                    </p:cNvPr>
                    <p:cNvSpPr/>
                    <p:nvPr/>
                  </p:nvSpPr>
                  <p:spPr>
                    <a:xfrm>
                      <a:off x="0" y="-120971"/>
                      <a:ext cx="6629400" cy="933294"/>
                    </a:xfrm>
                    <a:prstGeom prst="roundRect">
                      <a:avLst>
                        <a:gd name="adj" fmla="val 16667"/>
                      </a:avLst>
                    </a:prstGeom>
                    <a:solidFill>
                      <a:srgbClr val="E2EED5"/>
                    </a:solidFill>
                    <a:ln>
                      <a:noFill/>
                    </a:ln>
                    <a:effectLst>
                      <a:outerShdw blurRad="50800" dist="38100" dir="2700000" algn="tl" rotWithShape="0">
                        <a:prstClr val="black">
                          <a:alpha val="40000"/>
                        </a:prstClr>
                      </a:outerShdw>
                    </a:effectLst>
                  </p:spPr>
                  <p:txBody>
                    <a:bodyPr spcFirstLastPara="1" wrap="square" lIns="91425" tIns="45700" rIns="91425" bIns="45700" anchor="ctr" anchorCtr="0">
                      <a:noAutofit/>
                    </a:bodyPr>
                    <a:lstStyle/>
                    <a:p>
                      <a:pPr algn="ctr">
                        <a:lnSpc>
                          <a:spcPct val="107000"/>
                        </a:lnSpc>
                        <a:spcAft>
                          <a:spcPts val="800"/>
                        </a:spcAft>
                      </a:pPr>
                      <a:r>
                        <a:rPr lang="en-US" sz="1800" b="1" i="1" dirty="0">
                          <a:solidFill>
                            <a:srgbClr val="6C993D"/>
                          </a:solidFill>
                          <a:latin typeface="Verdana" panose="020B0604030504040204" pitchFamily="34" charset="0"/>
                          <a:ea typeface="Verdana" panose="020B0604030504040204" pitchFamily="34" charset="0"/>
                          <a:cs typeface="Verdana" panose="020B0604030504040204" pitchFamily="34" charset="0"/>
                        </a:rPr>
                        <a:t>Multiplicative Identity Property of One</a:t>
                      </a:r>
                      <a:endParaRPr lang="en-CO" sz="1600" i="1" dirty="0">
                        <a:latin typeface="Cambria Math" panose="02040503050406030204" pitchFamily="18" charset="0"/>
                        <a:ea typeface="Cambria Math" panose="02040503050406030204" pitchFamily="18" charset="0"/>
                        <a:cs typeface="Cambria Math" panose="02040503050406030204" pitchFamily="18" charset="0"/>
                      </a:endParaRPr>
                    </a:p>
                    <a:p>
                      <a:pPr algn="ctr">
                        <a:lnSpc>
                          <a:spcPct val="107000"/>
                        </a:lnSpc>
                        <a:spcAft>
                          <a:spcPts val="800"/>
                        </a:spcAft>
                      </a:pPr>
                      <a14:m>
                        <m:oMath xmlns:m="http://schemas.openxmlformats.org/officeDocument/2006/math">
                          <m:r>
                            <a:rPr lang="en-US" sz="1800" i="1">
                              <a:solidFill>
                                <a:srgbClr val="6C993D"/>
                              </a:solidFill>
                              <a:latin typeface="Cambria Math" panose="02040503050406030204" pitchFamily="18" charset="0"/>
                              <a:ea typeface="Cambria Math" panose="02040503050406030204" pitchFamily="18" charset="0"/>
                              <a:cs typeface="Cambria Math" panose="02040503050406030204" pitchFamily="18" charset="0"/>
                            </a:rPr>
                            <m:t>𝑎</m:t>
                          </m:r>
                          <m:r>
                            <a:rPr lang="en-US" sz="1800" i="1">
                              <a:solidFill>
                                <a:srgbClr val="6C993D"/>
                              </a:solidFill>
                              <a:latin typeface="Cambria Math" panose="02040503050406030204" pitchFamily="18" charset="0"/>
                              <a:ea typeface="Cambria Math" panose="02040503050406030204" pitchFamily="18" charset="0"/>
                              <a:cs typeface="Cambria Math" panose="02040503050406030204" pitchFamily="18" charset="0"/>
                            </a:rPr>
                            <m:t>×1=</m:t>
                          </m:r>
                          <m:r>
                            <a:rPr lang="en-US" sz="1800" i="1">
                              <a:solidFill>
                                <a:srgbClr val="6C993D"/>
                              </a:solidFill>
                              <a:latin typeface="Cambria Math" panose="02040503050406030204" pitchFamily="18" charset="0"/>
                              <a:ea typeface="Cambria Math" panose="02040503050406030204" pitchFamily="18" charset="0"/>
                              <a:cs typeface="Cambria Math" panose="02040503050406030204" pitchFamily="18" charset="0"/>
                            </a:rPr>
                            <m:t>𝑎</m:t>
                          </m:r>
                        </m:oMath>
                      </a14:m>
                      <a:r>
                        <a:rPr lang="en-US" sz="1800" dirty="0">
                          <a:solidFill>
                            <a:srgbClr val="6C993D"/>
                          </a:solidFill>
                          <a:latin typeface="Verdana" panose="020B0604030504040204" pitchFamily="34" charset="0"/>
                          <a:ea typeface="Verdana" panose="020B0604030504040204" pitchFamily="34" charset="0"/>
                          <a:cs typeface="Verdana" panose="020B0604030504040204" pitchFamily="34" charset="0"/>
                        </a:rPr>
                        <a:t>  or  </a:t>
                      </a:r>
                      <a14:m>
                        <m:oMath xmlns:m="http://schemas.openxmlformats.org/officeDocument/2006/math">
                          <m:r>
                            <a:rPr lang="en-US" sz="1800" i="1">
                              <a:solidFill>
                                <a:srgbClr val="6C993D"/>
                              </a:solidFill>
                              <a:latin typeface="Cambria Math" panose="02040503050406030204" pitchFamily="18" charset="0"/>
                              <a:ea typeface="Verdana" panose="020B0604030504040204" pitchFamily="34" charset="0"/>
                              <a:cs typeface="Verdana" panose="020B0604030504040204" pitchFamily="34" charset="0"/>
                            </a:rPr>
                            <m:t>1×</m:t>
                          </m:r>
                          <m:r>
                            <a:rPr lang="en-US" sz="1800" i="1">
                              <a:solidFill>
                                <a:srgbClr val="6C993D"/>
                              </a:solidFill>
                              <a:latin typeface="Cambria Math" panose="02040503050406030204" pitchFamily="18" charset="0"/>
                              <a:ea typeface="Verdana" panose="020B0604030504040204" pitchFamily="34" charset="0"/>
                              <a:cs typeface="Verdana" panose="020B0604030504040204" pitchFamily="34" charset="0"/>
                            </a:rPr>
                            <m:t>𝑎</m:t>
                          </m:r>
                          <m:r>
                            <a:rPr lang="en-US" sz="1800" i="1">
                              <a:solidFill>
                                <a:srgbClr val="6C993D"/>
                              </a:solidFill>
                              <a:latin typeface="Cambria Math" panose="02040503050406030204" pitchFamily="18" charset="0"/>
                              <a:ea typeface="Verdana" panose="020B0604030504040204" pitchFamily="34" charset="0"/>
                              <a:cs typeface="Verdana" panose="020B0604030504040204" pitchFamily="34" charset="0"/>
                            </a:rPr>
                            <m:t>=</m:t>
                          </m:r>
                          <m:r>
                            <a:rPr lang="en-US" sz="1800" i="1">
                              <a:solidFill>
                                <a:srgbClr val="6C993D"/>
                              </a:solidFill>
                              <a:latin typeface="Cambria Math" panose="02040503050406030204" pitchFamily="18" charset="0"/>
                              <a:ea typeface="Verdana" panose="020B0604030504040204" pitchFamily="34" charset="0"/>
                              <a:cs typeface="Verdana" panose="020B0604030504040204" pitchFamily="34" charset="0"/>
                            </a:rPr>
                            <m:t>𝑎</m:t>
                          </m:r>
                        </m:oMath>
                      </a14:m>
                      <a:r>
                        <a:rPr lang="en-US" sz="1600" dirty="0">
                          <a:latin typeface="Verdana" panose="020B0604030504040204" pitchFamily="34" charset="0"/>
                          <a:ea typeface="Verdana" panose="020B0604030504040204" pitchFamily="34" charset="0"/>
                          <a:cs typeface="Verdana" panose="020B0604030504040204" pitchFamily="34" charset="0"/>
                        </a:rPr>
                        <a:t> </a:t>
                      </a:r>
                      <a:endParaRPr lang="en-CO" sz="1600" i="1" dirty="0">
                        <a:latin typeface="Cambria Math" panose="02040503050406030204" pitchFamily="18" charset="0"/>
                        <a:ea typeface="Cambria Math" panose="02040503050406030204" pitchFamily="18" charset="0"/>
                        <a:cs typeface="Cambria Math" panose="02040503050406030204" pitchFamily="18" charset="0"/>
                      </a:endParaRPr>
                    </a:p>
                  </p:txBody>
                </p:sp>
              </mc:Choice>
              <mc:Fallback xmlns="">
                <p:sp>
                  <p:nvSpPr>
                    <p:cNvPr id="18" name="Rounded Rectangle 17">
                      <a:extLst>
                        <a:ext uri="{FF2B5EF4-FFF2-40B4-BE49-F238E27FC236}">
                          <a16:creationId xmlns:a16="http://schemas.microsoft.com/office/drawing/2014/main" id="{D1550B5F-88A6-5E4F-B3FA-A144C1E04FE2}"/>
                        </a:ext>
                      </a:extLst>
                    </p:cNvPr>
                    <p:cNvSpPr>
                      <a:spLocks noRot="1" noChangeAspect="1" noMove="1" noResize="1" noEditPoints="1" noAdjustHandles="1" noChangeArrowheads="1" noChangeShapeType="1" noTextEdit="1"/>
                    </p:cNvSpPr>
                    <p:nvPr/>
                  </p:nvSpPr>
                  <p:spPr>
                    <a:xfrm>
                      <a:off x="0" y="-120971"/>
                      <a:ext cx="6629400" cy="933294"/>
                    </a:xfrm>
                    <a:prstGeom prst="roundRect">
                      <a:avLst>
                        <a:gd name="adj" fmla="val 16667"/>
                      </a:avLst>
                    </a:prstGeom>
                    <a:blipFill>
                      <a:blip r:embed="rId7"/>
                      <a:stretch>
                        <a:fillRect/>
                      </a:stretch>
                    </a:blipFill>
                    <a:ln>
                      <a:noFill/>
                    </a:ln>
                    <a:effectLst>
                      <a:outerShdw blurRad="50800" dist="38100" dir="2700000" algn="tl" rotWithShape="0">
                        <a:prstClr val="black">
                          <a:alpha val="40000"/>
                        </a:prstClr>
                      </a:outerShdw>
                    </a:effectLst>
                  </p:spPr>
                  <p:txBody>
                    <a:bodyPr/>
                    <a:lstStyle/>
                    <a:p>
                      <a:r>
                        <a:rPr lang="en-CO">
                          <a:noFill/>
                        </a:rPr>
                        <a:t> </a:t>
                      </a:r>
                    </a:p>
                  </p:txBody>
                </p:sp>
              </mc:Fallback>
            </mc:AlternateContent>
            <p:pic>
              <p:nvPicPr>
                <p:cNvPr id="19" name="Shape 7" descr="Icon&#10;&#10;Description automatically generated">
                  <a:extLst>
                    <a:ext uri="{FF2B5EF4-FFF2-40B4-BE49-F238E27FC236}">
                      <a16:creationId xmlns:a16="http://schemas.microsoft.com/office/drawing/2014/main" id="{B6A88D53-E6C2-E74E-8176-ECD27ABC7D80}"/>
                    </a:ext>
                  </a:extLst>
                </p:cNvPr>
                <p:cNvPicPr preferRelativeResize="0"/>
                <p:nvPr/>
              </p:nvPicPr>
              <p:blipFill rotWithShape="1">
                <a:blip r:embed="rId8" cstate="screen">
                  <a:alphaModFix/>
                  <a:extLst>
                    <a:ext uri="{28A0092B-C50C-407E-A947-70E740481C1C}">
                      <a14:useLocalDpi xmlns:a14="http://schemas.microsoft.com/office/drawing/2010/main"/>
                    </a:ext>
                  </a:extLst>
                </a:blip>
                <a:srcRect/>
                <a:stretch/>
              </p:blipFill>
              <p:spPr>
                <a:xfrm>
                  <a:off x="203859" y="0"/>
                  <a:ext cx="539750" cy="539750"/>
                </a:xfrm>
                <a:prstGeom prst="rect">
                  <a:avLst/>
                </a:prstGeom>
                <a:noFill/>
                <a:ln>
                  <a:noFill/>
                </a:ln>
                <a:effectLst>
                  <a:outerShdw blurRad="50800" dist="38100" dir="2700000" algn="tl" rotWithShape="0">
                    <a:prstClr val="black">
                      <a:alpha val="40000"/>
                    </a:prstClr>
                  </a:outerShdw>
                </a:effectLst>
              </p:spPr>
            </p:pic>
          </p:grpSp>
        </p:grpSp>
      </p:grpSp>
    </p:spTree>
    <p:extLst>
      <p:ext uri="{BB962C8B-B14F-4D97-AF65-F5344CB8AC3E}">
        <p14:creationId xmlns:p14="http://schemas.microsoft.com/office/powerpoint/2010/main" val="11367535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13194"/>
            <a:ext cx="2731200" cy="6866100"/>
          </a:xfrm>
          <a:prstGeom prst="rect">
            <a:avLst/>
          </a:prstGeom>
          <a:solidFill>
            <a:srgbClr val="035036"/>
          </a:solidFill>
          <a:ln w="9525" cap="flat" cmpd="sng">
            <a:solidFill>
              <a:srgbClr val="035036"/>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22548" y="6129037"/>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518563" y="2766145"/>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45BFA9"/>
                </a:solidFill>
                <a:latin typeface="Verdana"/>
                <a:ea typeface="Verdana"/>
                <a:cs typeface="Verdana"/>
                <a:sym typeface="Verdana"/>
              </a:rPr>
              <a:t>Try It</a:t>
            </a:r>
            <a:endParaRPr sz="5100" b="1" dirty="0">
              <a:solidFill>
                <a:srgbClr val="45BFA9"/>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id="{33005AFD-D615-1344-BDC0-5A40F6454816}"/>
              </a:ext>
            </a:extLst>
          </p:cNvPr>
          <p:cNvSpPr txBox="1"/>
          <p:nvPr/>
        </p:nvSpPr>
        <p:spPr>
          <a:xfrm>
            <a:off x="7314750" y="6433457"/>
            <a:ext cx="4207798"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250</a:t>
            </a:r>
            <a:endParaRPr i="1" dirty="0">
              <a:latin typeface="Calibri"/>
              <a:ea typeface="Calibri"/>
              <a:cs typeface="Calibri"/>
              <a:sym typeface="Calibri"/>
            </a:endParaRPr>
          </a:p>
        </p:txBody>
      </p:sp>
      <p:pic>
        <p:nvPicPr>
          <p:cNvPr id="9" name="image2.png">
            <a:extLst>
              <a:ext uri="{FF2B5EF4-FFF2-40B4-BE49-F238E27FC236}">
                <a16:creationId xmlns:a16="http://schemas.microsoft.com/office/drawing/2014/main" id="{8394850E-9686-AA45-AF02-0A40B4D9651A}"/>
              </a:ext>
            </a:extLst>
          </p:cNvPr>
          <p:cNvPicPr/>
          <p:nvPr/>
        </p:nvPicPr>
        <p:blipFill>
          <a:blip r:embed="rId4" cstate="print">
            <a:extLst>
              <a:ext uri="{28A0092B-C50C-407E-A947-70E740481C1C}">
                <a14:useLocalDpi xmlns:a14="http://schemas.microsoft.com/office/drawing/2010/main"/>
              </a:ext>
            </a:extLst>
          </a:blip>
          <a:stretch>
            <a:fillRect/>
          </a:stretch>
        </p:blipFill>
        <p:spPr>
          <a:xfrm>
            <a:off x="4953946" y="2843633"/>
            <a:ext cx="1152447" cy="1152447"/>
          </a:xfrm>
          <a:prstGeom prst="rect">
            <a:avLst/>
          </a:prstGeom>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0184084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035036"/>
          </a:solidFill>
          <a:ln w="9525" cap="flat" cmpd="sng">
            <a:solidFill>
              <a:srgbClr val="03503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326605" y="6200599"/>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371525" y="-131435"/>
            <a:ext cx="10733389"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45BFA9"/>
                </a:solidFill>
                <a:latin typeface="Verdana"/>
                <a:ea typeface="Verdana"/>
                <a:cs typeface="Verdana"/>
                <a:sym typeface="Verdana"/>
              </a:rPr>
              <a:t>6.3.6 Try It: Converting Lengths to Solve Problems</a:t>
            </a:r>
          </a:p>
        </p:txBody>
      </p:sp>
      <p:sp>
        <p:nvSpPr>
          <p:cNvPr id="2" name="Rectangle 1">
            <a:extLst>
              <a:ext uri="{FF2B5EF4-FFF2-40B4-BE49-F238E27FC236}">
                <a16:creationId xmlns:a16="http://schemas.microsoft.com/office/drawing/2014/main" id="{C0EEC4E3-DFCF-C94C-B80D-045F3E6BF764}"/>
              </a:ext>
            </a:extLst>
          </p:cNvPr>
          <p:cNvSpPr/>
          <p:nvPr/>
        </p:nvSpPr>
        <p:spPr>
          <a:xfrm>
            <a:off x="736270" y="1392484"/>
            <a:ext cx="9633151" cy="1015663"/>
          </a:xfrm>
          <a:prstGeom prst="rect">
            <a:avLst/>
          </a:prstGeom>
        </p:spPr>
        <p:txBody>
          <a:bodyPr wrap="square">
            <a:spAutoFit/>
          </a:bodyPr>
          <a:lstStyle/>
          <a:p>
            <a:pPr marL="457200" indent="-457200">
              <a:buFont typeface="+mj-lt"/>
              <a:buAutoNum type="arabi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Raphael measures the height of a plant each week using an inch (in.) ruler. On week 5, he cannot find the inch ruler, so he uses a centimeter (cm) ruler instead. His measurements are shown. </a:t>
            </a:r>
          </a:p>
        </p:txBody>
      </p:sp>
      <p:sp>
        <p:nvSpPr>
          <p:cNvPr id="16" name="Google Shape;282;g104476d1465_1_17">
            <a:extLst>
              <a:ext uri="{FF2B5EF4-FFF2-40B4-BE49-F238E27FC236}">
                <a16:creationId xmlns:a16="http://schemas.microsoft.com/office/drawing/2014/main" id="{4E354D11-4333-5B4D-A7B5-313F4353BB7E}"/>
              </a:ext>
            </a:extLst>
          </p:cNvPr>
          <p:cNvSpPr txBox="1"/>
          <p:nvPr/>
        </p:nvSpPr>
        <p:spPr>
          <a:xfrm>
            <a:off x="7314749" y="6498771"/>
            <a:ext cx="4011855"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250</a:t>
            </a:r>
            <a:endParaRPr i="1" dirty="0">
              <a:latin typeface="Calibri"/>
              <a:ea typeface="Calibri"/>
              <a:cs typeface="Calibri"/>
              <a:sym typeface="Calibri"/>
            </a:endParaRPr>
          </a:p>
        </p:txBody>
      </p:sp>
      <p:pic>
        <p:nvPicPr>
          <p:cNvPr id="8" name="image2.png">
            <a:extLst>
              <a:ext uri="{FF2B5EF4-FFF2-40B4-BE49-F238E27FC236}">
                <a16:creationId xmlns:a16="http://schemas.microsoft.com/office/drawing/2014/main" id="{C4883CB2-566E-2043-B895-D409DE88F8C7}"/>
              </a:ext>
            </a:extLst>
          </p:cNvPr>
          <p:cNvPicPr/>
          <p:nvPr/>
        </p:nvPicPr>
        <p:blipFill>
          <a:blip r:embed="rId4" cstate="screen">
            <a:extLst>
              <a:ext uri="{28A0092B-C50C-407E-A947-70E740481C1C}">
                <a14:useLocalDpi xmlns:a14="http://schemas.microsoft.com/office/drawing/2010/main"/>
              </a:ext>
            </a:extLst>
          </a:blip>
          <a:stretch>
            <a:fillRect/>
          </a:stretch>
        </p:blipFill>
        <p:spPr>
          <a:xfrm>
            <a:off x="621717" y="96160"/>
            <a:ext cx="749808" cy="749808"/>
          </a:xfrm>
          <a:prstGeom prst="rect">
            <a:avLst/>
          </a:prstGeom>
          <a:ln/>
        </p:spPr>
      </p:pic>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361939BE-D31A-EA44-983E-2A96890750F0}"/>
                  </a:ext>
                </a:extLst>
              </p:cNvPr>
              <p:cNvGraphicFramePr>
                <a:graphicFrameLocks noGrp="1"/>
              </p:cNvGraphicFramePr>
              <p:nvPr>
                <p:extLst>
                  <p:ext uri="{D42A27DB-BD31-4B8C-83A1-F6EECF244321}">
                    <p14:modId xmlns:p14="http://schemas.microsoft.com/office/powerpoint/2010/main" val="2421516"/>
                  </p:ext>
                </p:extLst>
              </p:nvPr>
            </p:nvGraphicFramePr>
            <p:xfrm>
              <a:off x="2054308" y="2662159"/>
              <a:ext cx="6800850" cy="1290955"/>
            </p:xfrm>
            <a:graphic>
              <a:graphicData uri="http://schemas.openxmlformats.org/drawingml/2006/table">
                <a:tbl>
                  <a:tblPr firstRow="1" firstCol="1" bandRow="1">
                    <a:tableStyleId>{A91F0D33-8C57-4600-99A7-42BC86742BE1}</a:tableStyleId>
                  </a:tblPr>
                  <a:tblGrid>
                    <a:gridCol w="994410">
                      <a:extLst>
                        <a:ext uri="{9D8B030D-6E8A-4147-A177-3AD203B41FA5}">
                          <a16:colId xmlns:a16="http://schemas.microsoft.com/office/drawing/2014/main" val="1353401682"/>
                        </a:ext>
                      </a:extLst>
                    </a:gridCol>
                    <a:gridCol w="996315">
                      <a:extLst>
                        <a:ext uri="{9D8B030D-6E8A-4147-A177-3AD203B41FA5}">
                          <a16:colId xmlns:a16="http://schemas.microsoft.com/office/drawing/2014/main" val="1719598678"/>
                        </a:ext>
                      </a:extLst>
                    </a:gridCol>
                    <a:gridCol w="996950">
                      <a:extLst>
                        <a:ext uri="{9D8B030D-6E8A-4147-A177-3AD203B41FA5}">
                          <a16:colId xmlns:a16="http://schemas.microsoft.com/office/drawing/2014/main" val="3087633357"/>
                        </a:ext>
                      </a:extLst>
                    </a:gridCol>
                    <a:gridCol w="996315">
                      <a:extLst>
                        <a:ext uri="{9D8B030D-6E8A-4147-A177-3AD203B41FA5}">
                          <a16:colId xmlns:a16="http://schemas.microsoft.com/office/drawing/2014/main" val="768947877"/>
                        </a:ext>
                      </a:extLst>
                    </a:gridCol>
                    <a:gridCol w="914400">
                      <a:extLst>
                        <a:ext uri="{9D8B030D-6E8A-4147-A177-3AD203B41FA5}">
                          <a16:colId xmlns:a16="http://schemas.microsoft.com/office/drawing/2014/main" val="641453551"/>
                        </a:ext>
                      </a:extLst>
                    </a:gridCol>
                    <a:gridCol w="1045210">
                      <a:extLst>
                        <a:ext uri="{9D8B030D-6E8A-4147-A177-3AD203B41FA5}">
                          <a16:colId xmlns:a16="http://schemas.microsoft.com/office/drawing/2014/main" val="110062709"/>
                        </a:ext>
                      </a:extLst>
                    </a:gridCol>
                    <a:gridCol w="857250">
                      <a:extLst>
                        <a:ext uri="{9D8B030D-6E8A-4147-A177-3AD203B41FA5}">
                          <a16:colId xmlns:a16="http://schemas.microsoft.com/office/drawing/2014/main" val="613082982"/>
                        </a:ext>
                      </a:extLst>
                    </a:gridCol>
                  </a:tblGrid>
                  <a:tr h="443865">
                    <a:tc gridSpan="7">
                      <a:txBody>
                        <a:bodyPr/>
                        <a:lstStyle/>
                        <a:p>
                          <a:pPr marL="0" marR="0" algn="ctr">
                            <a:lnSpc>
                              <a:spcPct val="107000"/>
                            </a:lnSpc>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Plant Height</a:t>
                          </a:r>
                          <a:endParaRPr lang="en-CO" sz="16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CO"/>
                        </a:p>
                      </a:txBody>
                      <a:tcPr/>
                    </a:tc>
                    <a:tc hMerge="1">
                      <a:txBody>
                        <a:bodyPr/>
                        <a:lstStyle/>
                        <a:p>
                          <a:endParaRPr lang="en-CO"/>
                        </a:p>
                      </a:txBody>
                      <a:tcPr/>
                    </a:tc>
                    <a:tc hMerge="1">
                      <a:txBody>
                        <a:bodyPr/>
                        <a:lstStyle/>
                        <a:p>
                          <a:endParaRPr lang="en-CO"/>
                        </a:p>
                      </a:txBody>
                      <a:tcPr/>
                    </a:tc>
                    <a:tc hMerge="1">
                      <a:txBody>
                        <a:bodyPr/>
                        <a:lstStyle/>
                        <a:p>
                          <a:endParaRPr lang="en-CO"/>
                        </a:p>
                      </a:txBody>
                      <a:tcPr/>
                    </a:tc>
                    <a:tc hMerge="1">
                      <a:txBody>
                        <a:bodyPr/>
                        <a:lstStyle/>
                        <a:p>
                          <a:endParaRPr lang="en-CO"/>
                        </a:p>
                      </a:txBody>
                      <a:tcPr/>
                    </a:tc>
                    <a:tc hMerge="1">
                      <a:txBody>
                        <a:bodyPr/>
                        <a:lstStyle/>
                        <a:p>
                          <a:endParaRPr lang="en-CO"/>
                        </a:p>
                      </a:txBody>
                      <a:tcPr/>
                    </a:tc>
                    <a:extLst>
                      <a:ext uri="{0D108BD9-81ED-4DB2-BD59-A6C34878D82A}">
                        <a16:rowId xmlns:a16="http://schemas.microsoft.com/office/drawing/2014/main" val="1525141169"/>
                      </a:ext>
                    </a:extLst>
                  </a:tr>
                  <a:tr h="423545">
                    <a:tc>
                      <a:txBody>
                        <a:bodyPr/>
                        <a:lstStyle/>
                        <a:p>
                          <a:pPr marL="0" marR="0" algn="ctr">
                            <a:lnSpc>
                              <a:spcPct val="107000"/>
                            </a:lnSpc>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Week</a:t>
                          </a:r>
                          <a:endParaRPr lang="en-CO" sz="16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lnSpc>
                              <a:spcPct val="107000"/>
                            </a:lnSpc>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1</a:t>
                          </a:r>
                          <a:endParaRPr lang="en-CO" sz="16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2</a:t>
                          </a:r>
                          <a:endParaRPr lang="en-CO" sz="16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3</a:t>
                          </a:r>
                          <a:endParaRPr lang="en-CO" sz="16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4</a:t>
                          </a:r>
                          <a:endParaRPr lang="en-CO" sz="16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5</a:t>
                          </a:r>
                          <a:endParaRPr lang="en-CO" sz="16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6</a:t>
                          </a:r>
                          <a:endParaRPr lang="en-CO" sz="16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89366075"/>
                      </a:ext>
                    </a:extLst>
                  </a:tr>
                  <a:tr h="423545">
                    <a:tc>
                      <a:txBody>
                        <a:bodyPr/>
                        <a:lstStyle/>
                        <a:p>
                          <a:pPr marL="0" marR="0" algn="ctr">
                            <a:lnSpc>
                              <a:spcPct val="107000"/>
                            </a:lnSpc>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Height</a:t>
                          </a:r>
                          <a:endParaRPr lang="en-CO" sz="16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lnSpc>
                              <a:spcPct val="107000"/>
                            </a:lnSpc>
                            <a:spcBef>
                              <a:spcPts val="0"/>
                            </a:spcBef>
                            <a:spcAft>
                              <a:spcPts val="0"/>
                            </a:spcAft>
                          </a:pPr>
                          <a14:m>
                            <m:oMath xmlns:m="http://schemas.openxmlformats.org/officeDocument/2006/math">
                              <m:r>
                                <a:rPr lang="en-US" sz="1800">
                                  <a:effectLst/>
                                  <a:latin typeface="Cambria Math" panose="02040503050406030204" pitchFamily="18" charset="0"/>
                                </a:rPr>
                                <m:t>3.4</m:t>
                              </m:r>
                            </m:oMath>
                          </a14:m>
                          <a:r>
                            <a:rPr lang="en-US" sz="1800">
                              <a:effectLst/>
                              <a:latin typeface="Verdana" panose="020B0604030504040204" pitchFamily="34" charset="0"/>
                              <a:ea typeface="Verdana" panose="020B0604030504040204" pitchFamily="34" charset="0"/>
                              <a:cs typeface="Verdana" panose="020B0604030504040204" pitchFamily="34" charset="0"/>
                            </a:rPr>
                            <a:t> in.</a:t>
                          </a:r>
                          <a:endParaRPr lang="en-CO" sz="16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 xmlns:m="http://schemas.openxmlformats.org/officeDocument/2006/math">
                              <m:r>
                                <a:rPr lang="en-US" sz="1800">
                                  <a:effectLst/>
                                  <a:latin typeface="Cambria Math" panose="02040503050406030204" pitchFamily="18" charset="0"/>
                                </a:rPr>
                                <m:t>4.2</m:t>
                              </m:r>
                            </m:oMath>
                          </a14:m>
                          <a:r>
                            <a:rPr lang="en-US" sz="1800">
                              <a:effectLst/>
                              <a:latin typeface="Verdana" panose="020B0604030504040204" pitchFamily="34" charset="0"/>
                              <a:ea typeface="Verdana" panose="020B0604030504040204" pitchFamily="34" charset="0"/>
                              <a:cs typeface="Verdana" panose="020B0604030504040204" pitchFamily="34" charset="0"/>
                            </a:rPr>
                            <a:t> in.</a:t>
                          </a:r>
                          <a:endParaRPr lang="en-CO" sz="16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 xmlns:m="http://schemas.openxmlformats.org/officeDocument/2006/math">
                              <m:r>
                                <a:rPr lang="en-US" sz="1800">
                                  <a:effectLst/>
                                  <a:latin typeface="Cambria Math" panose="02040503050406030204" pitchFamily="18" charset="0"/>
                                </a:rPr>
                                <m:t>5.0</m:t>
                              </m:r>
                            </m:oMath>
                          </a14:m>
                          <a:r>
                            <a:rPr lang="en-US" sz="1800">
                              <a:effectLst/>
                              <a:latin typeface="Verdana" panose="020B0604030504040204" pitchFamily="34" charset="0"/>
                              <a:ea typeface="Verdana" panose="020B0604030504040204" pitchFamily="34" charset="0"/>
                              <a:cs typeface="Verdana" panose="020B0604030504040204" pitchFamily="34" charset="0"/>
                            </a:rPr>
                            <a:t> in.</a:t>
                          </a:r>
                          <a:endParaRPr lang="en-CO" sz="16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 xmlns:m="http://schemas.openxmlformats.org/officeDocument/2006/math">
                              <m:r>
                                <a:rPr lang="en-US" sz="1800">
                                  <a:effectLst/>
                                  <a:latin typeface="Cambria Math" panose="02040503050406030204" pitchFamily="18" charset="0"/>
                                </a:rPr>
                                <m:t>5.8</m:t>
                              </m:r>
                            </m:oMath>
                          </a14:m>
                          <a:r>
                            <a:rPr lang="en-US" sz="1800">
                              <a:effectLst/>
                              <a:latin typeface="Verdana" panose="020B0604030504040204" pitchFamily="34" charset="0"/>
                              <a:ea typeface="Verdana" panose="020B0604030504040204" pitchFamily="34" charset="0"/>
                              <a:cs typeface="Verdana" panose="020B0604030504040204" pitchFamily="34" charset="0"/>
                            </a:rPr>
                            <a:t> in.</a:t>
                          </a:r>
                          <a:endParaRPr lang="en-CO" sz="16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 xmlns:m="http://schemas.openxmlformats.org/officeDocument/2006/math">
                              <m:r>
                                <a:rPr lang="en-US" sz="1800">
                                  <a:effectLst/>
                                  <a:latin typeface="Cambria Math" panose="02040503050406030204" pitchFamily="18" charset="0"/>
                                </a:rPr>
                                <m:t>16.8</m:t>
                              </m:r>
                            </m:oMath>
                          </a14:m>
                          <a:r>
                            <a:rPr lang="en-US" sz="1800">
                              <a:effectLst/>
                              <a:latin typeface="Verdana" panose="020B0604030504040204" pitchFamily="34" charset="0"/>
                              <a:ea typeface="Verdana" panose="020B0604030504040204" pitchFamily="34" charset="0"/>
                              <a:cs typeface="Verdana" panose="020B0604030504040204" pitchFamily="34" charset="0"/>
                            </a:rPr>
                            <a:t> cm</a:t>
                          </a:r>
                          <a:endParaRPr lang="en-CO" sz="16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 xmlns:m="http://schemas.openxmlformats.org/officeDocument/2006/math">
                              <m:r>
                                <a:rPr lang="en-US" sz="1800">
                                  <a:effectLst/>
                                  <a:latin typeface="Cambria Math" panose="02040503050406030204" pitchFamily="18" charset="0"/>
                                </a:rPr>
                                <m:t>7.4</m:t>
                              </m:r>
                            </m:oMath>
                          </a14:m>
                          <a:r>
                            <a:rPr lang="en-US" sz="1800" dirty="0">
                              <a:effectLst/>
                              <a:latin typeface="Verdana" panose="020B0604030504040204" pitchFamily="34" charset="0"/>
                              <a:ea typeface="Verdana" panose="020B0604030504040204" pitchFamily="34" charset="0"/>
                              <a:cs typeface="Verdana" panose="020B0604030504040204" pitchFamily="34" charset="0"/>
                            </a:rPr>
                            <a:t> in.</a:t>
                          </a:r>
                          <a:endParaRPr lang="en-CO" sz="16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09322902"/>
                      </a:ext>
                    </a:extLst>
                  </a:tr>
                </a:tbl>
              </a:graphicData>
            </a:graphic>
          </p:graphicFrame>
        </mc:Choice>
        <mc:Fallback xmlns="">
          <p:graphicFrame>
            <p:nvGraphicFramePr>
              <p:cNvPr id="3" name="Table 2">
                <a:extLst>
                  <a:ext uri="{FF2B5EF4-FFF2-40B4-BE49-F238E27FC236}">
                    <a16:creationId xmlns:a16="http://schemas.microsoft.com/office/drawing/2014/main" id="{361939BE-D31A-EA44-983E-2A96890750F0}"/>
                  </a:ext>
                </a:extLst>
              </p:cNvPr>
              <p:cNvGraphicFramePr>
                <a:graphicFrameLocks noGrp="1"/>
              </p:cNvGraphicFramePr>
              <p:nvPr>
                <p:extLst>
                  <p:ext uri="{D42A27DB-BD31-4B8C-83A1-F6EECF244321}">
                    <p14:modId xmlns:p14="http://schemas.microsoft.com/office/powerpoint/2010/main" val="2421516"/>
                  </p:ext>
                </p:extLst>
              </p:nvPr>
            </p:nvGraphicFramePr>
            <p:xfrm>
              <a:off x="2054308" y="2662159"/>
              <a:ext cx="6800850" cy="1290955"/>
            </p:xfrm>
            <a:graphic>
              <a:graphicData uri="http://schemas.openxmlformats.org/drawingml/2006/table">
                <a:tbl>
                  <a:tblPr firstRow="1" firstCol="1" bandRow="1">
                    <a:tableStyleId>{A91F0D33-8C57-4600-99A7-42BC86742BE1}</a:tableStyleId>
                  </a:tblPr>
                  <a:tblGrid>
                    <a:gridCol w="994410">
                      <a:extLst>
                        <a:ext uri="{9D8B030D-6E8A-4147-A177-3AD203B41FA5}">
                          <a16:colId xmlns:a16="http://schemas.microsoft.com/office/drawing/2014/main" val="1353401682"/>
                        </a:ext>
                      </a:extLst>
                    </a:gridCol>
                    <a:gridCol w="996315">
                      <a:extLst>
                        <a:ext uri="{9D8B030D-6E8A-4147-A177-3AD203B41FA5}">
                          <a16:colId xmlns:a16="http://schemas.microsoft.com/office/drawing/2014/main" val="1719598678"/>
                        </a:ext>
                      </a:extLst>
                    </a:gridCol>
                    <a:gridCol w="996950">
                      <a:extLst>
                        <a:ext uri="{9D8B030D-6E8A-4147-A177-3AD203B41FA5}">
                          <a16:colId xmlns:a16="http://schemas.microsoft.com/office/drawing/2014/main" val="3087633357"/>
                        </a:ext>
                      </a:extLst>
                    </a:gridCol>
                    <a:gridCol w="996315">
                      <a:extLst>
                        <a:ext uri="{9D8B030D-6E8A-4147-A177-3AD203B41FA5}">
                          <a16:colId xmlns:a16="http://schemas.microsoft.com/office/drawing/2014/main" val="768947877"/>
                        </a:ext>
                      </a:extLst>
                    </a:gridCol>
                    <a:gridCol w="914400">
                      <a:extLst>
                        <a:ext uri="{9D8B030D-6E8A-4147-A177-3AD203B41FA5}">
                          <a16:colId xmlns:a16="http://schemas.microsoft.com/office/drawing/2014/main" val="641453551"/>
                        </a:ext>
                      </a:extLst>
                    </a:gridCol>
                    <a:gridCol w="1045210">
                      <a:extLst>
                        <a:ext uri="{9D8B030D-6E8A-4147-A177-3AD203B41FA5}">
                          <a16:colId xmlns:a16="http://schemas.microsoft.com/office/drawing/2014/main" val="110062709"/>
                        </a:ext>
                      </a:extLst>
                    </a:gridCol>
                    <a:gridCol w="857250">
                      <a:extLst>
                        <a:ext uri="{9D8B030D-6E8A-4147-A177-3AD203B41FA5}">
                          <a16:colId xmlns:a16="http://schemas.microsoft.com/office/drawing/2014/main" val="613082982"/>
                        </a:ext>
                      </a:extLst>
                    </a:gridCol>
                  </a:tblGrid>
                  <a:tr h="443865">
                    <a:tc gridSpan="7">
                      <a:txBody>
                        <a:bodyPr/>
                        <a:lstStyle/>
                        <a:p>
                          <a:pPr marL="0" marR="0" algn="ctr">
                            <a:lnSpc>
                              <a:spcPct val="107000"/>
                            </a:lnSpc>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Plant Height</a:t>
                          </a:r>
                          <a:endParaRPr lang="en-CO" sz="16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CO"/>
                        </a:p>
                      </a:txBody>
                      <a:tcPr/>
                    </a:tc>
                    <a:tc hMerge="1">
                      <a:txBody>
                        <a:bodyPr/>
                        <a:lstStyle/>
                        <a:p>
                          <a:endParaRPr lang="en-CO"/>
                        </a:p>
                      </a:txBody>
                      <a:tcPr/>
                    </a:tc>
                    <a:tc hMerge="1">
                      <a:txBody>
                        <a:bodyPr/>
                        <a:lstStyle/>
                        <a:p>
                          <a:endParaRPr lang="en-CO"/>
                        </a:p>
                      </a:txBody>
                      <a:tcPr/>
                    </a:tc>
                    <a:tc hMerge="1">
                      <a:txBody>
                        <a:bodyPr/>
                        <a:lstStyle/>
                        <a:p>
                          <a:endParaRPr lang="en-CO"/>
                        </a:p>
                      </a:txBody>
                      <a:tcPr/>
                    </a:tc>
                    <a:tc hMerge="1">
                      <a:txBody>
                        <a:bodyPr/>
                        <a:lstStyle/>
                        <a:p>
                          <a:endParaRPr lang="en-CO"/>
                        </a:p>
                      </a:txBody>
                      <a:tcPr/>
                    </a:tc>
                    <a:tc hMerge="1">
                      <a:txBody>
                        <a:bodyPr/>
                        <a:lstStyle/>
                        <a:p>
                          <a:endParaRPr lang="en-CO"/>
                        </a:p>
                      </a:txBody>
                      <a:tcPr/>
                    </a:tc>
                    <a:extLst>
                      <a:ext uri="{0D108BD9-81ED-4DB2-BD59-A6C34878D82A}">
                        <a16:rowId xmlns:a16="http://schemas.microsoft.com/office/drawing/2014/main" val="1525141169"/>
                      </a:ext>
                    </a:extLst>
                  </a:tr>
                  <a:tr h="423545">
                    <a:tc>
                      <a:txBody>
                        <a:bodyPr/>
                        <a:lstStyle/>
                        <a:p>
                          <a:pPr marL="0" marR="0" algn="ctr">
                            <a:lnSpc>
                              <a:spcPct val="107000"/>
                            </a:lnSpc>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Week</a:t>
                          </a:r>
                          <a:endParaRPr lang="en-CO" sz="16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lnSpc>
                              <a:spcPct val="107000"/>
                            </a:lnSpc>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1</a:t>
                          </a:r>
                          <a:endParaRPr lang="en-CO" sz="16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2</a:t>
                          </a:r>
                          <a:endParaRPr lang="en-CO" sz="16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3</a:t>
                          </a:r>
                          <a:endParaRPr lang="en-CO" sz="16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4</a:t>
                          </a:r>
                          <a:endParaRPr lang="en-CO" sz="16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5</a:t>
                          </a:r>
                          <a:endParaRPr lang="en-CO" sz="16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6</a:t>
                          </a:r>
                          <a:endParaRPr lang="en-CO" sz="16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89366075"/>
                      </a:ext>
                    </a:extLst>
                  </a:tr>
                  <a:tr h="423545">
                    <a:tc>
                      <a:txBody>
                        <a:bodyPr/>
                        <a:lstStyle/>
                        <a:p>
                          <a:pPr marL="0" marR="0" algn="ctr">
                            <a:lnSpc>
                              <a:spcPct val="107000"/>
                            </a:lnSpc>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Height</a:t>
                          </a:r>
                          <a:endParaRPr lang="en-CO" sz="16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00000" t="-204286" r="-482927" b="-14286"/>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00000" t="-204286" r="-382927" b="-14286"/>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301840" t="-204286" r="-285276" b="-14286"/>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433775" t="-204286" r="-207947" b="-14286"/>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471345" t="-204286" r="-83626" b="-14286"/>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692908" t="-204286" r="-1418" b="-14286"/>
                          </a:stretch>
                        </a:blipFill>
                      </a:tcPr>
                    </a:tc>
                    <a:extLst>
                      <a:ext uri="{0D108BD9-81ED-4DB2-BD59-A6C34878D82A}">
                        <a16:rowId xmlns:a16="http://schemas.microsoft.com/office/drawing/2014/main" val="2509322902"/>
                      </a:ext>
                    </a:extLst>
                  </a:tr>
                </a:tbl>
              </a:graphicData>
            </a:graphic>
          </p:graphicFrame>
        </mc:Fallback>
      </mc:AlternateContent>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id="{BC2B5C8E-FB85-684C-8A7E-2F0CFDF1AAF2}"/>
                  </a:ext>
                </a:extLst>
              </p:cNvPr>
              <p:cNvSpPr/>
              <p:nvPr/>
            </p:nvSpPr>
            <p:spPr>
              <a:xfrm>
                <a:off x="736269" y="4553694"/>
                <a:ext cx="9633151" cy="400110"/>
              </a:xfrm>
              <a:prstGeom prst="rect">
                <a:avLst/>
              </a:prstGeom>
            </p:spPr>
            <p:txBody>
              <a:bodyPr wrap="square">
                <a:spAutoFit/>
              </a:bodyPr>
              <a:lstStyle/>
              <a:p>
                <a:pPr marL="463550"/>
                <a:r>
                  <a:rPr lang="en-US" sz="2000" dirty="0">
                    <a:latin typeface="Verdana" panose="020B0604030504040204" pitchFamily="34" charset="0"/>
                    <a:ea typeface="Times New Roman" panose="02020603050405020304" pitchFamily="18" charset="0"/>
                    <a:cs typeface="Times New Roman" panose="02020603050405020304" pitchFamily="18" charset="0"/>
                  </a:rPr>
                  <a:t>How much taller, in inches, is the plant in week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5</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than in week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4</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a:t>
                </a:r>
              </a:p>
            </p:txBody>
          </p:sp>
        </mc:Choice>
        <mc:Fallback xmlns="">
          <p:sp>
            <p:nvSpPr>
              <p:cNvPr id="10" name="Rectangle 9">
                <a:extLst>
                  <a:ext uri="{FF2B5EF4-FFF2-40B4-BE49-F238E27FC236}">
                    <a16:creationId xmlns:a16="http://schemas.microsoft.com/office/drawing/2014/main" id="{BC2B5C8E-FB85-684C-8A7E-2F0CFDF1AAF2}"/>
                  </a:ext>
                </a:extLst>
              </p:cNvPr>
              <p:cNvSpPr>
                <a:spLocks noRot="1" noChangeAspect="1" noMove="1" noResize="1" noEditPoints="1" noAdjustHandles="1" noChangeArrowheads="1" noChangeShapeType="1" noTextEdit="1"/>
              </p:cNvSpPr>
              <p:nvPr/>
            </p:nvSpPr>
            <p:spPr>
              <a:xfrm>
                <a:off x="736269" y="4553694"/>
                <a:ext cx="9633151" cy="400110"/>
              </a:xfrm>
              <a:prstGeom prst="rect">
                <a:avLst/>
              </a:prstGeom>
              <a:blipFill>
                <a:blip r:embed="rId6"/>
                <a:stretch>
                  <a:fillRect t="-9091" b="-25758"/>
                </a:stretch>
              </a:blipFill>
            </p:spPr>
            <p:txBody>
              <a:bodyPr/>
              <a:lstStyle/>
              <a:p>
                <a:r>
                  <a:rPr lang="en-US">
                    <a:noFill/>
                  </a:rPr>
                  <a:t> </a:t>
                </a:r>
              </a:p>
            </p:txBody>
          </p:sp>
        </mc:Fallback>
      </mc:AlternateContent>
    </p:spTree>
    <p:extLst>
      <p:ext uri="{BB962C8B-B14F-4D97-AF65-F5344CB8AC3E}">
        <p14:creationId xmlns:p14="http://schemas.microsoft.com/office/powerpoint/2010/main" val="205155133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467" y="-4055"/>
            <a:ext cx="2731200" cy="6866100"/>
          </a:xfrm>
          <a:prstGeom prst="rect">
            <a:avLst/>
          </a:prstGeom>
          <a:solidFill>
            <a:srgbClr val="035036"/>
          </a:solidFill>
          <a:ln w="9525" cap="flat" cmpd="sng">
            <a:solidFill>
              <a:srgbClr val="035036"/>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11661" y="6129037"/>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518563" y="2766145"/>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E24E5F"/>
                </a:solidFill>
                <a:latin typeface="Verdana"/>
                <a:ea typeface="Verdana"/>
                <a:cs typeface="Verdana"/>
                <a:sym typeface="Verdana"/>
              </a:rPr>
              <a:t>Your Turn</a:t>
            </a:r>
            <a:endParaRPr sz="5100" b="1" dirty="0">
              <a:solidFill>
                <a:srgbClr val="E24E5F"/>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id="{33005AFD-D615-1344-BDC0-5A40F6454816}"/>
              </a:ext>
            </a:extLst>
          </p:cNvPr>
          <p:cNvSpPr txBox="1"/>
          <p:nvPr/>
        </p:nvSpPr>
        <p:spPr>
          <a:xfrm>
            <a:off x="7314749" y="6444343"/>
            <a:ext cx="4196911" cy="413532"/>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250</a:t>
            </a:r>
            <a:endParaRPr i="1" dirty="0">
              <a:latin typeface="Calibri"/>
              <a:ea typeface="Calibri"/>
              <a:cs typeface="Calibri"/>
              <a:sym typeface="Calibri"/>
            </a:endParaRPr>
          </a:p>
        </p:txBody>
      </p:sp>
      <p:pic>
        <p:nvPicPr>
          <p:cNvPr id="9" name="Picture 8" descr="Icon&#10;&#10;Description automatically generated">
            <a:extLst>
              <a:ext uri="{FF2B5EF4-FFF2-40B4-BE49-F238E27FC236}">
                <a16:creationId xmlns:a16="http://schemas.microsoft.com/office/drawing/2014/main" id="{4C5DAF65-3EE3-C044-AA58-E5FB79E2A745}"/>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4429137" y="2852778"/>
            <a:ext cx="1152447" cy="1152447"/>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47273303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035036"/>
          </a:solidFill>
          <a:ln w="9525" cap="flat" cmpd="sng">
            <a:solidFill>
              <a:srgbClr val="03503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348376" y="6129037"/>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278521" y="-128648"/>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000" b="1" dirty="0">
                <a:solidFill>
                  <a:srgbClr val="E24E5F"/>
                </a:solidFill>
                <a:latin typeface="Verdana"/>
                <a:ea typeface="Verdana"/>
                <a:cs typeface="Verdana"/>
                <a:sym typeface="Verdana"/>
              </a:rPr>
              <a:t>6.3.7 Your Turn!</a:t>
            </a:r>
          </a:p>
        </p:txBody>
      </p:sp>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C0EEC4E3-DFCF-C94C-B80D-045F3E6BF764}"/>
                  </a:ext>
                </a:extLst>
              </p:cNvPr>
              <p:cNvSpPr/>
              <p:nvPr/>
            </p:nvSpPr>
            <p:spPr>
              <a:xfrm>
                <a:off x="736269" y="1286376"/>
                <a:ext cx="9633151" cy="3416320"/>
              </a:xfrm>
              <a:prstGeom prst="rect">
                <a:avLst/>
              </a:prstGeom>
            </p:spPr>
            <p:txBody>
              <a:bodyPr wrap="square">
                <a:spAutoFit/>
              </a:bodyPr>
              <a:lstStyle/>
              <a:p>
                <a:pPr marL="457200" indent="-457200">
                  <a:buFont typeface="+mj-lt"/>
                  <a:buAutoNum type="arabi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Use the conversion rates to convert between the lengths below. Round to the nearest thousandth when necessary.</a:t>
                </a:r>
              </a:p>
              <a:p>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25</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miles = ______ kilometers </a:t>
                </a:r>
              </a:p>
              <a:p>
                <a:pPr marL="914400" indent="-457200">
                  <a:buFont typeface="+mj-lt"/>
                  <a:buAutoNum type="alphaL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25</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centimeters = ______ feet </a:t>
                </a:r>
              </a:p>
            </p:txBody>
          </p:sp>
        </mc:Choice>
        <mc:Fallback xmlns="">
          <p:sp>
            <p:nvSpPr>
              <p:cNvPr id="2" name="Rectangle 1">
                <a:extLst>
                  <a:ext uri="{FF2B5EF4-FFF2-40B4-BE49-F238E27FC236}">
                    <a16:creationId xmlns:a16="http://schemas.microsoft.com/office/drawing/2014/main" id="{C0EEC4E3-DFCF-C94C-B80D-045F3E6BF764}"/>
                  </a:ext>
                </a:extLst>
              </p:cNvPr>
              <p:cNvSpPr>
                <a:spLocks noRot="1" noChangeAspect="1" noMove="1" noResize="1" noEditPoints="1" noAdjustHandles="1" noChangeArrowheads="1" noChangeShapeType="1" noTextEdit="1"/>
              </p:cNvSpPr>
              <p:nvPr/>
            </p:nvSpPr>
            <p:spPr>
              <a:xfrm>
                <a:off x="736269" y="1286376"/>
                <a:ext cx="9633151" cy="3416320"/>
              </a:xfrm>
              <a:prstGeom prst="rect">
                <a:avLst/>
              </a:prstGeom>
              <a:blipFill>
                <a:blip r:embed="rId4"/>
                <a:stretch>
                  <a:fillRect l="-1013" t="-1429" b="-3036"/>
                </a:stretch>
              </a:blipFill>
            </p:spPr>
            <p:txBody>
              <a:bodyPr/>
              <a:lstStyle/>
              <a:p>
                <a:r>
                  <a:rPr lang="en-US">
                    <a:noFill/>
                  </a:rPr>
                  <a:t> </a:t>
                </a:r>
              </a:p>
            </p:txBody>
          </p:sp>
        </mc:Fallback>
      </mc:AlternateContent>
      <p:sp>
        <p:nvSpPr>
          <p:cNvPr id="16" name="Google Shape;282;g104476d1465_1_17">
            <a:extLst>
              <a:ext uri="{FF2B5EF4-FFF2-40B4-BE49-F238E27FC236}">
                <a16:creationId xmlns:a16="http://schemas.microsoft.com/office/drawing/2014/main" id="{4E354D11-4333-5B4D-A7B5-313F4353BB7E}"/>
              </a:ext>
            </a:extLst>
          </p:cNvPr>
          <p:cNvSpPr txBox="1"/>
          <p:nvPr/>
        </p:nvSpPr>
        <p:spPr>
          <a:xfrm>
            <a:off x="7314750" y="6455229"/>
            <a:ext cx="4033626" cy="402646"/>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250</a:t>
            </a:r>
            <a:endParaRPr i="1" dirty="0">
              <a:latin typeface="Calibri"/>
              <a:ea typeface="Calibri"/>
              <a:cs typeface="Calibri"/>
              <a:sym typeface="Calibri"/>
            </a:endParaRPr>
          </a:p>
        </p:txBody>
      </p:sp>
      <p:pic>
        <p:nvPicPr>
          <p:cNvPr id="8" name="Picture 7" descr="Icon&#10;&#10;Description automatically generated">
            <a:extLst>
              <a:ext uri="{FF2B5EF4-FFF2-40B4-BE49-F238E27FC236}">
                <a16:creationId xmlns:a16="http://schemas.microsoft.com/office/drawing/2014/main" id="{4DE960C7-966F-634E-8FF4-BBDA3EF8E25F}"/>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528713" y="159298"/>
            <a:ext cx="749808" cy="749808"/>
          </a:xfrm>
          <a:prstGeom prst="rect">
            <a:avLst/>
          </a:prstGeom>
        </p:spPr>
      </p:pic>
    </p:spTree>
    <p:extLst>
      <p:ext uri="{BB962C8B-B14F-4D97-AF65-F5344CB8AC3E}">
        <p14:creationId xmlns:p14="http://schemas.microsoft.com/office/powerpoint/2010/main" val="173772567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3650"/>
            <a:ext cx="223200" cy="6866100"/>
          </a:xfrm>
          <a:prstGeom prst="rect">
            <a:avLst/>
          </a:prstGeom>
          <a:solidFill>
            <a:srgbClr val="035036"/>
          </a:solidFill>
          <a:ln w="9525" cap="flat" cmpd="sng">
            <a:solidFill>
              <a:srgbClr val="03503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63761" y="6129037"/>
            <a:ext cx="563850" cy="657276"/>
          </a:xfrm>
          <a:prstGeom prst="rect">
            <a:avLst/>
          </a:prstGeom>
          <a:noFill/>
          <a:ln>
            <a:noFill/>
          </a:ln>
          <a:effectLst>
            <a:outerShdw blurRad="57150" dist="19050" dir="5400000" algn="bl" rotWithShape="0">
              <a:srgbClr val="000000">
                <a:alpha val="50000"/>
              </a:srgbClr>
            </a:outerShdw>
          </a:effectLst>
        </p:spPr>
      </p:pic>
      <p:grpSp>
        <p:nvGrpSpPr>
          <p:cNvPr id="6" name="Group 5">
            <a:extLst>
              <a:ext uri="{FF2B5EF4-FFF2-40B4-BE49-F238E27FC236}">
                <a16:creationId xmlns:a16="http://schemas.microsoft.com/office/drawing/2014/main" id="{BB50F0A2-AA71-F744-8A32-914ADD8F78F3}"/>
              </a:ext>
            </a:extLst>
          </p:cNvPr>
          <p:cNvGrpSpPr/>
          <p:nvPr/>
        </p:nvGrpSpPr>
        <p:grpSpPr>
          <a:xfrm>
            <a:off x="2558100" y="2622400"/>
            <a:ext cx="7662765" cy="1717351"/>
            <a:chOff x="2031300" y="3373600"/>
            <a:chExt cx="6629400" cy="812800"/>
          </a:xfrm>
        </p:grpSpPr>
        <p:sp>
          <p:nvSpPr>
            <p:cNvPr id="7" name="Rectangle 6">
              <a:extLst>
                <a:ext uri="{FF2B5EF4-FFF2-40B4-BE49-F238E27FC236}">
                  <a16:creationId xmlns:a16="http://schemas.microsoft.com/office/drawing/2014/main" id="{3A97EBD9-7A07-BD48-A87B-42FC0C60B5F6}"/>
                </a:ext>
              </a:extLst>
            </p:cNvPr>
            <p:cNvSpPr/>
            <p:nvPr/>
          </p:nvSpPr>
          <p:spPr>
            <a:xfrm>
              <a:off x="2031300" y="3373600"/>
              <a:ext cx="6629400" cy="812800"/>
            </a:xfrm>
            <a:prstGeom prst="rect">
              <a:avLst/>
            </a:prstGeom>
            <a:noFill/>
            <a:ln>
              <a:noFill/>
            </a:ln>
          </p:spPr>
          <p:txBody>
            <a:bodyPr spcFirstLastPara="1" wrap="square" lIns="91425" tIns="91425" rIns="91425" bIns="91425" anchor="ctr" anchorCtr="0">
              <a:noAutofit/>
            </a:bodyPr>
            <a:lstStyle/>
            <a:p>
              <a:r>
                <a:rPr lang="en-US" sz="2400">
                  <a:latin typeface="Verdana" panose="020B0604030504040204" pitchFamily="34" charset="0"/>
                  <a:ea typeface="Verdana" panose="020B0604030504040204" pitchFamily="34" charset="0"/>
                  <a:cs typeface="Verdana" panose="020B0604030504040204" pitchFamily="34" charset="0"/>
                </a:rPr>
                <a:t> </a:t>
              </a:r>
            </a:p>
          </p:txBody>
        </p:sp>
        <p:sp>
          <p:nvSpPr>
            <p:cNvPr id="9" name="Rectangle 8">
              <a:extLst>
                <a:ext uri="{FF2B5EF4-FFF2-40B4-BE49-F238E27FC236}">
                  <a16:creationId xmlns:a16="http://schemas.microsoft.com/office/drawing/2014/main" id="{4B00D7E9-D011-6F4F-93E3-9B17DFC18634}"/>
                </a:ext>
              </a:extLst>
            </p:cNvPr>
            <p:cNvSpPr/>
            <p:nvPr/>
          </p:nvSpPr>
          <p:spPr>
            <a:xfrm>
              <a:off x="2031300" y="3373600"/>
              <a:ext cx="6629400" cy="812800"/>
            </a:xfrm>
            <a:prstGeom prst="rect">
              <a:avLst/>
            </a:prstGeom>
            <a:noFill/>
            <a:ln>
              <a:noFill/>
            </a:ln>
          </p:spPr>
          <p:txBody>
            <a:bodyPr spcFirstLastPara="1" wrap="square" lIns="91425" tIns="91425" rIns="91425" bIns="91425" anchor="ctr" anchorCtr="0">
              <a:noAutofit/>
            </a:bodyPr>
            <a:lstStyle/>
            <a:p>
              <a:r>
                <a:rPr lang="en-US" sz="2400">
                  <a:latin typeface="Verdana" panose="020B0604030504040204" pitchFamily="34" charset="0"/>
                  <a:ea typeface="Verdana" panose="020B0604030504040204" pitchFamily="34" charset="0"/>
                  <a:cs typeface="Verdana" panose="020B0604030504040204" pitchFamily="34" charset="0"/>
                </a:rPr>
                <a:t> </a:t>
              </a:r>
            </a:p>
          </p:txBody>
        </p:sp>
      </p:grpSp>
      <p:sp>
        <p:nvSpPr>
          <p:cNvPr id="11" name="Google Shape;282;g104476d1465_1_17">
            <a:extLst>
              <a:ext uri="{FF2B5EF4-FFF2-40B4-BE49-F238E27FC236}">
                <a16:creationId xmlns:a16="http://schemas.microsoft.com/office/drawing/2014/main" id="{1D80B3B1-A0AC-4E49-8B8A-BB2777B1A70C}"/>
              </a:ext>
            </a:extLst>
          </p:cNvPr>
          <p:cNvSpPr txBox="1"/>
          <p:nvPr/>
        </p:nvSpPr>
        <p:spPr>
          <a:xfrm>
            <a:off x="7314749" y="6466113"/>
            <a:ext cx="4245879"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250</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12" name="Rectangle 11">
                <a:extLst>
                  <a:ext uri="{FF2B5EF4-FFF2-40B4-BE49-F238E27FC236}">
                    <a16:creationId xmlns:a16="http://schemas.microsoft.com/office/drawing/2014/main" id="{84B30E62-DBC7-A64B-9D39-DD94DF002123}"/>
                  </a:ext>
                </a:extLst>
              </p:cNvPr>
              <p:cNvSpPr/>
              <p:nvPr/>
            </p:nvSpPr>
            <p:spPr>
              <a:xfrm>
                <a:off x="1005940" y="572062"/>
                <a:ext cx="10739746" cy="4708981"/>
              </a:xfrm>
              <a:prstGeom prst="rect">
                <a:avLst/>
              </a:prstGeom>
            </p:spPr>
            <p:txBody>
              <a:bodyPr wrap="square">
                <a:spAutoFit/>
              </a:bodyPr>
              <a:lstStyle/>
              <a:p>
                <a:pPr marL="914400" indent="-457200">
                  <a:buFont typeface="+mj-lt"/>
                  <a:buAutoNum type="alphaLcPeriod" startAt="3"/>
                </a:pPr>
                <a:r>
                  <a:rPr lang="en-US" sz="2000" dirty="0">
                    <a:latin typeface="Verdana" panose="020B0604030504040204" pitchFamily="34" charset="0"/>
                    <a:ea typeface="Times New Roman" panose="02020603050405020304" pitchFamily="18" charset="0"/>
                    <a:cs typeface="Times New Roman" panose="02020603050405020304" pitchFamily="18" charset="0"/>
                  </a:rPr>
                  <a:t>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3</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yards = ______ meters</a:t>
                </a:r>
              </a:p>
              <a:p>
                <a:pPr marL="914400" indent="-457200">
                  <a:buFont typeface="+mj-lt"/>
                  <a:buAutoNum type="alphaLcPeriod" startAt="3"/>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startAt="3"/>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startAt="3"/>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startAt="3"/>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startAt="3"/>
                </a:pPr>
                <a:r>
                  <a:rPr lang="en-US" sz="2000" dirty="0">
                    <a:latin typeface="Verdana" panose="020B0604030504040204" pitchFamily="34" charset="0"/>
                    <a:ea typeface="Times New Roman" panose="02020603050405020304" pitchFamily="18" charset="0"/>
                    <a:cs typeface="Times New Roman" panose="02020603050405020304" pitchFamily="18" charset="0"/>
                  </a:rPr>
                  <a:t>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470</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millimeters = ______ inches</a:t>
                </a:r>
              </a:p>
              <a:p>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startAt="2"/>
                </a:pPr>
                <a:r>
                  <a:rPr lang="en-US" sz="2000" dirty="0">
                    <a:latin typeface="Verdana" panose="020B0604030504040204" pitchFamily="34" charset="0"/>
                    <a:ea typeface="Times New Roman" panose="02020603050405020304" pitchFamily="18" charset="0"/>
                    <a:cs typeface="Times New Roman" panose="02020603050405020304" pitchFamily="18" charset="0"/>
                  </a:rPr>
                  <a:t>Maya visits her friend in Europe and rides in an electric car. The electric vehicle can travel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200</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kilometers (km) on one charge. If their destination is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130</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miles (mi) away, will they be able to make it there without having to stop to charge the car? Explain or show work to justify your answer.</a:t>
                </a:r>
              </a:p>
            </p:txBody>
          </p:sp>
        </mc:Choice>
        <mc:Fallback xmlns="">
          <p:sp>
            <p:nvSpPr>
              <p:cNvPr id="12" name="Rectangle 11">
                <a:extLst>
                  <a:ext uri="{FF2B5EF4-FFF2-40B4-BE49-F238E27FC236}">
                    <a16:creationId xmlns:a16="http://schemas.microsoft.com/office/drawing/2014/main" id="{84B30E62-DBC7-A64B-9D39-DD94DF002123}"/>
                  </a:ext>
                </a:extLst>
              </p:cNvPr>
              <p:cNvSpPr>
                <a:spLocks noRot="1" noChangeAspect="1" noMove="1" noResize="1" noEditPoints="1" noAdjustHandles="1" noChangeArrowheads="1" noChangeShapeType="1" noTextEdit="1"/>
              </p:cNvSpPr>
              <p:nvPr/>
            </p:nvSpPr>
            <p:spPr>
              <a:xfrm>
                <a:off x="1005940" y="572062"/>
                <a:ext cx="10739746" cy="4708981"/>
              </a:xfrm>
              <a:prstGeom prst="rect">
                <a:avLst/>
              </a:prstGeom>
              <a:blipFill>
                <a:blip r:embed="rId4"/>
                <a:stretch>
                  <a:fillRect l="-624" t="-907" r="-114" b="-1425"/>
                </a:stretch>
              </a:blipFill>
            </p:spPr>
            <p:txBody>
              <a:bodyPr/>
              <a:lstStyle/>
              <a:p>
                <a:r>
                  <a:rPr lang="en-US">
                    <a:noFill/>
                  </a:rPr>
                  <a:t> </a:t>
                </a:r>
              </a:p>
            </p:txBody>
          </p:sp>
        </mc:Fallback>
      </mc:AlternateContent>
    </p:spTree>
    <p:extLst>
      <p:ext uri="{BB962C8B-B14F-4D97-AF65-F5344CB8AC3E}">
        <p14:creationId xmlns:p14="http://schemas.microsoft.com/office/powerpoint/2010/main" val="413792193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035036"/>
          </a:solidFill>
          <a:ln w="9525" cap="flat" cmpd="sng">
            <a:solidFill>
              <a:srgbClr val="035036"/>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79005"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4">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a:extLst>
              <a:ext uri="{FF2B5EF4-FFF2-40B4-BE49-F238E27FC236}">
                <a16:creationId xmlns:a16="http://schemas.microsoft.com/office/drawing/2014/main" id="{EFCC6CD7-3972-624A-AEF1-A2489A486756}"/>
              </a:ext>
            </a:extLst>
          </p:cNvPr>
          <p:cNvSpPr txBox="1"/>
          <p:nvPr/>
        </p:nvSpPr>
        <p:spPr>
          <a:xfrm>
            <a:off x="7314749" y="6487885"/>
            <a:ext cx="4164255"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251</a:t>
            </a:r>
            <a:endParaRPr i="1" dirty="0">
              <a:latin typeface="Calibri"/>
              <a:ea typeface="Calibri"/>
              <a:cs typeface="Calibri"/>
              <a:sym typeface="Calibri"/>
            </a:endParaRPr>
          </a:p>
        </p:txBody>
      </p:sp>
    </p:spTree>
    <p:extLst>
      <p:ext uri="{BB962C8B-B14F-4D97-AF65-F5344CB8AC3E}">
        <p14:creationId xmlns:p14="http://schemas.microsoft.com/office/powerpoint/2010/main" val="67690871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3157" y="0"/>
            <a:ext cx="223200" cy="6866100"/>
          </a:xfrm>
          <a:prstGeom prst="rect">
            <a:avLst/>
          </a:prstGeom>
          <a:solidFill>
            <a:srgbClr val="035036"/>
          </a:solidFill>
          <a:ln w="9525" cap="flat" cmpd="sng">
            <a:solidFill>
              <a:srgbClr val="03503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35462" y="6129037"/>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289764" y="-13632"/>
            <a:ext cx="933153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3F2A67"/>
                </a:solidFill>
                <a:latin typeface="Verdana"/>
                <a:ea typeface="Verdana"/>
                <a:cs typeface="Verdana"/>
                <a:sym typeface="Verdana"/>
              </a:rPr>
              <a:t>6.3.8 Wrap-Up: Ticket Out the Door</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4">
            <a:alphaModFix/>
          </a:blip>
          <a:srcRect/>
          <a:stretch/>
        </p:blipFill>
        <p:spPr>
          <a:xfrm>
            <a:off x="542464" y="206629"/>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D9F7A919-8B1E-2741-BB78-98A66295B9F8}"/>
                  </a:ext>
                </a:extLst>
              </p:cNvPr>
              <p:cNvSpPr/>
              <p:nvPr/>
            </p:nvSpPr>
            <p:spPr>
              <a:xfrm>
                <a:off x="724395" y="1422930"/>
                <a:ext cx="9892431" cy="4524315"/>
              </a:xfrm>
              <a:prstGeom prst="rect">
                <a:avLst/>
              </a:prstGeom>
            </p:spPr>
            <p:txBody>
              <a:bodyPr wrap="square">
                <a:spAutoFit/>
              </a:bodyPr>
              <a:lstStyle/>
              <a:p>
                <a:pPr lvl="0"/>
                <a:r>
                  <a:rPr lang="en-US" sz="2400" dirty="0">
                    <a:latin typeface="Verdana" panose="020B0604030504040204" pitchFamily="34" charset="0"/>
                    <a:ea typeface="Times New Roman" panose="02020603050405020304" pitchFamily="18" charset="0"/>
                  </a:rPr>
                  <a:t>Darnell and Jada both walk every day for exercise. Darnell averages </a:t>
                </a:r>
                <a14:m>
                  <m:oMath xmlns:m="http://schemas.openxmlformats.org/officeDocument/2006/math">
                    <m:r>
                      <a:rPr lang="en-US" sz="2400" i="1" dirty="0">
                        <a:latin typeface="Cambria Math" panose="02040503050406030204" pitchFamily="18" charset="0"/>
                        <a:ea typeface="Times New Roman" panose="02020603050405020304" pitchFamily="18" charset="0"/>
                      </a:rPr>
                      <m:t>6.8</m:t>
                    </m:r>
                  </m:oMath>
                </a14:m>
                <a:r>
                  <a:rPr lang="en-US" sz="2400" dirty="0">
                    <a:latin typeface="Verdana" panose="020B0604030504040204" pitchFamily="34" charset="0"/>
                    <a:ea typeface="Times New Roman" panose="02020603050405020304" pitchFamily="18" charset="0"/>
                  </a:rPr>
                  <a:t> kilometers (km) per day while Jada averages </a:t>
                </a:r>
                <a14:m>
                  <m:oMath xmlns:m="http://schemas.openxmlformats.org/officeDocument/2006/math">
                    <m:r>
                      <a:rPr lang="en-US" sz="2400" i="1" dirty="0">
                        <a:latin typeface="Cambria Math" panose="02040503050406030204" pitchFamily="18" charset="0"/>
                        <a:ea typeface="Times New Roman" panose="02020603050405020304" pitchFamily="18" charset="0"/>
                      </a:rPr>
                      <m:t>4.5</m:t>
                    </m:r>
                  </m:oMath>
                </a14:m>
                <a:r>
                  <a:rPr lang="en-US" sz="2400" dirty="0">
                    <a:latin typeface="Verdana" panose="020B0604030504040204" pitchFamily="34" charset="0"/>
                    <a:ea typeface="Times New Roman" panose="02020603050405020304" pitchFamily="18" charset="0"/>
                  </a:rPr>
                  <a:t> miles (mi) each day. Darnell claims he walks farther than Jada, but Jada disagrees. </a:t>
                </a:r>
              </a:p>
              <a:p>
                <a:pPr lvl="0"/>
                <a:r>
                  <a:rPr lang="en-US" sz="2400" dirty="0">
                    <a:latin typeface="Verdana" panose="020B0604030504040204" pitchFamily="34" charset="0"/>
                    <a:ea typeface="Times New Roman" panose="02020603050405020304" pitchFamily="18" charset="0"/>
                  </a:rPr>
                  <a:t> </a:t>
                </a:r>
              </a:p>
              <a:p>
                <a:pPr marL="457200" indent="-457200">
                  <a:buFont typeface="+mj-lt"/>
                  <a:buAutoNum type="arabicPeriod"/>
                </a:pPr>
                <a:r>
                  <a:rPr lang="en-US" sz="2400" dirty="0">
                    <a:latin typeface="Verdana" panose="020B0604030504040204" pitchFamily="34" charset="0"/>
                    <a:ea typeface="Times New Roman" panose="02020603050405020304" pitchFamily="18" charset="0"/>
                  </a:rPr>
                  <a:t>Without performing any calculations, which student do you think is correct? Explain your reasoning.</a:t>
                </a:r>
              </a:p>
              <a:p>
                <a:pPr marL="457200" indent="-457200">
                  <a:buFont typeface="+mj-lt"/>
                  <a:buAutoNum type="arabicPeriod"/>
                </a:pPr>
                <a:endParaRPr lang="en-US" sz="2400" dirty="0">
                  <a:latin typeface="Verdana" panose="020B0604030504040204" pitchFamily="34" charset="0"/>
                  <a:ea typeface="Times New Roman" panose="02020603050405020304" pitchFamily="18" charset="0"/>
                </a:endParaRPr>
              </a:p>
              <a:p>
                <a:pPr marL="457200" indent="-457200">
                  <a:buFont typeface="+mj-lt"/>
                  <a:buAutoNum type="arabicPeriod"/>
                </a:pPr>
                <a:endParaRPr lang="en-US" sz="2400" dirty="0">
                  <a:latin typeface="Verdana" panose="020B0604030504040204" pitchFamily="34" charset="0"/>
                  <a:ea typeface="Times New Roman" panose="02020603050405020304" pitchFamily="18" charset="0"/>
                </a:endParaRPr>
              </a:p>
              <a:p>
                <a:pPr marL="457200" indent="-457200">
                  <a:buFont typeface="+mj-lt"/>
                  <a:buAutoNum type="arabicPeriod"/>
                </a:pPr>
                <a:endParaRPr lang="en-US" sz="2400" dirty="0">
                  <a:latin typeface="Verdana" panose="020B0604030504040204" pitchFamily="34" charset="0"/>
                  <a:ea typeface="Times New Roman" panose="02020603050405020304" pitchFamily="18" charset="0"/>
                </a:endParaRPr>
              </a:p>
              <a:p>
                <a:pPr marL="457200" indent="-457200">
                  <a:buFont typeface="+mj-lt"/>
                  <a:buAutoNum type="arabicPeriod"/>
                </a:pPr>
                <a:r>
                  <a:rPr lang="en-US" sz="2400" dirty="0">
                    <a:latin typeface="Verdana" panose="020B0604030504040204" pitchFamily="34" charset="0"/>
                    <a:ea typeface="Times New Roman" panose="02020603050405020304" pitchFamily="18" charset="0"/>
                  </a:rPr>
                  <a:t>Use unit conversions to determine who walks farther each day.</a:t>
                </a:r>
              </a:p>
            </p:txBody>
          </p:sp>
        </mc:Choice>
        <mc:Fallback xmlns="">
          <p:sp>
            <p:nvSpPr>
              <p:cNvPr id="2" name="Rectangle 1">
                <a:extLst>
                  <a:ext uri="{FF2B5EF4-FFF2-40B4-BE49-F238E27FC236}">
                    <a16:creationId xmlns:a16="http://schemas.microsoft.com/office/drawing/2014/main" id="{D9F7A919-8B1E-2741-BB78-98A66295B9F8}"/>
                  </a:ext>
                </a:extLst>
              </p:cNvPr>
              <p:cNvSpPr>
                <a:spLocks noRot="1" noChangeAspect="1" noMove="1" noResize="1" noEditPoints="1" noAdjustHandles="1" noChangeArrowheads="1" noChangeShapeType="1" noTextEdit="1"/>
              </p:cNvSpPr>
              <p:nvPr/>
            </p:nvSpPr>
            <p:spPr>
              <a:xfrm>
                <a:off x="724395" y="1422930"/>
                <a:ext cx="9892431" cy="4524315"/>
              </a:xfrm>
              <a:prstGeom prst="rect">
                <a:avLst/>
              </a:prstGeom>
              <a:blipFill>
                <a:blip r:embed="rId5"/>
                <a:stretch>
                  <a:fillRect l="-986" t="-1077" r="-246" b="-2019"/>
                </a:stretch>
              </a:blipFill>
            </p:spPr>
            <p:txBody>
              <a:bodyPr/>
              <a:lstStyle/>
              <a:p>
                <a:r>
                  <a:rPr lang="en-US">
                    <a:noFill/>
                  </a:rPr>
                  <a:t> </a:t>
                </a:r>
              </a:p>
            </p:txBody>
          </p:sp>
        </mc:Fallback>
      </mc:AlternateContent>
      <p:sp>
        <p:nvSpPr>
          <p:cNvPr id="11" name="Google Shape;282;g104476d1465_1_17">
            <a:extLst>
              <a:ext uri="{FF2B5EF4-FFF2-40B4-BE49-F238E27FC236}">
                <a16:creationId xmlns:a16="http://schemas.microsoft.com/office/drawing/2014/main" id="{F719A187-0842-F343-A6A1-7FD23B0B7316}"/>
              </a:ext>
            </a:extLst>
          </p:cNvPr>
          <p:cNvSpPr txBox="1"/>
          <p:nvPr/>
        </p:nvSpPr>
        <p:spPr>
          <a:xfrm>
            <a:off x="7314750" y="6466113"/>
            <a:ext cx="4120712"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251</a:t>
            </a:r>
            <a:endParaRPr i="1" dirty="0">
              <a:latin typeface="Calibri"/>
              <a:ea typeface="Calibri"/>
              <a:cs typeface="Calibri"/>
              <a:sym typeface="Calibri"/>
            </a:endParaRPr>
          </a:p>
        </p:txBody>
      </p:sp>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1401</TotalTime>
  <Words>1391</Words>
  <Application>Microsoft Macintosh PowerPoint</Application>
  <PresentationFormat>Widescreen</PresentationFormat>
  <Paragraphs>262</Paragraphs>
  <Slides>30</Slides>
  <Notes>30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30</vt:i4>
      </vt:variant>
    </vt:vector>
  </HeadingPairs>
  <TitlesOfParts>
    <vt:vector size="38" baseType="lpstr">
      <vt:lpstr>Calibri</vt:lpstr>
      <vt:lpstr>Arial Black</vt:lpstr>
      <vt:lpstr>Cambria Math</vt:lpstr>
      <vt:lpstr>Wingdings</vt:lpstr>
      <vt:lpstr>Verdana</vt:lpstr>
      <vt:lpstr>Arial</vt:lpstr>
      <vt:lpstr>Century Gothic</vt:lpstr>
      <vt:lpstr>1_Office Theme</vt:lpstr>
      <vt:lpstr>7th Grade Math  Unit 6, Lesson 3  Converting Units of Length  Volume 1, pg. 245  </vt:lpstr>
      <vt:lpstr>Benchmark</vt:lpstr>
      <vt:lpstr>PowerPoint Presentation</vt:lpstr>
      <vt:lpstr>PowerPoint Presentation</vt:lpstr>
      <vt:lpstr>Warm-Up</vt:lpstr>
      <vt:lpstr>PowerPoint Presentation</vt:lpstr>
      <vt:lpstr>PowerPoint Presentation</vt:lpstr>
      <vt:lpstr>Activity</vt:lpstr>
      <vt:lpstr>PowerPoint Presentation</vt:lpstr>
      <vt:lpstr>PowerPoint Presentation</vt:lpstr>
      <vt:lpstr>PowerPoint Presentation</vt:lpstr>
      <vt:lpstr>PowerPoint Presentation</vt:lpstr>
      <vt:lpstr>Bring It Together</vt:lpstr>
      <vt:lpstr>PowerPoint Presentation</vt:lpstr>
      <vt:lpstr>Guided Practice</vt:lpstr>
      <vt:lpstr>PowerPoint Presentation</vt:lpstr>
      <vt:lpstr>PowerPoint Presentation</vt:lpstr>
      <vt:lpstr>PowerPoint Presentation</vt:lpstr>
      <vt:lpstr>PowerPoint Presentation</vt:lpstr>
      <vt:lpstr>Collaboration</vt:lpstr>
      <vt:lpstr>PowerPoint Presentation</vt:lpstr>
      <vt:lpstr>PowerPoint Presentation</vt:lpstr>
      <vt:lpstr>PowerPoint Presentation</vt:lpstr>
      <vt:lpstr>Try It</vt:lpstr>
      <vt:lpstr>PowerPoint Presentation</vt:lpstr>
      <vt:lpstr>Your Turn</vt:lpstr>
      <vt:lpstr>PowerPoint Presentation</vt:lpstr>
      <vt:lpstr>PowerPoint Presentation</vt:lpstr>
      <vt:lpstr>Wrap-Up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Diana Barnett</cp:lastModifiedBy>
  <cp:revision>25</cp:revision>
  <dcterms:created xsi:type="dcterms:W3CDTF">2015-03-17T18:51:18Z</dcterms:created>
  <dcterms:modified xsi:type="dcterms:W3CDTF">2023-01-30T12:21:42Z</dcterms:modified>
</cp:coreProperties>
</file>