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78" r:id="rId9"/>
    <p:sldId id="379" r:id="rId10"/>
    <p:sldId id="380" r:id="rId11"/>
    <p:sldId id="390" r:id="rId12"/>
    <p:sldId id="381" r:id="rId13"/>
    <p:sldId id="382" r:id="rId14"/>
    <p:sldId id="383" r:id="rId15"/>
    <p:sldId id="392" r:id="rId16"/>
    <p:sldId id="384" r:id="rId17"/>
    <p:sldId id="385" r:id="rId18"/>
    <p:sldId id="397" r:id="rId19"/>
    <p:sldId id="398" r:id="rId20"/>
    <p:sldId id="399" r:id="rId21"/>
    <p:sldId id="393" r:id="rId22"/>
    <p:sldId id="394" r:id="rId23"/>
    <p:sldId id="306" r:id="rId24"/>
    <p:sldId id="307" r:id="rId25"/>
  </p:sldIdLst>
  <p:sldSz cx="12192000" cy="6858000"/>
  <p:notesSz cx="6858000" cy="9144000"/>
  <p:embeddedFontLst>
    <p:embeddedFont>
      <p:font typeface="Arial Black" panose="020B0A04020102020204" pitchFamily="34" charset="0"/>
      <p:regular r:id="rId27"/>
      <p:bold r:id="rId28"/>
    </p:embeddedFont>
    <p:embeddedFont>
      <p:font typeface="Calibri" panose="020F0502020204030204" pitchFamily="34" charset="0"/>
      <p:regular r:id="rId29"/>
      <p:bold r:id="rId30"/>
      <p:italic r:id="rId31"/>
      <p:boldItalic r:id="rId32"/>
    </p:embeddedFont>
    <p:embeddedFont>
      <p:font typeface="Cambria Math" panose="02040503050406030204" pitchFamily="18" charset="0"/>
      <p:regular r:id="rId33"/>
    </p:embeddedFont>
    <p:embeddedFont>
      <p:font typeface="Century Gothic" panose="020B0502020202020204" pitchFamily="34" charset="0"/>
      <p:regular r:id="rId34"/>
      <p:bold r:id="rId35"/>
      <p:italic r:id="rId36"/>
      <p:boldItalic r:id="rId37"/>
    </p:embeddedFon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45BFA9"/>
    <a:srgbClr val="035036"/>
    <a:srgbClr val="3465B0"/>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36"/>
    <p:restoredTop sz="94718"/>
  </p:normalViewPr>
  <p:slideViewPr>
    <p:cSldViewPr snapToGrid="0">
      <p:cViewPr varScale="1">
        <p:scale>
          <a:sx n="81" d="100"/>
          <a:sy n="81" d="100"/>
        </p:scale>
        <p:origin x="51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562586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998912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64412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71499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5456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607808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16566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21259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267497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148831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876613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963465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067944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87166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280566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9</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Exploring Multi-Step Proportion Problems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277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3768" y="1597002"/>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86993"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9693"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455229"/>
            <a:ext cx="4120711"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5461"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5028" y="1205500"/>
            <a:ext cx="96556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MA.7.AR.3.2</a:t>
            </a:r>
          </a:p>
          <a:p>
            <a:pPr indent="0">
              <a:buNone/>
            </a:pPr>
            <a:r>
              <a:rPr lang="en-US" sz="2500" dirty="0">
                <a:latin typeface="Verdana" panose="020B0604030504040204" pitchFamily="34" charset="0"/>
                <a:ea typeface="Verdana" panose="020B0604030504040204" pitchFamily="34" charset="0"/>
                <a:cs typeface="Verdana" panose="020B0604030504040204" pitchFamily="34" charset="0"/>
              </a:rPr>
              <a:t>Apply previous understanding of ratios to solve real-world problems involving proportions. </a:t>
            </a:r>
          </a:p>
          <a:p>
            <a:pPr indent="0">
              <a:buNone/>
            </a:pPr>
            <a:endParaRPr lang="en-US" sz="25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MA.7.AR.3.3</a:t>
            </a:r>
          </a:p>
          <a:p>
            <a:pPr indent="0">
              <a:buNone/>
            </a:pPr>
            <a:r>
              <a:rPr lang="en-US" sz="25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conversion of units across different measurement systems.  </a:t>
            </a: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indent="0">
              <a:buNone/>
            </a:pPr>
            <a:endParaRPr lang="en-US" sz="25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MA.7.AR.4.5</a:t>
            </a:r>
          </a:p>
          <a:p>
            <a:pPr indent="0">
              <a:buNone/>
            </a:pPr>
            <a:r>
              <a:rPr lang="en-US" sz="2500" dirty="0">
                <a:latin typeface="Verdana" panose="020B0604030504040204" pitchFamily="34" charset="0"/>
                <a:ea typeface="Verdana" panose="020B0604030504040204" pitchFamily="34" charset="0"/>
                <a:cs typeface="Verdana" panose="020B0604030504040204" pitchFamily="34" charset="0"/>
              </a:rPr>
              <a:t>Solve real-world problems involving proportional relationships.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50578"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97878" y="-57102"/>
            <a:ext cx="115601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215889" y="1631749"/>
            <a:ext cx="976022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8834119" y="638611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96061" y="-176169"/>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59470" y="113031"/>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833120" y="1522445"/>
            <a:ext cx="102108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600" dirty="0">
                <a:latin typeface="Verdana" panose="020B0604030504040204" pitchFamily="34" charset="0"/>
                <a:ea typeface="Verdana" panose="020B0604030504040204" pitchFamily="34" charset="0"/>
                <a:cs typeface="Verdana" panose="020B0604030504040204" pitchFamily="34" charset="0"/>
              </a:rPr>
              <a:t>I can solve multi-step problems involving proportions.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50" y="6487885"/>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9"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7314749" y="6433457"/>
            <a:ext cx="42295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2921"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2067" y="46234"/>
            <a:ext cx="9357083" cy="10883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6.9.1 Warm-Up: Baking with Ratios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767" y="98060"/>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629392" y="1364369"/>
            <a:ext cx="9530843" cy="1569660"/>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Chef and author Michael </a:t>
            </a:r>
            <a:r>
              <a:rPr lang="en-US" sz="2400" dirty="0" err="1">
                <a:latin typeface="Verdana" panose="020B0604030504040204" pitchFamily="34" charset="0"/>
                <a:ea typeface="Verdana" panose="020B0604030504040204" pitchFamily="34" charset="0"/>
                <a:cs typeface="Verdana" panose="020B0604030504040204" pitchFamily="34" charset="0"/>
              </a:rPr>
              <a:t>Ruhlman</a:t>
            </a:r>
            <a:r>
              <a:rPr lang="en-US" sz="2400" dirty="0">
                <a:latin typeface="Verdana" panose="020B0604030504040204" pitchFamily="34" charset="0"/>
                <a:ea typeface="Verdana" panose="020B0604030504040204" pitchFamily="34" charset="0"/>
                <a:cs typeface="Verdana" panose="020B0604030504040204" pitchFamily="34" charset="0"/>
              </a:rPr>
              <a:t> makes baking easier by using simple mathematical ratios. He uses the following chart where each number represents the number of parts of that ingredient needed for the base recipe.</a:t>
            </a:r>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49" y="6411686"/>
            <a:ext cx="418817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EC956AA5-08B0-E24F-9DF1-B75E1896865F}"/>
                  </a:ext>
                </a:extLst>
              </p:cNvPr>
              <p:cNvGraphicFramePr>
                <a:graphicFrameLocks noGrp="1"/>
              </p:cNvGraphicFramePr>
              <p:nvPr>
                <p:extLst>
                  <p:ext uri="{D42A27DB-BD31-4B8C-83A1-F6EECF244321}">
                    <p14:modId xmlns:p14="http://schemas.microsoft.com/office/powerpoint/2010/main" val="588305684"/>
                  </p:ext>
                </p:extLst>
              </p:nvPr>
            </p:nvGraphicFramePr>
            <p:xfrm>
              <a:off x="1965813" y="3358688"/>
              <a:ext cx="6858000" cy="2134680"/>
            </p:xfrm>
            <a:graphic>
              <a:graphicData uri="http://schemas.openxmlformats.org/drawingml/2006/table">
                <a:tbl>
                  <a:tblPr firstRow="1" firstCol="1" bandRow="1">
                    <a:tableStyleId>{A91F0D33-8C57-4600-99A7-42BC86742BE1}</a:tableStyleId>
                  </a:tblPr>
                  <a:tblGrid>
                    <a:gridCol w="1608455">
                      <a:extLst>
                        <a:ext uri="{9D8B030D-6E8A-4147-A177-3AD203B41FA5}">
                          <a16:colId xmlns:a16="http://schemas.microsoft.com/office/drawing/2014/main" val="3882098392"/>
                        </a:ext>
                      </a:extLst>
                    </a:gridCol>
                    <a:gridCol w="1066800">
                      <a:extLst>
                        <a:ext uri="{9D8B030D-6E8A-4147-A177-3AD203B41FA5}">
                          <a16:colId xmlns:a16="http://schemas.microsoft.com/office/drawing/2014/main" val="531824076"/>
                        </a:ext>
                      </a:extLst>
                    </a:gridCol>
                    <a:gridCol w="1066800">
                      <a:extLst>
                        <a:ext uri="{9D8B030D-6E8A-4147-A177-3AD203B41FA5}">
                          <a16:colId xmlns:a16="http://schemas.microsoft.com/office/drawing/2014/main" val="3173871034"/>
                        </a:ext>
                      </a:extLst>
                    </a:gridCol>
                    <a:gridCol w="1066800">
                      <a:extLst>
                        <a:ext uri="{9D8B030D-6E8A-4147-A177-3AD203B41FA5}">
                          <a16:colId xmlns:a16="http://schemas.microsoft.com/office/drawing/2014/main" val="1480697841"/>
                        </a:ext>
                      </a:extLst>
                    </a:gridCol>
                    <a:gridCol w="1020445">
                      <a:extLst>
                        <a:ext uri="{9D8B030D-6E8A-4147-A177-3AD203B41FA5}">
                          <a16:colId xmlns:a16="http://schemas.microsoft.com/office/drawing/2014/main" val="1327129383"/>
                        </a:ext>
                      </a:extLst>
                    </a:gridCol>
                    <a:gridCol w="1028700">
                      <a:extLst>
                        <a:ext uri="{9D8B030D-6E8A-4147-A177-3AD203B41FA5}">
                          <a16:colId xmlns:a16="http://schemas.microsoft.com/office/drawing/2014/main" val="1294115514"/>
                        </a:ext>
                      </a:extLst>
                    </a:gridCol>
                  </a:tblGrid>
                  <a:tr h="36576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Flour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Liquid</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Egg</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Butter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Sugar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84038599"/>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Bread</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443805"/>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Quick Bread Muffins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i="1" dirty="0">
                              <a:effectLst/>
                              <a:latin typeface="Verdana" panose="020B0604030504040204" pitchFamily="34" charset="0"/>
                              <a:ea typeface="Verdana" panose="020B0604030504040204" pitchFamily="34" charset="0"/>
                              <a:cs typeface="Verdana" panose="020B0604030504040204" pitchFamily="34" charset="0"/>
                            </a:rPr>
                            <a:t>(if sweet)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7478116"/>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Cookies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4654221"/>
                      </a:ext>
                    </a:extLst>
                  </a:tr>
                </a:tbl>
              </a:graphicData>
            </a:graphic>
          </p:graphicFrame>
        </mc:Choice>
        <mc:Fallback>
          <p:graphicFrame>
            <p:nvGraphicFramePr>
              <p:cNvPr id="2" name="Table 1">
                <a:extLst>
                  <a:ext uri="{FF2B5EF4-FFF2-40B4-BE49-F238E27FC236}">
                    <a16:creationId xmlns:a16="http://schemas.microsoft.com/office/drawing/2014/main" id="{EC956AA5-08B0-E24F-9DF1-B75E1896865F}"/>
                  </a:ext>
                </a:extLst>
              </p:cNvPr>
              <p:cNvGraphicFramePr>
                <a:graphicFrameLocks noGrp="1"/>
              </p:cNvGraphicFramePr>
              <p:nvPr>
                <p:extLst>
                  <p:ext uri="{D42A27DB-BD31-4B8C-83A1-F6EECF244321}">
                    <p14:modId xmlns:p14="http://schemas.microsoft.com/office/powerpoint/2010/main" val="588305684"/>
                  </p:ext>
                </p:extLst>
              </p:nvPr>
            </p:nvGraphicFramePr>
            <p:xfrm>
              <a:off x="1965813" y="3358688"/>
              <a:ext cx="6858000" cy="2134680"/>
            </p:xfrm>
            <a:graphic>
              <a:graphicData uri="http://schemas.openxmlformats.org/drawingml/2006/table">
                <a:tbl>
                  <a:tblPr firstRow="1" firstCol="1" bandRow="1">
                    <a:tableStyleId>{A91F0D33-8C57-4600-99A7-42BC86742BE1}</a:tableStyleId>
                  </a:tblPr>
                  <a:tblGrid>
                    <a:gridCol w="1608455">
                      <a:extLst>
                        <a:ext uri="{9D8B030D-6E8A-4147-A177-3AD203B41FA5}">
                          <a16:colId xmlns:a16="http://schemas.microsoft.com/office/drawing/2014/main" val="3882098392"/>
                        </a:ext>
                      </a:extLst>
                    </a:gridCol>
                    <a:gridCol w="1066800">
                      <a:extLst>
                        <a:ext uri="{9D8B030D-6E8A-4147-A177-3AD203B41FA5}">
                          <a16:colId xmlns:a16="http://schemas.microsoft.com/office/drawing/2014/main" val="531824076"/>
                        </a:ext>
                      </a:extLst>
                    </a:gridCol>
                    <a:gridCol w="1066800">
                      <a:extLst>
                        <a:ext uri="{9D8B030D-6E8A-4147-A177-3AD203B41FA5}">
                          <a16:colId xmlns:a16="http://schemas.microsoft.com/office/drawing/2014/main" val="3173871034"/>
                        </a:ext>
                      </a:extLst>
                    </a:gridCol>
                    <a:gridCol w="1066800">
                      <a:extLst>
                        <a:ext uri="{9D8B030D-6E8A-4147-A177-3AD203B41FA5}">
                          <a16:colId xmlns:a16="http://schemas.microsoft.com/office/drawing/2014/main" val="1480697841"/>
                        </a:ext>
                      </a:extLst>
                    </a:gridCol>
                    <a:gridCol w="1020445">
                      <a:extLst>
                        <a:ext uri="{9D8B030D-6E8A-4147-A177-3AD203B41FA5}">
                          <a16:colId xmlns:a16="http://schemas.microsoft.com/office/drawing/2014/main" val="1327129383"/>
                        </a:ext>
                      </a:extLst>
                    </a:gridCol>
                    <a:gridCol w="1028700">
                      <a:extLst>
                        <a:ext uri="{9D8B030D-6E8A-4147-A177-3AD203B41FA5}">
                          <a16:colId xmlns:a16="http://schemas.microsoft.com/office/drawing/2014/main" val="1294115514"/>
                        </a:ext>
                      </a:extLst>
                    </a:gridCol>
                  </a:tblGrid>
                  <a:tr h="36576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Flour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Liquid</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Egg</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Butter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Sugar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84038599"/>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Bread</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1429" t="-85526" r="-393714" b="-2934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51429" t="-85526" r="-293714" b="-293421"/>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443805"/>
                      </a:ext>
                    </a:extLst>
                  </a:tr>
                  <a:tr h="854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Quick Bread Muffins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1429" t="-100000" r="-393714" b="-581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51429" t="-100000" r="-293714" b="-581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49432" t="-100000" r="-192045" b="-581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3653" t="-100000" r="-102395" b="-581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66864" t="-100000" r="-1183" b="-58156"/>
                          </a:stretch>
                        </a:blipFill>
                      </a:tcPr>
                    </a:tc>
                    <a:extLst>
                      <a:ext uri="{0D108BD9-81ED-4DB2-BD59-A6C34878D82A}">
                        <a16:rowId xmlns:a16="http://schemas.microsoft.com/office/drawing/2014/main" val="3087478116"/>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Cookies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1429" t="-376000" r="-393714" b="-9333"/>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3653" t="-376000" r="-102395" b="-9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66864" t="-376000" r="-1183" b="-9333"/>
                          </a:stretch>
                        </a:blipFill>
                      </a:tcPr>
                    </a:tc>
                    <a:extLst>
                      <a:ext uri="{0D108BD9-81ED-4DB2-BD59-A6C34878D82A}">
                        <a16:rowId xmlns:a16="http://schemas.microsoft.com/office/drawing/2014/main" val="3094654221"/>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19"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17517" y="520394"/>
            <a:ext cx="9717384" cy="1200329"/>
          </a:xfrm>
          <a:prstGeom prst="rect">
            <a:avLst/>
          </a:prstGeom>
          <a:noFill/>
        </p:spPr>
        <p:txBody>
          <a:bodyPr wrap="square" rtlCol="0">
            <a:spAutoFit/>
          </a:bodyPr>
          <a:lstStyle/>
          <a:p>
            <a:pPr marL="342900" indent="-3429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Michael </a:t>
            </a:r>
            <a:r>
              <a:rPr lang="en-US" sz="2400" dirty="0" err="1">
                <a:latin typeface="Verdana" panose="020B0604030504040204" pitchFamily="34" charset="0"/>
                <a:ea typeface="Verdana" panose="020B0604030504040204" pitchFamily="34" charset="0"/>
                <a:cs typeface="Verdana" panose="020B0604030504040204" pitchFamily="34" charset="0"/>
              </a:rPr>
              <a:t>Ruhlman</a:t>
            </a:r>
            <a:r>
              <a:rPr lang="en-US" sz="2400" dirty="0">
                <a:latin typeface="Verdana" panose="020B0604030504040204" pitchFamily="34" charset="0"/>
                <a:ea typeface="Verdana" panose="020B0604030504040204" pitchFamily="34" charset="0"/>
                <a:cs typeface="Verdana" panose="020B0604030504040204" pitchFamily="34" charset="0"/>
              </a:rPr>
              <a:t> believes, “If you know ratios, it’s like knowing a thousand recipes.” What do you think he meant by this?</a:t>
            </a:r>
          </a:p>
        </p:txBody>
      </p:sp>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7314749" y="6457673"/>
            <a:ext cx="4077169" cy="40020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id="{4314E2BF-19BE-134B-AA02-2F35087F4280}"/>
              </a:ext>
            </a:extLst>
          </p:cNvPr>
          <p:cNvSpPr txBox="1"/>
          <p:nvPr/>
        </p:nvSpPr>
        <p:spPr>
          <a:xfrm>
            <a:off x="617516" y="2749243"/>
            <a:ext cx="7420153"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ingredients for a homemade bread recipe are shown to the right. Do the ratios in the recipe match the ratios Michael recommended for bread? Explain your reasoning. </a:t>
            </a:r>
          </a:p>
        </p:txBody>
      </p:sp>
      <p:pic>
        <p:nvPicPr>
          <p:cNvPr id="3" name="Picture 2" descr="Text&#10;&#10;Description automatically generated">
            <a:extLst>
              <a:ext uri="{FF2B5EF4-FFF2-40B4-BE49-F238E27FC236}">
                <a16:creationId xmlns:a16="http://schemas.microsoft.com/office/drawing/2014/main" id="{2153CB8C-E8C7-C745-ADED-2BB4C8913EE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51425" y="2421019"/>
            <a:ext cx="3536815" cy="2934050"/>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72226"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33457"/>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EE6D4057-57DA-9A49-A4C8-A380190CB59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19780" y="2838484"/>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124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768"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98416" y="-39324"/>
            <a:ext cx="1058190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6.9.2 Guided Instruction: Thinking Through Multiple Steps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1430834"/>
                <a:ext cx="9751903" cy="4093428"/>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Solving real-world problems often involves multiple steps. To answer one question, a problem solver may need to ask and answer other questions using the information given in the problem.</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Consider the following situation.</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Tahj needs to paint the four exterior walls of a large rectangular barn. The length of the barn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(ft), the width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and the height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The paint costs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per gallon (gal), and each gallon covers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420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feet.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Tahj wants to know how much it will cost to buy enough paint to paint the barn. </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1430834"/>
                <a:ext cx="9751903" cy="4093428"/>
              </a:xfrm>
              <a:prstGeom prst="rect">
                <a:avLst/>
              </a:prstGeom>
              <a:blipFill>
                <a:blip r:embed="rId4"/>
                <a:stretch>
                  <a:fillRect l="-625" t="-894" r="-1250" b="-1788"/>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509657"/>
            <a:ext cx="41315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7F2419F3-3CE8-5A4F-8D4A-7B30E523BD7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8908" y="124463"/>
            <a:ext cx="749808" cy="749808"/>
          </a:xfrm>
          <a:prstGeom prst="rect">
            <a:avLst/>
          </a:prstGeom>
        </p:spPr>
      </p:pic>
    </p:spTree>
    <p:extLst>
      <p:ext uri="{BB962C8B-B14F-4D97-AF65-F5344CB8AC3E}">
        <p14:creationId xmlns:p14="http://schemas.microsoft.com/office/powerpoint/2010/main" val="4066111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236"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44343"/>
            <a:ext cx="4218683"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278</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05642" y="335434"/>
            <a:ext cx="9725890" cy="120032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questions that Tahj needs to answer before she can determine the cost. Then, find the answer to each question in the workspace provided.</a:t>
            </a:r>
          </a:p>
        </p:txBody>
      </p:sp>
      <p:graphicFrame>
        <p:nvGraphicFramePr>
          <p:cNvPr id="2" name="Table 1">
            <a:extLst>
              <a:ext uri="{FF2B5EF4-FFF2-40B4-BE49-F238E27FC236}">
                <a16:creationId xmlns:a16="http://schemas.microsoft.com/office/drawing/2014/main" id="{DC1B6F90-F4F9-4746-AD37-62B84160006F}"/>
              </a:ext>
            </a:extLst>
          </p:cNvPr>
          <p:cNvGraphicFramePr>
            <a:graphicFrameLocks noGrp="1"/>
          </p:cNvGraphicFramePr>
          <p:nvPr>
            <p:extLst>
              <p:ext uri="{D42A27DB-BD31-4B8C-83A1-F6EECF244321}">
                <p14:modId xmlns:p14="http://schemas.microsoft.com/office/powerpoint/2010/main" val="3024358341"/>
              </p:ext>
            </p:extLst>
          </p:nvPr>
        </p:nvGraphicFramePr>
        <p:xfrm>
          <a:off x="2191389" y="1851069"/>
          <a:ext cx="6856730" cy="4312476"/>
        </p:xfrm>
        <a:graphic>
          <a:graphicData uri="http://schemas.openxmlformats.org/drawingml/2006/table">
            <a:tbl>
              <a:tblPr firstRow="1" firstCol="1" bandRow="1">
                <a:tableStyleId>{A91F0D33-8C57-4600-99A7-42BC86742BE1}</a:tableStyleId>
              </a:tblPr>
              <a:tblGrid>
                <a:gridCol w="2911475">
                  <a:extLst>
                    <a:ext uri="{9D8B030D-6E8A-4147-A177-3AD203B41FA5}">
                      <a16:colId xmlns:a16="http://schemas.microsoft.com/office/drawing/2014/main" val="3503164049"/>
                    </a:ext>
                  </a:extLst>
                </a:gridCol>
                <a:gridCol w="3945255">
                  <a:extLst>
                    <a:ext uri="{9D8B030D-6E8A-4147-A177-3AD203B41FA5}">
                      <a16:colId xmlns:a16="http://schemas.microsoft.com/office/drawing/2014/main" val="313678675"/>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Question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Workspace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872443500"/>
                  </a:ext>
                </a:extLst>
              </a:tr>
              <a:tr h="2022475">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What is the total _____ Tahj needs to paint, in square feet?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885402"/>
                  </a:ext>
                </a:extLst>
              </a:tr>
              <a:tr h="2022475">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How many __________ of paint will be needed to cover this area?</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561991"/>
                  </a:ext>
                </a:extLst>
              </a:tr>
            </a:tbl>
          </a:graphicData>
        </a:graphic>
      </p:graphicFrame>
    </p:spTree>
    <p:extLst>
      <p:ext uri="{BB962C8B-B14F-4D97-AF65-F5344CB8AC3E}">
        <p14:creationId xmlns:p14="http://schemas.microsoft.com/office/powerpoint/2010/main" val="2170903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534411"/>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05642" y="2631591"/>
            <a:ext cx="9725890" cy="3046988"/>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Place a star next to any questions you answered using a proportion or proportional thinking.</a:t>
            </a: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Studying mathematics includes making connections between concepts when solving problems. In addition to proportional thinking, what other math concept(s) did you use to solve this problem?</a:t>
            </a:r>
          </a:p>
        </p:txBody>
      </p:sp>
      <p:graphicFrame>
        <p:nvGraphicFramePr>
          <p:cNvPr id="2" name="Table 1">
            <a:extLst>
              <a:ext uri="{FF2B5EF4-FFF2-40B4-BE49-F238E27FC236}">
                <a16:creationId xmlns:a16="http://schemas.microsoft.com/office/drawing/2014/main" id="{452EBD36-85F6-554A-879E-54AF5EF7A68F}"/>
              </a:ext>
            </a:extLst>
          </p:cNvPr>
          <p:cNvGraphicFramePr>
            <a:graphicFrameLocks noGrp="1"/>
          </p:cNvGraphicFramePr>
          <p:nvPr>
            <p:extLst>
              <p:ext uri="{D42A27DB-BD31-4B8C-83A1-F6EECF244321}">
                <p14:modId xmlns:p14="http://schemas.microsoft.com/office/powerpoint/2010/main" val="2439890596"/>
              </p:ext>
            </p:extLst>
          </p:nvPr>
        </p:nvGraphicFramePr>
        <p:xfrm>
          <a:off x="2667635" y="323588"/>
          <a:ext cx="6856730" cy="2103120"/>
        </p:xfrm>
        <a:graphic>
          <a:graphicData uri="http://schemas.openxmlformats.org/drawingml/2006/table">
            <a:tbl>
              <a:tblPr firstRow="1" firstCol="1" bandRow="1">
                <a:tableStyleId>{A91F0D33-8C57-4600-99A7-42BC86742BE1}</a:tableStyleId>
              </a:tblPr>
              <a:tblGrid>
                <a:gridCol w="2911475">
                  <a:extLst>
                    <a:ext uri="{9D8B030D-6E8A-4147-A177-3AD203B41FA5}">
                      <a16:colId xmlns:a16="http://schemas.microsoft.com/office/drawing/2014/main" val="1887525865"/>
                    </a:ext>
                  </a:extLst>
                </a:gridCol>
                <a:gridCol w="3945255">
                  <a:extLst>
                    <a:ext uri="{9D8B030D-6E8A-4147-A177-3AD203B41FA5}">
                      <a16:colId xmlns:a16="http://schemas.microsoft.com/office/drawing/2014/main" val="2846082712"/>
                    </a:ext>
                  </a:extLst>
                </a:gridCol>
              </a:tblGrid>
              <a:tr h="210312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How much will it cost Tahj to buy enough paint to paint the barn?</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7960034"/>
                  </a:ext>
                </a:extLst>
              </a:tr>
            </a:tbl>
          </a:graphicData>
        </a:graphic>
      </p:graphicFrame>
    </p:spTree>
    <p:extLst>
      <p:ext uri="{BB962C8B-B14F-4D97-AF65-F5344CB8AC3E}">
        <p14:creationId xmlns:p14="http://schemas.microsoft.com/office/powerpoint/2010/main" val="3298998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9194"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45BFA9"/>
                </a:solidFill>
                <a:latin typeface="Verdana"/>
                <a:ea typeface="Verdana"/>
                <a:cs typeface="Verdana"/>
                <a:sym typeface="Verdana"/>
              </a:rPr>
              <a:t>Collaboration</a:t>
            </a:r>
            <a:endParaRPr sz="40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33457"/>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9" name="image5.png">
            <a:extLst>
              <a:ext uri="{FF2B5EF4-FFF2-40B4-BE49-F238E27FC236}">
                <a16:creationId xmlns:a16="http://schemas.microsoft.com/office/drawing/2014/main" id="{2E1E89A8-D0E7-C648-8036-51C32583B580}"/>
              </a:ext>
            </a:extLst>
          </p:cNvPr>
          <p:cNvPicPr/>
          <p:nvPr/>
        </p:nvPicPr>
        <p:blipFill>
          <a:blip r:embed="rId4" cstate="print">
            <a:extLst>
              <a:ext uri="{28A0092B-C50C-407E-A947-70E740481C1C}">
                <a14:useLocalDpi xmlns:a14="http://schemas.microsoft.com/office/drawing/2010/main"/>
              </a:ext>
            </a:extLst>
          </a:blip>
          <a:stretch>
            <a:fillRect/>
          </a:stretch>
        </p:blipFill>
        <p:spPr>
          <a:xfrm>
            <a:off x="4601700" y="2852778"/>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8137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3706"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1585" y="0"/>
            <a:ext cx="10765971" cy="112614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6.9.3 Collaboration: Thinking Through Multiple Steps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541777" y="1425052"/>
                <a:ext cx="9884758" cy="3477875"/>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Sean lives in Florida and frequently travels for work. Each week, he is allotted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U.S. dollars for business-related expenses while he is out of town. He is going to Canada this week, so he went to the bank to exchange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U.S. dollars for Canadian dollars (CDN) at a rate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$1.32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CDN per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U.S. On the way home from the bank, Sean’s boss called to say that he has to go to Mexico City now instead. Sean went back to the bank to exchange his Canadian dollars for Mexican pesos at a rate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16.21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pesos per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CDN.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Two students used different strategies to determine how many pesos Sean has for his business trip. Their partial work is shown. Work with your partner to complete each student’s work.</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541777" y="1425052"/>
                <a:ext cx="9884758" cy="3477875"/>
              </a:xfrm>
              <a:prstGeom prst="rect">
                <a:avLst/>
              </a:prstGeom>
              <a:blipFill>
                <a:blip r:embed="rId4"/>
                <a:stretch>
                  <a:fillRect l="-679" t="-1053" r="-1481" b="-2281"/>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57675"/>
            <a:ext cx="4178956"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8" name="image5.png">
            <a:extLst>
              <a:ext uri="{FF2B5EF4-FFF2-40B4-BE49-F238E27FC236}">
                <a16:creationId xmlns:a16="http://schemas.microsoft.com/office/drawing/2014/main" id="{A179F127-9C9B-DE48-9971-FF132544006E}"/>
              </a:ext>
            </a:extLst>
          </p:cNvPr>
          <p:cNvPicPr/>
          <p:nvPr/>
        </p:nvPicPr>
        <p:blipFill>
          <a:blip r:embed="rId5" cstate="screen">
            <a:extLst>
              <a:ext uri="{28A0092B-C50C-407E-A947-70E740481C1C}">
                <a14:useLocalDpi xmlns:a14="http://schemas.microsoft.com/office/drawing/2010/main"/>
              </a:ext>
            </a:extLst>
          </a:blip>
          <a:stretch>
            <a:fillRect/>
          </a:stretch>
        </p:blipFill>
        <p:spPr>
          <a:xfrm>
            <a:off x="541777" y="128817"/>
            <a:ext cx="749808" cy="749808"/>
          </a:xfrm>
          <a:prstGeom prst="rect">
            <a:avLst/>
          </a:prstGeom>
          <a:ln/>
        </p:spPr>
      </p:pic>
    </p:spTree>
    <p:extLst>
      <p:ext uri="{BB962C8B-B14F-4D97-AF65-F5344CB8AC3E}">
        <p14:creationId xmlns:p14="http://schemas.microsoft.com/office/powerpoint/2010/main" val="3998132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87885"/>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279</a:t>
            </a:r>
            <a:endParaRPr i="1" dirty="0">
              <a:latin typeface="Calibri"/>
              <a:ea typeface="Calibri"/>
              <a:cs typeface="Calibri"/>
              <a:sym typeface="Calibri"/>
            </a:endParaRPr>
          </a:p>
        </p:txBody>
      </p:sp>
      <p:pic>
        <p:nvPicPr>
          <p:cNvPr id="3" name="Picture 2" descr="Graphical user interface, table&#10;&#10;Description automatically generated">
            <a:extLst>
              <a:ext uri="{FF2B5EF4-FFF2-40B4-BE49-F238E27FC236}">
                <a16:creationId xmlns:a16="http://schemas.microsoft.com/office/drawing/2014/main" id="{56608B21-AB9D-CC47-98D1-1969A0A4710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9095" y="762514"/>
            <a:ext cx="6313811" cy="5324622"/>
          </a:xfrm>
          <a:prstGeom prst="rect">
            <a:avLst/>
          </a:prstGeom>
        </p:spPr>
      </p:pic>
    </p:spTree>
    <p:extLst>
      <p:ext uri="{BB962C8B-B14F-4D97-AF65-F5344CB8AC3E}">
        <p14:creationId xmlns:p14="http://schemas.microsoft.com/office/powerpoint/2010/main" val="1736028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593"/>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57675"/>
            <a:ext cx="4142483" cy="40019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29393" y="504475"/>
            <a:ext cx="9740028" cy="489364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an asterisk (*) next to the part of each student’s work that represents Sean converting his U.S. dollars to Canadian dollars.</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a smiley face (</a:t>
            </a:r>
            <a:r>
              <a:rPr lang="en-US" sz="2400" dirty="0">
                <a:sym typeface="Wingdings" pitchFamily="2" charset="2"/>
              </a:rPr>
              <a:t></a:t>
            </a:r>
            <a:r>
              <a:rPr lang="en-US" sz="2400" dirty="0">
                <a:latin typeface="Verdana" panose="020B0604030504040204" pitchFamily="34" charset="0"/>
                <a:ea typeface="Times New Roman" panose="02020603050405020304" pitchFamily="18" charset="0"/>
                <a:cs typeface="Times New Roman" panose="02020603050405020304" pitchFamily="18" charset="0"/>
              </a:rPr>
              <a:t>) next to the part of each student’s work that was used to determine the number of pesos Sean has for his business trip.</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Both students used proportional reasoning to solve the problem in multiple steps. Which method do you prefer? Explain.</a:t>
            </a:r>
          </a:p>
        </p:txBody>
      </p:sp>
    </p:spTree>
    <p:extLst>
      <p:ext uri="{BB962C8B-B14F-4D97-AF65-F5344CB8AC3E}">
        <p14:creationId xmlns:p14="http://schemas.microsoft.com/office/powerpoint/2010/main" val="1136753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9563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45BFA9"/>
                </a:solidFill>
                <a:latin typeface="Verdana"/>
                <a:ea typeface="Verdana"/>
                <a:cs typeface="Verdana"/>
                <a:sym typeface="Verdana"/>
              </a:rPr>
              <a:t>Try It</a:t>
            </a:r>
            <a:endParaRPr sz="51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76999"/>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9" name="image2.png">
            <a:extLst>
              <a:ext uri="{FF2B5EF4-FFF2-40B4-BE49-F238E27FC236}">
                <a16:creationId xmlns:a16="http://schemas.microsoft.com/office/drawing/2014/main" id="{8394850E-9686-AA45-AF02-0A40B4D9651A}"/>
              </a:ext>
            </a:extLst>
          </p:cNvPr>
          <p:cNvPicPr/>
          <p:nvPr/>
        </p:nvPicPr>
        <p:blipFill>
          <a:blip r:embed="rId4" cstate="print">
            <a:extLst>
              <a:ext uri="{28A0092B-C50C-407E-A947-70E740481C1C}">
                <a14:useLocalDpi xmlns:a14="http://schemas.microsoft.com/office/drawing/2010/main"/>
              </a:ext>
            </a:extLst>
          </a:blip>
          <a:stretch>
            <a:fillRect/>
          </a:stretch>
        </p:blipFill>
        <p:spPr>
          <a:xfrm>
            <a:off x="4953946" y="2843633"/>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1840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92563" y="-104763"/>
            <a:ext cx="114239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6.9.4 Try It: Solving Multi-Step Problems with Proportions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29393" y="1648607"/>
                <a:ext cx="10272155" cy="2800767"/>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Reina is making s’mores kits with a handmade thank-you card as party favors for her upcoming birthday party. She wants to make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kits, one for each party guest. It takes her about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minutes to assemble each kit and she doesn’t have much time. </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tabLst>
                    <a:tab pos="973138" algn="l"/>
                  </a:tabLst>
                </a:pPr>
                <a:r>
                  <a:rPr lang="en-US" sz="22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the question(s) that should be answered if Reina is worried about having enough time to make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kits.</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29393" y="1648607"/>
                <a:ext cx="10272155" cy="2800767"/>
              </a:xfrm>
              <a:prstGeom prst="rect">
                <a:avLst/>
              </a:prstGeom>
              <a:blipFill>
                <a:blip r:embed="rId4"/>
                <a:stretch>
                  <a:fillRect l="-772" t="-1522" r="-1068" b="-3478"/>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76999"/>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pic>
        <p:nvPicPr>
          <p:cNvPr id="8" name="image2.png">
            <a:extLst>
              <a:ext uri="{FF2B5EF4-FFF2-40B4-BE49-F238E27FC236}">
                <a16:creationId xmlns:a16="http://schemas.microsoft.com/office/drawing/2014/main" id="{C4883CB2-566E-2043-B895-D409DE88F8C7}"/>
              </a:ext>
            </a:extLst>
          </p:cNvPr>
          <p:cNvPicPr/>
          <p:nvPr/>
        </p:nvPicPr>
        <p:blipFill>
          <a:blip r:embed="rId5" cstate="screen">
            <a:extLst>
              <a:ext uri="{28A0092B-C50C-407E-A947-70E740481C1C}">
                <a14:useLocalDpi xmlns:a14="http://schemas.microsoft.com/office/drawing/2010/main"/>
              </a:ext>
            </a:extLst>
          </a:blip>
          <a:stretch>
            <a:fillRect/>
          </a:stretch>
        </p:blipFill>
        <p:spPr>
          <a:xfrm>
            <a:off x="442755" y="54645"/>
            <a:ext cx="749808" cy="749808"/>
          </a:xfrm>
          <a:prstGeom prst="rect">
            <a:avLst/>
          </a:prstGeom>
          <a:ln/>
        </p:spPr>
      </p:pic>
    </p:spTree>
    <p:extLst>
      <p:ext uri="{BB962C8B-B14F-4D97-AF65-F5344CB8AC3E}">
        <p14:creationId xmlns:p14="http://schemas.microsoft.com/office/powerpoint/2010/main" val="2051551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29392" y="605744"/>
                <a:ext cx="10046525" cy="1200329"/>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Determine if Reina will be able to make all of the kits in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hours. Show your work.</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29392" y="605744"/>
                <a:ext cx="10046525" cy="1200329"/>
              </a:xfrm>
              <a:prstGeom prst="rect">
                <a:avLst/>
              </a:prstGeom>
              <a:blipFill>
                <a:blip r:embed="rId4"/>
                <a:stretch>
                  <a:fillRect t="-4569"/>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44343"/>
            <a:ext cx="4142483"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280</a:t>
            </a:r>
            <a:endParaRPr i="1" dirty="0">
              <a:latin typeface="Calibri"/>
              <a:ea typeface="Calibri"/>
              <a:cs typeface="Calibri"/>
              <a:sym typeface="Calibri"/>
            </a:endParaRPr>
          </a:p>
        </p:txBody>
      </p:sp>
    </p:spTree>
    <p:extLst>
      <p:ext uri="{BB962C8B-B14F-4D97-AF65-F5344CB8AC3E}">
        <p14:creationId xmlns:p14="http://schemas.microsoft.com/office/powerpoint/2010/main" val="2159638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0147"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351475"/>
                <a:ext cx="9751903" cy="454194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 store has two different brands of laundry detergent. </a:t>
                </a:r>
                <a:r>
                  <a:rPr lang="en-US" sz="2400" dirty="0" err="1">
                    <a:latin typeface="Verdana" panose="020B0604030504040204" pitchFamily="34" charset="0"/>
                    <a:ea typeface="Times New Roman" panose="02020603050405020304" pitchFamily="18" charset="0"/>
                    <a:cs typeface="Times New Roman" panose="02020603050405020304" pitchFamily="18" charset="0"/>
                  </a:rPr>
                  <a:t>Laundrette</a:t>
                </a:r>
                <a:r>
                  <a:rPr lang="en-US" sz="2400" dirty="0">
                    <a:latin typeface="Verdana" panose="020B0604030504040204" pitchFamily="34" charset="0"/>
                    <a:ea typeface="Times New Roman" panose="02020603050405020304" pitchFamily="18" charset="0"/>
                    <a:cs typeface="Times New Roman" panose="02020603050405020304" pitchFamily="18" charset="0"/>
                  </a:rPr>
                  <a:t> can do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loads of laundry and costs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r>
                  <a:rPr lang="en-US" sz="2400" dirty="0" err="1">
                    <a:latin typeface="Verdana" panose="020B0604030504040204" pitchFamily="34" charset="0"/>
                    <a:ea typeface="Times New Roman" panose="02020603050405020304" pitchFamily="18" charset="0"/>
                    <a:cs typeface="Times New Roman" panose="02020603050405020304" pitchFamily="18" charset="0"/>
                  </a:rPr>
                  <a:t>Peroxy</a:t>
                </a:r>
                <a:r>
                  <a:rPr lang="en-US" sz="2400" dirty="0">
                    <a:latin typeface="Verdana" panose="020B0604030504040204" pitchFamily="34" charset="0"/>
                    <a:ea typeface="Times New Roman" panose="02020603050405020304" pitchFamily="18" charset="0"/>
                    <a:cs typeface="Times New Roman" panose="02020603050405020304" pitchFamily="18" charset="0"/>
                  </a:rPr>
                  <a:t> does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loads of laundry and costs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$4.56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a:t>
                </a:r>
              </a:p>
              <a:p>
                <a:pPr marL="914400">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If Claudia wants to compare which detergent will cost her less per load of laundry, she should find a 		 for each brand.  </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351475"/>
                <a:ext cx="9751903" cy="4541949"/>
              </a:xfrm>
              <a:prstGeom prst="rect">
                <a:avLst/>
              </a:prstGeom>
              <a:blipFill>
                <a:blip r:embed="rId4"/>
                <a:stretch>
                  <a:fillRect l="-938" t="-1074" b="-2148"/>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506525"/>
            <a:ext cx="40553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4" name="Picture 3" descr="Shape&#10;&#10;Description automatically generated with low confidence">
            <a:extLst>
              <a:ext uri="{FF2B5EF4-FFF2-40B4-BE49-F238E27FC236}">
                <a16:creationId xmlns:a16="http://schemas.microsoft.com/office/drawing/2014/main" id="{7BB50C51-6698-6143-9FD6-C0A19CBA0DC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80244" y="3208451"/>
            <a:ext cx="2073803" cy="900699"/>
          </a:xfrm>
          <a:prstGeom prst="rect">
            <a:avLst/>
          </a:prstGeom>
        </p:spPr>
      </p:pic>
    </p:spTree>
    <p:extLst>
      <p:ext uri="{BB962C8B-B14F-4D97-AF65-F5344CB8AC3E}">
        <p14:creationId xmlns:p14="http://schemas.microsoft.com/office/powerpoint/2010/main" val="468783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29392" y="614710"/>
                <a:ext cx="9859772" cy="4090094"/>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Which laundry detergent costs less per load?</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Denise makes trail mix by combining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parts granola, </a:t>
                </a:r>
                <a14:m>
                  <m:oMath xmlns:m="http://schemas.openxmlformats.org/officeDocument/2006/math">
                    <m:r>
                      <a:rPr lang="es-ES" sz="2400" dirty="0">
                        <a:latin typeface="Cambria Math" panose="02040503050406030204" pitchFamily="18" charset="0"/>
                        <a:cs typeface="Times New Roman" panose="02020603050405020304" pitchFamily="18" charset="0"/>
                      </a:rPr>
                      <m:t>1</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parts dried fruit, and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part chocolate. She plans to make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cups of trail mix for her family’s upcoming camping trip. How much of each ingredient does she need?</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29392" y="614710"/>
                <a:ext cx="9859772" cy="4090094"/>
              </a:xfrm>
              <a:prstGeom prst="rect">
                <a:avLst/>
              </a:prstGeom>
              <a:blipFill>
                <a:blip r:embed="rId4"/>
                <a:stretch>
                  <a:fillRect l="-927" t="-1192" r="-927" b="-2385"/>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55229"/>
            <a:ext cx="4164254"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2941623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9194"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45BFA9"/>
                </a:solidFill>
                <a:latin typeface="Verdana"/>
                <a:ea typeface="Verdana"/>
                <a:cs typeface="Verdana"/>
                <a:sym typeface="Verdana"/>
              </a:rPr>
              <a:t>Collaboration</a:t>
            </a:r>
            <a:endParaRPr sz="40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98771"/>
            <a:ext cx="42077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9" name="image5.png">
            <a:extLst>
              <a:ext uri="{FF2B5EF4-FFF2-40B4-BE49-F238E27FC236}">
                <a16:creationId xmlns:a16="http://schemas.microsoft.com/office/drawing/2014/main" id="{2E1E89A8-D0E7-C648-8036-51C32583B580}"/>
              </a:ext>
            </a:extLst>
          </p:cNvPr>
          <p:cNvPicPr/>
          <p:nvPr/>
        </p:nvPicPr>
        <p:blipFill>
          <a:blip r:embed="rId4" cstate="print">
            <a:extLst>
              <a:ext uri="{28A0092B-C50C-407E-A947-70E740481C1C}">
                <a14:useLocalDpi xmlns:a14="http://schemas.microsoft.com/office/drawing/2010/main"/>
              </a:ext>
            </a:extLst>
          </a:blip>
          <a:stretch>
            <a:fillRect/>
          </a:stretch>
        </p:blipFill>
        <p:spPr>
          <a:xfrm>
            <a:off x="4601700" y="2852778"/>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7677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7343"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62369" y="-69406"/>
            <a:ext cx="89725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6.9.5 Collaboration: Comparing Thinking</a:t>
            </a:r>
          </a:p>
        </p:txBody>
      </p:sp>
      <p:sp>
        <p:nvSpPr>
          <p:cNvPr id="2" name="Rectangle 1">
            <a:extLst>
              <a:ext uri="{FF2B5EF4-FFF2-40B4-BE49-F238E27FC236}">
                <a16:creationId xmlns:a16="http://schemas.microsoft.com/office/drawing/2014/main" id="{C0EEC4E3-DFCF-C94C-B80D-045F3E6BF764}"/>
              </a:ext>
            </a:extLst>
          </p:cNvPr>
          <p:cNvSpPr/>
          <p:nvPr/>
        </p:nvSpPr>
        <p:spPr>
          <a:xfrm>
            <a:off x="617517" y="1395768"/>
            <a:ext cx="10779826"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find another pair of partners to make a group of four.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and compare your work on the Try It problems. Verify your answers and resolve any differences. If necessary, revise your work.</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44343"/>
            <a:ext cx="4082593"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8" name="image5.png">
            <a:extLst>
              <a:ext uri="{FF2B5EF4-FFF2-40B4-BE49-F238E27FC236}">
                <a16:creationId xmlns:a16="http://schemas.microsoft.com/office/drawing/2014/main" id="{A179F127-9C9B-DE48-9971-FF132544006E}"/>
              </a:ext>
            </a:extLst>
          </p:cNvPr>
          <p:cNvPicPr/>
          <p:nvPr/>
        </p:nvPicPr>
        <p:blipFill>
          <a:blip r:embed="rId4" cstate="screen">
            <a:extLst>
              <a:ext uri="{28A0092B-C50C-407E-A947-70E740481C1C}">
                <a14:useLocalDpi xmlns:a14="http://schemas.microsoft.com/office/drawing/2010/main"/>
              </a:ext>
            </a:extLst>
          </a:blip>
          <a:stretch>
            <a:fillRect/>
          </a:stretch>
        </p:blipFill>
        <p:spPr>
          <a:xfrm>
            <a:off x="520005" y="128817"/>
            <a:ext cx="749808" cy="749808"/>
          </a:xfrm>
          <a:prstGeom prst="rect">
            <a:avLst/>
          </a:prstGeom>
          <a:ln/>
        </p:spPr>
      </p:pic>
    </p:spTree>
    <p:extLst>
      <p:ext uri="{BB962C8B-B14F-4D97-AF65-F5344CB8AC3E}">
        <p14:creationId xmlns:p14="http://schemas.microsoft.com/office/powerpoint/2010/main" val="3262101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8"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50" y="6520543"/>
            <a:ext cx="41315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71914" y="-8226"/>
            <a:ext cx="8019300" cy="11247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6.9.6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61625" y="180511"/>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D9F7A919-8B1E-2741-BB78-98A66295B9F8}"/>
              </a:ext>
            </a:extLst>
          </p:cNvPr>
          <p:cNvSpPr/>
          <p:nvPr/>
        </p:nvSpPr>
        <p:spPr>
          <a:xfrm>
            <a:off x="605642" y="1375465"/>
            <a:ext cx="10377433" cy="3477875"/>
          </a:xfrm>
          <a:prstGeom prst="rect">
            <a:avLst/>
          </a:prstGeom>
        </p:spPr>
        <p:txBody>
          <a:bodyPr wrap="square">
            <a:spAutoFit/>
          </a:bodyPr>
          <a:lstStyle/>
          <a:p>
            <a:pPr lvl="0"/>
            <a:r>
              <a:rPr lang="en-US" sz="2200" dirty="0">
                <a:latin typeface="Verdana" panose="020B0604030504040204" pitchFamily="34" charset="0"/>
                <a:ea typeface="Times New Roman" panose="02020603050405020304" pitchFamily="18" charset="0"/>
              </a:rPr>
              <a:t>There is power in believing you can improve. Complete each statement based on your learning today.</a:t>
            </a:r>
          </a:p>
          <a:p>
            <a:pPr lvl="0"/>
            <a:r>
              <a:rPr lang="en-US" sz="2200" dirty="0">
                <a:latin typeface="Verdana" panose="020B0604030504040204" pitchFamily="34" charset="0"/>
                <a:ea typeface="Times New Roman" panose="02020603050405020304" pitchFamily="18" charset="0"/>
              </a:rPr>
              <a:t> </a:t>
            </a:r>
          </a:p>
          <a:p>
            <a:pPr marL="457200" indent="-457200">
              <a:buFont typeface="+mj-lt"/>
              <a:buAutoNum type="arabicPeriod"/>
            </a:pPr>
            <a:r>
              <a:rPr lang="en-US" sz="2200" dirty="0">
                <a:latin typeface="Verdana" panose="020B0604030504040204" pitchFamily="34" charset="0"/>
                <a:ea typeface="Times New Roman" panose="02020603050405020304" pitchFamily="18" charset="0"/>
              </a:rPr>
              <a:t>Today, I am still unsure about …</a:t>
            </a:r>
          </a:p>
          <a:p>
            <a:pPr lvl="0"/>
            <a:r>
              <a:rPr lang="en-US" sz="2200" dirty="0">
                <a:latin typeface="Verdana" panose="020B0604030504040204" pitchFamily="34" charset="0"/>
                <a:ea typeface="Times New Roman" panose="02020603050405020304" pitchFamily="18" charset="0"/>
              </a:rPr>
              <a:t> </a:t>
            </a:r>
          </a:p>
          <a:p>
            <a:pPr lvl="0"/>
            <a:r>
              <a:rPr lang="en-US" sz="2200" dirty="0">
                <a:latin typeface="Verdana" panose="020B0604030504040204" pitchFamily="34" charset="0"/>
                <a:ea typeface="Times New Roman" panose="02020603050405020304" pitchFamily="18" charset="0"/>
              </a:rPr>
              <a:t> </a:t>
            </a:r>
          </a:p>
          <a:p>
            <a:pPr lvl="0"/>
            <a:r>
              <a:rPr lang="en-US" sz="2200" dirty="0">
                <a:latin typeface="Verdana" panose="020B0604030504040204" pitchFamily="34" charset="0"/>
                <a:ea typeface="Times New Roman" panose="02020603050405020304" pitchFamily="18" charset="0"/>
              </a:rPr>
              <a:t> </a:t>
            </a:r>
          </a:p>
          <a:p>
            <a:pPr lvl="0"/>
            <a:r>
              <a:rPr lang="en-US" sz="2200" dirty="0">
                <a:latin typeface="Verdana" panose="020B0604030504040204" pitchFamily="34" charset="0"/>
                <a:ea typeface="Times New Roman" panose="02020603050405020304" pitchFamily="18" charset="0"/>
              </a:rPr>
              <a:t> </a:t>
            </a:r>
          </a:p>
          <a:p>
            <a:pPr lvl="0"/>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startAt="2"/>
            </a:pPr>
            <a:r>
              <a:rPr lang="en-US" sz="2200" dirty="0">
                <a:latin typeface="Verdana" panose="020B0604030504040204" pitchFamily="34" charset="0"/>
                <a:ea typeface="Times New Roman" panose="02020603050405020304" pitchFamily="18" charset="0"/>
              </a:rPr>
              <a:t>I will try to build my confidence by …</a:t>
            </a:r>
          </a:p>
        </p:txBody>
      </p:sp>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50" y="6455229"/>
            <a:ext cx="4120712"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1424</TotalTime>
  <Words>1241</Words>
  <Application>Microsoft Office PowerPoint</Application>
  <PresentationFormat>Widescreen</PresentationFormat>
  <Paragraphs>166</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Cambria Math</vt:lpstr>
      <vt:lpstr>Arial</vt:lpstr>
      <vt:lpstr>Verdana</vt:lpstr>
      <vt:lpstr>Wingdings</vt:lpstr>
      <vt:lpstr>Century Gothic</vt:lpstr>
      <vt:lpstr>Calibri</vt:lpstr>
      <vt:lpstr>Arial Black</vt:lpstr>
      <vt:lpstr>1_Office Theme</vt:lpstr>
      <vt:lpstr>7th Grade Math  Unit 6, Lesson 9  Exploring Multi-Step Proportion Problems  Volume 1, pg. 277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Collaboration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25</cp:revision>
  <dcterms:created xsi:type="dcterms:W3CDTF">2015-03-17T18:51:18Z</dcterms:created>
  <dcterms:modified xsi:type="dcterms:W3CDTF">2022-06-08T17:13:43Z</dcterms:modified>
</cp:coreProperties>
</file>