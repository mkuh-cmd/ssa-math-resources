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11" r:id="rId8"/>
    <p:sldId id="312" r:id="rId9"/>
    <p:sldId id="366" r:id="rId10"/>
    <p:sldId id="367" r:id="rId11"/>
    <p:sldId id="368" r:id="rId12"/>
    <p:sldId id="326" r:id="rId13"/>
    <p:sldId id="327" r:id="rId14"/>
    <p:sldId id="393" r:id="rId15"/>
    <p:sldId id="378" r:id="rId16"/>
    <p:sldId id="379" r:id="rId17"/>
    <p:sldId id="380" r:id="rId18"/>
    <p:sldId id="390" r:id="rId19"/>
    <p:sldId id="391" r:id="rId20"/>
    <p:sldId id="394" r:id="rId21"/>
    <p:sldId id="381" r:id="rId22"/>
    <p:sldId id="382" r:id="rId23"/>
    <p:sldId id="387" r:id="rId24"/>
    <p:sldId id="388" r:id="rId25"/>
    <p:sldId id="389" r:id="rId26"/>
    <p:sldId id="306" r:id="rId27"/>
    <p:sldId id="307" r:id="rId28"/>
  </p:sldIdLst>
  <p:sldSz cx="12192000" cy="6858000"/>
  <p:notesSz cx="6858000" cy="9144000"/>
  <p:embeddedFontLst>
    <p:embeddedFont>
      <p:font typeface="Arial Black" panose="020B0604020202020204" pitchFamily="34" charset="0"/>
      <p:regular r:id="rId30"/>
      <p:bold r:id="rId31"/>
    </p:embeddedFont>
    <p:embeddedFont>
      <p:font typeface="Calibri" panose="020F0502020204030204" pitchFamily="34" charset="0"/>
      <p:regular r:id="rId32"/>
      <p:bold r:id="rId33"/>
      <p:italic r:id="rId34"/>
      <p:boldItalic r:id="rId35"/>
    </p:embeddedFont>
    <p:embeddedFont>
      <p:font typeface="Cambria Math" panose="02040503050406030204" pitchFamily="18" charset="0"/>
      <p:regular r:id="rId36"/>
    </p:embeddedFont>
    <p:embeddedFont>
      <p:font typeface="Century Gothic" panose="020B0502020202020204" pitchFamily="34" charset="0"/>
      <p:regular r:id="rId37"/>
      <p:bold r:id="rId38"/>
      <p:italic r:id="rId39"/>
      <p:boldItalic r:id="rId40"/>
    </p:embeddedFont>
    <p:embeddedFont>
      <p:font typeface="Verdana" panose="020B060403050404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BFA9"/>
    <a:srgbClr val="26B7D4"/>
    <a:srgbClr val="E24E5F"/>
    <a:srgbClr val="035036"/>
    <a:srgbClr val="3465B0"/>
    <a:srgbClr val="DA4487"/>
    <a:srgbClr val="276C46"/>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5"/>
    <p:restoredTop sz="94694"/>
  </p:normalViewPr>
  <p:slideViewPr>
    <p:cSldViewPr snapToGrid="0">
      <p:cViewPr varScale="1">
        <p:scale>
          <a:sx n="121" d="100"/>
          <a:sy n="121" d="100"/>
        </p:scale>
        <p:origin x="576"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3484838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528460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69219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4840320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326959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5625862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9989126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644123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6714991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6562423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1482288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554560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6078080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2168322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8799254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3426315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hyperlink" Target="https://it.wiktionary.org/wiki/File:Orcinus_Orca.jpg" TargetMode="External"/><Relationship Id="rId3" Type="http://schemas.openxmlformats.org/officeDocument/2006/relationships/image" Target="../media/image10.png"/><Relationship Id="rId7"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60.png"/><Relationship Id="rId4" Type="http://schemas.openxmlformats.org/officeDocument/2006/relationships/image" Target="../media/image25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00.png"/><Relationship Id="rId5" Type="http://schemas.openxmlformats.org/officeDocument/2006/relationships/image" Target="../media/image30.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7</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Math</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6, Lesson 4</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Converting Mass and Area</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251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1964" y="1782947"/>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95850" y="-5138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50578" y="192817"/>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7314749" y="6465983"/>
            <a:ext cx="4011855"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6605"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40229" y="1600200"/>
            <a:ext cx="9470571"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MA.7.AR.3.3</a:t>
            </a:r>
          </a:p>
          <a:p>
            <a:pPr indent="0">
              <a:buNone/>
            </a:pPr>
            <a:r>
              <a:rPr lang="en-US" sz="25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the conversion of units across different measurement systems.  </a:t>
            </a:r>
            <a:endPar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494122" y="1296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45" y="6096505"/>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41422" y="-57102"/>
            <a:ext cx="1102677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25285" y="1596390"/>
            <a:ext cx="1090748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
        <p:nvSpPr>
          <p:cNvPr id="9" name="Google Shape;282;g104476d1465_1_17">
            <a:extLst>
              <a:ext uri="{FF2B5EF4-FFF2-40B4-BE49-F238E27FC236}">
                <a16:creationId xmlns:a16="http://schemas.microsoft.com/office/drawing/2014/main" id="{7E42EF11-5FC6-7744-AF68-159F2F06D67F}"/>
              </a:ext>
            </a:extLst>
          </p:cNvPr>
          <p:cNvSpPr txBox="1"/>
          <p:nvPr/>
        </p:nvSpPr>
        <p:spPr>
          <a:xfrm>
            <a:off x="8936721" y="642514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251</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8189" y="612903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99498" y="-132626"/>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37699" y="156574"/>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631371" y="1609531"/>
            <a:ext cx="1116874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500" dirty="0">
                <a:latin typeface="Verdana" panose="020B0604030504040204" pitchFamily="34" charset="0"/>
                <a:ea typeface="Verdana" panose="020B0604030504040204" pitchFamily="34" charset="0"/>
                <a:cs typeface="Verdana" panose="020B0604030504040204" pitchFamily="34" charset="0"/>
              </a:rPr>
              <a:t>I can solve problems involving conversion of mass and area measurements across different measurement systems. </a:t>
            </a:r>
          </a:p>
        </p:txBody>
      </p:sp>
      <p:sp>
        <p:nvSpPr>
          <p:cNvPr id="8" name="Google Shape;282;g104476d1465_1_17">
            <a:extLst>
              <a:ext uri="{FF2B5EF4-FFF2-40B4-BE49-F238E27FC236}">
                <a16:creationId xmlns:a16="http://schemas.microsoft.com/office/drawing/2014/main" id="{6793C8E2-E1C4-B24A-AB6C-B7DBDD28D85B}"/>
              </a:ext>
            </a:extLst>
          </p:cNvPr>
          <p:cNvSpPr txBox="1"/>
          <p:nvPr/>
        </p:nvSpPr>
        <p:spPr>
          <a:xfrm>
            <a:off x="7314749" y="6444343"/>
            <a:ext cx="4203439"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251</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26604" y="6187523"/>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BCEEC8C-9B17-C841-8ED4-211C80FA09C6}"/>
              </a:ext>
            </a:extLst>
          </p:cNvPr>
          <p:cNvSpPr txBox="1"/>
          <p:nvPr/>
        </p:nvSpPr>
        <p:spPr>
          <a:xfrm>
            <a:off x="7314750" y="6487885"/>
            <a:ext cx="4011854"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49898"/>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89385" y="-54961"/>
            <a:ext cx="914551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6.4.1 Warm-Up: Orca vs. Human</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34767" y="18659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53081A1-25B1-2A4B-8FF2-3F1C264A000D}"/>
                  </a:ext>
                </a:extLst>
              </p:cNvPr>
              <p:cNvSpPr/>
              <p:nvPr/>
            </p:nvSpPr>
            <p:spPr>
              <a:xfrm>
                <a:off x="685800" y="1321441"/>
                <a:ext cx="9419850" cy="1015663"/>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Echolocation is the use of sound waves and echoes to navigate and find food, as seen in bats and whales. An orca can "see" objects via echolocation from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150</m:t>
                    </m:r>
                  </m:oMath>
                </a14:m>
                <a:r>
                  <a:rPr lang="en-US" sz="2000" dirty="0">
                    <a:latin typeface="Verdana" panose="020B0604030504040204" pitchFamily="34" charset="0"/>
                    <a:ea typeface="Verdana" panose="020B0604030504040204" pitchFamily="34" charset="0"/>
                    <a:cs typeface="Verdana" panose="020B0604030504040204" pitchFamily="34" charset="0"/>
                  </a:rPr>
                  <a:t> meters (m) away. </a:t>
                </a:r>
              </a:p>
            </p:txBody>
          </p:sp>
        </mc:Choice>
        <mc:Fallback xmlns="">
          <p:sp>
            <p:nvSpPr>
              <p:cNvPr id="5" name="Rectangle 4">
                <a:extLst>
                  <a:ext uri="{FF2B5EF4-FFF2-40B4-BE49-F238E27FC236}">
                    <a16:creationId xmlns:a16="http://schemas.microsoft.com/office/drawing/2014/main" id="{353081A1-25B1-2A4B-8FF2-3F1C264A000D}"/>
                  </a:ext>
                </a:extLst>
              </p:cNvPr>
              <p:cNvSpPr>
                <a:spLocks noRot="1" noChangeAspect="1" noMove="1" noResize="1" noEditPoints="1" noAdjustHandles="1" noChangeArrowheads="1" noChangeShapeType="1" noTextEdit="1"/>
              </p:cNvSpPr>
              <p:nvPr/>
            </p:nvSpPr>
            <p:spPr>
              <a:xfrm>
                <a:off x="685800" y="1321441"/>
                <a:ext cx="9419850" cy="1015663"/>
              </a:xfrm>
              <a:prstGeom prst="rect">
                <a:avLst/>
              </a:prstGeom>
              <a:blipFill>
                <a:blip r:embed="rId5"/>
                <a:stretch>
                  <a:fillRect l="-712" t="-3614" r="-906" b="-10241"/>
                </a:stretch>
              </a:blipFill>
            </p:spPr>
            <p:txBody>
              <a:bodyPr/>
              <a:lstStyle/>
              <a:p>
                <a:r>
                  <a:rPr lang="en-US">
                    <a:noFill/>
                  </a:rPr>
                  <a:t> </a:t>
                </a:r>
              </a:p>
            </p:txBody>
          </p:sp>
        </mc:Fallback>
      </mc:AlternateContent>
      <p:sp>
        <p:nvSpPr>
          <p:cNvPr id="14" name="Google Shape;282;g104476d1465_1_17">
            <a:extLst>
              <a:ext uri="{FF2B5EF4-FFF2-40B4-BE49-F238E27FC236}">
                <a16:creationId xmlns:a16="http://schemas.microsoft.com/office/drawing/2014/main" id="{478CDDBB-860A-D748-B9D0-C51751F3670A}"/>
              </a:ext>
            </a:extLst>
          </p:cNvPr>
          <p:cNvSpPr txBox="1"/>
          <p:nvPr/>
        </p:nvSpPr>
        <p:spPr>
          <a:xfrm>
            <a:off x="7314749" y="6476999"/>
            <a:ext cx="41424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68B01B2-A6E1-A040-B327-F84CE961ABE7}"/>
                  </a:ext>
                </a:extLst>
              </p:cNvPr>
              <p:cNvSpPr/>
              <p:nvPr/>
            </p:nvSpPr>
            <p:spPr>
              <a:xfrm>
                <a:off x="740385" y="4826459"/>
                <a:ext cx="9419850" cy="1323439"/>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human with 20/20 vision can clearly see something from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feet (ft) away.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How many times farther can an orca "see" compared to a human?</a:t>
                </a:r>
              </a:p>
            </p:txBody>
          </p:sp>
        </mc:Choice>
        <mc:Fallback xmlns="">
          <p:sp>
            <p:nvSpPr>
              <p:cNvPr id="11" name="Rectangle 10">
                <a:extLst>
                  <a:ext uri="{FF2B5EF4-FFF2-40B4-BE49-F238E27FC236}">
                    <a16:creationId xmlns:a16="http://schemas.microsoft.com/office/drawing/2014/main" id="{768B01B2-A6E1-A040-B327-F84CE961ABE7}"/>
                  </a:ext>
                </a:extLst>
              </p:cNvPr>
              <p:cNvSpPr>
                <a:spLocks noRot="1" noChangeAspect="1" noMove="1" noResize="1" noEditPoints="1" noAdjustHandles="1" noChangeArrowheads="1" noChangeShapeType="1" noTextEdit="1"/>
              </p:cNvSpPr>
              <p:nvPr/>
            </p:nvSpPr>
            <p:spPr>
              <a:xfrm>
                <a:off x="740385" y="4826459"/>
                <a:ext cx="9419850" cy="1323439"/>
              </a:xfrm>
              <a:prstGeom prst="rect">
                <a:avLst/>
              </a:prstGeom>
              <a:blipFill>
                <a:blip r:embed="rId6"/>
                <a:stretch>
                  <a:fillRect l="-712" t="-2765" b="-7373"/>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62DEA829-0737-4346-ADC2-8B2CBC7A2456}"/>
              </a:ext>
            </a:extLst>
          </p:cNvPr>
          <p:cNvPicPr>
            <a:picLocks noChangeAspect="1"/>
          </p:cNvPicPr>
          <p:nvPr/>
        </p:nvPicPr>
        <p:blipFill>
          <a:blip r:embed="rId7" cstate="screen">
            <a:extLst>
              <a:ext uri="{28A0092B-C50C-407E-A947-70E740481C1C}">
                <a14:useLocalDpi xmlns:a14="http://schemas.microsoft.com/office/drawing/2010/main"/>
              </a:ext>
              <a:ext uri="{837473B0-CC2E-450A-ABE3-18F120FF3D39}">
                <a1611:picAttrSrcUrl xmlns:a1611="http://schemas.microsoft.com/office/drawing/2016/11/main" r:id="rId8"/>
              </a:ext>
            </a:extLst>
          </a:blip>
          <a:stretch>
            <a:fillRect/>
          </a:stretch>
        </p:blipFill>
        <p:spPr>
          <a:xfrm>
            <a:off x="3360103" y="2790757"/>
            <a:ext cx="5471795" cy="186309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738337"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ED0D4F70-A5F7-6844-B49C-C7559A226638}"/>
              </a:ext>
            </a:extLst>
          </p:cNvPr>
          <p:cNvSpPr txBox="1"/>
          <p:nvPr/>
        </p:nvSpPr>
        <p:spPr>
          <a:xfrm>
            <a:off x="7314750" y="6444343"/>
            <a:ext cx="4186026"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252</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AD258560-89EA-FA44-996F-0BAC6781544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500195" y="2837435"/>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6846"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81439" y="-71538"/>
            <a:ext cx="1092925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26B7D4"/>
                </a:solidFill>
                <a:latin typeface="Verdana"/>
                <a:ea typeface="Verdana"/>
                <a:cs typeface="Verdana"/>
                <a:sym typeface="Verdana"/>
              </a:rPr>
              <a:t>6.4.2 Guided Instruction: Conversions of Mass and Weight</a:t>
            </a:r>
          </a:p>
        </p:txBody>
      </p:sp>
      <p:sp>
        <p:nvSpPr>
          <p:cNvPr id="2" name="Rectangle 1">
            <a:extLst>
              <a:ext uri="{FF2B5EF4-FFF2-40B4-BE49-F238E27FC236}">
                <a16:creationId xmlns:a16="http://schemas.microsoft.com/office/drawing/2014/main" id="{B1C46F4F-A85A-084E-B29C-01BB2615DE1E}"/>
              </a:ext>
            </a:extLst>
          </p:cNvPr>
          <p:cNvSpPr/>
          <p:nvPr/>
        </p:nvSpPr>
        <p:spPr>
          <a:xfrm>
            <a:off x="688769" y="1432242"/>
            <a:ext cx="9470210" cy="1323439"/>
          </a:xfrm>
          <a:prstGeom prst="rect">
            <a:avLst/>
          </a:prstGeom>
        </p:spPr>
        <p:txBody>
          <a:bodyPr wrap="square">
            <a:spAutoFit/>
          </a:bodyPr>
          <a:lstStyle/>
          <a:p>
            <a:pPr lvl="0"/>
            <a:r>
              <a:rPr lang="en-US" sz="2000" dirty="0">
                <a:latin typeface="Verdana" panose="020B0604030504040204" pitchFamily="34" charset="0"/>
                <a:ea typeface="Times New Roman" panose="02020603050405020304" pitchFamily="18" charset="0"/>
              </a:rPr>
              <a:t>In the metric system of measurement, the most common units for measuring mass include milligrams (mg), grams (g), and kilograms (kg). In the customary system, the most common units for measurement for weight include ounces (oz), pounds (</a:t>
            </a:r>
            <a:r>
              <a:rPr lang="en-US" sz="2000" dirty="0" err="1">
                <a:latin typeface="Verdana" panose="020B0604030504040204" pitchFamily="34" charset="0"/>
                <a:ea typeface="Times New Roman" panose="02020603050405020304" pitchFamily="18" charset="0"/>
              </a:rPr>
              <a:t>lb</a:t>
            </a:r>
            <a:r>
              <a:rPr lang="en-US" sz="2000" dirty="0">
                <a:latin typeface="Verdana" panose="020B0604030504040204" pitchFamily="34" charset="0"/>
                <a:ea typeface="Times New Roman" panose="02020603050405020304" pitchFamily="18" charset="0"/>
              </a:rPr>
              <a:t>), and tons (t).</a:t>
            </a:r>
          </a:p>
        </p:txBody>
      </p:sp>
      <p:sp>
        <p:nvSpPr>
          <p:cNvPr id="13" name="Google Shape;282;g104476d1465_1_17">
            <a:extLst>
              <a:ext uri="{FF2B5EF4-FFF2-40B4-BE49-F238E27FC236}">
                <a16:creationId xmlns:a16="http://schemas.microsoft.com/office/drawing/2014/main" id="{201E82E5-44E0-F44C-89CC-51BF5F797282}"/>
              </a:ext>
            </a:extLst>
          </p:cNvPr>
          <p:cNvSpPr txBox="1"/>
          <p:nvPr/>
        </p:nvSpPr>
        <p:spPr>
          <a:xfrm>
            <a:off x="7314750" y="6455229"/>
            <a:ext cx="4232096"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252</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id="{6F60F123-24E9-D147-8F3C-8028CBBBDBC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3119" y="60325"/>
            <a:ext cx="758320" cy="758320"/>
          </a:xfrm>
          <a:prstGeom prst="rect">
            <a:avLst/>
          </a:prstGeom>
        </p:spPr>
      </p:pic>
      <p:sp>
        <p:nvSpPr>
          <p:cNvPr id="11" name="Text Box 40">
            <a:extLst>
              <a:ext uri="{FF2B5EF4-FFF2-40B4-BE49-F238E27FC236}">
                <a16:creationId xmlns:a16="http://schemas.microsoft.com/office/drawing/2014/main" id="{DC1AE2AB-2947-DA4C-9FB1-5201C9E02854}"/>
              </a:ext>
            </a:extLst>
          </p:cNvPr>
          <p:cNvSpPr txBox="1"/>
          <p:nvPr/>
        </p:nvSpPr>
        <p:spPr>
          <a:xfrm>
            <a:off x="2460162" y="3455894"/>
            <a:ext cx="7271676" cy="2771600"/>
          </a:xfrm>
          <a:prstGeom prst="roundRect">
            <a:avLst/>
          </a:prstGeom>
          <a:solidFill>
            <a:srgbClr val="B8E6F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r>
              <a:rPr lang="en-US" sz="1600" b="1" dirty="0">
                <a:solidFill>
                  <a:srgbClr val="0075BF"/>
                </a:solidFill>
                <a:latin typeface="Verdana" panose="020B0604030504040204" pitchFamily="34" charset="0"/>
                <a:ea typeface="Times New Roman" panose="02020603050405020304" pitchFamily="18" charset="0"/>
              </a:rPr>
              <a:t>Weight vs. Mass</a:t>
            </a:r>
            <a:endParaRPr lang="en-CO" sz="1100" dirty="0">
              <a:latin typeface="Times New Roman" panose="02020603050405020304" pitchFamily="18" charset="0"/>
              <a:ea typeface="Times New Roman" panose="02020603050405020304" pitchFamily="18" charset="0"/>
            </a:endParaRPr>
          </a:p>
          <a:p>
            <a:pPr marL="742950"/>
            <a:r>
              <a:rPr lang="en-US" sz="1600" dirty="0">
                <a:solidFill>
                  <a:srgbClr val="0075BF"/>
                </a:solidFill>
                <a:latin typeface="Verdana" panose="020B0604030504040204" pitchFamily="34" charset="0"/>
                <a:ea typeface="Times New Roman" panose="02020603050405020304" pitchFamily="18" charset="0"/>
              </a:rPr>
              <a:t>Weight and mass are often used interchangeably, but they are not quite the same, as you’ll learn in science. The mass of an object never changes, but its weight changes depending on gravity. For example, your weight on Earth and your weight on the moon would be different, while your mass would remain the same. Since you’re in math class here on Earth, mass and weight will be used interchangeably.</a:t>
            </a:r>
            <a:r>
              <a:rPr lang="es-ES" sz="1100" b="1" dirty="0">
                <a:solidFill>
                  <a:srgbClr val="0075BF"/>
                </a:solidFill>
                <a:latin typeface="Times New Roman" panose="02020603050405020304" pitchFamily="18" charset="0"/>
                <a:ea typeface="Times New Roman" panose="02020603050405020304" pitchFamily="18" charset="0"/>
              </a:rPr>
              <a:t> </a:t>
            </a:r>
            <a:endParaRPr lang="en-CO" sz="1100" dirty="0">
              <a:latin typeface="Times New Roman" panose="02020603050405020304" pitchFamily="18" charset="0"/>
              <a:ea typeface="Times New Roman" panose="02020603050405020304" pitchFamily="18" charset="0"/>
            </a:endParaRPr>
          </a:p>
        </p:txBody>
      </p:sp>
      <p:pic>
        <p:nvPicPr>
          <p:cNvPr id="12" name="Picture 11" descr="Icon&#10;&#10;Description automatically generated">
            <a:extLst>
              <a:ext uri="{FF2B5EF4-FFF2-40B4-BE49-F238E27FC236}">
                <a16:creationId xmlns:a16="http://schemas.microsoft.com/office/drawing/2014/main" id="{9D64B4D6-686A-C441-B67B-7B46901874E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60196" y="3723901"/>
            <a:ext cx="539750" cy="5397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836" y="613785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88769" y="713022"/>
                <a:ext cx="10658503" cy="4260782"/>
              </a:xfrm>
              <a:prstGeom prst="rect">
                <a:avLst/>
              </a:prstGeom>
              <a:noFill/>
            </p:spPr>
            <p:txBody>
              <a:bodyPr wrap="square" rtlCol="0">
                <a:spAutoFit/>
              </a:bodyPr>
              <a:lstStyle/>
              <a:p>
                <a:pPr marL="457200" lvl="2"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With your partner, discuss some real-world examples of measuring mass.</a:t>
                </a:r>
              </a:p>
              <a:p>
                <a:pPr lvl="2" indent="12700"/>
                <a:r>
                  <a:rPr lang="en-US" sz="2000" dirty="0">
                    <a:latin typeface="Verdana" panose="020B0604030504040204" pitchFamily="34" charset="0"/>
                    <a:ea typeface="Verdana" panose="020B0604030504040204" pitchFamily="34" charset="0"/>
                    <a:cs typeface="Verdana" panose="020B0604030504040204" pitchFamily="34" charset="0"/>
                  </a:rPr>
                  <a:t> </a:t>
                </a:r>
              </a:p>
              <a:p>
                <a:pPr lvl="2" indent="12700"/>
                <a:r>
                  <a:rPr lang="en-US" sz="2000" dirty="0">
                    <a:latin typeface="Verdana" panose="020B0604030504040204" pitchFamily="34" charset="0"/>
                    <a:ea typeface="Verdana" panose="020B0604030504040204" pitchFamily="34" charset="0"/>
                    <a:cs typeface="Verdana" panose="020B0604030504040204" pitchFamily="34" charset="0"/>
                  </a:rPr>
                  <a:t> </a:t>
                </a:r>
              </a:p>
              <a:p>
                <a:pPr lvl="2" indent="12700"/>
                <a:r>
                  <a:rPr lang="en-US" sz="2000" dirty="0">
                    <a:latin typeface="Verdana" panose="020B0604030504040204" pitchFamily="34" charset="0"/>
                    <a:ea typeface="Verdana" panose="020B0604030504040204" pitchFamily="34" charset="0"/>
                    <a:cs typeface="Verdana" panose="020B0604030504040204" pitchFamily="34" charset="0"/>
                  </a:rPr>
                  <a:t> </a:t>
                </a:r>
              </a:p>
              <a:p>
                <a:pPr lvl="2" indent="12700"/>
                <a:r>
                  <a:rPr lang="en-US" sz="2000" dirty="0">
                    <a:latin typeface="Verdana" panose="020B0604030504040204" pitchFamily="34" charset="0"/>
                    <a:ea typeface="Verdana" panose="020B0604030504040204" pitchFamily="34" charset="0"/>
                    <a:cs typeface="Verdana" panose="020B0604030504040204" pitchFamily="34" charset="0"/>
                  </a:rPr>
                  <a:t> </a:t>
                </a:r>
              </a:p>
              <a:p>
                <a:pPr marL="463550" lvl="2" indent="12700"/>
                <a:r>
                  <a:rPr lang="en-US" sz="2000" dirty="0">
                    <a:latin typeface="Verdana" panose="020B0604030504040204" pitchFamily="34" charset="0"/>
                    <a:ea typeface="Verdana" panose="020B0604030504040204" pitchFamily="34" charset="0"/>
                    <a:cs typeface="Verdana" panose="020B0604030504040204" pitchFamily="34" charset="0"/>
                  </a:rPr>
                  <a:t>Several common conversion factors for weight and mass are shown.</a:t>
                </a:r>
              </a:p>
              <a:p>
                <a:pPr marL="463550" lvl="2" indent="12700"/>
                <a:r>
                  <a:rPr lang="en-US" sz="2000" dirty="0">
                    <a:latin typeface="Verdana" panose="020B0604030504040204" pitchFamily="34" charset="0"/>
                    <a:ea typeface="Verdana" panose="020B0604030504040204" pitchFamily="34" charset="0"/>
                    <a:cs typeface="Verdana" panose="020B0604030504040204" pitchFamily="34" charset="0"/>
                  </a:rPr>
                  <a:t> </a:t>
                </a:r>
              </a:p>
              <a:p>
                <a:pPr marL="463550" lvl="2" indent="12700"/>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ounce (oz) =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28.35</m:t>
                    </m:r>
                  </m:oMath>
                </a14:m>
                <a:r>
                  <a:rPr lang="en-US" sz="2000" dirty="0">
                    <a:latin typeface="Verdana" panose="020B0604030504040204" pitchFamily="34" charset="0"/>
                    <a:ea typeface="Verdana" panose="020B0604030504040204" pitchFamily="34" charset="0"/>
                    <a:cs typeface="Verdana" panose="020B0604030504040204" pitchFamily="34" charset="0"/>
                  </a:rPr>
                  <a:t> grams (g)</a:t>
                </a:r>
              </a:p>
              <a:p>
                <a:pPr marL="463550" lvl="2" indent="12700"/>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pound (lb.) =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453.6</m:t>
                    </m:r>
                  </m:oMath>
                </a14:m>
                <a:r>
                  <a:rPr lang="en-US" sz="2000" dirty="0">
                    <a:latin typeface="Verdana" panose="020B0604030504040204" pitchFamily="34" charset="0"/>
                    <a:ea typeface="Verdana" panose="020B0604030504040204" pitchFamily="34" charset="0"/>
                    <a:cs typeface="Verdana" panose="020B0604030504040204" pitchFamily="34" charset="0"/>
                  </a:rPr>
                  <a:t> grams (g)</a:t>
                </a:r>
              </a:p>
              <a:p>
                <a:pPr marL="463550" lvl="2" indent="12700"/>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kilogram (kg) =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2.2</m:t>
                    </m:r>
                  </m:oMath>
                </a14:m>
                <a:r>
                  <a:rPr lang="en-US" sz="2000" dirty="0">
                    <a:latin typeface="Verdana" panose="020B0604030504040204" pitchFamily="34" charset="0"/>
                    <a:ea typeface="Verdana" panose="020B0604030504040204" pitchFamily="34" charset="0"/>
                    <a:cs typeface="Verdana" panose="020B0604030504040204" pitchFamily="34" charset="0"/>
                  </a:rPr>
                  <a:t> pounds (lb.)</a:t>
                </a:r>
              </a:p>
              <a:p>
                <a:pPr marL="463550" lvl="2" indent="12700"/>
                <a:r>
                  <a:rPr lang="en-US" sz="2000" dirty="0">
                    <a:latin typeface="Verdana" panose="020B0604030504040204" pitchFamily="34" charset="0"/>
                    <a:ea typeface="Verdana" panose="020B0604030504040204" pitchFamily="34" charset="0"/>
                    <a:cs typeface="Verdana" panose="020B0604030504040204" pitchFamily="34" charset="0"/>
                  </a:rPr>
                  <a:t> </a:t>
                </a:r>
              </a:p>
              <a:p>
                <a:pPr marL="463550" lvl="2" indent="12700"/>
                <a:r>
                  <a:rPr lang="en-US" sz="2000" dirty="0">
                    <a:latin typeface="Verdana" panose="020B0604030504040204" pitchFamily="34" charset="0"/>
                    <a:ea typeface="Verdana" panose="020B0604030504040204" pitchFamily="34" charset="0"/>
                    <a:cs typeface="Verdana" panose="020B0604030504040204" pitchFamily="34" charset="0"/>
                  </a:rPr>
                  <a:t>Each conversion factor can be expressed as a ratio or unit rate. For example,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453.6 </m:t>
                        </m:r>
                        <m:r>
                          <a:rPr lang="es-ES" sz="2000" i="1" dirty="0">
                            <a:latin typeface="Cambria Math" panose="02040503050406030204" pitchFamily="18" charset="0"/>
                            <a:ea typeface="Verdana" panose="020B0604030504040204" pitchFamily="34" charset="0"/>
                            <a:cs typeface="Verdana" panose="020B0604030504040204" pitchFamily="34" charset="0"/>
                          </a:rPr>
                          <m:t>𝑔𝑟𝑎𝑚𝑠</m:t>
                        </m:r>
                      </m:num>
                      <m:den>
                        <m:r>
                          <a:rPr lang="es-ES" sz="2000" i="1" dirty="0">
                            <a:latin typeface="Cambria Math" panose="02040503050406030204" pitchFamily="18" charset="0"/>
                            <a:ea typeface="Verdana" panose="020B0604030504040204" pitchFamily="34" charset="0"/>
                            <a:cs typeface="Verdana" panose="020B0604030504040204" pitchFamily="34" charset="0"/>
                          </a:rPr>
                          <m:t>1 </m:t>
                        </m:r>
                        <m:r>
                          <a:rPr lang="es-ES" sz="2000" i="1" dirty="0">
                            <a:latin typeface="Cambria Math" panose="02040503050406030204" pitchFamily="18" charset="0"/>
                            <a:ea typeface="Verdana" panose="020B0604030504040204" pitchFamily="34" charset="0"/>
                            <a:cs typeface="Verdana" panose="020B0604030504040204" pitchFamily="34" charset="0"/>
                          </a:rPr>
                          <m:t>𝑝𝑜𝑢𝑛𝑑</m:t>
                        </m:r>
                      </m:den>
                    </m:f>
                    <m:r>
                      <a:rPr lang="es-ES" sz="2000" i="1" dirty="0">
                        <a:latin typeface="Cambria Math" panose="02040503050406030204" pitchFamily="18" charset="0"/>
                        <a:ea typeface="Verdana" panose="020B0604030504040204" pitchFamily="34" charset="0"/>
                        <a:cs typeface="Verdana" panose="020B0604030504040204" pitchFamily="34"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is the unit rate of grams to pounds.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88769" y="713022"/>
                <a:ext cx="10658503" cy="4260782"/>
              </a:xfrm>
              <a:prstGeom prst="rect">
                <a:avLst/>
              </a:prstGeom>
              <a:blipFill>
                <a:blip r:embed="rId4"/>
                <a:stretch>
                  <a:fillRect l="-629" t="-1001" r="-229"/>
                </a:stretch>
              </a:blipFill>
            </p:spPr>
            <p:txBody>
              <a:bodyPr/>
              <a:lstStyle/>
              <a:p>
                <a:r>
                  <a:rPr lang="en-US">
                    <a:noFill/>
                  </a:rPr>
                  <a:t> </a:t>
                </a:r>
              </a:p>
            </p:txBody>
          </p:sp>
        </mc:Fallback>
      </mc:AlternateContent>
      <p:sp>
        <p:nvSpPr>
          <p:cNvPr id="8" name="Google Shape;282;g104476d1465_1_17">
            <a:extLst>
              <a:ext uri="{FF2B5EF4-FFF2-40B4-BE49-F238E27FC236}">
                <a16:creationId xmlns:a16="http://schemas.microsoft.com/office/drawing/2014/main" id="{E91541B9-7C1E-4043-A1D5-12779C6D7B04}"/>
              </a:ext>
            </a:extLst>
          </p:cNvPr>
          <p:cNvSpPr txBox="1"/>
          <p:nvPr/>
        </p:nvSpPr>
        <p:spPr>
          <a:xfrm>
            <a:off x="8925836" y="646649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252</a:t>
            </a:r>
            <a:endParaRPr i="1" dirty="0">
              <a:latin typeface="Calibri"/>
              <a:ea typeface="Calibri"/>
              <a:cs typeface="Calibri"/>
              <a:sym typeface="Calibri"/>
            </a:endParaRPr>
          </a:p>
        </p:txBody>
      </p:sp>
    </p:spTree>
    <p:extLst>
      <p:ext uri="{BB962C8B-B14F-4D97-AF65-F5344CB8AC3E}">
        <p14:creationId xmlns:p14="http://schemas.microsoft.com/office/powerpoint/2010/main" val="2165538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7412" y="6129037"/>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E8B73DB-0DF7-EE46-891E-B7CF14DC7489}"/>
              </a:ext>
            </a:extLst>
          </p:cNvPr>
          <p:cNvSpPr txBox="1"/>
          <p:nvPr/>
        </p:nvSpPr>
        <p:spPr>
          <a:xfrm>
            <a:off x="7314750" y="6476999"/>
            <a:ext cx="424266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4EB0F11-BEA5-4E48-82F0-9DF382CC5712}"/>
                  </a:ext>
                </a:extLst>
              </p:cNvPr>
              <p:cNvSpPr/>
              <p:nvPr/>
            </p:nvSpPr>
            <p:spPr>
              <a:xfrm>
                <a:off x="688770" y="667788"/>
                <a:ext cx="9646132" cy="4368247"/>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rPr>
                  <a:t>Dr. Corlett, a veterinarian, uses weight in kilograms to determine safe dosages of medicine to prescribe for animals. </a:t>
                </a:r>
              </a:p>
              <a:p>
                <a:pPr lvl="0"/>
                <a:endParaRPr lang="en-US" sz="2000" dirty="0">
                  <a:latin typeface="Verdana" panose="020B0604030504040204" pitchFamily="34" charset="0"/>
                  <a:ea typeface="Times New Roman" panose="02020603050405020304" pitchFamily="18" charset="0"/>
                </a:endParaRPr>
              </a:p>
              <a:p>
                <a:pPr marL="454025"/>
                <a:r>
                  <a:rPr lang="en-US" sz="2000" dirty="0">
                    <a:latin typeface="Verdana" panose="020B0604030504040204" pitchFamily="34" charset="0"/>
                    <a:ea typeface="Times New Roman" panose="02020603050405020304" pitchFamily="18" charset="0"/>
                  </a:rPr>
                  <a:t>One of her patients, Opie, is a golden retriever that weighs </a:t>
                </a:r>
                <a14:m>
                  <m:oMath xmlns:m="http://schemas.openxmlformats.org/officeDocument/2006/math">
                    <m:r>
                      <a:rPr lang="en-US" sz="2000" i="1" dirty="0">
                        <a:latin typeface="Cambria Math" panose="02040503050406030204" pitchFamily="18" charset="0"/>
                        <a:ea typeface="Times New Roman" panose="02020603050405020304" pitchFamily="18" charset="0"/>
                      </a:rPr>
                      <m:t>85</m:t>
                    </m:r>
                  </m:oMath>
                </a14:m>
                <a:r>
                  <a:rPr lang="en-US" sz="2000" dirty="0">
                    <a:latin typeface="Verdana" panose="020B0604030504040204" pitchFamily="34" charset="0"/>
                    <a:ea typeface="Times New Roman" panose="02020603050405020304" pitchFamily="18" charset="0"/>
                  </a:rPr>
                  <a:t> pounds (</a:t>
                </a:r>
                <a:r>
                  <a:rPr lang="en-US" sz="2000" dirty="0" err="1">
                    <a:latin typeface="Verdana" panose="020B0604030504040204" pitchFamily="34" charset="0"/>
                    <a:ea typeface="Times New Roman" panose="02020603050405020304" pitchFamily="18" charset="0"/>
                  </a:rPr>
                  <a:t>lb</a:t>
                </a:r>
                <a:r>
                  <a:rPr lang="en-US" sz="2000" dirty="0">
                    <a:latin typeface="Verdana" panose="020B0604030504040204" pitchFamily="34" charset="0"/>
                    <a:ea typeface="Times New Roman" panose="02020603050405020304" pitchFamily="18" charset="0"/>
                  </a:rPr>
                  <a:t>).</a:t>
                </a:r>
              </a:p>
              <a:p>
                <a:pPr lvl="0"/>
                <a:endParaRPr lang="en-US" sz="2000" dirty="0">
                  <a:latin typeface="Verdana" panose="020B0604030504040204" pitchFamily="34" charset="0"/>
                  <a:ea typeface="Times New Roman" panose="02020603050405020304" pitchFamily="18" charset="0"/>
                </a:endParaRPr>
              </a:p>
              <a:p>
                <a:pPr marL="454025"/>
                <a:r>
                  <a:rPr lang="en-US" sz="2000" dirty="0">
                    <a:latin typeface="Verdana" panose="020B0604030504040204" pitchFamily="34" charset="0"/>
                    <a:ea typeface="Times New Roman" panose="02020603050405020304" pitchFamily="18" charset="0"/>
                  </a:rPr>
                  <a:t>Complete the calculation below to convert Opie’s weight to kilograms (kg). Round to the nearest tenth.</a:t>
                </a:r>
              </a:p>
              <a:p>
                <a:pPr lvl="0"/>
                <a:endParaRPr lang="en-US" sz="2000" dirty="0">
                  <a:latin typeface="Verdana" panose="020B0604030504040204" pitchFamily="34" charset="0"/>
                  <a:ea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rPr>
                          </m:ctrlPr>
                        </m:fPr>
                        <m:num>
                          <m:r>
                            <a:rPr lang="es-ES" sz="2000" i="1" dirty="0">
                              <a:latin typeface="Cambria Math" panose="02040503050406030204" pitchFamily="18" charset="0"/>
                            </a:rPr>
                            <m:t>85 </m:t>
                          </m:r>
                          <m:r>
                            <a:rPr lang="es-ES" sz="2000" i="1" dirty="0">
                              <a:latin typeface="Cambria Math" panose="02040503050406030204" pitchFamily="18" charset="0"/>
                            </a:rPr>
                            <m:t>𝑙𝑏</m:t>
                          </m:r>
                          <m:r>
                            <a:rPr lang="es-ES" sz="2000" i="1" dirty="0">
                              <a:latin typeface="Cambria Math" panose="02040503050406030204" pitchFamily="18" charset="0"/>
                            </a:rPr>
                            <m:t>.</m:t>
                          </m:r>
                        </m:num>
                        <m:den>
                          <m:r>
                            <a:rPr lang="es-ES" sz="2000" i="1" dirty="0">
                              <a:latin typeface="Cambria Math" panose="02040503050406030204" pitchFamily="18" charset="0"/>
                            </a:rPr>
                            <m:t>1</m:t>
                          </m:r>
                        </m:den>
                      </m:f>
                      <m:r>
                        <a:rPr lang="es-ES" sz="2000" i="1" dirty="0">
                          <a:latin typeface="Cambria Math" panose="02040503050406030204" pitchFamily="18" charset="0"/>
                        </a:rPr>
                        <m:t> </m:t>
                      </m:r>
                      <m:r>
                        <a:rPr lang="en-US" sz="2000" i="1" dirty="0">
                          <a:latin typeface="Cambria Math" panose="02040503050406030204" pitchFamily="18" charset="0"/>
                          <a:ea typeface="Times New Roman" panose="02020603050405020304" pitchFamily="18" charset="0"/>
                        </a:rPr>
                        <m:t>×  </m:t>
                      </m:r>
                      <m:f>
                        <m:fPr>
                          <m:ctrlPr>
                            <a:rPr lang="en-US" sz="2000" i="1" dirty="0">
                              <a:latin typeface="Cambria Math" panose="02040503050406030204" pitchFamily="18" charset="0"/>
                            </a:rPr>
                          </m:ctrlPr>
                        </m:fPr>
                        <m:num>
                          <m:r>
                            <a:rPr lang="es-ES" sz="2000" i="1" dirty="0">
                              <a:latin typeface="Cambria Math" panose="02040503050406030204" pitchFamily="18" charset="0"/>
                            </a:rPr>
                            <m:t>                        </m:t>
                          </m:r>
                        </m:num>
                        <m:den>
                          <m:r>
                            <a:rPr lang="es-ES" sz="2000" i="1" dirty="0">
                              <a:latin typeface="Cambria Math" panose="02040503050406030204" pitchFamily="18" charset="0"/>
                            </a:rPr>
                            <m:t> </m:t>
                          </m:r>
                        </m:den>
                      </m:f>
                      <m:r>
                        <a:rPr lang="es-ES" sz="2000" i="1" dirty="0">
                          <a:latin typeface="Cambria Math" panose="02040503050406030204" pitchFamily="18" charset="0"/>
                        </a:rPr>
                        <m:t> </m:t>
                      </m:r>
                      <m:r>
                        <a:rPr lang="en-US" sz="2000" i="1" dirty="0">
                          <a:latin typeface="Cambria Math" panose="02040503050406030204" pitchFamily="18" charset="0"/>
                          <a:ea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rPr>
                        <m:t>𝑘𝑔</m:t>
                      </m:r>
                      <m:r>
                        <a:rPr lang="en-US" sz="2000" i="1" dirty="0">
                          <a:latin typeface="Cambria Math" panose="02040503050406030204" pitchFamily="18" charset="0"/>
                          <a:ea typeface="Times New Roman" panose="02020603050405020304" pitchFamily="18" charset="0"/>
                        </a:rPr>
                        <m:t> </m:t>
                      </m:r>
                    </m:oMath>
                  </m:oMathPara>
                </a14:m>
                <a:endParaRPr lang="en-US" sz="2000" dirty="0">
                  <a:latin typeface="Verdana" panose="020B0604030504040204" pitchFamily="34" charset="0"/>
                  <a:ea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endParaRPr>
              </a:p>
              <a:p>
                <a:pPr marL="457200" indent="-457200">
                  <a:buFont typeface="+mj-lt"/>
                  <a:buAutoNum type="arabicPeriod" startAt="3"/>
                </a:pPr>
                <a:r>
                  <a:rPr lang="en-US" sz="2000" dirty="0">
                    <a:latin typeface="Verdana" panose="020B0604030504040204" pitchFamily="34" charset="0"/>
                    <a:ea typeface="Times New Roman" panose="02020603050405020304" pitchFamily="18" charset="0"/>
                  </a:rPr>
                  <a:t>Why is it important to include the units in conversion calculations?</a:t>
                </a:r>
              </a:p>
            </p:txBody>
          </p:sp>
        </mc:Choice>
        <mc:Fallback xmlns="">
          <p:sp>
            <p:nvSpPr>
              <p:cNvPr id="6" name="Rectangle 5">
                <a:extLst>
                  <a:ext uri="{FF2B5EF4-FFF2-40B4-BE49-F238E27FC236}">
                    <a16:creationId xmlns:a16="http://schemas.microsoft.com/office/drawing/2014/main" id="{F4EB0F11-BEA5-4E48-82F0-9DF382CC5712}"/>
                  </a:ext>
                </a:extLst>
              </p:cNvPr>
              <p:cNvSpPr>
                <a:spLocks noRot="1" noChangeAspect="1" noMove="1" noResize="1" noEditPoints="1" noAdjustHandles="1" noChangeArrowheads="1" noChangeShapeType="1" noTextEdit="1"/>
              </p:cNvSpPr>
              <p:nvPr/>
            </p:nvSpPr>
            <p:spPr>
              <a:xfrm>
                <a:off x="688770" y="667788"/>
                <a:ext cx="9646132" cy="4368247"/>
              </a:xfrm>
              <a:prstGeom prst="rect">
                <a:avLst/>
              </a:prstGeom>
              <a:blipFill>
                <a:blip r:embed="rId4"/>
                <a:stretch>
                  <a:fillRect l="-695" t="-978" r="-1391" b="-1676"/>
                </a:stretch>
              </a:blipFill>
            </p:spPr>
            <p:txBody>
              <a:bodyPr/>
              <a:lstStyle/>
              <a:p>
                <a:r>
                  <a:rPr lang="en-US">
                    <a:noFill/>
                  </a:rPr>
                  <a:t> </a:t>
                </a:r>
              </a:p>
            </p:txBody>
          </p:sp>
        </mc:Fallback>
      </mc:AlternateContent>
    </p:spTree>
    <p:extLst>
      <p:ext uri="{BB962C8B-B14F-4D97-AF65-F5344CB8AC3E}">
        <p14:creationId xmlns:p14="http://schemas.microsoft.com/office/powerpoint/2010/main" val="1191343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8" y="6129037"/>
            <a:ext cx="563850" cy="657276"/>
          </a:xfrm>
          <a:prstGeom prst="rect">
            <a:avLst/>
          </a:prstGeom>
          <a:noFill/>
          <a:ln>
            <a:noFill/>
          </a:ln>
          <a:effectLst>
            <a:outerShdw blurRad="57150" dist="19050" dir="5400000" algn="bl" rotWithShape="0">
              <a:srgbClr val="000000">
                <a:alpha val="50000"/>
              </a:srgbClr>
            </a:outerShdw>
          </a:effectLst>
        </p:spPr>
      </p:pic>
      <p:sp>
        <p:nvSpPr>
          <p:cNvPr id="18" name="Google Shape;282;g104476d1465_1_17">
            <a:extLst>
              <a:ext uri="{FF2B5EF4-FFF2-40B4-BE49-F238E27FC236}">
                <a16:creationId xmlns:a16="http://schemas.microsoft.com/office/drawing/2014/main" id="{D3CFD391-E431-9C4A-9934-6764E12AD456}"/>
              </a:ext>
            </a:extLst>
          </p:cNvPr>
          <p:cNvSpPr txBox="1"/>
          <p:nvPr/>
        </p:nvSpPr>
        <p:spPr>
          <a:xfrm>
            <a:off x="7314750" y="6476999"/>
            <a:ext cx="415336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253</a:t>
            </a:r>
            <a:endParaRPr i="1" dirty="0">
              <a:latin typeface="Calibri"/>
              <a:ea typeface="Calibri"/>
              <a:cs typeface="Calibri"/>
              <a:sym typeface="Calibri"/>
            </a:endParaRPr>
          </a:p>
        </p:txBody>
      </p:sp>
      <p:sp>
        <p:nvSpPr>
          <p:cNvPr id="19" name="Rectangle 18">
            <a:extLst>
              <a:ext uri="{FF2B5EF4-FFF2-40B4-BE49-F238E27FC236}">
                <a16:creationId xmlns:a16="http://schemas.microsoft.com/office/drawing/2014/main" id="{1CF8FBDD-4B48-3C40-9166-098D9F255394}"/>
              </a:ext>
            </a:extLst>
          </p:cNvPr>
          <p:cNvSpPr/>
          <p:nvPr/>
        </p:nvSpPr>
        <p:spPr>
          <a:xfrm>
            <a:off x="688768" y="478684"/>
            <a:ext cx="7942981" cy="830997"/>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rPr>
              <a:t>The table includes information about several of Dr. Corlett’s patients.</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0FBD3F54-68F4-FB48-9A49-B898D65B7091}"/>
                  </a:ext>
                </a:extLst>
              </p:cNvPr>
              <p:cNvGraphicFramePr>
                <a:graphicFrameLocks noGrp="1"/>
              </p:cNvGraphicFramePr>
              <p:nvPr>
                <p:extLst>
                  <p:ext uri="{D42A27DB-BD31-4B8C-83A1-F6EECF244321}">
                    <p14:modId xmlns:p14="http://schemas.microsoft.com/office/powerpoint/2010/main" val="3521407411"/>
                  </p:ext>
                </p:extLst>
              </p:nvPr>
            </p:nvGraphicFramePr>
            <p:xfrm>
              <a:off x="2084536" y="1503359"/>
              <a:ext cx="6811645" cy="1741170"/>
            </p:xfrm>
            <a:graphic>
              <a:graphicData uri="http://schemas.openxmlformats.org/drawingml/2006/table">
                <a:tbl>
                  <a:tblPr firstRow="1" firstCol="1" bandRow="1">
                    <a:tableStyleId>{A91F0D33-8C57-4600-99A7-42BC86742BE1}</a:tableStyleId>
                  </a:tblPr>
                  <a:tblGrid>
                    <a:gridCol w="2270125">
                      <a:extLst>
                        <a:ext uri="{9D8B030D-6E8A-4147-A177-3AD203B41FA5}">
                          <a16:colId xmlns:a16="http://schemas.microsoft.com/office/drawing/2014/main" val="3764267101"/>
                        </a:ext>
                      </a:extLst>
                    </a:gridCol>
                    <a:gridCol w="2270760">
                      <a:extLst>
                        <a:ext uri="{9D8B030D-6E8A-4147-A177-3AD203B41FA5}">
                          <a16:colId xmlns:a16="http://schemas.microsoft.com/office/drawing/2014/main" val="3175542735"/>
                        </a:ext>
                      </a:extLst>
                    </a:gridCol>
                    <a:gridCol w="2270760">
                      <a:extLst>
                        <a:ext uri="{9D8B030D-6E8A-4147-A177-3AD203B41FA5}">
                          <a16:colId xmlns:a16="http://schemas.microsoft.com/office/drawing/2014/main" val="1138330835"/>
                        </a:ext>
                      </a:extLst>
                    </a:gridCol>
                  </a:tblGrid>
                  <a:tr h="34480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Name</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Breed</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a:t>
                          </a:r>
                          <a:r>
                            <a:rPr lang="en-US" sz="1800" b="1" dirty="0" err="1">
                              <a:effectLst/>
                              <a:latin typeface="Verdana" panose="020B0604030504040204" pitchFamily="34" charset="0"/>
                              <a:ea typeface="Verdana" panose="020B0604030504040204" pitchFamily="34" charset="0"/>
                              <a:cs typeface="Verdana" panose="020B0604030504040204" pitchFamily="34" charset="0"/>
                            </a:rPr>
                            <a:t>lb</a:t>
                          </a:r>
                          <a:r>
                            <a:rPr lang="en-US" sz="1800" b="1" dirty="0">
                              <a:effectLst/>
                              <a:latin typeface="Verdana" panose="020B0604030504040204" pitchFamily="34" charset="0"/>
                              <a:ea typeface="Verdana" panose="020B0604030504040204" pitchFamily="34" charset="0"/>
                              <a:cs typeface="Verdana" panose="020B0604030504040204" pitchFamily="34" charset="0"/>
                            </a:rPr>
                            <a:t>)</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83146440"/>
                      </a:ext>
                    </a:extLst>
                  </a:tr>
                  <a:tr h="3613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Kilo</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French Bulldog</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16</m:t>
                              </m:r>
                            </m:oMath>
                          </a14:m>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2007313"/>
                      </a:ext>
                    </a:extLst>
                  </a:tr>
                  <a:tr h="34480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Minnie</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Maltese</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 ½ </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555069"/>
                      </a:ext>
                    </a:extLst>
                  </a:tr>
                  <a:tr h="361315">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Cesar</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Irish Terrier</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23 </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251167"/>
                      </a:ext>
                    </a:extLst>
                  </a:tr>
                  <a:tr h="32893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Princess</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Pug</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14.2</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249455"/>
                      </a:ext>
                    </a:extLst>
                  </a:tr>
                </a:tbl>
              </a:graphicData>
            </a:graphic>
          </p:graphicFrame>
        </mc:Choice>
        <mc:Fallback xmlns="">
          <p:graphicFrame>
            <p:nvGraphicFramePr>
              <p:cNvPr id="2" name="Table 1">
                <a:extLst>
                  <a:ext uri="{FF2B5EF4-FFF2-40B4-BE49-F238E27FC236}">
                    <a16:creationId xmlns:a16="http://schemas.microsoft.com/office/drawing/2014/main" id="{0FBD3F54-68F4-FB48-9A49-B898D65B7091}"/>
                  </a:ext>
                </a:extLst>
              </p:cNvPr>
              <p:cNvGraphicFramePr>
                <a:graphicFrameLocks noGrp="1"/>
              </p:cNvGraphicFramePr>
              <p:nvPr>
                <p:extLst>
                  <p:ext uri="{D42A27DB-BD31-4B8C-83A1-F6EECF244321}">
                    <p14:modId xmlns:p14="http://schemas.microsoft.com/office/powerpoint/2010/main" val="3521407411"/>
                  </p:ext>
                </p:extLst>
              </p:nvPr>
            </p:nvGraphicFramePr>
            <p:xfrm>
              <a:off x="2084536" y="1503359"/>
              <a:ext cx="6811645" cy="1741170"/>
            </p:xfrm>
            <a:graphic>
              <a:graphicData uri="http://schemas.openxmlformats.org/drawingml/2006/table">
                <a:tbl>
                  <a:tblPr firstRow="1" firstCol="1" bandRow="1">
                    <a:tableStyleId>{A91F0D33-8C57-4600-99A7-42BC86742BE1}</a:tableStyleId>
                  </a:tblPr>
                  <a:tblGrid>
                    <a:gridCol w="2270125">
                      <a:extLst>
                        <a:ext uri="{9D8B030D-6E8A-4147-A177-3AD203B41FA5}">
                          <a16:colId xmlns:a16="http://schemas.microsoft.com/office/drawing/2014/main" val="3764267101"/>
                        </a:ext>
                      </a:extLst>
                    </a:gridCol>
                    <a:gridCol w="2270760">
                      <a:extLst>
                        <a:ext uri="{9D8B030D-6E8A-4147-A177-3AD203B41FA5}">
                          <a16:colId xmlns:a16="http://schemas.microsoft.com/office/drawing/2014/main" val="3175542735"/>
                        </a:ext>
                      </a:extLst>
                    </a:gridCol>
                    <a:gridCol w="2270760">
                      <a:extLst>
                        <a:ext uri="{9D8B030D-6E8A-4147-A177-3AD203B41FA5}">
                          <a16:colId xmlns:a16="http://schemas.microsoft.com/office/drawing/2014/main" val="1138330835"/>
                        </a:ext>
                      </a:extLst>
                    </a:gridCol>
                  </a:tblGrid>
                  <a:tr h="34480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Name</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Breed</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a:t>
                          </a:r>
                          <a:r>
                            <a:rPr lang="en-US" sz="1800" b="1" dirty="0" err="1">
                              <a:effectLst/>
                              <a:latin typeface="Verdana" panose="020B0604030504040204" pitchFamily="34" charset="0"/>
                              <a:ea typeface="Verdana" panose="020B0604030504040204" pitchFamily="34" charset="0"/>
                              <a:cs typeface="Verdana" panose="020B0604030504040204" pitchFamily="34" charset="0"/>
                            </a:rPr>
                            <a:t>lb</a:t>
                          </a:r>
                          <a:r>
                            <a:rPr lang="en-US" sz="1800" b="1" dirty="0">
                              <a:effectLst/>
                              <a:latin typeface="Verdana" panose="020B0604030504040204" pitchFamily="34" charset="0"/>
                              <a:ea typeface="Verdana" panose="020B0604030504040204" pitchFamily="34" charset="0"/>
                              <a:cs typeface="Verdana" panose="020B0604030504040204" pitchFamily="34" charset="0"/>
                            </a:rPr>
                            <a:t>)</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83146440"/>
                      </a:ext>
                    </a:extLst>
                  </a:tr>
                  <a:tr h="3613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Kilo</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French Bulldog</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68" t="-108475" r="-536" b="-320339"/>
                          </a:stretch>
                        </a:blipFill>
                      </a:tcPr>
                    </a:tc>
                    <a:extLst>
                      <a:ext uri="{0D108BD9-81ED-4DB2-BD59-A6C34878D82A}">
                        <a16:rowId xmlns:a16="http://schemas.microsoft.com/office/drawing/2014/main" val="502007313"/>
                      </a:ext>
                    </a:extLst>
                  </a:tr>
                  <a:tr h="34480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Minnie</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Maltese</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68" t="-215789" r="-536" b="-231579"/>
                          </a:stretch>
                        </a:blipFill>
                      </a:tcPr>
                    </a:tc>
                    <a:extLst>
                      <a:ext uri="{0D108BD9-81ED-4DB2-BD59-A6C34878D82A}">
                        <a16:rowId xmlns:a16="http://schemas.microsoft.com/office/drawing/2014/main" val="189555069"/>
                      </a:ext>
                    </a:extLst>
                  </a:tr>
                  <a:tr h="361315">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Cesar</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Irish Terrier</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68" t="-300000" r="-536" b="-120000"/>
                          </a:stretch>
                        </a:blipFill>
                      </a:tcPr>
                    </a:tc>
                    <a:extLst>
                      <a:ext uri="{0D108BD9-81ED-4DB2-BD59-A6C34878D82A}">
                        <a16:rowId xmlns:a16="http://schemas.microsoft.com/office/drawing/2014/main" val="2881251167"/>
                      </a:ext>
                    </a:extLst>
                  </a:tr>
                  <a:tr h="32893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Princess</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Pug</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68" t="-444444" r="-536" b="-33333"/>
                          </a:stretch>
                        </a:blipFill>
                      </a:tcPr>
                    </a:tc>
                    <a:extLst>
                      <a:ext uri="{0D108BD9-81ED-4DB2-BD59-A6C34878D82A}">
                        <a16:rowId xmlns:a16="http://schemas.microsoft.com/office/drawing/2014/main" val="2447249455"/>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C079041-E6A2-3A4D-9DA6-C0BEF506529A}"/>
                  </a:ext>
                </a:extLst>
              </p:cNvPr>
              <p:cNvSpPr/>
              <p:nvPr/>
            </p:nvSpPr>
            <p:spPr>
              <a:xfrm>
                <a:off x="688768" y="3798799"/>
                <a:ext cx="9364209" cy="1569660"/>
              </a:xfrm>
              <a:prstGeom prst="rect">
                <a:avLst/>
              </a:prstGeom>
            </p:spPr>
            <p:txBody>
              <a:bodyPr wrap="square">
                <a:spAutoFit/>
              </a:bodyPr>
              <a:lstStyle/>
              <a:p>
                <a:pPr marL="463550" lvl="0"/>
                <a:r>
                  <a:rPr lang="en-US" sz="2400" dirty="0">
                    <a:latin typeface="Verdana" panose="020B0604030504040204" pitchFamily="34" charset="0"/>
                    <a:ea typeface="Times New Roman" panose="02020603050405020304" pitchFamily="18" charset="0"/>
                  </a:rPr>
                  <a:t>A certain medication Dr. Corlett uses cannot be prescribed to dogs that weigh less than </a:t>
                </a:r>
                <a14:m>
                  <m:oMath xmlns:m="http://schemas.openxmlformats.org/officeDocument/2006/math">
                    <m:r>
                      <a:rPr lang="en-US" sz="2400" i="1" dirty="0">
                        <a:latin typeface="Cambria Math" panose="02040503050406030204" pitchFamily="18" charset="0"/>
                        <a:ea typeface="Times New Roman" panose="02020603050405020304" pitchFamily="18" charset="0"/>
                      </a:rPr>
                      <m:t>10</m:t>
                    </m:r>
                  </m:oMath>
                </a14:m>
                <a:r>
                  <a:rPr lang="en-US" sz="2400" dirty="0">
                    <a:latin typeface="Verdana" panose="020B0604030504040204" pitchFamily="34" charset="0"/>
                    <a:ea typeface="Times New Roman" panose="02020603050405020304" pitchFamily="18" charset="0"/>
                  </a:rPr>
                  <a:t> kg. For which dogs does Dr. Corlett need to be careful not to prescribe this medication?</a:t>
                </a:r>
              </a:p>
            </p:txBody>
          </p:sp>
        </mc:Choice>
        <mc:Fallback xmlns="">
          <p:sp>
            <p:nvSpPr>
              <p:cNvPr id="7" name="Rectangle 6">
                <a:extLst>
                  <a:ext uri="{FF2B5EF4-FFF2-40B4-BE49-F238E27FC236}">
                    <a16:creationId xmlns:a16="http://schemas.microsoft.com/office/drawing/2014/main" id="{5C079041-E6A2-3A4D-9DA6-C0BEF506529A}"/>
                  </a:ext>
                </a:extLst>
              </p:cNvPr>
              <p:cNvSpPr>
                <a:spLocks noRot="1" noChangeAspect="1" noMove="1" noResize="1" noEditPoints="1" noAdjustHandles="1" noChangeArrowheads="1" noChangeShapeType="1" noTextEdit="1"/>
              </p:cNvSpPr>
              <p:nvPr/>
            </p:nvSpPr>
            <p:spPr>
              <a:xfrm>
                <a:off x="688768" y="3798799"/>
                <a:ext cx="9364209" cy="1569660"/>
              </a:xfrm>
              <a:prstGeom prst="rect">
                <a:avLst/>
              </a:prstGeom>
              <a:blipFill>
                <a:blip r:embed="rId5"/>
                <a:stretch>
                  <a:fillRect t="-3101" r="-2018" b="-7752"/>
                </a:stretch>
              </a:blipFill>
            </p:spPr>
            <p:txBody>
              <a:bodyPr/>
              <a:lstStyle/>
              <a:p>
                <a:r>
                  <a:rPr lang="en-US">
                    <a:noFill/>
                  </a:rPr>
                  <a:t> </a:t>
                </a:r>
              </a:p>
            </p:txBody>
          </p:sp>
        </mc:Fallback>
      </mc:AlternateContent>
    </p:spTree>
    <p:extLst>
      <p:ext uri="{BB962C8B-B14F-4D97-AF65-F5344CB8AC3E}">
        <p14:creationId xmlns:p14="http://schemas.microsoft.com/office/powerpoint/2010/main" val="3129476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0147"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91135" y="2766145"/>
            <a:ext cx="448075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45BFA9"/>
                </a:solidFill>
                <a:latin typeface="Verdana"/>
                <a:ea typeface="Verdana"/>
                <a:cs typeface="Verdana"/>
                <a:sym typeface="Verdana"/>
              </a:rPr>
              <a:t>Collaboration</a:t>
            </a:r>
            <a:endParaRPr sz="4000" b="1" dirty="0">
              <a:solidFill>
                <a:srgbClr val="45BFA9"/>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49" y="6466113"/>
            <a:ext cx="4055397"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253</a:t>
            </a:r>
            <a:endParaRPr i="1" dirty="0">
              <a:latin typeface="Calibri"/>
              <a:ea typeface="Calibri"/>
              <a:cs typeface="Calibri"/>
              <a:sym typeface="Calibri"/>
            </a:endParaRPr>
          </a:p>
        </p:txBody>
      </p:sp>
      <p:pic>
        <p:nvPicPr>
          <p:cNvPr id="9" name="image5.png">
            <a:extLst>
              <a:ext uri="{FF2B5EF4-FFF2-40B4-BE49-F238E27FC236}">
                <a16:creationId xmlns:a16="http://schemas.microsoft.com/office/drawing/2014/main" id="{02810135-4BA0-8144-AE5A-D458556208EE}"/>
              </a:ext>
            </a:extLst>
          </p:cNvPr>
          <p:cNvPicPr/>
          <p:nvPr/>
        </p:nvPicPr>
        <p:blipFill>
          <a:blip r:embed="rId4" cstate="print">
            <a:extLst>
              <a:ext uri="{28A0092B-C50C-407E-A947-70E740481C1C}">
                <a14:useLocalDpi xmlns:a14="http://schemas.microsoft.com/office/drawing/2010/main"/>
              </a:ext>
            </a:extLst>
          </a:blip>
          <a:stretch>
            <a:fillRect/>
          </a:stretch>
        </p:blipFill>
        <p:spPr>
          <a:xfrm>
            <a:off x="4538689" y="2843633"/>
            <a:ext cx="1152447" cy="1152447"/>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62107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1321"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38943" y="-39324"/>
            <a:ext cx="1050418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45BFA9"/>
                </a:solidFill>
                <a:latin typeface="Verdana"/>
                <a:ea typeface="Verdana"/>
                <a:cs typeface="Verdana"/>
                <a:sym typeface="Verdana"/>
              </a:rPr>
              <a:t>6.4.3 Collaboration: Conversions Within and Between Systems</a:t>
            </a:r>
          </a:p>
        </p:txBody>
      </p:sp>
      <p:sp>
        <p:nvSpPr>
          <p:cNvPr id="2" name="Rectangle 1">
            <a:extLst>
              <a:ext uri="{FF2B5EF4-FFF2-40B4-BE49-F238E27FC236}">
                <a16:creationId xmlns:a16="http://schemas.microsoft.com/office/drawing/2014/main" id="{C0EEC4E3-DFCF-C94C-B80D-045F3E6BF764}"/>
              </a:ext>
            </a:extLst>
          </p:cNvPr>
          <p:cNvSpPr/>
          <p:nvPr/>
        </p:nvSpPr>
        <p:spPr>
          <a:xfrm>
            <a:off x="676894" y="1300812"/>
            <a:ext cx="11308277" cy="830997"/>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Conversion factors that can be used to convert mass between and within measurement systems are shown.</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44343"/>
            <a:ext cx="4106571"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253</a:t>
            </a:r>
            <a:endParaRPr i="1" dirty="0">
              <a:latin typeface="Calibri"/>
              <a:ea typeface="Calibri"/>
              <a:cs typeface="Calibri"/>
              <a:sym typeface="Calibri"/>
            </a:endParaRPr>
          </a:p>
        </p:txBody>
      </p:sp>
      <p:pic>
        <p:nvPicPr>
          <p:cNvPr id="11" name="image5.png">
            <a:extLst>
              <a:ext uri="{FF2B5EF4-FFF2-40B4-BE49-F238E27FC236}">
                <a16:creationId xmlns:a16="http://schemas.microsoft.com/office/drawing/2014/main" id="{EFC7473A-86FF-FC40-94B4-FC5736698268}"/>
              </a:ext>
            </a:extLst>
          </p:cNvPr>
          <p:cNvPicPr/>
          <p:nvPr/>
        </p:nvPicPr>
        <p:blipFill>
          <a:blip r:embed="rId4" cstate="screen">
            <a:extLst>
              <a:ext uri="{28A0092B-C50C-407E-A947-70E740481C1C}">
                <a14:useLocalDpi xmlns:a14="http://schemas.microsoft.com/office/drawing/2010/main"/>
              </a:ext>
            </a:extLst>
          </a:blip>
          <a:stretch>
            <a:fillRect/>
          </a:stretch>
        </p:blipFill>
        <p:spPr>
          <a:xfrm>
            <a:off x="348868" y="184595"/>
            <a:ext cx="751021" cy="751021"/>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B48B66D-4285-F84E-9DD0-E85629103895}"/>
                  </a:ext>
                </a:extLst>
              </p:cNvPr>
              <p:cNvGraphicFramePr>
                <a:graphicFrameLocks noGrp="1"/>
              </p:cNvGraphicFramePr>
              <p:nvPr>
                <p:extLst>
                  <p:ext uri="{D42A27DB-BD31-4B8C-83A1-F6EECF244321}">
                    <p14:modId xmlns:p14="http://schemas.microsoft.com/office/powerpoint/2010/main" val="1042686658"/>
                  </p:ext>
                </p:extLst>
              </p:nvPr>
            </p:nvGraphicFramePr>
            <p:xfrm>
              <a:off x="1765681" y="2592592"/>
              <a:ext cx="7602353" cy="2133600"/>
            </p:xfrm>
            <a:graphic>
              <a:graphicData uri="http://schemas.openxmlformats.org/drawingml/2006/table">
                <a:tbl>
                  <a:tblPr firstRow="1" firstCol="1" bandRow="1">
                    <a:tableStyleId>{A91F0D33-8C57-4600-99A7-42BC86742BE1}</a:tableStyleId>
                  </a:tblPr>
                  <a:tblGrid>
                    <a:gridCol w="3549408">
                      <a:extLst>
                        <a:ext uri="{9D8B030D-6E8A-4147-A177-3AD203B41FA5}">
                          <a16:colId xmlns:a16="http://schemas.microsoft.com/office/drawing/2014/main" val="956334812"/>
                        </a:ext>
                      </a:extLst>
                    </a:gridCol>
                    <a:gridCol w="503537">
                      <a:extLst>
                        <a:ext uri="{9D8B030D-6E8A-4147-A177-3AD203B41FA5}">
                          <a16:colId xmlns:a16="http://schemas.microsoft.com/office/drawing/2014/main" val="4107639055"/>
                        </a:ext>
                      </a:extLst>
                    </a:gridCol>
                    <a:gridCol w="3549408">
                      <a:extLst>
                        <a:ext uri="{9D8B030D-6E8A-4147-A177-3AD203B41FA5}">
                          <a16:colId xmlns:a16="http://schemas.microsoft.com/office/drawing/2014/main" val="2009398910"/>
                        </a:ext>
                      </a:extLst>
                    </a:gridCol>
                  </a:tblGrid>
                  <a:tr h="6084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Converting from Customary to Metric</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Within the Customary System</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139672280"/>
                      </a:ext>
                    </a:extLst>
                  </a:tr>
                  <a:tr h="304235">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ounce = </a:t>
                          </a:r>
                          <a14:m>
                            <m:oMath xmlns:m="http://schemas.openxmlformats.org/officeDocument/2006/math">
                              <m:r>
                                <a:rPr lang="en-US" sz="2000">
                                  <a:effectLst/>
                                  <a:latin typeface="Cambria Math" panose="02040503050406030204" pitchFamily="18" charset="0"/>
                                </a:rPr>
                                <m:t>28.4 </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grams</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rPr>
                                <m:t>1</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pound = </a:t>
                          </a:r>
                          <a14:m>
                            <m:oMath xmlns:m="http://schemas.openxmlformats.org/officeDocument/2006/math">
                              <m:r>
                                <a:rPr lang="en-US" sz="2000">
                                  <a:effectLst/>
                                  <a:latin typeface="Cambria Math" panose="02040503050406030204" pitchFamily="18" charset="0"/>
                                </a:rPr>
                                <m:t>16</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ounces</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647375"/>
                      </a:ext>
                    </a:extLst>
                  </a:tr>
                  <a:tr h="30423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9525" cap="flat" cmpd="sng">
                          <a:noFill/>
                          <a:prstDash val="solid"/>
                          <a:round/>
                          <a:headEnd type="none" w="sm" len="sm"/>
                          <a:tailEnd type="none" w="sm" len="sm"/>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8168845"/>
                      </a:ext>
                    </a:extLst>
                  </a:tr>
                  <a:tr h="6084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Converting from Metric to Customary</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Within the Metric System</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164232939"/>
                      </a:ext>
                    </a:extLst>
                  </a:tr>
                  <a:tr h="304235">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kilogram = </a:t>
                          </a:r>
                          <a14:m>
                            <m:oMath xmlns:m="http://schemas.openxmlformats.org/officeDocument/2006/math">
                              <m:r>
                                <a:rPr lang="en-US" sz="2000">
                                  <a:effectLst/>
                                  <a:latin typeface="Cambria Math" panose="02040503050406030204" pitchFamily="18" charset="0"/>
                                </a:rPr>
                                <m:t>2.2</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pounds</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rPr>
                                <m:t>1</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kilogram = </a:t>
                          </a:r>
                          <a14:m>
                            <m:oMath xmlns:m="http://schemas.openxmlformats.org/officeDocument/2006/math">
                              <m:r>
                                <a:rPr lang="en-US" sz="2000">
                                  <a:effectLst/>
                                  <a:latin typeface="Cambria Math" panose="02040503050406030204" pitchFamily="18" charset="0"/>
                                </a:rPr>
                                <m:t>1000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grams</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1136297"/>
                      </a:ext>
                    </a:extLst>
                  </a:tr>
                </a:tbl>
              </a:graphicData>
            </a:graphic>
          </p:graphicFrame>
        </mc:Choice>
        <mc:Fallback xmlns="">
          <p:graphicFrame>
            <p:nvGraphicFramePr>
              <p:cNvPr id="3" name="Table 2">
                <a:extLst>
                  <a:ext uri="{FF2B5EF4-FFF2-40B4-BE49-F238E27FC236}">
                    <a16:creationId xmlns:a16="http://schemas.microsoft.com/office/drawing/2014/main" id="{0B48B66D-4285-F84E-9DD0-E85629103895}"/>
                  </a:ext>
                </a:extLst>
              </p:cNvPr>
              <p:cNvGraphicFramePr>
                <a:graphicFrameLocks noGrp="1"/>
              </p:cNvGraphicFramePr>
              <p:nvPr>
                <p:extLst>
                  <p:ext uri="{D42A27DB-BD31-4B8C-83A1-F6EECF244321}">
                    <p14:modId xmlns:p14="http://schemas.microsoft.com/office/powerpoint/2010/main" val="1042686658"/>
                  </p:ext>
                </p:extLst>
              </p:nvPr>
            </p:nvGraphicFramePr>
            <p:xfrm>
              <a:off x="1765681" y="2592592"/>
              <a:ext cx="7602353" cy="2133600"/>
            </p:xfrm>
            <a:graphic>
              <a:graphicData uri="http://schemas.openxmlformats.org/drawingml/2006/table">
                <a:tbl>
                  <a:tblPr firstRow="1" firstCol="1" bandRow="1">
                    <a:tableStyleId>{A91F0D33-8C57-4600-99A7-42BC86742BE1}</a:tableStyleId>
                  </a:tblPr>
                  <a:tblGrid>
                    <a:gridCol w="3549408">
                      <a:extLst>
                        <a:ext uri="{9D8B030D-6E8A-4147-A177-3AD203B41FA5}">
                          <a16:colId xmlns:a16="http://schemas.microsoft.com/office/drawing/2014/main" val="956334812"/>
                        </a:ext>
                      </a:extLst>
                    </a:gridCol>
                    <a:gridCol w="503537">
                      <a:extLst>
                        <a:ext uri="{9D8B030D-6E8A-4147-A177-3AD203B41FA5}">
                          <a16:colId xmlns:a16="http://schemas.microsoft.com/office/drawing/2014/main" val="4107639055"/>
                        </a:ext>
                      </a:extLst>
                    </a:gridCol>
                    <a:gridCol w="3549408">
                      <a:extLst>
                        <a:ext uri="{9D8B030D-6E8A-4147-A177-3AD203B41FA5}">
                          <a16:colId xmlns:a16="http://schemas.microsoft.com/office/drawing/2014/main" val="2009398910"/>
                        </a:ext>
                      </a:extLst>
                    </a:gridCol>
                  </a:tblGrid>
                  <a:tr h="609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Converting from Customary to Metric</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Within the Customary System</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139672280"/>
                      </a:ext>
                    </a:extLst>
                  </a:tr>
                  <a:tr h="304800">
                    <a:tc>
                      <a:txBody>
                        <a:bodyPr/>
                        <a:lstStyle/>
                        <a:p>
                          <a:endParaRPr lang="en-US"/>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72" t="-226000" r="-114408" b="-45200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4237" t="-226000" r="-343" b="-452000"/>
                          </a:stretch>
                        </a:blipFill>
                      </a:tcPr>
                    </a:tc>
                    <a:extLst>
                      <a:ext uri="{0D108BD9-81ED-4DB2-BD59-A6C34878D82A}">
                        <a16:rowId xmlns:a16="http://schemas.microsoft.com/office/drawing/2014/main" val="1918647375"/>
                      </a:ext>
                    </a:extLst>
                  </a:tr>
                  <a:tr h="304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9525" cap="flat" cmpd="sng">
                          <a:noFill/>
                          <a:prstDash val="solid"/>
                          <a:round/>
                          <a:headEnd type="none" w="sm" len="sm"/>
                          <a:tailEnd type="none" w="sm" len="sm"/>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8168845"/>
                      </a:ext>
                    </a:extLst>
                  </a:tr>
                  <a:tr h="609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Converting from Metric to Customary</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Within the Metric System</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164232939"/>
                      </a:ext>
                    </a:extLst>
                  </a:tr>
                  <a:tr h="304800">
                    <a:tc>
                      <a:txBody>
                        <a:bodyPr/>
                        <a:lstStyle/>
                        <a:p>
                          <a:endParaRPr lang="en-US"/>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72" t="-628000" r="-114408" b="-5000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76059" marR="760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4237" t="-628000" r="-343" b="-50000"/>
                          </a:stretch>
                        </a:blipFill>
                      </a:tcPr>
                    </a:tc>
                    <a:extLst>
                      <a:ext uri="{0D108BD9-81ED-4DB2-BD59-A6C34878D82A}">
                        <a16:rowId xmlns:a16="http://schemas.microsoft.com/office/drawing/2014/main" val="1361136297"/>
                      </a:ext>
                    </a:extLst>
                  </a:tr>
                </a:tbl>
              </a:graphicData>
            </a:graphic>
          </p:graphicFrame>
        </mc:Fallback>
      </mc:AlternateContent>
    </p:spTree>
    <p:extLst>
      <p:ext uri="{BB962C8B-B14F-4D97-AF65-F5344CB8AC3E}">
        <p14:creationId xmlns:p14="http://schemas.microsoft.com/office/powerpoint/2010/main" val="1364029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3690" y="6129037"/>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C0EEC4E3-DFCF-C94C-B80D-045F3E6BF764}"/>
              </a:ext>
            </a:extLst>
          </p:cNvPr>
          <p:cNvSpPr/>
          <p:nvPr/>
        </p:nvSpPr>
        <p:spPr>
          <a:xfrm>
            <a:off x="676893" y="649099"/>
            <a:ext cx="9692527" cy="156966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The weights and masses of four objects are given in the table. Work with your partner to complete the table by using the conversion factors listed. Round to the nearest thousandth when necessary.</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50" y="6466113"/>
            <a:ext cx="420233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F3393C1-127A-6C4F-A339-F569DE497E4C}"/>
                  </a:ext>
                </a:extLst>
              </p:cNvPr>
              <p:cNvGraphicFramePr>
                <a:graphicFrameLocks noGrp="1"/>
              </p:cNvGraphicFramePr>
              <p:nvPr>
                <p:extLst>
                  <p:ext uri="{D42A27DB-BD31-4B8C-83A1-F6EECF244321}">
                    <p14:modId xmlns:p14="http://schemas.microsoft.com/office/powerpoint/2010/main" val="1305105900"/>
                  </p:ext>
                </p:extLst>
              </p:nvPr>
            </p:nvGraphicFramePr>
            <p:xfrm>
              <a:off x="1898927" y="2705470"/>
              <a:ext cx="7248457" cy="2902739"/>
            </p:xfrm>
            <a:graphic>
              <a:graphicData uri="http://schemas.openxmlformats.org/drawingml/2006/table">
                <a:tbl>
                  <a:tblPr firstRow="1" firstCol="1" bandRow="1">
                    <a:tableStyleId>{A91F0D33-8C57-4600-99A7-42BC86742BE1}</a:tableStyleId>
                  </a:tblPr>
                  <a:tblGrid>
                    <a:gridCol w="1195324">
                      <a:extLst>
                        <a:ext uri="{9D8B030D-6E8A-4147-A177-3AD203B41FA5}">
                          <a16:colId xmlns:a16="http://schemas.microsoft.com/office/drawing/2014/main" val="4052437980"/>
                        </a:ext>
                      </a:extLst>
                    </a:gridCol>
                    <a:gridCol w="1521505">
                      <a:extLst>
                        <a:ext uri="{9D8B030D-6E8A-4147-A177-3AD203B41FA5}">
                          <a16:colId xmlns:a16="http://schemas.microsoft.com/office/drawing/2014/main" val="2949527362"/>
                        </a:ext>
                      </a:extLst>
                    </a:gridCol>
                    <a:gridCol w="1522176">
                      <a:extLst>
                        <a:ext uri="{9D8B030D-6E8A-4147-A177-3AD203B41FA5}">
                          <a16:colId xmlns:a16="http://schemas.microsoft.com/office/drawing/2014/main" val="635496194"/>
                        </a:ext>
                      </a:extLst>
                    </a:gridCol>
                    <a:gridCol w="1522176">
                      <a:extLst>
                        <a:ext uri="{9D8B030D-6E8A-4147-A177-3AD203B41FA5}">
                          <a16:colId xmlns:a16="http://schemas.microsoft.com/office/drawing/2014/main" val="2280454189"/>
                        </a:ext>
                      </a:extLst>
                    </a:gridCol>
                    <a:gridCol w="1487276">
                      <a:extLst>
                        <a:ext uri="{9D8B030D-6E8A-4147-A177-3AD203B41FA5}">
                          <a16:colId xmlns:a16="http://schemas.microsoft.com/office/drawing/2014/main" val="1109887452"/>
                        </a:ext>
                      </a:extLst>
                    </a:gridCol>
                  </a:tblGrid>
                  <a:tr h="314771">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Object</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Ounces</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Pounds</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Grams</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Kilograms</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62008703"/>
                      </a:ext>
                    </a:extLst>
                  </a:tr>
                  <a:tr h="646992">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Bag of potatoes</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5</m:t>
                                </m:r>
                              </m:oMath>
                            </m:oMathPara>
                          </a14:m>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744980"/>
                      </a:ext>
                    </a:extLst>
                  </a:tr>
                  <a:tr h="646992">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Pencil</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0.3</m:t>
                                </m:r>
                              </m:oMath>
                            </m:oMathPara>
                          </a14:m>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765607"/>
                      </a:ext>
                    </a:extLst>
                  </a:tr>
                  <a:tr h="646992">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iPhone</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194</m:t>
                                </m:r>
                              </m:oMath>
                            </m:oMathPara>
                          </a14:m>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4873079"/>
                      </a:ext>
                    </a:extLst>
                  </a:tr>
                  <a:tr h="646992">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Bicycle</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9</m:t>
                                </m:r>
                              </m:oMath>
                            </m:oMathPara>
                          </a14:m>
                          <a:endParaRPr lang="en-CO" sz="1300" dirty="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617208"/>
                      </a:ext>
                    </a:extLst>
                  </a:tr>
                </a:tbl>
              </a:graphicData>
            </a:graphic>
          </p:graphicFrame>
        </mc:Choice>
        <mc:Fallback xmlns="">
          <p:graphicFrame>
            <p:nvGraphicFramePr>
              <p:cNvPr id="4" name="Table 3">
                <a:extLst>
                  <a:ext uri="{FF2B5EF4-FFF2-40B4-BE49-F238E27FC236}">
                    <a16:creationId xmlns:a16="http://schemas.microsoft.com/office/drawing/2014/main" id="{2F3393C1-127A-6C4F-A339-F569DE497E4C}"/>
                  </a:ext>
                </a:extLst>
              </p:cNvPr>
              <p:cNvGraphicFramePr>
                <a:graphicFrameLocks noGrp="1"/>
              </p:cNvGraphicFramePr>
              <p:nvPr>
                <p:extLst>
                  <p:ext uri="{D42A27DB-BD31-4B8C-83A1-F6EECF244321}">
                    <p14:modId xmlns:p14="http://schemas.microsoft.com/office/powerpoint/2010/main" val="1305105900"/>
                  </p:ext>
                </p:extLst>
              </p:nvPr>
            </p:nvGraphicFramePr>
            <p:xfrm>
              <a:off x="1898927" y="2705470"/>
              <a:ext cx="7248457" cy="2902739"/>
            </p:xfrm>
            <a:graphic>
              <a:graphicData uri="http://schemas.openxmlformats.org/drawingml/2006/table">
                <a:tbl>
                  <a:tblPr firstRow="1" firstCol="1" bandRow="1">
                    <a:tableStyleId>{A91F0D33-8C57-4600-99A7-42BC86742BE1}</a:tableStyleId>
                  </a:tblPr>
                  <a:tblGrid>
                    <a:gridCol w="1195324">
                      <a:extLst>
                        <a:ext uri="{9D8B030D-6E8A-4147-A177-3AD203B41FA5}">
                          <a16:colId xmlns:a16="http://schemas.microsoft.com/office/drawing/2014/main" val="4052437980"/>
                        </a:ext>
                      </a:extLst>
                    </a:gridCol>
                    <a:gridCol w="1521505">
                      <a:extLst>
                        <a:ext uri="{9D8B030D-6E8A-4147-A177-3AD203B41FA5}">
                          <a16:colId xmlns:a16="http://schemas.microsoft.com/office/drawing/2014/main" val="2949527362"/>
                        </a:ext>
                      </a:extLst>
                    </a:gridCol>
                    <a:gridCol w="1522176">
                      <a:extLst>
                        <a:ext uri="{9D8B030D-6E8A-4147-A177-3AD203B41FA5}">
                          <a16:colId xmlns:a16="http://schemas.microsoft.com/office/drawing/2014/main" val="635496194"/>
                        </a:ext>
                      </a:extLst>
                    </a:gridCol>
                    <a:gridCol w="1522176">
                      <a:extLst>
                        <a:ext uri="{9D8B030D-6E8A-4147-A177-3AD203B41FA5}">
                          <a16:colId xmlns:a16="http://schemas.microsoft.com/office/drawing/2014/main" val="2280454189"/>
                        </a:ext>
                      </a:extLst>
                    </a:gridCol>
                    <a:gridCol w="1487276">
                      <a:extLst>
                        <a:ext uri="{9D8B030D-6E8A-4147-A177-3AD203B41FA5}">
                          <a16:colId xmlns:a16="http://schemas.microsoft.com/office/drawing/2014/main" val="1109887452"/>
                        </a:ext>
                      </a:extLst>
                    </a:gridCol>
                  </a:tblGrid>
                  <a:tr h="314771">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Object</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Ounces</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Pounds</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Grams</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Kilograms</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62008703"/>
                      </a:ext>
                    </a:extLst>
                  </a:tr>
                  <a:tr h="646992">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Bag of potatoes</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78800" t="-54717" r="-198400" b="-303774"/>
                          </a:stretch>
                        </a:blipFill>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744980"/>
                      </a:ext>
                    </a:extLst>
                  </a:tr>
                  <a:tr h="646992">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Pencil</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00" t="-154717" r="-298400" b="-203774"/>
                          </a:stretch>
                        </a:blipFill>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765607"/>
                      </a:ext>
                    </a:extLst>
                  </a:tr>
                  <a:tr h="646992">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iPhone</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8800" t="-252336" r="-98400" b="-101869"/>
                          </a:stretch>
                        </a:blipFill>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4873079"/>
                      </a:ext>
                    </a:extLst>
                  </a:tr>
                  <a:tr h="646992">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Bicycle</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900">
                              <a:effectLst/>
                              <a:latin typeface="Verdana" panose="020B0604030504040204" pitchFamily="34" charset="0"/>
                              <a:ea typeface="Verdana" panose="020B0604030504040204" pitchFamily="34" charset="0"/>
                              <a:cs typeface="Verdana" panose="020B0604030504040204" pitchFamily="34" charset="0"/>
                            </a:rPr>
                            <a:t> </a:t>
                          </a:r>
                          <a:endParaRPr lang="en-CO" sz="1300">
                            <a:effectLst/>
                            <a:latin typeface="Verdana" panose="020B0604030504040204" pitchFamily="34" charset="0"/>
                            <a:ea typeface="Verdana" panose="020B0604030504040204" pitchFamily="34" charset="0"/>
                            <a:cs typeface="Verdana" panose="020B0604030504040204" pitchFamily="34" charset="0"/>
                          </a:endParaRPr>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2485" marR="7248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88115" t="-355660" r="-820" b="-2830"/>
                          </a:stretch>
                        </a:blipFill>
                      </a:tcPr>
                    </a:tc>
                    <a:extLst>
                      <a:ext uri="{0D108BD9-81ED-4DB2-BD59-A6C34878D82A}">
                        <a16:rowId xmlns:a16="http://schemas.microsoft.com/office/drawing/2014/main" val="2489617208"/>
                      </a:ext>
                    </a:extLst>
                  </a:tr>
                </a:tbl>
              </a:graphicData>
            </a:graphic>
          </p:graphicFrame>
        </mc:Fallback>
      </mc:AlternateContent>
    </p:spTree>
    <p:extLst>
      <p:ext uri="{BB962C8B-B14F-4D97-AF65-F5344CB8AC3E}">
        <p14:creationId xmlns:p14="http://schemas.microsoft.com/office/powerpoint/2010/main" val="1862563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4"/>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2" y="6169601"/>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719791"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98771"/>
            <a:ext cx="41207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254</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482266B5-36AC-A54E-8CFD-7E1FB3128C3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491589" y="2843630"/>
            <a:ext cx="1152453" cy="115245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61240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64162" y="-52289"/>
            <a:ext cx="937498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6.4.4 Guided Instruction: Conversions of Areas</a:t>
            </a:r>
          </a:p>
        </p:txBody>
      </p:sp>
      <p:sp>
        <p:nvSpPr>
          <p:cNvPr id="2" name="Rectangle 1">
            <a:extLst>
              <a:ext uri="{FF2B5EF4-FFF2-40B4-BE49-F238E27FC236}">
                <a16:creationId xmlns:a16="http://schemas.microsoft.com/office/drawing/2014/main" id="{C0EEC4E3-DFCF-C94C-B80D-045F3E6BF764}"/>
              </a:ext>
            </a:extLst>
          </p:cNvPr>
          <p:cNvSpPr/>
          <p:nvPr/>
        </p:nvSpPr>
        <p:spPr>
          <a:xfrm>
            <a:off x="688769" y="1667047"/>
            <a:ext cx="9680652" cy="2677656"/>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does area measure?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type of units are used to measure area?</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76999"/>
            <a:ext cx="41533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254</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C67040AE-0FD8-B147-A181-58A733F0115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14354" y="91806"/>
            <a:ext cx="749808" cy="749808"/>
          </a:xfrm>
          <a:prstGeom prst="rect">
            <a:avLst/>
          </a:prstGeom>
        </p:spPr>
      </p:pic>
    </p:spTree>
    <p:extLst>
      <p:ext uri="{BB962C8B-B14F-4D97-AF65-F5344CB8AC3E}">
        <p14:creationId xmlns:p14="http://schemas.microsoft.com/office/powerpoint/2010/main" val="4066111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697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4"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50" y="6466113"/>
            <a:ext cx="4164254"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254</a:t>
            </a:r>
            <a:endParaRPr i="1" dirty="0">
              <a:latin typeface="Calibri"/>
              <a:ea typeface="Calibri"/>
              <a:cs typeface="Calibri"/>
              <a:sym typeface="Calibri"/>
            </a:endParaRPr>
          </a:p>
        </p:txBody>
      </p:sp>
      <p:sp>
        <p:nvSpPr>
          <p:cNvPr id="12" name="Rectangle 11">
            <a:extLst>
              <a:ext uri="{FF2B5EF4-FFF2-40B4-BE49-F238E27FC236}">
                <a16:creationId xmlns:a16="http://schemas.microsoft.com/office/drawing/2014/main" id="{84B30E62-DBC7-A64B-9D39-DD94DF002123}"/>
              </a:ext>
            </a:extLst>
          </p:cNvPr>
          <p:cNvSpPr/>
          <p:nvPr/>
        </p:nvSpPr>
        <p:spPr>
          <a:xfrm>
            <a:off x="688768" y="369894"/>
            <a:ext cx="8449646" cy="4708981"/>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Luciana is a wildlife </a:t>
            </a:r>
            <a:r>
              <a:rPr lang="en-US" sz="2000">
                <a:latin typeface="Verdana" panose="020B0604030504040204" pitchFamily="34" charset="0"/>
                <a:ea typeface="Times New Roman" panose="02020603050405020304" pitchFamily="18" charset="0"/>
                <a:cs typeface="Times New Roman" panose="02020603050405020304" pitchFamily="18" charset="0"/>
              </a:rPr>
              <a:t>biologist who </a:t>
            </a:r>
            <a:r>
              <a:rPr lang="en-US" sz="2000" dirty="0">
                <a:latin typeface="Verdana" panose="020B0604030504040204" pitchFamily="34" charset="0"/>
                <a:ea typeface="Times New Roman" panose="02020603050405020304" pitchFamily="18" charset="0"/>
                <a:cs typeface="Times New Roman" panose="02020603050405020304" pitchFamily="18" charset="0"/>
              </a:rPr>
              <a:t>studies the habitat of the Florida Panther. Florida Panthers are tracked using radio collars to determine the area in which the panther lives. The rectangular habitat of one of the panthers is shown, where the dimensions are given in kilometers (km).</a:t>
            </a: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a:r>
              <a:rPr lang="en-US" sz="2000" dirty="0">
                <a:latin typeface="Verdana" panose="020B0604030504040204" pitchFamily="34" charset="0"/>
                <a:ea typeface="Times New Roman" panose="02020603050405020304" pitchFamily="18" charset="0"/>
                <a:cs typeface="Times New Roman" panose="02020603050405020304" pitchFamily="18" charset="0"/>
              </a:rPr>
              <a:t>Two students used different methods and conversion factors to find the area of the panther’s habitat in square miles (mi</a:t>
            </a:r>
            <a:r>
              <a:rPr lang="en-US" sz="2000" baseline="30000" dirty="0">
                <a:latin typeface="Verdana" panose="020B0604030504040204" pitchFamily="34" charset="0"/>
                <a:ea typeface="Times New Roman" panose="02020603050405020304" pitchFamily="18" charset="0"/>
                <a:cs typeface="Times New Roman" panose="02020603050405020304" pitchFamily="18" charset="0"/>
              </a:rPr>
              <a:t>2</a:t>
            </a:r>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p:grpSp>
        <p:nvGrpSpPr>
          <p:cNvPr id="10" name="Group 9">
            <a:extLst>
              <a:ext uri="{FF2B5EF4-FFF2-40B4-BE49-F238E27FC236}">
                <a16:creationId xmlns:a16="http://schemas.microsoft.com/office/drawing/2014/main" id="{F5A63208-B05D-2542-9D98-8AB3385EFFD5}"/>
              </a:ext>
            </a:extLst>
          </p:cNvPr>
          <p:cNvGrpSpPr/>
          <p:nvPr/>
        </p:nvGrpSpPr>
        <p:grpSpPr>
          <a:xfrm>
            <a:off x="9396877" y="496038"/>
            <a:ext cx="2590801" cy="1879600"/>
            <a:chOff x="0" y="0"/>
            <a:chExt cx="2591051" cy="1879758"/>
          </a:xfrm>
        </p:grpSpPr>
        <p:sp>
          <p:nvSpPr>
            <p:cNvPr id="13" name="Rectangle 12">
              <a:extLst>
                <a:ext uri="{FF2B5EF4-FFF2-40B4-BE49-F238E27FC236}">
                  <a16:creationId xmlns:a16="http://schemas.microsoft.com/office/drawing/2014/main" id="{323EE05B-26CF-CD41-9A76-33775A7285D2}"/>
                </a:ext>
              </a:extLst>
            </p:cNvPr>
            <p:cNvSpPr/>
            <p:nvPr/>
          </p:nvSpPr>
          <p:spPr>
            <a:xfrm>
              <a:off x="0" y="0"/>
              <a:ext cx="1676400" cy="147510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14" name="Text Box 19">
                  <a:extLst>
                    <a:ext uri="{FF2B5EF4-FFF2-40B4-BE49-F238E27FC236}">
                      <a16:creationId xmlns:a16="http://schemas.microsoft.com/office/drawing/2014/main" id="{A980ED05-8187-A540-9C31-8E98C6553C9D}"/>
                    </a:ext>
                  </a:extLst>
                </p:cNvPr>
                <p:cNvSpPr txBox="1">
                  <a:spLocks noChangeArrowheads="1"/>
                </p:cNvSpPr>
                <p:nvPr/>
              </p:nvSpPr>
              <p:spPr bwMode="auto">
                <a:xfrm>
                  <a:off x="1702051" y="534155"/>
                  <a:ext cx="889000" cy="35877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10 </m:t>
                        </m:r>
                        <m:r>
                          <a:rPr lang="en-US" sz="1800" i="1">
                            <a:latin typeface="Cambria Math" panose="02040503050406030204" pitchFamily="18" charset="0"/>
                            <a:ea typeface="Times New Roman" panose="02020603050405020304" pitchFamily="18" charset="0"/>
                            <a:cs typeface="Times New Roman" panose="02020603050405020304" pitchFamily="18" charset="0"/>
                          </a:rPr>
                          <m:t>𝑘𝑚</m:t>
                        </m:r>
                      </m:oMath>
                    </m:oMathPara>
                  </a14:m>
                  <a:endParaRPr lang="en-CO" sz="1200">
                    <a:latin typeface="Times New Roman" panose="02020603050405020304" pitchFamily="18" charset="0"/>
                    <a:ea typeface="Times New Roman" panose="02020603050405020304" pitchFamily="18" charset="0"/>
                  </a:endParaRPr>
                </a:p>
              </p:txBody>
            </p:sp>
          </mc:Choice>
          <mc:Fallback xmlns="">
            <p:sp>
              <p:nvSpPr>
                <p:cNvPr id="14" name="Text Box 19">
                  <a:extLst>
                    <a:ext uri="{FF2B5EF4-FFF2-40B4-BE49-F238E27FC236}">
                      <a16:creationId xmlns:a16="http://schemas.microsoft.com/office/drawing/2014/main" id="{A980ED05-8187-A540-9C31-8E98C6553C9D}"/>
                    </a:ext>
                  </a:extLst>
                </p:cNvPr>
                <p:cNvSpPr txBox="1">
                  <a:spLocks noRot="1" noChangeAspect="1" noMove="1" noResize="1" noEditPoints="1" noAdjustHandles="1" noChangeArrowheads="1" noChangeShapeType="1" noTextEdit="1"/>
                </p:cNvSpPr>
                <p:nvPr/>
              </p:nvSpPr>
              <p:spPr bwMode="auto">
                <a:xfrm>
                  <a:off x="1702051" y="534155"/>
                  <a:ext cx="889000" cy="358775"/>
                </a:xfrm>
                <a:prstGeom prst="rect">
                  <a:avLst/>
                </a:prstGeom>
                <a:blipFill>
                  <a:blip r:embed="rId4"/>
                  <a:stretch>
                    <a:fillRect b="-16667"/>
                  </a:stretch>
                </a:blipFill>
                <a:ln w="9525">
                  <a:noFill/>
                  <a:miter lim="800000"/>
                  <a:headEnd/>
                  <a:tailEnd/>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5" name="Text Box 2">
                  <a:extLst>
                    <a:ext uri="{FF2B5EF4-FFF2-40B4-BE49-F238E27FC236}">
                      <a16:creationId xmlns:a16="http://schemas.microsoft.com/office/drawing/2014/main" id="{4AB8175E-7C03-B74B-BEC9-3A63CAE3D574}"/>
                    </a:ext>
                  </a:extLst>
                </p:cNvPr>
                <p:cNvSpPr txBox="1">
                  <a:spLocks noChangeArrowheads="1"/>
                </p:cNvSpPr>
                <p:nvPr/>
              </p:nvSpPr>
              <p:spPr bwMode="auto">
                <a:xfrm>
                  <a:off x="371192" y="1520983"/>
                  <a:ext cx="889000" cy="35877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11 </m:t>
                        </m:r>
                        <m:r>
                          <a:rPr lang="en-US" sz="1800" i="1">
                            <a:latin typeface="Cambria Math" panose="02040503050406030204" pitchFamily="18" charset="0"/>
                            <a:ea typeface="Times New Roman" panose="02020603050405020304" pitchFamily="18" charset="0"/>
                            <a:cs typeface="Times New Roman" panose="02020603050405020304" pitchFamily="18" charset="0"/>
                          </a:rPr>
                          <m:t>𝑘𝑚</m:t>
                        </m:r>
                      </m:oMath>
                    </m:oMathPara>
                  </a14:m>
                  <a:endParaRPr lang="en-CO" sz="1200">
                    <a:latin typeface="Times New Roman" panose="02020603050405020304" pitchFamily="18" charset="0"/>
                    <a:ea typeface="Times New Roman" panose="02020603050405020304" pitchFamily="18" charset="0"/>
                  </a:endParaRPr>
                </a:p>
              </p:txBody>
            </p:sp>
          </mc:Choice>
          <mc:Fallback xmlns="">
            <p:sp>
              <p:nvSpPr>
                <p:cNvPr id="15" name="Text Box 2">
                  <a:extLst>
                    <a:ext uri="{FF2B5EF4-FFF2-40B4-BE49-F238E27FC236}">
                      <a16:creationId xmlns:a16="http://schemas.microsoft.com/office/drawing/2014/main" id="{4AB8175E-7C03-B74B-BEC9-3A63CAE3D574}"/>
                    </a:ext>
                  </a:extLst>
                </p:cNvPr>
                <p:cNvSpPr txBox="1">
                  <a:spLocks noRot="1" noChangeAspect="1" noMove="1" noResize="1" noEditPoints="1" noAdjustHandles="1" noChangeArrowheads="1" noChangeShapeType="1" noTextEdit="1"/>
                </p:cNvSpPr>
                <p:nvPr/>
              </p:nvSpPr>
              <p:spPr bwMode="auto">
                <a:xfrm>
                  <a:off x="371192" y="1520983"/>
                  <a:ext cx="889000" cy="358775"/>
                </a:xfrm>
                <a:prstGeom prst="rect">
                  <a:avLst/>
                </a:prstGeom>
                <a:blipFill>
                  <a:blip r:embed="rId5"/>
                  <a:stretch>
                    <a:fillRect b="-16667"/>
                  </a:stretch>
                </a:blipFill>
                <a:ln w="9525">
                  <a:noFill/>
                  <a:miter lim="800000"/>
                  <a:headEnd/>
                  <a:tailEnd/>
                </a:ln>
              </p:spPr>
              <p:txBody>
                <a:bodyPr/>
                <a:lstStyle/>
                <a:p>
                  <a:r>
                    <a:rPr lang="en-CO">
                      <a:noFill/>
                    </a:rPr>
                    <a:t> </a:t>
                  </a:r>
                </a:p>
              </p:txBody>
            </p:sp>
          </mc:Fallback>
        </mc:AlternateContent>
      </p:grpSp>
    </p:spTree>
    <p:extLst>
      <p:ext uri="{BB962C8B-B14F-4D97-AF65-F5344CB8AC3E}">
        <p14:creationId xmlns:p14="http://schemas.microsoft.com/office/powerpoint/2010/main" val="2170903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50" y="6455229"/>
            <a:ext cx="4186026"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254</a:t>
            </a:r>
            <a:endParaRPr i="1" dirty="0">
              <a:latin typeface="Calibri"/>
              <a:ea typeface="Calibri"/>
              <a:cs typeface="Calibri"/>
              <a:sym typeface="Calibri"/>
            </a:endParaRPr>
          </a:p>
        </p:txBody>
      </p:sp>
      <p:sp>
        <p:nvSpPr>
          <p:cNvPr id="12" name="Rectangle 11">
            <a:extLst>
              <a:ext uri="{FF2B5EF4-FFF2-40B4-BE49-F238E27FC236}">
                <a16:creationId xmlns:a16="http://schemas.microsoft.com/office/drawing/2014/main" id="{84B30E62-DBC7-A64B-9D39-DD94DF002123}"/>
              </a:ext>
            </a:extLst>
          </p:cNvPr>
          <p:cNvSpPr/>
          <p:nvPr/>
        </p:nvSpPr>
        <p:spPr>
          <a:xfrm>
            <a:off x="688769" y="4310641"/>
            <a:ext cx="9680652" cy="830997"/>
          </a:xfrm>
          <a:prstGeom prst="rect">
            <a:avLst/>
          </a:prstGeom>
        </p:spPr>
        <p:txBody>
          <a:bodyPr wrap="square">
            <a:spAutoFit/>
          </a:bodyPr>
          <a:lstStyle/>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Draw an asterisk (*) next to the conversion factor that each student used.</a:t>
            </a:r>
          </a:p>
        </p:txBody>
      </p:sp>
      <p:pic>
        <p:nvPicPr>
          <p:cNvPr id="4" name="Picture 3" descr="Table&#10;&#10;Description automatically generated with medium confidence">
            <a:extLst>
              <a:ext uri="{FF2B5EF4-FFF2-40B4-BE49-F238E27FC236}">
                <a16:creationId xmlns:a16="http://schemas.microsoft.com/office/drawing/2014/main" id="{9EB9B4EE-06EE-FE4E-B8EA-F6C38F10ECD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41927" y="649288"/>
            <a:ext cx="6791974" cy="3158378"/>
          </a:xfrm>
          <a:prstGeom prst="rect">
            <a:avLst/>
          </a:prstGeom>
        </p:spPr>
      </p:pic>
    </p:spTree>
    <p:extLst>
      <p:ext uri="{BB962C8B-B14F-4D97-AF65-F5344CB8AC3E}">
        <p14:creationId xmlns:p14="http://schemas.microsoft.com/office/powerpoint/2010/main" val="3298998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339"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254</a:t>
            </a:r>
            <a:endParaRPr i="1" dirty="0">
              <a:latin typeface="Calibri"/>
              <a:ea typeface="Calibri"/>
              <a:cs typeface="Calibri"/>
              <a:sym typeface="Calibri"/>
            </a:endParaRPr>
          </a:p>
        </p:txBody>
      </p:sp>
      <p:sp>
        <p:nvSpPr>
          <p:cNvPr id="12" name="Rectangle 11">
            <a:extLst>
              <a:ext uri="{FF2B5EF4-FFF2-40B4-BE49-F238E27FC236}">
                <a16:creationId xmlns:a16="http://schemas.microsoft.com/office/drawing/2014/main" id="{84B30E62-DBC7-A64B-9D39-DD94DF002123}"/>
              </a:ext>
            </a:extLst>
          </p:cNvPr>
          <p:cNvSpPr/>
          <p:nvPr/>
        </p:nvSpPr>
        <p:spPr>
          <a:xfrm>
            <a:off x="688769" y="713771"/>
            <a:ext cx="9680651" cy="1200329"/>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each student’s work with your partner. Then, write a brief description of how each person found the area of the panther’s habitat in square miles.</a:t>
            </a:r>
          </a:p>
        </p:txBody>
      </p:sp>
      <p:graphicFrame>
        <p:nvGraphicFramePr>
          <p:cNvPr id="2" name="Table 1">
            <a:extLst>
              <a:ext uri="{FF2B5EF4-FFF2-40B4-BE49-F238E27FC236}">
                <a16:creationId xmlns:a16="http://schemas.microsoft.com/office/drawing/2014/main" id="{81D37AEA-3125-A745-BD0F-30595477EA20}"/>
              </a:ext>
            </a:extLst>
          </p:cNvPr>
          <p:cNvGraphicFramePr>
            <a:graphicFrameLocks noGrp="1"/>
          </p:cNvGraphicFramePr>
          <p:nvPr>
            <p:extLst>
              <p:ext uri="{D42A27DB-BD31-4B8C-83A1-F6EECF244321}">
                <p14:modId xmlns:p14="http://schemas.microsoft.com/office/powerpoint/2010/main" val="3808165447"/>
              </p:ext>
            </p:extLst>
          </p:nvPr>
        </p:nvGraphicFramePr>
        <p:xfrm>
          <a:off x="2668270" y="2284493"/>
          <a:ext cx="6855460" cy="3479800"/>
        </p:xfrm>
        <a:graphic>
          <a:graphicData uri="http://schemas.openxmlformats.org/drawingml/2006/table">
            <a:tbl>
              <a:tblPr firstRow="1" firstCol="1" bandRow="1">
                <a:tableStyleId>{A91F0D33-8C57-4600-99A7-42BC86742BE1}</a:tableStyleId>
              </a:tblPr>
              <a:tblGrid>
                <a:gridCol w="3482975">
                  <a:extLst>
                    <a:ext uri="{9D8B030D-6E8A-4147-A177-3AD203B41FA5}">
                      <a16:colId xmlns:a16="http://schemas.microsoft.com/office/drawing/2014/main" val="975521705"/>
                    </a:ext>
                  </a:extLst>
                </a:gridCol>
                <a:gridCol w="3372485">
                  <a:extLst>
                    <a:ext uri="{9D8B030D-6E8A-4147-A177-3AD203B41FA5}">
                      <a16:colId xmlns:a16="http://schemas.microsoft.com/office/drawing/2014/main" val="3822127890"/>
                    </a:ext>
                  </a:extLst>
                </a:gridCol>
              </a:tblGrid>
              <a:tr h="0">
                <a:tc>
                  <a:txBody>
                    <a:bodyPr/>
                    <a:lstStyle/>
                    <a:p>
                      <a:pPr marL="0" marR="0" algn="ctr">
                        <a:spcBef>
                          <a:spcPts val="0"/>
                        </a:spcBef>
                        <a:spcAft>
                          <a:spcPts val="0"/>
                        </a:spcAft>
                      </a:pPr>
                      <a:r>
                        <a:rPr lang="en-US" sz="1800" b="1" dirty="0" err="1">
                          <a:effectLst/>
                          <a:latin typeface="Verdana" panose="020B0604030504040204" pitchFamily="34" charset="0"/>
                          <a:ea typeface="Verdana" panose="020B0604030504040204" pitchFamily="34" charset="0"/>
                          <a:cs typeface="Verdana" panose="020B0604030504040204" pitchFamily="34" charset="0"/>
                        </a:rPr>
                        <a:t>Keyshaun’s</a:t>
                      </a:r>
                      <a:r>
                        <a:rPr lang="en-US" sz="1800" b="1" dirty="0">
                          <a:effectLst/>
                          <a:latin typeface="Verdana" panose="020B0604030504040204" pitchFamily="34" charset="0"/>
                          <a:ea typeface="Verdana" panose="020B0604030504040204" pitchFamily="34" charset="0"/>
                          <a:cs typeface="Verdana" panose="020B0604030504040204" pitchFamily="34" charset="0"/>
                        </a:rPr>
                        <a:t> Work</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Harper’s Work</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406802516"/>
                  </a:ext>
                </a:extLst>
              </a:tr>
              <a:tr h="3205480">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1389595"/>
                  </a:ext>
                </a:extLst>
              </a:tr>
            </a:tbl>
          </a:graphicData>
        </a:graphic>
      </p:graphicFrame>
    </p:spTree>
    <p:extLst>
      <p:ext uri="{BB962C8B-B14F-4D97-AF65-F5344CB8AC3E}">
        <p14:creationId xmlns:p14="http://schemas.microsoft.com/office/powerpoint/2010/main" val="365102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4319" y="6142052"/>
            <a:ext cx="563850" cy="63124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433457"/>
            <a:ext cx="42295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254</a:t>
            </a:r>
            <a:endParaRPr i="1" dirty="0">
              <a:latin typeface="Calibri"/>
              <a:ea typeface="Calibri"/>
              <a:cs typeface="Calibri"/>
              <a:sym typeface="Calibri"/>
            </a:endParaRPr>
          </a:p>
        </p:txBody>
      </p:sp>
      <p:sp>
        <p:nvSpPr>
          <p:cNvPr id="12" name="Rectangle 11">
            <a:extLst>
              <a:ext uri="{FF2B5EF4-FFF2-40B4-BE49-F238E27FC236}">
                <a16:creationId xmlns:a16="http://schemas.microsoft.com/office/drawing/2014/main" id="{84B30E62-DBC7-A64B-9D39-DD94DF002123}"/>
              </a:ext>
            </a:extLst>
          </p:cNvPr>
          <p:cNvSpPr/>
          <p:nvPr/>
        </p:nvSpPr>
        <p:spPr>
          <a:xfrm>
            <a:off x="688768" y="772160"/>
            <a:ext cx="10675917" cy="4154984"/>
          </a:xfrm>
          <a:prstGeom prst="rect">
            <a:avLst/>
          </a:prstGeom>
        </p:spPr>
        <p:txBody>
          <a:bodyPr wrap="square">
            <a:spAutoFit/>
          </a:bodyPr>
          <a:lstStyle/>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Keyshaun and Harper used different conversion factors, but still found the same answer. How are their conversion factors related? </a:t>
            </a: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Why did Keyshaun and Harper use the symbol ≈ in their calculations?</a:t>
            </a:r>
          </a:p>
        </p:txBody>
      </p:sp>
    </p:spTree>
    <p:extLst>
      <p:ext uri="{BB962C8B-B14F-4D97-AF65-F5344CB8AC3E}">
        <p14:creationId xmlns:p14="http://schemas.microsoft.com/office/powerpoint/2010/main" val="1245119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882885" y="2766145"/>
            <a:ext cx="448075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5400" b="1" dirty="0">
                <a:solidFill>
                  <a:srgbClr val="45BFA9"/>
                </a:solidFill>
                <a:latin typeface="Verdana"/>
                <a:ea typeface="Verdana"/>
                <a:cs typeface="Verdana"/>
                <a:sym typeface="Verdana"/>
              </a:rPr>
              <a:t>Try It</a:t>
            </a:r>
            <a:endParaRPr sz="4800" b="1" dirty="0">
              <a:solidFill>
                <a:srgbClr val="45BFA9"/>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49" y="6444343"/>
            <a:ext cx="4153369"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255</a:t>
            </a:r>
            <a:endParaRPr i="1" dirty="0">
              <a:latin typeface="Calibri"/>
              <a:ea typeface="Calibri"/>
              <a:cs typeface="Calibri"/>
              <a:sym typeface="Calibri"/>
            </a:endParaRPr>
          </a:p>
        </p:txBody>
      </p:sp>
      <p:pic>
        <p:nvPicPr>
          <p:cNvPr id="7" name="image2.png">
            <a:extLst>
              <a:ext uri="{FF2B5EF4-FFF2-40B4-BE49-F238E27FC236}">
                <a16:creationId xmlns:a16="http://schemas.microsoft.com/office/drawing/2014/main" id="{9F6A9416-B6BE-C442-AA49-A93806A26D15}"/>
              </a:ext>
            </a:extLst>
          </p:cNvPr>
          <p:cNvPicPr/>
          <p:nvPr/>
        </p:nvPicPr>
        <p:blipFill>
          <a:blip r:embed="rId4" cstate="print">
            <a:extLst>
              <a:ext uri="{28A0092B-C50C-407E-A947-70E740481C1C}">
                <a14:useLocalDpi xmlns:a14="http://schemas.microsoft.com/office/drawing/2010/main"/>
              </a:ext>
            </a:extLst>
          </a:blip>
          <a:stretch>
            <a:fillRect/>
          </a:stretch>
        </p:blipFill>
        <p:spPr>
          <a:xfrm>
            <a:off x="4601700" y="2839331"/>
            <a:ext cx="1152447" cy="1152447"/>
          </a:xfrm>
          <a:prstGeom prst="rect">
            <a:avLst/>
          </a:prstGeom>
          <a:ln/>
        </p:spPr>
      </p:pic>
    </p:spTree>
    <p:extLst>
      <p:ext uri="{BB962C8B-B14F-4D97-AF65-F5344CB8AC3E}">
        <p14:creationId xmlns:p14="http://schemas.microsoft.com/office/powerpoint/2010/main" val="2581370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2867"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97183" y="-137357"/>
            <a:ext cx="924196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45BFA9"/>
                </a:solidFill>
                <a:latin typeface="Verdana"/>
                <a:ea typeface="Verdana"/>
                <a:cs typeface="Verdana"/>
                <a:sym typeface="Verdana"/>
              </a:rPr>
              <a:t>6.4.5 Try It: Conversions of Area</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C0EEC4E3-DFCF-C94C-B80D-045F3E6BF764}"/>
                  </a:ext>
                </a:extLst>
              </p:cNvPr>
              <p:cNvSpPr/>
              <p:nvPr/>
            </p:nvSpPr>
            <p:spPr>
              <a:xfrm>
                <a:off x="688769" y="1055673"/>
                <a:ext cx="9680651" cy="3477875"/>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Acres are another common unit used to measure large areas of land. An acre is almost the size of a football field, or the size of about 16 tennis courts combined.</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The Nature Conservancy’s Disney Wilderness Preserve covers approximately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11,500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acres of land. Convert the area of the preserve to square miles and to square kilometers. Round to the nearest hundredth when necessary.</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indent="454025"/>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1000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acres =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1.5625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square miles </a:t>
                </a:r>
              </a:p>
              <a:p>
                <a:pPr indent="454025"/>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acres =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0.405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square kilometers</a:t>
                </a:r>
              </a:p>
            </p:txBody>
          </p:sp>
        </mc:Choice>
        <mc:Fallback xmlns="">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88769" y="1055673"/>
                <a:ext cx="9680651" cy="3477875"/>
              </a:xfrm>
              <a:prstGeom prst="rect">
                <a:avLst/>
              </a:prstGeom>
              <a:blipFill>
                <a:blip r:embed="rId4"/>
                <a:stretch>
                  <a:fillRect l="-693" t="-876" b="-2102"/>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33457"/>
            <a:ext cx="4218117"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255</a:t>
            </a:r>
            <a:endParaRPr i="1" dirty="0">
              <a:latin typeface="Calibri"/>
              <a:ea typeface="Calibri"/>
              <a:cs typeface="Calibri"/>
              <a:sym typeface="Calibri"/>
            </a:endParaRPr>
          </a:p>
        </p:txBody>
      </p:sp>
      <p:pic>
        <p:nvPicPr>
          <p:cNvPr id="9" name="image2.png">
            <a:extLst>
              <a:ext uri="{FF2B5EF4-FFF2-40B4-BE49-F238E27FC236}">
                <a16:creationId xmlns:a16="http://schemas.microsoft.com/office/drawing/2014/main" id="{4DDE9B32-CE34-704F-A84F-0CD201922977}"/>
              </a:ext>
            </a:extLst>
          </p:cNvPr>
          <p:cNvPicPr/>
          <p:nvPr/>
        </p:nvPicPr>
        <p:blipFill>
          <a:blip r:embed="rId5" cstate="screen">
            <a:extLst>
              <a:ext uri="{28A0092B-C50C-407E-A947-70E740481C1C}">
                <a14:useLocalDpi xmlns:a14="http://schemas.microsoft.com/office/drawing/2010/main"/>
              </a:ext>
            </a:extLst>
          </a:blip>
          <a:stretch>
            <a:fillRect/>
          </a:stretch>
        </p:blipFill>
        <p:spPr>
          <a:xfrm>
            <a:off x="547375" y="150589"/>
            <a:ext cx="749808" cy="749808"/>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45379C6-1F11-0E4C-B4D4-E71446BF67D0}"/>
                  </a:ext>
                </a:extLst>
              </p:cNvPr>
              <p:cNvGraphicFramePr>
                <a:graphicFrameLocks noGrp="1"/>
              </p:cNvGraphicFramePr>
              <p:nvPr>
                <p:extLst>
                  <p:ext uri="{D42A27DB-BD31-4B8C-83A1-F6EECF244321}">
                    <p14:modId xmlns:p14="http://schemas.microsoft.com/office/powerpoint/2010/main" val="770490248"/>
                  </p:ext>
                </p:extLst>
              </p:nvPr>
            </p:nvGraphicFramePr>
            <p:xfrm>
              <a:off x="2371166" y="5029740"/>
              <a:ext cx="7577585" cy="1239520"/>
            </p:xfrm>
            <a:graphic>
              <a:graphicData uri="http://schemas.openxmlformats.org/drawingml/2006/table">
                <a:tbl>
                  <a:tblPr firstRow="1" firstCol="1" bandRow="1">
                    <a:tableStyleId>{A91F0D33-8C57-4600-99A7-42BC86742BE1}</a:tableStyleId>
                  </a:tblPr>
                  <a:tblGrid>
                    <a:gridCol w="2525393">
                      <a:extLst>
                        <a:ext uri="{9D8B030D-6E8A-4147-A177-3AD203B41FA5}">
                          <a16:colId xmlns:a16="http://schemas.microsoft.com/office/drawing/2014/main" val="3114954827"/>
                        </a:ext>
                      </a:extLst>
                    </a:gridCol>
                    <a:gridCol w="2526096">
                      <a:extLst>
                        <a:ext uri="{9D8B030D-6E8A-4147-A177-3AD203B41FA5}">
                          <a16:colId xmlns:a16="http://schemas.microsoft.com/office/drawing/2014/main" val="1160073376"/>
                        </a:ext>
                      </a:extLst>
                    </a:gridCol>
                    <a:gridCol w="2526096">
                      <a:extLst>
                        <a:ext uri="{9D8B030D-6E8A-4147-A177-3AD203B41FA5}">
                          <a16:colId xmlns:a16="http://schemas.microsoft.com/office/drawing/2014/main" val="17009134"/>
                        </a:ext>
                      </a:extLst>
                    </a:gridCol>
                  </a:tblGrid>
                  <a:tr h="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Acres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Square Miles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Square Kilometers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515700357"/>
                      </a:ext>
                    </a:extLst>
                  </a:tr>
                  <a:tr h="965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11,500</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0430050"/>
                      </a:ext>
                    </a:extLst>
                  </a:tr>
                </a:tbl>
              </a:graphicData>
            </a:graphic>
          </p:graphicFrame>
        </mc:Choice>
        <mc:Fallback xmlns="">
          <p:graphicFrame>
            <p:nvGraphicFramePr>
              <p:cNvPr id="3" name="Table 2">
                <a:extLst>
                  <a:ext uri="{FF2B5EF4-FFF2-40B4-BE49-F238E27FC236}">
                    <a16:creationId xmlns:a16="http://schemas.microsoft.com/office/drawing/2014/main" id="{345379C6-1F11-0E4C-B4D4-E71446BF67D0}"/>
                  </a:ext>
                </a:extLst>
              </p:cNvPr>
              <p:cNvGraphicFramePr>
                <a:graphicFrameLocks noGrp="1"/>
              </p:cNvGraphicFramePr>
              <p:nvPr>
                <p:extLst>
                  <p:ext uri="{D42A27DB-BD31-4B8C-83A1-F6EECF244321}">
                    <p14:modId xmlns:p14="http://schemas.microsoft.com/office/powerpoint/2010/main" val="770490248"/>
                  </p:ext>
                </p:extLst>
              </p:nvPr>
            </p:nvGraphicFramePr>
            <p:xfrm>
              <a:off x="2371166" y="5029740"/>
              <a:ext cx="7577585" cy="1239520"/>
            </p:xfrm>
            <a:graphic>
              <a:graphicData uri="http://schemas.openxmlformats.org/drawingml/2006/table">
                <a:tbl>
                  <a:tblPr firstRow="1" firstCol="1" bandRow="1">
                    <a:tableStyleId>{A91F0D33-8C57-4600-99A7-42BC86742BE1}</a:tableStyleId>
                  </a:tblPr>
                  <a:tblGrid>
                    <a:gridCol w="2525393">
                      <a:extLst>
                        <a:ext uri="{9D8B030D-6E8A-4147-A177-3AD203B41FA5}">
                          <a16:colId xmlns:a16="http://schemas.microsoft.com/office/drawing/2014/main" val="3114954827"/>
                        </a:ext>
                      </a:extLst>
                    </a:gridCol>
                    <a:gridCol w="2526096">
                      <a:extLst>
                        <a:ext uri="{9D8B030D-6E8A-4147-A177-3AD203B41FA5}">
                          <a16:colId xmlns:a16="http://schemas.microsoft.com/office/drawing/2014/main" val="1160073376"/>
                        </a:ext>
                      </a:extLst>
                    </a:gridCol>
                    <a:gridCol w="2526096">
                      <a:extLst>
                        <a:ext uri="{9D8B030D-6E8A-4147-A177-3AD203B41FA5}">
                          <a16:colId xmlns:a16="http://schemas.microsoft.com/office/drawing/2014/main" val="17009134"/>
                        </a:ext>
                      </a:extLst>
                    </a:gridCol>
                  </a:tblGrid>
                  <a:tr h="27432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Acres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Square Miles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Square Kilometers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515700357"/>
                      </a:ext>
                    </a:extLst>
                  </a:tr>
                  <a:tr h="965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41" t="-36478" r="-200482" b="-1258"/>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0430050"/>
                      </a:ext>
                    </a:extLst>
                  </a:tr>
                </a:tbl>
              </a:graphicData>
            </a:graphic>
          </p:graphicFrame>
        </mc:Fallback>
      </mc:AlternateContent>
    </p:spTree>
    <p:extLst>
      <p:ext uri="{BB962C8B-B14F-4D97-AF65-F5344CB8AC3E}">
        <p14:creationId xmlns:p14="http://schemas.microsoft.com/office/powerpoint/2010/main" val="3998132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3691" y="6139253"/>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49" y="6476999"/>
            <a:ext cx="409894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255</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4C5DAF65-3EE3-C044-AA58-E5FB79E2A74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429137" y="2852778"/>
            <a:ext cx="1152447" cy="115244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72733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46222" y="-15042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E24E5F"/>
                </a:solidFill>
                <a:latin typeface="Verdana"/>
                <a:ea typeface="Verdana"/>
                <a:cs typeface="Verdana"/>
                <a:sym typeface="Verdana"/>
              </a:rPr>
              <a:t>6.4.6 Your Turn!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C0EEC4E3-DFCF-C94C-B80D-045F3E6BF764}"/>
                  </a:ext>
                </a:extLst>
              </p:cNvPr>
              <p:cNvSpPr/>
              <p:nvPr/>
            </p:nvSpPr>
            <p:spPr>
              <a:xfrm>
                <a:off x="700645" y="1286376"/>
                <a:ext cx="9668776" cy="3785652"/>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Makayla is a real estate agent. A client is interested in an apartment with a primary bedroom that is rectangular in shape with dimensions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feet (ft) by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ft. The client lives in Brazil and has asked for the area of the primary bedroom to be given in square meters (</a:t>
                </a:r>
                <a14:m>
                  <m:oMath xmlns:m="http://schemas.openxmlformats.org/officeDocument/2006/math">
                    <m:sSup>
                      <m:sSupPr>
                        <m:ctrlPr>
                          <a:rPr lang="en-US" sz="2000" i="1" dirty="0">
                            <a:latin typeface="Cambria Math" panose="02040503050406030204" pitchFamily="18" charset="0"/>
                            <a:cs typeface="Times New Roman" panose="02020603050405020304" pitchFamily="18" charset="0"/>
                          </a:rPr>
                        </m:ctrlPr>
                      </m:sSupPr>
                      <m:e>
                        <m:r>
                          <a:rPr lang="es-ES" sz="2000" i="1" dirty="0">
                            <a:latin typeface="Cambria Math" panose="02040503050406030204" pitchFamily="18" charset="0"/>
                            <a:cs typeface="Times New Roman" panose="02020603050405020304" pitchFamily="18" charset="0"/>
                          </a:rPr>
                          <m:t>𝑚</m:t>
                        </m:r>
                      </m:e>
                      <m:sup>
                        <m:r>
                          <a:rPr lang="es-ES" sz="2000" i="1" dirty="0">
                            <a:latin typeface="Cambria Math" panose="02040503050406030204" pitchFamily="18" charset="0"/>
                            <a:cs typeface="Times New Roman" panose="02020603050405020304" pitchFamily="18" charset="0"/>
                          </a:rPr>
                          <m:t>2</m:t>
                        </m:r>
                      </m:sup>
                    </m:sSup>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Makayla found the following conversions:</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indent="454025"/>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ft =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0.305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meters (m)</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indent="454025"/>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10.764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square feet (</a:t>
                </a:r>
                <a14:m>
                  <m:oMath xmlns:m="http://schemas.openxmlformats.org/officeDocument/2006/math">
                    <m:sSup>
                      <m:sSupPr>
                        <m:ctrlPr>
                          <a:rPr lang="en-US" sz="2000" i="1" dirty="0">
                            <a:latin typeface="Cambria Math" panose="02040503050406030204" pitchFamily="18" charset="0"/>
                            <a:cs typeface="Times New Roman" panose="02020603050405020304" pitchFamily="18" charset="0"/>
                          </a:rPr>
                        </m:ctrlPr>
                      </m:sSupPr>
                      <m:e>
                        <m:r>
                          <a:rPr lang="es-ES" sz="2000" i="1" dirty="0">
                            <a:latin typeface="Cambria Math" panose="02040503050406030204" pitchFamily="18" charset="0"/>
                            <a:cs typeface="Times New Roman" panose="02020603050405020304" pitchFamily="18" charset="0"/>
                          </a:rPr>
                          <m:t>𝑓𝑡</m:t>
                        </m:r>
                      </m:e>
                      <m:sup>
                        <m:r>
                          <a:rPr lang="es-ES" sz="2000" i="1" dirty="0">
                            <a:latin typeface="Cambria Math" panose="02040503050406030204" pitchFamily="18" charset="0"/>
                            <a:cs typeface="Times New Roman" panose="02020603050405020304" pitchFamily="18" charset="0"/>
                          </a:rPr>
                          <m:t>2</m:t>
                        </m:r>
                      </m:sup>
                    </m:sSup>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square meter (</a:t>
                </a:r>
                <a14:m>
                  <m:oMath xmlns:m="http://schemas.openxmlformats.org/officeDocument/2006/math">
                    <m:sSup>
                      <m:sSupPr>
                        <m:ctrlPr>
                          <a:rPr lang="en-US" sz="2000" i="1" dirty="0">
                            <a:latin typeface="Cambria Math" panose="02040503050406030204" pitchFamily="18" charset="0"/>
                            <a:cs typeface="Times New Roman" panose="02020603050405020304" pitchFamily="18" charset="0"/>
                          </a:rPr>
                        </m:ctrlPr>
                      </m:sSupPr>
                      <m:e>
                        <m:r>
                          <a:rPr lang="es-ES" sz="2000" i="1" dirty="0">
                            <a:latin typeface="Cambria Math" panose="02040503050406030204" pitchFamily="18" charset="0"/>
                            <a:cs typeface="Times New Roman" panose="02020603050405020304" pitchFamily="18" charset="0"/>
                          </a:rPr>
                          <m:t>𝑚</m:t>
                        </m:r>
                      </m:e>
                      <m:sup>
                        <m:r>
                          <a:rPr lang="es-ES" sz="2000" i="1" dirty="0">
                            <a:latin typeface="Cambria Math" panose="02040503050406030204" pitchFamily="18" charset="0"/>
                            <a:cs typeface="Times New Roman" panose="02020603050405020304" pitchFamily="18" charset="0"/>
                          </a:rPr>
                          <m:t>2</m:t>
                        </m:r>
                      </m:sup>
                    </m:sSup>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4025"/>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area of the primary bedroom in square meters? Round to the nearest thousandth.</a:t>
                </a:r>
              </a:p>
            </p:txBody>
          </p:sp>
        </mc:Choice>
        <mc:Fallback xmlns="">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700645" y="1286376"/>
                <a:ext cx="9668776" cy="3785652"/>
              </a:xfrm>
              <a:prstGeom prst="rect">
                <a:avLst/>
              </a:prstGeom>
              <a:blipFill>
                <a:blip r:embed="rId4"/>
                <a:stretch>
                  <a:fillRect l="-694" t="-1127" b="-1932"/>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50" y="6466113"/>
            <a:ext cx="418602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255</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id="{4DE960C7-966F-634E-8FF4-BBDA3EF8E25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4354" y="137526"/>
            <a:ext cx="749808" cy="749808"/>
          </a:xfrm>
          <a:prstGeom prst="rect">
            <a:avLst/>
          </a:prstGeom>
        </p:spPr>
      </p:pic>
    </p:spTree>
    <p:extLst>
      <p:ext uri="{BB962C8B-B14F-4D97-AF65-F5344CB8AC3E}">
        <p14:creationId xmlns:p14="http://schemas.microsoft.com/office/powerpoint/2010/main" val="1737725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7412" y="6170388"/>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50" y="6531429"/>
            <a:ext cx="4332964"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4B30E62-DBC7-A64B-9D39-DD94DF002123}"/>
                  </a:ext>
                </a:extLst>
              </p:cNvPr>
              <p:cNvSpPr/>
              <p:nvPr/>
            </p:nvSpPr>
            <p:spPr>
              <a:xfrm>
                <a:off x="688770" y="820612"/>
                <a:ext cx="9778622" cy="3170099"/>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Leah lives in Wales. In Wales, body weight is measured using an old customary unit called stone. The stone has been a measurement of mass since before the Romans. Leah is packing to go on vacation and is allowed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kilograms (kg) of luggage on the flight. Leah uses her bathroom scale to measure the weight of her luggage. The luggage weighs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stones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pounds. Determine if Leah’s luggage is over the weight limit.</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indent="454025"/>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stone =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pounds</a:t>
                </a:r>
              </a:p>
              <a:p>
                <a:pPr indent="454025"/>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kilogram =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pounds</a:t>
                </a:r>
              </a:p>
            </p:txBody>
          </p:sp>
        </mc:Choice>
        <mc:Fallback xmlns="">
          <p:sp>
            <p:nvSpPr>
              <p:cNvPr id="12" name="Rectangle 11">
                <a:extLst>
                  <a:ext uri="{FF2B5EF4-FFF2-40B4-BE49-F238E27FC236}">
                    <a16:creationId xmlns:a16="http://schemas.microsoft.com/office/drawing/2014/main" id="{84B30E62-DBC7-A64B-9D39-DD94DF002123}"/>
                  </a:ext>
                </a:extLst>
              </p:cNvPr>
              <p:cNvSpPr>
                <a:spLocks noRot="1" noChangeAspect="1" noMove="1" noResize="1" noEditPoints="1" noAdjustHandles="1" noChangeArrowheads="1" noChangeShapeType="1" noTextEdit="1"/>
              </p:cNvSpPr>
              <p:nvPr/>
            </p:nvSpPr>
            <p:spPr>
              <a:xfrm>
                <a:off x="688770" y="820612"/>
                <a:ext cx="9778622" cy="3170099"/>
              </a:xfrm>
              <a:prstGeom prst="rect">
                <a:avLst/>
              </a:prstGeom>
              <a:blipFill>
                <a:blip r:embed="rId4"/>
                <a:stretch>
                  <a:fillRect l="-686" t="-1346" r="-374" b="-2500"/>
                </a:stretch>
              </a:blipFill>
            </p:spPr>
            <p:txBody>
              <a:bodyPr/>
              <a:lstStyle/>
              <a:p>
                <a:r>
                  <a:rPr lang="en-US">
                    <a:noFill/>
                  </a:rPr>
                  <a:t> </a:t>
                </a:r>
              </a:p>
            </p:txBody>
          </p:sp>
        </mc:Fallback>
      </mc:AlternateContent>
    </p:spTree>
    <p:extLst>
      <p:ext uri="{BB962C8B-B14F-4D97-AF65-F5344CB8AC3E}">
        <p14:creationId xmlns:p14="http://schemas.microsoft.com/office/powerpoint/2010/main" val="4137921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EFCC6CD7-3972-624A-AEF1-A2489A486756}"/>
              </a:ext>
            </a:extLst>
          </p:cNvPr>
          <p:cNvSpPr txBox="1"/>
          <p:nvPr/>
        </p:nvSpPr>
        <p:spPr>
          <a:xfrm>
            <a:off x="7314749" y="6455229"/>
            <a:ext cx="4153369"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256</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529"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1798"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96986" y="-19417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6.4.7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677614" y="95026"/>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D9F7A919-8B1E-2741-BB78-98A66295B9F8}"/>
              </a:ext>
            </a:extLst>
          </p:cNvPr>
          <p:cNvSpPr/>
          <p:nvPr/>
        </p:nvSpPr>
        <p:spPr>
          <a:xfrm>
            <a:off x="805543" y="1243129"/>
            <a:ext cx="9741493" cy="1754326"/>
          </a:xfrm>
          <a:prstGeom prst="rect">
            <a:avLst/>
          </a:prstGeom>
        </p:spPr>
        <p:txBody>
          <a:bodyPr wrap="square">
            <a:spAutoFit/>
          </a:bodyPr>
          <a:lstStyle/>
          <a:p>
            <a:pPr marL="342900" indent="-342900">
              <a:buFont typeface="+mj-lt"/>
              <a:buAutoNum type="arabicPeriod"/>
            </a:pPr>
            <a:r>
              <a:rPr lang="en-US" sz="1800" dirty="0">
                <a:latin typeface="Verdana" panose="020B0604030504040204" pitchFamily="34" charset="0"/>
                <a:ea typeface="Times New Roman" panose="02020603050405020304" pitchFamily="18" charset="0"/>
              </a:rPr>
              <a:t>Plot a point on the grid below to indicate how interesting you find the lesson, along with how much sense the lesson made to you, for today’s learning target.</a:t>
            </a:r>
          </a:p>
          <a:p>
            <a:pPr lvl="0"/>
            <a:r>
              <a:rPr lang="en-US" sz="1800" dirty="0">
                <a:latin typeface="Verdana" panose="020B0604030504040204" pitchFamily="34" charset="0"/>
                <a:ea typeface="Times New Roman" panose="02020603050405020304" pitchFamily="18" charset="0"/>
              </a:rPr>
              <a:t> </a:t>
            </a:r>
          </a:p>
          <a:p>
            <a:pPr marL="360363"/>
            <a:r>
              <a:rPr lang="en-US" sz="1800" dirty="0">
                <a:latin typeface="Verdana" panose="020B0604030504040204" pitchFamily="34" charset="0"/>
                <a:ea typeface="Times New Roman" panose="02020603050405020304" pitchFamily="18" charset="0"/>
              </a:rPr>
              <a:t>I can solve problems involving conversion of mass and area measurements across different measurement systems.</a:t>
            </a:r>
          </a:p>
        </p:txBody>
      </p:sp>
      <p:sp>
        <p:nvSpPr>
          <p:cNvPr id="11" name="Google Shape;282;g104476d1465_1_17">
            <a:extLst>
              <a:ext uri="{FF2B5EF4-FFF2-40B4-BE49-F238E27FC236}">
                <a16:creationId xmlns:a16="http://schemas.microsoft.com/office/drawing/2014/main" id="{F719A187-0842-F343-A6A1-7FD23B0B7316}"/>
              </a:ext>
            </a:extLst>
          </p:cNvPr>
          <p:cNvSpPr txBox="1"/>
          <p:nvPr/>
        </p:nvSpPr>
        <p:spPr>
          <a:xfrm>
            <a:off x="7314750" y="6422571"/>
            <a:ext cx="410704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256</a:t>
            </a:r>
            <a:endParaRPr i="1" dirty="0">
              <a:latin typeface="Calibri"/>
              <a:ea typeface="Calibri"/>
              <a:cs typeface="Calibri"/>
              <a:sym typeface="Calibri"/>
            </a:endParaRPr>
          </a:p>
        </p:txBody>
      </p:sp>
      <p:pic>
        <p:nvPicPr>
          <p:cNvPr id="8" name="Picture 7" descr="A close up of a flower&#10;&#10;Description automatically generated">
            <a:extLst>
              <a:ext uri="{FF2B5EF4-FFF2-40B4-BE49-F238E27FC236}">
                <a16:creationId xmlns:a16="http://schemas.microsoft.com/office/drawing/2014/main" id="{56B5FDA4-D721-F547-AB8D-E919E9FFD1E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970564" y="3144308"/>
            <a:ext cx="3802248" cy="3392444"/>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1426</TotalTime>
  <Words>1441</Words>
  <Application>Microsoft Macintosh PowerPoint</Application>
  <PresentationFormat>Widescreen</PresentationFormat>
  <Paragraphs>230</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Times New Roman</vt:lpstr>
      <vt:lpstr>Calibri</vt:lpstr>
      <vt:lpstr>Arial Black</vt:lpstr>
      <vt:lpstr>Cambria Math</vt:lpstr>
      <vt:lpstr>Wingdings</vt:lpstr>
      <vt:lpstr>Verdana</vt:lpstr>
      <vt:lpstr>Arial</vt:lpstr>
      <vt:lpstr>Century Gothic</vt:lpstr>
      <vt:lpstr>1_Office Theme</vt:lpstr>
      <vt:lpstr>7th Grade Math  Unit 6, Lesson 4  Converting Mass and Area  Volume 1, pg. 251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Collaboration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Try It</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26</cp:revision>
  <dcterms:created xsi:type="dcterms:W3CDTF">2015-03-17T18:51:18Z</dcterms:created>
  <dcterms:modified xsi:type="dcterms:W3CDTF">2023-01-30T13:06:06Z</dcterms:modified>
</cp:coreProperties>
</file>