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81" r:id="rId8"/>
    <p:sldId id="382" r:id="rId9"/>
    <p:sldId id="383" r:id="rId10"/>
    <p:sldId id="326" r:id="rId11"/>
    <p:sldId id="327" r:id="rId12"/>
    <p:sldId id="390" r:id="rId13"/>
    <p:sldId id="387" r:id="rId14"/>
    <p:sldId id="388" r:id="rId15"/>
    <p:sldId id="389" r:id="rId16"/>
    <p:sldId id="391" r:id="rId17"/>
    <p:sldId id="392" r:id="rId18"/>
    <p:sldId id="393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604020202020204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45BFA9"/>
    <a:srgbClr val="035036"/>
    <a:srgbClr val="3465B0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/>
    <p:restoredTop sz="94694"/>
  </p:normalViewPr>
  <p:slideViewPr>
    <p:cSldViewPr snapToGrid="0">
      <p:cViewPr varScale="1">
        <p:scale>
          <a:sx n="121" d="100"/>
          <a:sy n="121" d="100"/>
        </p:scale>
        <p:origin x="640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56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80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566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8245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832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9925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631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7488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10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0199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11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Reasoning Through Problems Involving Proportional Relationships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286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604" y="0"/>
            <a:ext cx="4094106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785" y="153168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95850" y="-1202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50" y="1640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11686"/>
            <a:ext cx="420233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07571" y="1600200"/>
            <a:ext cx="95032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MA.7.AR.3.2</a:t>
            </a:r>
          </a:p>
          <a:p>
            <a:pPr indent="0">
              <a:buNone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previous understanding of ratios to solve real-world problems involving proportions. </a:t>
            </a:r>
          </a:p>
          <a:p>
            <a:pPr indent="0">
              <a:buNone/>
            </a:pPr>
            <a:endParaRPr lang="en-US" sz="2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MA.7.AR.4.5</a:t>
            </a:r>
          </a:p>
          <a:p>
            <a:pPr indent="0">
              <a:buNone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proportional relationships. </a:t>
            </a: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50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2200" y="610155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16399" y="-8225"/>
            <a:ext cx="110824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69800" y="1904290"/>
            <a:ext cx="108779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7314750" y="6444343"/>
            <a:ext cx="4107450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1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39603" y="-101538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56" y="1892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35187" y="1583356"/>
            <a:ext cx="1092162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multi-step problems involving proportions.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7314750" y="6488231"/>
            <a:ext cx="400096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410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7314750" y="6444343"/>
            <a:ext cx="4164254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3050" y="-13568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6.11.1 Warm-Up: Mixing Paint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65" y="14305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3081A1-25B1-2A4B-8FF2-3F1C264A000D}"/>
                  </a:ext>
                </a:extLst>
              </p:cNvPr>
              <p:cNvSpPr/>
              <p:nvPr/>
            </p:nvSpPr>
            <p:spPr>
              <a:xfrm>
                <a:off x="542465" y="1468480"/>
                <a:ext cx="10297592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Dan is helping his Nana to make the paint color she needs. He mixes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 red paint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parts white paint, as she requested. Nana realized she gave him the information backwards: It was supposed to be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parts red paint and only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part white paint.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can Dan fix it?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3081A1-25B1-2A4B-8FF2-3F1C264A0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5" y="1468480"/>
                <a:ext cx="10297592" cy="2308324"/>
              </a:xfrm>
              <a:prstGeom prst="rect">
                <a:avLst/>
              </a:prstGeom>
              <a:blipFill>
                <a:blip r:embed="rId5"/>
                <a:stretch>
                  <a:fillRect l="-947" t="-2111" r="-1717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7314749" y="6466113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5919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45BFA9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45B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487885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5.png">
            <a:extLst>
              <a:ext uri="{FF2B5EF4-FFF2-40B4-BE49-F238E27FC236}">
                <a16:creationId xmlns:a16="http://schemas.microsoft.com/office/drawing/2014/main" id="{2E1E89A8-D0E7-C648-8036-51C32583B5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1700" y="2852778"/>
            <a:ext cx="1152447" cy="11524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370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4197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82696" y="-218159"/>
            <a:ext cx="94762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45BFA9"/>
                </a:solidFill>
                <a:latin typeface="Verdana"/>
                <a:ea typeface="Verdana"/>
                <a:cs typeface="Verdana"/>
                <a:sym typeface="Verdana"/>
              </a:rPr>
              <a:t>6.11.2 Collaboration: Error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588041" y="1286377"/>
                <a:ext cx="9781380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Chloe’s phone has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gigabytes (GB) of memory. One GB is equal to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1,000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megabytes (MB). She takes a lot of pictures, regularly streams videos, and typically saves all of her messages. She reserves about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GB for those purposes. If the average app uses about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MB of memory, how many apps would she be able to download to her phone?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1" y="1286377"/>
                <a:ext cx="9781380" cy="2123658"/>
              </a:xfrm>
              <a:prstGeom prst="rect">
                <a:avLst/>
              </a:prstGeom>
              <a:blipFill>
                <a:blip r:embed="rId4"/>
                <a:stretch>
                  <a:fillRect l="-810" t="-2011" b="-5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528251"/>
            <a:ext cx="403905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5.png">
            <a:extLst>
              <a:ext uri="{FF2B5EF4-FFF2-40B4-BE49-F238E27FC236}">
                <a16:creationId xmlns:a16="http://schemas.microsoft.com/office/drawing/2014/main" id="{A179F127-9C9B-DE48-9971-FF132544006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040" y="35635"/>
            <a:ext cx="749808" cy="749808"/>
          </a:xfrm>
          <a:prstGeom prst="rect">
            <a:avLst/>
          </a:prstGeom>
          <a:ln/>
        </p:spPr>
      </p:pic>
      <p:pic>
        <p:nvPicPr>
          <p:cNvPr id="9" name="image14.png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3C00E2EB-50DE-224F-BB8F-EAFF771E7BDF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202305" y="3927426"/>
            <a:ext cx="5787390" cy="208343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9813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57675"/>
            <a:ext cx="4164254" cy="4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05643" y="504475"/>
            <a:ext cx="976377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discuss the errors that Chloe made. List the errors.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Chloe understand and learn from her mistakes. Write a brief note to Chloe explaining what her mistakes were and how she could learn from them.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determine how many apps Chloe would be able to download to her phone. </a:t>
            </a:r>
          </a:p>
        </p:txBody>
      </p:sp>
    </p:spTree>
    <p:extLst>
      <p:ext uri="{BB962C8B-B14F-4D97-AF65-F5344CB8AC3E}">
        <p14:creationId xmlns:p14="http://schemas.microsoft.com/office/powerpoint/2010/main" val="173602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4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498771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8593B4F-0075-4A4D-A590-B41259CD5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6748" y="2843633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665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6749" y="-61448"/>
            <a:ext cx="104283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6.11.3 Bring It Together: Solving Multi-Step Problems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617517" y="1286376"/>
            <a:ext cx="85286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some of the problems you’ve solved and errors you’ve made over the last few lessons.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some strategies you have learned and key tips that are helpful for you to keep in mind when solving multi-step problems?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435551"/>
            <a:ext cx="406190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A8E4C09F-0E07-1043-B313-8A236D2641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1" y="117931"/>
            <a:ext cx="749808" cy="74980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A1ABFE-C6CA-274E-9E4F-6CD262D5C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28410"/>
              </p:ext>
            </p:extLst>
          </p:nvPr>
        </p:nvGraphicFramePr>
        <p:xfrm>
          <a:off x="1505402" y="3424825"/>
          <a:ext cx="6743700" cy="301072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471545">
                  <a:extLst>
                    <a:ext uri="{9D8B030D-6E8A-4147-A177-3AD203B41FA5}">
                      <a16:colId xmlns:a16="http://schemas.microsoft.com/office/drawing/2014/main" val="2176497524"/>
                    </a:ext>
                  </a:extLst>
                </a:gridCol>
                <a:gridCol w="3272155">
                  <a:extLst>
                    <a:ext uri="{9D8B030D-6E8A-4147-A177-3AD203B41FA5}">
                      <a16:colId xmlns:a16="http://schemas.microsoft.com/office/drawing/2014/main" val="3119749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Helpful Tips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Strategies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14317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8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617518" y="808394"/>
            <a:ext cx="100940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and discuss your list with your partner. Add any tips or strategies your partner shares to your list that you find helpful.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509657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66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509657"/>
            <a:ext cx="406082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4C5DAF65-3EE3-C044-AA58-E5FB79E2A7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9137" y="2852778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2733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9160" y="609746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4162" y="-13986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6.11.4 Your Turn!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593766" y="1286376"/>
                <a:ext cx="977565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Valerie is putting in a new fence in her backyard. A scale drawing of her backyard is shown, with the dashed line representing where the fence will be installed. The scale used for the drawing is </a:t>
                </a:r>
                <a14:m>
                  <m:oMath xmlns:m="http://schemas.openxmlformats.org/officeDocument/2006/math">
                    <m:r>
                      <a:rPr lang="en-US" sz="2400"/>
                      <m:t>2.5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</a:t>
                </a:r>
                <a14:m>
                  <m:oMath xmlns:m="http://schemas.openxmlformats.org/officeDocument/2006/math">
                    <m:r>
                      <a:rPr lang="en-US" sz="2400"/>
                      <m:t>= 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</a:t>
                </a: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6" y="1286376"/>
                <a:ext cx="9775654" cy="1569660"/>
              </a:xfrm>
              <a:prstGeom prst="rect">
                <a:avLst/>
              </a:prstGeom>
              <a:blipFill>
                <a:blip r:embed="rId4"/>
                <a:stretch>
                  <a:fillRect l="-908" t="-32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33457"/>
            <a:ext cx="407441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DE960C7-966F-634E-8FF4-BBDA3EF8E25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354" y="104869"/>
            <a:ext cx="749808" cy="749808"/>
          </a:xfrm>
          <a:prstGeom prst="rect">
            <a:avLst/>
          </a:prstGeom>
        </p:spPr>
      </p:pic>
      <p:pic>
        <p:nvPicPr>
          <p:cNvPr id="9" name="image10.png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4777A29A-3463-4444-8688-70F2D9C692E7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592262" y="3328500"/>
            <a:ext cx="5290019" cy="2768969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EF0F53-5FFB-CC44-B067-505D6431C071}"/>
              </a:ext>
            </a:extLst>
          </p:cNvPr>
          <p:cNvSpPr txBox="1"/>
          <p:nvPr/>
        </p:nvSpPr>
        <p:spPr>
          <a:xfrm>
            <a:off x="3918140" y="6221645"/>
            <a:ext cx="4638260" cy="31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 drawn to scale</a:t>
            </a:r>
            <a:endParaRPr lang="en-CO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72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76999"/>
            <a:ext cx="408259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17517" y="815661"/>
                <a:ext cx="9999309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fence she wants to install costs about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$17.25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linear foot. How much will her new fence cost?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painter mixes paint to create a specific shade of purple. The ratio of each color in the mixture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part blue paint,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parts red paint,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parts white paint. The painter makes a large batch of purple paint. He uses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(gal) of white paint in the mixture. How many total gallons is the batch of paint he made?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7" y="815661"/>
                <a:ext cx="9999309" cy="3170099"/>
              </a:xfrm>
              <a:prstGeom prst="rect">
                <a:avLst/>
              </a:prstGeom>
              <a:blipFill>
                <a:blip r:embed="rId4"/>
                <a:stretch>
                  <a:fillRect l="-670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921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361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55229"/>
            <a:ext cx="4033626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29392" y="878007"/>
                <a:ext cx="11061865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largest U.S. flag in the world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(ft)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 If one square meter of the flag weighs about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ounces, how much does the entire flag weigh to the nearest tenth of an ounce?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meter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10.76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feet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2" y="878007"/>
                <a:ext cx="11061865" cy="1938992"/>
              </a:xfrm>
              <a:prstGeom prst="rect">
                <a:avLst/>
              </a:prstGeom>
              <a:blipFill>
                <a:blip r:embed="rId4"/>
                <a:stretch>
                  <a:fillRect l="-803" t="-2614" r="-573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09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36203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17517" y="956937"/>
                <a:ext cx="10496797" cy="36174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Paul has determined that the number of calories in a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-scoop serving of ice cream is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375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calories. Paul has </a:t>
                </a:r>
                <a14:m>
                  <m:oMath xmlns:m="http://schemas.openxmlformats.org/officeDocument/2006/math">
                    <m:r>
                      <a:rPr lang="es-ES" sz="22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scoops of ice cream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a week. How many calories from ice cream does Paul eat in a week?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2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Maylisa</a:t>
                </a: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averages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3,247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steps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(mi). She can walk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in an hour. How many steps can </a:t>
                </a:r>
                <a:r>
                  <a:rPr lang="en-US" sz="22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Maylisa</a:t>
                </a: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walk in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minutes?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7" y="956937"/>
                <a:ext cx="10496797" cy="3617401"/>
              </a:xfrm>
              <a:prstGeom prst="rect">
                <a:avLst/>
              </a:prstGeom>
              <a:blipFill>
                <a:blip r:embed="rId4"/>
                <a:stretch>
                  <a:fillRect l="-755" t="-1349" r="-523" b="-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878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10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33457"/>
            <a:ext cx="40662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593767" y="820985"/>
                <a:ext cx="10023060" cy="4577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Rishi and Diego are each making orange juice. Rishi mixes </a:t>
                </a:r>
                <a14:m>
                  <m:oMath xmlns:m="http://schemas.openxmlformats.org/officeDocument/2006/math">
                    <m:r>
                      <a:rPr lang="es-ES" sz="22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(c) of water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orange juice concentrate. Diego mixes </a:t>
                </a:r>
                <a14:m>
                  <m:oMath xmlns:m="http://schemas.openxmlformats.org/officeDocument/2006/math">
                    <m:r>
                      <a:rPr lang="es-ES" sz="22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s-ES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water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orange juice concentrate.</a:t>
                </a: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Will their orange juices taste the same? Explain.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in one gallon (gal). How much concentrate should each of them mix with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 to make juice that tastes the same as their original recipe?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7" y="820985"/>
                <a:ext cx="10023060" cy="4577728"/>
              </a:xfrm>
              <a:prstGeom prst="rect">
                <a:avLst/>
              </a:prstGeom>
              <a:blipFill>
                <a:blip r:embed="rId4"/>
                <a:stretch>
                  <a:fillRect l="-790" r="-122" b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555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97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8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76880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57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01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6477" y="-4341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34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617517" y="1243130"/>
            <a:ext cx="99295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Consider the learning target from the last few days and mark where you are on the smiley-face scale.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indent="48895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I can solve multi-step problems involving proportions.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49" y="6434887"/>
            <a:ext cx="40553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3.png" descr="Chart&#10;&#10;Description automatically generated">
            <a:extLst>
              <a:ext uri="{FF2B5EF4-FFF2-40B4-BE49-F238E27FC236}">
                <a16:creationId xmlns:a16="http://schemas.microsoft.com/office/drawing/2014/main" id="{DC8F5503-C27F-9048-BD35-7BC87ABBCCE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059" b="42611"/>
          <a:stretch>
            <a:fillRect/>
          </a:stretch>
        </p:blipFill>
        <p:spPr>
          <a:xfrm>
            <a:off x="2916224" y="3994259"/>
            <a:ext cx="6359553" cy="471472"/>
          </a:xfrm>
          <a:prstGeom prst="rect">
            <a:avLst/>
          </a:prstGeom>
          <a:ln/>
        </p:spPr>
      </p:pic>
      <p:pic>
        <p:nvPicPr>
          <p:cNvPr id="4" name="Picture 3" descr="A group of yellow smiley faces&#10;&#10;Description automatically generated with low confidence">
            <a:extLst>
              <a:ext uri="{FF2B5EF4-FFF2-40B4-BE49-F238E27FC236}">
                <a16:creationId xmlns:a16="http://schemas.microsoft.com/office/drawing/2014/main" id="{F91F50C7-C2F5-E841-B4DD-0882AFAF84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704" y="2865281"/>
            <a:ext cx="6652591" cy="9627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0AEA43-55B7-374B-9868-DB12B0485E4D}"/>
              </a:ext>
            </a:extLst>
          </p:cNvPr>
          <p:cNvSpPr/>
          <p:nvPr/>
        </p:nvSpPr>
        <p:spPr>
          <a:xfrm>
            <a:off x="617517" y="5173388"/>
            <a:ext cx="99295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Explain why you marked yourself where you did.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943</Words>
  <Application>Microsoft Macintosh PowerPoint</Application>
  <PresentationFormat>Widescreen</PresentationFormat>
  <Paragraphs>124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Arial Black</vt:lpstr>
      <vt:lpstr>Cambria Math</vt:lpstr>
      <vt:lpstr>Wingdings</vt:lpstr>
      <vt:lpstr>Verdana</vt:lpstr>
      <vt:lpstr>Arial</vt:lpstr>
      <vt:lpstr>Century Gothic</vt:lpstr>
      <vt:lpstr>1_Office Theme</vt:lpstr>
      <vt:lpstr>7th Grade Math  Unit 6, Lesson 11  Reasoning Through Problems Involving Proportional Relationships  Volume 1, pg. 286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27</cp:revision>
  <dcterms:created xsi:type="dcterms:W3CDTF">2015-03-17T18:51:18Z</dcterms:created>
  <dcterms:modified xsi:type="dcterms:W3CDTF">2023-01-27T20:51:58Z</dcterms:modified>
</cp:coreProperties>
</file>