
<file path=[Content_Types].xml><?xml version="1.0" encoding="utf-8"?>
<Types xmlns="http://schemas.openxmlformats.org/package/2006/content-types">
  <Default Extension="fntdata" ContentType="application/x-fontdata"/>
  <Default Extension="glb" ContentType="model/gltf.binary"/>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4"/>
  </p:notesMasterIdLst>
  <p:sldIdLst>
    <p:sldId id="256" r:id="rId2"/>
    <p:sldId id="257" r:id="rId3"/>
    <p:sldId id="285" r:id="rId4"/>
    <p:sldId id="286" r:id="rId5"/>
    <p:sldId id="261" r:id="rId6"/>
    <p:sldId id="287" r:id="rId7"/>
    <p:sldId id="288" r:id="rId8"/>
    <p:sldId id="311" r:id="rId9"/>
    <p:sldId id="312" r:id="rId10"/>
    <p:sldId id="366" r:id="rId11"/>
    <p:sldId id="367" r:id="rId12"/>
    <p:sldId id="368" r:id="rId13"/>
    <p:sldId id="392" r:id="rId14"/>
    <p:sldId id="393" r:id="rId15"/>
    <p:sldId id="384" r:id="rId16"/>
    <p:sldId id="385" r:id="rId17"/>
    <p:sldId id="394" r:id="rId18"/>
    <p:sldId id="378" r:id="rId19"/>
    <p:sldId id="379" r:id="rId20"/>
    <p:sldId id="380" r:id="rId21"/>
    <p:sldId id="390" r:id="rId22"/>
    <p:sldId id="326" r:id="rId23"/>
    <p:sldId id="327" r:id="rId24"/>
    <p:sldId id="395" r:id="rId25"/>
    <p:sldId id="396" r:id="rId26"/>
    <p:sldId id="397" r:id="rId27"/>
    <p:sldId id="387" r:id="rId28"/>
    <p:sldId id="388" r:id="rId29"/>
    <p:sldId id="389" r:id="rId30"/>
    <p:sldId id="306" r:id="rId31"/>
    <p:sldId id="307" r:id="rId32"/>
    <p:sldId id="377" r:id="rId33"/>
  </p:sldIdLst>
  <p:sldSz cx="12192000" cy="6858000"/>
  <p:notesSz cx="6858000" cy="9144000"/>
  <p:embeddedFontLst>
    <p:embeddedFont>
      <p:font typeface="Arial Black" panose="020B0A04020102020204" pitchFamily="34" charset="0"/>
      <p:regular r:id="rId35"/>
      <p:bold r:id="rId36"/>
    </p:embeddedFont>
    <p:embeddedFont>
      <p:font typeface="Calibri" panose="020F0502020204030204" pitchFamily="34" charset="0"/>
      <p:regular r:id="rId37"/>
      <p:bold r:id="rId38"/>
      <p:italic r:id="rId39"/>
      <p:boldItalic r:id="rId40"/>
    </p:embeddedFont>
    <p:embeddedFont>
      <p:font typeface="Cambria Math" panose="02040503050406030204" pitchFamily="18" charset="0"/>
      <p:regular r:id="rId41"/>
    </p:embeddedFont>
    <p:embeddedFont>
      <p:font typeface="Century Gothic" panose="020B0502020202020204" pitchFamily="34" charset="0"/>
      <p:regular r:id="rId42"/>
      <p:bold r:id="rId43"/>
      <p:italic r:id="rId44"/>
      <p:boldItalic r:id="rId45"/>
    </p:embeddedFont>
    <p:embeddedFont>
      <p:font typeface="Verdana" panose="020B0604030504040204" pitchFamily="34"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4E5F"/>
    <a:srgbClr val="45BFA9"/>
    <a:srgbClr val="035036"/>
    <a:srgbClr val="3465B0"/>
    <a:srgbClr val="DA4487"/>
    <a:srgbClr val="276C46"/>
    <a:srgbClr val="C9DF6F"/>
    <a:srgbClr val="417DBF"/>
    <a:srgbClr val="3F2A67"/>
    <a:srgbClr val="26B7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289"/>
    <p:restoredTop sz="94694"/>
  </p:normalViewPr>
  <p:slideViewPr>
    <p:cSldViewPr snapToGrid="0">
      <p:cViewPr varScale="1">
        <p:scale>
          <a:sx n="81" d="100"/>
          <a:sy n="81" d="100"/>
        </p:scale>
        <p:origin x="168"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font" Target="fonts/font12.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font" Target="fonts/font15.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3484838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5284607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8692199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2288147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7614166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32674975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1488316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0527012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5625862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9989126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3644123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6714991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4840320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7272897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9675607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25096808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7215255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12168322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28799254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23426315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extLst>
      <p:ext uri="{BB962C8B-B14F-4D97-AF65-F5344CB8AC3E}">
        <p14:creationId xmlns:p14="http://schemas.microsoft.com/office/powerpoint/2010/main" val="27075552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hyperlink" Target="https://www.flickr.com/photos/giulianfrisoni/23289542246" TargetMode="External"/><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https://encrypted-tbn0.gstatic.com/images?q=tbn%3AANd9GcR-RvDpiBxfdSfDtJGzIrmkANpsiAM8iC3Hs4msP6FVFL3joxxWWpkibVHXKw&amp;usqp=CAc" TargetMode="External"/><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19.jpeg"/><Relationship Id="rId5" Type="http://schemas.openxmlformats.org/officeDocument/2006/relationships/image" Target="https://www.enasco.com/medias/SB53274-main-530Wx530H?context=bWFzdGVyfHJvb3R8MTk3MTJ8aW1hZ2UvanBlZ3xoZWQvaGJhLzk2NDUxNzQyNTk3NDIuanBnfDdiYTNkMGQ2Yjk4ZGQwM2ZiNTg3N2Q4YjBmMDlkYmQzODY4NjNmZmU0NWMzZjA3Y2ZhODJhMzYzMWViYzUzZmQ" TargetMode="External"/><Relationship Id="rId4" Type="http://schemas.openxmlformats.org/officeDocument/2006/relationships/image" Target="../media/image18.jpe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https://www.kristineshreve.com/wp-content/uploads/2014/12/curtain-reveal.jpg" TargetMode="External"/><Relationship Id="rId5" Type="http://schemas.openxmlformats.org/officeDocument/2006/relationships/image" Target="../media/image23.jpe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https://lh4.googleusercontent.com/2fPSmGZFeoRpIdYf__PehWRue5ZlpuEJvpCjVIdob_7Od71O_3PDUziieKXI4zYOwvYPHEwl_uCpuxDjax2zhOv3nCWsV_hKRoRBI-4FC0rx93VHSP5SQ_xBapBZ_7zNh_QPz9z0" TargetMode="Externa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https://lh4.googleusercontent.com/2fPSmGZFeoRpIdYf__PehWRue5ZlpuEJvpCjVIdob_7Od71O_3PDUziieKXI4zYOwvYPHEwl_uCpuxDjax2zhOv3nCWsV_hKRoRBI-4FC0rx93VHSP5SQ_xBapBZ_7zNh_QPz9z0" TargetMode="Externa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280.png"/><Relationship Id="rId4" Type="http://schemas.openxmlformats.org/officeDocument/2006/relationships/image" Target="../media/image270.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33.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10.png"/><Relationship Id="rId7" Type="http://schemas.openxmlformats.org/officeDocument/2006/relationships/image" Target="../media/image340.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330.png"/><Relationship Id="rId5" Type="http://schemas.openxmlformats.org/officeDocument/2006/relationships/image" Target="../media/image34.png"/><Relationship Id="rId4" Type="http://schemas.microsoft.com/office/2017/06/relationships/model3d" Target="../media/model3d1.glb"/></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40.pn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41.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5" Type="http://schemas.openxmlformats.org/officeDocument/2006/relationships/image" Target="../media/image43.png"/><Relationship Id="rId4"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44.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8.xml"/><Relationship Id="rId4" Type="http://schemas.openxmlformats.org/officeDocument/2006/relationships/image" Target="../media/image45.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8.xml"/><Relationship Id="rId5" Type="http://schemas.openxmlformats.org/officeDocument/2006/relationships/image" Target="../media/image450.png"/><Relationship Id="rId4" Type="http://schemas.openxmlformats.org/officeDocument/2006/relationships/image" Target="../media/image45.png"/></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8.xml"/><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200" b="1" dirty="0">
                <a:solidFill>
                  <a:srgbClr val="417DBF"/>
                </a:solidFill>
                <a:latin typeface="Verdana"/>
                <a:ea typeface="Verdana"/>
                <a:cs typeface="Verdana"/>
                <a:sym typeface="Verdana"/>
              </a:rPr>
              <a:t>7</a:t>
            </a:r>
            <a:r>
              <a:rPr lang="en-US" sz="3200" b="1" baseline="30000" dirty="0">
                <a:solidFill>
                  <a:srgbClr val="417DBF"/>
                </a:solidFill>
                <a:latin typeface="Verdana"/>
                <a:ea typeface="Verdana"/>
                <a:cs typeface="Verdana"/>
                <a:sym typeface="Verdana"/>
              </a:rPr>
              <a:t>th</a:t>
            </a:r>
            <a:r>
              <a:rPr lang="en-US" sz="3200" b="1" dirty="0">
                <a:solidFill>
                  <a:srgbClr val="417DBF"/>
                </a:solidFill>
                <a:latin typeface="Verdana"/>
                <a:ea typeface="Verdana"/>
                <a:cs typeface="Verdana"/>
                <a:sym typeface="Verdana"/>
              </a:rPr>
              <a:t> Grade Math</a:t>
            </a:r>
            <a:br>
              <a:rPr lang="en-US" sz="3200" b="1" dirty="0">
                <a:solidFill>
                  <a:srgbClr val="417DBF"/>
                </a:solidFill>
                <a:latin typeface="Verdana"/>
                <a:ea typeface="Verdana"/>
                <a:cs typeface="Verdana"/>
                <a:sym typeface="Verdana"/>
              </a:rPr>
            </a:br>
            <a:endParaRPr lang="en-US" sz="3200" b="1" dirty="0">
              <a:solidFill>
                <a:srgbClr val="417DBF"/>
              </a:solidFill>
              <a:latin typeface="Verdana"/>
              <a:ea typeface="Verdana"/>
              <a:cs typeface="Verdana"/>
              <a:sym typeface="Verdana"/>
            </a:endParaRPr>
          </a:p>
          <a:p>
            <a:pPr algn="ctr">
              <a:lnSpc>
                <a:spcPct val="100000"/>
              </a:lnSpc>
              <a:buClr>
                <a:srgbClr val="000000"/>
              </a:buClr>
            </a:pPr>
            <a:r>
              <a:rPr lang="en-US" sz="3200" b="1" dirty="0">
                <a:solidFill>
                  <a:srgbClr val="417DBF"/>
                </a:solidFill>
                <a:latin typeface="Verdana"/>
                <a:ea typeface="Verdana"/>
                <a:cs typeface="Verdana"/>
                <a:sym typeface="Verdana"/>
              </a:rPr>
              <a:t>Unit 6, Lesson 5</a:t>
            </a:r>
            <a:br>
              <a:rPr lang="en-US" sz="3200" b="1" dirty="0">
                <a:solidFill>
                  <a:srgbClr val="417DBF"/>
                </a:solidFill>
                <a:latin typeface="Verdana"/>
                <a:ea typeface="Verdana"/>
                <a:cs typeface="Verdana"/>
                <a:sym typeface="Verdana"/>
              </a:rPr>
            </a:br>
            <a:br>
              <a:rPr lang="en-US" sz="32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Converting Units of Volume</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256</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13173" y="0"/>
            <a:ext cx="4094106"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62280" y="1918611"/>
            <a:ext cx="2973100" cy="3465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33900" y="-15267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4900" y="1365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7314750" y="6498771"/>
            <a:ext cx="4109826"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256</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728550" y="1321975"/>
            <a:ext cx="10330543"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MA.7.AR.3.3</a:t>
            </a:r>
          </a:p>
          <a:p>
            <a:pPr indent="0">
              <a:buNone/>
            </a:pPr>
            <a:r>
              <a:rPr lang="en-US" sz="2600" dirty="0">
                <a:latin typeface="Verdana" panose="020B0604030504040204" pitchFamily="34" charset="0"/>
                <a:ea typeface="Verdana" panose="020B0604030504040204" pitchFamily="34" charset="0"/>
                <a:cs typeface="Verdana" panose="020B0604030504040204" pitchFamily="34" charset="0"/>
              </a:rPr>
              <a:t>Solve mathematical and real-world problems involving the conversion of units across different measurement systems.  </a:t>
            </a:r>
            <a:endParaRPr lang="en-US" sz="26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5236"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653037" y="209014"/>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22547" y="6066421"/>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400337" y="71435"/>
            <a:ext cx="1054624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947057" y="1596390"/>
            <a:ext cx="926374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p:txBody>
      </p:sp>
      <p:sp>
        <p:nvSpPr>
          <p:cNvPr id="9" name="Google Shape;282;g104476d1465_1_17">
            <a:extLst>
              <a:ext uri="{FF2B5EF4-FFF2-40B4-BE49-F238E27FC236}">
                <a16:creationId xmlns:a16="http://schemas.microsoft.com/office/drawing/2014/main" id="{7E42EF11-5FC6-7744-AF68-159F2F06D67F}"/>
              </a:ext>
            </a:extLst>
          </p:cNvPr>
          <p:cNvSpPr txBox="1"/>
          <p:nvPr/>
        </p:nvSpPr>
        <p:spPr>
          <a:xfrm>
            <a:off x="7314749" y="6442166"/>
            <a:ext cx="4207797" cy="41570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256</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3822" y="6057596"/>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272084" y="-16528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524784" y="12391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707571" y="1609531"/>
            <a:ext cx="950322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63550">
              <a:buFont typeface="Wingdings" pitchFamily="2" charset="2"/>
              <a:buChar char="q"/>
            </a:pPr>
            <a:r>
              <a:rPr lang="en-US" sz="2600" dirty="0">
                <a:latin typeface="Verdana" panose="020B0604030504040204" pitchFamily="34" charset="0"/>
                <a:ea typeface="Verdana" panose="020B0604030504040204" pitchFamily="34" charset="0"/>
                <a:cs typeface="Verdana" panose="020B0604030504040204" pitchFamily="34" charset="0"/>
              </a:rPr>
              <a:t>I can convert liquid measurements and volume across different measurement systems. </a:t>
            </a:r>
          </a:p>
        </p:txBody>
      </p:sp>
      <p:sp>
        <p:nvSpPr>
          <p:cNvPr id="8" name="Google Shape;282;g104476d1465_1_17">
            <a:extLst>
              <a:ext uri="{FF2B5EF4-FFF2-40B4-BE49-F238E27FC236}">
                <a16:creationId xmlns:a16="http://schemas.microsoft.com/office/drawing/2014/main" id="{6793C8E2-E1C4-B24A-AB6C-B7DBDD28D85B}"/>
              </a:ext>
            </a:extLst>
          </p:cNvPr>
          <p:cNvSpPr txBox="1"/>
          <p:nvPr/>
        </p:nvSpPr>
        <p:spPr>
          <a:xfrm>
            <a:off x="7314750" y="6422571"/>
            <a:ext cx="411525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256</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7233" y="6129037"/>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6BCEEC8C-9B17-C841-8ED4-211C80FA09C6}"/>
              </a:ext>
            </a:extLst>
          </p:cNvPr>
          <p:cNvSpPr txBox="1"/>
          <p:nvPr/>
        </p:nvSpPr>
        <p:spPr>
          <a:xfrm>
            <a:off x="88232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257</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73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00776"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80202" y="-45989"/>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6.5.1 Warm-Up: Mayan Currency</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432902" y="19748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5" name="Rectangle 4">
                <a:extLst>
                  <a:ext uri="{FF2B5EF4-FFF2-40B4-BE49-F238E27FC236}">
                    <a16:creationId xmlns:a16="http://schemas.microsoft.com/office/drawing/2014/main" id="{353081A1-25B1-2A4B-8FF2-3F1C264A000D}"/>
                  </a:ext>
                </a:extLst>
              </p:cNvPr>
              <p:cNvSpPr/>
              <p:nvPr/>
            </p:nvSpPr>
            <p:spPr>
              <a:xfrm>
                <a:off x="605641" y="1279711"/>
                <a:ext cx="7433953" cy="4247317"/>
              </a:xfrm>
              <a:prstGeom prst="rect">
                <a:avLst/>
              </a:prstGeom>
            </p:spPr>
            <p:txBody>
              <a:bodyPr wrap="square">
                <a:spAutoFit/>
              </a:bodyPr>
              <a:lstStyle/>
              <a:p>
                <a:r>
                  <a:rPr lang="en-US" sz="1800" dirty="0">
                    <a:latin typeface="Verdana" panose="020B0604030504040204" pitchFamily="34" charset="0"/>
                    <a:ea typeface="Verdana" panose="020B0604030504040204" pitchFamily="34" charset="0"/>
                    <a:cs typeface="Verdana" panose="020B0604030504040204" pitchFamily="34" charset="0"/>
                  </a:rPr>
                  <a:t>The ancient Maya used cacao beans – the main ingredient in chocolate – as a form of currency. </a:t>
                </a:r>
              </a:p>
              <a:p>
                <a:r>
                  <a:rPr lang="en-US" sz="1800" dirty="0">
                    <a:latin typeface="Verdana" panose="020B0604030504040204" pitchFamily="34" charset="0"/>
                    <a:ea typeface="Verdana" panose="020B0604030504040204" pitchFamily="34" charset="0"/>
                    <a:cs typeface="Verdana" panose="020B0604030504040204" pitchFamily="34" charset="0"/>
                  </a:rPr>
                  <a:t> </a:t>
                </a:r>
              </a:p>
              <a:p>
                <a:r>
                  <a:rPr lang="en-US" sz="1800" dirty="0">
                    <a:latin typeface="Verdana" panose="020B0604030504040204" pitchFamily="34" charset="0"/>
                    <a:ea typeface="Verdana" panose="020B0604030504040204" pitchFamily="34" charset="0"/>
                    <a:cs typeface="Verdana" panose="020B0604030504040204" pitchFamily="34" charset="0"/>
                  </a:rPr>
                  <a:t>They did not use coins as money, but instead mostly bartered and traded items such as tobacco, maize (corn), and clothing. Archeologists have found that chocolate was used as currency by the 8th century C.E, in the form of fermented and dried cacao beans. Maya artwork indicates that cocoa beans could be exchanged for goods and services, including payment for labor and paying taxes.  </a:t>
                </a:r>
              </a:p>
              <a:p>
                <a:endParaRPr lang="en-US" sz="1800" dirty="0">
                  <a:latin typeface="Verdana" panose="020B0604030504040204" pitchFamily="34" charset="0"/>
                  <a:ea typeface="Verdana" panose="020B0604030504040204" pitchFamily="34" charset="0"/>
                  <a:cs typeface="Verdana" panose="020B0604030504040204" pitchFamily="34" charset="0"/>
                </a:endParaRPr>
              </a:p>
              <a:p>
                <a:r>
                  <a:rPr lang="en-US" sz="1800" dirty="0">
                    <a:latin typeface="Verdana" panose="020B0604030504040204" pitchFamily="34" charset="0"/>
                    <a:ea typeface="Verdana" panose="020B0604030504040204" pitchFamily="34" charset="0"/>
                    <a:cs typeface="Verdana" panose="020B0604030504040204" pitchFamily="34" charset="0"/>
                  </a:rPr>
                  <a:t>Cacao, just like any other currency, could be converted to other kinds of money, including Spanish gold and silver coins such as the real. It has been found that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200</m:t>
                    </m:r>
                  </m:oMath>
                </a14:m>
                <a:r>
                  <a:rPr lang="en-US" sz="1800" dirty="0">
                    <a:latin typeface="Verdana" panose="020B0604030504040204" pitchFamily="34" charset="0"/>
                    <a:ea typeface="Verdana" panose="020B0604030504040204" pitchFamily="34" charset="0"/>
                    <a:cs typeface="Verdana" panose="020B0604030504040204" pitchFamily="34" charset="0"/>
                  </a:rPr>
                  <a:t> cacao beans were worth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1</m:t>
                    </m:r>
                  </m:oMath>
                </a14:m>
                <a:r>
                  <a:rPr lang="en-US" sz="1800" dirty="0">
                    <a:latin typeface="Verdana" panose="020B0604030504040204" pitchFamily="34" charset="0"/>
                    <a:ea typeface="Verdana" panose="020B0604030504040204" pitchFamily="34" charset="0"/>
                    <a:cs typeface="Verdana" panose="020B0604030504040204" pitchFamily="34" charset="0"/>
                  </a:rPr>
                  <a:t> Spanish real. </a:t>
                </a:r>
              </a:p>
            </p:txBody>
          </p:sp>
        </mc:Choice>
        <mc:Fallback>
          <p:sp>
            <p:nvSpPr>
              <p:cNvPr id="5" name="Rectangle 4">
                <a:extLst>
                  <a:ext uri="{FF2B5EF4-FFF2-40B4-BE49-F238E27FC236}">
                    <a16:creationId xmlns:a16="http://schemas.microsoft.com/office/drawing/2014/main" id="{353081A1-25B1-2A4B-8FF2-3F1C264A000D}"/>
                  </a:ext>
                </a:extLst>
              </p:cNvPr>
              <p:cNvSpPr>
                <a:spLocks noRot="1" noChangeAspect="1" noMove="1" noResize="1" noEditPoints="1" noAdjustHandles="1" noChangeArrowheads="1" noChangeShapeType="1" noTextEdit="1"/>
              </p:cNvSpPr>
              <p:nvPr/>
            </p:nvSpPr>
            <p:spPr>
              <a:xfrm>
                <a:off x="605641" y="1279711"/>
                <a:ext cx="7433953" cy="4247317"/>
              </a:xfrm>
              <a:prstGeom prst="rect">
                <a:avLst/>
              </a:prstGeom>
              <a:blipFill>
                <a:blip r:embed="rId5"/>
                <a:stretch>
                  <a:fillRect l="-656" t="-861" r="-738" b="-1291"/>
                </a:stretch>
              </a:blipFill>
            </p:spPr>
            <p:txBody>
              <a:bodyPr/>
              <a:lstStyle/>
              <a:p>
                <a:r>
                  <a:rPr lang="en-US">
                    <a:noFill/>
                  </a:rPr>
                  <a:t> </a:t>
                </a:r>
              </a:p>
            </p:txBody>
          </p:sp>
        </mc:Fallback>
      </mc:AlternateContent>
      <p:sp>
        <p:nvSpPr>
          <p:cNvPr id="14" name="Google Shape;282;g104476d1465_1_17">
            <a:extLst>
              <a:ext uri="{FF2B5EF4-FFF2-40B4-BE49-F238E27FC236}">
                <a16:creationId xmlns:a16="http://schemas.microsoft.com/office/drawing/2014/main" id="{478CDDBB-860A-D748-B9D0-C51751F3670A}"/>
              </a:ext>
            </a:extLst>
          </p:cNvPr>
          <p:cNvSpPr txBox="1"/>
          <p:nvPr/>
        </p:nvSpPr>
        <p:spPr>
          <a:xfrm>
            <a:off x="7314750" y="6411686"/>
            <a:ext cx="4186026"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257</a:t>
            </a:r>
            <a:endParaRPr i="1" dirty="0">
              <a:latin typeface="Calibri"/>
              <a:ea typeface="Calibri"/>
              <a:cs typeface="Calibri"/>
              <a:sym typeface="Calibri"/>
            </a:endParaRPr>
          </a:p>
        </p:txBody>
      </p:sp>
      <p:pic>
        <p:nvPicPr>
          <p:cNvPr id="12" name="Picture 11" descr="Cacao Seeds | Chocolate comes from the beans of the cacao ...">
            <a:extLst>
              <a:ext uri="{FF2B5EF4-FFF2-40B4-BE49-F238E27FC236}">
                <a16:creationId xmlns:a16="http://schemas.microsoft.com/office/drawing/2014/main" id="{6C96F274-A979-F34F-BE14-18112BF0F3CF}"/>
              </a:ext>
            </a:extLst>
          </p:cNvPr>
          <p:cNvPicPr>
            <a:picLocks noChangeAspect="1"/>
          </p:cNvPicPr>
          <p:nvPr/>
        </p:nvPicPr>
        <p:blipFill>
          <a:blip r:embed="rId6" cstate="screen">
            <a:extLst>
              <a:ext uri="{28A0092B-C50C-407E-A947-70E740481C1C}">
                <a14:useLocalDpi xmlns:a14="http://schemas.microsoft.com/office/drawing/2010/main"/>
              </a:ext>
              <a:ext uri="{837473B0-CC2E-450A-ABE3-18F120FF3D39}">
                <a1611:picAttrSrcUrl xmlns:a1611="http://schemas.microsoft.com/office/drawing/2016/11/main" r:id="rId7"/>
              </a:ext>
            </a:extLst>
          </a:blip>
          <a:stretch>
            <a:fillRect/>
          </a:stretch>
        </p:blipFill>
        <p:spPr>
          <a:xfrm>
            <a:off x="8039595" y="1279711"/>
            <a:ext cx="3908425" cy="2602865"/>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9005" y="6129037"/>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629392" y="691596"/>
                <a:ext cx="9987434" cy="3785652"/>
              </a:xfrm>
              <a:prstGeom prst="rect">
                <a:avLst/>
              </a:prstGeom>
              <a:noFill/>
            </p:spPr>
            <p:txBody>
              <a:bodyPr wrap="square" rtlCol="0">
                <a:spAutoFit/>
              </a:bodyPr>
              <a:lstStyle/>
              <a:p>
                <a:pPr marL="463550" indent="-46355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If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24,000</m:t>
                    </m:r>
                  </m:oMath>
                </a14:m>
                <a:r>
                  <a:rPr lang="en-US" sz="2400" dirty="0">
                    <a:latin typeface="Verdana" panose="020B0604030504040204" pitchFamily="34" charset="0"/>
                    <a:ea typeface="Verdana" panose="020B0604030504040204" pitchFamily="34" charset="0"/>
                    <a:cs typeface="Verdana" panose="020B0604030504040204" pitchFamily="34" charset="0"/>
                  </a:rPr>
                  <a:t> cacao beans was worth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15</m:t>
                    </m:r>
                  </m:oMath>
                </a14:m>
                <a:r>
                  <a:rPr lang="en-US" sz="2400" dirty="0">
                    <a:latin typeface="Verdana" panose="020B0604030504040204" pitchFamily="34" charset="0"/>
                    <a:ea typeface="Verdana" panose="020B0604030504040204" pitchFamily="34" charset="0"/>
                    <a:cs typeface="Verdana" panose="020B0604030504040204" pitchFamily="34" charset="0"/>
                  </a:rPr>
                  <a:t> pesos, what was the rate of cacao beans for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peso? </a:t>
                </a:r>
              </a:p>
              <a:p>
                <a:pPr marL="463550" indent="-46355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3550" indent="-46355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3550" indent="-46355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3550" indent="-46355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3550" indent="-46355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3550" indent="-46355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63550" indent="-46355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How many pesos were equal to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Spanish real?</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629392" y="691596"/>
                <a:ext cx="9987434" cy="3785652"/>
              </a:xfrm>
              <a:prstGeom prst="rect">
                <a:avLst/>
              </a:prstGeom>
              <a:blipFill>
                <a:blip r:embed="rId4"/>
                <a:stretch>
                  <a:fillRect l="-915" t="-1449" r="-2013"/>
                </a:stretch>
              </a:blipFill>
            </p:spPr>
            <p:txBody>
              <a:bodyPr/>
              <a:lstStyle/>
              <a:p>
                <a:r>
                  <a:rPr lang="en-US">
                    <a:noFill/>
                  </a:rPr>
                  <a:t> </a:t>
                </a:r>
              </a:p>
            </p:txBody>
          </p:sp>
        </mc:Fallback>
      </mc:AlternateContent>
      <p:sp>
        <p:nvSpPr>
          <p:cNvPr id="6" name="Google Shape;282;g104476d1465_1_17">
            <a:extLst>
              <a:ext uri="{FF2B5EF4-FFF2-40B4-BE49-F238E27FC236}">
                <a16:creationId xmlns:a16="http://schemas.microsoft.com/office/drawing/2014/main" id="{CA7FA3A8-DC78-A94D-B466-9C41BEDD6321}"/>
              </a:ext>
            </a:extLst>
          </p:cNvPr>
          <p:cNvSpPr txBox="1"/>
          <p:nvPr/>
        </p:nvSpPr>
        <p:spPr>
          <a:xfrm>
            <a:off x="7314749" y="6487885"/>
            <a:ext cx="4164255"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257</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22546"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426339"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ED0D4F70-A5F7-6844-B49C-C7559A226638}"/>
              </a:ext>
            </a:extLst>
          </p:cNvPr>
          <p:cNvSpPr txBox="1"/>
          <p:nvPr/>
        </p:nvSpPr>
        <p:spPr>
          <a:xfrm>
            <a:off x="7314750" y="6466113"/>
            <a:ext cx="4207796"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257</a:t>
            </a:r>
            <a:endParaRPr i="1" dirty="0">
              <a:latin typeface="Calibri"/>
              <a:ea typeface="Calibri"/>
              <a:cs typeface="Calibri"/>
              <a:sym typeface="Calibri"/>
            </a:endParaRPr>
          </a:p>
        </p:txBody>
      </p:sp>
      <p:pic>
        <p:nvPicPr>
          <p:cNvPr id="7" name="Picture 6" descr="Icon&#10;&#10;Description automatically generated">
            <a:extLst>
              <a:ext uri="{FF2B5EF4-FFF2-40B4-BE49-F238E27FC236}">
                <a16:creationId xmlns:a16="http://schemas.microsoft.com/office/drawing/2014/main" id="{D59AB6C1-62BF-0041-9BFE-981CA8EF694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88122" y="2850881"/>
            <a:ext cx="1156228" cy="1156228"/>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196971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59262" y="61290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19379" y="-8225"/>
            <a:ext cx="1147864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6.5.2 Activity: Pouring Liquids to Find Conversion Rates</a:t>
            </a:r>
          </a:p>
        </p:txBody>
      </p:sp>
      <p:sp>
        <p:nvSpPr>
          <p:cNvPr id="2" name="Rectangle 1">
            <a:extLst>
              <a:ext uri="{FF2B5EF4-FFF2-40B4-BE49-F238E27FC236}">
                <a16:creationId xmlns:a16="http://schemas.microsoft.com/office/drawing/2014/main" id="{B1C46F4F-A85A-084E-B29C-01BB2615DE1E}"/>
              </a:ext>
            </a:extLst>
          </p:cNvPr>
          <p:cNvSpPr/>
          <p:nvPr/>
        </p:nvSpPr>
        <p:spPr>
          <a:xfrm>
            <a:off x="605642" y="1525267"/>
            <a:ext cx="9729259" cy="2308324"/>
          </a:xfrm>
          <a:prstGeom prst="rect">
            <a:avLst/>
          </a:prstGeom>
        </p:spPr>
        <p:txBody>
          <a:bodyPr wrap="square">
            <a:spAutoFit/>
          </a:bodyPr>
          <a:lstStyle/>
          <a:p>
            <a:pPr lvl="0"/>
            <a:r>
              <a:rPr lang="en-US" sz="2400" dirty="0">
                <a:latin typeface="Verdana" panose="020B0604030504040204" pitchFamily="34" charset="0"/>
                <a:ea typeface="Times New Roman" panose="02020603050405020304" pitchFamily="18" charset="0"/>
              </a:rPr>
              <a:t>Each of us uses containers that have volume. Most of those containers are labeled with both U.S. customary measurements and liquid metric measurements.</a:t>
            </a:r>
          </a:p>
          <a:p>
            <a:pPr lvl="0"/>
            <a:endParaRPr lang="en-US" sz="2400" dirty="0">
              <a:latin typeface="Verdana" panose="020B0604030504040204" pitchFamily="34" charset="0"/>
              <a:ea typeface="Times New Roman" panose="02020603050405020304" pitchFamily="18" charset="0"/>
            </a:endParaRPr>
          </a:p>
          <a:p>
            <a:pPr marL="457200" indent="-457200">
              <a:buFont typeface="+mj-lt"/>
              <a:buAutoNum type="arabicPeriod"/>
            </a:pPr>
            <a:r>
              <a:rPr lang="en-US" sz="2400" dirty="0">
                <a:latin typeface="Verdana" panose="020B0604030504040204" pitchFamily="34" charset="0"/>
                <a:ea typeface="Times New Roman" panose="02020603050405020304" pitchFamily="18" charset="0"/>
              </a:rPr>
              <a:t>List some U.S. customary measurements and liquid metric measurements.</a:t>
            </a:r>
          </a:p>
        </p:txBody>
      </p:sp>
      <p:sp>
        <p:nvSpPr>
          <p:cNvPr id="13" name="Google Shape;282;g104476d1465_1_17">
            <a:extLst>
              <a:ext uri="{FF2B5EF4-FFF2-40B4-BE49-F238E27FC236}">
                <a16:creationId xmlns:a16="http://schemas.microsoft.com/office/drawing/2014/main" id="{201E82E5-44E0-F44C-89CC-51BF5F797282}"/>
              </a:ext>
            </a:extLst>
          </p:cNvPr>
          <p:cNvSpPr txBox="1"/>
          <p:nvPr/>
        </p:nvSpPr>
        <p:spPr>
          <a:xfrm>
            <a:off x="7314750" y="6411686"/>
            <a:ext cx="4044512"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257</a:t>
            </a:r>
            <a:endParaRPr i="1" dirty="0">
              <a:latin typeface="Calibri"/>
              <a:ea typeface="Calibri"/>
              <a:cs typeface="Calibri"/>
              <a:sym typeface="Calibri"/>
            </a:endParaRPr>
          </a:p>
        </p:txBody>
      </p:sp>
      <p:pic>
        <p:nvPicPr>
          <p:cNvPr id="9" name="Picture 8" descr="Icon&#10;&#10;Description automatically generated">
            <a:extLst>
              <a:ext uri="{FF2B5EF4-FFF2-40B4-BE49-F238E27FC236}">
                <a16:creationId xmlns:a16="http://schemas.microsoft.com/office/drawing/2014/main" id="{44BD3746-8420-AF4A-972B-1C63264C3F3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23119" y="145164"/>
            <a:ext cx="758320" cy="758320"/>
          </a:xfrm>
          <a:prstGeom prst="rect">
            <a:avLst/>
          </a:prstGeom>
        </p:spPr>
      </p:pic>
    </p:spTree>
    <p:extLst>
      <p:ext uri="{BB962C8B-B14F-4D97-AF65-F5344CB8AC3E}">
        <p14:creationId xmlns:p14="http://schemas.microsoft.com/office/powerpoint/2010/main" val="2235248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7371" y="-7127"/>
            <a:ext cx="223200" cy="6866100"/>
          </a:xfrm>
          <a:prstGeom prst="rect">
            <a:avLst/>
          </a:prstGeom>
          <a:solidFill>
            <a:srgbClr val="035036"/>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9004" y="6119261"/>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724395" y="522026"/>
            <a:ext cx="9610506" cy="707886"/>
          </a:xfrm>
          <a:prstGeom prst="rect">
            <a:avLst/>
          </a:prstGeom>
          <a:noFill/>
        </p:spPr>
        <p:txBody>
          <a:bodyPr wrap="square" rtlCol="0">
            <a:spAutoFit/>
          </a:bodyPr>
          <a:lstStyle/>
          <a:p>
            <a:pPr lvl="2" indent="12700"/>
            <a:r>
              <a:rPr lang="en-US" sz="2000" dirty="0">
                <a:latin typeface="Verdana" panose="020B0604030504040204" pitchFamily="34" charset="0"/>
                <a:ea typeface="Verdana" panose="020B0604030504040204" pitchFamily="34" charset="0"/>
                <a:cs typeface="Verdana" panose="020B0604030504040204" pitchFamily="34" charset="0"/>
              </a:rPr>
              <a:t>Many soft drinks come in 2-liter bottles, while milk is often sold by the gallon. </a:t>
            </a:r>
          </a:p>
        </p:txBody>
      </p:sp>
      <p:sp>
        <p:nvSpPr>
          <p:cNvPr id="8" name="Google Shape;282;g104476d1465_1_17">
            <a:extLst>
              <a:ext uri="{FF2B5EF4-FFF2-40B4-BE49-F238E27FC236}">
                <a16:creationId xmlns:a16="http://schemas.microsoft.com/office/drawing/2014/main" id="{E91541B9-7C1E-4043-A1D5-12779C6D7B04}"/>
              </a:ext>
            </a:extLst>
          </p:cNvPr>
          <p:cNvSpPr txBox="1"/>
          <p:nvPr/>
        </p:nvSpPr>
        <p:spPr>
          <a:xfrm>
            <a:off x="7314750" y="6476999"/>
            <a:ext cx="4164254"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257</a:t>
            </a:r>
            <a:endParaRPr i="1" dirty="0">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id="{975283B7-C35E-0B46-AE92-BA68A8DD923F}"/>
              </a:ext>
            </a:extLst>
          </p:cNvPr>
          <p:cNvGraphicFramePr>
            <a:graphicFrameLocks noGrp="1"/>
          </p:cNvGraphicFramePr>
          <p:nvPr>
            <p:extLst>
              <p:ext uri="{D42A27DB-BD31-4B8C-83A1-F6EECF244321}">
                <p14:modId xmlns:p14="http://schemas.microsoft.com/office/powerpoint/2010/main" val="1156329441"/>
              </p:ext>
            </p:extLst>
          </p:nvPr>
        </p:nvGraphicFramePr>
        <p:xfrm>
          <a:off x="2724150" y="1490026"/>
          <a:ext cx="6743700" cy="2096326"/>
        </p:xfrm>
        <a:graphic>
          <a:graphicData uri="http://schemas.openxmlformats.org/drawingml/2006/table">
            <a:tbl>
              <a:tblPr firstRow="1" firstCol="1" bandRow="1">
                <a:tableStyleId>{A91F0D33-8C57-4600-99A7-42BC86742BE1}</a:tableStyleId>
              </a:tblPr>
              <a:tblGrid>
                <a:gridCol w="3417570">
                  <a:extLst>
                    <a:ext uri="{9D8B030D-6E8A-4147-A177-3AD203B41FA5}">
                      <a16:colId xmlns:a16="http://schemas.microsoft.com/office/drawing/2014/main" val="3917836720"/>
                    </a:ext>
                  </a:extLst>
                </a:gridCol>
                <a:gridCol w="3326130">
                  <a:extLst>
                    <a:ext uri="{9D8B030D-6E8A-4147-A177-3AD203B41FA5}">
                      <a16:colId xmlns:a16="http://schemas.microsoft.com/office/drawing/2014/main" val="12957855"/>
                    </a:ext>
                  </a:extLst>
                </a:gridCol>
              </a:tblGrid>
              <a:tr h="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2-Liter Soda Bottle</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1 Gallon Milk Container</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873220791"/>
                  </a:ext>
                </a:extLst>
              </a:tr>
              <a:tr h="1828800">
                <a:tc>
                  <a:txBody>
                    <a:bodyPr/>
                    <a:lstStyle/>
                    <a:p>
                      <a:pPr marL="0" marR="0" algn="ctr">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600" dirty="0">
                          <a:effectLst/>
                          <a:latin typeface="Verdana" panose="020B0604030504040204" pitchFamily="34" charset="0"/>
                          <a:ea typeface="Verdana" panose="020B0604030504040204" pitchFamily="34" charset="0"/>
                          <a:cs typeface="Verdana" panose="020B0604030504040204" pitchFamily="34" charset="0"/>
                        </a:rPr>
                        <a:t> </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3593487"/>
                  </a:ext>
                </a:extLst>
              </a:tr>
            </a:tbl>
          </a:graphicData>
        </a:graphic>
      </p:graphicFrame>
      <p:sp>
        <p:nvSpPr>
          <p:cNvPr id="4" name="Rectangle 2">
            <a:extLst>
              <a:ext uri="{FF2B5EF4-FFF2-40B4-BE49-F238E27FC236}">
                <a16:creationId xmlns:a16="http://schemas.microsoft.com/office/drawing/2014/main" id="{CCF17B8E-6685-F74F-8830-9DA3D4310303}"/>
              </a:ext>
            </a:extLst>
          </p:cNvPr>
          <p:cNvSpPr>
            <a:spLocks noChangeArrowheads="1"/>
          </p:cNvSpPr>
          <p:nvPr/>
        </p:nvSpPr>
        <p:spPr bwMode="auto">
          <a:xfrm>
            <a:off x="1524001" y="-153888"/>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O"/>
          </a:p>
        </p:txBody>
      </p:sp>
      <p:pic>
        <p:nvPicPr>
          <p:cNvPr id="1025" name="Picture 25" descr="2-Liter Soda Bottle | Kit Components | Science | Education Supplies | Nasco">
            <a:extLst>
              <a:ext uri="{FF2B5EF4-FFF2-40B4-BE49-F238E27FC236}">
                <a16:creationId xmlns:a16="http://schemas.microsoft.com/office/drawing/2014/main" id="{DB8AD8F8-27DB-644E-8BBD-9BFCE51CB6CF}"/>
              </a:ext>
            </a:extLst>
          </p:cNvPr>
          <p:cNvPicPr>
            <a:picLocks noChangeAspect="1" noChangeArrowheads="1"/>
          </p:cNvPicPr>
          <p:nvPr/>
        </p:nvPicPr>
        <p:blipFill>
          <a:blip r:embed="rId4" r:link="rId5" cstate="screen">
            <a:extLst>
              <a:ext uri="{28A0092B-C50C-407E-A947-70E740481C1C}">
                <a14:useLocalDpi xmlns:a14="http://schemas.microsoft.com/office/drawing/2010/main"/>
              </a:ext>
            </a:extLst>
          </a:blip>
          <a:srcRect/>
          <a:stretch>
            <a:fillRect/>
          </a:stretch>
        </p:blipFill>
        <p:spPr bwMode="auto">
          <a:xfrm>
            <a:off x="3493150" y="1783777"/>
            <a:ext cx="1790700" cy="17907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A15C2148-C1EF-7A4F-8FF2-370BF02C586F}"/>
              </a:ext>
            </a:extLst>
          </p:cNvPr>
          <p:cNvSpPr>
            <a:spLocks noChangeArrowheads="1"/>
          </p:cNvSpPr>
          <p:nvPr/>
        </p:nvSpPr>
        <p:spPr bwMode="auto">
          <a:xfrm>
            <a:off x="1524001" y="-153888"/>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O"/>
          </a:p>
        </p:txBody>
      </p:sp>
      <p:pic>
        <p:nvPicPr>
          <p:cNvPr id="1027" name="Picture 26">
            <a:extLst>
              <a:ext uri="{FF2B5EF4-FFF2-40B4-BE49-F238E27FC236}">
                <a16:creationId xmlns:a16="http://schemas.microsoft.com/office/drawing/2014/main" id="{7DA7C5BD-99B0-194E-A8FC-67F6451E871B}"/>
              </a:ext>
            </a:extLst>
          </p:cNvPr>
          <p:cNvPicPr>
            <a:picLocks noChangeAspect="1" noChangeArrowheads="1"/>
          </p:cNvPicPr>
          <p:nvPr/>
        </p:nvPicPr>
        <p:blipFill>
          <a:blip r:embed="rId6" r:link="rId7">
            <a:extLst>
              <a:ext uri="{28A0092B-C50C-407E-A947-70E740481C1C}">
                <a14:useLocalDpi xmlns:a14="http://schemas.microsoft.com/office/drawing/2010/main"/>
              </a:ext>
            </a:extLst>
          </a:blip>
          <a:srcRect/>
          <a:stretch>
            <a:fillRect/>
          </a:stretch>
        </p:blipFill>
        <p:spPr bwMode="auto">
          <a:xfrm>
            <a:off x="7036904" y="1928973"/>
            <a:ext cx="1473200" cy="147320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E276A272-1D49-D04D-9C4B-B7A10F75AADA}"/>
              </a:ext>
            </a:extLst>
          </p:cNvPr>
          <p:cNvSpPr txBox="1"/>
          <p:nvPr/>
        </p:nvSpPr>
        <p:spPr>
          <a:xfrm>
            <a:off x="724395" y="3888078"/>
            <a:ext cx="9610506" cy="707886"/>
          </a:xfrm>
          <a:prstGeom prst="rect">
            <a:avLst/>
          </a:prstGeom>
          <a:noFill/>
        </p:spPr>
        <p:txBody>
          <a:bodyPr wrap="square" rtlCol="0">
            <a:spAutoFit/>
          </a:bodyPr>
          <a:lstStyle/>
          <a:p>
            <a:pPr marL="457200" lvl="2"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Which container do you think holds more liquid? Explain your reasoning.</a:t>
            </a:r>
          </a:p>
        </p:txBody>
      </p:sp>
    </p:spTree>
    <p:extLst>
      <p:ext uri="{BB962C8B-B14F-4D97-AF65-F5344CB8AC3E}">
        <p14:creationId xmlns:p14="http://schemas.microsoft.com/office/powerpoint/2010/main" val="2165538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8119" y="6129037"/>
            <a:ext cx="563850" cy="657276"/>
          </a:xfrm>
          <a:prstGeom prst="rect">
            <a:avLst/>
          </a:prstGeom>
          <a:noFill/>
          <a:ln>
            <a:noFill/>
          </a:ln>
          <a:effectLst>
            <a:outerShdw blurRad="57150" dist="19050" dir="5400000" algn="bl" rotWithShape="0">
              <a:srgbClr val="000000">
                <a:alpha val="50000"/>
              </a:srgbClr>
            </a:outerShdw>
          </a:effectLst>
        </p:spPr>
      </p:pic>
      <p:sp>
        <p:nvSpPr>
          <p:cNvPr id="9" name="Google Shape;282;g104476d1465_1_17">
            <a:extLst>
              <a:ext uri="{FF2B5EF4-FFF2-40B4-BE49-F238E27FC236}">
                <a16:creationId xmlns:a16="http://schemas.microsoft.com/office/drawing/2014/main" id="{EE8B73DB-0DF7-EE46-891E-B7CF14DC7489}"/>
              </a:ext>
            </a:extLst>
          </p:cNvPr>
          <p:cNvSpPr txBox="1"/>
          <p:nvPr/>
        </p:nvSpPr>
        <p:spPr>
          <a:xfrm>
            <a:off x="7314749" y="6455229"/>
            <a:ext cx="4060821" cy="402646"/>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257</a:t>
            </a:r>
            <a:endParaRPr i="1" dirty="0">
              <a:latin typeface="Calibri"/>
              <a:ea typeface="Calibri"/>
              <a:cs typeface="Calibri"/>
              <a:sym typeface="Calibri"/>
            </a:endParaRPr>
          </a:p>
        </p:txBody>
      </p:sp>
      <p:sp>
        <p:nvSpPr>
          <p:cNvPr id="6" name="Rectangle 5">
            <a:extLst>
              <a:ext uri="{FF2B5EF4-FFF2-40B4-BE49-F238E27FC236}">
                <a16:creationId xmlns:a16="http://schemas.microsoft.com/office/drawing/2014/main" id="{F4EB0F11-BEA5-4E48-82F0-9DF382CC5712}"/>
              </a:ext>
            </a:extLst>
          </p:cNvPr>
          <p:cNvSpPr/>
          <p:nvPr/>
        </p:nvSpPr>
        <p:spPr>
          <a:xfrm>
            <a:off x="617517" y="838834"/>
            <a:ext cx="9717384" cy="1200329"/>
          </a:xfrm>
          <a:prstGeom prst="rect">
            <a:avLst/>
          </a:prstGeom>
        </p:spPr>
        <p:txBody>
          <a:bodyPr wrap="square">
            <a:spAutoFit/>
          </a:bodyPr>
          <a:lstStyle/>
          <a:p>
            <a:pPr lvl="0"/>
            <a:r>
              <a:rPr lang="en-US" sz="2400" dirty="0">
                <a:latin typeface="Verdana" panose="020B0604030504040204" pitchFamily="34" charset="0"/>
                <a:ea typeface="Times New Roman" panose="02020603050405020304" pitchFamily="18" charset="0"/>
              </a:rPr>
              <a:t>Both liters (L) and gallons (gal) are units used to measure liquid volume. Liters are units within the metric system, while gallons are part of the U.S. customary system.</a:t>
            </a:r>
          </a:p>
        </p:txBody>
      </p:sp>
    </p:spTree>
    <p:extLst>
      <p:ext uri="{BB962C8B-B14F-4D97-AF65-F5344CB8AC3E}">
        <p14:creationId xmlns:p14="http://schemas.microsoft.com/office/powerpoint/2010/main" val="11913439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1770" y="6043460"/>
            <a:ext cx="563850" cy="657276"/>
          </a:xfrm>
          <a:prstGeom prst="rect">
            <a:avLst/>
          </a:prstGeom>
          <a:noFill/>
          <a:ln>
            <a:noFill/>
          </a:ln>
          <a:effectLst>
            <a:outerShdw blurRad="57150" dist="19050" dir="5400000" algn="bl" rotWithShape="0">
              <a:srgbClr val="000000">
                <a:alpha val="50000"/>
              </a:srgbClr>
            </a:outerShdw>
          </a:effectLst>
        </p:spPr>
      </p:pic>
      <p:sp>
        <p:nvSpPr>
          <p:cNvPr id="18" name="Google Shape;282;g104476d1465_1_17">
            <a:extLst>
              <a:ext uri="{FF2B5EF4-FFF2-40B4-BE49-F238E27FC236}">
                <a16:creationId xmlns:a16="http://schemas.microsoft.com/office/drawing/2014/main" id="{D3CFD391-E431-9C4A-9934-6764E12AD456}"/>
              </a:ext>
            </a:extLst>
          </p:cNvPr>
          <p:cNvSpPr txBox="1"/>
          <p:nvPr/>
        </p:nvSpPr>
        <p:spPr>
          <a:xfrm>
            <a:off x="7314749" y="6447433"/>
            <a:ext cx="4137021" cy="410442"/>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258</a:t>
            </a:r>
            <a:endParaRPr i="1" dirty="0">
              <a:latin typeface="Calibri"/>
              <a:ea typeface="Calibri"/>
              <a:cs typeface="Calibri"/>
              <a:sym typeface="Calibri"/>
            </a:endParaRPr>
          </a:p>
        </p:txBody>
      </p:sp>
      <p:sp>
        <p:nvSpPr>
          <p:cNvPr id="19" name="Rectangle 18">
            <a:extLst>
              <a:ext uri="{FF2B5EF4-FFF2-40B4-BE49-F238E27FC236}">
                <a16:creationId xmlns:a16="http://schemas.microsoft.com/office/drawing/2014/main" id="{1CF8FBDD-4B48-3C40-9166-098D9F255394}"/>
              </a:ext>
            </a:extLst>
          </p:cNvPr>
          <p:cNvSpPr/>
          <p:nvPr/>
        </p:nvSpPr>
        <p:spPr>
          <a:xfrm>
            <a:off x="617517" y="344659"/>
            <a:ext cx="9435459" cy="1569660"/>
          </a:xfrm>
          <a:prstGeom prst="rect">
            <a:avLst/>
          </a:prstGeom>
        </p:spPr>
        <p:txBody>
          <a:bodyPr wrap="square">
            <a:spAutoFit/>
          </a:bodyPr>
          <a:lstStyle/>
          <a:p>
            <a:pPr marL="457200" indent="-457200">
              <a:buFont typeface="+mj-lt"/>
              <a:buAutoNum type="arabicPeriod" startAt="3"/>
            </a:pPr>
            <a:r>
              <a:rPr lang="en-US" sz="2400" dirty="0">
                <a:latin typeface="Verdana" panose="020B0604030504040204" pitchFamily="34" charset="0"/>
                <a:ea typeface="Times New Roman" panose="02020603050405020304" pitchFamily="18" charset="0"/>
              </a:rPr>
              <a:t>What do you predict is the relationship between liters and gallons based on the size of the containers? Write your prediction under the initial prediction heading in the table below.</a:t>
            </a:r>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788A7183-7DF2-5C41-90C8-4CB775E179E4}"/>
                  </a:ext>
                </a:extLst>
              </p:cNvPr>
              <p:cNvGraphicFramePr>
                <a:graphicFrameLocks noGrp="1"/>
              </p:cNvGraphicFramePr>
              <p:nvPr>
                <p:extLst>
                  <p:ext uri="{D42A27DB-BD31-4B8C-83A1-F6EECF244321}">
                    <p14:modId xmlns:p14="http://schemas.microsoft.com/office/powerpoint/2010/main" val="3165100691"/>
                  </p:ext>
                </p:extLst>
              </p:nvPr>
            </p:nvGraphicFramePr>
            <p:xfrm>
              <a:off x="1934821" y="2192931"/>
              <a:ext cx="6800850" cy="1181926"/>
            </p:xfrm>
            <a:graphic>
              <a:graphicData uri="http://schemas.openxmlformats.org/drawingml/2006/table">
                <a:tbl>
                  <a:tblPr firstRow="1" firstCol="1" bandRow="1">
                    <a:tableStyleId>{A91F0D33-8C57-4600-99A7-42BC86742BE1}</a:tableStyleId>
                  </a:tblPr>
                  <a:tblGrid>
                    <a:gridCol w="3401695">
                      <a:extLst>
                        <a:ext uri="{9D8B030D-6E8A-4147-A177-3AD203B41FA5}">
                          <a16:colId xmlns:a16="http://schemas.microsoft.com/office/drawing/2014/main" val="3147627636"/>
                        </a:ext>
                      </a:extLst>
                    </a:gridCol>
                    <a:gridCol w="3399155">
                      <a:extLst>
                        <a:ext uri="{9D8B030D-6E8A-4147-A177-3AD203B41FA5}">
                          <a16:colId xmlns:a16="http://schemas.microsoft.com/office/drawing/2014/main" val="2653838674"/>
                        </a:ext>
                      </a:extLst>
                    </a:gridCol>
                  </a:tblGrid>
                  <a:tr h="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Initial Prediction</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Revised Prediction</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877984128"/>
                      </a:ext>
                    </a:extLst>
                  </a:tr>
                  <a:tr h="914400">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___ gallon(s) </a:t>
                          </a:r>
                          <a14:m>
                            <m:oMath xmlns:m="http://schemas.openxmlformats.org/officeDocument/2006/math">
                              <m:r>
                                <a:rPr lang="en-US" sz="1800">
                                  <a:effectLst/>
                                  <a:latin typeface="Cambria Math" panose="02040503050406030204" pitchFamily="18" charset="0"/>
                                </a:rPr>
                                <m:t>≈</m:t>
                              </m:r>
                            </m:oMath>
                          </a14:m>
                          <a:r>
                            <a:rPr lang="en-US" sz="1800">
                              <a:effectLst/>
                              <a:latin typeface="Verdana" panose="020B0604030504040204" pitchFamily="34" charset="0"/>
                              <a:ea typeface="Verdana" panose="020B0604030504040204" pitchFamily="34" charset="0"/>
                              <a:cs typeface="Verdana" panose="020B0604030504040204" pitchFamily="34" charset="0"/>
                            </a:rPr>
                            <a:t> ___ liter(s)</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___ gallon(s) </a:t>
                          </a:r>
                          <a14:m>
                            <m:oMath xmlns:m="http://schemas.openxmlformats.org/officeDocument/2006/math">
                              <m:r>
                                <a:rPr lang="en-US" sz="1800">
                                  <a:effectLst/>
                                  <a:latin typeface="Cambria Math" panose="02040503050406030204" pitchFamily="18" charset="0"/>
                                </a:rPr>
                                <m:t>≈</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___ liter(s)</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5563311"/>
                      </a:ext>
                    </a:extLst>
                  </a:tr>
                </a:tbl>
              </a:graphicData>
            </a:graphic>
          </p:graphicFrame>
        </mc:Choice>
        <mc:Fallback>
          <p:graphicFrame>
            <p:nvGraphicFramePr>
              <p:cNvPr id="2" name="Table 1">
                <a:extLst>
                  <a:ext uri="{FF2B5EF4-FFF2-40B4-BE49-F238E27FC236}">
                    <a16:creationId xmlns:a16="http://schemas.microsoft.com/office/drawing/2014/main" id="{788A7183-7DF2-5C41-90C8-4CB775E179E4}"/>
                  </a:ext>
                </a:extLst>
              </p:cNvPr>
              <p:cNvGraphicFramePr>
                <a:graphicFrameLocks noGrp="1"/>
              </p:cNvGraphicFramePr>
              <p:nvPr>
                <p:extLst>
                  <p:ext uri="{D42A27DB-BD31-4B8C-83A1-F6EECF244321}">
                    <p14:modId xmlns:p14="http://schemas.microsoft.com/office/powerpoint/2010/main" val="3165100691"/>
                  </p:ext>
                </p:extLst>
              </p:nvPr>
            </p:nvGraphicFramePr>
            <p:xfrm>
              <a:off x="1934821" y="2192931"/>
              <a:ext cx="6800850" cy="1181926"/>
            </p:xfrm>
            <a:graphic>
              <a:graphicData uri="http://schemas.openxmlformats.org/drawingml/2006/table">
                <a:tbl>
                  <a:tblPr firstRow="1" firstCol="1" bandRow="1">
                    <a:tableStyleId>{A91F0D33-8C57-4600-99A7-42BC86742BE1}</a:tableStyleId>
                  </a:tblPr>
                  <a:tblGrid>
                    <a:gridCol w="3401695">
                      <a:extLst>
                        <a:ext uri="{9D8B030D-6E8A-4147-A177-3AD203B41FA5}">
                          <a16:colId xmlns:a16="http://schemas.microsoft.com/office/drawing/2014/main" val="3147627636"/>
                        </a:ext>
                      </a:extLst>
                    </a:gridCol>
                    <a:gridCol w="3399155">
                      <a:extLst>
                        <a:ext uri="{9D8B030D-6E8A-4147-A177-3AD203B41FA5}">
                          <a16:colId xmlns:a16="http://schemas.microsoft.com/office/drawing/2014/main" val="2653838674"/>
                        </a:ext>
                      </a:extLst>
                    </a:gridCol>
                  </a:tblGrid>
                  <a:tr h="267526">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Initial Prediction</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Revised Prediction</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877984128"/>
                      </a:ext>
                    </a:extLst>
                  </a:tr>
                  <a:tr h="9144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79" t="-37748" r="-100179" b="-1325"/>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358" t="-37748" r="-358" b="-1325"/>
                          </a:stretch>
                        </a:blipFill>
                      </a:tcPr>
                    </a:tc>
                    <a:extLst>
                      <a:ext uri="{0D108BD9-81ED-4DB2-BD59-A6C34878D82A}">
                        <a16:rowId xmlns:a16="http://schemas.microsoft.com/office/drawing/2014/main" val="435563311"/>
                      </a:ext>
                    </a:extLst>
                  </a:tr>
                </a:tbl>
              </a:graphicData>
            </a:graphic>
          </p:graphicFrame>
        </mc:Fallback>
      </mc:AlternateContent>
      <p:sp>
        <p:nvSpPr>
          <p:cNvPr id="7" name="Rectangle 6">
            <a:extLst>
              <a:ext uri="{FF2B5EF4-FFF2-40B4-BE49-F238E27FC236}">
                <a16:creationId xmlns:a16="http://schemas.microsoft.com/office/drawing/2014/main" id="{EAE5D3FC-831C-F04F-B13D-0467A502FF4B}"/>
              </a:ext>
            </a:extLst>
          </p:cNvPr>
          <p:cNvSpPr/>
          <p:nvPr/>
        </p:nvSpPr>
        <p:spPr>
          <a:xfrm>
            <a:off x="617517" y="4665069"/>
            <a:ext cx="7294031" cy="830997"/>
          </a:xfrm>
          <a:prstGeom prst="rect">
            <a:avLst/>
          </a:prstGeom>
        </p:spPr>
        <p:txBody>
          <a:bodyPr wrap="square">
            <a:spAutoFit/>
          </a:bodyPr>
          <a:lstStyle/>
          <a:p>
            <a:pPr marL="463550" lvl="0"/>
            <a:r>
              <a:rPr lang="en-US" sz="2400" dirty="0">
                <a:latin typeface="Verdana" panose="020B0604030504040204" pitchFamily="34" charset="0"/>
                <a:ea typeface="Times New Roman" panose="02020603050405020304" pitchFamily="18" charset="0"/>
              </a:rPr>
              <a:t>Watch the short video of liquid from one container being poured into the other. </a:t>
            </a:r>
          </a:p>
        </p:txBody>
      </p:sp>
      <p:pic>
        <p:nvPicPr>
          <p:cNvPr id="8" name="Picture 7" descr="Qr code&#10;&#10;Description automatically generated">
            <a:extLst>
              <a:ext uri="{FF2B5EF4-FFF2-40B4-BE49-F238E27FC236}">
                <a16:creationId xmlns:a16="http://schemas.microsoft.com/office/drawing/2014/main" id="{0238D2A2-20F8-2543-8A3C-C8B39F2FF6B0}"/>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760377" y="4326224"/>
            <a:ext cx="1371600" cy="1371600"/>
          </a:xfrm>
          <a:prstGeom prst="rect">
            <a:avLst/>
          </a:prstGeom>
          <a:noFill/>
          <a:ln>
            <a:noFill/>
          </a:ln>
        </p:spPr>
      </p:pic>
    </p:spTree>
    <p:extLst>
      <p:ext uri="{BB962C8B-B14F-4D97-AF65-F5344CB8AC3E}">
        <p14:creationId xmlns:p14="http://schemas.microsoft.com/office/powerpoint/2010/main" val="3129476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35461" y="6129037"/>
            <a:ext cx="563850" cy="657276"/>
          </a:xfrm>
          <a:prstGeom prst="rect">
            <a:avLst/>
          </a:prstGeom>
          <a:noFill/>
          <a:ln>
            <a:noFill/>
          </a:ln>
          <a:effectLst>
            <a:outerShdw blurRad="57150" dist="19050" dir="5400000" algn="bl" rotWithShape="0">
              <a:srgbClr val="000000">
                <a:alpha val="50000"/>
              </a:srgbClr>
            </a:outerShdw>
          </a:effectLst>
        </p:spPr>
      </p:pic>
      <p:sp>
        <p:nvSpPr>
          <p:cNvPr id="18" name="Google Shape;282;g104476d1465_1_17">
            <a:extLst>
              <a:ext uri="{FF2B5EF4-FFF2-40B4-BE49-F238E27FC236}">
                <a16:creationId xmlns:a16="http://schemas.microsoft.com/office/drawing/2014/main" id="{D3CFD391-E431-9C4A-9934-6764E12AD456}"/>
              </a:ext>
            </a:extLst>
          </p:cNvPr>
          <p:cNvSpPr txBox="1"/>
          <p:nvPr/>
        </p:nvSpPr>
        <p:spPr>
          <a:xfrm>
            <a:off x="888229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258</a:t>
            </a:r>
            <a:endParaRPr i="1" dirty="0">
              <a:latin typeface="Calibri"/>
              <a:ea typeface="Calibri"/>
              <a:cs typeface="Calibri"/>
              <a:sym typeface="Calibri"/>
            </a:endParaRPr>
          </a:p>
        </p:txBody>
      </p:sp>
      <p:sp>
        <p:nvSpPr>
          <p:cNvPr id="19" name="Rectangle 18">
            <a:extLst>
              <a:ext uri="{FF2B5EF4-FFF2-40B4-BE49-F238E27FC236}">
                <a16:creationId xmlns:a16="http://schemas.microsoft.com/office/drawing/2014/main" id="{1CF8FBDD-4B48-3C40-9166-098D9F255394}"/>
              </a:ext>
            </a:extLst>
          </p:cNvPr>
          <p:cNvSpPr/>
          <p:nvPr/>
        </p:nvSpPr>
        <p:spPr>
          <a:xfrm>
            <a:off x="593766" y="744463"/>
            <a:ext cx="9741135" cy="3785652"/>
          </a:xfrm>
          <a:prstGeom prst="rect">
            <a:avLst/>
          </a:prstGeom>
        </p:spPr>
        <p:txBody>
          <a:bodyPr wrap="square">
            <a:spAutoFit/>
          </a:bodyPr>
          <a:lstStyle/>
          <a:p>
            <a:pPr marL="457200" indent="-457200">
              <a:buFont typeface="+mj-lt"/>
              <a:buAutoNum type="arabicPeriod" startAt="4"/>
            </a:pPr>
            <a:r>
              <a:rPr lang="en-US" sz="2400" dirty="0">
                <a:latin typeface="Verdana" panose="020B0604030504040204" pitchFamily="34" charset="0"/>
                <a:ea typeface="Times New Roman" panose="02020603050405020304" pitchFamily="18" charset="0"/>
              </a:rPr>
              <a:t>Based on your initial prediction and the amount of liquid in each container now, discuss the relationship between liters and gallons. Then, write a revised prediction in the table above.</a:t>
            </a:r>
          </a:p>
          <a:p>
            <a:pPr marL="457200" indent="-457200">
              <a:buFont typeface="+mj-lt"/>
              <a:buAutoNum type="arabicPeriod" startAt="4"/>
            </a:pPr>
            <a:endParaRPr lang="en-US" sz="2400" dirty="0">
              <a:latin typeface="Verdana" panose="020B0604030504040204" pitchFamily="34" charset="0"/>
              <a:ea typeface="Times New Roman" panose="02020603050405020304" pitchFamily="18" charset="0"/>
            </a:endParaRPr>
          </a:p>
          <a:p>
            <a:pPr marL="457200" indent="-457200">
              <a:buFont typeface="+mj-lt"/>
              <a:buAutoNum type="arabicPeriod" startAt="4"/>
            </a:pPr>
            <a:endParaRPr lang="en-US" sz="2400" dirty="0">
              <a:latin typeface="Verdana" panose="020B0604030504040204" pitchFamily="34" charset="0"/>
              <a:ea typeface="Times New Roman" panose="02020603050405020304" pitchFamily="18" charset="0"/>
            </a:endParaRPr>
          </a:p>
          <a:p>
            <a:pPr marL="457200" indent="-457200">
              <a:buFont typeface="+mj-lt"/>
              <a:buAutoNum type="arabicPeriod" startAt="4"/>
            </a:pPr>
            <a:endParaRPr lang="en-US" sz="2400" dirty="0">
              <a:latin typeface="Verdana" panose="020B0604030504040204" pitchFamily="34" charset="0"/>
              <a:ea typeface="Times New Roman" panose="02020603050405020304" pitchFamily="18" charset="0"/>
            </a:endParaRPr>
          </a:p>
          <a:p>
            <a:pPr marL="457200" indent="-457200">
              <a:buFont typeface="+mj-lt"/>
              <a:buAutoNum type="arabicPeriod" startAt="4"/>
            </a:pPr>
            <a:endParaRPr lang="en-US" sz="2400" dirty="0">
              <a:latin typeface="Verdana" panose="020B0604030504040204" pitchFamily="34" charset="0"/>
              <a:ea typeface="Times New Roman" panose="02020603050405020304" pitchFamily="18" charset="0"/>
            </a:endParaRPr>
          </a:p>
          <a:p>
            <a:pPr marL="457200" indent="-457200">
              <a:buFont typeface="+mj-lt"/>
              <a:buAutoNum type="arabicPeriod" startAt="4"/>
            </a:pPr>
            <a:endParaRPr lang="en-US" sz="2400" dirty="0">
              <a:latin typeface="Verdana" panose="020B0604030504040204" pitchFamily="34" charset="0"/>
              <a:ea typeface="Times New Roman" panose="02020603050405020304" pitchFamily="18" charset="0"/>
            </a:endParaRPr>
          </a:p>
          <a:p>
            <a:pPr marL="463550" lvl="0"/>
            <a:r>
              <a:rPr lang="en-US" sz="2400" dirty="0">
                <a:latin typeface="Verdana" panose="020B0604030504040204" pitchFamily="34" charset="0"/>
                <a:ea typeface="Times New Roman" panose="02020603050405020304" pitchFamily="18" charset="0"/>
              </a:rPr>
              <a:t>Continue watching the remainder of the video.</a:t>
            </a:r>
          </a:p>
        </p:txBody>
      </p:sp>
    </p:spTree>
    <p:extLst>
      <p:ext uri="{BB962C8B-B14F-4D97-AF65-F5344CB8AC3E}">
        <p14:creationId xmlns:p14="http://schemas.microsoft.com/office/powerpoint/2010/main" val="27474250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9005" y="6129037"/>
            <a:ext cx="563850" cy="657276"/>
          </a:xfrm>
          <a:prstGeom prst="rect">
            <a:avLst/>
          </a:prstGeom>
          <a:noFill/>
          <a:ln>
            <a:noFill/>
          </a:ln>
          <a:effectLst>
            <a:outerShdw blurRad="57150" dist="19050" dir="5400000" algn="bl" rotWithShape="0">
              <a:srgbClr val="000000">
                <a:alpha val="50000"/>
              </a:srgbClr>
            </a:outerShdw>
          </a:effectLst>
        </p:spPr>
      </p:pic>
      <p:sp>
        <p:nvSpPr>
          <p:cNvPr id="18" name="Google Shape;282;g104476d1465_1_17">
            <a:extLst>
              <a:ext uri="{FF2B5EF4-FFF2-40B4-BE49-F238E27FC236}">
                <a16:creationId xmlns:a16="http://schemas.microsoft.com/office/drawing/2014/main" id="{D3CFD391-E431-9C4A-9934-6764E12AD456}"/>
              </a:ext>
            </a:extLst>
          </p:cNvPr>
          <p:cNvSpPr txBox="1"/>
          <p:nvPr/>
        </p:nvSpPr>
        <p:spPr>
          <a:xfrm>
            <a:off x="7314749" y="6447079"/>
            <a:ext cx="4245879" cy="410796"/>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258</a:t>
            </a:r>
            <a:endParaRPr i="1" dirty="0">
              <a:latin typeface="Calibri"/>
              <a:ea typeface="Calibri"/>
              <a:cs typeface="Calibri"/>
              <a:sym typeface="Calibri"/>
            </a:endParaRPr>
          </a:p>
        </p:txBody>
      </p:sp>
      <p:sp>
        <p:nvSpPr>
          <p:cNvPr id="19" name="Rectangle 18">
            <a:extLst>
              <a:ext uri="{FF2B5EF4-FFF2-40B4-BE49-F238E27FC236}">
                <a16:creationId xmlns:a16="http://schemas.microsoft.com/office/drawing/2014/main" id="{1CF8FBDD-4B48-3C40-9166-098D9F255394}"/>
              </a:ext>
            </a:extLst>
          </p:cNvPr>
          <p:cNvSpPr/>
          <p:nvPr/>
        </p:nvSpPr>
        <p:spPr>
          <a:xfrm>
            <a:off x="617517" y="410921"/>
            <a:ext cx="9435459" cy="830997"/>
          </a:xfrm>
          <a:prstGeom prst="rect">
            <a:avLst/>
          </a:prstGeom>
        </p:spPr>
        <p:txBody>
          <a:bodyPr wrap="square">
            <a:spAutoFit/>
          </a:bodyPr>
          <a:lstStyle/>
          <a:p>
            <a:pPr marL="457200" indent="-457200">
              <a:buFont typeface="+mj-lt"/>
              <a:buAutoNum type="arabicPeriod" startAt="5"/>
            </a:pPr>
            <a:r>
              <a:rPr lang="en-US" sz="2400" dirty="0">
                <a:latin typeface="Verdana" panose="020B0604030504040204" pitchFamily="34" charset="0"/>
                <a:ea typeface="Times New Roman" panose="02020603050405020304" pitchFamily="18" charset="0"/>
              </a:rPr>
              <a:t>Based on the video, what is your final estimate for the relationship between liters and gallons?</a:t>
            </a:r>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005F422D-65F8-E541-BA13-FD63BACBDEB2}"/>
                  </a:ext>
                </a:extLst>
              </p:cNvPr>
              <p:cNvGraphicFramePr>
                <a:graphicFrameLocks noGrp="1"/>
              </p:cNvGraphicFramePr>
              <p:nvPr>
                <p:extLst>
                  <p:ext uri="{D42A27DB-BD31-4B8C-83A1-F6EECF244321}">
                    <p14:modId xmlns:p14="http://schemas.microsoft.com/office/powerpoint/2010/main" val="2965314410"/>
                  </p:ext>
                </p:extLst>
              </p:nvPr>
            </p:nvGraphicFramePr>
            <p:xfrm>
              <a:off x="3216259" y="1423808"/>
              <a:ext cx="3455670" cy="1181926"/>
            </p:xfrm>
            <a:graphic>
              <a:graphicData uri="http://schemas.openxmlformats.org/drawingml/2006/table">
                <a:tbl>
                  <a:tblPr firstRow="1" firstCol="1" bandRow="1">
                    <a:tableStyleId>{A91F0D33-8C57-4600-99A7-42BC86742BE1}</a:tableStyleId>
                  </a:tblPr>
                  <a:tblGrid>
                    <a:gridCol w="3455670">
                      <a:extLst>
                        <a:ext uri="{9D8B030D-6E8A-4147-A177-3AD203B41FA5}">
                          <a16:colId xmlns:a16="http://schemas.microsoft.com/office/drawing/2014/main" val="3732646555"/>
                        </a:ext>
                      </a:extLst>
                    </a:gridCol>
                  </a:tblGrid>
                  <a:tr h="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Final Estimate</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945351591"/>
                      </a:ext>
                    </a:extLst>
                  </a:tr>
                  <a:tr h="914400">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___ gallon(s) </a:t>
                          </a:r>
                          <a14:m>
                            <m:oMath xmlns:m="http://schemas.openxmlformats.org/officeDocument/2006/math">
                              <m:r>
                                <a:rPr lang="en-US" sz="1800">
                                  <a:effectLst/>
                                  <a:latin typeface="Cambria Math" panose="02040503050406030204" pitchFamily="18" charset="0"/>
                                </a:rPr>
                                <m:t>≈</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___ liter(s)</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4568987"/>
                      </a:ext>
                    </a:extLst>
                  </a:tr>
                </a:tbl>
              </a:graphicData>
            </a:graphic>
          </p:graphicFrame>
        </mc:Choice>
        <mc:Fallback>
          <p:graphicFrame>
            <p:nvGraphicFramePr>
              <p:cNvPr id="2" name="Table 1">
                <a:extLst>
                  <a:ext uri="{FF2B5EF4-FFF2-40B4-BE49-F238E27FC236}">
                    <a16:creationId xmlns:a16="http://schemas.microsoft.com/office/drawing/2014/main" id="{005F422D-65F8-E541-BA13-FD63BACBDEB2}"/>
                  </a:ext>
                </a:extLst>
              </p:cNvPr>
              <p:cNvGraphicFramePr>
                <a:graphicFrameLocks noGrp="1"/>
              </p:cNvGraphicFramePr>
              <p:nvPr>
                <p:extLst>
                  <p:ext uri="{D42A27DB-BD31-4B8C-83A1-F6EECF244321}">
                    <p14:modId xmlns:p14="http://schemas.microsoft.com/office/powerpoint/2010/main" val="2965314410"/>
                  </p:ext>
                </p:extLst>
              </p:nvPr>
            </p:nvGraphicFramePr>
            <p:xfrm>
              <a:off x="3216259" y="1423808"/>
              <a:ext cx="3455670" cy="1181926"/>
            </p:xfrm>
            <a:graphic>
              <a:graphicData uri="http://schemas.openxmlformats.org/drawingml/2006/table">
                <a:tbl>
                  <a:tblPr firstRow="1" firstCol="1" bandRow="1">
                    <a:tableStyleId>{A91F0D33-8C57-4600-99A7-42BC86742BE1}</a:tableStyleId>
                  </a:tblPr>
                  <a:tblGrid>
                    <a:gridCol w="3455670">
                      <a:extLst>
                        <a:ext uri="{9D8B030D-6E8A-4147-A177-3AD203B41FA5}">
                          <a16:colId xmlns:a16="http://schemas.microsoft.com/office/drawing/2014/main" val="3732646555"/>
                        </a:ext>
                      </a:extLst>
                    </a:gridCol>
                  </a:tblGrid>
                  <a:tr h="267526">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Final Estimate</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945351591"/>
                      </a:ext>
                    </a:extLst>
                  </a:tr>
                  <a:tr h="9144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76" t="-37748" r="-352" b="-1325"/>
                          </a:stretch>
                        </a:blipFill>
                      </a:tcPr>
                    </a:tc>
                    <a:extLst>
                      <a:ext uri="{0D108BD9-81ED-4DB2-BD59-A6C34878D82A}">
                        <a16:rowId xmlns:a16="http://schemas.microsoft.com/office/drawing/2014/main" val="3534568987"/>
                      </a:ext>
                    </a:extLst>
                  </a:tr>
                </a:tbl>
              </a:graphicData>
            </a:graphic>
          </p:graphicFrame>
        </mc:Fallback>
      </mc:AlternateContent>
      <p:sp>
        <p:nvSpPr>
          <p:cNvPr id="7" name="Rectangle 6">
            <a:extLst>
              <a:ext uri="{FF2B5EF4-FFF2-40B4-BE49-F238E27FC236}">
                <a16:creationId xmlns:a16="http://schemas.microsoft.com/office/drawing/2014/main" id="{78B453E6-5334-F048-92AD-FB390276A418}"/>
              </a:ext>
            </a:extLst>
          </p:cNvPr>
          <p:cNvSpPr/>
          <p:nvPr/>
        </p:nvSpPr>
        <p:spPr>
          <a:xfrm>
            <a:off x="617517" y="3101113"/>
            <a:ext cx="9435459" cy="1310295"/>
          </a:xfrm>
          <a:prstGeom prst="rect">
            <a:avLst/>
          </a:prstGeom>
        </p:spPr>
        <p:txBody>
          <a:bodyPr wrap="square">
            <a:spAutoFit/>
          </a:bodyPr>
          <a:lstStyle/>
          <a:p>
            <a:pPr marL="457200" indent="-457200">
              <a:buFont typeface="+mj-lt"/>
              <a:buAutoNum type="arabicPeriod" startAt="6"/>
            </a:pPr>
            <a:r>
              <a:rPr lang="en-US" sz="2400" dirty="0">
                <a:latin typeface="Verdana" panose="020B0604030504040204" pitchFamily="34" charset="0"/>
                <a:ea typeface="Times New Roman" panose="02020603050405020304" pitchFamily="18" charset="0"/>
              </a:rPr>
              <a:t>How close is your estimate to the actual conversion rate?</a:t>
            </a:r>
          </a:p>
          <a:p>
            <a:pPr lvl="0">
              <a:lnSpc>
                <a:spcPct val="150000"/>
              </a:lnSpc>
            </a:pPr>
            <a:r>
              <a:rPr lang="en-US" sz="2400" dirty="0">
                <a:latin typeface="Verdana" panose="020B0604030504040204" pitchFamily="34" charset="0"/>
                <a:ea typeface="Times New Roman" panose="02020603050405020304" pitchFamily="18" charset="0"/>
              </a:rPr>
              <a:t>    The big reveal…</a:t>
            </a:r>
          </a:p>
        </p:txBody>
      </p:sp>
      <p:sp>
        <p:nvSpPr>
          <p:cNvPr id="3" name="Rectangle 2">
            <a:extLst>
              <a:ext uri="{FF2B5EF4-FFF2-40B4-BE49-F238E27FC236}">
                <a16:creationId xmlns:a16="http://schemas.microsoft.com/office/drawing/2014/main" id="{326E11DC-79CD-A642-8914-DB0D21E48FFF}"/>
              </a:ext>
            </a:extLst>
          </p:cNvPr>
          <p:cNvSpPr>
            <a:spLocks noChangeArrowheads="1"/>
          </p:cNvSpPr>
          <p:nvPr/>
        </p:nvSpPr>
        <p:spPr bwMode="auto">
          <a:xfrm>
            <a:off x="2305879" y="4137767"/>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O"/>
          </a:p>
        </p:txBody>
      </p:sp>
      <p:pic>
        <p:nvPicPr>
          <p:cNvPr id="4097" name="Picture 28" descr="The Big Reveal (Or Not) - KristineShreve.com">
            <a:extLst>
              <a:ext uri="{FF2B5EF4-FFF2-40B4-BE49-F238E27FC236}">
                <a16:creationId xmlns:a16="http://schemas.microsoft.com/office/drawing/2014/main" id="{8F68C811-C5CA-0E4B-A4ED-C77CE0906476}"/>
              </a:ext>
            </a:extLst>
          </p:cNvPr>
          <p:cNvPicPr>
            <a:picLocks noChangeAspect="1" noChangeArrowheads="1"/>
          </p:cNvPicPr>
          <p:nvPr/>
        </p:nvPicPr>
        <p:blipFill>
          <a:blip r:embed="rId5" r:link="rId6">
            <a:extLst>
              <a:ext uri="{28A0092B-C50C-407E-A947-70E740481C1C}">
                <a14:useLocalDpi xmlns:a14="http://schemas.microsoft.com/office/drawing/2010/main"/>
              </a:ext>
            </a:extLst>
          </a:blip>
          <a:srcRect/>
          <a:stretch>
            <a:fillRect/>
          </a:stretch>
        </p:blipFill>
        <p:spPr bwMode="auto">
          <a:xfrm>
            <a:off x="1488547" y="4548633"/>
            <a:ext cx="2531165" cy="142305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graphicFrame>
            <p:nvGraphicFramePr>
              <p:cNvPr id="10" name="Table 9">
                <a:extLst>
                  <a:ext uri="{FF2B5EF4-FFF2-40B4-BE49-F238E27FC236}">
                    <a16:creationId xmlns:a16="http://schemas.microsoft.com/office/drawing/2014/main" id="{0F4A9A21-2E63-4043-B49A-0829B265C191}"/>
                  </a:ext>
                </a:extLst>
              </p:cNvPr>
              <p:cNvGraphicFramePr>
                <a:graphicFrameLocks noGrp="1"/>
              </p:cNvGraphicFramePr>
              <p:nvPr>
                <p:extLst>
                  <p:ext uri="{D42A27DB-BD31-4B8C-83A1-F6EECF244321}">
                    <p14:modId xmlns:p14="http://schemas.microsoft.com/office/powerpoint/2010/main" val="3877466057"/>
                  </p:ext>
                </p:extLst>
              </p:nvPr>
            </p:nvGraphicFramePr>
            <p:xfrm>
              <a:off x="4632360" y="4548633"/>
              <a:ext cx="4079139" cy="1395168"/>
            </p:xfrm>
            <a:graphic>
              <a:graphicData uri="http://schemas.openxmlformats.org/drawingml/2006/table">
                <a:tbl>
                  <a:tblPr firstRow="1" firstCol="1" bandRow="1">
                    <a:tableStyleId>{A91F0D33-8C57-4600-99A7-42BC86742BE1}</a:tableStyleId>
                  </a:tblPr>
                  <a:tblGrid>
                    <a:gridCol w="4079139">
                      <a:extLst>
                        <a:ext uri="{9D8B030D-6E8A-4147-A177-3AD203B41FA5}">
                          <a16:colId xmlns:a16="http://schemas.microsoft.com/office/drawing/2014/main" val="3732646555"/>
                        </a:ext>
                      </a:extLst>
                    </a:gridCol>
                  </a:tblGrid>
                  <a:tr h="315793">
                    <a:tc>
                      <a:txBody>
                        <a:bodyPr/>
                        <a:lstStyle/>
                        <a:p>
                          <a:pPr marL="0" marR="0" algn="ctr">
                            <a:lnSpc>
                              <a:spcPct val="107000"/>
                            </a:lnSpc>
                            <a:spcBef>
                              <a:spcPts val="0"/>
                            </a:spcBef>
                            <a:spcAft>
                              <a:spcPts val="0"/>
                            </a:spcAft>
                          </a:pPr>
                          <a:r>
                            <a:rPr lang="en-US" sz="2100" b="1" dirty="0">
                              <a:effectLst/>
                              <a:latin typeface="Verdana" panose="020B0604030504040204" pitchFamily="34" charset="0"/>
                              <a:ea typeface="Verdana" panose="020B0604030504040204" pitchFamily="34" charset="0"/>
                              <a:cs typeface="Verdana" panose="020B0604030504040204" pitchFamily="34" charset="0"/>
                            </a:rPr>
                            <a:t>Actual Conversion Rate</a:t>
                          </a:r>
                          <a:endParaRPr lang="en-CO" sz="1900" b="1" i="1" dirty="0">
                            <a:effectLst/>
                            <a:latin typeface="Verdana" panose="020B0604030504040204" pitchFamily="34" charset="0"/>
                            <a:ea typeface="Verdana" panose="020B0604030504040204" pitchFamily="34" charset="0"/>
                            <a:cs typeface="Verdana" panose="020B0604030504040204" pitchFamily="34" charset="0"/>
                          </a:endParaRPr>
                        </a:p>
                      </a:txBody>
                      <a:tcPr marL="80953" marR="80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945351591"/>
                      </a:ext>
                    </a:extLst>
                  </a:tr>
                  <a:tr h="1079375">
                    <a:tc>
                      <a:txBody>
                        <a:bodyPr/>
                        <a:lstStyle/>
                        <a:p>
                          <a:pPr marL="0" marR="0" algn="ctr">
                            <a:lnSpc>
                              <a:spcPct val="107000"/>
                            </a:lnSpc>
                            <a:spcBef>
                              <a:spcPts val="0"/>
                            </a:spcBef>
                            <a:spcAft>
                              <a:spcPts val="0"/>
                            </a:spcAft>
                          </a:pPr>
                          <a:r>
                            <a:rPr lang="en-US" sz="2100" dirty="0">
                              <a:effectLst/>
                              <a:latin typeface="Verdana" panose="020B0604030504040204" pitchFamily="34" charset="0"/>
                              <a:ea typeface="Verdana" panose="020B0604030504040204" pitchFamily="34" charset="0"/>
                              <a:cs typeface="Verdana" panose="020B0604030504040204" pitchFamily="34" charset="0"/>
                            </a:rPr>
                            <a:t>___ gallon(s) </a:t>
                          </a:r>
                          <a14:m>
                            <m:oMath xmlns:m="http://schemas.openxmlformats.org/officeDocument/2006/math">
                              <m:r>
                                <a:rPr lang="en-US" sz="2100">
                                  <a:effectLst/>
                                  <a:latin typeface="Cambria Math" panose="02040503050406030204" pitchFamily="18" charset="0"/>
                                </a:rPr>
                                <m:t>≈</m:t>
                              </m:r>
                            </m:oMath>
                          </a14:m>
                          <a:r>
                            <a:rPr lang="en-US" sz="2100" dirty="0">
                              <a:effectLst/>
                              <a:latin typeface="Verdana" panose="020B0604030504040204" pitchFamily="34" charset="0"/>
                              <a:ea typeface="Verdana" panose="020B0604030504040204" pitchFamily="34" charset="0"/>
                              <a:cs typeface="Verdana" panose="020B0604030504040204" pitchFamily="34" charset="0"/>
                            </a:rPr>
                            <a:t> ___ liter(s)</a:t>
                          </a:r>
                          <a:endParaRPr lang="en-CO" sz="1900" i="1" dirty="0">
                            <a:effectLst/>
                            <a:latin typeface="Verdana" panose="020B0604030504040204" pitchFamily="34" charset="0"/>
                            <a:ea typeface="Verdana" panose="020B0604030504040204" pitchFamily="34" charset="0"/>
                            <a:cs typeface="Verdana" panose="020B0604030504040204" pitchFamily="34" charset="0"/>
                          </a:endParaRPr>
                        </a:p>
                      </a:txBody>
                      <a:tcPr marL="80953" marR="80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4568987"/>
                      </a:ext>
                    </a:extLst>
                  </a:tr>
                </a:tbl>
              </a:graphicData>
            </a:graphic>
          </p:graphicFrame>
        </mc:Choice>
        <mc:Fallback>
          <p:graphicFrame>
            <p:nvGraphicFramePr>
              <p:cNvPr id="10" name="Table 9">
                <a:extLst>
                  <a:ext uri="{FF2B5EF4-FFF2-40B4-BE49-F238E27FC236}">
                    <a16:creationId xmlns:a16="http://schemas.microsoft.com/office/drawing/2014/main" id="{0F4A9A21-2E63-4043-B49A-0829B265C191}"/>
                  </a:ext>
                </a:extLst>
              </p:cNvPr>
              <p:cNvGraphicFramePr>
                <a:graphicFrameLocks noGrp="1"/>
              </p:cNvGraphicFramePr>
              <p:nvPr>
                <p:extLst>
                  <p:ext uri="{D42A27DB-BD31-4B8C-83A1-F6EECF244321}">
                    <p14:modId xmlns:p14="http://schemas.microsoft.com/office/powerpoint/2010/main" val="3877466057"/>
                  </p:ext>
                </p:extLst>
              </p:nvPr>
            </p:nvGraphicFramePr>
            <p:xfrm>
              <a:off x="4632360" y="4548633"/>
              <a:ext cx="4079139" cy="1395168"/>
            </p:xfrm>
            <a:graphic>
              <a:graphicData uri="http://schemas.openxmlformats.org/drawingml/2006/table">
                <a:tbl>
                  <a:tblPr firstRow="1" firstCol="1" bandRow="1">
                    <a:tableStyleId>{A91F0D33-8C57-4600-99A7-42BC86742BE1}</a:tableStyleId>
                  </a:tblPr>
                  <a:tblGrid>
                    <a:gridCol w="4079139">
                      <a:extLst>
                        <a:ext uri="{9D8B030D-6E8A-4147-A177-3AD203B41FA5}">
                          <a16:colId xmlns:a16="http://schemas.microsoft.com/office/drawing/2014/main" val="3732646555"/>
                        </a:ext>
                      </a:extLst>
                    </a:gridCol>
                  </a:tblGrid>
                  <a:tr h="315793">
                    <a:tc>
                      <a:txBody>
                        <a:bodyPr/>
                        <a:lstStyle/>
                        <a:p>
                          <a:pPr marL="0" marR="0" algn="ctr">
                            <a:lnSpc>
                              <a:spcPct val="107000"/>
                            </a:lnSpc>
                            <a:spcBef>
                              <a:spcPts val="0"/>
                            </a:spcBef>
                            <a:spcAft>
                              <a:spcPts val="0"/>
                            </a:spcAft>
                          </a:pPr>
                          <a:r>
                            <a:rPr lang="en-US" sz="2100" b="1" dirty="0">
                              <a:effectLst/>
                              <a:latin typeface="Verdana" panose="020B0604030504040204" pitchFamily="34" charset="0"/>
                              <a:ea typeface="Verdana" panose="020B0604030504040204" pitchFamily="34" charset="0"/>
                              <a:cs typeface="Verdana" panose="020B0604030504040204" pitchFamily="34" charset="0"/>
                            </a:rPr>
                            <a:t>Actual Conversion Rate</a:t>
                          </a:r>
                          <a:endParaRPr lang="en-CO" sz="1900" b="1" i="1" dirty="0">
                            <a:effectLst/>
                            <a:latin typeface="Verdana" panose="020B0604030504040204" pitchFamily="34" charset="0"/>
                            <a:ea typeface="Verdana" panose="020B0604030504040204" pitchFamily="34" charset="0"/>
                            <a:cs typeface="Verdana" panose="020B0604030504040204" pitchFamily="34" charset="0"/>
                          </a:endParaRPr>
                        </a:p>
                      </a:txBody>
                      <a:tcPr marL="80953" marR="80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945351591"/>
                      </a:ext>
                    </a:extLst>
                  </a:tr>
                  <a:tr h="1079375">
                    <a:tc>
                      <a:txBody>
                        <a:bodyPr/>
                        <a:lstStyle/>
                        <a:p>
                          <a:endParaRPr lang="en-US"/>
                        </a:p>
                      </a:txBody>
                      <a:tcPr marL="80953" marR="80953"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7"/>
                          <a:stretch>
                            <a:fillRect l="-149" t="-37640" r="-298" b="-1124"/>
                          </a:stretch>
                        </a:blipFill>
                      </a:tcPr>
                    </a:tc>
                    <a:extLst>
                      <a:ext uri="{0D108BD9-81ED-4DB2-BD59-A6C34878D82A}">
                        <a16:rowId xmlns:a16="http://schemas.microsoft.com/office/drawing/2014/main" val="3534568987"/>
                      </a:ext>
                    </a:extLst>
                  </a:tr>
                </a:tbl>
              </a:graphicData>
            </a:graphic>
          </p:graphicFrame>
        </mc:Fallback>
      </mc:AlternateContent>
    </p:spTree>
    <p:extLst>
      <p:ext uri="{BB962C8B-B14F-4D97-AF65-F5344CB8AC3E}">
        <p14:creationId xmlns:p14="http://schemas.microsoft.com/office/powerpoint/2010/main" val="19279714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3194"/>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57233"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45BFA9"/>
                </a:solidFill>
                <a:latin typeface="Verdana"/>
                <a:ea typeface="Verdana"/>
                <a:cs typeface="Verdana"/>
                <a:sym typeface="Verdana"/>
              </a:rPr>
              <a:t>Try It</a:t>
            </a:r>
            <a:endParaRPr sz="5100" b="1" dirty="0">
              <a:solidFill>
                <a:srgbClr val="45BFA9"/>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7314749" y="6476999"/>
            <a:ext cx="423499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259</a:t>
            </a:r>
            <a:endParaRPr i="1" dirty="0">
              <a:latin typeface="Calibri"/>
              <a:ea typeface="Calibri"/>
              <a:cs typeface="Calibri"/>
              <a:sym typeface="Calibri"/>
            </a:endParaRPr>
          </a:p>
        </p:txBody>
      </p:sp>
      <p:pic>
        <p:nvPicPr>
          <p:cNvPr id="9" name="image2.png">
            <a:extLst>
              <a:ext uri="{FF2B5EF4-FFF2-40B4-BE49-F238E27FC236}">
                <a16:creationId xmlns:a16="http://schemas.microsoft.com/office/drawing/2014/main" id="{8394850E-9686-AA45-AF02-0A40B4D9651A}"/>
              </a:ext>
            </a:extLst>
          </p:cNvPr>
          <p:cNvPicPr/>
          <p:nvPr/>
        </p:nvPicPr>
        <p:blipFill>
          <a:blip r:embed="rId4" cstate="print">
            <a:extLst>
              <a:ext uri="{28A0092B-C50C-407E-A947-70E740481C1C}">
                <a14:useLocalDpi xmlns:a14="http://schemas.microsoft.com/office/drawing/2010/main"/>
              </a:ext>
            </a:extLst>
          </a:blip>
          <a:stretch>
            <a:fillRect/>
          </a:stretch>
        </p:blipFill>
        <p:spPr>
          <a:xfrm>
            <a:off x="4953946" y="2843633"/>
            <a:ext cx="1152447" cy="1152447"/>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0184084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91919"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55915" y="0"/>
            <a:ext cx="991314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45BFA9"/>
                </a:solidFill>
                <a:latin typeface="Verdana"/>
                <a:ea typeface="Verdana"/>
                <a:cs typeface="Verdana"/>
                <a:sym typeface="Verdana"/>
              </a:rPr>
              <a:t>6.5.3 Try It: Converting Liquid Volume Measurements</a:t>
            </a:r>
          </a:p>
        </p:txBody>
      </p:sp>
      <p:sp>
        <p:nvSpPr>
          <p:cNvPr id="2" name="Rectangle 1">
            <a:extLst>
              <a:ext uri="{FF2B5EF4-FFF2-40B4-BE49-F238E27FC236}">
                <a16:creationId xmlns:a16="http://schemas.microsoft.com/office/drawing/2014/main" id="{C0EEC4E3-DFCF-C94C-B80D-045F3E6BF764}"/>
              </a:ext>
            </a:extLst>
          </p:cNvPr>
          <p:cNvSpPr/>
          <p:nvPr/>
        </p:nvSpPr>
        <p:spPr>
          <a:xfrm>
            <a:off x="609601" y="1644275"/>
            <a:ext cx="9759820" cy="2308324"/>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Aleah is mixing concrete for a home-improvement project. According to the bag directions, she needs 6 gallons (gal) of water to mix the amount of concrete needed. The mixing bucket only has markings in liters (L). How many liters of water does she need to measure out for mixing the concrete? Round to the nearest tenth.</a:t>
            </a:r>
          </a:p>
        </p:txBody>
      </p:sp>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7314749" y="6455229"/>
            <a:ext cx="4077169" cy="402646"/>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259</a:t>
            </a:r>
            <a:endParaRPr i="1" dirty="0">
              <a:latin typeface="Calibri"/>
              <a:ea typeface="Calibri"/>
              <a:cs typeface="Calibri"/>
              <a:sym typeface="Calibri"/>
            </a:endParaRPr>
          </a:p>
        </p:txBody>
      </p:sp>
      <p:pic>
        <p:nvPicPr>
          <p:cNvPr id="8" name="image2.png">
            <a:extLst>
              <a:ext uri="{FF2B5EF4-FFF2-40B4-BE49-F238E27FC236}">
                <a16:creationId xmlns:a16="http://schemas.microsoft.com/office/drawing/2014/main" id="{C4883CB2-566E-2043-B895-D409DE88F8C7}"/>
              </a:ext>
            </a:extLst>
          </p:cNvPr>
          <p:cNvPicPr/>
          <p:nvPr/>
        </p:nvPicPr>
        <p:blipFill>
          <a:blip r:embed="rId4" cstate="screen">
            <a:extLst>
              <a:ext uri="{28A0092B-C50C-407E-A947-70E740481C1C}">
                <a14:useLocalDpi xmlns:a14="http://schemas.microsoft.com/office/drawing/2010/main"/>
              </a:ext>
            </a:extLst>
          </a:blip>
          <a:stretch>
            <a:fillRect/>
          </a:stretch>
        </p:blipFill>
        <p:spPr>
          <a:xfrm>
            <a:off x="306107" y="139703"/>
            <a:ext cx="749808" cy="749808"/>
          </a:xfrm>
          <a:prstGeom prst="rect">
            <a:avLst/>
          </a:prstGeom>
          <a:ln/>
        </p:spPr>
      </p:pic>
    </p:spTree>
    <p:extLst>
      <p:ext uri="{BB962C8B-B14F-4D97-AF65-F5344CB8AC3E}">
        <p14:creationId xmlns:p14="http://schemas.microsoft.com/office/powerpoint/2010/main" val="20515513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44318" y="6116086"/>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C0EEC4E3-DFCF-C94C-B80D-045F3E6BF764}"/>
                  </a:ext>
                </a:extLst>
              </p:cNvPr>
              <p:cNvSpPr/>
              <p:nvPr/>
            </p:nvSpPr>
            <p:spPr>
              <a:xfrm>
                <a:off x="617517" y="622781"/>
                <a:ext cx="9795447" cy="1569660"/>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Most cars have a fuel tank that can hold between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45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65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liters (L) of gasoline. What is the range of gasoline a typical fuel tank can hold in terms of gallons (gal)? Round to the nearest hundredth.</a:t>
                </a:r>
              </a:p>
            </p:txBody>
          </p:sp>
        </mc:Choice>
        <mc:Fallback>
          <p:sp>
            <p:nvSpPr>
              <p:cNvPr id="2" name="Rectangle 1">
                <a:extLst>
                  <a:ext uri="{FF2B5EF4-FFF2-40B4-BE49-F238E27FC236}">
                    <a16:creationId xmlns:a16="http://schemas.microsoft.com/office/drawing/2014/main" id="{C0EEC4E3-DFCF-C94C-B80D-045F3E6BF764}"/>
                  </a:ext>
                </a:extLst>
              </p:cNvPr>
              <p:cNvSpPr>
                <a:spLocks noRot="1" noChangeAspect="1" noMove="1" noResize="1" noEditPoints="1" noAdjustHandles="1" noChangeArrowheads="1" noChangeShapeType="1" noTextEdit="1"/>
              </p:cNvSpPr>
              <p:nvPr/>
            </p:nvSpPr>
            <p:spPr>
              <a:xfrm>
                <a:off x="617517" y="622781"/>
                <a:ext cx="9795447" cy="1569660"/>
              </a:xfrm>
              <a:prstGeom prst="rect">
                <a:avLst/>
              </a:prstGeom>
              <a:blipFill>
                <a:blip r:embed="rId4"/>
                <a:stretch>
                  <a:fillRect l="-933" t="-3488" b="-7752"/>
                </a:stretch>
              </a:blipFill>
            </p:spPr>
            <p:txBody>
              <a:bodyPr/>
              <a:lstStyle/>
              <a:p>
                <a:r>
                  <a:rPr lang="en-US">
                    <a:noFill/>
                  </a:rPr>
                  <a:t> </a:t>
                </a:r>
              </a:p>
            </p:txBody>
          </p:sp>
        </mc:Fallback>
      </mc:AlternateContent>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9017901" y="644472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259</a:t>
            </a:r>
            <a:endParaRPr i="1" dirty="0">
              <a:latin typeface="Calibri"/>
              <a:ea typeface="Calibri"/>
              <a:cs typeface="Calibri"/>
              <a:sym typeface="Calibri"/>
            </a:endParaRPr>
          </a:p>
        </p:txBody>
      </p:sp>
    </p:spTree>
    <p:extLst>
      <p:ext uri="{BB962C8B-B14F-4D97-AF65-F5344CB8AC3E}">
        <p14:creationId xmlns:p14="http://schemas.microsoft.com/office/powerpoint/2010/main" val="38971247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9004"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7314750" y="6520543"/>
            <a:ext cx="4164254"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259</a:t>
            </a:r>
            <a:endParaRPr i="1" dirty="0">
              <a:latin typeface="Calibri"/>
              <a:ea typeface="Calibri"/>
              <a:cs typeface="Calibri"/>
              <a:sym typeface="Calibri"/>
            </a:endParaRPr>
          </a:p>
        </p:txBody>
      </p:sp>
      <p:pic>
        <p:nvPicPr>
          <p:cNvPr id="4097" name="Picture 2" descr="Icon&#10;&#10;Description automatically generated">
            <a:extLst>
              <a:ext uri="{FF2B5EF4-FFF2-40B4-BE49-F238E27FC236}">
                <a16:creationId xmlns:a16="http://schemas.microsoft.com/office/drawing/2014/main" id="{57B8D6DC-D881-2C41-9A88-1C0C405A67E4}"/>
              </a:ext>
            </a:extLst>
          </p:cNvPr>
          <p:cNvPicPr>
            <a:picLocks noChangeAspect="1" noChangeArrowheads="1"/>
          </p:cNvPicPr>
          <p:nvPr/>
        </p:nvPicPr>
        <p:blipFill>
          <a:blip r:embed="rId4" r:link="rId5" cstate="screen">
            <a:extLst>
              <a:ext uri="{28A0092B-C50C-407E-A947-70E740481C1C}">
                <a14:useLocalDpi xmlns:a14="http://schemas.microsoft.com/office/drawing/2010/main"/>
              </a:ext>
            </a:extLst>
          </a:blip>
          <a:srcRect/>
          <a:stretch>
            <a:fillRect/>
          </a:stretch>
        </p:blipFill>
        <p:spPr bwMode="auto">
          <a:xfrm>
            <a:off x="4706748" y="2852772"/>
            <a:ext cx="1152447" cy="1152447"/>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12401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11662"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64161" y="-38530"/>
            <a:ext cx="1091135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6.5.4 Guided Practice: Converting Liquid Volume Measurements</a:t>
            </a:r>
          </a:p>
        </p:txBody>
      </p:sp>
      <p:sp>
        <p:nvSpPr>
          <p:cNvPr id="2" name="Rectangle 1">
            <a:extLst>
              <a:ext uri="{FF2B5EF4-FFF2-40B4-BE49-F238E27FC236}">
                <a16:creationId xmlns:a16="http://schemas.microsoft.com/office/drawing/2014/main" id="{C0EEC4E3-DFCF-C94C-B80D-045F3E6BF764}"/>
              </a:ext>
            </a:extLst>
          </p:cNvPr>
          <p:cNvSpPr/>
          <p:nvPr/>
        </p:nvSpPr>
        <p:spPr>
          <a:xfrm>
            <a:off x="617517" y="1286376"/>
            <a:ext cx="9751903" cy="707886"/>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The units commonly used for liquid capacity within each system are shown, listed from smallest to largest.</a:t>
            </a:r>
          </a:p>
        </p:txBody>
      </p:sp>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7314750" y="6433457"/>
            <a:ext cx="4196912"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259</a:t>
            </a:r>
            <a:endParaRPr i="1" dirty="0">
              <a:latin typeface="Calibri"/>
              <a:ea typeface="Calibri"/>
              <a:cs typeface="Calibri"/>
              <a:sym typeface="Calibri"/>
            </a:endParaRPr>
          </a:p>
        </p:txBody>
      </p:sp>
      <p:pic>
        <p:nvPicPr>
          <p:cNvPr id="5121" name="Picture 2" descr="Icon&#10;&#10;Description automatically generated">
            <a:extLst>
              <a:ext uri="{FF2B5EF4-FFF2-40B4-BE49-F238E27FC236}">
                <a16:creationId xmlns:a16="http://schemas.microsoft.com/office/drawing/2014/main" id="{3E36ED94-08F2-0046-8C79-70041F8D7BF2}"/>
              </a:ext>
            </a:extLst>
          </p:cNvPr>
          <p:cNvPicPr>
            <a:picLocks noChangeAspect="1" noChangeArrowheads="1"/>
          </p:cNvPicPr>
          <p:nvPr/>
        </p:nvPicPr>
        <p:blipFill>
          <a:blip r:embed="rId4" r:link="rId5" cstate="screen">
            <a:extLst>
              <a:ext uri="{28A0092B-C50C-407E-A947-70E740481C1C}">
                <a14:useLocalDpi xmlns:a14="http://schemas.microsoft.com/office/drawing/2010/main"/>
              </a:ext>
            </a:extLst>
          </a:blip>
          <a:srcRect/>
          <a:stretch>
            <a:fillRect/>
          </a:stretch>
        </p:blipFill>
        <p:spPr bwMode="auto">
          <a:xfrm>
            <a:off x="414354" y="113577"/>
            <a:ext cx="749808" cy="7498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975269B8-205C-D747-A915-FB2E3C8DF66E}"/>
              </a:ext>
            </a:extLst>
          </p:cNvPr>
          <p:cNvGraphicFramePr>
            <a:graphicFrameLocks noGrp="1"/>
          </p:cNvGraphicFramePr>
          <p:nvPr>
            <p:extLst>
              <p:ext uri="{D42A27DB-BD31-4B8C-83A1-F6EECF244321}">
                <p14:modId xmlns:p14="http://schemas.microsoft.com/office/powerpoint/2010/main" val="3185249788"/>
              </p:ext>
            </p:extLst>
          </p:nvPr>
        </p:nvGraphicFramePr>
        <p:xfrm>
          <a:off x="1959305" y="2417253"/>
          <a:ext cx="6800850" cy="1709040"/>
        </p:xfrm>
        <a:graphic>
          <a:graphicData uri="http://schemas.openxmlformats.org/drawingml/2006/table">
            <a:tbl>
              <a:tblPr firstRow="1" firstCol="1" bandRow="1">
                <a:tableStyleId>{A91F0D33-8C57-4600-99A7-42BC86742BE1}</a:tableStyleId>
              </a:tblPr>
              <a:tblGrid>
                <a:gridCol w="3417570">
                  <a:extLst>
                    <a:ext uri="{9D8B030D-6E8A-4147-A177-3AD203B41FA5}">
                      <a16:colId xmlns:a16="http://schemas.microsoft.com/office/drawing/2014/main" val="4032622278"/>
                    </a:ext>
                  </a:extLst>
                </a:gridCol>
                <a:gridCol w="3383280">
                  <a:extLst>
                    <a:ext uri="{9D8B030D-6E8A-4147-A177-3AD203B41FA5}">
                      <a16:colId xmlns:a16="http://schemas.microsoft.com/office/drawing/2014/main" val="1094023639"/>
                    </a:ext>
                  </a:extLst>
                </a:gridCol>
              </a:tblGrid>
              <a:tr h="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U.S. Customary System</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Metric System</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409630318"/>
                  </a:ext>
                </a:extLst>
              </a:tr>
              <a:tr h="0">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fluid ounces (</a:t>
                      </a:r>
                      <a:r>
                        <a:rPr lang="en-US" sz="1800" dirty="0" err="1">
                          <a:effectLst/>
                          <a:latin typeface="Verdana" panose="020B0604030504040204" pitchFamily="34" charset="0"/>
                          <a:ea typeface="Verdana" panose="020B0604030504040204" pitchFamily="34" charset="0"/>
                          <a:cs typeface="Verdana" panose="020B0604030504040204" pitchFamily="34" charset="0"/>
                        </a:rPr>
                        <a:t>fl</a:t>
                      </a:r>
                      <a:r>
                        <a:rPr lang="en-US" sz="1800" dirty="0">
                          <a:effectLst/>
                          <a:latin typeface="Verdana" panose="020B0604030504040204" pitchFamily="34" charset="0"/>
                          <a:ea typeface="Verdana" panose="020B0604030504040204" pitchFamily="34" charset="0"/>
                          <a:cs typeface="Verdana" panose="020B0604030504040204" pitchFamily="34" charset="0"/>
                        </a:rPr>
                        <a:t> oz)</a:t>
                      </a:r>
                      <a:endParaRPr lang="en-CO" sz="16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cups (c)</a:t>
                      </a:r>
                      <a:endParaRPr lang="en-CO" sz="16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pints (p)</a:t>
                      </a:r>
                      <a:endParaRPr lang="en-CO" sz="16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quarts (qt)</a:t>
                      </a:r>
                      <a:endParaRPr lang="en-CO" sz="16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gallons (gal)</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milliliters (mL)</a:t>
                      </a:r>
                      <a:endParaRPr lang="en-CO" sz="1600" dirty="0">
                        <a:effectLst/>
                        <a:latin typeface="Verdana" panose="020B0604030504040204" pitchFamily="34" charset="0"/>
                        <a:ea typeface="Verdana" panose="020B0604030504040204" pitchFamily="34" charset="0"/>
                        <a:cs typeface="Verdana" panose="020B0604030504040204" pitchFamily="34" charset="0"/>
                      </a:endParaRPr>
                    </a:p>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liters (L)</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2364269"/>
                  </a:ext>
                </a:extLst>
              </a:tr>
            </a:tbl>
          </a:graphicData>
        </a:graphic>
      </p:graphicFrame>
      <p:sp>
        <p:nvSpPr>
          <p:cNvPr id="10" name="Rectangle 9">
            <a:extLst>
              <a:ext uri="{FF2B5EF4-FFF2-40B4-BE49-F238E27FC236}">
                <a16:creationId xmlns:a16="http://schemas.microsoft.com/office/drawing/2014/main" id="{CB0126DA-0D0A-4D4D-8BCA-6CB21D36BDBF}"/>
              </a:ext>
            </a:extLst>
          </p:cNvPr>
          <p:cNvSpPr/>
          <p:nvPr/>
        </p:nvSpPr>
        <p:spPr>
          <a:xfrm>
            <a:off x="617517" y="4556884"/>
            <a:ext cx="9751903" cy="707886"/>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The tables below show the conversion rates for common units of liquid capacity in the U.S. customary and metric systems.</a:t>
            </a:r>
          </a:p>
        </p:txBody>
      </p:sp>
    </p:spTree>
    <p:extLst>
      <p:ext uri="{BB962C8B-B14F-4D97-AF65-F5344CB8AC3E}">
        <p14:creationId xmlns:p14="http://schemas.microsoft.com/office/powerpoint/2010/main" val="40661117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46347" y="6129037"/>
            <a:ext cx="563850" cy="657276"/>
          </a:xfrm>
          <a:prstGeom prst="rect">
            <a:avLst/>
          </a:prstGeom>
          <a:noFill/>
          <a:ln>
            <a:noFill/>
          </a:ln>
          <a:effectLst>
            <a:outerShdw blurRad="57150" dist="19050" dir="5400000" algn="bl" rotWithShape="0">
              <a:srgbClr val="000000">
                <a:alpha val="50000"/>
              </a:srgbClr>
            </a:outerShdw>
          </a:effectLst>
        </p:spPr>
      </p:pic>
      <p:grpSp>
        <p:nvGrpSpPr>
          <p:cNvPr id="6" name="Group 5">
            <a:extLst>
              <a:ext uri="{FF2B5EF4-FFF2-40B4-BE49-F238E27FC236}">
                <a16:creationId xmlns:a16="http://schemas.microsoft.com/office/drawing/2014/main" id="{BB50F0A2-AA71-F744-8A32-914ADD8F78F3}"/>
              </a:ext>
            </a:extLst>
          </p:cNvPr>
          <p:cNvGrpSpPr/>
          <p:nvPr/>
        </p:nvGrpSpPr>
        <p:grpSpPr>
          <a:xfrm>
            <a:off x="2558100" y="2622400"/>
            <a:ext cx="7662765" cy="1717351"/>
            <a:chOff x="2031300" y="3373600"/>
            <a:chExt cx="6629400" cy="812800"/>
          </a:xfrm>
        </p:grpSpPr>
        <p:sp>
          <p:nvSpPr>
            <p:cNvPr id="7" name="Rectangle 6">
              <a:extLst>
                <a:ext uri="{FF2B5EF4-FFF2-40B4-BE49-F238E27FC236}">
                  <a16:creationId xmlns:a16="http://schemas.microsoft.com/office/drawing/2014/main" id="{3A97EBD9-7A07-BD48-A87B-42FC0C60B5F6}"/>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sp>
          <p:nvSpPr>
            <p:cNvPr id="9" name="Rectangle 8">
              <a:extLst>
                <a:ext uri="{FF2B5EF4-FFF2-40B4-BE49-F238E27FC236}">
                  <a16:creationId xmlns:a16="http://schemas.microsoft.com/office/drawing/2014/main" id="{4B00D7E9-D011-6F4F-93E3-9B17DFC18634}"/>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grpSp>
      <p:sp>
        <p:nvSpPr>
          <p:cNvPr id="11" name="Google Shape;282;g104476d1465_1_17">
            <a:extLst>
              <a:ext uri="{FF2B5EF4-FFF2-40B4-BE49-F238E27FC236}">
                <a16:creationId xmlns:a16="http://schemas.microsoft.com/office/drawing/2014/main" id="{1D80B3B1-A0AC-4E49-8B8A-BB2777B1A70C}"/>
              </a:ext>
            </a:extLst>
          </p:cNvPr>
          <p:cNvSpPr txBox="1"/>
          <p:nvPr/>
        </p:nvSpPr>
        <p:spPr>
          <a:xfrm>
            <a:off x="7314749" y="6433457"/>
            <a:ext cx="4131597"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259</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BD36131C-CFCF-B74B-8BE3-048E279F8B48}"/>
                  </a:ext>
                </a:extLst>
              </p:cNvPr>
              <p:cNvGraphicFramePr>
                <a:graphicFrameLocks noGrp="1"/>
              </p:cNvGraphicFramePr>
              <p:nvPr>
                <p:extLst>
                  <p:ext uri="{D42A27DB-BD31-4B8C-83A1-F6EECF244321}">
                    <p14:modId xmlns:p14="http://schemas.microsoft.com/office/powerpoint/2010/main" val="935939651"/>
                  </p:ext>
                </p:extLst>
              </p:nvPr>
            </p:nvGraphicFramePr>
            <p:xfrm>
              <a:off x="2695575" y="761549"/>
              <a:ext cx="6800850" cy="2096326"/>
            </p:xfrm>
            <a:graphic>
              <a:graphicData uri="http://schemas.openxmlformats.org/drawingml/2006/table">
                <a:tbl>
                  <a:tblPr firstRow="1" firstCol="1" bandRow="1">
                    <a:tableStyleId>{A91F0D33-8C57-4600-99A7-42BC86742BE1}</a:tableStyleId>
                  </a:tblPr>
                  <a:tblGrid>
                    <a:gridCol w="3028950">
                      <a:extLst>
                        <a:ext uri="{9D8B030D-6E8A-4147-A177-3AD203B41FA5}">
                          <a16:colId xmlns:a16="http://schemas.microsoft.com/office/drawing/2014/main" val="300196801"/>
                        </a:ext>
                      </a:extLst>
                    </a:gridCol>
                    <a:gridCol w="324485">
                      <a:extLst>
                        <a:ext uri="{9D8B030D-6E8A-4147-A177-3AD203B41FA5}">
                          <a16:colId xmlns:a16="http://schemas.microsoft.com/office/drawing/2014/main" val="4154922805"/>
                        </a:ext>
                      </a:extLst>
                    </a:gridCol>
                    <a:gridCol w="3447415">
                      <a:extLst>
                        <a:ext uri="{9D8B030D-6E8A-4147-A177-3AD203B41FA5}">
                          <a16:colId xmlns:a16="http://schemas.microsoft.com/office/drawing/2014/main" val="2496061782"/>
                        </a:ext>
                      </a:extLst>
                    </a:gridCol>
                  </a:tblGrid>
                  <a:tr h="0">
                    <a:tc gridSpan="3">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U.S. Customary System to Metric System</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hMerge="1">
                      <a:txBody>
                        <a:bodyPr/>
                        <a:lstStyle/>
                        <a:p>
                          <a:endParaRPr lang="en-CO"/>
                        </a:p>
                      </a:txBody>
                      <a:tcPr/>
                    </a:tc>
                    <a:tc hMerge="1">
                      <a:txBody>
                        <a:bodyPr/>
                        <a:lstStyle/>
                        <a:p>
                          <a:endParaRPr lang="en-CO"/>
                        </a:p>
                      </a:txBody>
                      <a:tcPr/>
                    </a:tc>
                    <a:extLst>
                      <a:ext uri="{0D108BD9-81ED-4DB2-BD59-A6C34878D82A}">
                        <a16:rowId xmlns:a16="http://schemas.microsoft.com/office/drawing/2014/main" val="3599553553"/>
                      </a:ext>
                    </a:extLst>
                  </a:tr>
                  <a:tr h="365760">
                    <a:tc>
                      <a:txBody>
                        <a:bodyPr/>
                        <a:lstStyle/>
                        <a:p>
                          <a:pPr marL="613410" marR="0" algn="r">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1</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fluid ounce (</a:t>
                          </a:r>
                          <a:r>
                            <a:rPr lang="en-US" sz="1800" dirty="0" err="1">
                              <a:effectLst/>
                              <a:latin typeface="Verdana" panose="020B0604030504040204" pitchFamily="34" charset="0"/>
                              <a:ea typeface="Verdana" panose="020B0604030504040204" pitchFamily="34" charset="0"/>
                              <a:cs typeface="Verdana" panose="020B0604030504040204" pitchFamily="34" charset="0"/>
                            </a:rPr>
                            <a:t>fl</a:t>
                          </a:r>
                          <a:r>
                            <a:rPr lang="en-US" sz="1800" dirty="0">
                              <a:effectLst/>
                              <a:latin typeface="Verdana" panose="020B0604030504040204" pitchFamily="34" charset="0"/>
                              <a:ea typeface="Verdana" panose="020B0604030504040204" pitchFamily="34" charset="0"/>
                              <a:cs typeface="Verdana" panose="020B0604030504040204" pitchFamily="34" charset="0"/>
                            </a:rPr>
                            <a:t> oz)</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28.413</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milliliters (mL)</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068874827"/>
                      </a:ext>
                    </a:extLst>
                  </a:tr>
                  <a:tr h="365760">
                    <a:tc>
                      <a:txBody>
                        <a:bodyPr/>
                        <a:lstStyle/>
                        <a:p>
                          <a:pPr marL="613410" marR="0" algn="r">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1</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cup (c)</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236.588</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milliliters (mL)</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384024974"/>
                      </a:ext>
                    </a:extLst>
                  </a:tr>
                  <a:tr h="365760">
                    <a:tc>
                      <a:txBody>
                        <a:bodyPr/>
                        <a:lstStyle/>
                        <a:p>
                          <a:pPr marL="613410" marR="0" algn="r">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1</m:t>
                              </m:r>
                            </m:oMath>
                          </a14:m>
                          <a:r>
                            <a:rPr lang="en-US" sz="1800">
                              <a:effectLst/>
                              <a:latin typeface="Verdana" panose="020B0604030504040204" pitchFamily="34" charset="0"/>
                              <a:ea typeface="Verdana" panose="020B0604030504040204" pitchFamily="34" charset="0"/>
                              <a:cs typeface="Verdana" panose="020B0604030504040204" pitchFamily="34" charset="0"/>
                            </a:rPr>
                            <a:t> fluid ounce (fl oz)</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0.030</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liters (L)</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656200080"/>
                      </a:ext>
                    </a:extLst>
                  </a:tr>
                  <a:tr h="365760">
                    <a:tc>
                      <a:txBody>
                        <a:bodyPr/>
                        <a:lstStyle/>
                        <a:p>
                          <a:pPr marL="613410" marR="0" algn="r">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1</m:t>
                              </m:r>
                            </m:oMath>
                          </a14:m>
                          <a:r>
                            <a:rPr lang="en-US" sz="1800">
                              <a:effectLst/>
                              <a:latin typeface="Verdana" panose="020B0604030504040204" pitchFamily="34" charset="0"/>
                              <a:ea typeface="Verdana" panose="020B0604030504040204" pitchFamily="34" charset="0"/>
                              <a:cs typeface="Verdana" panose="020B0604030504040204" pitchFamily="34" charset="0"/>
                            </a:rPr>
                            <a:t> quart (qt)</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0.946</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liters (L)</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870895494"/>
                      </a:ext>
                    </a:extLst>
                  </a:tr>
                  <a:tr h="365760">
                    <a:tc>
                      <a:txBody>
                        <a:bodyPr/>
                        <a:lstStyle/>
                        <a:p>
                          <a:pPr marL="613410" marR="0" algn="r">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____</m:t>
                              </m:r>
                            </m:oMath>
                          </a14:m>
                          <a:r>
                            <a:rPr lang="en-US" sz="1800">
                              <a:effectLst/>
                              <a:latin typeface="Verdana" panose="020B0604030504040204" pitchFamily="34" charset="0"/>
                              <a:ea typeface="Verdana" panose="020B0604030504040204" pitchFamily="34" charset="0"/>
                              <a:cs typeface="Verdana" panose="020B0604030504040204" pitchFamily="34" charset="0"/>
                            </a:rPr>
                            <a:t> gallon (gal)</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_______</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liters (L)</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41829295"/>
                      </a:ext>
                    </a:extLst>
                  </a:tr>
                </a:tbl>
              </a:graphicData>
            </a:graphic>
          </p:graphicFrame>
        </mc:Choice>
        <mc:Fallback xmlns="">
          <p:graphicFrame>
            <p:nvGraphicFramePr>
              <p:cNvPr id="2" name="Table 1">
                <a:extLst>
                  <a:ext uri="{FF2B5EF4-FFF2-40B4-BE49-F238E27FC236}">
                    <a16:creationId xmlns:a16="http://schemas.microsoft.com/office/drawing/2014/main" id="{BD36131C-CFCF-B74B-8BE3-048E279F8B48}"/>
                  </a:ext>
                </a:extLst>
              </p:cNvPr>
              <p:cNvGraphicFramePr>
                <a:graphicFrameLocks noGrp="1"/>
              </p:cNvGraphicFramePr>
              <p:nvPr>
                <p:extLst>
                  <p:ext uri="{D42A27DB-BD31-4B8C-83A1-F6EECF244321}">
                    <p14:modId xmlns:p14="http://schemas.microsoft.com/office/powerpoint/2010/main" val="935939651"/>
                  </p:ext>
                </p:extLst>
              </p:nvPr>
            </p:nvGraphicFramePr>
            <p:xfrm>
              <a:off x="2695575" y="761549"/>
              <a:ext cx="6800850" cy="2096326"/>
            </p:xfrm>
            <a:graphic>
              <a:graphicData uri="http://schemas.openxmlformats.org/drawingml/2006/table">
                <a:tbl>
                  <a:tblPr firstRow="1" firstCol="1" bandRow="1">
                    <a:tableStyleId>{A91F0D33-8C57-4600-99A7-42BC86742BE1}</a:tableStyleId>
                  </a:tblPr>
                  <a:tblGrid>
                    <a:gridCol w="3028950">
                      <a:extLst>
                        <a:ext uri="{9D8B030D-6E8A-4147-A177-3AD203B41FA5}">
                          <a16:colId xmlns:a16="http://schemas.microsoft.com/office/drawing/2014/main" val="300196801"/>
                        </a:ext>
                      </a:extLst>
                    </a:gridCol>
                    <a:gridCol w="324485">
                      <a:extLst>
                        <a:ext uri="{9D8B030D-6E8A-4147-A177-3AD203B41FA5}">
                          <a16:colId xmlns:a16="http://schemas.microsoft.com/office/drawing/2014/main" val="4154922805"/>
                        </a:ext>
                      </a:extLst>
                    </a:gridCol>
                    <a:gridCol w="3447415">
                      <a:extLst>
                        <a:ext uri="{9D8B030D-6E8A-4147-A177-3AD203B41FA5}">
                          <a16:colId xmlns:a16="http://schemas.microsoft.com/office/drawing/2014/main" val="2496061782"/>
                        </a:ext>
                      </a:extLst>
                    </a:gridCol>
                  </a:tblGrid>
                  <a:tr h="267526">
                    <a:tc gridSpan="3">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U.S. Customary System to Metric System</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hMerge="1">
                      <a:txBody>
                        <a:bodyPr/>
                        <a:lstStyle/>
                        <a:p>
                          <a:endParaRPr lang="en-CO"/>
                        </a:p>
                      </a:txBody>
                      <a:tcPr/>
                    </a:tc>
                    <a:tc hMerge="1">
                      <a:txBody>
                        <a:bodyPr/>
                        <a:lstStyle/>
                        <a:p>
                          <a:endParaRPr lang="en-CO"/>
                        </a:p>
                      </a:txBody>
                      <a:tcPr/>
                    </a:tc>
                    <a:extLst>
                      <a:ext uri="{0D108BD9-81ED-4DB2-BD59-A6C34878D82A}">
                        <a16:rowId xmlns:a16="http://schemas.microsoft.com/office/drawing/2014/main" val="3599553553"/>
                      </a:ext>
                    </a:extLst>
                  </a:tr>
                  <a:tr h="36576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201" t="-95000" r="-124950" b="-426667"/>
                          </a:stretch>
                        </a:blipFill>
                      </a:tcPr>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97350" t="-95000" r="-353" b="-426667"/>
                          </a:stretch>
                        </a:blipFill>
                      </a:tcPr>
                    </a:tc>
                    <a:extLst>
                      <a:ext uri="{0D108BD9-81ED-4DB2-BD59-A6C34878D82A}">
                        <a16:rowId xmlns:a16="http://schemas.microsoft.com/office/drawing/2014/main" val="2068874827"/>
                      </a:ext>
                    </a:extLst>
                  </a:tr>
                  <a:tr h="36576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201" t="-195000" r="-124950" b="-326667"/>
                          </a:stretch>
                        </a:blipFill>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97350" t="-195000" r="-353" b="-326667"/>
                          </a:stretch>
                        </a:blipFill>
                      </a:tcPr>
                    </a:tc>
                    <a:extLst>
                      <a:ext uri="{0D108BD9-81ED-4DB2-BD59-A6C34878D82A}">
                        <a16:rowId xmlns:a16="http://schemas.microsoft.com/office/drawing/2014/main" val="1384024974"/>
                      </a:ext>
                    </a:extLst>
                  </a:tr>
                  <a:tr h="36576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201" t="-290164" r="-124950" b="-221311"/>
                          </a:stretch>
                        </a:blipFill>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97350" t="-290164" r="-353" b="-221311"/>
                          </a:stretch>
                        </a:blipFill>
                      </a:tcPr>
                    </a:tc>
                    <a:extLst>
                      <a:ext uri="{0D108BD9-81ED-4DB2-BD59-A6C34878D82A}">
                        <a16:rowId xmlns:a16="http://schemas.microsoft.com/office/drawing/2014/main" val="2656200080"/>
                      </a:ext>
                    </a:extLst>
                  </a:tr>
                  <a:tr h="36576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201" t="-396667" r="-124950" b="-125000"/>
                          </a:stretch>
                        </a:blipFill>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97350" t="-396667" r="-353" b="-125000"/>
                          </a:stretch>
                        </a:blipFill>
                      </a:tcPr>
                    </a:tc>
                    <a:extLst>
                      <a:ext uri="{0D108BD9-81ED-4DB2-BD59-A6C34878D82A}">
                        <a16:rowId xmlns:a16="http://schemas.microsoft.com/office/drawing/2014/main" val="1870895494"/>
                      </a:ext>
                    </a:extLst>
                  </a:tr>
                  <a:tr h="36576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201" t="-496667" r="-124950" b="-25000"/>
                          </a:stretch>
                        </a:blipFill>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97350" t="-496667" r="-353" b="-25000"/>
                          </a:stretch>
                        </a:blipFill>
                      </a:tcPr>
                    </a:tc>
                    <a:extLst>
                      <a:ext uri="{0D108BD9-81ED-4DB2-BD59-A6C34878D82A}">
                        <a16:rowId xmlns:a16="http://schemas.microsoft.com/office/drawing/2014/main" val="84182929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69C21308-1E4F-B349-B0EB-6F9393F76E7C}"/>
                  </a:ext>
                </a:extLst>
              </p:cNvPr>
              <p:cNvGraphicFramePr>
                <a:graphicFrameLocks noGrp="1"/>
              </p:cNvGraphicFramePr>
              <p:nvPr>
                <p:extLst>
                  <p:ext uri="{D42A27DB-BD31-4B8C-83A1-F6EECF244321}">
                    <p14:modId xmlns:p14="http://schemas.microsoft.com/office/powerpoint/2010/main" val="544089885"/>
                  </p:ext>
                </p:extLst>
              </p:nvPr>
            </p:nvGraphicFramePr>
            <p:xfrm>
              <a:off x="2695575" y="3481074"/>
              <a:ext cx="6800850" cy="2096326"/>
            </p:xfrm>
            <a:graphic>
              <a:graphicData uri="http://schemas.openxmlformats.org/drawingml/2006/table">
                <a:tbl>
                  <a:tblPr firstRow="1" firstCol="1" bandRow="1">
                    <a:tableStyleId>{A91F0D33-8C57-4600-99A7-42BC86742BE1}</a:tableStyleId>
                  </a:tblPr>
                  <a:tblGrid>
                    <a:gridCol w="3028950">
                      <a:extLst>
                        <a:ext uri="{9D8B030D-6E8A-4147-A177-3AD203B41FA5}">
                          <a16:colId xmlns:a16="http://schemas.microsoft.com/office/drawing/2014/main" val="830115356"/>
                        </a:ext>
                      </a:extLst>
                    </a:gridCol>
                    <a:gridCol w="235585">
                      <a:extLst>
                        <a:ext uri="{9D8B030D-6E8A-4147-A177-3AD203B41FA5}">
                          <a16:colId xmlns:a16="http://schemas.microsoft.com/office/drawing/2014/main" val="1948700511"/>
                        </a:ext>
                      </a:extLst>
                    </a:gridCol>
                    <a:gridCol w="3536315">
                      <a:extLst>
                        <a:ext uri="{9D8B030D-6E8A-4147-A177-3AD203B41FA5}">
                          <a16:colId xmlns:a16="http://schemas.microsoft.com/office/drawing/2014/main" val="707968147"/>
                        </a:ext>
                      </a:extLst>
                    </a:gridCol>
                  </a:tblGrid>
                  <a:tr h="0">
                    <a:tc gridSpan="3">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Metric System to U.S. Customary System</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hMerge="1">
                      <a:txBody>
                        <a:bodyPr/>
                        <a:lstStyle/>
                        <a:p>
                          <a:endParaRPr lang="en-CO"/>
                        </a:p>
                      </a:txBody>
                      <a:tcPr/>
                    </a:tc>
                    <a:tc hMerge="1">
                      <a:txBody>
                        <a:bodyPr/>
                        <a:lstStyle/>
                        <a:p>
                          <a:endParaRPr lang="en-CO"/>
                        </a:p>
                      </a:txBody>
                      <a:tcPr/>
                    </a:tc>
                    <a:extLst>
                      <a:ext uri="{0D108BD9-81ED-4DB2-BD59-A6C34878D82A}">
                        <a16:rowId xmlns:a16="http://schemas.microsoft.com/office/drawing/2014/main" val="1583896837"/>
                      </a:ext>
                    </a:extLst>
                  </a:tr>
                  <a:tr h="365760">
                    <a:tc>
                      <a:txBody>
                        <a:bodyPr/>
                        <a:lstStyle/>
                        <a:p>
                          <a:pPr marL="1070610" marR="0" algn="r">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1</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milliliter (mL)</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0.034</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fluid ounces (</a:t>
                          </a:r>
                          <a:r>
                            <a:rPr lang="en-US" sz="1800" dirty="0" err="1">
                              <a:effectLst/>
                              <a:latin typeface="Verdana" panose="020B0604030504040204" pitchFamily="34" charset="0"/>
                              <a:ea typeface="Verdana" panose="020B0604030504040204" pitchFamily="34" charset="0"/>
                              <a:cs typeface="Verdana" panose="020B0604030504040204" pitchFamily="34" charset="0"/>
                            </a:rPr>
                            <a:t>fl</a:t>
                          </a:r>
                          <a:r>
                            <a:rPr lang="en-US" sz="1800" dirty="0">
                              <a:effectLst/>
                              <a:latin typeface="Verdana" panose="020B0604030504040204" pitchFamily="34" charset="0"/>
                              <a:ea typeface="Verdana" panose="020B0604030504040204" pitchFamily="34" charset="0"/>
                              <a:cs typeface="Verdana" panose="020B0604030504040204" pitchFamily="34" charset="0"/>
                            </a:rPr>
                            <a:t> oz)</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089502388"/>
                      </a:ext>
                    </a:extLst>
                  </a:tr>
                  <a:tr h="365760">
                    <a:tc>
                      <a:txBody>
                        <a:bodyPr/>
                        <a:lstStyle/>
                        <a:p>
                          <a:pPr marL="1070610" marR="0" algn="r">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1</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milliliter (mL)</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0.004</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cups (c)</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528923519"/>
                      </a:ext>
                    </a:extLst>
                  </a:tr>
                  <a:tr h="365760">
                    <a:tc>
                      <a:txBody>
                        <a:bodyPr/>
                        <a:lstStyle/>
                        <a:p>
                          <a:pPr marL="1070610" marR="0" algn="r">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1</m:t>
                              </m:r>
                            </m:oMath>
                          </a14:m>
                          <a:r>
                            <a:rPr lang="en-US" sz="1800">
                              <a:effectLst/>
                              <a:latin typeface="Verdana" panose="020B0604030504040204" pitchFamily="34" charset="0"/>
                              <a:ea typeface="Verdana" panose="020B0604030504040204" pitchFamily="34" charset="0"/>
                              <a:cs typeface="Verdana" panose="020B0604030504040204" pitchFamily="34" charset="0"/>
                            </a:rPr>
                            <a:t> liter (L)</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33.814</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fluid ounces (</a:t>
                          </a:r>
                          <a:r>
                            <a:rPr lang="en-US" sz="1800" dirty="0" err="1">
                              <a:effectLst/>
                              <a:latin typeface="Verdana" panose="020B0604030504040204" pitchFamily="34" charset="0"/>
                              <a:ea typeface="Verdana" panose="020B0604030504040204" pitchFamily="34" charset="0"/>
                              <a:cs typeface="Verdana" panose="020B0604030504040204" pitchFamily="34" charset="0"/>
                            </a:rPr>
                            <a:t>fl</a:t>
                          </a:r>
                          <a:r>
                            <a:rPr lang="en-US" sz="1800" dirty="0">
                              <a:effectLst/>
                              <a:latin typeface="Verdana" panose="020B0604030504040204" pitchFamily="34" charset="0"/>
                              <a:ea typeface="Verdana" panose="020B0604030504040204" pitchFamily="34" charset="0"/>
                              <a:cs typeface="Verdana" panose="020B0604030504040204" pitchFamily="34" charset="0"/>
                            </a:rPr>
                            <a:t> oz)</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944203193"/>
                      </a:ext>
                    </a:extLst>
                  </a:tr>
                  <a:tr h="365760">
                    <a:tc>
                      <a:txBody>
                        <a:bodyPr/>
                        <a:lstStyle/>
                        <a:p>
                          <a:pPr marL="1070610" marR="0" algn="r">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1</m:t>
                              </m:r>
                            </m:oMath>
                          </a14:m>
                          <a:r>
                            <a:rPr lang="en-US" sz="1800">
                              <a:effectLst/>
                              <a:latin typeface="Verdana" panose="020B0604030504040204" pitchFamily="34" charset="0"/>
                              <a:ea typeface="Verdana" panose="020B0604030504040204" pitchFamily="34" charset="0"/>
                              <a:cs typeface="Verdana" panose="020B0604030504040204" pitchFamily="34" charset="0"/>
                            </a:rPr>
                            <a:t> liter (L)</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1.057</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quarts (qt)</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4276409017"/>
                      </a:ext>
                    </a:extLst>
                  </a:tr>
                  <a:tr h="365760">
                    <a:tc>
                      <a:txBody>
                        <a:bodyPr/>
                        <a:lstStyle/>
                        <a:p>
                          <a:pPr marL="1070610" marR="0" algn="r">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____</m:t>
                              </m:r>
                            </m:oMath>
                          </a14:m>
                          <a:r>
                            <a:rPr lang="en-US" sz="1800">
                              <a:effectLst/>
                              <a:latin typeface="Verdana" panose="020B0604030504040204" pitchFamily="34" charset="0"/>
                              <a:ea typeface="Verdana" panose="020B0604030504040204" pitchFamily="34" charset="0"/>
                              <a:cs typeface="Verdana" panose="020B0604030504040204" pitchFamily="34" charset="0"/>
                            </a:rPr>
                            <a:t> liter (L)</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07000"/>
                            </a:lnSpc>
                            <a:spcBef>
                              <a:spcPts val="0"/>
                            </a:spcBef>
                            <a:spcAft>
                              <a:spcPts val="0"/>
                            </a:spcAft>
                          </a:pPr>
                          <a14:m>
                            <m:oMath xmlns:m="http://schemas.openxmlformats.org/officeDocument/2006/math">
                              <m:r>
                                <a:rPr lang="en-US" sz="1800">
                                  <a:effectLst/>
                                  <a:latin typeface="Cambria Math" panose="02040503050406030204" pitchFamily="18" charset="0"/>
                                </a:rPr>
                                <m:t>________</m:t>
                              </m:r>
                            </m:oMath>
                          </a14:m>
                          <a:r>
                            <a:rPr lang="en-US" sz="1800" dirty="0">
                              <a:effectLst/>
                              <a:latin typeface="Verdana" panose="020B0604030504040204" pitchFamily="34" charset="0"/>
                              <a:ea typeface="Verdana" panose="020B0604030504040204" pitchFamily="34" charset="0"/>
                              <a:cs typeface="Verdana" panose="020B0604030504040204" pitchFamily="34" charset="0"/>
                            </a:rPr>
                            <a:t> gallons (gal)</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36943399"/>
                      </a:ext>
                    </a:extLst>
                  </a:tr>
                </a:tbl>
              </a:graphicData>
            </a:graphic>
          </p:graphicFrame>
        </mc:Choice>
        <mc:Fallback xmlns="">
          <p:graphicFrame>
            <p:nvGraphicFramePr>
              <p:cNvPr id="4" name="Table 3">
                <a:extLst>
                  <a:ext uri="{FF2B5EF4-FFF2-40B4-BE49-F238E27FC236}">
                    <a16:creationId xmlns:a16="http://schemas.microsoft.com/office/drawing/2014/main" id="{69C21308-1E4F-B349-B0EB-6F9393F76E7C}"/>
                  </a:ext>
                </a:extLst>
              </p:cNvPr>
              <p:cNvGraphicFramePr>
                <a:graphicFrameLocks noGrp="1"/>
              </p:cNvGraphicFramePr>
              <p:nvPr>
                <p:extLst>
                  <p:ext uri="{D42A27DB-BD31-4B8C-83A1-F6EECF244321}">
                    <p14:modId xmlns:p14="http://schemas.microsoft.com/office/powerpoint/2010/main" val="544089885"/>
                  </p:ext>
                </p:extLst>
              </p:nvPr>
            </p:nvGraphicFramePr>
            <p:xfrm>
              <a:off x="2695575" y="3481074"/>
              <a:ext cx="6800850" cy="2096326"/>
            </p:xfrm>
            <a:graphic>
              <a:graphicData uri="http://schemas.openxmlformats.org/drawingml/2006/table">
                <a:tbl>
                  <a:tblPr firstRow="1" firstCol="1" bandRow="1">
                    <a:tableStyleId>{A91F0D33-8C57-4600-99A7-42BC86742BE1}</a:tableStyleId>
                  </a:tblPr>
                  <a:tblGrid>
                    <a:gridCol w="3028950">
                      <a:extLst>
                        <a:ext uri="{9D8B030D-6E8A-4147-A177-3AD203B41FA5}">
                          <a16:colId xmlns:a16="http://schemas.microsoft.com/office/drawing/2014/main" val="830115356"/>
                        </a:ext>
                      </a:extLst>
                    </a:gridCol>
                    <a:gridCol w="235585">
                      <a:extLst>
                        <a:ext uri="{9D8B030D-6E8A-4147-A177-3AD203B41FA5}">
                          <a16:colId xmlns:a16="http://schemas.microsoft.com/office/drawing/2014/main" val="1948700511"/>
                        </a:ext>
                      </a:extLst>
                    </a:gridCol>
                    <a:gridCol w="3536315">
                      <a:extLst>
                        <a:ext uri="{9D8B030D-6E8A-4147-A177-3AD203B41FA5}">
                          <a16:colId xmlns:a16="http://schemas.microsoft.com/office/drawing/2014/main" val="707968147"/>
                        </a:ext>
                      </a:extLst>
                    </a:gridCol>
                  </a:tblGrid>
                  <a:tr h="267526">
                    <a:tc gridSpan="3">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Metric System to U.S. Customary System</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hMerge="1">
                      <a:txBody>
                        <a:bodyPr/>
                        <a:lstStyle/>
                        <a:p>
                          <a:endParaRPr lang="en-CO"/>
                        </a:p>
                      </a:txBody>
                      <a:tcPr/>
                    </a:tc>
                    <a:tc hMerge="1">
                      <a:txBody>
                        <a:bodyPr/>
                        <a:lstStyle/>
                        <a:p>
                          <a:endParaRPr lang="en-CO"/>
                        </a:p>
                      </a:txBody>
                      <a:tcPr/>
                    </a:tc>
                    <a:extLst>
                      <a:ext uri="{0D108BD9-81ED-4DB2-BD59-A6C34878D82A}">
                        <a16:rowId xmlns:a16="http://schemas.microsoft.com/office/drawing/2014/main" val="1583896837"/>
                      </a:ext>
                    </a:extLst>
                  </a:tr>
                  <a:tr h="36576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201" t="-96667" r="-124950" b="-425000"/>
                          </a:stretch>
                        </a:blipFill>
                      </a:tcPr>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92586" t="-96667" r="-345" b="-425000"/>
                          </a:stretch>
                        </a:blipFill>
                      </a:tcPr>
                    </a:tc>
                    <a:extLst>
                      <a:ext uri="{0D108BD9-81ED-4DB2-BD59-A6C34878D82A}">
                        <a16:rowId xmlns:a16="http://schemas.microsoft.com/office/drawing/2014/main" val="2089502388"/>
                      </a:ext>
                    </a:extLst>
                  </a:tr>
                  <a:tr h="36576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201" t="-196667" r="-124950" b="-325000"/>
                          </a:stretch>
                        </a:blipFill>
                      </a:tcPr>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92586" t="-196667" r="-345" b="-325000"/>
                          </a:stretch>
                        </a:blipFill>
                      </a:tcPr>
                    </a:tc>
                    <a:extLst>
                      <a:ext uri="{0D108BD9-81ED-4DB2-BD59-A6C34878D82A}">
                        <a16:rowId xmlns:a16="http://schemas.microsoft.com/office/drawing/2014/main" val="1528923519"/>
                      </a:ext>
                    </a:extLst>
                  </a:tr>
                  <a:tr h="36576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201" t="-296667" r="-124950" b="-225000"/>
                          </a:stretch>
                        </a:blipFill>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92586" t="-296667" r="-345" b="-225000"/>
                          </a:stretch>
                        </a:blipFill>
                      </a:tcPr>
                    </a:tc>
                    <a:extLst>
                      <a:ext uri="{0D108BD9-81ED-4DB2-BD59-A6C34878D82A}">
                        <a16:rowId xmlns:a16="http://schemas.microsoft.com/office/drawing/2014/main" val="2944203193"/>
                      </a:ext>
                    </a:extLst>
                  </a:tr>
                  <a:tr h="36576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201" t="-396667" r="-124950" b="-125000"/>
                          </a:stretch>
                        </a:blipFill>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92586" t="-396667" r="-345" b="-125000"/>
                          </a:stretch>
                        </a:blipFill>
                      </a:tcPr>
                    </a:tc>
                    <a:extLst>
                      <a:ext uri="{0D108BD9-81ED-4DB2-BD59-A6C34878D82A}">
                        <a16:rowId xmlns:a16="http://schemas.microsoft.com/office/drawing/2014/main" val="4276409017"/>
                      </a:ext>
                    </a:extLst>
                  </a:tr>
                  <a:tr h="36576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201" t="-496667" r="-124950" b="-25000"/>
                          </a:stretch>
                        </a:blipFill>
                      </a:tcPr>
                    </a:tc>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92586" t="-496667" r="-345" b="-25000"/>
                          </a:stretch>
                        </a:blipFill>
                      </a:tcPr>
                    </a:tc>
                    <a:extLst>
                      <a:ext uri="{0D108BD9-81ED-4DB2-BD59-A6C34878D82A}">
                        <a16:rowId xmlns:a16="http://schemas.microsoft.com/office/drawing/2014/main" val="2736943399"/>
                      </a:ext>
                    </a:extLst>
                  </a:tr>
                </a:tbl>
              </a:graphicData>
            </a:graphic>
          </p:graphicFrame>
        </mc:Fallback>
      </mc:AlternateContent>
    </p:spTree>
    <p:extLst>
      <p:ext uri="{BB962C8B-B14F-4D97-AF65-F5344CB8AC3E}">
        <p14:creationId xmlns:p14="http://schemas.microsoft.com/office/powerpoint/2010/main" val="21709031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11661" y="6129037"/>
            <a:ext cx="563850" cy="657276"/>
          </a:xfrm>
          <a:prstGeom prst="rect">
            <a:avLst/>
          </a:prstGeom>
          <a:noFill/>
          <a:ln>
            <a:noFill/>
          </a:ln>
          <a:effectLst>
            <a:outerShdw blurRad="57150" dist="19050" dir="5400000" algn="bl" rotWithShape="0">
              <a:srgbClr val="000000">
                <a:alpha val="50000"/>
              </a:srgbClr>
            </a:outerShdw>
          </a:effectLst>
        </p:spPr>
      </p:pic>
      <p:grpSp>
        <p:nvGrpSpPr>
          <p:cNvPr id="6" name="Group 5">
            <a:extLst>
              <a:ext uri="{FF2B5EF4-FFF2-40B4-BE49-F238E27FC236}">
                <a16:creationId xmlns:a16="http://schemas.microsoft.com/office/drawing/2014/main" id="{BB50F0A2-AA71-F744-8A32-914ADD8F78F3}"/>
              </a:ext>
            </a:extLst>
          </p:cNvPr>
          <p:cNvGrpSpPr/>
          <p:nvPr/>
        </p:nvGrpSpPr>
        <p:grpSpPr>
          <a:xfrm>
            <a:off x="2558100" y="2622400"/>
            <a:ext cx="7662765" cy="1717351"/>
            <a:chOff x="2031300" y="3373600"/>
            <a:chExt cx="6629400" cy="812800"/>
          </a:xfrm>
        </p:grpSpPr>
        <p:sp>
          <p:nvSpPr>
            <p:cNvPr id="7" name="Rectangle 6">
              <a:extLst>
                <a:ext uri="{FF2B5EF4-FFF2-40B4-BE49-F238E27FC236}">
                  <a16:creationId xmlns:a16="http://schemas.microsoft.com/office/drawing/2014/main" id="{3A97EBD9-7A07-BD48-A87B-42FC0C60B5F6}"/>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sp>
          <p:nvSpPr>
            <p:cNvPr id="9" name="Rectangle 8">
              <a:extLst>
                <a:ext uri="{FF2B5EF4-FFF2-40B4-BE49-F238E27FC236}">
                  <a16:creationId xmlns:a16="http://schemas.microsoft.com/office/drawing/2014/main" id="{4B00D7E9-D011-6F4F-93E3-9B17DFC18634}"/>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grpSp>
      <p:sp>
        <p:nvSpPr>
          <p:cNvPr id="11" name="Google Shape;282;g104476d1465_1_17">
            <a:extLst>
              <a:ext uri="{FF2B5EF4-FFF2-40B4-BE49-F238E27FC236}">
                <a16:creationId xmlns:a16="http://schemas.microsoft.com/office/drawing/2014/main" id="{1D80B3B1-A0AC-4E49-8B8A-BB2777B1A70C}"/>
              </a:ext>
            </a:extLst>
          </p:cNvPr>
          <p:cNvSpPr txBox="1"/>
          <p:nvPr/>
        </p:nvSpPr>
        <p:spPr>
          <a:xfrm>
            <a:off x="7314749" y="6444343"/>
            <a:ext cx="4196911" cy="413532"/>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260</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12" name="Rectangle 11">
                <a:extLst>
                  <a:ext uri="{FF2B5EF4-FFF2-40B4-BE49-F238E27FC236}">
                    <a16:creationId xmlns:a16="http://schemas.microsoft.com/office/drawing/2014/main" id="{84B30E62-DBC7-A64B-9D39-DD94DF002123}"/>
                  </a:ext>
                </a:extLst>
              </p:cNvPr>
              <p:cNvSpPr/>
              <p:nvPr/>
            </p:nvSpPr>
            <p:spPr>
              <a:xfrm>
                <a:off x="629392" y="669338"/>
                <a:ext cx="10110143" cy="5262979"/>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Use the conversion rates to find each value below. Round to the nearest hundredth.</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240</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mL = ______ c</a:t>
                </a:r>
              </a:p>
              <a:p>
                <a:pPr marL="9144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100</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r>
                  <a:rPr lang="en-US" sz="2400" dirty="0" err="1">
                    <a:latin typeface="Verdana" panose="020B0604030504040204" pitchFamily="34" charset="0"/>
                    <a:ea typeface="Times New Roman" panose="02020603050405020304" pitchFamily="18" charset="0"/>
                    <a:cs typeface="Times New Roman" panose="02020603050405020304" pitchFamily="18" charset="0"/>
                  </a:rPr>
                  <a:t>fl</a:t>
                </a:r>
                <a:r>
                  <a:rPr lang="en-US" sz="2400" dirty="0">
                    <a:latin typeface="Verdana" panose="020B0604030504040204" pitchFamily="34" charset="0"/>
                    <a:ea typeface="Times New Roman" panose="02020603050405020304" pitchFamily="18" charset="0"/>
                    <a:cs typeface="Times New Roman" panose="02020603050405020304" pitchFamily="18" charset="0"/>
                  </a:rPr>
                  <a:t> oz = ______ L</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There are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100</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centiliters (</a:t>
                </a:r>
                <a:r>
                  <a:rPr lang="en-US" sz="2400" dirty="0" err="1">
                    <a:latin typeface="Verdana" panose="020B0604030504040204" pitchFamily="34" charset="0"/>
                    <a:ea typeface="Times New Roman" panose="02020603050405020304" pitchFamily="18" charset="0"/>
                    <a:cs typeface="Times New Roman" panose="02020603050405020304" pitchFamily="18" charset="0"/>
                  </a:rPr>
                  <a:t>cL</a:t>
                </a:r>
                <a:r>
                  <a:rPr lang="en-US" sz="2400" dirty="0">
                    <a:latin typeface="Verdana" panose="020B0604030504040204" pitchFamily="34" charset="0"/>
                    <a:ea typeface="Times New Roman" panose="02020603050405020304" pitchFamily="18" charset="0"/>
                    <a:cs typeface="Times New Roman" panose="02020603050405020304" pitchFamily="18" charset="0"/>
                  </a:rPr>
                  <a:t>) in a liter. How many centiliters are in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2.75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quarts?</a:t>
                </a:r>
              </a:p>
            </p:txBody>
          </p:sp>
        </mc:Choice>
        <mc:Fallback>
          <p:sp>
            <p:nvSpPr>
              <p:cNvPr id="12" name="Rectangle 11">
                <a:extLst>
                  <a:ext uri="{FF2B5EF4-FFF2-40B4-BE49-F238E27FC236}">
                    <a16:creationId xmlns:a16="http://schemas.microsoft.com/office/drawing/2014/main" id="{84B30E62-DBC7-A64B-9D39-DD94DF002123}"/>
                  </a:ext>
                </a:extLst>
              </p:cNvPr>
              <p:cNvSpPr>
                <a:spLocks noRot="1" noChangeAspect="1" noMove="1" noResize="1" noEditPoints="1" noAdjustHandles="1" noChangeArrowheads="1" noChangeShapeType="1" noTextEdit="1"/>
              </p:cNvSpPr>
              <p:nvPr/>
            </p:nvSpPr>
            <p:spPr>
              <a:xfrm>
                <a:off x="629392" y="669338"/>
                <a:ext cx="10110143" cy="5262979"/>
              </a:xfrm>
              <a:prstGeom prst="rect">
                <a:avLst/>
              </a:prstGeom>
              <a:blipFill>
                <a:blip r:embed="rId4"/>
                <a:stretch>
                  <a:fillRect l="-904" t="-927" b="-1622"/>
                </a:stretch>
              </a:blipFill>
            </p:spPr>
            <p:txBody>
              <a:bodyPr/>
              <a:lstStyle/>
              <a:p>
                <a:r>
                  <a:rPr lang="en-US">
                    <a:noFill/>
                  </a:rPr>
                  <a:t> </a:t>
                </a:r>
              </a:p>
            </p:txBody>
          </p:sp>
        </mc:Fallback>
      </mc:AlternateContent>
    </p:spTree>
    <p:extLst>
      <p:ext uri="{BB962C8B-B14F-4D97-AF65-F5344CB8AC3E}">
        <p14:creationId xmlns:p14="http://schemas.microsoft.com/office/powerpoint/2010/main" val="32989984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89890"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75808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7314750" y="6422571"/>
            <a:ext cx="417514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260</a:t>
            </a:r>
            <a:endParaRPr i="1" dirty="0">
              <a:latin typeface="Calibri"/>
              <a:ea typeface="Calibri"/>
              <a:cs typeface="Calibri"/>
              <a:sym typeface="Calibri"/>
            </a:endParaRPr>
          </a:p>
        </p:txBody>
      </p:sp>
      <p:pic>
        <p:nvPicPr>
          <p:cNvPr id="9" name="Picture 8" descr="Icon&#10;&#10;Description automatically generated">
            <a:extLst>
              <a:ext uri="{FF2B5EF4-FFF2-40B4-BE49-F238E27FC236}">
                <a16:creationId xmlns:a16="http://schemas.microsoft.com/office/drawing/2014/main" id="{8FED4147-1649-4C46-B175-82125D346C6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494713" y="2766146"/>
            <a:ext cx="1152447" cy="1152447"/>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0621070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8119"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64162" y="86982"/>
            <a:ext cx="10613484" cy="103775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6.5.5 Guided Instruction: Cubic Units of Volume</a:t>
            </a:r>
          </a:p>
        </p:txBody>
      </p:sp>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C0EEC4E3-DFCF-C94C-B80D-045F3E6BF764}"/>
                  </a:ext>
                </a:extLst>
              </p:cNvPr>
              <p:cNvSpPr/>
              <p:nvPr/>
            </p:nvSpPr>
            <p:spPr>
              <a:xfrm>
                <a:off x="629393" y="1468025"/>
                <a:ext cx="9740028" cy="3816429"/>
              </a:xfrm>
              <a:prstGeom prst="rect">
                <a:avLst/>
              </a:prstGeom>
            </p:spPr>
            <p:txBody>
              <a:bodyPr wrap="square">
                <a:spAutoFit/>
              </a:bodyPr>
              <a:lstStyle/>
              <a:p>
                <a:r>
                  <a:rPr lang="en-US" sz="2200" dirty="0">
                    <a:latin typeface="Verdana" panose="020B0604030504040204" pitchFamily="34" charset="0"/>
                    <a:ea typeface="Times New Roman" panose="02020603050405020304" pitchFamily="18" charset="0"/>
                    <a:cs typeface="Times New Roman" panose="02020603050405020304" pitchFamily="18" charset="0"/>
                  </a:rPr>
                  <a:t>Volume of solid figures is measured in cubic units. In some settings, liquid volume is also measured in cubic units. For instance, in many medical situations, medicines and other fluids are measured as cubic centimeters. </a:t>
                </a:r>
              </a:p>
              <a:p>
                <a:r>
                  <a:rPr lang="en-US" sz="2200" dirty="0">
                    <a:latin typeface="Verdana" panose="020B0604030504040204" pitchFamily="34" charset="0"/>
                    <a:ea typeface="Times New Roman" panose="02020603050405020304" pitchFamily="18" charset="0"/>
                    <a:cs typeface="Times New Roman" panose="02020603050405020304" pitchFamily="18" charset="0"/>
                  </a:rPr>
                  <a:t> </a:t>
                </a:r>
              </a:p>
              <a:p>
                <a:pPr algn="ctr"/>
                <a:r>
                  <a:rPr lang="en-US" sz="2200" dirty="0">
                    <a:latin typeface="Verdana" panose="020B0604030504040204" pitchFamily="34" charset="0"/>
                    <a:ea typeface="Times New Roman" panose="02020603050405020304" pitchFamily="18" charset="0"/>
                    <a:cs typeface="Times New Roman" panose="02020603050405020304" pitchFamily="18" charset="0"/>
                  </a:rPr>
                  <a:t>1 cubic centimeter = 1 milliliter</a:t>
                </a:r>
              </a:p>
              <a:p>
                <a:r>
                  <a:rPr lang="en-US" sz="22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a:pPr>
                <a:r>
                  <a:rPr lang="en-US" sz="2200" dirty="0">
                    <a:latin typeface="Verdana" panose="020B0604030504040204" pitchFamily="34" charset="0"/>
                    <a:ea typeface="Times New Roman" panose="02020603050405020304" pitchFamily="18" charset="0"/>
                    <a:cs typeface="Times New Roman" panose="02020603050405020304" pitchFamily="18" charset="0"/>
                  </a:rPr>
                  <a:t>Complete the equation. Show your work and round to the nearest hundredth.</a:t>
                </a:r>
              </a:p>
              <a:p>
                <a:r>
                  <a:rPr lang="en-US" sz="2200" dirty="0">
                    <a:latin typeface="Verdana" panose="020B0604030504040204" pitchFamily="34" charset="0"/>
                    <a:ea typeface="Times New Roman" panose="02020603050405020304" pitchFamily="18" charset="0"/>
                    <a:cs typeface="Times New Roman" panose="02020603050405020304" pitchFamily="18" charset="0"/>
                  </a:rPr>
                  <a:t> </a:t>
                </a:r>
              </a:p>
              <a:p>
                <a:pPr algn="ct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4.5</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a:t>
                </a:r>
                <a:r>
                  <a:rPr lang="en-US" sz="2200" dirty="0" err="1">
                    <a:latin typeface="Verdana" panose="020B0604030504040204" pitchFamily="34" charset="0"/>
                    <a:ea typeface="Times New Roman" panose="02020603050405020304" pitchFamily="18" charset="0"/>
                    <a:cs typeface="Times New Roman" panose="02020603050405020304" pitchFamily="18" charset="0"/>
                  </a:rPr>
                  <a:t>fl</a:t>
                </a:r>
                <a:r>
                  <a:rPr lang="en-US" sz="2200" dirty="0">
                    <a:latin typeface="Verdana" panose="020B0604030504040204" pitchFamily="34" charset="0"/>
                    <a:ea typeface="Times New Roman" panose="02020603050405020304" pitchFamily="18" charset="0"/>
                    <a:cs typeface="Times New Roman" panose="02020603050405020304" pitchFamily="18" charset="0"/>
                  </a:rPr>
                  <a:t> oz = ____ cubic centimeters </a:t>
                </a:r>
                <a14:m>
                  <m:oMath xmlns:m="http://schemas.openxmlformats.org/officeDocument/2006/math">
                    <m:d>
                      <m:dPr>
                        <m:ctrlPr>
                          <a:rPr lang="en-US" sz="2200" i="1" dirty="0">
                            <a:latin typeface="Cambria Math" panose="02040503050406030204" pitchFamily="18" charset="0"/>
                            <a:cs typeface="Times New Roman" panose="02020603050405020304" pitchFamily="18" charset="0"/>
                          </a:rPr>
                        </m:ctrlPr>
                      </m:dPr>
                      <m:e>
                        <m:sSup>
                          <m:sSupPr>
                            <m:ctrlPr>
                              <a:rPr lang="en-US" sz="2200" i="1" dirty="0">
                                <a:latin typeface="Cambria Math" panose="02040503050406030204" pitchFamily="18" charset="0"/>
                                <a:cs typeface="Times New Roman" panose="02020603050405020304" pitchFamily="18" charset="0"/>
                              </a:rPr>
                            </m:ctrlPr>
                          </m:sSupPr>
                          <m:e>
                            <m:r>
                              <a:rPr lang="es-ES" sz="2200" i="1" dirty="0">
                                <a:latin typeface="Cambria Math" panose="02040503050406030204" pitchFamily="18" charset="0"/>
                                <a:cs typeface="Times New Roman" panose="02020603050405020304" pitchFamily="18" charset="0"/>
                              </a:rPr>
                              <m:t>𝑐𝑚</m:t>
                            </m:r>
                          </m:e>
                          <m:sup>
                            <m:r>
                              <a:rPr lang="es-ES" sz="2200" i="1" dirty="0">
                                <a:latin typeface="Cambria Math" panose="02040503050406030204" pitchFamily="18" charset="0"/>
                                <a:cs typeface="Times New Roman" panose="02020603050405020304" pitchFamily="18" charset="0"/>
                              </a:rPr>
                              <m:t>3</m:t>
                            </m:r>
                          </m:sup>
                        </m:sSup>
                      </m:e>
                    </m:d>
                  </m:oMath>
                </a14:m>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p:sp>
            <p:nvSpPr>
              <p:cNvPr id="2" name="Rectangle 1">
                <a:extLst>
                  <a:ext uri="{FF2B5EF4-FFF2-40B4-BE49-F238E27FC236}">
                    <a16:creationId xmlns:a16="http://schemas.microsoft.com/office/drawing/2014/main" id="{C0EEC4E3-DFCF-C94C-B80D-045F3E6BF764}"/>
                  </a:ext>
                </a:extLst>
              </p:cNvPr>
              <p:cNvSpPr>
                <a:spLocks noRot="1" noChangeAspect="1" noMove="1" noResize="1" noEditPoints="1" noAdjustHandles="1" noChangeArrowheads="1" noChangeShapeType="1" noTextEdit="1"/>
              </p:cNvSpPr>
              <p:nvPr/>
            </p:nvSpPr>
            <p:spPr>
              <a:xfrm>
                <a:off x="629393" y="1468025"/>
                <a:ext cx="9740028" cy="3816429"/>
              </a:xfrm>
              <a:prstGeom prst="rect">
                <a:avLst/>
              </a:prstGeom>
              <a:blipFill>
                <a:blip r:embed="rId4"/>
                <a:stretch>
                  <a:fillRect l="-814" t="-958" b="-2236"/>
                </a:stretch>
              </a:blipFill>
            </p:spPr>
            <p:txBody>
              <a:bodyPr/>
              <a:lstStyle/>
              <a:p>
                <a:r>
                  <a:rPr lang="en-US">
                    <a:noFill/>
                  </a:rPr>
                  <a:t> </a:t>
                </a:r>
              </a:p>
            </p:txBody>
          </p:sp>
        </mc:Fallback>
      </mc:AlternateContent>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7314749" y="6466113"/>
            <a:ext cx="4153369"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260</a:t>
            </a:r>
            <a:endParaRPr i="1" dirty="0">
              <a:latin typeface="Calibri"/>
              <a:ea typeface="Calibri"/>
              <a:cs typeface="Calibri"/>
              <a:sym typeface="Calibri"/>
            </a:endParaRPr>
          </a:p>
        </p:txBody>
      </p:sp>
      <p:pic>
        <p:nvPicPr>
          <p:cNvPr id="11" name="Picture 10" descr="Icon&#10;&#10;Description automatically generated">
            <a:extLst>
              <a:ext uri="{FF2B5EF4-FFF2-40B4-BE49-F238E27FC236}">
                <a16:creationId xmlns:a16="http://schemas.microsoft.com/office/drawing/2014/main" id="{9D8A98E4-6AD2-FF49-A079-F1189B4EC77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14354" y="86982"/>
            <a:ext cx="749808" cy="749808"/>
          </a:xfrm>
          <a:prstGeom prst="rect">
            <a:avLst/>
          </a:prstGeom>
        </p:spPr>
      </p:pic>
    </p:spTree>
    <p:extLst>
      <p:ext uri="{BB962C8B-B14F-4D97-AF65-F5344CB8AC3E}">
        <p14:creationId xmlns:p14="http://schemas.microsoft.com/office/powerpoint/2010/main" val="13640290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8119" y="6129037"/>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C0EEC4E3-DFCF-C94C-B80D-045F3E6BF764}"/>
              </a:ext>
            </a:extLst>
          </p:cNvPr>
          <p:cNvSpPr/>
          <p:nvPr/>
        </p:nvSpPr>
        <p:spPr>
          <a:xfrm>
            <a:off x="617517" y="513870"/>
            <a:ext cx="9751904" cy="769441"/>
          </a:xfrm>
          <a:prstGeom prst="rect">
            <a:avLst/>
          </a:prstGeom>
        </p:spPr>
        <p:txBody>
          <a:bodyPr wrap="square">
            <a:spAutoFit/>
          </a:bodyPr>
          <a:lstStyle/>
          <a:p>
            <a:r>
              <a:rPr lang="en-US" sz="2200" dirty="0">
                <a:latin typeface="Verdana" panose="020B0604030504040204" pitchFamily="34" charset="0"/>
                <a:ea typeface="Times New Roman" panose="02020603050405020304" pitchFamily="18" charset="0"/>
                <a:cs typeface="Times New Roman" panose="02020603050405020304" pitchFamily="18" charset="0"/>
              </a:rPr>
              <a:t>For solid volume, the conversion rates can be determined using the conversion rates for length.</a:t>
            </a:r>
          </a:p>
        </p:txBody>
      </p:sp>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7314749" y="6509657"/>
            <a:ext cx="4153369"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260</a:t>
            </a:r>
            <a:endParaRPr i="1" dirty="0">
              <a:latin typeface="Calibri"/>
              <a:ea typeface="Calibri"/>
              <a:cs typeface="Calibri"/>
              <a:sym typeface="Calibri"/>
            </a:endParaRPr>
          </a:p>
        </p:txBody>
      </p:sp>
      <p:sp>
        <p:nvSpPr>
          <p:cNvPr id="8" name="Rectangle 7">
            <a:extLst>
              <a:ext uri="{FF2B5EF4-FFF2-40B4-BE49-F238E27FC236}">
                <a16:creationId xmlns:a16="http://schemas.microsoft.com/office/drawing/2014/main" id="{D9B2DAEC-6A88-854C-980F-71CF4EE74F22}"/>
              </a:ext>
            </a:extLst>
          </p:cNvPr>
          <p:cNvSpPr/>
          <p:nvPr/>
        </p:nvSpPr>
        <p:spPr>
          <a:xfrm>
            <a:off x="617517" y="1613799"/>
            <a:ext cx="6697231" cy="1446550"/>
          </a:xfrm>
          <a:prstGeom prst="rect">
            <a:avLst/>
          </a:prstGeom>
        </p:spPr>
        <p:txBody>
          <a:bodyPr wrap="square">
            <a:spAutoFit/>
          </a:bodyPr>
          <a:lstStyle/>
          <a:p>
            <a:r>
              <a:rPr lang="en-US" sz="2200" dirty="0">
                <a:latin typeface="Verdana" panose="020B0604030504040204" pitchFamily="34" charset="0"/>
                <a:ea typeface="Times New Roman" panose="02020603050405020304" pitchFamily="18" charset="0"/>
                <a:cs typeface="Times New Roman" panose="02020603050405020304" pitchFamily="18" charset="0"/>
              </a:rPr>
              <a:t>There are two ways to find the volume of a rectangular prism in cubic centimeters when the prism’s side measurements are given in inches.</a:t>
            </a:r>
          </a:p>
        </p:txBody>
      </p:sp>
      <p:grpSp>
        <p:nvGrpSpPr>
          <p:cNvPr id="9" name="Group 8">
            <a:extLst>
              <a:ext uri="{FF2B5EF4-FFF2-40B4-BE49-F238E27FC236}">
                <a16:creationId xmlns:a16="http://schemas.microsoft.com/office/drawing/2014/main" id="{8F539EDD-DC3E-4E47-AA46-109D3B387428}"/>
              </a:ext>
            </a:extLst>
          </p:cNvPr>
          <p:cNvGrpSpPr/>
          <p:nvPr/>
        </p:nvGrpSpPr>
        <p:grpSpPr>
          <a:xfrm>
            <a:off x="7584928" y="898590"/>
            <a:ext cx="3178810" cy="2437344"/>
            <a:chOff x="0" y="0"/>
            <a:chExt cx="3178810" cy="2437344"/>
          </a:xfrm>
        </p:grpSpPr>
        <mc:AlternateContent xmlns:mc="http://schemas.openxmlformats.org/markup-compatibility/2006">
          <mc:Choice xmlns:am3d="http://schemas.microsoft.com/office/drawing/2017/model3d" Requires="am3d">
            <p:graphicFrame>
              <p:nvGraphicFramePr>
                <p:cNvPr id="10" name="3D Model 9" descr="Cuboid">
                  <a:extLst>
                    <a:ext uri="{FF2B5EF4-FFF2-40B4-BE49-F238E27FC236}">
                      <a16:creationId xmlns:a16="http://schemas.microsoft.com/office/drawing/2014/main" id="{927D5BD7-7C36-C740-B042-623C6D3BC21A}"/>
                    </a:ext>
                  </a:extLst>
                </p:cNvPr>
                <p:cNvGraphicFramePr>
                  <a:graphicFrameLocks noChangeAspect="1"/>
                </p:cNvGraphicFramePr>
                <p:nvPr>
                  <p:extLst>
                    <p:ext uri="{D42A27DB-BD31-4B8C-83A1-F6EECF244321}">
                      <p14:modId xmlns:p14="http://schemas.microsoft.com/office/powerpoint/2010/main" val="1274622591"/>
                    </p:ext>
                  </p:extLst>
                </p:nvPr>
              </p:nvGraphicFramePr>
              <p:xfrm>
                <a:off x="0" y="0"/>
                <a:ext cx="3117214" cy="2437344"/>
              </p:xfrm>
              <a:graphic>
                <a:graphicData uri="http://schemas.microsoft.com/office/drawing/2017/model3d">
                  <am3d:model3d r:embed="rId4">
                    <am3d:spPr>
                      <a:xfrm>
                        <a:off x="0" y="0"/>
                        <a:ext cx="3117214" cy="2437344"/>
                      </a:xfrm>
                      <a:prstGeom prst="rect">
                        <a:avLst/>
                      </a:prstGeom>
                    </am3d:spPr>
                    <am3d:camera>
                      <am3d:pos x="0" y="0" z="57664451"/>
                      <am3d:up dx="0" dy="36000000" dz="0"/>
                      <am3d:lookAt x="0" y="0" z="0"/>
                      <am3d:perspective fov="2700000"/>
                    </am3d:camera>
                    <am3d:trans>
                      <am3d:meterPerModelUnit n="4361393" d="1000000"/>
                      <am3d:preTrans dx="0" dy="-6493603" dz="0"/>
                      <am3d:scale>
                        <am3d:sx n="1000000" d="1000000"/>
                        <am3d:sy n="1000000" d="1000000"/>
                        <am3d:sz n="1000000" d="1000000"/>
                      </am3d:scale>
                      <am3d:rot ax="1200000" ay="-1800000" az="-600000"/>
                      <am3d:postTrans dx="0" dy="0" dz="0"/>
                    </am3d:trans>
                    <am3d:raster rName="Office3DRenderer" rVer="16.0.8326">
                      <am3d:blip r:embed="rId5"/>
                    </am3d:raster>
                    <am3d:objViewport viewportSz="319876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0" name="3D Model 9" descr="Cuboid">
                  <a:extLst>
                    <a:ext uri="{FF2B5EF4-FFF2-40B4-BE49-F238E27FC236}">
                      <a16:creationId xmlns:a16="http://schemas.microsoft.com/office/drawing/2014/main" id="{927D5BD7-7C36-C740-B042-623C6D3BC21A}"/>
                    </a:ext>
                  </a:extLst>
                </p:cNvPr>
                <p:cNvPicPr>
                  <a:picLocks noGrp="1" noRot="1" noChangeAspect="1" noMove="1" noResize="1" noEditPoints="1" noAdjustHandles="1" noChangeArrowheads="1" noChangeShapeType="1" noCrop="1"/>
                </p:cNvPicPr>
                <p:nvPr/>
              </p:nvPicPr>
              <p:blipFill>
                <a:blip r:embed="rId5"/>
                <a:stretch>
                  <a:fillRect/>
                </a:stretch>
              </p:blipFill>
              <p:spPr>
                <a:xfrm>
                  <a:off x="7584928" y="898590"/>
                  <a:ext cx="3117214" cy="2437344"/>
                </a:xfrm>
                <a:prstGeom prst="rect">
                  <a:avLst/>
                </a:prstGeom>
              </p:spPr>
            </p:pic>
          </mc:Fallback>
        </mc:AlternateContent>
        <mc:AlternateContent xmlns:mc="http://schemas.openxmlformats.org/markup-compatibility/2006" xmlns:a14="http://schemas.microsoft.com/office/drawing/2010/main">
          <mc:Choice Requires="a14">
            <p:sp>
              <p:nvSpPr>
                <p:cNvPr id="12" name="Text Box 2">
                  <a:extLst>
                    <a:ext uri="{FF2B5EF4-FFF2-40B4-BE49-F238E27FC236}">
                      <a16:creationId xmlns:a16="http://schemas.microsoft.com/office/drawing/2014/main" id="{1F2928FC-39A9-E54C-9B34-3C4B17B905D8}"/>
                    </a:ext>
                  </a:extLst>
                </p:cNvPr>
                <p:cNvSpPr txBox="1">
                  <a:spLocks noChangeArrowheads="1"/>
                </p:cNvSpPr>
                <p:nvPr/>
              </p:nvSpPr>
              <p:spPr bwMode="auto">
                <a:xfrm>
                  <a:off x="468086" y="348343"/>
                  <a:ext cx="925195" cy="490855"/>
                </a:xfrm>
                <a:prstGeom prst="rect">
                  <a:avLst/>
                </a:prstGeom>
                <a:noFill/>
                <a:ln w="9525">
                  <a:noFill/>
                  <a:miter lim="800000"/>
                  <a:headEnd/>
                  <a:tailEnd/>
                </a:ln>
              </p:spPr>
              <p:txBody>
                <a:bodyPr rot="0" vert="horz" wrap="square" lIns="91440" tIns="45720" rIns="91440" bIns="45720" anchor="t" anchorCtr="0">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Cambria Math" panose="02040503050406030204" pitchFamily="18" charset="0"/>
                            <a:cs typeface="Cambria Math" panose="02040503050406030204" pitchFamily="18" charset="0"/>
                          </a:rPr>
                          <m:t>𝑥</m:t>
                        </m:r>
                        <m:r>
                          <a:rPr lang="en-US" sz="1800" i="1">
                            <a:latin typeface="Cambria Math" panose="02040503050406030204" pitchFamily="18" charset="0"/>
                            <a:ea typeface="Cambria Math" panose="02040503050406030204" pitchFamily="18" charset="0"/>
                            <a:cs typeface="Cambria Math" panose="02040503050406030204" pitchFamily="18" charset="0"/>
                          </a:rPr>
                          <m:t> </m:t>
                        </m:r>
                        <m:r>
                          <a:rPr lang="en-US" sz="1800" i="1">
                            <a:latin typeface="Cambria Math" panose="02040503050406030204" pitchFamily="18" charset="0"/>
                            <a:ea typeface="Cambria Math" panose="02040503050406030204" pitchFamily="18" charset="0"/>
                            <a:cs typeface="Cambria Math" panose="02040503050406030204" pitchFamily="18" charset="0"/>
                          </a:rPr>
                          <m:t>𝑖𝑛</m:t>
                        </m:r>
                      </m:oMath>
                    </m:oMathPara>
                  </a14:m>
                  <a:endParaRPr lang="en-CO" sz="1600" i="1">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12" name="Text Box 2">
                  <a:extLst>
                    <a:ext uri="{FF2B5EF4-FFF2-40B4-BE49-F238E27FC236}">
                      <a16:creationId xmlns:a16="http://schemas.microsoft.com/office/drawing/2014/main" id="{1F2928FC-39A9-E54C-9B34-3C4B17B905D8}"/>
                    </a:ext>
                  </a:extLst>
                </p:cNvPr>
                <p:cNvSpPr txBox="1">
                  <a:spLocks noRot="1" noChangeAspect="1" noMove="1" noResize="1" noEditPoints="1" noAdjustHandles="1" noChangeArrowheads="1" noChangeShapeType="1" noTextEdit="1"/>
                </p:cNvSpPr>
                <p:nvPr/>
              </p:nvSpPr>
              <p:spPr bwMode="auto">
                <a:xfrm>
                  <a:off x="468086" y="348343"/>
                  <a:ext cx="925195" cy="490855"/>
                </a:xfrm>
                <a:prstGeom prst="rect">
                  <a:avLst/>
                </a:prstGeom>
                <a:blipFill>
                  <a:blip r:embed="rId6"/>
                  <a:stretch>
                    <a:fillRect/>
                  </a:stretch>
                </a:blipFill>
                <a:ln w="9525">
                  <a:noFill/>
                  <a:miter lim="800000"/>
                  <a:headEnd/>
                  <a:tailEnd/>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3" name="Text Box 2">
                  <a:extLst>
                    <a:ext uri="{FF2B5EF4-FFF2-40B4-BE49-F238E27FC236}">
                      <a16:creationId xmlns:a16="http://schemas.microsoft.com/office/drawing/2014/main" id="{FA2A3F66-7113-494F-93EE-99CBCDF248DC}"/>
                    </a:ext>
                  </a:extLst>
                </p:cNvPr>
                <p:cNvSpPr txBox="1">
                  <a:spLocks noChangeArrowheads="1"/>
                </p:cNvSpPr>
                <p:nvPr/>
              </p:nvSpPr>
              <p:spPr bwMode="auto">
                <a:xfrm>
                  <a:off x="1839686" y="283029"/>
                  <a:ext cx="925195" cy="490855"/>
                </a:xfrm>
                <a:prstGeom prst="rect">
                  <a:avLst/>
                </a:prstGeom>
                <a:noFill/>
                <a:ln w="9525">
                  <a:noFill/>
                  <a:miter lim="800000"/>
                  <a:headEnd/>
                  <a:tailEnd/>
                </a:ln>
              </p:spPr>
              <p:txBody>
                <a:bodyPr rot="0" vert="horz" wrap="square" lIns="91440" tIns="45720" rIns="91440" bIns="45720" anchor="t" anchorCtr="0">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Cambria Math" panose="02040503050406030204" pitchFamily="18" charset="0"/>
                            <a:cs typeface="Cambria Math" panose="02040503050406030204" pitchFamily="18" charset="0"/>
                          </a:rPr>
                          <m:t>𝑦</m:t>
                        </m:r>
                        <m:r>
                          <a:rPr lang="en-US" sz="1800" i="1">
                            <a:latin typeface="Cambria Math" panose="02040503050406030204" pitchFamily="18" charset="0"/>
                            <a:ea typeface="Cambria Math" panose="02040503050406030204" pitchFamily="18" charset="0"/>
                            <a:cs typeface="Cambria Math" panose="02040503050406030204" pitchFamily="18" charset="0"/>
                          </a:rPr>
                          <m:t> </m:t>
                        </m:r>
                        <m:r>
                          <a:rPr lang="en-US" sz="1800" i="1">
                            <a:latin typeface="Cambria Math" panose="02040503050406030204" pitchFamily="18" charset="0"/>
                            <a:ea typeface="Cambria Math" panose="02040503050406030204" pitchFamily="18" charset="0"/>
                            <a:cs typeface="Cambria Math" panose="02040503050406030204" pitchFamily="18" charset="0"/>
                          </a:rPr>
                          <m:t>𝑖𝑛</m:t>
                        </m:r>
                      </m:oMath>
                    </m:oMathPara>
                  </a14:m>
                  <a:endParaRPr lang="en-CO" sz="1600" i="1">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13" name="Text Box 2">
                  <a:extLst>
                    <a:ext uri="{FF2B5EF4-FFF2-40B4-BE49-F238E27FC236}">
                      <a16:creationId xmlns:a16="http://schemas.microsoft.com/office/drawing/2014/main" id="{FA2A3F66-7113-494F-93EE-99CBCDF248DC}"/>
                    </a:ext>
                  </a:extLst>
                </p:cNvPr>
                <p:cNvSpPr txBox="1">
                  <a:spLocks noRot="1" noChangeAspect="1" noMove="1" noResize="1" noEditPoints="1" noAdjustHandles="1" noChangeArrowheads="1" noChangeShapeType="1" noTextEdit="1"/>
                </p:cNvSpPr>
                <p:nvPr/>
              </p:nvSpPr>
              <p:spPr bwMode="auto">
                <a:xfrm>
                  <a:off x="1839686" y="283029"/>
                  <a:ext cx="925195" cy="490855"/>
                </a:xfrm>
                <a:prstGeom prst="rect">
                  <a:avLst/>
                </a:prstGeom>
                <a:blipFill>
                  <a:blip r:embed="rId7"/>
                  <a:stretch>
                    <a:fillRect/>
                  </a:stretch>
                </a:blipFill>
                <a:ln w="9525">
                  <a:noFill/>
                  <a:miter lim="800000"/>
                  <a:headEnd/>
                  <a:tailEnd/>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4" name="Text Box 2">
                  <a:extLst>
                    <a:ext uri="{FF2B5EF4-FFF2-40B4-BE49-F238E27FC236}">
                      <a16:creationId xmlns:a16="http://schemas.microsoft.com/office/drawing/2014/main" id="{3120891A-715C-A446-89BC-B4A46EF2E809}"/>
                    </a:ext>
                  </a:extLst>
                </p:cNvPr>
                <p:cNvSpPr txBox="1">
                  <a:spLocks noChangeArrowheads="1"/>
                </p:cNvSpPr>
                <p:nvPr/>
              </p:nvSpPr>
              <p:spPr bwMode="auto">
                <a:xfrm>
                  <a:off x="2630658" y="839198"/>
                  <a:ext cx="548152" cy="490855"/>
                </a:xfrm>
                <a:prstGeom prst="rect">
                  <a:avLst/>
                </a:prstGeom>
                <a:noFill/>
                <a:ln w="9525">
                  <a:noFill/>
                  <a:miter lim="800000"/>
                  <a:headEnd/>
                  <a:tailEnd/>
                </a:ln>
              </p:spPr>
              <p:txBody>
                <a:bodyPr rot="0" vert="horz" wrap="square" lIns="91440" tIns="45720" rIns="91440" bIns="45720" anchor="t" anchorCtr="0">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Cambria Math" panose="02040503050406030204" pitchFamily="18" charset="0"/>
                            <a:cs typeface="Cambria Math" panose="02040503050406030204" pitchFamily="18" charset="0"/>
                          </a:rPr>
                          <m:t>𝑧</m:t>
                        </m:r>
                        <m:r>
                          <a:rPr lang="en-US" sz="1800" i="1">
                            <a:latin typeface="Cambria Math" panose="02040503050406030204" pitchFamily="18" charset="0"/>
                            <a:ea typeface="Cambria Math" panose="02040503050406030204" pitchFamily="18" charset="0"/>
                            <a:cs typeface="Cambria Math" panose="02040503050406030204" pitchFamily="18" charset="0"/>
                          </a:rPr>
                          <m:t> </m:t>
                        </m:r>
                        <m:r>
                          <a:rPr lang="en-US" sz="1800" i="1">
                            <a:latin typeface="Cambria Math" panose="02040503050406030204" pitchFamily="18" charset="0"/>
                            <a:ea typeface="Cambria Math" panose="02040503050406030204" pitchFamily="18" charset="0"/>
                            <a:cs typeface="Cambria Math" panose="02040503050406030204" pitchFamily="18" charset="0"/>
                          </a:rPr>
                          <m:t>𝑖𝑛</m:t>
                        </m:r>
                      </m:oMath>
                    </m:oMathPara>
                  </a14:m>
                  <a:endParaRPr lang="en-CO" sz="1600" i="1">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14" name="Text Box 2">
                  <a:extLst>
                    <a:ext uri="{FF2B5EF4-FFF2-40B4-BE49-F238E27FC236}">
                      <a16:creationId xmlns:a16="http://schemas.microsoft.com/office/drawing/2014/main" id="{3120891A-715C-A446-89BC-B4A46EF2E809}"/>
                    </a:ext>
                  </a:extLst>
                </p:cNvPr>
                <p:cNvSpPr txBox="1">
                  <a:spLocks noRot="1" noChangeAspect="1" noMove="1" noResize="1" noEditPoints="1" noAdjustHandles="1" noChangeArrowheads="1" noChangeShapeType="1" noTextEdit="1"/>
                </p:cNvSpPr>
                <p:nvPr/>
              </p:nvSpPr>
              <p:spPr bwMode="auto">
                <a:xfrm>
                  <a:off x="2630658" y="839198"/>
                  <a:ext cx="548152" cy="490855"/>
                </a:xfrm>
                <a:prstGeom prst="rect">
                  <a:avLst/>
                </a:prstGeom>
                <a:blipFill>
                  <a:blip r:embed="rId8"/>
                  <a:stretch>
                    <a:fillRect/>
                  </a:stretch>
                </a:blipFill>
                <a:ln w="9525">
                  <a:noFill/>
                  <a:miter lim="800000"/>
                  <a:headEnd/>
                  <a:tailEnd/>
                </a:ln>
              </p:spPr>
              <p:txBody>
                <a:bodyPr/>
                <a:lstStyle/>
                <a:p>
                  <a:r>
                    <a:rPr lang="en-CO">
                      <a:noFill/>
                    </a:rPr>
                    <a:t> </a:t>
                  </a:r>
                </a:p>
              </p:txBody>
            </p:sp>
          </mc:Fallback>
        </mc:AlternateContent>
      </p:grpSp>
      <p:graphicFrame>
        <p:nvGraphicFramePr>
          <p:cNvPr id="3" name="Table 2">
            <a:extLst>
              <a:ext uri="{FF2B5EF4-FFF2-40B4-BE49-F238E27FC236}">
                <a16:creationId xmlns:a16="http://schemas.microsoft.com/office/drawing/2014/main" id="{3B08A940-5C8E-204F-BAD2-A29BB4E4330E}"/>
              </a:ext>
            </a:extLst>
          </p:cNvPr>
          <p:cNvGraphicFramePr>
            <a:graphicFrameLocks noGrp="1"/>
          </p:cNvGraphicFramePr>
          <p:nvPr>
            <p:extLst>
              <p:ext uri="{D42A27DB-BD31-4B8C-83A1-F6EECF244321}">
                <p14:modId xmlns:p14="http://schemas.microsoft.com/office/powerpoint/2010/main" val="2915154088"/>
              </p:ext>
            </p:extLst>
          </p:nvPr>
        </p:nvGraphicFramePr>
        <p:xfrm>
          <a:off x="1517378" y="4077231"/>
          <a:ext cx="6805930" cy="1415543"/>
        </p:xfrm>
        <a:graphic>
          <a:graphicData uri="http://schemas.openxmlformats.org/drawingml/2006/table">
            <a:tbl>
              <a:tblPr firstRow="1" firstCol="1" bandRow="1">
                <a:tableStyleId>{A91F0D33-8C57-4600-99A7-42BC86742BE1}</a:tableStyleId>
              </a:tblPr>
              <a:tblGrid>
                <a:gridCol w="3417570">
                  <a:extLst>
                    <a:ext uri="{9D8B030D-6E8A-4147-A177-3AD203B41FA5}">
                      <a16:colId xmlns:a16="http://schemas.microsoft.com/office/drawing/2014/main" val="1783108799"/>
                    </a:ext>
                  </a:extLst>
                </a:gridCol>
                <a:gridCol w="3388360">
                  <a:extLst>
                    <a:ext uri="{9D8B030D-6E8A-4147-A177-3AD203B41FA5}">
                      <a16:colId xmlns:a16="http://schemas.microsoft.com/office/drawing/2014/main" val="4074724884"/>
                    </a:ext>
                  </a:extLst>
                </a:gridCol>
              </a:tblGrid>
              <a:tr h="0">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Method 1</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Method 2</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353415535"/>
                  </a:ext>
                </a:extLst>
              </a:tr>
              <a:tr h="0">
                <a:tc>
                  <a:txBody>
                    <a:bodyPr/>
                    <a:lstStyle/>
                    <a:p>
                      <a:pPr marL="0" marR="0">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Convert each side length to centimeters and then calculate the volume of the figure in cubic centimeters.</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Calculate the volume of the figure in cubic inches and then convert the volume to cubic centimeters.</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7968111"/>
                  </a:ext>
                </a:extLst>
              </a:tr>
            </a:tbl>
          </a:graphicData>
        </a:graphic>
      </p:graphicFrame>
    </p:spTree>
    <p:extLst>
      <p:ext uri="{BB962C8B-B14F-4D97-AF65-F5344CB8AC3E}">
        <p14:creationId xmlns:p14="http://schemas.microsoft.com/office/powerpoint/2010/main" val="23378858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00776" y="6129037"/>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C0EEC4E3-DFCF-C94C-B80D-045F3E6BF764}"/>
                  </a:ext>
                </a:extLst>
              </p:cNvPr>
              <p:cNvSpPr/>
              <p:nvPr/>
            </p:nvSpPr>
            <p:spPr>
              <a:xfrm>
                <a:off x="617517" y="725561"/>
                <a:ext cx="9866787" cy="2800767"/>
              </a:xfrm>
              <a:prstGeom prst="rect">
                <a:avLst/>
              </a:prstGeom>
            </p:spPr>
            <p:txBody>
              <a:bodyPr wrap="square">
                <a:spAutoFit/>
              </a:bodyPr>
              <a:lstStyle/>
              <a:p>
                <a:pPr marL="457200" indent="-457200">
                  <a:buFont typeface="+mj-lt"/>
                  <a:buAutoNum type="arabicPeriod" startAt="2"/>
                </a:pPr>
                <a:r>
                  <a:rPr lang="en-US" sz="2200" dirty="0">
                    <a:latin typeface="Verdana" panose="020B0604030504040204" pitchFamily="34" charset="0"/>
                    <a:ea typeface="Times New Roman" panose="02020603050405020304" pitchFamily="18" charset="0"/>
                    <a:cs typeface="Times New Roman" panose="02020603050405020304" pitchFamily="18" charset="0"/>
                  </a:rPr>
                  <a:t>Work with your partner to determine a conversion factor that can be used to convert cubic inches </a:t>
                </a:r>
                <a14:m>
                  <m:oMath xmlns:m="http://schemas.openxmlformats.org/officeDocument/2006/math">
                    <m:d>
                      <m:dPr>
                        <m:ctrlPr>
                          <a:rPr lang="en-US" sz="2200" i="1" dirty="0">
                            <a:latin typeface="Cambria Math" panose="02040503050406030204" pitchFamily="18" charset="0"/>
                            <a:cs typeface="Times New Roman" panose="02020603050405020304" pitchFamily="18" charset="0"/>
                          </a:rPr>
                        </m:ctrlPr>
                      </m:dPr>
                      <m:e>
                        <m:sSup>
                          <m:sSupPr>
                            <m:ctrlPr>
                              <a:rPr lang="en-US" sz="2200" i="1" dirty="0">
                                <a:latin typeface="Cambria Math" panose="02040503050406030204" pitchFamily="18" charset="0"/>
                                <a:cs typeface="Times New Roman" panose="02020603050405020304" pitchFamily="18" charset="0"/>
                              </a:rPr>
                            </m:ctrlPr>
                          </m:sSupPr>
                          <m:e>
                            <m:r>
                              <a:rPr lang="es-ES" sz="2200" i="1" dirty="0">
                                <a:latin typeface="Cambria Math" panose="02040503050406030204" pitchFamily="18" charset="0"/>
                                <a:cs typeface="Times New Roman" panose="02020603050405020304" pitchFamily="18" charset="0"/>
                              </a:rPr>
                              <m:t>𝑖𝑛</m:t>
                            </m:r>
                          </m:e>
                          <m:sup>
                            <m:r>
                              <a:rPr lang="es-ES" sz="2200" i="1" dirty="0">
                                <a:latin typeface="Cambria Math" panose="02040503050406030204" pitchFamily="18" charset="0"/>
                                <a:cs typeface="Times New Roman" panose="02020603050405020304" pitchFamily="18" charset="0"/>
                              </a:rPr>
                              <m:t>3</m:t>
                            </m:r>
                          </m:sup>
                        </m:sSup>
                      </m:e>
                    </m:d>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to cubic centimeters </a:t>
                </a:r>
                <a14:m>
                  <m:oMath xmlns:m="http://schemas.openxmlformats.org/officeDocument/2006/math">
                    <m:d>
                      <m:dPr>
                        <m:ctrlPr>
                          <a:rPr lang="en-US" sz="2200" i="1" dirty="0">
                            <a:latin typeface="Cambria Math" panose="02040503050406030204" pitchFamily="18" charset="0"/>
                            <a:cs typeface="Times New Roman" panose="02020603050405020304" pitchFamily="18" charset="0"/>
                          </a:rPr>
                        </m:ctrlPr>
                      </m:dPr>
                      <m:e>
                        <m:sSup>
                          <m:sSupPr>
                            <m:ctrlPr>
                              <a:rPr lang="en-US" sz="2200" i="1" dirty="0">
                                <a:latin typeface="Cambria Math" panose="02040503050406030204" pitchFamily="18" charset="0"/>
                                <a:cs typeface="Times New Roman" panose="02020603050405020304" pitchFamily="18" charset="0"/>
                              </a:rPr>
                            </m:ctrlPr>
                          </m:sSupPr>
                          <m:e>
                            <m:r>
                              <a:rPr lang="es-ES" sz="2200" i="1" dirty="0">
                                <a:latin typeface="Cambria Math" panose="02040503050406030204" pitchFamily="18" charset="0"/>
                                <a:cs typeface="Times New Roman" panose="02020603050405020304" pitchFamily="18" charset="0"/>
                              </a:rPr>
                              <m:t>𝑐𝑚</m:t>
                            </m:r>
                          </m:e>
                          <m:sup>
                            <m:r>
                              <a:rPr lang="es-ES" sz="2200" i="1" dirty="0">
                                <a:latin typeface="Cambria Math" panose="02040503050406030204" pitchFamily="18" charset="0"/>
                                <a:cs typeface="Times New Roman" panose="02020603050405020304" pitchFamily="18" charset="0"/>
                              </a:rPr>
                              <m:t>3</m:t>
                            </m:r>
                          </m:sup>
                        </m:sSup>
                      </m:e>
                    </m:d>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Round to the nearest thousandth. Use the known conversion of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inch (in.) =2.54 centimeters (cm).</a:t>
                </a:r>
              </a:p>
              <a:p>
                <a:r>
                  <a:rPr lang="en-US" sz="2200" dirty="0">
                    <a:latin typeface="Verdana" panose="020B0604030504040204" pitchFamily="34" charset="0"/>
                    <a:ea typeface="Times New Roman" panose="02020603050405020304" pitchFamily="18" charset="0"/>
                    <a:cs typeface="Times New Roman" panose="02020603050405020304" pitchFamily="18" charset="0"/>
                  </a:rPr>
                  <a:t> </a:t>
                </a:r>
              </a:p>
              <a:p>
                <a:r>
                  <a:rPr lang="en-US" sz="2200" dirty="0">
                    <a:latin typeface="Verdana" panose="020B0604030504040204" pitchFamily="34" charset="0"/>
                    <a:ea typeface="Times New Roman" panose="02020603050405020304" pitchFamily="18" charset="0"/>
                    <a:cs typeface="Times New Roman" panose="02020603050405020304" pitchFamily="18" charset="0"/>
                  </a:rPr>
                  <a:t> </a:t>
                </a:r>
              </a:p>
              <a:p>
                <a:r>
                  <a:rPr lang="en-US" sz="2200" dirty="0">
                    <a:latin typeface="Verdana" panose="020B0604030504040204" pitchFamily="34" charset="0"/>
                    <a:ea typeface="Times New Roman" panose="02020603050405020304" pitchFamily="18" charset="0"/>
                    <a:cs typeface="Times New Roman" panose="02020603050405020304" pitchFamily="18" charset="0"/>
                  </a:rPr>
                  <a:t> </a:t>
                </a:r>
              </a:p>
              <a:p>
                <a:pPr algn="ctr"/>
                <a:r>
                  <a:rPr lang="en-US" sz="2200" dirty="0">
                    <a:latin typeface="Verdana" panose="020B0604030504040204" pitchFamily="34" charset="0"/>
                    <a:ea typeface="Times New Roman" panose="02020603050405020304" pitchFamily="18" charset="0"/>
                    <a:cs typeface="Times New Roman" panose="02020603050405020304" pitchFamily="18" charset="0"/>
                  </a:rPr>
                  <a:t>______ cubic inch </a:t>
                </a:r>
                <a14:m>
                  <m:oMath xmlns:m="http://schemas.openxmlformats.org/officeDocument/2006/math">
                    <m:d>
                      <m:dPr>
                        <m:ctrlPr>
                          <a:rPr lang="en-US" sz="2200" i="1" dirty="0">
                            <a:latin typeface="Cambria Math" panose="02040503050406030204" pitchFamily="18" charset="0"/>
                            <a:cs typeface="Times New Roman" panose="02020603050405020304" pitchFamily="18" charset="0"/>
                          </a:rPr>
                        </m:ctrlPr>
                      </m:dPr>
                      <m:e>
                        <m:sSup>
                          <m:sSupPr>
                            <m:ctrlPr>
                              <a:rPr lang="en-US" sz="2200" i="1" dirty="0">
                                <a:latin typeface="Cambria Math" panose="02040503050406030204" pitchFamily="18" charset="0"/>
                                <a:cs typeface="Times New Roman" panose="02020603050405020304" pitchFamily="18" charset="0"/>
                              </a:rPr>
                            </m:ctrlPr>
                          </m:sSupPr>
                          <m:e>
                            <m:r>
                              <a:rPr lang="es-ES" sz="2200" i="1" dirty="0">
                                <a:latin typeface="Cambria Math" panose="02040503050406030204" pitchFamily="18" charset="0"/>
                                <a:cs typeface="Times New Roman" panose="02020603050405020304" pitchFamily="18" charset="0"/>
                              </a:rPr>
                              <m:t>𝑖𝑛</m:t>
                            </m:r>
                          </m:e>
                          <m:sup>
                            <m:r>
                              <a:rPr lang="es-ES" sz="2200" i="1" dirty="0">
                                <a:latin typeface="Cambria Math" panose="02040503050406030204" pitchFamily="18" charset="0"/>
                                <a:cs typeface="Times New Roman" panose="02020603050405020304" pitchFamily="18" charset="0"/>
                              </a:rPr>
                              <m:t>3</m:t>
                            </m:r>
                          </m:sup>
                        </m:sSup>
                      </m:e>
                    </m:d>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 ______ cubic centimeters </a:t>
                </a:r>
                <a14:m>
                  <m:oMath xmlns:m="http://schemas.openxmlformats.org/officeDocument/2006/math">
                    <m:d>
                      <m:dPr>
                        <m:ctrlPr>
                          <a:rPr lang="en-US" sz="2200" i="1" dirty="0">
                            <a:latin typeface="Cambria Math" panose="02040503050406030204" pitchFamily="18" charset="0"/>
                            <a:cs typeface="Times New Roman" panose="02020603050405020304" pitchFamily="18" charset="0"/>
                          </a:rPr>
                        </m:ctrlPr>
                      </m:dPr>
                      <m:e>
                        <m:sSup>
                          <m:sSupPr>
                            <m:ctrlPr>
                              <a:rPr lang="en-US" sz="2200" i="1" dirty="0">
                                <a:latin typeface="Cambria Math" panose="02040503050406030204" pitchFamily="18" charset="0"/>
                                <a:cs typeface="Times New Roman" panose="02020603050405020304" pitchFamily="18" charset="0"/>
                              </a:rPr>
                            </m:ctrlPr>
                          </m:sSupPr>
                          <m:e>
                            <m:r>
                              <a:rPr lang="es-ES" sz="2200" i="1" dirty="0">
                                <a:latin typeface="Cambria Math" panose="02040503050406030204" pitchFamily="18" charset="0"/>
                                <a:cs typeface="Times New Roman" panose="02020603050405020304" pitchFamily="18" charset="0"/>
                              </a:rPr>
                              <m:t>𝑐𝑚</m:t>
                            </m:r>
                          </m:e>
                          <m:sup>
                            <m:r>
                              <a:rPr lang="es-ES" sz="2200" i="1" dirty="0">
                                <a:latin typeface="Cambria Math" panose="02040503050406030204" pitchFamily="18" charset="0"/>
                                <a:cs typeface="Times New Roman" panose="02020603050405020304" pitchFamily="18" charset="0"/>
                              </a:rPr>
                              <m:t>3</m:t>
                            </m:r>
                          </m:sup>
                        </m:sSup>
                      </m:e>
                    </m:d>
                  </m:oMath>
                </a14:m>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p:sp>
            <p:nvSpPr>
              <p:cNvPr id="2" name="Rectangle 1">
                <a:extLst>
                  <a:ext uri="{FF2B5EF4-FFF2-40B4-BE49-F238E27FC236}">
                    <a16:creationId xmlns:a16="http://schemas.microsoft.com/office/drawing/2014/main" id="{C0EEC4E3-DFCF-C94C-B80D-045F3E6BF764}"/>
                  </a:ext>
                </a:extLst>
              </p:cNvPr>
              <p:cNvSpPr>
                <a:spLocks noRot="1" noChangeAspect="1" noMove="1" noResize="1" noEditPoints="1" noAdjustHandles="1" noChangeArrowheads="1" noChangeShapeType="1" noTextEdit="1"/>
              </p:cNvSpPr>
              <p:nvPr/>
            </p:nvSpPr>
            <p:spPr>
              <a:xfrm>
                <a:off x="617517" y="725561"/>
                <a:ext cx="9866787" cy="2800767"/>
              </a:xfrm>
              <a:prstGeom prst="rect">
                <a:avLst/>
              </a:prstGeom>
              <a:blipFill>
                <a:blip r:embed="rId4"/>
                <a:stretch>
                  <a:fillRect l="-803" t="-1525" r="-1729" b="-3704"/>
                </a:stretch>
              </a:blipFill>
            </p:spPr>
            <p:txBody>
              <a:bodyPr/>
              <a:lstStyle/>
              <a:p>
                <a:r>
                  <a:rPr lang="en-US">
                    <a:noFill/>
                  </a:rPr>
                  <a:t> </a:t>
                </a:r>
              </a:p>
            </p:txBody>
          </p:sp>
        </mc:Fallback>
      </mc:AlternateContent>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7314750" y="6476999"/>
            <a:ext cx="4186026"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261</a:t>
            </a:r>
            <a:endParaRPr i="1" dirty="0">
              <a:latin typeface="Calibri"/>
              <a:ea typeface="Calibri"/>
              <a:cs typeface="Calibri"/>
              <a:sym typeface="Calibri"/>
            </a:endParaRPr>
          </a:p>
        </p:txBody>
      </p:sp>
    </p:spTree>
    <p:extLst>
      <p:ext uri="{BB962C8B-B14F-4D97-AF65-F5344CB8AC3E}">
        <p14:creationId xmlns:p14="http://schemas.microsoft.com/office/powerpoint/2010/main" val="7934072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8119" y="6129037"/>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C0EEC4E3-DFCF-C94C-B80D-045F3E6BF764}"/>
                  </a:ext>
                </a:extLst>
              </p:cNvPr>
              <p:cNvSpPr/>
              <p:nvPr/>
            </p:nvSpPr>
            <p:spPr>
              <a:xfrm>
                <a:off x="617517" y="796846"/>
                <a:ext cx="9866787" cy="830997"/>
              </a:xfrm>
              <a:prstGeom prst="rect">
                <a:avLst/>
              </a:prstGeom>
            </p:spPr>
            <p:txBody>
              <a:bodyPr wrap="square">
                <a:spAutoFit/>
              </a:bodyPr>
              <a:lstStyle/>
              <a:p>
                <a:pPr marL="457200"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How many cubic centimeters can the rectangular prism with dimensions of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10</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 by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 by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6</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 hold? </a:t>
                </a:r>
              </a:p>
            </p:txBody>
          </p:sp>
        </mc:Choice>
        <mc:Fallback>
          <p:sp>
            <p:nvSpPr>
              <p:cNvPr id="2" name="Rectangle 1">
                <a:extLst>
                  <a:ext uri="{FF2B5EF4-FFF2-40B4-BE49-F238E27FC236}">
                    <a16:creationId xmlns:a16="http://schemas.microsoft.com/office/drawing/2014/main" id="{C0EEC4E3-DFCF-C94C-B80D-045F3E6BF764}"/>
                  </a:ext>
                </a:extLst>
              </p:cNvPr>
              <p:cNvSpPr>
                <a:spLocks noRot="1" noChangeAspect="1" noMove="1" noResize="1" noEditPoints="1" noAdjustHandles="1" noChangeArrowheads="1" noChangeShapeType="1" noTextEdit="1"/>
              </p:cNvSpPr>
              <p:nvPr/>
            </p:nvSpPr>
            <p:spPr>
              <a:xfrm>
                <a:off x="617517" y="796846"/>
                <a:ext cx="9866787" cy="830997"/>
              </a:xfrm>
              <a:prstGeom prst="rect">
                <a:avLst/>
              </a:prstGeom>
              <a:blipFill>
                <a:blip r:embed="rId4"/>
                <a:stretch>
                  <a:fillRect l="-926" t="-5882" b="-15441"/>
                </a:stretch>
              </a:blipFill>
            </p:spPr>
            <p:txBody>
              <a:bodyPr/>
              <a:lstStyle/>
              <a:p>
                <a:r>
                  <a:rPr lang="en-US">
                    <a:noFill/>
                  </a:rPr>
                  <a:t> </a:t>
                </a:r>
              </a:p>
            </p:txBody>
          </p:sp>
        </mc:Fallback>
      </mc:AlternateContent>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7314749" y="6472437"/>
            <a:ext cx="4245879"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261</a:t>
            </a:r>
            <a:endParaRPr i="1" dirty="0">
              <a:latin typeface="Calibri"/>
              <a:ea typeface="Calibri"/>
              <a:cs typeface="Calibri"/>
              <a:sym typeface="Calibri"/>
            </a:endParaRPr>
          </a:p>
        </p:txBody>
      </p:sp>
      <p:grpSp>
        <p:nvGrpSpPr>
          <p:cNvPr id="6" name="Group 5">
            <a:extLst>
              <a:ext uri="{FF2B5EF4-FFF2-40B4-BE49-F238E27FC236}">
                <a16:creationId xmlns:a16="http://schemas.microsoft.com/office/drawing/2014/main" id="{A40B4957-1329-6549-959E-76522F512CAE}"/>
              </a:ext>
            </a:extLst>
          </p:cNvPr>
          <p:cNvGrpSpPr/>
          <p:nvPr/>
        </p:nvGrpSpPr>
        <p:grpSpPr>
          <a:xfrm>
            <a:off x="3659175" y="2243282"/>
            <a:ext cx="2688592" cy="1988186"/>
            <a:chOff x="0" y="0"/>
            <a:chExt cx="2688879" cy="1988227"/>
          </a:xfrm>
        </p:grpSpPr>
        <p:sp>
          <p:nvSpPr>
            <p:cNvPr id="7" name="Rectangle 6">
              <a:extLst>
                <a:ext uri="{FF2B5EF4-FFF2-40B4-BE49-F238E27FC236}">
                  <a16:creationId xmlns:a16="http://schemas.microsoft.com/office/drawing/2014/main" id="{13BDA2E2-48CB-BF4E-865C-AC4E462ACA9D}"/>
                </a:ext>
              </a:extLst>
            </p:cNvPr>
            <p:cNvSpPr/>
            <p:nvPr/>
          </p:nvSpPr>
          <p:spPr>
            <a:xfrm>
              <a:off x="367474" y="9054"/>
              <a:ext cx="1566863" cy="1157287"/>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 name="Rectangle 7">
              <a:extLst>
                <a:ext uri="{FF2B5EF4-FFF2-40B4-BE49-F238E27FC236}">
                  <a16:creationId xmlns:a16="http://schemas.microsoft.com/office/drawing/2014/main" id="{B19C3F3E-2187-2740-9453-2715EB8F83C2}"/>
                </a:ext>
              </a:extLst>
            </p:cNvPr>
            <p:cNvSpPr/>
            <p:nvPr/>
          </p:nvSpPr>
          <p:spPr>
            <a:xfrm>
              <a:off x="3717" y="452674"/>
              <a:ext cx="1566863" cy="1157287"/>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9" name="Straight Connector 8">
              <a:extLst>
                <a:ext uri="{FF2B5EF4-FFF2-40B4-BE49-F238E27FC236}">
                  <a16:creationId xmlns:a16="http://schemas.microsoft.com/office/drawing/2014/main" id="{9D722365-2A06-F845-8E0D-F32124675075}"/>
                </a:ext>
              </a:extLst>
            </p:cNvPr>
            <p:cNvCxnSpPr/>
            <p:nvPr/>
          </p:nvCxnSpPr>
          <p:spPr>
            <a:xfrm flipV="1">
              <a:off x="1566863" y="9055"/>
              <a:ext cx="370182" cy="443064"/>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C6D0BEC-08B1-734D-93A7-F21EA5B5D535}"/>
                </a:ext>
              </a:extLst>
            </p:cNvPr>
            <p:cNvCxnSpPr/>
            <p:nvPr/>
          </p:nvCxnSpPr>
          <p:spPr>
            <a:xfrm flipV="1">
              <a:off x="0" y="0"/>
              <a:ext cx="375285" cy="45212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501BBB5-DB93-3C4C-AC14-963D4BE67A12}"/>
                </a:ext>
              </a:extLst>
            </p:cNvPr>
            <p:cNvCxnSpPr/>
            <p:nvPr/>
          </p:nvCxnSpPr>
          <p:spPr>
            <a:xfrm flipV="1">
              <a:off x="1570581" y="1170170"/>
              <a:ext cx="366464" cy="443617"/>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AEE7DEE-8526-9048-AF75-DCFEFFE4969B}"/>
                </a:ext>
              </a:extLst>
            </p:cNvPr>
            <p:cNvCxnSpPr/>
            <p:nvPr/>
          </p:nvCxnSpPr>
          <p:spPr>
            <a:xfrm flipV="1">
              <a:off x="3717" y="1167899"/>
              <a:ext cx="371260" cy="434565"/>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 Box 2">
                  <a:extLst>
                    <a:ext uri="{FF2B5EF4-FFF2-40B4-BE49-F238E27FC236}">
                      <a16:creationId xmlns:a16="http://schemas.microsoft.com/office/drawing/2014/main" id="{AB2B20BA-D519-5241-A9A5-82F2962DB251}"/>
                    </a:ext>
                  </a:extLst>
                </p:cNvPr>
                <p:cNvSpPr txBox="1">
                  <a:spLocks noChangeArrowheads="1"/>
                </p:cNvSpPr>
                <p:nvPr/>
              </p:nvSpPr>
              <p:spPr bwMode="auto">
                <a:xfrm>
                  <a:off x="1973656" y="334979"/>
                  <a:ext cx="715223" cy="385445"/>
                </a:xfrm>
                <a:prstGeom prst="rect">
                  <a:avLst/>
                </a:prstGeom>
                <a:noFill/>
                <a:ln w="9525">
                  <a:noFill/>
                  <a:miter lim="800000"/>
                  <a:headEnd/>
                  <a:tailEnd/>
                </a:ln>
              </p:spPr>
              <p:txBody>
                <a:bodyPr rot="0" vert="horz" wrap="square" lIns="91440" tIns="45720" rIns="91440" bIns="45720" anchor="t" anchorCtr="0">
                  <a:noAutofit/>
                </a:bodyPr>
                <a:lstStyle/>
                <a:p>
                  <a:pPr>
                    <a:lnSpc>
                      <a:spcPct val="107000"/>
                    </a:lnSpc>
                    <a:spcAft>
                      <a:spcPts val="800"/>
                    </a:spcAft>
                  </a:pPr>
                  <a14:m>
                    <m:oMath xmlns:m="http://schemas.openxmlformats.org/officeDocument/2006/math">
                      <m:r>
                        <a:rPr lang="en-US" sz="1800" i="1">
                          <a:latin typeface="Cambria Math" panose="02040503050406030204" pitchFamily="18" charset="0"/>
                          <a:ea typeface="Cambria Math" panose="02040503050406030204" pitchFamily="18" charset="0"/>
                          <a:cs typeface="Cambria Math" panose="02040503050406030204" pitchFamily="18" charset="0"/>
                        </a:rPr>
                        <m:t>6</m:t>
                      </m:r>
                    </m:oMath>
                  </a14:m>
                  <a:r>
                    <a:rPr lang="en-US" sz="1800">
                      <a:latin typeface="Verdana" panose="020B0604030504040204" pitchFamily="34" charset="0"/>
                      <a:ea typeface="Cambria Math" panose="02040503050406030204" pitchFamily="18" charset="0"/>
                      <a:cs typeface="Cambria Math" panose="02040503050406030204" pitchFamily="18" charset="0"/>
                    </a:rPr>
                    <a:t> in.</a:t>
                  </a:r>
                  <a:endParaRPr lang="en-CO" sz="1600" i="1">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13" name="Text Box 2">
                  <a:extLst>
                    <a:ext uri="{FF2B5EF4-FFF2-40B4-BE49-F238E27FC236}">
                      <a16:creationId xmlns:a16="http://schemas.microsoft.com/office/drawing/2014/main" id="{AB2B20BA-D519-5241-A9A5-82F2962DB251}"/>
                    </a:ext>
                  </a:extLst>
                </p:cNvPr>
                <p:cNvSpPr txBox="1">
                  <a:spLocks noRot="1" noChangeAspect="1" noMove="1" noResize="1" noEditPoints="1" noAdjustHandles="1" noChangeArrowheads="1" noChangeShapeType="1" noTextEdit="1"/>
                </p:cNvSpPr>
                <p:nvPr/>
              </p:nvSpPr>
              <p:spPr bwMode="auto">
                <a:xfrm>
                  <a:off x="1973656" y="334979"/>
                  <a:ext cx="715223" cy="385445"/>
                </a:xfrm>
                <a:prstGeom prst="rect">
                  <a:avLst/>
                </a:prstGeom>
                <a:blipFill>
                  <a:blip r:embed="rId5"/>
                  <a:stretch>
                    <a:fillRect t="-9677" r="-1724" b="-19355"/>
                  </a:stretch>
                </a:blipFill>
                <a:ln w="9525">
                  <a:noFill/>
                  <a:miter lim="800000"/>
                  <a:headEnd/>
                  <a:tailEnd/>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4" name="Text Box 2">
                  <a:extLst>
                    <a:ext uri="{FF2B5EF4-FFF2-40B4-BE49-F238E27FC236}">
                      <a16:creationId xmlns:a16="http://schemas.microsoft.com/office/drawing/2014/main" id="{4D0D7577-8F84-924B-8088-3C875BF54B70}"/>
                    </a:ext>
                  </a:extLst>
                </p:cNvPr>
                <p:cNvSpPr txBox="1">
                  <a:spLocks noChangeArrowheads="1"/>
                </p:cNvSpPr>
                <p:nvPr/>
              </p:nvSpPr>
              <p:spPr bwMode="auto">
                <a:xfrm>
                  <a:off x="1674891" y="1303699"/>
                  <a:ext cx="724277" cy="385763"/>
                </a:xfrm>
                <a:prstGeom prst="rect">
                  <a:avLst/>
                </a:prstGeom>
                <a:noFill/>
                <a:ln w="9525">
                  <a:noFill/>
                  <a:miter lim="800000"/>
                  <a:headEnd/>
                  <a:tailEnd/>
                </a:ln>
              </p:spPr>
              <p:txBody>
                <a:bodyPr rot="0" vert="horz" wrap="square" lIns="91440" tIns="45720" rIns="91440" bIns="45720" anchor="t" anchorCtr="0">
                  <a:noAutofit/>
                </a:bodyPr>
                <a:lstStyle/>
                <a:p>
                  <a:pPr>
                    <a:lnSpc>
                      <a:spcPct val="107000"/>
                    </a:lnSpc>
                    <a:spcAft>
                      <a:spcPts val="800"/>
                    </a:spcAft>
                  </a:pPr>
                  <a14:m>
                    <m:oMath xmlns:m="http://schemas.openxmlformats.org/officeDocument/2006/math">
                      <m:r>
                        <a:rPr lang="en-US" sz="1800" i="1">
                          <a:latin typeface="Cambria Math" panose="02040503050406030204" pitchFamily="18" charset="0"/>
                          <a:ea typeface="Cambria Math" panose="02040503050406030204" pitchFamily="18" charset="0"/>
                          <a:cs typeface="Cambria Math" panose="02040503050406030204" pitchFamily="18" charset="0"/>
                        </a:rPr>
                        <m:t>5</m:t>
                      </m:r>
                    </m:oMath>
                  </a14:m>
                  <a:r>
                    <a:rPr lang="en-US" sz="1800">
                      <a:latin typeface="Verdana" panose="020B0604030504040204" pitchFamily="34" charset="0"/>
                      <a:ea typeface="Cambria Math" panose="02040503050406030204" pitchFamily="18" charset="0"/>
                      <a:cs typeface="Cambria Math" panose="02040503050406030204" pitchFamily="18" charset="0"/>
                    </a:rPr>
                    <a:t> in.</a:t>
                  </a:r>
                  <a:endParaRPr lang="en-CO" sz="1600" i="1">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14" name="Text Box 2">
                  <a:extLst>
                    <a:ext uri="{FF2B5EF4-FFF2-40B4-BE49-F238E27FC236}">
                      <a16:creationId xmlns:a16="http://schemas.microsoft.com/office/drawing/2014/main" id="{4D0D7577-8F84-924B-8088-3C875BF54B70}"/>
                    </a:ext>
                  </a:extLst>
                </p:cNvPr>
                <p:cNvSpPr txBox="1">
                  <a:spLocks noRot="1" noChangeAspect="1" noMove="1" noResize="1" noEditPoints="1" noAdjustHandles="1" noChangeArrowheads="1" noChangeShapeType="1" noTextEdit="1"/>
                </p:cNvSpPr>
                <p:nvPr/>
              </p:nvSpPr>
              <p:spPr bwMode="auto">
                <a:xfrm>
                  <a:off x="1674891" y="1303699"/>
                  <a:ext cx="724277" cy="385763"/>
                </a:xfrm>
                <a:prstGeom prst="rect">
                  <a:avLst/>
                </a:prstGeom>
                <a:blipFill>
                  <a:blip r:embed="rId6"/>
                  <a:stretch>
                    <a:fillRect t="-9375" b="-15625"/>
                  </a:stretch>
                </a:blipFill>
                <a:ln w="9525">
                  <a:noFill/>
                  <a:miter lim="800000"/>
                  <a:headEnd/>
                  <a:tailEnd/>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5" name="Text Box 2">
                  <a:extLst>
                    <a:ext uri="{FF2B5EF4-FFF2-40B4-BE49-F238E27FC236}">
                      <a16:creationId xmlns:a16="http://schemas.microsoft.com/office/drawing/2014/main" id="{6FF33706-583A-D549-9585-487A296AF817}"/>
                    </a:ext>
                  </a:extLst>
                </p:cNvPr>
                <p:cNvSpPr txBox="1">
                  <a:spLocks noChangeArrowheads="1"/>
                </p:cNvSpPr>
                <p:nvPr/>
              </p:nvSpPr>
              <p:spPr bwMode="auto">
                <a:xfrm>
                  <a:off x="353085" y="1602464"/>
                  <a:ext cx="905347" cy="385763"/>
                </a:xfrm>
                <a:prstGeom prst="rect">
                  <a:avLst/>
                </a:prstGeom>
                <a:noFill/>
                <a:ln w="9525">
                  <a:noFill/>
                  <a:miter lim="800000"/>
                  <a:headEnd/>
                  <a:tailEnd/>
                </a:ln>
              </p:spPr>
              <p:txBody>
                <a:bodyPr rot="0" vert="horz" wrap="square" lIns="91440" tIns="45720" rIns="91440" bIns="45720" anchor="t" anchorCtr="0">
                  <a:noAutofit/>
                </a:bodyPr>
                <a:lstStyle/>
                <a:p>
                  <a:pPr>
                    <a:lnSpc>
                      <a:spcPct val="107000"/>
                    </a:lnSpc>
                    <a:spcAft>
                      <a:spcPts val="800"/>
                    </a:spcAft>
                  </a:pPr>
                  <a14:m>
                    <m:oMath xmlns:m="http://schemas.openxmlformats.org/officeDocument/2006/math">
                      <m:r>
                        <a:rPr lang="en-US" sz="1800" i="1">
                          <a:latin typeface="Cambria Math" panose="02040503050406030204" pitchFamily="18" charset="0"/>
                          <a:ea typeface="Cambria Math" panose="02040503050406030204" pitchFamily="18" charset="0"/>
                          <a:cs typeface="Cambria Math" panose="02040503050406030204" pitchFamily="18" charset="0"/>
                        </a:rPr>
                        <m:t>10</m:t>
                      </m:r>
                    </m:oMath>
                  </a14:m>
                  <a:r>
                    <a:rPr lang="en-US" sz="1800">
                      <a:latin typeface="Verdana" panose="020B0604030504040204" pitchFamily="34" charset="0"/>
                      <a:ea typeface="Cambria Math" panose="02040503050406030204" pitchFamily="18" charset="0"/>
                      <a:cs typeface="Cambria Math" panose="02040503050406030204" pitchFamily="18" charset="0"/>
                    </a:rPr>
                    <a:t> in.</a:t>
                  </a:r>
                  <a:endParaRPr lang="en-CO" sz="1600" i="1">
                    <a:latin typeface="Cambria Math" panose="02040503050406030204" pitchFamily="18" charset="0"/>
                    <a:ea typeface="Cambria Math" panose="02040503050406030204" pitchFamily="18" charset="0"/>
                    <a:cs typeface="Cambria Math" panose="02040503050406030204" pitchFamily="18" charset="0"/>
                  </a:endParaRPr>
                </a:p>
              </p:txBody>
            </p:sp>
          </mc:Choice>
          <mc:Fallback xmlns="">
            <p:sp>
              <p:nvSpPr>
                <p:cNvPr id="15" name="Text Box 2">
                  <a:extLst>
                    <a:ext uri="{FF2B5EF4-FFF2-40B4-BE49-F238E27FC236}">
                      <a16:creationId xmlns:a16="http://schemas.microsoft.com/office/drawing/2014/main" id="{6FF33706-583A-D549-9585-487A296AF817}"/>
                    </a:ext>
                  </a:extLst>
                </p:cNvPr>
                <p:cNvSpPr txBox="1">
                  <a:spLocks noRot="1" noChangeAspect="1" noMove="1" noResize="1" noEditPoints="1" noAdjustHandles="1" noChangeArrowheads="1" noChangeShapeType="1" noTextEdit="1"/>
                </p:cNvSpPr>
                <p:nvPr/>
              </p:nvSpPr>
              <p:spPr bwMode="auto">
                <a:xfrm>
                  <a:off x="353085" y="1602464"/>
                  <a:ext cx="905347" cy="385763"/>
                </a:xfrm>
                <a:prstGeom prst="rect">
                  <a:avLst/>
                </a:prstGeom>
                <a:blipFill>
                  <a:blip r:embed="rId7"/>
                  <a:stretch>
                    <a:fillRect t="-12903" b="-16129"/>
                  </a:stretch>
                </a:blipFill>
                <a:ln w="9525">
                  <a:noFill/>
                  <a:miter lim="800000"/>
                  <a:headEnd/>
                  <a:tailEnd/>
                </a:ln>
              </p:spPr>
              <p:txBody>
                <a:bodyPr/>
                <a:lstStyle/>
                <a:p>
                  <a:r>
                    <a:rPr lang="en-CO">
                      <a:noFill/>
                    </a:rPr>
                    <a:t> </a:t>
                  </a:r>
                </a:p>
              </p:txBody>
            </p:sp>
          </mc:Fallback>
        </mc:AlternateContent>
      </p:grpSp>
    </p:spTree>
    <p:extLst>
      <p:ext uri="{BB962C8B-B14F-4D97-AF65-F5344CB8AC3E}">
        <p14:creationId xmlns:p14="http://schemas.microsoft.com/office/powerpoint/2010/main" val="35939224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46348"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7314750" y="6444343"/>
            <a:ext cx="4131598" cy="413532"/>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261</a:t>
            </a:r>
            <a:endParaRPr i="1" dirty="0">
              <a:latin typeface="Calibri"/>
              <a:ea typeface="Calibri"/>
              <a:cs typeface="Calibri"/>
              <a:sym typeface="Calibri"/>
            </a:endParaRPr>
          </a:p>
        </p:txBody>
      </p:sp>
      <p:pic>
        <p:nvPicPr>
          <p:cNvPr id="9" name="Picture 8" descr="Icon&#10;&#10;Description automatically generated">
            <a:extLst>
              <a:ext uri="{FF2B5EF4-FFF2-40B4-BE49-F238E27FC236}">
                <a16:creationId xmlns:a16="http://schemas.microsoft.com/office/drawing/2014/main" id="{4C5DAF65-3EE3-C044-AA58-E5FB79E2A74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429137" y="2852778"/>
            <a:ext cx="1152447" cy="1152447"/>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4727330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63571"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64162" y="-17219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E24E5F"/>
                </a:solidFill>
                <a:latin typeface="Verdana"/>
                <a:ea typeface="Verdana"/>
                <a:cs typeface="Verdana"/>
                <a:sym typeface="Verdana"/>
              </a:rPr>
              <a:t>6.5.6 Your Turn!</a:t>
            </a:r>
          </a:p>
        </p:txBody>
      </p:sp>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C0EEC4E3-DFCF-C94C-B80D-045F3E6BF764}"/>
                  </a:ext>
                </a:extLst>
              </p:cNvPr>
              <p:cNvSpPr/>
              <p:nvPr/>
            </p:nvSpPr>
            <p:spPr>
              <a:xfrm>
                <a:off x="605642" y="1286376"/>
                <a:ext cx="9763779" cy="3416320"/>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Use conversion rates to find each value. Round to the nearest thousandth.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6</m:t>
                    </m:r>
                  </m:oMath>
                </a14:m>
                <a:r>
                  <a:rPr lang="en-US" sz="2400" dirty="0">
                    <a:latin typeface="Verdana" panose="020B0604030504040204" pitchFamily="34" charset="0"/>
                    <a:ea typeface="Verdana" panose="020B0604030504040204" pitchFamily="34" charset="0"/>
                    <a:cs typeface="Verdana" panose="020B0604030504040204" pitchFamily="34" charset="0"/>
                  </a:rPr>
                  <a:t> cups = ____ milliliters</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300</m:t>
                    </m:r>
                  </m:oMath>
                </a14:m>
                <a:r>
                  <a:rPr lang="en-US" sz="2400" dirty="0">
                    <a:latin typeface="Verdana" panose="020B0604030504040204" pitchFamily="34" charset="0"/>
                    <a:ea typeface="Verdana" panose="020B0604030504040204" pitchFamily="34" charset="0"/>
                    <a:cs typeface="Verdana" panose="020B0604030504040204" pitchFamily="34" charset="0"/>
                  </a:rPr>
                  <a:t> milliliters = ____ fluid ounces </a:t>
                </a:r>
              </a:p>
            </p:txBody>
          </p:sp>
        </mc:Choice>
        <mc:Fallback>
          <p:sp>
            <p:nvSpPr>
              <p:cNvPr id="2" name="Rectangle 1">
                <a:extLst>
                  <a:ext uri="{FF2B5EF4-FFF2-40B4-BE49-F238E27FC236}">
                    <a16:creationId xmlns:a16="http://schemas.microsoft.com/office/drawing/2014/main" id="{C0EEC4E3-DFCF-C94C-B80D-045F3E6BF764}"/>
                  </a:ext>
                </a:extLst>
              </p:cNvPr>
              <p:cNvSpPr>
                <a:spLocks noRot="1" noChangeAspect="1" noMove="1" noResize="1" noEditPoints="1" noAdjustHandles="1" noChangeArrowheads="1" noChangeShapeType="1" noTextEdit="1"/>
              </p:cNvSpPr>
              <p:nvPr/>
            </p:nvSpPr>
            <p:spPr>
              <a:xfrm>
                <a:off x="605642" y="1286376"/>
                <a:ext cx="9763779" cy="3416320"/>
              </a:xfrm>
              <a:prstGeom prst="rect">
                <a:avLst/>
              </a:prstGeom>
              <a:blipFill>
                <a:blip r:embed="rId4"/>
                <a:stretch>
                  <a:fillRect l="-936" t="-1429" b="-3036"/>
                </a:stretch>
              </a:blipFill>
            </p:spPr>
            <p:txBody>
              <a:bodyPr/>
              <a:lstStyle/>
              <a:p>
                <a:r>
                  <a:rPr lang="en-US">
                    <a:noFill/>
                  </a:rPr>
                  <a:t> </a:t>
                </a:r>
              </a:p>
            </p:txBody>
          </p:sp>
        </mc:Fallback>
      </mc:AlternateContent>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7314749" y="6476999"/>
            <a:ext cx="4248821"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261</a:t>
            </a:r>
            <a:endParaRPr i="1" dirty="0">
              <a:latin typeface="Calibri"/>
              <a:ea typeface="Calibri"/>
              <a:cs typeface="Calibri"/>
              <a:sym typeface="Calibri"/>
            </a:endParaRPr>
          </a:p>
        </p:txBody>
      </p:sp>
      <p:pic>
        <p:nvPicPr>
          <p:cNvPr id="8" name="Picture 7" descr="Icon&#10;&#10;Description automatically generated">
            <a:extLst>
              <a:ext uri="{FF2B5EF4-FFF2-40B4-BE49-F238E27FC236}">
                <a16:creationId xmlns:a16="http://schemas.microsoft.com/office/drawing/2014/main" id="{4DE960C7-966F-634E-8FF4-BBDA3EF8E25F}"/>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14354" y="115755"/>
            <a:ext cx="749808" cy="749808"/>
          </a:xfrm>
          <a:prstGeom prst="rect">
            <a:avLst/>
          </a:prstGeom>
        </p:spPr>
      </p:pic>
    </p:spTree>
    <p:extLst>
      <p:ext uri="{BB962C8B-B14F-4D97-AF65-F5344CB8AC3E}">
        <p14:creationId xmlns:p14="http://schemas.microsoft.com/office/powerpoint/2010/main" val="17377256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35461" y="6129037"/>
            <a:ext cx="563850" cy="657276"/>
          </a:xfrm>
          <a:prstGeom prst="rect">
            <a:avLst/>
          </a:prstGeom>
          <a:noFill/>
          <a:ln>
            <a:noFill/>
          </a:ln>
          <a:effectLst>
            <a:outerShdw blurRad="57150" dist="19050" dir="5400000" algn="bl" rotWithShape="0">
              <a:srgbClr val="000000">
                <a:alpha val="50000"/>
              </a:srgbClr>
            </a:outerShdw>
          </a:effectLst>
        </p:spPr>
      </p:pic>
      <p:grpSp>
        <p:nvGrpSpPr>
          <p:cNvPr id="6" name="Group 5">
            <a:extLst>
              <a:ext uri="{FF2B5EF4-FFF2-40B4-BE49-F238E27FC236}">
                <a16:creationId xmlns:a16="http://schemas.microsoft.com/office/drawing/2014/main" id="{BB50F0A2-AA71-F744-8A32-914ADD8F78F3}"/>
              </a:ext>
            </a:extLst>
          </p:cNvPr>
          <p:cNvGrpSpPr/>
          <p:nvPr/>
        </p:nvGrpSpPr>
        <p:grpSpPr>
          <a:xfrm>
            <a:off x="2558100" y="2622400"/>
            <a:ext cx="7662765" cy="1717351"/>
            <a:chOff x="2031300" y="3373600"/>
            <a:chExt cx="6629400" cy="812800"/>
          </a:xfrm>
        </p:grpSpPr>
        <p:sp>
          <p:nvSpPr>
            <p:cNvPr id="7" name="Rectangle 6">
              <a:extLst>
                <a:ext uri="{FF2B5EF4-FFF2-40B4-BE49-F238E27FC236}">
                  <a16:creationId xmlns:a16="http://schemas.microsoft.com/office/drawing/2014/main" id="{3A97EBD9-7A07-BD48-A87B-42FC0C60B5F6}"/>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sp>
          <p:nvSpPr>
            <p:cNvPr id="9" name="Rectangle 8">
              <a:extLst>
                <a:ext uri="{FF2B5EF4-FFF2-40B4-BE49-F238E27FC236}">
                  <a16:creationId xmlns:a16="http://schemas.microsoft.com/office/drawing/2014/main" id="{4B00D7E9-D011-6F4F-93E3-9B17DFC18634}"/>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r>
                <a:rPr lang="en-US" sz="2400">
                  <a:latin typeface="Verdana" panose="020B0604030504040204" pitchFamily="34" charset="0"/>
                  <a:ea typeface="Verdana" panose="020B0604030504040204" pitchFamily="34" charset="0"/>
                  <a:cs typeface="Verdana" panose="020B0604030504040204" pitchFamily="34" charset="0"/>
                </a:rPr>
                <a:t> </a:t>
              </a:r>
            </a:p>
          </p:txBody>
        </p:sp>
      </p:grpSp>
      <p:sp>
        <p:nvSpPr>
          <p:cNvPr id="11" name="Google Shape;282;g104476d1465_1_17">
            <a:extLst>
              <a:ext uri="{FF2B5EF4-FFF2-40B4-BE49-F238E27FC236}">
                <a16:creationId xmlns:a16="http://schemas.microsoft.com/office/drawing/2014/main" id="{1D80B3B1-A0AC-4E49-8B8A-BB2777B1A70C}"/>
              </a:ext>
            </a:extLst>
          </p:cNvPr>
          <p:cNvSpPr txBox="1"/>
          <p:nvPr/>
        </p:nvSpPr>
        <p:spPr>
          <a:xfrm>
            <a:off x="7314749" y="6487885"/>
            <a:ext cx="4120711"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261</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12" name="Rectangle 11">
                <a:extLst>
                  <a:ext uri="{FF2B5EF4-FFF2-40B4-BE49-F238E27FC236}">
                    <a16:creationId xmlns:a16="http://schemas.microsoft.com/office/drawing/2014/main" id="{84B30E62-DBC7-A64B-9D39-DD94DF002123}"/>
                  </a:ext>
                </a:extLst>
              </p:cNvPr>
              <p:cNvSpPr/>
              <p:nvPr/>
            </p:nvSpPr>
            <p:spPr>
              <a:xfrm>
                <a:off x="629392" y="772470"/>
                <a:ext cx="10131915" cy="4524315"/>
              </a:xfrm>
              <a:prstGeom prst="rect">
                <a:avLst/>
              </a:prstGeom>
            </p:spPr>
            <p:txBody>
              <a:bodyPr wrap="square">
                <a:spAutoFit/>
              </a:bodyPr>
              <a:lstStyle/>
              <a:p>
                <a:pPr marL="9144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 liters = ____ quarts</a:t>
                </a: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10</m:t>
                    </m:r>
                  </m:oMath>
                </a14:m>
                <a:r>
                  <a:rPr lang="en-US" sz="2400" dirty="0">
                    <a:latin typeface="Verdana" panose="020B0604030504040204" pitchFamily="34" charset="0"/>
                    <a:ea typeface="Verdana" panose="020B0604030504040204" pitchFamily="34" charset="0"/>
                    <a:cs typeface="Verdana" panose="020B0604030504040204" pitchFamily="34" charset="0"/>
                  </a:rPr>
                  <a:t> gallons = ____ liters</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Mateo buys a package with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12</m:t>
                    </m:r>
                  </m:oMath>
                </a14:m>
                <a:r>
                  <a:rPr lang="en-US" sz="2400" dirty="0">
                    <a:latin typeface="Verdana" panose="020B0604030504040204" pitchFamily="34" charset="0"/>
                    <a:ea typeface="Verdana" panose="020B0604030504040204" pitchFamily="34" charset="0"/>
                    <a:cs typeface="Verdana" panose="020B0604030504040204" pitchFamily="34" charset="0"/>
                  </a:rPr>
                  <a:t> bottles of water. Each bottle holds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500</m:t>
                    </m:r>
                  </m:oMath>
                </a14:m>
                <a:r>
                  <a:rPr lang="en-US" sz="2400" dirty="0">
                    <a:latin typeface="Verdana" panose="020B0604030504040204" pitchFamily="34" charset="0"/>
                    <a:ea typeface="Verdana" panose="020B0604030504040204" pitchFamily="34" charset="0"/>
                    <a:cs typeface="Verdana" panose="020B0604030504040204" pitchFamily="34" charset="0"/>
                  </a:rPr>
                  <a:t> milliliters of water. How many fluid ounces are in the package?</a:t>
                </a:r>
              </a:p>
            </p:txBody>
          </p:sp>
        </mc:Choice>
        <mc:Fallback>
          <p:sp>
            <p:nvSpPr>
              <p:cNvPr id="12" name="Rectangle 11">
                <a:extLst>
                  <a:ext uri="{FF2B5EF4-FFF2-40B4-BE49-F238E27FC236}">
                    <a16:creationId xmlns:a16="http://schemas.microsoft.com/office/drawing/2014/main" id="{84B30E62-DBC7-A64B-9D39-DD94DF002123}"/>
                  </a:ext>
                </a:extLst>
              </p:cNvPr>
              <p:cNvSpPr>
                <a:spLocks noRot="1" noChangeAspect="1" noMove="1" noResize="1" noEditPoints="1" noAdjustHandles="1" noChangeArrowheads="1" noChangeShapeType="1" noTextEdit="1"/>
              </p:cNvSpPr>
              <p:nvPr/>
            </p:nvSpPr>
            <p:spPr>
              <a:xfrm>
                <a:off x="629392" y="772470"/>
                <a:ext cx="10131915" cy="4524315"/>
              </a:xfrm>
              <a:prstGeom prst="rect">
                <a:avLst/>
              </a:prstGeom>
              <a:blipFill>
                <a:blip r:embed="rId4"/>
                <a:stretch>
                  <a:fillRect l="-903" t="-1213" b="-2156"/>
                </a:stretch>
              </a:blipFill>
            </p:spPr>
            <p:txBody>
              <a:bodyPr/>
              <a:lstStyle/>
              <a:p>
                <a:r>
                  <a:rPr lang="en-US">
                    <a:noFill/>
                  </a:rPr>
                  <a:t> </a:t>
                </a:r>
              </a:p>
            </p:txBody>
          </p:sp>
        </mc:Fallback>
      </mc:AlternateContent>
    </p:spTree>
    <p:extLst>
      <p:ext uri="{BB962C8B-B14F-4D97-AF65-F5344CB8AC3E}">
        <p14:creationId xmlns:p14="http://schemas.microsoft.com/office/powerpoint/2010/main" val="41379219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11661" y="6129037"/>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EFCC6CD7-3972-624A-AEF1-A2489A486756}"/>
              </a:ext>
            </a:extLst>
          </p:cNvPr>
          <p:cNvSpPr txBox="1"/>
          <p:nvPr/>
        </p:nvSpPr>
        <p:spPr>
          <a:xfrm>
            <a:off x="7314749" y="6466113"/>
            <a:ext cx="4196911"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262</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46347" y="6129037"/>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263057" y="-194174"/>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3F2A67"/>
                </a:solidFill>
                <a:latin typeface="Verdana"/>
                <a:ea typeface="Verdana"/>
                <a:cs typeface="Verdana"/>
                <a:sym typeface="Verdana"/>
              </a:rPr>
              <a:t>6.5.7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424619" y="95026"/>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a16="http://schemas.microsoft.com/office/drawing/2014/main" id="{D9F7A919-8B1E-2741-BB78-98A66295B9F8}"/>
              </a:ext>
            </a:extLst>
          </p:cNvPr>
          <p:cNvSpPr/>
          <p:nvPr/>
        </p:nvSpPr>
        <p:spPr>
          <a:xfrm>
            <a:off x="605641" y="1243130"/>
            <a:ext cx="9822125" cy="1015663"/>
          </a:xfrm>
          <a:prstGeom prst="rect">
            <a:avLst/>
          </a:prstGeom>
        </p:spPr>
        <p:txBody>
          <a:bodyPr wrap="square">
            <a:spAutoFit/>
          </a:bodyPr>
          <a:lstStyle/>
          <a:p>
            <a:pPr marL="461963" indent="-447675"/>
            <a:r>
              <a:rPr lang="en-US" sz="2000" dirty="0">
                <a:latin typeface="Verdana" panose="020B0604030504040204" pitchFamily="34" charset="0"/>
                <a:ea typeface="Times New Roman" panose="02020603050405020304" pitchFamily="18" charset="0"/>
              </a:rPr>
              <a:t>1.  For each pair of liquid measurements, circle the conversion factor to use to convert from the measurement on the left to the measurement on the right. </a:t>
            </a:r>
          </a:p>
        </p:txBody>
      </p:sp>
      <p:sp>
        <p:nvSpPr>
          <p:cNvPr id="11" name="Google Shape;282;g104476d1465_1_17">
            <a:extLst>
              <a:ext uri="{FF2B5EF4-FFF2-40B4-BE49-F238E27FC236}">
                <a16:creationId xmlns:a16="http://schemas.microsoft.com/office/drawing/2014/main" id="{F719A187-0842-F343-A6A1-7FD23B0B7316}"/>
              </a:ext>
            </a:extLst>
          </p:cNvPr>
          <p:cNvSpPr txBox="1"/>
          <p:nvPr/>
        </p:nvSpPr>
        <p:spPr>
          <a:xfrm>
            <a:off x="7314749" y="6487885"/>
            <a:ext cx="423499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262</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BABFC05E-6F83-1148-A23F-A75C8D7BD60F}"/>
                  </a:ext>
                </a:extLst>
              </p:cNvPr>
              <p:cNvGraphicFramePr>
                <a:graphicFrameLocks noGrp="1"/>
              </p:cNvGraphicFramePr>
              <p:nvPr>
                <p:extLst>
                  <p:ext uri="{D42A27DB-BD31-4B8C-83A1-F6EECF244321}">
                    <p14:modId xmlns:p14="http://schemas.microsoft.com/office/powerpoint/2010/main" val="2970155656"/>
                  </p:ext>
                </p:extLst>
              </p:nvPr>
            </p:nvGraphicFramePr>
            <p:xfrm>
              <a:off x="2668587" y="2517025"/>
              <a:ext cx="6854826" cy="3583480"/>
            </p:xfrm>
            <a:graphic>
              <a:graphicData uri="http://schemas.openxmlformats.org/drawingml/2006/table">
                <a:tbl>
                  <a:tblPr firstRow="1" firstCol="1" bandRow="1">
                    <a:tableStyleId>{A91F0D33-8C57-4600-99A7-42BC86742BE1}</a:tableStyleId>
                  </a:tblPr>
                  <a:tblGrid>
                    <a:gridCol w="2211965">
                      <a:extLst>
                        <a:ext uri="{9D8B030D-6E8A-4147-A177-3AD203B41FA5}">
                          <a16:colId xmlns:a16="http://schemas.microsoft.com/office/drawing/2014/main" val="3182870374"/>
                        </a:ext>
                      </a:extLst>
                    </a:gridCol>
                    <a:gridCol w="460074">
                      <a:extLst>
                        <a:ext uri="{9D8B030D-6E8A-4147-A177-3AD203B41FA5}">
                          <a16:colId xmlns:a16="http://schemas.microsoft.com/office/drawing/2014/main" val="2821030796"/>
                        </a:ext>
                      </a:extLst>
                    </a:gridCol>
                    <a:gridCol w="1005718">
                      <a:extLst>
                        <a:ext uri="{9D8B030D-6E8A-4147-A177-3AD203B41FA5}">
                          <a16:colId xmlns:a16="http://schemas.microsoft.com/office/drawing/2014/main" val="1588406806"/>
                        </a:ext>
                      </a:extLst>
                    </a:gridCol>
                    <a:gridCol w="1603108">
                      <a:extLst>
                        <a:ext uri="{9D8B030D-6E8A-4147-A177-3AD203B41FA5}">
                          <a16:colId xmlns:a16="http://schemas.microsoft.com/office/drawing/2014/main" val="908190142"/>
                        </a:ext>
                      </a:extLst>
                    </a:gridCol>
                    <a:gridCol w="1573961">
                      <a:extLst>
                        <a:ext uri="{9D8B030D-6E8A-4147-A177-3AD203B41FA5}">
                          <a16:colId xmlns:a16="http://schemas.microsoft.com/office/drawing/2014/main" val="3692490196"/>
                        </a:ext>
                      </a:extLst>
                    </a:gridCol>
                  </a:tblGrid>
                  <a:tr h="383080">
                    <a:tc gridSpan="5">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Conversion Table</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hMerge="1">
                      <a:txBody>
                        <a:bodyPr/>
                        <a:lstStyle/>
                        <a:p>
                          <a:endParaRPr lang="en-CO"/>
                        </a:p>
                      </a:txBody>
                      <a:tcPr/>
                    </a:tc>
                    <a:tc hMerge="1">
                      <a:txBody>
                        <a:bodyPr/>
                        <a:lstStyle/>
                        <a:p>
                          <a:endParaRPr lang="en-CO"/>
                        </a:p>
                      </a:txBody>
                      <a:tcPr/>
                    </a:tc>
                    <a:tc hMerge="1">
                      <a:txBody>
                        <a:bodyPr/>
                        <a:lstStyle/>
                        <a:p>
                          <a:endParaRPr lang="en-CO"/>
                        </a:p>
                      </a:txBody>
                      <a:tcPr/>
                    </a:tc>
                    <a:tc hMerge="1">
                      <a:txBody>
                        <a:bodyPr/>
                        <a:lstStyle/>
                        <a:p>
                          <a:endParaRPr lang="en-CO"/>
                        </a:p>
                      </a:txBody>
                      <a:tcPr/>
                    </a:tc>
                    <a:extLst>
                      <a:ext uri="{0D108BD9-81ED-4DB2-BD59-A6C34878D82A}">
                        <a16:rowId xmlns:a16="http://schemas.microsoft.com/office/drawing/2014/main" val="846165186"/>
                      </a:ext>
                    </a:extLst>
                  </a:tr>
                  <a:tr h="640080">
                    <a:tc gridSpan="2">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Converting from…</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CO"/>
                        </a:p>
                      </a:txBody>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 </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51435"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 </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…to</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60789900"/>
                      </a:ext>
                    </a:extLst>
                  </a:tr>
                  <a:tr h="640080">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fluid ounces</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algn="ctr">
                            <a:lnSpc>
                              <a:spcPct val="107000"/>
                            </a:lnSpc>
                            <a:spcBef>
                              <a:spcPts val="0"/>
                            </a:spcBef>
                            <a:spcAft>
                              <a:spcPts val="0"/>
                            </a:spcAft>
                          </a:pPr>
                          <a14:m>
                            <m:oMath xmlns:m="http://schemas.openxmlformats.org/officeDocument/2006/math">
                              <m:f>
                                <m:fPr>
                                  <m:ctrlPr>
                                    <a:rPr lang="en-CO" sz="1800" i="1">
                                      <a:effectLst/>
                                      <a:latin typeface="Cambria Math" panose="02040503050406030204" pitchFamily="18" charset="0"/>
                                    </a:rPr>
                                  </m:ctrlPr>
                                </m:fPr>
                                <m:num>
                                  <m:r>
                                    <a:rPr lang="en-US" sz="1800">
                                      <a:effectLst/>
                                      <a:latin typeface="Cambria Math" panose="02040503050406030204" pitchFamily="18" charset="0"/>
                                    </a:rPr>
                                    <m:t>1 </m:t>
                                  </m:r>
                                  <m:r>
                                    <a:rPr lang="en-US" sz="1800">
                                      <a:effectLst/>
                                      <a:latin typeface="Cambria Math" panose="02040503050406030204" pitchFamily="18" charset="0"/>
                                    </a:rPr>
                                    <m:t>𝑓𝑙</m:t>
                                  </m:r>
                                  <m:r>
                                    <a:rPr lang="en-US" sz="1800">
                                      <a:effectLst/>
                                      <a:latin typeface="Cambria Math" panose="02040503050406030204" pitchFamily="18" charset="0"/>
                                    </a:rPr>
                                    <m:t> </m:t>
                                  </m:r>
                                  <m:r>
                                    <a:rPr lang="en-US" sz="1800">
                                      <a:effectLst/>
                                      <a:latin typeface="Cambria Math" panose="02040503050406030204" pitchFamily="18" charset="0"/>
                                    </a:rPr>
                                    <m:t>𝑜𝑧</m:t>
                                  </m:r>
                                </m:num>
                                <m:den>
                                  <m:r>
                                    <a:rPr lang="en-US" sz="1800">
                                      <a:effectLst/>
                                      <a:latin typeface="Cambria Math" panose="02040503050406030204" pitchFamily="18" charset="0"/>
                                    </a:rPr>
                                    <m:t>28.413 </m:t>
                                  </m:r>
                                  <m:r>
                                    <a:rPr lang="en-US" sz="1800">
                                      <a:effectLst/>
                                      <a:latin typeface="Cambria Math" panose="02040503050406030204" pitchFamily="18" charset="0"/>
                                    </a:rPr>
                                    <m:t>𝑚𝐿</m:t>
                                  </m:r>
                                </m:den>
                              </m:f>
                            </m:oMath>
                          </a14:m>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CO"/>
                        </a:p>
                      </a:txBody>
                      <a:tcPr/>
                    </a:tc>
                    <a:tc>
                      <a:txBody>
                        <a:bodyPr/>
                        <a:lstStyle/>
                        <a:p>
                          <a:pPr marL="0" marR="51435" algn="ctr">
                            <a:lnSpc>
                              <a:spcPct val="107000"/>
                            </a:lnSpc>
                            <a:spcBef>
                              <a:spcPts val="0"/>
                            </a:spcBef>
                            <a:spcAft>
                              <a:spcPts val="0"/>
                            </a:spcAft>
                          </a:pPr>
                          <a14:m>
                            <m:oMath xmlns:m="http://schemas.openxmlformats.org/officeDocument/2006/math">
                              <m:f>
                                <m:fPr>
                                  <m:ctrlPr>
                                    <a:rPr lang="en-CO" sz="1800" i="1">
                                      <a:effectLst/>
                                      <a:latin typeface="Cambria Math" panose="02040503050406030204" pitchFamily="18" charset="0"/>
                                    </a:rPr>
                                  </m:ctrlPr>
                                </m:fPr>
                                <m:num>
                                  <m:r>
                                    <a:rPr lang="en-US" sz="1800">
                                      <a:effectLst/>
                                      <a:latin typeface="Cambria Math" panose="02040503050406030204" pitchFamily="18" charset="0"/>
                                    </a:rPr>
                                    <m:t>28.413 </m:t>
                                  </m:r>
                                  <m:r>
                                    <a:rPr lang="en-US" sz="1800">
                                      <a:effectLst/>
                                      <a:latin typeface="Cambria Math" panose="02040503050406030204" pitchFamily="18" charset="0"/>
                                    </a:rPr>
                                    <m:t>𝑚𝐿</m:t>
                                  </m:r>
                                </m:num>
                                <m:den>
                                  <m:r>
                                    <a:rPr lang="en-US" sz="1800">
                                      <a:effectLst/>
                                      <a:latin typeface="Cambria Math" panose="02040503050406030204" pitchFamily="18" charset="0"/>
                                    </a:rPr>
                                    <m:t>1 </m:t>
                                  </m:r>
                                  <m:r>
                                    <a:rPr lang="en-US" sz="1800">
                                      <a:effectLst/>
                                      <a:latin typeface="Cambria Math" panose="02040503050406030204" pitchFamily="18" charset="0"/>
                                    </a:rPr>
                                    <m:t>𝑓𝑙</m:t>
                                  </m:r>
                                  <m:r>
                                    <a:rPr lang="en-US" sz="1800">
                                      <a:effectLst/>
                                      <a:latin typeface="Cambria Math" panose="02040503050406030204" pitchFamily="18" charset="0"/>
                                    </a:rPr>
                                    <m:t> </m:t>
                                  </m:r>
                                  <m:r>
                                    <a:rPr lang="en-US" sz="1800">
                                      <a:effectLst/>
                                      <a:latin typeface="Cambria Math" panose="02040503050406030204" pitchFamily="18" charset="0"/>
                                    </a:rPr>
                                    <m:t>𝑜𝑧</m:t>
                                  </m:r>
                                </m:den>
                              </m:f>
                            </m:oMath>
                          </a14:m>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milliliters</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2579791"/>
                      </a:ext>
                    </a:extLst>
                  </a:tr>
                  <a:tr h="640080">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milliliters</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algn="ctr">
                            <a:lnSpc>
                              <a:spcPct val="107000"/>
                            </a:lnSpc>
                            <a:spcBef>
                              <a:spcPts val="0"/>
                            </a:spcBef>
                            <a:spcAft>
                              <a:spcPts val="0"/>
                            </a:spcAft>
                          </a:pPr>
                          <a14:m>
                            <m:oMath xmlns:m="http://schemas.openxmlformats.org/officeDocument/2006/math">
                              <m:f>
                                <m:fPr>
                                  <m:ctrlPr>
                                    <a:rPr lang="en-CO" sz="1800" i="1">
                                      <a:effectLst/>
                                      <a:latin typeface="Cambria Math" panose="02040503050406030204" pitchFamily="18" charset="0"/>
                                    </a:rPr>
                                  </m:ctrlPr>
                                </m:fPr>
                                <m:num>
                                  <m:r>
                                    <a:rPr lang="en-US" sz="1800">
                                      <a:effectLst/>
                                      <a:latin typeface="Cambria Math" panose="02040503050406030204" pitchFamily="18" charset="0"/>
                                    </a:rPr>
                                    <m:t>0.004 </m:t>
                                  </m:r>
                                  <m:r>
                                    <a:rPr lang="en-US" sz="1800">
                                      <a:effectLst/>
                                      <a:latin typeface="Cambria Math" panose="02040503050406030204" pitchFamily="18" charset="0"/>
                                    </a:rPr>
                                    <m:t>𝑐</m:t>
                                  </m:r>
                                </m:num>
                                <m:den>
                                  <m:r>
                                    <a:rPr lang="en-US" sz="1800">
                                      <a:effectLst/>
                                      <a:latin typeface="Cambria Math" panose="02040503050406030204" pitchFamily="18" charset="0"/>
                                    </a:rPr>
                                    <m:t>1 </m:t>
                                  </m:r>
                                  <m:r>
                                    <a:rPr lang="en-US" sz="1800">
                                      <a:effectLst/>
                                      <a:latin typeface="Cambria Math" panose="02040503050406030204" pitchFamily="18" charset="0"/>
                                    </a:rPr>
                                    <m:t>𝑚𝐿</m:t>
                                  </m:r>
                                </m:den>
                              </m:f>
                            </m:oMath>
                          </a14:m>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CO"/>
                        </a:p>
                      </a:txBody>
                      <a:tcPr/>
                    </a:tc>
                    <a:tc>
                      <a:txBody>
                        <a:bodyPr/>
                        <a:lstStyle/>
                        <a:p>
                          <a:pPr marL="0" marR="51435" algn="ctr">
                            <a:lnSpc>
                              <a:spcPct val="107000"/>
                            </a:lnSpc>
                            <a:spcBef>
                              <a:spcPts val="0"/>
                            </a:spcBef>
                            <a:spcAft>
                              <a:spcPts val="0"/>
                            </a:spcAft>
                          </a:pPr>
                          <a14:m>
                            <m:oMath xmlns:m="http://schemas.openxmlformats.org/officeDocument/2006/math">
                              <m:f>
                                <m:fPr>
                                  <m:ctrlPr>
                                    <a:rPr lang="en-CO" sz="1800" i="1">
                                      <a:effectLst/>
                                      <a:latin typeface="Cambria Math" panose="02040503050406030204" pitchFamily="18" charset="0"/>
                                    </a:rPr>
                                  </m:ctrlPr>
                                </m:fPr>
                                <m:num>
                                  <m:r>
                                    <a:rPr lang="en-US" sz="1800">
                                      <a:effectLst/>
                                      <a:latin typeface="Cambria Math" panose="02040503050406030204" pitchFamily="18" charset="0"/>
                                    </a:rPr>
                                    <m:t>283.588 </m:t>
                                  </m:r>
                                  <m:r>
                                    <a:rPr lang="en-US" sz="1800">
                                      <a:effectLst/>
                                      <a:latin typeface="Cambria Math" panose="02040503050406030204" pitchFamily="18" charset="0"/>
                                    </a:rPr>
                                    <m:t>𝑚𝐿</m:t>
                                  </m:r>
                                </m:num>
                                <m:den>
                                  <m:r>
                                    <a:rPr lang="en-US" sz="1800">
                                      <a:effectLst/>
                                      <a:latin typeface="Cambria Math" panose="02040503050406030204" pitchFamily="18" charset="0"/>
                                    </a:rPr>
                                    <m:t>1 </m:t>
                                  </m:r>
                                  <m:r>
                                    <a:rPr lang="en-US" sz="1800">
                                      <a:effectLst/>
                                      <a:latin typeface="Cambria Math" panose="02040503050406030204" pitchFamily="18" charset="0"/>
                                    </a:rPr>
                                    <m:t>𝑐</m:t>
                                  </m:r>
                                </m:den>
                              </m:f>
                            </m:oMath>
                          </a14:m>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cups</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13999385"/>
                      </a:ext>
                    </a:extLst>
                  </a:tr>
                  <a:tr h="640080">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liters</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algn="ctr">
                            <a:lnSpc>
                              <a:spcPct val="107000"/>
                            </a:lnSpc>
                            <a:spcBef>
                              <a:spcPts val="0"/>
                            </a:spcBef>
                            <a:spcAft>
                              <a:spcPts val="0"/>
                            </a:spcAft>
                          </a:pPr>
                          <a14:m>
                            <m:oMath xmlns:m="http://schemas.openxmlformats.org/officeDocument/2006/math">
                              <m:f>
                                <m:fPr>
                                  <m:ctrlPr>
                                    <a:rPr lang="en-CO" sz="1800" i="1">
                                      <a:effectLst/>
                                      <a:latin typeface="Cambria Math" panose="02040503050406030204" pitchFamily="18" charset="0"/>
                                    </a:rPr>
                                  </m:ctrlPr>
                                </m:fPr>
                                <m:num>
                                  <m:r>
                                    <a:rPr lang="en-US" sz="1800">
                                      <a:effectLst/>
                                      <a:latin typeface="Cambria Math" panose="02040503050406030204" pitchFamily="18" charset="0"/>
                                    </a:rPr>
                                    <m:t>1.057 </m:t>
                                  </m:r>
                                  <m:r>
                                    <a:rPr lang="en-US" sz="1800">
                                      <a:effectLst/>
                                      <a:latin typeface="Cambria Math" panose="02040503050406030204" pitchFamily="18" charset="0"/>
                                    </a:rPr>
                                    <m:t>𝑞𝑡</m:t>
                                  </m:r>
                                </m:num>
                                <m:den>
                                  <m:r>
                                    <a:rPr lang="en-US" sz="1800">
                                      <a:effectLst/>
                                      <a:latin typeface="Cambria Math" panose="02040503050406030204" pitchFamily="18" charset="0"/>
                                    </a:rPr>
                                    <m:t>1 </m:t>
                                  </m:r>
                                  <m:r>
                                    <a:rPr lang="en-US" sz="1800">
                                      <a:effectLst/>
                                      <a:latin typeface="Cambria Math" panose="02040503050406030204" pitchFamily="18" charset="0"/>
                                    </a:rPr>
                                    <m:t>𝐿</m:t>
                                  </m:r>
                                </m:den>
                              </m:f>
                            </m:oMath>
                          </a14:m>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CO"/>
                        </a:p>
                      </a:txBody>
                      <a:tcPr/>
                    </a:tc>
                    <a:tc>
                      <a:txBody>
                        <a:bodyPr/>
                        <a:lstStyle/>
                        <a:p>
                          <a:pPr marL="0" marR="51435" algn="ctr">
                            <a:lnSpc>
                              <a:spcPct val="107000"/>
                            </a:lnSpc>
                            <a:spcBef>
                              <a:spcPts val="0"/>
                            </a:spcBef>
                            <a:spcAft>
                              <a:spcPts val="0"/>
                            </a:spcAft>
                          </a:pPr>
                          <a14:m>
                            <m:oMath xmlns:m="http://schemas.openxmlformats.org/officeDocument/2006/math">
                              <m:f>
                                <m:fPr>
                                  <m:ctrlPr>
                                    <a:rPr lang="en-CO" sz="1800" i="1">
                                      <a:effectLst/>
                                      <a:latin typeface="Cambria Math" panose="02040503050406030204" pitchFamily="18" charset="0"/>
                                    </a:rPr>
                                  </m:ctrlPr>
                                </m:fPr>
                                <m:num>
                                  <m:r>
                                    <a:rPr lang="en-US" sz="1800">
                                      <a:effectLst/>
                                      <a:latin typeface="Cambria Math" panose="02040503050406030204" pitchFamily="18" charset="0"/>
                                    </a:rPr>
                                    <m:t>1 </m:t>
                                  </m:r>
                                  <m:r>
                                    <a:rPr lang="en-US" sz="1800">
                                      <a:effectLst/>
                                      <a:latin typeface="Cambria Math" panose="02040503050406030204" pitchFamily="18" charset="0"/>
                                    </a:rPr>
                                    <m:t>𝐿</m:t>
                                  </m:r>
                                </m:num>
                                <m:den>
                                  <m:r>
                                    <a:rPr lang="en-US" sz="1800">
                                      <a:effectLst/>
                                      <a:latin typeface="Cambria Math" panose="02040503050406030204" pitchFamily="18" charset="0"/>
                                    </a:rPr>
                                    <m:t>1.057 </m:t>
                                  </m:r>
                                  <m:r>
                                    <a:rPr lang="en-US" sz="1800">
                                      <a:effectLst/>
                                      <a:latin typeface="Cambria Math" panose="02040503050406030204" pitchFamily="18" charset="0"/>
                                    </a:rPr>
                                    <m:t>𝑞𝑡</m:t>
                                  </m:r>
                                </m:den>
                              </m:f>
                            </m:oMath>
                          </a14:m>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quarts</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34892633"/>
                      </a:ext>
                    </a:extLst>
                  </a:tr>
                  <a:tr h="640080">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gallons</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pPr marL="0" marR="0" algn="ctr">
                            <a:lnSpc>
                              <a:spcPct val="107000"/>
                            </a:lnSpc>
                            <a:spcBef>
                              <a:spcPts val="0"/>
                            </a:spcBef>
                            <a:spcAft>
                              <a:spcPts val="0"/>
                            </a:spcAft>
                          </a:pPr>
                          <a14:m>
                            <m:oMath xmlns:m="http://schemas.openxmlformats.org/officeDocument/2006/math">
                              <m:f>
                                <m:fPr>
                                  <m:ctrlPr>
                                    <a:rPr lang="en-CO" sz="1800" i="1">
                                      <a:effectLst/>
                                      <a:latin typeface="Cambria Math" panose="02040503050406030204" pitchFamily="18" charset="0"/>
                                    </a:rPr>
                                  </m:ctrlPr>
                                </m:fPr>
                                <m:num>
                                  <m:r>
                                    <a:rPr lang="en-US" sz="1800">
                                      <a:effectLst/>
                                      <a:latin typeface="Cambria Math" panose="02040503050406030204" pitchFamily="18" charset="0"/>
                                    </a:rPr>
                                    <m:t>1 </m:t>
                                  </m:r>
                                  <m:r>
                                    <a:rPr lang="en-US" sz="1800">
                                      <a:effectLst/>
                                      <a:latin typeface="Cambria Math" panose="02040503050406030204" pitchFamily="18" charset="0"/>
                                    </a:rPr>
                                    <m:t>𝑔𝑎𝑙</m:t>
                                  </m:r>
                                  <m:r>
                                    <a:rPr lang="en-US" sz="1800">
                                      <a:effectLst/>
                                      <a:latin typeface="Cambria Math" panose="02040503050406030204" pitchFamily="18" charset="0"/>
                                    </a:rPr>
                                    <m:t>.</m:t>
                                  </m:r>
                                </m:num>
                                <m:den>
                                  <m:r>
                                    <a:rPr lang="en-US" sz="1800">
                                      <a:effectLst/>
                                      <a:latin typeface="Cambria Math" panose="02040503050406030204" pitchFamily="18" charset="0"/>
                                    </a:rPr>
                                    <m:t>3.785 </m:t>
                                  </m:r>
                                  <m:r>
                                    <a:rPr lang="en-US" sz="1800">
                                      <a:effectLst/>
                                      <a:latin typeface="Cambria Math" panose="02040503050406030204" pitchFamily="18" charset="0"/>
                                    </a:rPr>
                                    <m:t>𝐿</m:t>
                                  </m:r>
                                </m:den>
                              </m:f>
                            </m:oMath>
                          </a14:m>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CO"/>
                        </a:p>
                      </a:txBody>
                      <a:tcPr/>
                    </a:tc>
                    <a:tc>
                      <a:txBody>
                        <a:bodyPr/>
                        <a:lstStyle/>
                        <a:p>
                          <a:pPr marL="0" marR="51435" algn="ctr">
                            <a:lnSpc>
                              <a:spcPct val="107000"/>
                            </a:lnSpc>
                            <a:spcBef>
                              <a:spcPts val="0"/>
                            </a:spcBef>
                            <a:spcAft>
                              <a:spcPts val="0"/>
                            </a:spcAft>
                          </a:pPr>
                          <a14:m>
                            <m:oMath xmlns:m="http://schemas.openxmlformats.org/officeDocument/2006/math">
                              <m:f>
                                <m:fPr>
                                  <m:ctrlPr>
                                    <a:rPr lang="en-CO" sz="1800" i="1">
                                      <a:effectLst/>
                                      <a:latin typeface="Cambria Math" panose="02040503050406030204" pitchFamily="18" charset="0"/>
                                    </a:rPr>
                                  </m:ctrlPr>
                                </m:fPr>
                                <m:num>
                                  <m:r>
                                    <a:rPr lang="en-US" sz="1800">
                                      <a:effectLst/>
                                      <a:latin typeface="Cambria Math" panose="02040503050406030204" pitchFamily="18" charset="0"/>
                                    </a:rPr>
                                    <m:t>1 </m:t>
                                  </m:r>
                                  <m:r>
                                    <a:rPr lang="en-US" sz="1800">
                                      <a:effectLst/>
                                      <a:latin typeface="Cambria Math" panose="02040503050406030204" pitchFamily="18" charset="0"/>
                                    </a:rPr>
                                    <m:t>𝐿</m:t>
                                  </m:r>
                                </m:num>
                                <m:den>
                                  <m:r>
                                    <a:rPr lang="en-US" sz="1800">
                                      <a:effectLst/>
                                      <a:latin typeface="Cambria Math" panose="02040503050406030204" pitchFamily="18" charset="0"/>
                                    </a:rPr>
                                    <m:t>0.264 </m:t>
                                  </m:r>
                                  <m:r>
                                    <a:rPr lang="en-US" sz="1800">
                                      <a:effectLst/>
                                      <a:latin typeface="Cambria Math" panose="02040503050406030204" pitchFamily="18" charset="0"/>
                                    </a:rPr>
                                    <m:t>𝑔𝑎𝑙</m:t>
                                  </m:r>
                                  <m:r>
                                    <a:rPr lang="en-US" sz="1800">
                                      <a:effectLst/>
                                      <a:latin typeface="Cambria Math" panose="02040503050406030204" pitchFamily="18" charset="0"/>
                                    </a:rPr>
                                    <m:t>.</m:t>
                                  </m:r>
                                </m:den>
                              </m:f>
                            </m:oMath>
                          </a14:m>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liters</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53891448"/>
                      </a:ext>
                    </a:extLst>
                  </a:tr>
                </a:tbl>
              </a:graphicData>
            </a:graphic>
          </p:graphicFrame>
        </mc:Choice>
        <mc:Fallback xmlns="">
          <p:graphicFrame>
            <p:nvGraphicFramePr>
              <p:cNvPr id="3" name="Table 2">
                <a:extLst>
                  <a:ext uri="{FF2B5EF4-FFF2-40B4-BE49-F238E27FC236}">
                    <a16:creationId xmlns:a16="http://schemas.microsoft.com/office/drawing/2014/main" id="{BABFC05E-6F83-1148-A23F-A75C8D7BD60F}"/>
                  </a:ext>
                </a:extLst>
              </p:cNvPr>
              <p:cNvGraphicFramePr>
                <a:graphicFrameLocks noGrp="1"/>
              </p:cNvGraphicFramePr>
              <p:nvPr>
                <p:extLst>
                  <p:ext uri="{D42A27DB-BD31-4B8C-83A1-F6EECF244321}">
                    <p14:modId xmlns:p14="http://schemas.microsoft.com/office/powerpoint/2010/main" val="2970155656"/>
                  </p:ext>
                </p:extLst>
              </p:nvPr>
            </p:nvGraphicFramePr>
            <p:xfrm>
              <a:off x="2668587" y="2517025"/>
              <a:ext cx="6854826" cy="3583480"/>
            </p:xfrm>
            <a:graphic>
              <a:graphicData uri="http://schemas.openxmlformats.org/drawingml/2006/table">
                <a:tbl>
                  <a:tblPr firstRow="1" firstCol="1" bandRow="1">
                    <a:tableStyleId>{A91F0D33-8C57-4600-99A7-42BC86742BE1}</a:tableStyleId>
                  </a:tblPr>
                  <a:tblGrid>
                    <a:gridCol w="2211965">
                      <a:extLst>
                        <a:ext uri="{9D8B030D-6E8A-4147-A177-3AD203B41FA5}">
                          <a16:colId xmlns:a16="http://schemas.microsoft.com/office/drawing/2014/main" val="3182870374"/>
                        </a:ext>
                      </a:extLst>
                    </a:gridCol>
                    <a:gridCol w="460074">
                      <a:extLst>
                        <a:ext uri="{9D8B030D-6E8A-4147-A177-3AD203B41FA5}">
                          <a16:colId xmlns:a16="http://schemas.microsoft.com/office/drawing/2014/main" val="2821030796"/>
                        </a:ext>
                      </a:extLst>
                    </a:gridCol>
                    <a:gridCol w="1005718">
                      <a:extLst>
                        <a:ext uri="{9D8B030D-6E8A-4147-A177-3AD203B41FA5}">
                          <a16:colId xmlns:a16="http://schemas.microsoft.com/office/drawing/2014/main" val="1588406806"/>
                        </a:ext>
                      </a:extLst>
                    </a:gridCol>
                    <a:gridCol w="1603108">
                      <a:extLst>
                        <a:ext uri="{9D8B030D-6E8A-4147-A177-3AD203B41FA5}">
                          <a16:colId xmlns:a16="http://schemas.microsoft.com/office/drawing/2014/main" val="908190142"/>
                        </a:ext>
                      </a:extLst>
                    </a:gridCol>
                    <a:gridCol w="1573961">
                      <a:extLst>
                        <a:ext uri="{9D8B030D-6E8A-4147-A177-3AD203B41FA5}">
                          <a16:colId xmlns:a16="http://schemas.microsoft.com/office/drawing/2014/main" val="3692490196"/>
                        </a:ext>
                      </a:extLst>
                    </a:gridCol>
                  </a:tblGrid>
                  <a:tr h="383080">
                    <a:tc gridSpan="5">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Conversion Table</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hMerge="1">
                      <a:txBody>
                        <a:bodyPr/>
                        <a:lstStyle/>
                        <a:p>
                          <a:endParaRPr lang="en-CO"/>
                        </a:p>
                      </a:txBody>
                      <a:tcPr/>
                    </a:tc>
                    <a:tc hMerge="1">
                      <a:txBody>
                        <a:bodyPr/>
                        <a:lstStyle/>
                        <a:p>
                          <a:endParaRPr lang="en-CO"/>
                        </a:p>
                      </a:txBody>
                      <a:tcPr/>
                    </a:tc>
                    <a:tc hMerge="1">
                      <a:txBody>
                        <a:bodyPr/>
                        <a:lstStyle/>
                        <a:p>
                          <a:endParaRPr lang="en-CO"/>
                        </a:p>
                      </a:txBody>
                      <a:tcPr/>
                    </a:tc>
                    <a:tc hMerge="1">
                      <a:txBody>
                        <a:bodyPr/>
                        <a:lstStyle/>
                        <a:p>
                          <a:endParaRPr lang="en-CO"/>
                        </a:p>
                      </a:txBody>
                      <a:tcPr/>
                    </a:tc>
                    <a:extLst>
                      <a:ext uri="{0D108BD9-81ED-4DB2-BD59-A6C34878D82A}">
                        <a16:rowId xmlns:a16="http://schemas.microsoft.com/office/drawing/2014/main" val="846165186"/>
                      </a:ext>
                    </a:extLst>
                  </a:tr>
                  <a:tr h="640080">
                    <a:tc gridSpan="2">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Converting from…</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CO"/>
                        </a:p>
                      </a:txBody>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 </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51435"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 </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…to</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60789900"/>
                      </a:ext>
                    </a:extLst>
                  </a:tr>
                  <a:tr h="640080">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fluid ounces</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endParaRPr lang="en-US"/>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51037" t="-163810" r="-217427" b="-302857"/>
                          </a:stretch>
                        </a:blipFill>
                      </a:tcPr>
                    </a:tc>
                    <a:tc hMerge="1">
                      <a:txBody>
                        <a:bodyPr/>
                        <a:lstStyle/>
                        <a:p>
                          <a:endParaRPr lang="en-CO"/>
                        </a:p>
                      </a:txBody>
                      <a:tcPr/>
                    </a:tc>
                    <a:tc>
                      <a:txBody>
                        <a:bodyPr/>
                        <a:lstStyle/>
                        <a:p>
                          <a:endParaRPr lang="en-US"/>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230038" t="-163810" r="-99240" b="-302857"/>
                          </a:stretch>
                        </a:blipFill>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milliliters</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2579791"/>
                      </a:ext>
                    </a:extLst>
                  </a:tr>
                  <a:tr h="640080">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milliliters</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endParaRPr lang="en-US"/>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51037" t="-261321" r="-217427" b="-200000"/>
                          </a:stretch>
                        </a:blipFill>
                      </a:tcPr>
                    </a:tc>
                    <a:tc hMerge="1">
                      <a:txBody>
                        <a:bodyPr/>
                        <a:lstStyle/>
                        <a:p>
                          <a:endParaRPr lang="en-CO"/>
                        </a:p>
                      </a:txBody>
                      <a:tcPr/>
                    </a:tc>
                    <a:tc>
                      <a:txBody>
                        <a:bodyPr/>
                        <a:lstStyle/>
                        <a:p>
                          <a:endParaRPr lang="en-US"/>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230038" t="-261321" r="-99240" b="-200000"/>
                          </a:stretch>
                        </a:blipFill>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cups</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13999385"/>
                      </a:ext>
                    </a:extLst>
                  </a:tr>
                  <a:tr h="640080">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liters</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endParaRPr lang="en-US"/>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51037" t="-364762" r="-217427" b="-101905"/>
                          </a:stretch>
                        </a:blipFill>
                      </a:tcPr>
                    </a:tc>
                    <a:tc hMerge="1">
                      <a:txBody>
                        <a:bodyPr/>
                        <a:lstStyle/>
                        <a:p>
                          <a:endParaRPr lang="en-CO"/>
                        </a:p>
                      </a:txBody>
                      <a:tcPr/>
                    </a:tc>
                    <a:tc>
                      <a:txBody>
                        <a:bodyPr/>
                        <a:lstStyle/>
                        <a:p>
                          <a:endParaRPr lang="en-US"/>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230038" t="-364762" r="-99240" b="-101905"/>
                          </a:stretch>
                        </a:blipFill>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quarts</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34892633"/>
                      </a:ext>
                    </a:extLst>
                  </a:tr>
                  <a:tr h="640080">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gallons</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2">
                      <a:txBody>
                        <a:bodyPr/>
                        <a:lstStyle/>
                        <a:p>
                          <a:endParaRPr lang="en-US"/>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151037" t="-464762" r="-217427" b="-1905"/>
                          </a:stretch>
                        </a:blipFill>
                      </a:tcPr>
                    </a:tc>
                    <a:tc hMerge="1">
                      <a:txBody>
                        <a:bodyPr/>
                        <a:lstStyle/>
                        <a:p>
                          <a:endParaRPr lang="en-CO"/>
                        </a:p>
                      </a:txBody>
                      <a:tcPr/>
                    </a:tc>
                    <a:tc>
                      <a:txBody>
                        <a:bodyPr/>
                        <a:lstStyle/>
                        <a:p>
                          <a:endParaRPr lang="en-US"/>
                        </a:p>
                      </a:txBody>
                      <a:tcPr marL="68580" marR="6858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5"/>
                          <a:stretch>
                            <a:fillRect l="-230038" t="-464762" r="-99240" b="-1905"/>
                          </a:stretch>
                        </a:blipFill>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liters</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53891448"/>
                      </a:ext>
                    </a:extLst>
                  </a:tr>
                </a:tbl>
              </a:graphicData>
            </a:graphic>
          </p:graphicFrame>
        </mc:Fallback>
      </mc:AlternateContent>
    </p:spTree>
    <p:extLst>
      <p:ext uri="{BB962C8B-B14F-4D97-AF65-F5344CB8AC3E}">
        <p14:creationId xmlns:p14="http://schemas.microsoft.com/office/powerpoint/2010/main" val="5539956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035036"/>
          </a:solidFill>
          <a:ln w="9525" cap="flat" cmpd="sng">
            <a:solidFill>
              <a:srgbClr val="03503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3433" y="6129037"/>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D9F7A919-8B1E-2741-BB78-98A66295B9F8}"/>
                  </a:ext>
                </a:extLst>
              </p:cNvPr>
              <p:cNvSpPr/>
              <p:nvPr/>
            </p:nvSpPr>
            <p:spPr>
              <a:xfrm>
                <a:off x="605642" y="860780"/>
                <a:ext cx="10280072" cy="1569660"/>
              </a:xfrm>
              <a:prstGeom prst="rect">
                <a:avLst/>
              </a:prstGeom>
            </p:spPr>
            <p:txBody>
              <a:bodyPr wrap="square">
                <a:spAutoFit/>
              </a:bodyPr>
              <a:lstStyle/>
              <a:p>
                <a:pPr marL="457200" indent="-457200">
                  <a:buFont typeface="+mj-lt"/>
                  <a:buAutoNum type="arabicPeriod" startAt="2"/>
                </a:pPr>
                <a:r>
                  <a:rPr lang="en-US" sz="2400" dirty="0" err="1">
                    <a:latin typeface="Verdana" panose="020B0604030504040204" pitchFamily="34" charset="0"/>
                    <a:ea typeface="Times New Roman" panose="02020603050405020304" pitchFamily="18" charset="0"/>
                  </a:rPr>
                  <a:t>Carmita</a:t>
                </a:r>
                <a:r>
                  <a:rPr lang="en-US" sz="2400" dirty="0">
                    <a:latin typeface="Verdana" panose="020B0604030504040204" pitchFamily="34" charset="0"/>
                    <a:ea typeface="Times New Roman" panose="02020603050405020304" pitchFamily="18" charset="0"/>
                  </a:rPr>
                  <a:t> is mixing sweet tea and lemonade to make her favorite beverage. She mixes </a:t>
                </a:r>
                <a14:m>
                  <m:oMath xmlns:m="http://schemas.openxmlformats.org/officeDocument/2006/math">
                    <m:r>
                      <a:rPr lang="en-US" sz="2400" i="1" dirty="0">
                        <a:latin typeface="Cambria Math" panose="02040503050406030204" pitchFamily="18" charset="0"/>
                        <a:ea typeface="Times New Roman" panose="02020603050405020304" pitchFamily="18" charset="0"/>
                      </a:rPr>
                      <m:t>20</m:t>
                    </m:r>
                  </m:oMath>
                </a14:m>
                <a:r>
                  <a:rPr lang="en-US" sz="2400" dirty="0">
                    <a:latin typeface="Verdana" panose="020B0604030504040204" pitchFamily="34" charset="0"/>
                    <a:ea typeface="Times New Roman" panose="02020603050405020304" pitchFamily="18" charset="0"/>
                  </a:rPr>
                  <a:t> fluid ounces (</a:t>
                </a:r>
                <a:r>
                  <a:rPr lang="en-US" sz="2400" dirty="0" err="1">
                    <a:latin typeface="Verdana" panose="020B0604030504040204" pitchFamily="34" charset="0"/>
                    <a:ea typeface="Times New Roman" panose="02020603050405020304" pitchFamily="18" charset="0"/>
                  </a:rPr>
                  <a:t>fl</a:t>
                </a:r>
                <a:r>
                  <a:rPr lang="en-US" sz="2400" dirty="0">
                    <a:latin typeface="Verdana" panose="020B0604030504040204" pitchFamily="34" charset="0"/>
                    <a:ea typeface="Times New Roman" panose="02020603050405020304" pitchFamily="18" charset="0"/>
                  </a:rPr>
                  <a:t> oz) of sweet tea with </a:t>
                </a:r>
                <a14:m>
                  <m:oMath xmlns:m="http://schemas.openxmlformats.org/officeDocument/2006/math">
                    <m:r>
                      <a:rPr lang="en-US" sz="2400" i="1" dirty="0">
                        <a:latin typeface="Cambria Math" panose="02040503050406030204" pitchFamily="18" charset="0"/>
                        <a:ea typeface="Times New Roman" panose="02020603050405020304" pitchFamily="18" charset="0"/>
                      </a:rPr>
                      <m:t>16</m:t>
                    </m:r>
                  </m:oMath>
                </a14:m>
                <a:r>
                  <a:rPr lang="en-US" sz="2400" dirty="0">
                    <a:latin typeface="Verdana" panose="020B0604030504040204" pitchFamily="34" charset="0"/>
                    <a:ea typeface="Times New Roman" panose="02020603050405020304" pitchFamily="18" charset="0"/>
                  </a:rPr>
                  <a:t> fluid ounces of lemonade. How many liters (L) of the beverage did she mix?</a:t>
                </a:r>
              </a:p>
            </p:txBody>
          </p:sp>
        </mc:Choice>
        <mc:Fallback>
          <p:sp>
            <p:nvSpPr>
              <p:cNvPr id="2" name="Rectangle 1">
                <a:extLst>
                  <a:ext uri="{FF2B5EF4-FFF2-40B4-BE49-F238E27FC236}">
                    <a16:creationId xmlns:a16="http://schemas.microsoft.com/office/drawing/2014/main" id="{D9F7A919-8B1E-2741-BB78-98A66295B9F8}"/>
                  </a:ext>
                </a:extLst>
              </p:cNvPr>
              <p:cNvSpPr>
                <a:spLocks noRot="1" noChangeAspect="1" noMove="1" noResize="1" noEditPoints="1" noAdjustHandles="1" noChangeArrowheads="1" noChangeShapeType="1" noTextEdit="1"/>
              </p:cNvSpPr>
              <p:nvPr/>
            </p:nvSpPr>
            <p:spPr>
              <a:xfrm>
                <a:off x="605642" y="860780"/>
                <a:ext cx="10280072" cy="1569660"/>
              </a:xfrm>
              <a:prstGeom prst="rect">
                <a:avLst/>
              </a:prstGeom>
              <a:blipFill>
                <a:blip r:embed="rId4"/>
                <a:stretch>
                  <a:fillRect l="-889" t="-3101" b="-7752"/>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id="{F719A187-0842-F343-A6A1-7FD23B0B7316}"/>
              </a:ext>
            </a:extLst>
          </p:cNvPr>
          <p:cNvSpPr txBox="1"/>
          <p:nvPr/>
        </p:nvSpPr>
        <p:spPr>
          <a:xfrm>
            <a:off x="7314749" y="6466113"/>
            <a:ext cx="4218683"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262</a:t>
            </a:r>
            <a:endParaRPr i="1" dirty="0">
              <a:latin typeface="Calibri"/>
              <a:ea typeface="Calibri"/>
              <a:cs typeface="Calibri"/>
              <a:sym typeface="Calibri"/>
            </a:endParaRPr>
          </a:p>
        </p:txBody>
      </p:sp>
    </p:spTree>
    <p:extLst>
      <p:ext uri="{BB962C8B-B14F-4D97-AF65-F5344CB8AC3E}">
        <p14:creationId xmlns:p14="http://schemas.microsoft.com/office/powerpoint/2010/main" val="3221648716"/>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1446</TotalTime>
  <Words>1618</Words>
  <Application>Microsoft Office PowerPoint</Application>
  <PresentationFormat>Widescreen</PresentationFormat>
  <Paragraphs>257</Paragraphs>
  <Slides>32</Slides>
  <Notes>32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Cambria Math</vt:lpstr>
      <vt:lpstr>Arial</vt:lpstr>
      <vt:lpstr>Verdana</vt:lpstr>
      <vt:lpstr>Wingdings</vt:lpstr>
      <vt:lpstr>Century Gothic</vt:lpstr>
      <vt:lpstr>Calibri</vt:lpstr>
      <vt:lpstr>Arial Black</vt:lpstr>
      <vt:lpstr>1_Office Theme</vt:lpstr>
      <vt:lpstr>7th Grade Math  Unit 6, Lesson 5  Converting Units of Volume  Volume 1, pg. 256  </vt:lpstr>
      <vt:lpstr>Benchmark</vt:lpstr>
      <vt:lpstr>PowerPoint Presentation</vt:lpstr>
      <vt:lpstr>PowerPoint Presentation</vt:lpstr>
      <vt:lpstr>Warm-Up</vt:lpstr>
      <vt:lpstr>PowerPoint Presentation</vt:lpstr>
      <vt:lpstr>PowerPoint Presentation</vt:lpstr>
      <vt:lpstr>Activity</vt:lpstr>
      <vt:lpstr>PowerPoint Presentation</vt:lpstr>
      <vt:lpstr>PowerPoint Presentation</vt:lpstr>
      <vt:lpstr>PowerPoint Presentation</vt:lpstr>
      <vt:lpstr>PowerPoint Presentation</vt:lpstr>
      <vt:lpstr>PowerPoint Presentation</vt:lpstr>
      <vt:lpstr>PowerPoint Presentation</vt:lpstr>
      <vt:lpstr>Try It</vt:lpstr>
      <vt:lpstr>PowerPoint Presentation</vt:lpstr>
      <vt:lpstr>PowerPoint Presentation</vt:lpstr>
      <vt:lpstr>Guided Practice</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27</cp:revision>
  <dcterms:created xsi:type="dcterms:W3CDTF">2015-03-17T18:51:18Z</dcterms:created>
  <dcterms:modified xsi:type="dcterms:W3CDTF">2022-06-08T14:33:56Z</dcterms:modified>
</cp:coreProperties>
</file>