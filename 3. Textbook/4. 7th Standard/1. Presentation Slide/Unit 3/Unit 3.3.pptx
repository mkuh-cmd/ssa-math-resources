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345" r:id="rId7"/>
    <p:sldId id="286" r:id="rId8"/>
    <p:sldId id="261" r:id="rId9"/>
    <p:sldId id="287" r:id="rId10"/>
    <p:sldId id="314" r:id="rId11"/>
    <p:sldId id="315" r:id="rId12"/>
    <p:sldId id="316" r:id="rId13"/>
    <p:sldId id="405" r:id="rId14"/>
    <p:sldId id="406" r:id="rId15"/>
    <p:sldId id="395" r:id="rId16"/>
    <p:sldId id="396" r:id="rId17"/>
    <p:sldId id="397" r:id="rId18"/>
    <p:sldId id="398" r:id="rId19"/>
    <p:sldId id="306" r:id="rId20"/>
    <p:sldId id="307" r:id="rId21"/>
  </p:sldIdLst>
  <p:sldSz cx="12192000" cy="6858000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 Math" panose="02040503050406030204" pitchFamily="18" charset="0"/>
      <p:regular r:id="rId28"/>
    </p:embeddedFont>
    <p:embeddedFont>
      <p:font typeface="Century Gothic" panose="020B0502020202020204" pitchFamily="34" charset="0"/>
      <p:regular r:id="rId29"/>
      <p:bold r:id="rId30"/>
      <p:italic r:id="rId31"/>
      <p:boldItalic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FABB42"/>
    <a:srgbClr val="F79B59"/>
    <a:srgbClr val="F26763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719"/>
  </p:normalViewPr>
  <p:slideViewPr>
    <p:cSldViewPr snapToGrid="0">
      <p:cViewPr varScale="1">
        <p:scale>
          <a:sx n="57" d="100"/>
          <a:sy n="57" d="100"/>
        </p:scale>
        <p:origin x="72" y="3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12.fntdata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54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53915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3936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5865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8726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2052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6036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3128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0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72637" y="2212771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Rational Numbers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96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903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6" y="1326150"/>
            <a:ext cx="112454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MA.7.NSO.2.2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Add, subtract, multiply, and divide rational numbers with procedural fluency.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237332" y="1130"/>
            <a:ext cx="107973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730265" y="1455367"/>
            <a:ext cx="11058611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7CC83FF-5C83-CD42-A75D-B443F14E1C1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8888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462548"/>
            <a:ext cx="1050800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fluently multiply rational numbers.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2363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3D2F04D-C861-A149-B5F8-A913FBED75A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8" y="290983"/>
            <a:ext cx="8019300" cy="56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3.3.1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231707"/>
                <a:ext cx="1107827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the digits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at most one time each, fill in the boxes so that the top two equations are equal, and the bottom equation has the greatest value.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231707"/>
                <a:ext cx="11078276" cy="707886"/>
              </a:xfrm>
              <a:prstGeom prst="rect">
                <a:avLst/>
              </a:prstGeom>
              <a:blipFill>
                <a:blip r:embed="rId5"/>
                <a:stretch>
                  <a:fillRect l="-573" t="-3509" r="-1145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Shape, square&#10;&#10;Description automatically generated">
            <a:extLst>
              <a:ext uri="{FF2B5EF4-FFF2-40B4-BE49-F238E27FC236}">
                <a16:creationId xmlns:a16="http://schemas.microsoft.com/office/drawing/2014/main" id="{847A144F-78EE-8241-9791-D4A4B44D686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1400" y="2342532"/>
            <a:ext cx="3629199" cy="411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7602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878F005D-E0D2-7F45-A907-1266AA0ED0D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3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9843" y="-86777"/>
            <a:ext cx="103130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3.3.2 Collaboration: Signed Number Rules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B19A2-BBA2-0441-AC88-F1F62E75949B}"/>
              </a:ext>
            </a:extLst>
          </p:cNvPr>
          <p:cNvSpPr txBox="1"/>
          <p:nvPr/>
        </p:nvSpPr>
        <p:spPr>
          <a:xfrm>
            <a:off x="731520" y="1690062"/>
            <a:ext cx="110180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blank with the words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or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describe the rules for multiplying integers.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product of two positive integers is a ____________ integer. </a:t>
            </a:r>
          </a:p>
          <a:p>
            <a:pPr marL="914400" indent="-4508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product of two negative integers is a ___________ integer. </a:t>
            </a:r>
          </a:p>
          <a:p>
            <a:pPr marL="914400" indent="-4508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product of a negative integer and a positive integer is a ____________ integer.</a:t>
            </a: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2C83C314-3369-C947-A6CB-C7603EFBF738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9811" cy="7498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497119" y="423764"/>
            <a:ext cx="11213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whether you think the same rules apply to rational numbers. Write a summary of your reasoning.</a:t>
            </a: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457790" y="373377"/>
            <a:ext cx="11183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 Use a calculator to find the product of each expression to verify if the same rules for signs apply when multiplying rational numbers.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6B5FDB6-1DCD-A24F-96B9-D6C2B31A30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1733076"/>
                  </p:ext>
                </p:extLst>
              </p:nvPr>
            </p:nvGraphicFramePr>
            <p:xfrm>
              <a:off x="2429384" y="1602216"/>
              <a:ext cx="7333232" cy="456107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8051583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451435680"/>
                        </a:ext>
                      </a:extLst>
                    </a:gridCol>
                    <a:gridCol w="1572512">
                      <a:extLst>
                        <a:ext uri="{9D8B030D-6E8A-4147-A177-3AD203B41FA5}">
                          <a16:colId xmlns:a16="http://schemas.microsoft.com/office/drawing/2014/main" val="304461379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922815470"/>
                        </a:ext>
                      </a:extLst>
                    </a:gridCol>
                  </a:tblGrid>
                  <a:tr h="117005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Sign of Product Using the Rules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Product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Did the Same Rule Apply?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4034868"/>
                      </a:ext>
                    </a:extLst>
                  </a:tr>
                  <a:tr h="7798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828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2867385"/>
                      </a:ext>
                    </a:extLst>
                  </a:tr>
                  <a:tr h="7798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18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sPre>
                                      <m:sPrePr>
                                        <m:ctrlPr>
                                          <a:rPr lang="x-none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PrePr>
                                      <m:sub/>
                                      <m:sup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−</m:t>
                                        </m:r>
                                      </m:sup>
                                      <m:e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libri" panose="020F0502020204030204" pitchFamily="34" charset="0"/>
                                          </a:rPr>
                                          <m:t>4</m:t>
                                        </m:r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Calibri" panose="020F0502020204030204" pitchFamily="34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Calibri" panose="020F0502020204030204" pitchFamily="34" charset="0"/>
                                              </a:rPr>
                                              <m:t>8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Calibri" panose="020F0502020204030204" pitchFamily="34" charset="0"/>
                                              </a:rPr>
                                              <m:t>25</m:t>
                                            </m:r>
                                          </m:den>
                                        </m:f>
                                      </m:e>
                                    </m:sPre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828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397036"/>
                      </a:ext>
                    </a:extLst>
                  </a:tr>
                  <a:tr h="7798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21.285∙</m:t>
                                </m:r>
                                <m:sPre>
                                  <m:sPre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3.8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828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9450218"/>
                      </a:ext>
                    </a:extLst>
                  </a:tr>
                  <a:tr h="7798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91.09)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x-none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6.4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828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98333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6B5FDB6-1DCD-A24F-96B9-D6C2B31A30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1733076"/>
                  </p:ext>
                </p:extLst>
              </p:nvPr>
            </p:nvGraphicFramePr>
            <p:xfrm>
              <a:off x="2429384" y="1602216"/>
              <a:ext cx="7333232" cy="433450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8051583"/>
                        </a:ext>
                      </a:extLst>
                    </a:gridCol>
                    <a:gridCol w="2194560">
                      <a:extLst>
                        <a:ext uri="{9D8B030D-6E8A-4147-A177-3AD203B41FA5}">
                          <a16:colId xmlns:a16="http://schemas.microsoft.com/office/drawing/2014/main" val="451435680"/>
                        </a:ext>
                      </a:extLst>
                    </a:gridCol>
                    <a:gridCol w="1572512">
                      <a:extLst>
                        <a:ext uri="{9D8B030D-6E8A-4147-A177-3AD203B41FA5}">
                          <a16:colId xmlns:a16="http://schemas.microsoft.com/office/drawing/2014/main" val="304461379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922815470"/>
                        </a:ext>
                      </a:extLst>
                    </a:gridCol>
                  </a:tblGrid>
                  <a:tr h="117005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Sign of Product Using the Rules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Product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Did the Same Rule Apply?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4034868"/>
                      </a:ext>
                    </a:extLst>
                  </a:tr>
                  <a:tr h="8023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145313" r="-302083" b="-292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2867385"/>
                      </a:ext>
                    </a:extLst>
                  </a:tr>
                  <a:tr h="8023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249206" r="-302083" b="-196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397036"/>
                      </a:ext>
                    </a:extLst>
                  </a:tr>
                  <a:tr h="7798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360656" r="-30208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9450218"/>
                      </a:ext>
                    </a:extLst>
                  </a:tr>
                  <a:tr h="7798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453226" r="-302083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983336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5363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194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743448" y="628071"/>
            <a:ext cx="10787136" cy="214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sentence.</a:t>
            </a:r>
          </a:p>
          <a:p>
            <a:pPr marL="454025">
              <a:lnSpc>
                <a:spcPct val="2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rules for multiplying rational numbers are 			 the integer rules for  multiplication.</a:t>
            </a:r>
          </a:p>
        </p:txBody>
      </p:sp>
      <p:sp>
        <p:nvSpPr>
          <p:cNvPr id="7" name="Rectangle: Rounded Corners 2"/>
          <p:cNvSpPr/>
          <p:nvPr/>
        </p:nvSpPr>
        <p:spPr>
          <a:xfrm>
            <a:off x="8521250" y="1094005"/>
            <a:ext cx="2834640" cy="9765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07000"/>
              </a:lnSpc>
              <a:buFont typeface="Courier New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the same as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different from</a:t>
            </a:r>
          </a:p>
        </p:txBody>
      </p:sp>
    </p:spTree>
    <p:extLst>
      <p:ext uri="{BB962C8B-B14F-4D97-AF65-F5344CB8AC3E}">
        <p14:creationId xmlns:p14="http://schemas.microsoft.com/office/powerpoint/2010/main" val="362025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327398" y="2766150"/>
            <a:ext cx="82550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3.png" descr="Icon&#10;&#10;Description automatically generated">
            <a:extLst>
              <a:ext uri="{FF2B5EF4-FFF2-40B4-BE49-F238E27FC236}">
                <a16:creationId xmlns:a16="http://schemas.microsoft.com/office/drawing/2014/main" id="{0D19F6B6-A388-1443-A380-52938AB2312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8151" cy="115815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4827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463" y="-87966"/>
            <a:ext cx="1069889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3.3.3 Guided Practice: Applying Signed Number Rules to Rational Numbers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32" y="1416561"/>
            <a:ext cx="112060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decide who will be Partner A and who will be Partner B. Then, find the product of the expression in the column that matches your letter. </a:t>
            </a:r>
          </a:p>
        </p:txBody>
      </p:sp>
      <p:pic>
        <p:nvPicPr>
          <p:cNvPr id="10" name="image3.png" descr="Icon&#10;&#10;Description automatically generated">
            <a:extLst>
              <a:ext uri="{FF2B5EF4-FFF2-40B4-BE49-F238E27FC236}">
                <a16:creationId xmlns:a16="http://schemas.microsoft.com/office/drawing/2014/main" id="{7A2D9D50-9448-8245-B927-6E7175407A6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432" cy="747432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9DE60A1-8F40-5A4B-9C6E-6AA28FFA22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3850967"/>
                  </p:ext>
                </p:extLst>
              </p:nvPr>
            </p:nvGraphicFramePr>
            <p:xfrm>
              <a:off x="2491261" y="2458217"/>
              <a:ext cx="7209477" cy="366568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03159">
                      <a:extLst>
                        <a:ext uri="{9D8B030D-6E8A-4147-A177-3AD203B41FA5}">
                          <a16:colId xmlns:a16="http://schemas.microsoft.com/office/drawing/2014/main" val="619252587"/>
                        </a:ext>
                      </a:extLst>
                    </a:gridCol>
                    <a:gridCol w="2403159">
                      <a:extLst>
                        <a:ext uri="{9D8B030D-6E8A-4147-A177-3AD203B41FA5}">
                          <a16:colId xmlns:a16="http://schemas.microsoft.com/office/drawing/2014/main" val="119047911"/>
                        </a:ext>
                      </a:extLst>
                    </a:gridCol>
                    <a:gridCol w="2403159">
                      <a:extLst>
                        <a:ext uri="{9D8B030D-6E8A-4147-A177-3AD203B41FA5}">
                          <a16:colId xmlns:a16="http://schemas.microsoft.com/office/drawing/2014/main" val="3937027859"/>
                        </a:ext>
                      </a:extLst>
                    </a:gridCol>
                  </a:tblGrid>
                  <a:tr h="3666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Column 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Product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Column B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1232808"/>
                      </a:ext>
                    </a:extLst>
                  </a:tr>
                  <a:tr h="79639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790 </m:t>
                              </m:r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PH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7.9(10)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8929167"/>
                      </a:ext>
                    </a:extLst>
                  </a:tr>
                  <a:tr h="79639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7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∙7</m:t>
                              </m:r>
                            </m:oMath>
                          </a14:m>
                          <a:r>
                            <a:rPr lang="en-PH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(0.1)∙(−60)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9713491"/>
                      </a:ext>
                    </a:extLst>
                  </a:tr>
                  <a:tr h="79639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2.1∙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−8.4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PH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7111747"/>
                      </a:ext>
                    </a:extLst>
                  </a:tr>
                  <a:tr h="79639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2.5 ∙</m:t>
                                </m:r>
                                <m:sPre>
                                  <m:sPre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3.25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13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PH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33207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9DE60A1-8F40-5A4B-9C6E-6AA28FFA22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3850967"/>
                  </p:ext>
                </p:extLst>
              </p:nvPr>
            </p:nvGraphicFramePr>
            <p:xfrm>
              <a:off x="2491261" y="2458217"/>
              <a:ext cx="7209477" cy="366568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03159">
                      <a:extLst>
                        <a:ext uri="{9D8B030D-6E8A-4147-A177-3AD203B41FA5}">
                          <a16:colId xmlns:a16="http://schemas.microsoft.com/office/drawing/2014/main" val="619252587"/>
                        </a:ext>
                      </a:extLst>
                    </a:gridCol>
                    <a:gridCol w="2403159">
                      <a:extLst>
                        <a:ext uri="{9D8B030D-6E8A-4147-A177-3AD203B41FA5}">
                          <a16:colId xmlns:a16="http://schemas.microsoft.com/office/drawing/2014/main" val="119047911"/>
                        </a:ext>
                      </a:extLst>
                    </a:gridCol>
                    <a:gridCol w="2403159">
                      <a:extLst>
                        <a:ext uri="{9D8B030D-6E8A-4147-A177-3AD203B41FA5}">
                          <a16:colId xmlns:a16="http://schemas.microsoft.com/office/drawing/2014/main" val="3937027859"/>
                        </a:ext>
                      </a:extLst>
                    </a:gridCol>
                  </a:tblGrid>
                  <a:tr h="48012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Column 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Product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Column B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1232808"/>
                      </a:ext>
                    </a:extLst>
                  </a:tr>
                  <a:tr h="7963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9" t="-61905" r="-201587" b="-3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058" t="-61905" r="-1058" b="-3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929167"/>
                      </a:ext>
                    </a:extLst>
                  </a:tr>
                  <a:tr h="7963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9" t="-161905" r="-201587" b="-2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058" t="-161905" r="-1058" b="-2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9713491"/>
                      </a:ext>
                    </a:extLst>
                  </a:tr>
                  <a:tr h="7963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9" t="-261905" r="-201587" b="-1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058" t="-261905" r="-1058" b="-1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111747"/>
                      </a:ext>
                    </a:extLst>
                  </a:tr>
                  <a:tr h="7963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9" t="-361905" r="-201587" b="-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058" t="-361905" r="-1058" b="-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3207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2521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99" y="618435"/>
            <a:ext cx="116836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expressions in each row have the same product. Check your work with your partner and, if necessary, resolve any differences. Write the agreed-upon product in the center column.</a:t>
            </a:r>
          </a:p>
        </p:txBody>
      </p:sp>
    </p:spTree>
    <p:extLst>
      <p:ext uri="{BB962C8B-B14F-4D97-AF65-F5344CB8AC3E}">
        <p14:creationId xmlns:p14="http://schemas.microsoft.com/office/powerpoint/2010/main" val="3542021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19" y="605514"/>
            <a:ext cx="1124468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2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Choose a value from Row A and a value from Row B that, when multiplied, will result in a negative answer. Then, calculate the product.</a:t>
            </a: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7F3A3D4B-7AD0-2B4A-9814-BB816ED4AAB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6749" y="1761095"/>
            <a:ext cx="5418502" cy="418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35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3916" y="-88032"/>
            <a:ext cx="1012949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3.3.4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730266" y="1237668"/>
            <a:ext cx="1146173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product of each expression.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blanks with the words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or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positive factors result in a _________ product. </a:t>
            </a:r>
          </a:p>
          <a:p>
            <a:pPr marL="914400" indent="-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negative factors result in a _________ product. </a:t>
            </a:r>
          </a:p>
          <a:p>
            <a:pPr marL="914400" indent="-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positive factor and a negative factor result in a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 product.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7049CD4-21CD-7646-921F-F6CB64B27B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675890"/>
                  </p:ext>
                </p:extLst>
              </p:nvPr>
            </p:nvGraphicFramePr>
            <p:xfrm>
              <a:off x="1103916" y="2088944"/>
              <a:ext cx="6432550" cy="7340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94100">
                      <a:extLst>
                        <a:ext uri="{9D8B030D-6E8A-4147-A177-3AD203B41FA5}">
                          <a16:colId xmlns:a16="http://schemas.microsoft.com/office/drawing/2014/main" val="3381186339"/>
                        </a:ext>
                      </a:extLst>
                    </a:gridCol>
                    <a:gridCol w="2838450">
                      <a:extLst>
                        <a:ext uri="{9D8B030D-6E8A-4147-A177-3AD203B41FA5}">
                          <a16:colId xmlns:a16="http://schemas.microsoft.com/office/drawing/2014/main" val="827561648"/>
                        </a:ext>
                      </a:extLst>
                    </a:gridCol>
                  </a:tblGrid>
                  <a:tr h="734060">
                    <a:tc>
                      <a:txBody>
                        <a:bodyPr/>
                        <a:lstStyle/>
                        <a:p>
                          <a:pPr marL="46355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x-none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0.24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Pre>
                                    <m:sPre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</m:sup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3.8</m:t>
                                      </m:r>
                                    </m:e>
                                  </m:sPre>
                                </m:e>
                              </m:d>
                            </m:oMath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x-none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9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31656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7049CD4-21CD-7646-921F-F6CB64B27B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675890"/>
                  </p:ext>
                </p:extLst>
              </p:nvPr>
            </p:nvGraphicFramePr>
            <p:xfrm>
              <a:off x="1103916" y="2088944"/>
              <a:ext cx="6432550" cy="7340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94100">
                      <a:extLst>
                        <a:ext uri="{9D8B030D-6E8A-4147-A177-3AD203B41FA5}">
                          <a16:colId xmlns:a16="http://schemas.microsoft.com/office/drawing/2014/main" val="3381186339"/>
                        </a:ext>
                      </a:extLst>
                    </a:gridCol>
                    <a:gridCol w="2838450">
                      <a:extLst>
                        <a:ext uri="{9D8B030D-6E8A-4147-A177-3AD203B41FA5}">
                          <a16:colId xmlns:a16="http://schemas.microsoft.com/office/drawing/2014/main" val="827561648"/>
                        </a:ext>
                      </a:extLst>
                    </a:gridCol>
                  </a:tblGrid>
                  <a:tr h="7340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789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26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1656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5884A-3585-48CF-9212-A91D568D5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782FFD-A9B8-4821-B2D8-C29D9499F84D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3.xml><?xml version="1.0" encoding="utf-8"?>
<ds:datastoreItem xmlns:ds="http://schemas.openxmlformats.org/officeDocument/2006/customXml" ds:itemID="{1A92C076-5530-46C9-A335-17D3AE04B5E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3219</TotalTime>
  <Words>696</Words>
  <Application>Microsoft Office PowerPoint</Application>
  <PresentationFormat>Widescreen</PresentationFormat>
  <Paragraphs>126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Cambria Math</vt:lpstr>
      <vt:lpstr>Arial Black</vt:lpstr>
      <vt:lpstr>Verdana</vt:lpstr>
      <vt:lpstr>Wingdings</vt:lpstr>
      <vt:lpstr>Courier New</vt:lpstr>
      <vt:lpstr>Calibri</vt:lpstr>
      <vt:lpstr>Arial</vt:lpstr>
      <vt:lpstr>Century Gothic</vt:lpstr>
      <vt:lpstr>1_Office Theme</vt:lpstr>
      <vt:lpstr>7th Grade Math  Unit 3, Lesson 3  Multiplying Rational Numbers  Volume 1, pg. 96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50</cp:revision>
  <dcterms:created xsi:type="dcterms:W3CDTF">2015-03-17T18:51:18Z</dcterms:created>
  <dcterms:modified xsi:type="dcterms:W3CDTF">2023-06-30T01:09:25Z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