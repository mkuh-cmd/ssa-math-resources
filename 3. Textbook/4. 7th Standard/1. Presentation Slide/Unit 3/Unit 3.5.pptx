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345" r:id="rId4"/>
    <p:sldId id="286" r:id="rId5"/>
    <p:sldId id="261" r:id="rId6"/>
    <p:sldId id="287" r:id="rId7"/>
    <p:sldId id="346" r:id="rId8"/>
    <p:sldId id="347" r:id="rId9"/>
    <p:sldId id="348" r:id="rId10"/>
    <p:sldId id="349" r:id="rId11"/>
    <p:sldId id="350" r:id="rId12"/>
    <p:sldId id="314" r:id="rId13"/>
    <p:sldId id="315" r:id="rId14"/>
    <p:sldId id="316" r:id="rId15"/>
    <p:sldId id="406" r:id="rId16"/>
    <p:sldId id="407" r:id="rId17"/>
    <p:sldId id="395" r:id="rId18"/>
    <p:sldId id="396" r:id="rId19"/>
    <p:sldId id="397" r:id="rId20"/>
    <p:sldId id="398" r:id="rId21"/>
    <p:sldId id="399" r:id="rId22"/>
    <p:sldId id="400" r:id="rId23"/>
    <p:sldId id="405" r:id="rId24"/>
    <p:sldId id="306" r:id="rId25"/>
    <p:sldId id="307" r:id="rId26"/>
    <p:sldId id="408" r:id="rId27"/>
  </p:sldIdLst>
  <p:sldSz cx="12192000" cy="6858000"/>
  <p:notesSz cx="6858000" cy="9144000"/>
  <p:embeddedFontLst>
    <p:embeddedFont>
      <p:font typeface="Arial Black" panose="020B0A04020102020204" pitchFamily="34" charset="0"/>
      <p:bold r:id="rId29"/>
    </p:embeddedFont>
    <p:embeddedFont>
      <p:font typeface="Calibri" panose="020F0502020204030204" pitchFamily="34"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4"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FABB42"/>
    <a:srgbClr val="F79B59"/>
    <a:srgbClr val="F26763"/>
    <a:srgbClr val="1765AD"/>
    <a:srgbClr val="1664AC"/>
    <a:srgbClr val="BFBFBF"/>
    <a:srgbClr val="C9DF6F"/>
    <a:srgbClr val="417DBF"/>
    <a:srgbClr val="3F2A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p:restoredTop sz="94719"/>
  </p:normalViewPr>
  <p:slideViewPr>
    <p:cSldViewPr snapToGrid="0">
      <p:cViewPr varScale="1">
        <p:scale>
          <a:sx n="81" d="100"/>
          <a:sy n="81" d="100"/>
        </p:scale>
        <p:origin x="88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font" Target="fonts/font13.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5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338828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83880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498512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30136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8606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233627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6063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718726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1820521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7860361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5931289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29902234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745123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5338934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5338934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00.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2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3.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346511" y="2212771"/>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7</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3, Lesson 5</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Solving Real-World Problems with Rational Numbers – Part 1</a:t>
            </a:r>
            <a:br>
              <a:rPr lang="en-US" sz="32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104</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lang="en-US"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903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7332"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730265" y="1326150"/>
            <a:ext cx="1111843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MA.7.NSO.2.3</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Solve real-world problems involving any of the four operations with rational numbers.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125875" y="18288"/>
            <a:ext cx="1095383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730266" y="1343988"/>
            <a:ext cx="10953830"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9" name="Google Shape;282;g104476d1465_1_17">
            <a:extLst>
              <a:ext uri="{FF2B5EF4-FFF2-40B4-BE49-F238E27FC236}">
                <a16:creationId xmlns:a16="http://schemas.microsoft.com/office/drawing/2014/main" id="{37CC83FF-5C83-CD42-A75D-B443F14E1C1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104</a:t>
            </a:r>
            <a:endParaRPr i="1" dirty="0">
              <a:latin typeface="Calibri"/>
              <a:ea typeface="Calibri"/>
              <a:cs typeface="Calibri"/>
              <a:sym typeface="Calibri"/>
            </a:endParaRP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7332" y="-88032"/>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730266" y="1398069"/>
            <a:ext cx="1146173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solve problems with one or two operations by adding and/or subtracting rational numbers. </a:t>
            </a:r>
          </a:p>
        </p:txBody>
      </p:sp>
      <p:sp>
        <p:nvSpPr>
          <p:cNvPr id="9" name="Google Shape;282;g104476d1465_1_17">
            <a:extLst>
              <a:ext uri="{FF2B5EF4-FFF2-40B4-BE49-F238E27FC236}">
                <a16:creationId xmlns:a16="http://schemas.microsoft.com/office/drawing/2014/main" id="{E147E8E3-844B-6A49-A77E-05F3246D39F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104</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5846"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43D2F04D-C861-A149-B5F8-A913FBED75A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7332" y="-52975"/>
            <a:ext cx="992136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500" b="1" dirty="0">
                <a:solidFill>
                  <a:srgbClr val="3F2A67"/>
                </a:solidFill>
                <a:latin typeface="Verdana"/>
                <a:ea typeface="Verdana"/>
                <a:cs typeface="Verdana"/>
                <a:sym typeface="Verdana"/>
              </a:rPr>
              <a:t>3.5.1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730265" y="1332297"/>
            <a:ext cx="10261785" cy="532453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Several division equations are shown.</a:t>
            </a:r>
          </a:p>
          <a:p>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wonder about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pattern?</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equations?</a:t>
            </a: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Use the pattern in the equations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to determine the quotients of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first two equations.</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5" name="Google Shape;282;g104476d1465_1_17">
            <a:extLst>
              <a:ext uri="{FF2B5EF4-FFF2-40B4-BE49-F238E27FC236}">
                <a16:creationId xmlns:a16="http://schemas.microsoft.com/office/drawing/2014/main" id="{0CD40667-98C3-7A43-A8EC-50FA988E094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DDDFC2E-F8BB-5D41-B9D0-E7A80998E79B}"/>
                  </a:ext>
                </a:extLst>
              </p:cNvPr>
              <p:cNvGraphicFramePr>
                <a:graphicFrameLocks noGrp="1"/>
              </p:cNvGraphicFramePr>
              <p:nvPr>
                <p:extLst>
                  <p:ext uri="{D42A27DB-BD31-4B8C-83A1-F6EECF244321}">
                    <p14:modId xmlns:p14="http://schemas.microsoft.com/office/powerpoint/2010/main" val="2281449634"/>
                  </p:ext>
                </p:extLst>
              </p:nvPr>
            </p:nvGraphicFramePr>
            <p:xfrm>
              <a:off x="7264781" y="1937164"/>
              <a:ext cx="3028950" cy="4114800"/>
            </p:xfrm>
            <a:graphic>
              <a:graphicData uri="http://schemas.openxmlformats.org/drawingml/2006/table">
                <a:tbl>
                  <a:tblPr bandRow="1"/>
                  <a:tblGrid>
                    <a:gridCol w="3028950">
                      <a:extLst>
                        <a:ext uri="{9D8B030D-6E8A-4147-A177-3AD203B41FA5}">
                          <a16:colId xmlns:a16="http://schemas.microsoft.com/office/drawing/2014/main" val="1581492222"/>
                        </a:ext>
                      </a:extLst>
                    </a:gridCol>
                  </a:tblGrid>
                  <a:tr h="685800">
                    <a:tc>
                      <a:txBody>
                        <a:bodyPr/>
                        <a:lstStyle/>
                        <a:p>
                          <a:pPr marL="0" marR="0" algn="ctr">
                            <a:lnSpc>
                              <a:spcPct val="115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0.28 ÷0.07= </m:t>
                                </m:r>
                              </m:oMath>
                            </m:oMathPara>
                          </a14:m>
                          <a:endParaRPr lang="x-none" sz="2000" dirty="0">
                            <a:effectLst/>
                            <a:latin typeface="Calibri" panose="020F0502020204030204" pitchFamily="34" charset="0"/>
                            <a:ea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3829796254"/>
                      </a:ext>
                    </a:extLst>
                  </a:tr>
                  <a:tr h="685800">
                    <a:tc>
                      <a:txBody>
                        <a:bodyPr/>
                        <a:lstStyle/>
                        <a:p>
                          <a:pPr marL="0" marR="0" algn="ctr">
                            <a:lnSpc>
                              <a:spcPct val="107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2.8 ÷0.7= </m:t>
                                </m:r>
                              </m:oMath>
                            </m:oMathPara>
                          </a14:m>
                          <a:endParaRPr lang="x-none" sz="2000">
                            <a:effectLst/>
                            <a:latin typeface="Calibri" panose="020F0502020204030204" pitchFamily="34" charset="0"/>
                            <a:ea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571079164"/>
                      </a:ext>
                    </a:extLst>
                  </a:tr>
                  <a:tr h="685800">
                    <a:tc>
                      <a:txBody>
                        <a:bodyPr/>
                        <a:lstStyle/>
                        <a:p>
                          <a:pPr marL="0" marR="0" algn="ctr">
                            <a:lnSpc>
                              <a:spcPct val="107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28 ÷7=4</m:t>
                                </m:r>
                              </m:oMath>
                            </m:oMathPara>
                          </a14:m>
                          <a:endParaRPr lang="x-none" sz="2000">
                            <a:effectLst/>
                            <a:latin typeface="Calibri" panose="020F0502020204030204" pitchFamily="34" charset="0"/>
                            <a:ea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1688959582"/>
                      </a:ext>
                    </a:extLst>
                  </a:tr>
                  <a:tr h="685800">
                    <a:tc>
                      <a:txBody>
                        <a:bodyPr/>
                        <a:lstStyle/>
                        <a:p>
                          <a:pPr marL="0" marR="0" algn="ctr">
                            <a:lnSpc>
                              <a:spcPct val="107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280 ÷70=4</m:t>
                                </m:r>
                              </m:oMath>
                            </m:oMathPara>
                          </a14:m>
                          <a:endParaRPr lang="x-none" sz="2000">
                            <a:effectLst/>
                            <a:latin typeface="Calibri" panose="020F0502020204030204" pitchFamily="34" charset="0"/>
                            <a:ea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1298103930"/>
                      </a:ext>
                    </a:extLst>
                  </a:tr>
                  <a:tr h="685800">
                    <a:tc>
                      <a:txBody>
                        <a:bodyPr/>
                        <a:lstStyle/>
                        <a:p>
                          <a:pPr marL="0" marR="0" algn="ctr">
                            <a:lnSpc>
                              <a:spcPct val="107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2,800 ÷ 700=4</m:t>
                                </m:r>
                              </m:oMath>
                            </m:oMathPara>
                          </a14:m>
                          <a:endParaRPr lang="x-none" sz="2000">
                            <a:effectLst/>
                            <a:latin typeface="Calibri" panose="020F0502020204030204" pitchFamily="34" charset="0"/>
                            <a:ea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1897102224"/>
                      </a:ext>
                    </a:extLst>
                  </a:tr>
                  <a:tr h="685800">
                    <a:tc>
                      <a:txBody>
                        <a:bodyPr/>
                        <a:lstStyle/>
                        <a:p>
                          <a:pPr marL="0" marR="0" algn="ctr">
                            <a:lnSpc>
                              <a:spcPct val="107000"/>
                            </a:lnSpc>
                            <a:spcBef>
                              <a:spcPts val="0"/>
                            </a:spcBef>
                            <a:spcAft>
                              <a:spcPts val="120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28,000 ÷7,000=4</m:t>
                                </m:r>
                              </m:oMath>
                            </m:oMathPara>
                          </a14:m>
                          <a:endParaRPr lang="x-none" sz="2000" dirty="0">
                            <a:effectLst/>
                            <a:latin typeface="Calibri" panose="020F0502020204030204" pitchFamily="34" charset="0"/>
                            <a:ea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868632959"/>
                      </a:ext>
                    </a:extLst>
                  </a:tr>
                </a:tbl>
              </a:graphicData>
            </a:graphic>
          </p:graphicFrame>
        </mc:Choice>
        <mc:Fallback xmlns="">
          <p:graphicFrame>
            <p:nvGraphicFramePr>
              <p:cNvPr id="4" name="Table 3">
                <a:extLst>
                  <a:ext uri="{FF2B5EF4-FFF2-40B4-BE49-F238E27FC236}">
                    <a16:creationId xmlns:a16="http://schemas.microsoft.com/office/drawing/2014/main" id="{8DDDFC2E-F8BB-5D41-B9D0-E7A80998E79B}"/>
                  </a:ext>
                </a:extLst>
              </p:cNvPr>
              <p:cNvGraphicFramePr>
                <a:graphicFrameLocks noGrp="1"/>
              </p:cNvGraphicFramePr>
              <p:nvPr>
                <p:extLst>
                  <p:ext uri="{D42A27DB-BD31-4B8C-83A1-F6EECF244321}">
                    <p14:modId xmlns:p14="http://schemas.microsoft.com/office/powerpoint/2010/main" val="2281449634"/>
                  </p:ext>
                </p:extLst>
              </p:nvPr>
            </p:nvGraphicFramePr>
            <p:xfrm>
              <a:off x="7264781" y="1937164"/>
              <a:ext cx="3028950" cy="4114800"/>
            </p:xfrm>
            <a:graphic>
              <a:graphicData uri="http://schemas.openxmlformats.org/drawingml/2006/table">
                <a:tbl>
                  <a:tblPr bandRow="1"/>
                  <a:tblGrid>
                    <a:gridCol w="3028950">
                      <a:extLst>
                        <a:ext uri="{9D8B030D-6E8A-4147-A177-3AD203B41FA5}">
                          <a16:colId xmlns:a16="http://schemas.microsoft.com/office/drawing/2014/main" val="1581492222"/>
                        </a:ext>
                      </a:extLst>
                    </a:gridCol>
                  </a:tblGrid>
                  <a:tr h="685800">
                    <a:tc>
                      <a:txBody>
                        <a:bodyPr/>
                        <a:lstStyle/>
                        <a:p>
                          <a:endParaRPr lang="en-US"/>
                        </a:p>
                      </a:txBody>
                      <a:tcPr marL="68580" marR="68580" marT="0" marB="0">
                        <a:lnL>
                          <a:noFill/>
                        </a:lnL>
                        <a:lnR>
                          <a:noFill/>
                        </a:lnR>
                        <a:lnT>
                          <a:noFill/>
                        </a:lnT>
                        <a:lnB>
                          <a:noFill/>
                        </a:lnB>
                        <a:blipFill>
                          <a:blip r:embed="rId5"/>
                          <a:stretch>
                            <a:fillRect l="-418" b="-501852"/>
                          </a:stretch>
                        </a:blipFill>
                      </a:tcPr>
                    </a:tc>
                    <a:extLst>
                      <a:ext uri="{0D108BD9-81ED-4DB2-BD59-A6C34878D82A}">
                        <a16:rowId xmlns:a16="http://schemas.microsoft.com/office/drawing/2014/main" val="3829796254"/>
                      </a:ext>
                    </a:extLst>
                  </a:tr>
                  <a:tr h="685800">
                    <a:tc>
                      <a:txBody>
                        <a:bodyPr/>
                        <a:lstStyle/>
                        <a:p>
                          <a:endParaRPr lang="en-US"/>
                        </a:p>
                      </a:txBody>
                      <a:tcPr marL="68580" marR="68580" marT="0" marB="0">
                        <a:lnL>
                          <a:noFill/>
                        </a:lnL>
                        <a:lnR>
                          <a:noFill/>
                        </a:lnR>
                        <a:lnT>
                          <a:noFill/>
                        </a:lnT>
                        <a:lnB>
                          <a:noFill/>
                        </a:lnB>
                        <a:blipFill>
                          <a:blip r:embed="rId5"/>
                          <a:stretch>
                            <a:fillRect l="-418" t="-100000" b="-401852"/>
                          </a:stretch>
                        </a:blipFill>
                      </a:tcPr>
                    </a:tc>
                    <a:extLst>
                      <a:ext uri="{0D108BD9-81ED-4DB2-BD59-A6C34878D82A}">
                        <a16:rowId xmlns:a16="http://schemas.microsoft.com/office/drawing/2014/main" val="571079164"/>
                      </a:ext>
                    </a:extLst>
                  </a:tr>
                  <a:tr h="685800">
                    <a:tc>
                      <a:txBody>
                        <a:bodyPr/>
                        <a:lstStyle/>
                        <a:p>
                          <a:endParaRPr lang="en-US"/>
                        </a:p>
                      </a:txBody>
                      <a:tcPr marL="68580" marR="68580" marT="0" marB="0">
                        <a:lnL>
                          <a:noFill/>
                        </a:lnL>
                        <a:lnR>
                          <a:noFill/>
                        </a:lnR>
                        <a:lnT>
                          <a:noFill/>
                        </a:lnT>
                        <a:lnB>
                          <a:noFill/>
                        </a:lnB>
                        <a:blipFill>
                          <a:blip r:embed="rId5"/>
                          <a:stretch>
                            <a:fillRect l="-418" t="-196364" b="-294545"/>
                          </a:stretch>
                        </a:blipFill>
                      </a:tcPr>
                    </a:tc>
                    <a:extLst>
                      <a:ext uri="{0D108BD9-81ED-4DB2-BD59-A6C34878D82A}">
                        <a16:rowId xmlns:a16="http://schemas.microsoft.com/office/drawing/2014/main" val="1688959582"/>
                      </a:ext>
                    </a:extLst>
                  </a:tr>
                  <a:tr h="685800">
                    <a:tc>
                      <a:txBody>
                        <a:bodyPr/>
                        <a:lstStyle/>
                        <a:p>
                          <a:endParaRPr lang="en-US"/>
                        </a:p>
                      </a:txBody>
                      <a:tcPr marL="68580" marR="68580" marT="0" marB="0">
                        <a:lnL>
                          <a:noFill/>
                        </a:lnL>
                        <a:lnR>
                          <a:noFill/>
                        </a:lnR>
                        <a:lnT>
                          <a:noFill/>
                        </a:lnT>
                        <a:lnB>
                          <a:noFill/>
                        </a:lnB>
                        <a:blipFill>
                          <a:blip r:embed="rId5"/>
                          <a:stretch>
                            <a:fillRect l="-418" t="-301852" b="-200000"/>
                          </a:stretch>
                        </a:blipFill>
                      </a:tcPr>
                    </a:tc>
                    <a:extLst>
                      <a:ext uri="{0D108BD9-81ED-4DB2-BD59-A6C34878D82A}">
                        <a16:rowId xmlns:a16="http://schemas.microsoft.com/office/drawing/2014/main" val="1298103930"/>
                      </a:ext>
                    </a:extLst>
                  </a:tr>
                  <a:tr h="685800">
                    <a:tc>
                      <a:txBody>
                        <a:bodyPr/>
                        <a:lstStyle/>
                        <a:p>
                          <a:endParaRPr lang="en-US"/>
                        </a:p>
                      </a:txBody>
                      <a:tcPr marL="68580" marR="68580" marT="0" marB="0">
                        <a:lnL>
                          <a:noFill/>
                        </a:lnL>
                        <a:lnR>
                          <a:noFill/>
                        </a:lnR>
                        <a:lnT>
                          <a:noFill/>
                        </a:lnT>
                        <a:lnB>
                          <a:noFill/>
                        </a:lnB>
                        <a:blipFill>
                          <a:blip r:embed="rId5"/>
                          <a:stretch>
                            <a:fillRect l="-418" t="-401852" b="-100000"/>
                          </a:stretch>
                        </a:blipFill>
                      </a:tcPr>
                    </a:tc>
                    <a:extLst>
                      <a:ext uri="{0D108BD9-81ED-4DB2-BD59-A6C34878D82A}">
                        <a16:rowId xmlns:a16="http://schemas.microsoft.com/office/drawing/2014/main" val="1897102224"/>
                      </a:ext>
                    </a:extLst>
                  </a:tr>
                  <a:tr h="685800">
                    <a:tc>
                      <a:txBody>
                        <a:bodyPr/>
                        <a:lstStyle/>
                        <a:p>
                          <a:endParaRPr lang="en-US"/>
                        </a:p>
                      </a:txBody>
                      <a:tcPr marL="68580" marR="68580" marT="0" marB="0">
                        <a:lnL>
                          <a:noFill/>
                        </a:lnL>
                        <a:lnR>
                          <a:noFill/>
                        </a:lnR>
                        <a:lnT>
                          <a:noFill/>
                        </a:lnT>
                        <a:lnB>
                          <a:noFill/>
                        </a:lnB>
                        <a:blipFill>
                          <a:blip r:embed="rId5"/>
                          <a:stretch>
                            <a:fillRect l="-418" t="-501852"/>
                          </a:stretch>
                        </a:blipFill>
                      </a:tcPr>
                    </a:tc>
                    <a:extLst>
                      <a:ext uri="{0D108BD9-81ED-4DB2-BD59-A6C34878D82A}">
                        <a16:rowId xmlns:a16="http://schemas.microsoft.com/office/drawing/2014/main" val="2868632959"/>
                      </a:ext>
                    </a:extLst>
                  </a:tr>
                </a:tbl>
              </a:graphicData>
            </a:graphic>
          </p:graphicFrame>
        </mc:Fallback>
      </mc:AlternateContent>
      <p:sp>
        <p:nvSpPr>
          <p:cNvPr id="14" name="Rectangle 13">
            <a:extLst>
              <a:ext uri="{FF2B5EF4-FFF2-40B4-BE49-F238E27FC236}">
                <a16:creationId xmlns:a16="http://schemas.microsoft.com/office/drawing/2014/main" id="{813B9334-0A40-B84A-BB82-5B508FEA8906}"/>
              </a:ext>
            </a:extLst>
          </p:cNvPr>
          <p:cNvSpPr/>
          <p:nvPr/>
        </p:nvSpPr>
        <p:spPr>
          <a:xfrm>
            <a:off x="9545592" y="1877594"/>
            <a:ext cx="461665" cy="461665"/>
          </a:xfrm>
          <a:prstGeom prst="rect">
            <a:avLst/>
          </a:prstGeom>
          <a:noFill/>
          <a:ln w="12700" cap="flat" cmpd="sng">
            <a:solidFill>
              <a:srgbClr val="31538F"/>
            </a:solidFill>
            <a:prstDash val="dash"/>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100">
                <a:latin typeface="Calibri" panose="020F0502020204030204" pitchFamily="34" charset="0"/>
                <a:ea typeface="Times New Roman" panose="02020603050405020304" pitchFamily="18" charset="0"/>
              </a:rPr>
              <a:t> </a:t>
            </a:r>
            <a:endParaRPr lang="x-none" sz="1100">
              <a:latin typeface="Calibri" panose="020F0502020204030204" pitchFamily="34" charset="0"/>
              <a:ea typeface="Times New Roman" panose="02020603050405020304" pitchFamily="18" charset="0"/>
            </a:endParaRPr>
          </a:p>
        </p:txBody>
      </p:sp>
      <p:sp>
        <p:nvSpPr>
          <p:cNvPr id="16" name="Rectangle 15">
            <a:extLst>
              <a:ext uri="{FF2B5EF4-FFF2-40B4-BE49-F238E27FC236}">
                <a16:creationId xmlns:a16="http://schemas.microsoft.com/office/drawing/2014/main" id="{7142FC45-2466-AC48-8B97-1D23D6140E39}"/>
              </a:ext>
            </a:extLst>
          </p:cNvPr>
          <p:cNvSpPr/>
          <p:nvPr/>
        </p:nvSpPr>
        <p:spPr>
          <a:xfrm>
            <a:off x="9398931" y="2543301"/>
            <a:ext cx="461665" cy="461665"/>
          </a:xfrm>
          <a:prstGeom prst="rect">
            <a:avLst/>
          </a:prstGeom>
          <a:noFill/>
          <a:ln w="12700" cap="flat" cmpd="sng">
            <a:solidFill>
              <a:srgbClr val="31538F"/>
            </a:solidFill>
            <a:prstDash val="dash"/>
            <a:miter lim="800000"/>
            <a:headEnd type="none" w="sm" len="sm"/>
            <a:tailEnd type="none" w="sm" len="sm"/>
          </a:ln>
        </p:spPr>
        <p:txBody>
          <a:bodyPr spcFirstLastPara="1" wrap="square" lIns="91425" tIns="91425" rIns="91425" bIns="91425" anchor="ctr" anchorCtr="0">
            <a:noAutofit/>
          </a:bodyPr>
          <a:lstStyle/>
          <a:p>
            <a:pPr>
              <a:lnSpc>
                <a:spcPct val="107000"/>
              </a:lnSpc>
            </a:pPr>
            <a:r>
              <a:rPr lang="en-US" sz="1100">
                <a:latin typeface="Calibri" panose="020F0502020204030204" pitchFamily="34" charset="0"/>
                <a:ea typeface="Times New Roman" panose="02020603050405020304" pitchFamily="18" charset="0"/>
              </a:rPr>
              <a:t> </a:t>
            </a:r>
            <a:endParaRPr lang="x-none" sz="1100">
              <a:latin typeface="Calibri" panose="020F0502020204030204" pitchFamily="34" charset="0"/>
              <a:ea typeface="Times New Roman" panose="02020603050405020304" pitchFamily="18" charset="0"/>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96261" y="2766150"/>
            <a:ext cx="7434323"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105</a:t>
            </a:r>
            <a:endParaRPr i="1" dirty="0">
              <a:latin typeface="Calibri"/>
              <a:ea typeface="Calibri"/>
              <a:cs typeface="Calibri"/>
              <a:sym typeface="Calibri"/>
            </a:endParaRPr>
          </a:p>
        </p:txBody>
      </p:sp>
      <p:pic>
        <p:nvPicPr>
          <p:cNvPr id="7" name="image2.png" descr="Icon&#10;&#10;Description automatically generated">
            <a:extLst>
              <a:ext uri="{FF2B5EF4-FFF2-40B4-BE49-F238E27FC236}">
                <a16:creationId xmlns:a16="http://schemas.microsoft.com/office/drawing/2014/main" id="{B8663E50-D763-C343-96E8-FEAEDD7FA21B}"/>
              </a:ext>
            </a:extLst>
          </p:cNvPr>
          <p:cNvPicPr/>
          <p:nvPr/>
        </p:nvPicPr>
        <p:blipFill>
          <a:blip r:embed="rId4"/>
          <a:srcRect/>
          <a:stretch>
            <a:fillRect/>
          </a:stretch>
        </p:blipFill>
        <p:spPr>
          <a:xfrm>
            <a:off x="3054096" y="2852928"/>
            <a:ext cx="1158150" cy="1158150"/>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151888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37463" y="0"/>
            <a:ext cx="1084224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3.5.2 Guided Instruction: Adding and Subtracting Rational Numbers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0331" y="1325700"/>
                <a:ext cx="11118368" cy="224676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Alexis has a monthly subscription to the video streaming service </a:t>
                </a:r>
                <a:r>
                  <a:rPr lang="en-US" altLang="en-US" sz="2000" dirty="0" err="1">
                    <a:solidFill>
                      <a:schemeClr val="tx1"/>
                    </a:solidFill>
                    <a:latin typeface="Verdana" panose="020B0604030504040204" pitchFamily="34" charset="0"/>
                    <a:ea typeface="Times New Roman" panose="02020603050405020304" pitchFamily="18" charset="0"/>
                    <a:cs typeface="Times New Roman" panose="02020603050405020304" pitchFamily="18" charset="0"/>
                  </a:rPr>
                  <a:t>ViewNow</a:t>
                </a: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for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$7.20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per month. For her birthday she received a </a:t>
                </a:r>
                <a:r>
                  <a:rPr lang="en-US" altLang="en-US" sz="2000" dirty="0" err="1">
                    <a:solidFill>
                      <a:schemeClr val="tx1"/>
                    </a:solidFill>
                    <a:latin typeface="Verdana" panose="020B0604030504040204" pitchFamily="34" charset="0"/>
                    <a:ea typeface="Times New Roman" panose="02020603050405020304" pitchFamily="18" charset="0"/>
                    <a:cs typeface="Times New Roman" panose="02020603050405020304" pitchFamily="18" charset="0"/>
                  </a:rPr>
                  <a:t>ViewNow</a:t>
                </a: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gift card in the amount of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$55.00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ClrTx/>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an expression using addition that represents the balance on the card after one month if the only charge on the gift card is the monthly subscription.</a:t>
                </a: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730331" y="1325700"/>
                <a:ext cx="11118368" cy="2246769"/>
              </a:xfrm>
              <a:prstGeom prst="rect">
                <a:avLst/>
              </a:prstGeom>
              <a:blipFill>
                <a:blip r:embed="rId4"/>
                <a:stretch>
                  <a:fillRect l="-570" t="-1685" r="-1254" b="-337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9" name="image2.png" descr="Icon&#10;&#10;Description automatically generated">
            <a:extLst>
              <a:ext uri="{FF2B5EF4-FFF2-40B4-BE49-F238E27FC236}">
                <a16:creationId xmlns:a16="http://schemas.microsoft.com/office/drawing/2014/main" id="{77E23D0C-703F-9A43-BC01-6CC2541A0FCE}"/>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7431" cy="747431"/>
          </a:xfrm>
          <a:prstGeom prst="rect">
            <a:avLst/>
          </a:prstGeom>
          <a:ln/>
        </p:spPr>
      </p:pic>
    </p:spTree>
    <p:extLst>
      <p:ext uri="{BB962C8B-B14F-4D97-AF65-F5344CB8AC3E}">
        <p14:creationId xmlns:p14="http://schemas.microsoft.com/office/powerpoint/2010/main" val="2999405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406"/>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105</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5C5D1B9F-A752-AD42-8D60-9B883A2514E7}"/>
                  </a:ext>
                </a:extLst>
              </p:cNvPr>
              <p:cNvSpPr>
                <a:spLocks noChangeArrowheads="1"/>
              </p:cNvSpPr>
              <p:nvPr/>
            </p:nvSpPr>
            <p:spPr bwMode="auto">
              <a:xfrm>
                <a:off x="926275" y="520114"/>
                <a:ext cx="11105303" cy="163121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indent="-457200" eaLnBrk="0" fontAlgn="base" hangingPunct="0">
                  <a:spcBef>
                    <a:spcPct val="0"/>
                  </a:spcBef>
                  <a:spcAft>
                    <a:spcPct val="0"/>
                  </a:spcAft>
                  <a:buClrTx/>
                  <a:buFont typeface="+mj-lt"/>
                  <a:buAutoNum type="alphaL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table by filling in values on each blank line to record the activity on the account each month. Continue filling in the table to determine how many months it will take before Alexis does not have enough money to pay the monthly fee using the gift card. Part of Month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has been completed for you. </a:t>
                </a:r>
              </a:p>
            </p:txBody>
          </p:sp>
        </mc:Choice>
        <mc:Fallback>
          <p:sp>
            <p:nvSpPr>
              <p:cNvPr id="6" name="Rectangle 5">
                <a:extLst>
                  <a:ext uri="{FF2B5EF4-FFF2-40B4-BE49-F238E27FC236}">
                    <a16:creationId xmlns:a16="http://schemas.microsoft.com/office/drawing/2014/main" id="{5C5D1B9F-A752-AD42-8D60-9B883A2514E7}"/>
                  </a:ext>
                </a:extLst>
              </p:cNvPr>
              <p:cNvSpPr>
                <a:spLocks noRot="1" noChangeAspect="1" noMove="1" noResize="1" noEditPoints="1" noAdjustHandles="1" noChangeArrowheads="1" noChangeShapeType="1" noTextEdit="1"/>
              </p:cNvSpPr>
              <p:nvPr/>
            </p:nvSpPr>
            <p:spPr bwMode="auto">
              <a:xfrm>
                <a:off x="926275" y="520114"/>
                <a:ext cx="11105303" cy="1631216"/>
              </a:xfrm>
              <a:prstGeom prst="rect">
                <a:avLst/>
              </a:prstGeom>
              <a:blipFill>
                <a:blip r:embed="rId4"/>
                <a:stretch>
                  <a:fillRect t="-1866" r="-1153" b="-634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60D6D841-97E5-B240-B630-94959BCC7D32}"/>
              </a:ext>
            </a:extLst>
          </p:cNvPr>
          <p:cNvGraphicFramePr>
            <a:graphicFrameLocks noGrp="1"/>
          </p:cNvGraphicFramePr>
          <p:nvPr>
            <p:extLst>
              <p:ext uri="{D42A27DB-BD31-4B8C-83A1-F6EECF244321}">
                <p14:modId xmlns:p14="http://schemas.microsoft.com/office/powerpoint/2010/main" val="2047323514"/>
              </p:ext>
            </p:extLst>
          </p:nvPr>
        </p:nvGraphicFramePr>
        <p:xfrm>
          <a:off x="2737709" y="2612118"/>
          <a:ext cx="6667758" cy="3230880"/>
        </p:xfrm>
        <a:graphic>
          <a:graphicData uri="http://schemas.openxmlformats.org/drawingml/2006/table">
            <a:tbl>
              <a:tblPr bandRow="1"/>
              <a:tblGrid>
                <a:gridCol w="1097280">
                  <a:extLst>
                    <a:ext uri="{9D8B030D-6E8A-4147-A177-3AD203B41FA5}">
                      <a16:colId xmlns:a16="http://schemas.microsoft.com/office/drawing/2014/main" val="2411096168"/>
                    </a:ext>
                  </a:extLst>
                </a:gridCol>
                <a:gridCol w="1638558">
                  <a:extLst>
                    <a:ext uri="{9D8B030D-6E8A-4147-A177-3AD203B41FA5}">
                      <a16:colId xmlns:a16="http://schemas.microsoft.com/office/drawing/2014/main" val="1194794342"/>
                    </a:ext>
                  </a:extLst>
                </a:gridCol>
                <a:gridCol w="2560320">
                  <a:extLst>
                    <a:ext uri="{9D8B030D-6E8A-4147-A177-3AD203B41FA5}">
                      <a16:colId xmlns:a16="http://schemas.microsoft.com/office/drawing/2014/main" val="904439572"/>
                    </a:ext>
                  </a:extLst>
                </a:gridCol>
                <a:gridCol w="1371600">
                  <a:extLst>
                    <a:ext uri="{9D8B030D-6E8A-4147-A177-3AD203B41FA5}">
                      <a16:colId xmlns:a16="http://schemas.microsoft.com/office/drawing/2014/main" val="4037304"/>
                    </a:ext>
                  </a:extLst>
                </a:gridCol>
              </a:tblGrid>
              <a:tr h="457200">
                <a:tc>
                  <a:txBody>
                    <a:bodyPr/>
                    <a:lstStyle/>
                    <a:p>
                      <a:pPr marL="0" marR="0" algn="ctr">
                        <a:lnSpc>
                          <a:spcPct val="100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Month</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Starting Balance</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Change in Account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Ending Balance</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877559571"/>
                  </a:ext>
                </a:extLst>
              </a:tr>
              <a:tr h="457200">
                <a:tc>
                  <a:txBody>
                    <a:bodyPr/>
                    <a:lstStyle/>
                    <a:p>
                      <a:pPr marL="0" marR="0" algn="ctr">
                        <a:lnSpc>
                          <a:spcPct val="100000"/>
                        </a:lnSpc>
                        <a:spcBef>
                          <a:spcPts val="0"/>
                        </a:spcBef>
                        <a:spcAft>
                          <a:spcPts val="800"/>
                        </a:spcAft>
                      </a:pPr>
                      <a:r>
                        <a:rPr lang="en-PH" sz="2000" dirty="0">
                          <a:effectLst/>
                          <a:latin typeface="Cambria Math" pitchFamily="18" charset="0"/>
                          <a:ea typeface="Cambria Math" pitchFamily="18" charset="0"/>
                        </a:rPr>
                        <a:t>1</a:t>
                      </a: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800"/>
                        </a:spcAft>
                      </a:pPr>
                      <a:r>
                        <a:rPr lang="en-PH" sz="2000" dirty="0">
                          <a:effectLst/>
                          <a:latin typeface="Cambria Math" pitchFamily="18" charset="0"/>
                          <a:ea typeface="Cambria Math" pitchFamily="18" charset="0"/>
                        </a:rPr>
                        <a:t>$55.00</a:t>
                      </a: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800"/>
                        </a:spcAft>
                        <a:buClr>
                          <a:srgbClr val="000000"/>
                        </a:buClr>
                        <a:buSzTx/>
                        <a:buFont typeface="Arial"/>
                        <a:buNone/>
                        <a:tabLst/>
                        <a:defRPr/>
                      </a:pPr>
                      <a:r>
                        <a:rPr lang="en-PH" sz="2000" dirty="0">
                          <a:effectLst/>
                          <a:latin typeface="Cambria Math" pitchFamily="18" charset="0"/>
                          <a:ea typeface="Cambria Math" pitchFamily="18" charset="0"/>
                        </a:rPr>
                        <a:t>$55.00 + </a:t>
                      </a:r>
                      <a:r>
                        <a:rPr lang="en-PH" sz="2000" dirty="0">
                          <a:latin typeface="Cambria Math" pitchFamily="18" charset="0"/>
                          <a:ea typeface="Cambria Math" pitchFamily="18" charset="0"/>
                        </a:rPr>
                        <a:t>__________</a:t>
                      </a: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PH" sz="2000" dirty="0">
                          <a:latin typeface="Cambria Math" pitchFamily="18" charset="0"/>
                          <a:ea typeface="Cambria Math" pitchFamily="18" charset="0"/>
                        </a:rPr>
                        <a:t>$ __________</a:t>
                      </a: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2664797"/>
                  </a:ext>
                </a:extLst>
              </a:tr>
              <a:tr h="457200">
                <a:tc>
                  <a:txBody>
                    <a:bodyPr/>
                    <a:lstStyle/>
                    <a:p>
                      <a:pPr marL="0" marR="0" algn="ctr">
                        <a:lnSpc>
                          <a:spcPct val="100000"/>
                        </a:lnSpc>
                        <a:spcBef>
                          <a:spcPts val="0"/>
                        </a:spcBef>
                        <a:spcAft>
                          <a:spcPts val="800"/>
                        </a:spcAft>
                      </a:pPr>
                      <a:r>
                        <a:rPr lang="en-PH" sz="2000" dirty="0">
                          <a:effectLst/>
                          <a:latin typeface="Cambria Math" pitchFamily="18" charset="0"/>
                          <a:ea typeface="Cambria Math" pitchFamily="18" charset="0"/>
                        </a:rPr>
                        <a:t>2</a:t>
                      </a: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PH" sz="2000" dirty="0">
                          <a:latin typeface="Cambria Math" pitchFamily="18" charset="0"/>
                          <a:ea typeface="Cambria Math" pitchFamily="18" charset="0"/>
                        </a:rPr>
                        <a:t>$ __________</a:t>
                      </a: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PH" sz="2000" dirty="0">
                          <a:latin typeface="Cambria Math" pitchFamily="18" charset="0"/>
                          <a:ea typeface="Cambria Math" pitchFamily="18" charset="0"/>
                        </a:rPr>
                        <a:t>$ __________</a:t>
                      </a:r>
                      <a:r>
                        <a:rPr lang="en-US" sz="2000" baseline="0" dirty="0">
                          <a:latin typeface="Cambria Math" pitchFamily="18" charset="0"/>
                          <a:ea typeface="Cambria Math" pitchFamily="18" charset="0"/>
                        </a:rPr>
                        <a:t> + </a:t>
                      </a:r>
                      <a:r>
                        <a:rPr lang="en-PH" sz="2000" dirty="0">
                          <a:latin typeface="Cambria Math" pitchFamily="18" charset="0"/>
                          <a:ea typeface="Cambria Math" pitchFamily="18" charset="0"/>
                        </a:rPr>
                        <a:t>__________</a:t>
                      </a: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PH" sz="2000" dirty="0">
                          <a:latin typeface="Cambria Math" pitchFamily="18" charset="0"/>
                          <a:ea typeface="Cambria Math" pitchFamily="18" charset="0"/>
                        </a:rPr>
                        <a:t>$ __________</a:t>
                      </a: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9707255"/>
                  </a:ext>
                </a:extLst>
              </a:tr>
              <a:tr h="457200">
                <a:tc>
                  <a:txBody>
                    <a:bodyPr/>
                    <a:lstStyle/>
                    <a:p>
                      <a:pPr marL="0" marR="0" algn="ctr">
                        <a:lnSpc>
                          <a:spcPct val="100000"/>
                        </a:lnSpc>
                        <a:spcBef>
                          <a:spcPts val="0"/>
                        </a:spcBef>
                        <a:spcAft>
                          <a:spcPts val="800"/>
                        </a:spcAft>
                      </a:pPr>
                      <a:r>
                        <a:rPr lang="en-PH" sz="2000" dirty="0">
                          <a:effectLst/>
                          <a:latin typeface="Cambria Math" pitchFamily="18" charset="0"/>
                          <a:ea typeface="Cambria Math" pitchFamily="18" charset="0"/>
                        </a:rPr>
                        <a:t>3</a:t>
                      </a: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PH" sz="2000" dirty="0">
                          <a:latin typeface="Cambria Math" pitchFamily="18" charset="0"/>
                          <a:ea typeface="Cambria Math" pitchFamily="18" charset="0"/>
                        </a:rPr>
                        <a:t>$ __________</a:t>
                      </a: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PH" sz="2000" dirty="0">
                          <a:latin typeface="Cambria Math" pitchFamily="18" charset="0"/>
                          <a:ea typeface="Cambria Math" pitchFamily="18" charset="0"/>
                        </a:rPr>
                        <a:t>$ __________</a:t>
                      </a:r>
                      <a:r>
                        <a:rPr lang="en-US" sz="2000" baseline="0" dirty="0">
                          <a:latin typeface="Cambria Math" pitchFamily="18" charset="0"/>
                          <a:ea typeface="Cambria Math" pitchFamily="18" charset="0"/>
                        </a:rPr>
                        <a:t> + </a:t>
                      </a:r>
                      <a:r>
                        <a:rPr lang="en-PH" sz="2000" dirty="0">
                          <a:latin typeface="Cambria Math" pitchFamily="18" charset="0"/>
                          <a:ea typeface="Cambria Math" pitchFamily="18" charset="0"/>
                        </a:rPr>
                        <a:t>__________</a:t>
                      </a: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PH" sz="2000" dirty="0">
                          <a:latin typeface="Cambria Math" pitchFamily="18" charset="0"/>
                          <a:ea typeface="Cambria Math" pitchFamily="18" charset="0"/>
                        </a:rPr>
                        <a:t>$ __________</a:t>
                      </a: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9204797"/>
                  </a:ext>
                </a:extLst>
              </a:tr>
              <a:tr h="457200">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27540312"/>
                  </a:ext>
                </a:extLst>
              </a:tr>
              <a:tr h="457200">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5698455"/>
                  </a:ext>
                </a:extLst>
              </a:tr>
            </a:tbl>
          </a:graphicData>
        </a:graphic>
      </p:graphicFrame>
    </p:spTree>
    <p:extLst>
      <p:ext uri="{BB962C8B-B14F-4D97-AF65-F5344CB8AC3E}">
        <p14:creationId xmlns:p14="http://schemas.microsoft.com/office/powerpoint/2010/main" val="2028518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105</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914400" y="749504"/>
            <a:ext cx="10764947" cy="3763119"/>
          </a:xfrm>
          <a:prstGeom prst="rect">
            <a:avLst/>
          </a:prstGeom>
          <a:noFill/>
        </p:spPr>
        <p:txBody>
          <a:bodyPr wrap="square" rtlCol="0">
            <a:spAutoFit/>
          </a:bodyPr>
          <a:lstStyle/>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How many months will it take before Alexis does not have enough money left on the gift card to pay the monthly charge?</a:t>
            </a:r>
          </a:p>
        </p:txBody>
      </p:sp>
      <p:graphicFrame>
        <p:nvGraphicFramePr>
          <p:cNvPr id="2" name="Table 1"/>
          <p:cNvGraphicFramePr>
            <a:graphicFrameLocks noGrp="1"/>
          </p:cNvGraphicFramePr>
          <p:nvPr>
            <p:extLst>
              <p:ext uri="{D42A27DB-BD31-4B8C-83A1-F6EECF244321}">
                <p14:modId xmlns:p14="http://schemas.microsoft.com/office/powerpoint/2010/main" val="218049473"/>
              </p:ext>
            </p:extLst>
          </p:nvPr>
        </p:nvGraphicFramePr>
        <p:xfrm>
          <a:off x="2762121" y="685800"/>
          <a:ext cx="6667758" cy="2743200"/>
        </p:xfrm>
        <a:graphic>
          <a:graphicData uri="http://schemas.openxmlformats.org/drawingml/2006/table">
            <a:tbl>
              <a:tblPr bandRow="1"/>
              <a:tblGrid>
                <a:gridCol w="1097280">
                  <a:extLst>
                    <a:ext uri="{9D8B030D-6E8A-4147-A177-3AD203B41FA5}">
                      <a16:colId xmlns:a16="http://schemas.microsoft.com/office/drawing/2014/main" val="20000"/>
                    </a:ext>
                  </a:extLst>
                </a:gridCol>
                <a:gridCol w="1638558">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457200">
                <a:tc>
                  <a:txBody>
                    <a:bodyPr/>
                    <a:lstStyle/>
                    <a:p>
                      <a:pPr marL="0" marR="0" algn="ctr">
                        <a:lnSpc>
                          <a:spcPct val="100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Month</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Starting Balance</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Change in Account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Ending Balance</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7200">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800"/>
                        </a:spcAft>
                      </a:pPr>
                      <a:endParaRPr lang="x-none" sz="2000">
                        <a:effectLst/>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endParaRPr lang="en-US" sz="2000" dirty="0">
                        <a:latin typeface="Cambria Math" pitchFamily="18" charset="0"/>
                        <a:ea typeface="Cambria Math"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8140894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8F82859-BA98-3646-BF3B-9E17E52A2E35}"/>
                  </a:ext>
                </a:extLst>
              </p:cNvPr>
              <p:cNvSpPr txBox="1"/>
              <p:nvPr/>
            </p:nvSpPr>
            <p:spPr>
              <a:xfrm>
                <a:off x="418683" y="352504"/>
                <a:ext cx="11199009" cy="483837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a:t>
                </a:r>
                <a:r>
                  <a:rPr lang="en-US" sz="2000" b="1" dirty="0">
                    <a:latin typeface="Verdana" panose="020B0604030504040204" pitchFamily="34" charset="0"/>
                    <a:ea typeface="Verdana" panose="020B0604030504040204" pitchFamily="34" charset="0"/>
                    <a:cs typeface="Verdana" panose="020B0604030504040204" pitchFamily="34" charset="0"/>
                  </a:rPr>
                  <a:t>departure from the average</a:t>
                </a:r>
                <a:r>
                  <a:rPr lang="en-US" sz="2000" dirty="0">
                    <a:latin typeface="Verdana" panose="020B0604030504040204" pitchFamily="34" charset="0"/>
                    <a:ea typeface="Verdana" panose="020B0604030504040204" pitchFamily="34" charset="0"/>
                    <a:cs typeface="Verdana" panose="020B0604030504040204" pitchFamily="34" charset="0"/>
                  </a:rPr>
                  <a:t> is the difference between the actual amount of rain and the average amount of rain for a given month. The departure from the average rainfall, in inches (in.), for Orlando, Florida for June, July, and August is shown in the table. </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If the average rainfall for June is </a:t>
                </a:r>
                <a14:m>
                  <m:oMath xmlns:m="http://schemas.openxmlformats.org/officeDocument/2006/math">
                    <m:r>
                      <a:rPr lang="es-ES" sz="2000">
                        <a:latin typeface="Cambria Math" panose="02040503050406030204" pitchFamily="18" charset="0"/>
                        <a:ea typeface="Verdana" panose="020B0604030504040204" pitchFamily="34" charset="0"/>
                        <a:cs typeface="Verdana" panose="020B0604030504040204" pitchFamily="34" charset="0"/>
                      </a:rPr>
                      <m:t>7</m:t>
                    </m:r>
                    <m:f>
                      <m:fPr>
                        <m:ctrlPr>
                          <a:rPr lang="en-US" sz="2000" i="1">
                            <a:latin typeface="Cambria Math" panose="02040503050406030204" pitchFamily="18" charset="0"/>
                            <a:ea typeface="Verdana" panose="020B0604030504040204" pitchFamily="34" charset="0"/>
                            <a:cs typeface="Verdana" panose="020B0604030504040204" pitchFamily="34" charset="0"/>
                          </a:rPr>
                        </m:ctrlPr>
                      </m:fPr>
                      <m:num>
                        <m:r>
                          <a:rPr lang="es-ES" sz="2000" i="1">
                            <a:latin typeface="Cambria Math" panose="02040503050406030204" pitchFamily="18" charset="0"/>
                            <a:ea typeface="Verdana" panose="020B0604030504040204" pitchFamily="34" charset="0"/>
                            <a:cs typeface="Verdana" panose="020B0604030504040204" pitchFamily="34" charset="0"/>
                          </a:rPr>
                          <m:t>29</m:t>
                        </m:r>
                      </m:num>
                      <m:den>
                        <m:r>
                          <a:rPr lang="es-ES" sz="2000" i="1">
                            <a:latin typeface="Cambria Math" panose="02040503050406030204" pitchFamily="18" charset="0"/>
                            <a:ea typeface="Verdana" panose="020B0604030504040204" pitchFamily="34" charset="0"/>
                            <a:cs typeface="Verdana" panose="020B0604030504040204" pitchFamily="34" charset="0"/>
                          </a:rPr>
                          <m:t>50</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 what was the actual rainfall in June?</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difference in the departure from the average rainfall from July to August?</a:t>
                </a:r>
              </a:p>
            </p:txBody>
          </p:sp>
        </mc:Choice>
        <mc:Fallback xmlns="">
          <p:sp>
            <p:nvSpPr>
              <p:cNvPr id="6" name="TextBox 5">
                <a:extLst>
                  <a:ext uri="{FF2B5EF4-FFF2-40B4-BE49-F238E27FC236}">
                    <a16:creationId xmlns:a16="http://schemas.microsoft.com/office/drawing/2014/main" id="{C8F82859-BA98-3646-BF3B-9E17E52A2E35}"/>
                  </a:ext>
                </a:extLst>
              </p:cNvPr>
              <p:cNvSpPr txBox="1">
                <a:spLocks noRot="1" noChangeAspect="1" noMove="1" noResize="1" noEditPoints="1" noAdjustHandles="1" noChangeArrowheads="1" noChangeShapeType="1" noTextEdit="1"/>
              </p:cNvSpPr>
              <p:nvPr/>
            </p:nvSpPr>
            <p:spPr>
              <a:xfrm>
                <a:off x="418683" y="352504"/>
                <a:ext cx="11199009" cy="4838376"/>
              </a:xfrm>
              <a:prstGeom prst="rect">
                <a:avLst/>
              </a:prstGeom>
              <a:blipFill>
                <a:blip r:embed="rId4"/>
                <a:stretch>
                  <a:fillRect l="-680" t="-785" r="-1020" b="-13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87909C21-C62C-FE45-8654-69C43260D499}"/>
                  </a:ext>
                </a:extLst>
              </p:cNvPr>
              <p:cNvGraphicFramePr>
                <a:graphicFrameLocks noGrp="1"/>
              </p:cNvGraphicFramePr>
              <p:nvPr>
                <p:extLst>
                  <p:ext uri="{D42A27DB-BD31-4B8C-83A1-F6EECF244321}">
                    <p14:modId xmlns:p14="http://schemas.microsoft.com/office/powerpoint/2010/main" val="1565576464"/>
                  </p:ext>
                </p:extLst>
              </p:nvPr>
            </p:nvGraphicFramePr>
            <p:xfrm>
              <a:off x="2382724" y="1827704"/>
              <a:ext cx="7426551" cy="1131126"/>
            </p:xfrm>
            <a:graphic>
              <a:graphicData uri="http://schemas.openxmlformats.org/drawingml/2006/table">
                <a:tbl>
                  <a:tblPr bandRow="1"/>
                  <a:tblGrid>
                    <a:gridCol w="2475517">
                      <a:extLst>
                        <a:ext uri="{9D8B030D-6E8A-4147-A177-3AD203B41FA5}">
                          <a16:colId xmlns:a16="http://schemas.microsoft.com/office/drawing/2014/main" val="3895562638"/>
                        </a:ext>
                      </a:extLst>
                    </a:gridCol>
                    <a:gridCol w="2475517">
                      <a:extLst>
                        <a:ext uri="{9D8B030D-6E8A-4147-A177-3AD203B41FA5}">
                          <a16:colId xmlns:a16="http://schemas.microsoft.com/office/drawing/2014/main" val="3874538813"/>
                        </a:ext>
                      </a:extLst>
                    </a:gridCol>
                    <a:gridCol w="2475517">
                      <a:extLst>
                        <a:ext uri="{9D8B030D-6E8A-4147-A177-3AD203B41FA5}">
                          <a16:colId xmlns:a16="http://schemas.microsoft.com/office/drawing/2014/main" val="741502723"/>
                        </a:ext>
                      </a:extLst>
                    </a:gridCol>
                  </a:tblGrid>
                  <a:tr h="0">
                    <a:tc>
                      <a:txBody>
                        <a:bodyPr/>
                        <a:lstStyle/>
                        <a:p>
                          <a:pPr marL="0" marR="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June</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July</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August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076252473"/>
                      </a:ext>
                    </a:extLst>
                  </a:tr>
                  <a:tr h="462280">
                    <a:tc>
                      <a:txBody>
                        <a:bodyPr/>
                        <a:lstStyle/>
                        <a:p>
                          <a:pPr marL="0" marR="0" algn="ctr">
                            <a:lnSpc>
                              <a:spcPct val="107000"/>
                            </a:lnSpc>
                            <a:spcBef>
                              <a:spcPts val="0"/>
                            </a:spcBef>
                            <a:spcAft>
                              <a:spcPts val="800"/>
                            </a:spcAft>
                          </a:pP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19</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20</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in.</a:t>
                          </a:r>
                          <a:endParaRPr lang="x-none" sz="2000" dirty="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7</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10</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in.</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4</m:t>
                              </m:r>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5</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8</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in.</a:t>
                          </a:r>
                          <a:endParaRPr lang="x-none" sz="2000" dirty="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1843426"/>
                      </a:ext>
                    </a:extLst>
                  </a:tr>
                </a:tbl>
              </a:graphicData>
            </a:graphic>
          </p:graphicFrame>
        </mc:Choice>
        <mc:Fallback xmlns="">
          <p:graphicFrame>
            <p:nvGraphicFramePr>
              <p:cNvPr id="7" name="Table 6">
                <a:extLst>
                  <a:ext uri="{FF2B5EF4-FFF2-40B4-BE49-F238E27FC236}">
                    <a16:creationId xmlns:a16="http://schemas.microsoft.com/office/drawing/2014/main" id="{87909C21-C62C-FE45-8654-69C43260D499}"/>
                  </a:ext>
                </a:extLst>
              </p:cNvPr>
              <p:cNvGraphicFramePr>
                <a:graphicFrameLocks noGrp="1"/>
              </p:cNvGraphicFramePr>
              <p:nvPr>
                <p:extLst>
                  <p:ext uri="{D42A27DB-BD31-4B8C-83A1-F6EECF244321}">
                    <p14:modId xmlns:p14="http://schemas.microsoft.com/office/powerpoint/2010/main" val="1565576464"/>
                  </p:ext>
                </p:extLst>
              </p:nvPr>
            </p:nvGraphicFramePr>
            <p:xfrm>
              <a:off x="2382724" y="1827704"/>
              <a:ext cx="7426551" cy="1131126"/>
            </p:xfrm>
            <a:graphic>
              <a:graphicData uri="http://schemas.openxmlformats.org/drawingml/2006/table">
                <a:tbl>
                  <a:tblPr bandRow="1"/>
                  <a:tblGrid>
                    <a:gridCol w="2475517">
                      <a:extLst>
                        <a:ext uri="{9D8B030D-6E8A-4147-A177-3AD203B41FA5}">
                          <a16:colId xmlns:a16="http://schemas.microsoft.com/office/drawing/2014/main" val="3895562638"/>
                        </a:ext>
                      </a:extLst>
                    </a:gridCol>
                    <a:gridCol w="2475517">
                      <a:extLst>
                        <a:ext uri="{9D8B030D-6E8A-4147-A177-3AD203B41FA5}">
                          <a16:colId xmlns:a16="http://schemas.microsoft.com/office/drawing/2014/main" val="3874538813"/>
                        </a:ext>
                      </a:extLst>
                    </a:gridCol>
                    <a:gridCol w="2475517">
                      <a:extLst>
                        <a:ext uri="{9D8B030D-6E8A-4147-A177-3AD203B41FA5}">
                          <a16:colId xmlns:a16="http://schemas.microsoft.com/office/drawing/2014/main" val="741502723"/>
                        </a:ext>
                      </a:extLst>
                    </a:gridCol>
                  </a:tblGrid>
                  <a:tr h="480124">
                    <a:tc>
                      <a:txBody>
                        <a:bodyPr/>
                        <a:lstStyle/>
                        <a:p>
                          <a:pPr marL="0" marR="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June</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July</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August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076252473"/>
                      </a:ext>
                    </a:extLst>
                  </a:tr>
                  <a:tr h="651002">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513" t="-73077" r="-201026" b="-3846"/>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000" t="-73077" r="-100000" b="-3846"/>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1026" t="-73077" r="-513" b="-3846"/>
                          </a:stretch>
                        </a:blipFill>
                      </a:tcPr>
                    </a:tc>
                    <a:extLst>
                      <a:ext uri="{0D108BD9-81ED-4DB2-BD59-A6C34878D82A}">
                        <a16:rowId xmlns:a16="http://schemas.microsoft.com/office/drawing/2014/main" val="3161843426"/>
                      </a:ext>
                    </a:extLst>
                  </a:tr>
                </a:tbl>
              </a:graphicData>
            </a:graphic>
          </p:graphicFrame>
        </mc:Fallback>
      </mc:AlternateContent>
    </p:spTree>
    <p:extLst>
      <p:ext uri="{BB962C8B-B14F-4D97-AF65-F5344CB8AC3E}">
        <p14:creationId xmlns:p14="http://schemas.microsoft.com/office/powerpoint/2010/main" val="2122147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43544"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400" b="1" dirty="0">
                <a:solidFill>
                  <a:srgbClr val="33BEA6"/>
                </a:solidFill>
                <a:latin typeface="Verdana"/>
                <a:ea typeface="Verdana"/>
                <a:cs typeface="Verdana"/>
                <a:sym typeface="Verdana"/>
              </a:rPr>
              <a:t>Collaboration</a:t>
            </a:r>
            <a:endParaRPr sz="48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106</a:t>
            </a:r>
            <a:endParaRPr i="1" dirty="0">
              <a:latin typeface="Calibri"/>
              <a:ea typeface="Calibri"/>
              <a:cs typeface="Calibri"/>
              <a:sym typeface="Calibri"/>
            </a:endParaRPr>
          </a:p>
        </p:txBody>
      </p:sp>
      <p:pic>
        <p:nvPicPr>
          <p:cNvPr id="8" name="image5.png">
            <a:extLst>
              <a:ext uri="{FF2B5EF4-FFF2-40B4-BE49-F238E27FC236}">
                <a16:creationId xmlns:a16="http://schemas.microsoft.com/office/drawing/2014/main" id="{D5815871-A7E0-6040-BFA5-F4032BE2D5BE}"/>
              </a:ext>
            </a:extLst>
          </p:cNvPr>
          <p:cNvPicPr/>
          <p:nvPr/>
        </p:nvPicPr>
        <p:blipFill>
          <a:blip r:embed="rId4"/>
          <a:srcRect/>
          <a:stretch>
            <a:fillRect/>
          </a:stretch>
        </p:blipFill>
        <p:spPr>
          <a:xfrm>
            <a:off x="3054096" y="2852928"/>
            <a:ext cx="1152145" cy="115214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9844" y="-86776"/>
            <a:ext cx="999283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3.5.3 Collaboration: Account Transactions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106</a:t>
            </a:r>
            <a:endParaRPr i="1" dirty="0">
              <a:latin typeface="Calibri"/>
              <a:ea typeface="Calibri"/>
              <a:cs typeface="Calibri"/>
              <a:sym typeface="Calibri"/>
            </a:endParaRPr>
          </a:p>
        </p:txBody>
      </p:sp>
      <p:sp>
        <p:nvSpPr>
          <p:cNvPr id="11" name="TextBox 10">
            <a:extLst>
              <a:ext uri="{FF2B5EF4-FFF2-40B4-BE49-F238E27FC236}">
                <a16:creationId xmlns:a16="http://schemas.microsoft.com/office/drawing/2014/main" id="{B46B19A2-BBA2-0441-AC88-F1F62E75949B}"/>
              </a:ext>
            </a:extLst>
          </p:cNvPr>
          <p:cNvSpPr txBox="1"/>
          <p:nvPr/>
        </p:nvSpPr>
        <p:spPr>
          <a:xfrm>
            <a:off x="731521" y="1374936"/>
            <a:ext cx="10770667" cy="101566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table shows transactions for four different checking accounts. A negative number represents a debit, or removing money from the account. A positive number represents a credit, or adding money to the account.  </a:t>
            </a:r>
          </a:p>
        </p:txBody>
      </p:sp>
      <p:pic>
        <p:nvPicPr>
          <p:cNvPr id="9" name="image5.png">
            <a:extLst>
              <a:ext uri="{FF2B5EF4-FFF2-40B4-BE49-F238E27FC236}">
                <a16:creationId xmlns:a16="http://schemas.microsoft.com/office/drawing/2014/main" id="{6FABD86C-5D47-9743-B9F7-2CCAB95639AF}"/>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9812" cy="749812"/>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7F39BEC-A74E-CC4D-9582-F4A9D43B202D}"/>
                  </a:ext>
                </a:extLst>
              </p:cNvPr>
              <p:cNvGraphicFramePr>
                <a:graphicFrameLocks noGrp="1"/>
              </p:cNvGraphicFramePr>
              <p:nvPr>
                <p:extLst>
                  <p:ext uri="{D42A27DB-BD31-4B8C-83A1-F6EECF244321}">
                    <p14:modId xmlns:p14="http://schemas.microsoft.com/office/powerpoint/2010/main" val="2623713207"/>
                  </p:ext>
                </p:extLst>
              </p:nvPr>
            </p:nvGraphicFramePr>
            <p:xfrm>
              <a:off x="2319338" y="2867600"/>
              <a:ext cx="7553324" cy="2438400"/>
            </p:xfrm>
            <a:graphic>
              <a:graphicData uri="http://schemas.openxmlformats.org/drawingml/2006/table">
                <a:tbl>
                  <a:tblPr bandRow="1"/>
                  <a:tblGrid>
                    <a:gridCol w="1888331">
                      <a:extLst>
                        <a:ext uri="{9D8B030D-6E8A-4147-A177-3AD203B41FA5}">
                          <a16:colId xmlns:a16="http://schemas.microsoft.com/office/drawing/2014/main" val="3490980183"/>
                        </a:ext>
                      </a:extLst>
                    </a:gridCol>
                    <a:gridCol w="1888331">
                      <a:extLst>
                        <a:ext uri="{9D8B030D-6E8A-4147-A177-3AD203B41FA5}">
                          <a16:colId xmlns:a16="http://schemas.microsoft.com/office/drawing/2014/main" val="3267651388"/>
                        </a:ext>
                      </a:extLst>
                    </a:gridCol>
                    <a:gridCol w="1888331">
                      <a:extLst>
                        <a:ext uri="{9D8B030D-6E8A-4147-A177-3AD203B41FA5}">
                          <a16:colId xmlns:a16="http://schemas.microsoft.com/office/drawing/2014/main" val="582732037"/>
                        </a:ext>
                      </a:extLst>
                    </a:gridCol>
                    <a:gridCol w="1888331">
                      <a:extLst>
                        <a:ext uri="{9D8B030D-6E8A-4147-A177-3AD203B41FA5}">
                          <a16:colId xmlns:a16="http://schemas.microsoft.com/office/drawing/2014/main" val="2002697983"/>
                        </a:ext>
                      </a:extLst>
                    </a:gridCol>
                  </a:tblGrid>
                  <a:tr h="397510">
                    <a:tc>
                      <a:txBody>
                        <a:bodyPr/>
                        <a:lstStyle/>
                        <a:p>
                          <a:pPr marL="0" marR="0" algn="ctr">
                            <a:lnSpc>
                              <a:spcPct val="100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Account 1</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Account 2</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Account 3</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Account 4</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91388278"/>
                      </a:ext>
                    </a:extLst>
                  </a:tr>
                  <a:tr h="39751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−$38.50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$250.00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−$14.00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−$86.80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50628348"/>
                      </a:ext>
                    </a:extLst>
                  </a:tr>
                  <a:tr h="39751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$126.30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−$135.20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$99.90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−$570.00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019713"/>
                      </a:ext>
                    </a:extLst>
                  </a:tr>
                  <a:tr h="37846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$429.40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$35.50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−$82.70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$100.00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93030495"/>
                      </a:ext>
                    </a:extLst>
                  </a:tr>
                  <a:tr h="37846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−$265.00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−$62.30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−$1.50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−$280.10</m:t>
                                </m:r>
                              </m:oMath>
                            </m:oMathPara>
                          </a14:m>
                          <a:endParaRPr lang="x-none" sz="2000" dirty="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4916125"/>
                      </a:ext>
                    </a:extLst>
                  </a:tr>
                </a:tbl>
              </a:graphicData>
            </a:graphic>
          </p:graphicFrame>
        </mc:Choice>
        <mc:Fallback xmlns="">
          <p:graphicFrame>
            <p:nvGraphicFramePr>
              <p:cNvPr id="3" name="Table 2">
                <a:extLst>
                  <a:ext uri="{FF2B5EF4-FFF2-40B4-BE49-F238E27FC236}">
                    <a16:creationId xmlns:a16="http://schemas.microsoft.com/office/drawing/2014/main" id="{77F39BEC-A74E-CC4D-9582-F4A9D43B202D}"/>
                  </a:ext>
                </a:extLst>
              </p:cNvPr>
              <p:cNvGraphicFramePr>
                <a:graphicFrameLocks noGrp="1"/>
              </p:cNvGraphicFramePr>
              <p:nvPr>
                <p:extLst>
                  <p:ext uri="{D42A27DB-BD31-4B8C-83A1-F6EECF244321}">
                    <p14:modId xmlns:p14="http://schemas.microsoft.com/office/powerpoint/2010/main" val="2623713207"/>
                  </p:ext>
                </p:extLst>
              </p:nvPr>
            </p:nvGraphicFramePr>
            <p:xfrm>
              <a:off x="2319338" y="2867600"/>
              <a:ext cx="7553324" cy="2438400"/>
            </p:xfrm>
            <a:graphic>
              <a:graphicData uri="http://schemas.openxmlformats.org/drawingml/2006/table">
                <a:tbl>
                  <a:tblPr bandRow="1"/>
                  <a:tblGrid>
                    <a:gridCol w="1888331">
                      <a:extLst>
                        <a:ext uri="{9D8B030D-6E8A-4147-A177-3AD203B41FA5}">
                          <a16:colId xmlns:a16="http://schemas.microsoft.com/office/drawing/2014/main" val="3490980183"/>
                        </a:ext>
                      </a:extLst>
                    </a:gridCol>
                    <a:gridCol w="1888331">
                      <a:extLst>
                        <a:ext uri="{9D8B030D-6E8A-4147-A177-3AD203B41FA5}">
                          <a16:colId xmlns:a16="http://schemas.microsoft.com/office/drawing/2014/main" val="3267651388"/>
                        </a:ext>
                      </a:extLst>
                    </a:gridCol>
                    <a:gridCol w="1888331">
                      <a:extLst>
                        <a:ext uri="{9D8B030D-6E8A-4147-A177-3AD203B41FA5}">
                          <a16:colId xmlns:a16="http://schemas.microsoft.com/office/drawing/2014/main" val="582732037"/>
                        </a:ext>
                      </a:extLst>
                    </a:gridCol>
                    <a:gridCol w="1888331">
                      <a:extLst>
                        <a:ext uri="{9D8B030D-6E8A-4147-A177-3AD203B41FA5}">
                          <a16:colId xmlns:a16="http://schemas.microsoft.com/office/drawing/2014/main" val="2002697983"/>
                        </a:ext>
                      </a:extLst>
                    </a:gridCol>
                  </a:tblGrid>
                  <a:tr h="487680">
                    <a:tc>
                      <a:txBody>
                        <a:bodyPr/>
                        <a:lstStyle/>
                        <a:p>
                          <a:pPr marL="0" marR="0" algn="ctr">
                            <a:lnSpc>
                              <a:spcPct val="100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Account 1</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Account 2</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Account 3</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0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Account 4</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91388278"/>
                      </a:ext>
                    </a:extLst>
                  </a:tr>
                  <a:tr h="487680">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71" t="-102632" r="-300671" b="-310526"/>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671" t="-102632" r="-200671" b="-310526"/>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0671" t="-102632" r="-100671" b="-310526"/>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00671" t="-102632" r="-671" b="-310526"/>
                          </a:stretch>
                        </a:blipFill>
                      </a:tcPr>
                    </a:tc>
                    <a:extLst>
                      <a:ext uri="{0D108BD9-81ED-4DB2-BD59-A6C34878D82A}">
                        <a16:rowId xmlns:a16="http://schemas.microsoft.com/office/drawing/2014/main" val="2750628348"/>
                      </a:ext>
                    </a:extLst>
                  </a:tr>
                  <a:tr h="487680">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71" t="-197436" r="-300671" b="-202564"/>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671" t="-197436" r="-200671" b="-202564"/>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0671" t="-197436" r="-100671" b="-202564"/>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00671" t="-197436" r="-671" b="-202564"/>
                          </a:stretch>
                        </a:blipFill>
                      </a:tcPr>
                    </a:tc>
                    <a:extLst>
                      <a:ext uri="{0D108BD9-81ED-4DB2-BD59-A6C34878D82A}">
                        <a16:rowId xmlns:a16="http://schemas.microsoft.com/office/drawing/2014/main" val="424019713"/>
                      </a:ext>
                    </a:extLst>
                  </a:tr>
                  <a:tr h="487680">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71" t="-305263" r="-300671" b="-107895"/>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671" t="-305263" r="-200671" b="-107895"/>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0671" t="-305263" r="-100671" b="-107895"/>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00671" t="-305263" r="-671" b="-107895"/>
                          </a:stretch>
                        </a:blipFill>
                      </a:tcPr>
                    </a:tc>
                    <a:extLst>
                      <a:ext uri="{0D108BD9-81ED-4DB2-BD59-A6C34878D82A}">
                        <a16:rowId xmlns:a16="http://schemas.microsoft.com/office/drawing/2014/main" val="1193030495"/>
                      </a:ext>
                    </a:extLst>
                  </a:tr>
                  <a:tr h="487680">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671" t="-394872" r="-300671" b="-5128"/>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671" t="-394872" r="-200671" b="-5128"/>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00671" t="-394872" r="-100671" b="-5128"/>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00671" t="-394872" r="-671" b="-5128"/>
                          </a:stretch>
                        </a:blipFill>
                      </a:tcPr>
                    </a:tc>
                    <a:extLst>
                      <a:ext uri="{0D108BD9-81ED-4DB2-BD59-A6C34878D82A}">
                        <a16:rowId xmlns:a16="http://schemas.microsoft.com/office/drawing/2014/main" val="794916125"/>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106</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B71B7AA-10E7-9B44-A591-563821260A41}"/>
              </a:ext>
            </a:extLst>
          </p:cNvPr>
          <p:cNvSpPr txBox="1"/>
          <p:nvPr/>
        </p:nvSpPr>
        <p:spPr>
          <a:xfrm>
            <a:off x="493191" y="541387"/>
            <a:ext cx="11355508" cy="163121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 using the information from the table.</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Each checking account had the same starting balance. Without performing any calculations, discuss with your partner which account will have the most money in it after completing the transactions shown. Summarize your discussion.</a:t>
            </a:r>
          </a:p>
        </p:txBody>
      </p:sp>
    </p:spTree>
    <p:extLst>
      <p:ext uri="{BB962C8B-B14F-4D97-AF65-F5344CB8AC3E}">
        <p14:creationId xmlns:p14="http://schemas.microsoft.com/office/powerpoint/2010/main" val="1251846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107</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B71B7AA-10E7-9B44-A591-563821260A41}"/>
              </a:ext>
            </a:extLst>
          </p:cNvPr>
          <p:cNvSpPr txBox="1"/>
          <p:nvPr/>
        </p:nvSpPr>
        <p:spPr>
          <a:xfrm>
            <a:off x="659932" y="416119"/>
            <a:ext cx="10832631" cy="501675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With your partner, decide who will calculate the overall change in the account balance for Accounts 1 and 2, and who will calculate them for Accounts 3 and 4. Then, find the overall change in balance for each account after applying the transactions.</a:t>
            </a: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strategies you used for finding the overall change in balance for each account. Then, check your work and make any revisions if necessary.</a:t>
            </a:r>
          </a:p>
        </p:txBody>
      </p:sp>
      <p:graphicFrame>
        <p:nvGraphicFramePr>
          <p:cNvPr id="3" name="Table 2">
            <a:extLst>
              <a:ext uri="{FF2B5EF4-FFF2-40B4-BE49-F238E27FC236}">
                <a16:creationId xmlns:a16="http://schemas.microsoft.com/office/drawing/2014/main" id="{B40AE179-E412-2A41-A986-1A2202576531}"/>
              </a:ext>
            </a:extLst>
          </p:cNvPr>
          <p:cNvGraphicFramePr>
            <a:graphicFrameLocks noGrp="1"/>
          </p:cNvGraphicFramePr>
          <p:nvPr>
            <p:extLst>
              <p:ext uri="{D42A27DB-BD31-4B8C-83A1-F6EECF244321}">
                <p14:modId xmlns:p14="http://schemas.microsoft.com/office/powerpoint/2010/main" val="816467806"/>
              </p:ext>
            </p:extLst>
          </p:nvPr>
        </p:nvGraphicFramePr>
        <p:xfrm>
          <a:off x="2667000" y="1829885"/>
          <a:ext cx="6858000" cy="2189226"/>
        </p:xfrm>
        <a:graphic>
          <a:graphicData uri="http://schemas.openxmlformats.org/drawingml/2006/table">
            <a:tbl>
              <a:tblPr bandRow="1"/>
              <a:tblGrid>
                <a:gridCol w="1734820">
                  <a:extLst>
                    <a:ext uri="{9D8B030D-6E8A-4147-A177-3AD203B41FA5}">
                      <a16:colId xmlns:a16="http://schemas.microsoft.com/office/drawing/2014/main" val="454171647"/>
                    </a:ext>
                  </a:extLst>
                </a:gridCol>
                <a:gridCol w="1734820">
                  <a:extLst>
                    <a:ext uri="{9D8B030D-6E8A-4147-A177-3AD203B41FA5}">
                      <a16:colId xmlns:a16="http://schemas.microsoft.com/office/drawing/2014/main" val="2525721304"/>
                    </a:ext>
                  </a:extLst>
                </a:gridCol>
                <a:gridCol w="1735455">
                  <a:extLst>
                    <a:ext uri="{9D8B030D-6E8A-4147-A177-3AD203B41FA5}">
                      <a16:colId xmlns:a16="http://schemas.microsoft.com/office/drawing/2014/main" val="3652185701"/>
                    </a:ext>
                  </a:extLst>
                </a:gridCol>
                <a:gridCol w="1652905">
                  <a:extLst>
                    <a:ext uri="{9D8B030D-6E8A-4147-A177-3AD203B41FA5}">
                      <a16:colId xmlns:a16="http://schemas.microsoft.com/office/drawing/2014/main" val="787516851"/>
                    </a:ext>
                  </a:extLst>
                </a:gridCol>
              </a:tblGrid>
              <a:tr h="0">
                <a:tc>
                  <a:txBody>
                    <a:bodyPr/>
                    <a:lstStyle/>
                    <a:p>
                      <a:pPr marL="0" marR="0" indent="46355"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Account 1 Balance</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indent="46355" algn="ctr">
                        <a:lnSpc>
                          <a:spcPct val="107000"/>
                        </a:lnSpc>
                        <a:spcBef>
                          <a:spcPts val="0"/>
                        </a:spcBef>
                        <a:spcAft>
                          <a:spcPts val="8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Account 2 Balance</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indent="46355"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Account 3 Balance</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indent="46355" algn="ctr">
                        <a:lnSpc>
                          <a:spcPct val="107000"/>
                        </a:lnSpc>
                        <a:spcBef>
                          <a:spcPts val="0"/>
                        </a:spcBef>
                        <a:spcAft>
                          <a:spcPts val="8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Account 4 Balance</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474965164"/>
                  </a:ext>
                </a:extLst>
              </a:tr>
              <a:tr h="1371600">
                <a:tc>
                  <a:txBody>
                    <a:bodyPr/>
                    <a:lstStyle/>
                    <a:p>
                      <a:pPr marL="0" marR="0" indent="46355">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libri" panose="020F0502020204030204" pitchFamily="34" charset="0"/>
                        <a:ea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46355">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libri" panose="020F0502020204030204" pitchFamily="34" charset="0"/>
                        <a:ea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46355">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Calibri" panose="020F0502020204030204" pitchFamily="34" charset="0"/>
                        <a:ea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46355">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Calibri" panose="020F0502020204030204" pitchFamily="34" charset="0"/>
                        <a:ea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14768599"/>
                  </a:ext>
                </a:extLst>
              </a:tr>
            </a:tbl>
          </a:graphicData>
        </a:graphic>
      </p:graphicFrame>
    </p:spTree>
    <p:extLst>
      <p:ext uri="{BB962C8B-B14F-4D97-AF65-F5344CB8AC3E}">
        <p14:creationId xmlns:p14="http://schemas.microsoft.com/office/powerpoint/2010/main" val="4156986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2;g104476d1465_1_17">
            <a:extLst>
              <a:ext uri="{FF2B5EF4-FFF2-40B4-BE49-F238E27FC236}">
                <a16:creationId xmlns:a16="http://schemas.microsoft.com/office/drawing/2014/main" id="{E0814DF0-CB0F-CE4A-A504-DEE56AFFF9B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107</a:t>
            </a:r>
            <a:endParaRPr i="1" dirty="0">
              <a:latin typeface="Calibri"/>
              <a:ea typeface="Calibri"/>
              <a:cs typeface="Calibri"/>
              <a:sym typeface="Calibri"/>
            </a:endParaRPr>
          </a:p>
        </p:txBody>
      </p:sp>
      <p:sp>
        <p:nvSpPr>
          <p:cNvPr id="6" name="TextBox 5">
            <a:extLst>
              <a:ext uri="{FF2B5EF4-FFF2-40B4-BE49-F238E27FC236}">
                <a16:creationId xmlns:a16="http://schemas.microsoft.com/office/drawing/2014/main" id="{4B71B7AA-10E7-9B44-A591-563821260A41}"/>
              </a:ext>
            </a:extLst>
          </p:cNvPr>
          <p:cNvSpPr txBox="1"/>
          <p:nvPr/>
        </p:nvSpPr>
        <p:spPr>
          <a:xfrm>
            <a:off x="592556" y="464245"/>
            <a:ext cx="10024269" cy="3046988"/>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Which account will have the greatest final balance?</a:t>
            </a: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Which account will have the smallest final balance?</a:t>
            </a:r>
          </a:p>
        </p:txBody>
      </p:sp>
    </p:spTree>
    <p:extLst>
      <p:ext uri="{BB962C8B-B14F-4D97-AF65-F5344CB8AC3E}">
        <p14:creationId xmlns:p14="http://schemas.microsoft.com/office/powerpoint/2010/main" val="2136278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392538" y="2766150"/>
            <a:ext cx="8254029"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107</a:t>
            </a:r>
            <a:endParaRPr i="1" dirty="0">
              <a:latin typeface="Calibri"/>
              <a:ea typeface="Calibri"/>
              <a:cs typeface="Calibri"/>
              <a:sym typeface="Calibri"/>
            </a:endParaRPr>
          </a:p>
        </p:txBody>
      </p:sp>
      <p:pic>
        <p:nvPicPr>
          <p:cNvPr id="9" name="image3.png" descr="Icon&#10;&#10;Description automatically generated">
            <a:extLst>
              <a:ext uri="{FF2B5EF4-FFF2-40B4-BE49-F238E27FC236}">
                <a16:creationId xmlns:a16="http://schemas.microsoft.com/office/drawing/2014/main" id="{0D19F6B6-A388-1443-A380-52938AB2312D}"/>
              </a:ext>
            </a:extLst>
          </p:cNvPr>
          <p:cNvPicPr/>
          <p:nvPr/>
        </p:nvPicPr>
        <p:blipFill>
          <a:blip r:embed="rId4"/>
          <a:srcRect/>
          <a:stretch>
            <a:fillRect/>
          </a:stretch>
        </p:blipFill>
        <p:spPr>
          <a:xfrm>
            <a:off x="3054096" y="2852928"/>
            <a:ext cx="1158151" cy="1158151"/>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54827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04048" y="-87966"/>
            <a:ext cx="1384398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54B5D1"/>
                </a:solidFill>
                <a:latin typeface="Verdana"/>
                <a:ea typeface="Verdana"/>
                <a:cs typeface="Verdana"/>
                <a:sym typeface="Verdana"/>
              </a:rPr>
              <a:t>3.5.4 Guided Practice: Change in Elevation</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107</a:t>
            </a:r>
            <a:endParaRPr i="1" dirty="0">
              <a:latin typeface="Calibri"/>
              <a:ea typeface="Calibri"/>
              <a:cs typeface="Calibri"/>
              <a:sym typeface="Calibri"/>
            </a:endParaRP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0331" y="1454558"/>
            <a:ext cx="11253121"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Sasha spends fall break backpacking through the beginning part of the </a:t>
            </a:r>
            <a:r>
              <a:rPr lang="en-US" altLang="en-US" sz="2000" dirty="0" err="1">
                <a:solidFill>
                  <a:schemeClr val="tx1"/>
                </a:solidFill>
                <a:latin typeface="Verdana" panose="020B0604030504040204" pitchFamily="34" charset="0"/>
                <a:ea typeface="Times New Roman" panose="02020603050405020304" pitchFamily="18" charset="0"/>
                <a:cs typeface="Times New Roman" panose="02020603050405020304" pitchFamily="18" charset="0"/>
              </a:rPr>
              <a:t>Badwater</a:t>
            </a: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Basin Trail in Death Valley. Her journey includes climbing up and down the hills and mountains. Sasha’s changes in elevation between each checkpoint of her trip are shown in the table. </a:t>
            </a:r>
          </a:p>
          <a:p>
            <a:pPr marL="457200" indent="-457200" eaLnBrk="0" fontAlgn="base" hangingPunct="0">
              <a:spcBef>
                <a:spcPct val="0"/>
              </a:spcBef>
              <a:spcAft>
                <a:spcPct val="0"/>
              </a:spcAft>
              <a:buClrTx/>
              <a:buFont typeface="+mj-lt"/>
              <a:buAutoNum type="arabi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table to determine Sasha’s change in elevation for each checkpoint. The first row has been completed to show that the change in elevation is determined by subtracting the beginning elevation from the final elevation.</a:t>
            </a:r>
          </a:p>
        </p:txBody>
      </p:sp>
      <p:pic>
        <p:nvPicPr>
          <p:cNvPr id="10" name="image3.png" descr="Icon&#10;&#10;Description automatically generated">
            <a:extLst>
              <a:ext uri="{FF2B5EF4-FFF2-40B4-BE49-F238E27FC236}">
                <a16:creationId xmlns:a16="http://schemas.microsoft.com/office/drawing/2014/main" id="{7A2D9D50-9448-8245-B927-6E7175407A6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7432" cy="747432"/>
          </a:xfrm>
          <a:prstGeom prst="rect">
            <a:avLst/>
          </a:prstGeom>
          <a:ln/>
        </p:spPr>
      </p:pic>
    </p:spTree>
    <p:extLst>
      <p:ext uri="{BB962C8B-B14F-4D97-AF65-F5344CB8AC3E}">
        <p14:creationId xmlns:p14="http://schemas.microsoft.com/office/powerpoint/2010/main" val="3782521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3E79A07-1EC7-154B-BA41-60947F35ED1B}"/>
                  </a:ext>
                </a:extLst>
              </p:cNvPr>
              <p:cNvGraphicFramePr>
                <a:graphicFrameLocks noGrp="1"/>
              </p:cNvGraphicFramePr>
              <p:nvPr>
                <p:extLst>
                  <p:ext uri="{D42A27DB-BD31-4B8C-83A1-F6EECF244321}">
                    <p14:modId xmlns:p14="http://schemas.microsoft.com/office/powerpoint/2010/main" val="2231577873"/>
                  </p:ext>
                </p:extLst>
              </p:nvPr>
            </p:nvGraphicFramePr>
            <p:xfrm>
              <a:off x="1844040" y="416118"/>
              <a:ext cx="8503920" cy="4186492"/>
            </p:xfrm>
            <a:graphic>
              <a:graphicData uri="http://schemas.openxmlformats.org/drawingml/2006/table">
                <a:tbl>
                  <a:tblPr bandRow="1"/>
                  <a:tblGrid>
                    <a:gridCol w="1828800">
                      <a:extLst>
                        <a:ext uri="{9D8B030D-6E8A-4147-A177-3AD203B41FA5}">
                          <a16:colId xmlns:a16="http://schemas.microsoft.com/office/drawing/2014/main" val="1986905869"/>
                        </a:ext>
                      </a:extLst>
                    </a:gridCol>
                    <a:gridCol w="1645920">
                      <a:extLst>
                        <a:ext uri="{9D8B030D-6E8A-4147-A177-3AD203B41FA5}">
                          <a16:colId xmlns:a16="http://schemas.microsoft.com/office/drawing/2014/main" val="1490131708"/>
                        </a:ext>
                      </a:extLst>
                    </a:gridCol>
                    <a:gridCol w="1554480">
                      <a:extLst>
                        <a:ext uri="{9D8B030D-6E8A-4147-A177-3AD203B41FA5}">
                          <a16:colId xmlns:a16="http://schemas.microsoft.com/office/drawing/2014/main" val="2787596027"/>
                        </a:ext>
                      </a:extLst>
                    </a:gridCol>
                    <a:gridCol w="2194560">
                      <a:extLst>
                        <a:ext uri="{9D8B030D-6E8A-4147-A177-3AD203B41FA5}">
                          <a16:colId xmlns:a16="http://schemas.microsoft.com/office/drawing/2014/main" val="1334721290"/>
                        </a:ext>
                      </a:extLst>
                    </a:gridCol>
                    <a:gridCol w="1280160">
                      <a:extLst>
                        <a:ext uri="{9D8B030D-6E8A-4147-A177-3AD203B41FA5}">
                          <a16:colId xmlns:a16="http://schemas.microsoft.com/office/drawing/2014/main" val="2391220240"/>
                        </a:ext>
                      </a:extLst>
                    </a:gridCol>
                  </a:tblGrid>
                  <a:tr h="93345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Checkpoint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Beginning Elevation (</a:t>
                          </a:r>
                          <a:r>
                            <a:rPr lang="en-US" sz="2000" b="1"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ft</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Final Elevation (</a:t>
                          </a:r>
                          <a:r>
                            <a:rPr lang="en-US" sz="2000" b="1"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ft</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Change</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385481967"/>
                      </a:ext>
                    </a:extLst>
                  </a:tr>
                  <a:tr h="39624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1</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−266.5</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−279</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−279−(−266.5)</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−12.5</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459346"/>
                      </a:ext>
                    </a:extLst>
                  </a:tr>
                  <a:tr h="39624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smtClean="0">
                                    <a:effectLst/>
                                    <a:latin typeface="Cambria Math"/>
                                    <a:ea typeface="Verdana" panose="020B0604030504040204" pitchFamily="34" charset="0"/>
                                    <a:cs typeface="Verdana" panose="020B0604030504040204" pitchFamily="34" charset="0"/>
                                  </a:rPr>
                                  <m:t>2</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−279</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−282</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3491646"/>
                      </a:ext>
                    </a:extLst>
                  </a:tr>
                  <a:tr h="39624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3</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−282</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−240.3</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7541788"/>
                      </a:ext>
                    </a:extLst>
                  </a:tr>
                  <a:tr h="39624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4</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−240.3</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280.1</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2754297"/>
                      </a:ext>
                    </a:extLst>
                  </a:tr>
                  <a:tr h="39624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5</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280.1</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755.2</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3159473"/>
                      </a:ext>
                    </a:extLst>
                  </a:tr>
                  <a:tr h="39624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dirty="0" smtClean="0">
                                    <a:effectLst/>
                                    <a:latin typeface="Cambria Math"/>
                                    <a:ea typeface="Verdana" panose="020B0604030504040204" pitchFamily="34" charset="0"/>
                                    <a:cs typeface="Verdana" panose="020B0604030504040204" pitchFamily="34" charset="0"/>
                                  </a:rPr>
                                  <m:t>6</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755.2</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1191.7</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4844764"/>
                      </a:ext>
                    </a:extLst>
                  </a:tr>
                </a:tbl>
              </a:graphicData>
            </a:graphic>
          </p:graphicFrame>
        </mc:Choice>
        <mc:Fallback xmlns="">
          <p:graphicFrame>
            <p:nvGraphicFramePr>
              <p:cNvPr id="4" name="Table 3">
                <a:extLst>
                  <a:ext uri="{FF2B5EF4-FFF2-40B4-BE49-F238E27FC236}">
                    <a16:creationId xmlns:a16="http://schemas.microsoft.com/office/drawing/2014/main" id="{93E79A07-1EC7-154B-BA41-60947F35ED1B}"/>
                  </a:ext>
                </a:extLst>
              </p:cNvPr>
              <p:cNvGraphicFramePr>
                <a:graphicFrameLocks noGrp="1"/>
              </p:cNvGraphicFramePr>
              <p:nvPr>
                <p:extLst>
                  <p:ext uri="{D42A27DB-BD31-4B8C-83A1-F6EECF244321}">
                    <p14:modId xmlns:p14="http://schemas.microsoft.com/office/powerpoint/2010/main" val="2231577873"/>
                  </p:ext>
                </p:extLst>
              </p:nvPr>
            </p:nvGraphicFramePr>
            <p:xfrm>
              <a:off x="1844040" y="416118"/>
              <a:ext cx="8503920" cy="4186492"/>
            </p:xfrm>
            <a:graphic>
              <a:graphicData uri="http://schemas.openxmlformats.org/drawingml/2006/table">
                <a:tbl>
                  <a:tblPr bandRow="1"/>
                  <a:tblGrid>
                    <a:gridCol w="1828800">
                      <a:extLst>
                        <a:ext uri="{9D8B030D-6E8A-4147-A177-3AD203B41FA5}">
                          <a16:colId xmlns:a16="http://schemas.microsoft.com/office/drawing/2014/main" val="1986905869"/>
                        </a:ext>
                      </a:extLst>
                    </a:gridCol>
                    <a:gridCol w="1645920">
                      <a:extLst>
                        <a:ext uri="{9D8B030D-6E8A-4147-A177-3AD203B41FA5}">
                          <a16:colId xmlns:a16="http://schemas.microsoft.com/office/drawing/2014/main" val="1490131708"/>
                        </a:ext>
                      </a:extLst>
                    </a:gridCol>
                    <a:gridCol w="1554480">
                      <a:extLst>
                        <a:ext uri="{9D8B030D-6E8A-4147-A177-3AD203B41FA5}">
                          <a16:colId xmlns:a16="http://schemas.microsoft.com/office/drawing/2014/main" val="2787596027"/>
                        </a:ext>
                      </a:extLst>
                    </a:gridCol>
                    <a:gridCol w="2194560">
                      <a:extLst>
                        <a:ext uri="{9D8B030D-6E8A-4147-A177-3AD203B41FA5}">
                          <a16:colId xmlns:a16="http://schemas.microsoft.com/office/drawing/2014/main" val="1334721290"/>
                        </a:ext>
                      </a:extLst>
                    </a:gridCol>
                    <a:gridCol w="1280160">
                      <a:extLst>
                        <a:ext uri="{9D8B030D-6E8A-4147-A177-3AD203B41FA5}">
                          <a16:colId xmlns:a16="http://schemas.microsoft.com/office/drawing/2014/main" val="2391220240"/>
                        </a:ext>
                      </a:extLst>
                    </a:gridCol>
                  </a:tblGrid>
                  <a:tr h="113239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Checkpoint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Beginning Elevation (</a:t>
                          </a:r>
                          <a:r>
                            <a:rPr lang="en-US" sz="2000" b="1"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ft</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Final Elevation (</a:t>
                          </a:r>
                          <a:r>
                            <a:rPr lang="en-US" sz="2000" b="1"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ft</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Change</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385481967"/>
                      </a:ext>
                    </a:extLst>
                  </a:tr>
                  <a:tr h="509016">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4" t="-225000" r="-366667" b="-5050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1538" t="-225000" r="-306154" b="-5050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5410" t="-225000" r="-226230" b="-5050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9480" t="-225000" r="-59538" b="-5050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64356" t="-225000" r="-1980" b="-505000"/>
                          </a:stretch>
                        </a:blipFill>
                      </a:tcPr>
                    </a:tc>
                    <a:extLst>
                      <a:ext uri="{0D108BD9-81ED-4DB2-BD59-A6C34878D82A}">
                        <a16:rowId xmlns:a16="http://schemas.microsoft.com/office/drawing/2014/main" val="343459346"/>
                      </a:ext>
                    </a:extLst>
                  </a:tr>
                  <a:tr h="509016">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4" t="-325000" r="-366667" b="-4050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1538" t="-325000" r="-306154" b="-4050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5410" t="-325000" r="-226230" b="-405000"/>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3491646"/>
                      </a:ext>
                    </a:extLst>
                  </a:tr>
                  <a:tr h="509016">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4" t="-425000" r="-366667" b="-3050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1538" t="-425000" r="-306154" b="-3050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5410" t="-425000" r="-226230" b="-305000"/>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7541788"/>
                      </a:ext>
                    </a:extLst>
                  </a:tr>
                  <a:tr h="509016">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4" t="-512195" r="-366667" b="-197561"/>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1538" t="-512195" r="-306154" b="-197561"/>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5410" t="-512195" r="-226230" b="-197561"/>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2754297"/>
                      </a:ext>
                    </a:extLst>
                  </a:tr>
                  <a:tr h="509016">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4" t="-627500" r="-366667" b="-1025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1538" t="-627500" r="-306154" b="-1025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5410" t="-627500" r="-226230" b="-102500"/>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3159473"/>
                      </a:ext>
                    </a:extLst>
                  </a:tr>
                  <a:tr h="509016">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694" t="-727500" r="-366667" b="-25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1538" t="-727500" r="-306154" b="-2500"/>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5410" t="-727500" r="-226230" b="-2500"/>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4844764"/>
                      </a:ext>
                    </a:extLst>
                  </a:tr>
                </a:tbl>
              </a:graphicData>
            </a:graphic>
          </p:graphicFrame>
        </mc:Fallback>
      </mc:AlternateContent>
    </p:spTree>
    <p:extLst>
      <p:ext uri="{BB962C8B-B14F-4D97-AF65-F5344CB8AC3E}">
        <p14:creationId xmlns:p14="http://schemas.microsoft.com/office/powerpoint/2010/main" val="3542021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107</a:t>
            </a:r>
            <a:endParaRPr i="1" dirty="0">
              <a:latin typeface="Calibri"/>
              <a:ea typeface="Calibri"/>
              <a:cs typeface="Calibri"/>
              <a:sym typeface="Calibri"/>
            </a:endParaRPr>
          </a:p>
        </p:txBody>
      </p:sp>
      <p:sp>
        <p:nvSpPr>
          <p:cNvPr id="6" name="Rectangle 5">
            <a:extLst>
              <a:ext uri="{FF2B5EF4-FFF2-40B4-BE49-F238E27FC236}">
                <a16:creationId xmlns:a16="http://schemas.microsoft.com/office/drawing/2014/main" id="{5C5D1B9F-A752-AD42-8D60-9B883A2514E7}"/>
              </a:ext>
            </a:extLst>
          </p:cNvPr>
          <p:cNvSpPr>
            <a:spLocks noChangeArrowheads="1"/>
          </p:cNvSpPr>
          <p:nvPr/>
        </p:nvSpPr>
        <p:spPr bwMode="auto">
          <a:xfrm>
            <a:off x="914400" y="808840"/>
            <a:ext cx="1081879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Which checkpoint had the greatest change in elevation?</a:t>
            </a: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do the signs of the change in elevation mean in this context?</a:t>
            </a:r>
          </a:p>
        </p:txBody>
      </p:sp>
    </p:spTree>
    <p:extLst>
      <p:ext uri="{BB962C8B-B14F-4D97-AF65-F5344CB8AC3E}">
        <p14:creationId xmlns:p14="http://schemas.microsoft.com/office/powerpoint/2010/main" val="2708435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51713"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p:pic>
        <p:nvPicPr>
          <p:cNvPr id="7" name="image13.png" descr="Icon&#10;&#10;Description automatically generated">
            <a:extLst>
              <a:ext uri="{FF2B5EF4-FFF2-40B4-BE49-F238E27FC236}">
                <a16:creationId xmlns:a16="http://schemas.microsoft.com/office/drawing/2014/main" id="{32268E94-E434-4940-9512-03AE3A0DAF31}"/>
              </a:ext>
            </a:extLst>
          </p:cNvPr>
          <p:cNvPicPr/>
          <p:nvPr/>
        </p:nvPicPr>
        <p:blipFill>
          <a:blip r:embed="rId4"/>
          <a:srcRect/>
          <a:stretch>
            <a:fillRect/>
          </a:stretch>
        </p:blipFill>
        <p:spPr>
          <a:xfrm>
            <a:off x="3054096" y="2852928"/>
            <a:ext cx="1158151" cy="1158151"/>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45110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42701" y="-85348"/>
            <a:ext cx="83066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dirty="0">
                <a:solidFill>
                  <a:srgbClr val="E24E5F"/>
                </a:solidFill>
                <a:latin typeface="Verdana"/>
                <a:ea typeface="Verdana"/>
                <a:cs typeface="Verdana"/>
                <a:sym typeface="Verdana"/>
              </a:rPr>
              <a:t>3.5.5 Your Turn!</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732950" y="1402955"/>
                <a:ext cx="7669905" cy="286232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table shows the change in value for a share of stock in a company at the end of each week during the month of December. A negative value represents the amount the share decreased, and a positive value represents the amount the share increased.</a:t>
                </a:r>
              </a:p>
              <a:p>
                <a:pPr marL="457200" indent="-457200" eaLnBrk="0" fontAlgn="base" hangingPunct="0">
                  <a:spcBef>
                    <a:spcPct val="0"/>
                  </a:spcBef>
                  <a:spcAft>
                    <a:spcPct val="0"/>
                  </a:spcAft>
                  <a:buClrTx/>
                  <a:buFont typeface="+mj-lt"/>
                  <a:buAutoNum type="arabicPeriod"/>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eaLnBrk="0" fontAlgn="base" hangingPunct="0">
                  <a:spcBef>
                    <a:spcPct val="0"/>
                  </a:spcBef>
                  <a:spcAft>
                    <a:spcPct val="0"/>
                  </a:spcAft>
                  <a:buClrTx/>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If the value of the stock began at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$75.37</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the start of the month, what is the final value of the share at the end of the month?</a:t>
                </a:r>
              </a:p>
            </p:txBody>
          </p:sp>
        </mc:Choice>
        <mc:Fallback xmlns="">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732950" y="1402955"/>
                <a:ext cx="7669905" cy="2862322"/>
              </a:xfrm>
              <a:prstGeom prst="rect">
                <a:avLst/>
              </a:prstGeom>
              <a:blipFill>
                <a:blip r:embed="rId4"/>
                <a:stretch>
                  <a:fillRect l="-826" t="-885" r="-1157" b="-309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8" name="image13.png" descr="Icon&#10;&#10;Description automatically generated">
            <a:extLst>
              <a:ext uri="{FF2B5EF4-FFF2-40B4-BE49-F238E27FC236}">
                <a16:creationId xmlns:a16="http://schemas.microsoft.com/office/drawing/2014/main" id="{2547E01E-671D-5741-BE6A-2442400C6323}"/>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52669" cy="752669"/>
          </a:xfrm>
          <a:prstGeom prst="rect">
            <a:avLst/>
          </a:prstGeom>
          <a:ln/>
        </p:spPr>
      </p:pic>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6C0AF92B-D382-FC4A-B708-65F00A1F38B9}"/>
                  </a:ext>
                </a:extLst>
              </p:cNvPr>
              <p:cNvGraphicFramePr>
                <a:graphicFrameLocks noGrp="1"/>
              </p:cNvGraphicFramePr>
              <p:nvPr>
                <p:extLst>
                  <p:ext uri="{D42A27DB-BD31-4B8C-83A1-F6EECF244321}">
                    <p14:modId xmlns:p14="http://schemas.microsoft.com/office/powerpoint/2010/main" val="4818522"/>
                  </p:ext>
                </p:extLst>
              </p:nvPr>
            </p:nvGraphicFramePr>
            <p:xfrm>
              <a:off x="9125790" y="1576022"/>
              <a:ext cx="1645920" cy="2516188"/>
            </p:xfrm>
            <a:graphic>
              <a:graphicData uri="http://schemas.openxmlformats.org/drawingml/2006/table">
                <a:tbl>
                  <a:tblPr bandRow="1"/>
                  <a:tblGrid>
                    <a:gridCol w="1645920">
                      <a:extLst>
                        <a:ext uri="{9D8B030D-6E8A-4147-A177-3AD203B41FA5}">
                          <a16:colId xmlns:a16="http://schemas.microsoft.com/office/drawing/2014/main" val="3533564095"/>
                        </a:ext>
                      </a:extLst>
                    </a:gridCol>
                  </a:tblGrid>
                  <a:tr h="0">
                    <a:tc>
                      <a:txBody>
                        <a:bodyPr/>
                        <a:lstStyle/>
                        <a:p>
                          <a:pPr marL="0" marR="0" algn="ctr">
                            <a:lnSpc>
                              <a:spcPct val="107000"/>
                            </a:lnSpc>
                            <a:spcBef>
                              <a:spcPts val="0"/>
                            </a:spcBef>
                            <a:spcAft>
                              <a:spcPts val="0"/>
                            </a:spcAft>
                            <a:tabLst>
                              <a:tab pos="0"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December</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182253816"/>
                      </a:ext>
                    </a:extLst>
                  </a:tr>
                  <a:tr h="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−$22.65</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0335742"/>
                      </a:ext>
                    </a:extLst>
                  </a:tr>
                  <a:tr h="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$225.30</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8924722"/>
                      </a:ext>
                    </a:extLst>
                  </a:tr>
                  <a:tr h="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−$106.42</m:t>
                                </m:r>
                              </m:oMath>
                            </m:oMathPara>
                          </a14:m>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4072225"/>
                      </a:ext>
                    </a:extLst>
                  </a:tr>
                  <a:tr h="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$91.10</m:t>
                                </m:r>
                              </m:oMath>
                            </m:oMathPara>
                          </a14:m>
                          <a:endParaRPr lang="x-none" sz="2000" dirty="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3275575"/>
                      </a:ext>
                    </a:extLst>
                  </a:tr>
                </a:tbl>
              </a:graphicData>
            </a:graphic>
          </p:graphicFrame>
        </mc:Choice>
        <mc:Fallback xmlns="">
          <p:graphicFrame>
            <p:nvGraphicFramePr>
              <p:cNvPr id="5" name="Table 4">
                <a:extLst>
                  <a:ext uri="{FF2B5EF4-FFF2-40B4-BE49-F238E27FC236}">
                    <a16:creationId xmlns:a16="http://schemas.microsoft.com/office/drawing/2014/main" id="{6C0AF92B-D382-FC4A-B708-65F00A1F38B9}"/>
                  </a:ext>
                </a:extLst>
              </p:cNvPr>
              <p:cNvGraphicFramePr>
                <a:graphicFrameLocks noGrp="1"/>
              </p:cNvGraphicFramePr>
              <p:nvPr>
                <p:extLst>
                  <p:ext uri="{D42A27DB-BD31-4B8C-83A1-F6EECF244321}">
                    <p14:modId xmlns:p14="http://schemas.microsoft.com/office/powerpoint/2010/main" val="4818522"/>
                  </p:ext>
                </p:extLst>
              </p:nvPr>
            </p:nvGraphicFramePr>
            <p:xfrm>
              <a:off x="9125790" y="1576022"/>
              <a:ext cx="1645920" cy="2516188"/>
            </p:xfrm>
            <a:graphic>
              <a:graphicData uri="http://schemas.openxmlformats.org/drawingml/2006/table">
                <a:tbl>
                  <a:tblPr bandRow="1"/>
                  <a:tblGrid>
                    <a:gridCol w="1645920">
                      <a:extLst>
                        <a:ext uri="{9D8B030D-6E8A-4147-A177-3AD203B41FA5}">
                          <a16:colId xmlns:a16="http://schemas.microsoft.com/office/drawing/2014/main" val="3533564095"/>
                        </a:ext>
                      </a:extLst>
                    </a:gridCol>
                  </a:tblGrid>
                  <a:tr h="480124">
                    <a:tc>
                      <a:txBody>
                        <a:bodyPr/>
                        <a:lstStyle/>
                        <a:p>
                          <a:pPr marL="0" marR="0" algn="ctr">
                            <a:lnSpc>
                              <a:spcPct val="107000"/>
                            </a:lnSpc>
                            <a:spcBef>
                              <a:spcPts val="0"/>
                            </a:spcBef>
                            <a:spcAft>
                              <a:spcPts val="0"/>
                            </a:spcAft>
                            <a:tabLst>
                              <a:tab pos="0" algn="l"/>
                            </a:tabLst>
                          </a:pPr>
                          <a:r>
                            <a:rPr lang="en-US" sz="2000" b="1" dirty="0">
                              <a:effectLst/>
                              <a:latin typeface="Verdana" panose="020B0604030504040204" pitchFamily="34" charset="0"/>
                              <a:ea typeface="Verdana" panose="020B0604030504040204" pitchFamily="34" charset="0"/>
                              <a:cs typeface="Verdana" panose="020B0604030504040204" pitchFamily="34" charset="0"/>
                            </a:rPr>
                            <a:t>December</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182253816"/>
                      </a:ext>
                    </a:extLst>
                  </a:tr>
                  <a:tr h="509016">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763" t="-97500" r="-763" b="-305000"/>
                          </a:stretch>
                        </a:blipFill>
                      </a:tcPr>
                    </a:tc>
                    <a:extLst>
                      <a:ext uri="{0D108BD9-81ED-4DB2-BD59-A6C34878D82A}">
                        <a16:rowId xmlns:a16="http://schemas.microsoft.com/office/drawing/2014/main" val="490335742"/>
                      </a:ext>
                    </a:extLst>
                  </a:tr>
                  <a:tr h="509016">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763" t="-197500" r="-763" b="-205000"/>
                          </a:stretch>
                        </a:blipFill>
                      </a:tcPr>
                    </a:tc>
                    <a:extLst>
                      <a:ext uri="{0D108BD9-81ED-4DB2-BD59-A6C34878D82A}">
                        <a16:rowId xmlns:a16="http://schemas.microsoft.com/office/drawing/2014/main" val="4158924722"/>
                      </a:ext>
                    </a:extLst>
                  </a:tr>
                  <a:tr h="509016">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763" t="-290244" r="-763" b="-100000"/>
                          </a:stretch>
                        </a:blipFill>
                      </a:tcPr>
                    </a:tc>
                    <a:extLst>
                      <a:ext uri="{0D108BD9-81ED-4DB2-BD59-A6C34878D82A}">
                        <a16:rowId xmlns:a16="http://schemas.microsoft.com/office/drawing/2014/main" val="4284072225"/>
                      </a:ext>
                    </a:extLst>
                  </a:tr>
                  <a:tr h="509016">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763" t="-400000" r="-763" b="-2500"/>
                          </a:stretch>
                        </a:blipFill>
                      </a:tcPr>
                    </a:tc>
                    <a:extLst>
                      <a:ext uri="{0D108BD9-81ED-4DB2-BD59-A6C34878D82A}">
                        <a16:rowId xmlns:a16="http://schemas.microsoft.com/office/drawing/2014/main" val="1033275575"/>
                      </a:ext>
                    </a:extLst>
                  </a:tr>
                </a:tbl>
              </a:graphicData>
            </a:graphic>
          </p:graphicFrame>
        </mc:Fallback>
      </mc:AlternateContent>
    </p:spTree>
    <p:extLst>
      <p:ext uri="{BB962C8B-B14F-4D97-AF65-F5344CB8AC3E}">
        <p14:creationId xmlns:p14="http://schemas.microsoft.com/office/powerpoint/2010/main" val="2220476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3826EE2-D872-EE46-97E5-2C9A6CCE4898}"/>
                  </a:ext>
                </a:extLst>
              </p:cNvPr>
              <p:cNvSpPr>
                <a:spLocks noChangeArrowheads="1"/>
              </p:cNvSpPr>
              <p:nvPr/>
            </p:nvSpPr>
            <p:spPr bwMode="auto">
              <a:xfrm>
                <a:off x="462431" y="345666"/>
                <a:ext cx="11434394" cy="175804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Samuel is practicing for his town’s annual high school quarterback football-throwing competition. Last year’s champion threw the football </a:t>
                </a:r>
                <a14:m>
                  <m:oMath xmlns:m="http://schemas.openxmlformats.org/officeDocument/2006/math">
                    <m:r>
                      <a:rPr lang="es-ES" altLang="en-US" sz="2000">
                        <a:solidFill>
                          <a:schemeClr val="tx1"/>
                        </a:solidFill>
                        <a:latin typeface="Cambria Math" panose="02040503050406030204" pitchFamily="18" charset="0"/>
                        <a:cs typeface="Times New Roman" panose="02020603050405020304" pitchFamily="18" charset="0"/>
                      </a:rPr>
                      <m:t>40</m:t>
                    </m:r>
                    <m:f>
                      <m:fPr>
                        <m:ctrlPr>
                          <a:rPr lang="en-US" altLang="en-US" sz="2000" i="1">
                            <a:solidFill>
                              <a:schemeClr val="tx1"/>
                            </a:solidFill>
                            <a:latin typeface="Cambria Math" panose="02040503050406030204" pitchFamily="18" charset="0"/>
                            <a:cs typeface="Times New Roman" panose="02020603050405020304" pitchFamily="18" charset="0"/>
                          </a:rPr>
                        </m:ctrlPr>
                      </m:fPr>
                      <m:num>
                        <m:r>
                          <a:rPr lang="es-ES" altLang="en-US" sz="2000" i="1">
                            <a:solidFill>
                              <a:schemeClr val="tx1"/>
                            </a:solidFill>
                            <a:latin typeface="Cambria Math" panose="02040503050406030204" pitchFamily="18" charset="0"/>
                            <a:cs typeface="Times New Roman" panose="02020603050405020304" pitchFamily="18" charset="0"/>
                          </a:rPr>
                          <m:t>1</m:t>
                        </m:r>
                      </m:num>
                      <m:den>
                        <m:r>
                          <a:rPr lang="es-ES" altLang="en-US" sz="2000" i="1">
                            <a:solidFill>
                              <a:schemeClr val="tx1"/>
                            </a:solidFill>
                            <a:latin typeface="Cambria Math" panose="02040503050406030204" pitchFamily="18" charset="0"/>
                            <a:cs typeface="Times New Roman" panose="02020603050405020304" pitchFamily="18" charset="0"/>
                          </a:rPr>
                          <m:t>4</m:t>
                        </m:r>
                      </m:den>
                    </m:f>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yards (yd). A summary of Samuel’s throws in relation to the throws of last year’s champion is shown. Complete the table to determine how far Samuel threw the football during each of his tries.</a:t>
                </a:r>
              </a:p>
            </p:txBody>
          </p:sp>
        </mc:Choice>
        <mc:Fallback xmlns="">
          <p:sp>
            <p:nvSpPr>
              <p:cNvPr id="6" name="Rectangle 5">
                <a:extLst>
                  <a:ext uri="{FF2B5EF4-FFF2-40B4-BE49-F238E27FC236}">
                    <a16:creationId xmlns:a16="http://schemas.microsoft.com/office/drawing/2014/main" id="{83826EE2-D872-EE46-97E5-2C9A6CCE4898}"/>
                  </a:ext>
                </a:extLst>
              </p:cNvPr>
              <p:cNvSpPr>
                <a:spLocks noRot="1" noChangeAspect="1" noMove="1" noResize="1" noEditPoints="1" noAdjustHandles="1" noChangeArrowheads="1" noChangeShapeType="1" noTextEdit="1"/>
              </p:cNvSpPr>
              <p:nvPr/>
            </p:nvSpPr>
            <p:spPr bwMode="auto">
              <a:xfrm>
                <a:off x="462431" y="345666"/>
                <a:ext cx="11434394" cy="1758045"/>
              </a:xfrm>
              <a:prstGeom prst="rect">
                <a:avLst/>
              </a:prstGeom>
              <a:blipFill>
                <a:blip r:embed="rId4"/>
                <a:stretch>
                  <a:fillRect l="-555" t="-2158" r="-888" b="-575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A326C178-0199-374E-84A6-50507246D38A}"/>
                  </a:ext>
                </a:extLst>
              </p:cNvPr>
              <p:cNvGraphicFramePr>
                <a:graphicFrameLocks noGrp="1"/>
              </p:cNvGraphicFramePr>
              <p:nvPr>
                <p:extLst>
                  <p:ext uri="{D42A27DB-BD31-4B8C-83A1-F6EECF244321}">
                    <p14:modId xmlns:p14="http://schemas.microsoft.com/office/powerpoint/2010/main" val="1878681785"/>
                  </p:ext>
                </p:extLst>
              </p:nvPr>
            </p:nvGraphicFramePr>
            <p:xfrm>
              <a:off x="2575560" y="2570478"/>
              <a:ext cx="7040880" cy="3420429"/>
            </p:xfrm>
            <a:graphic>
              <a:graphicData uri="http://schemas.openxmlformats.org/drawingml/2006/table">
                <a:tbl>
                  <a:tblPr bandRow="1"/>
                  <a:tblGrid>
                    <a:gridCol w="1188720">
                      <a:extLst>
                        <a:ext uri="{9D8B030D-6E8A-4147-A177-3AD203B41FA5}">
                          <a16:colId xmlns:a16="http://schemas.microsoft.com/office/drawing/2014/main" val="4095532206"/>
                        </a:ext>
                      </a:extLst>
                    </a:gridCol>
                    <a:gridCol w="2743200">
                      <a:extLst>
                        <a:ext uri="{9D8B030D-6E8A-4147-A177-3AD203B41FA5}">
                          <a16:colId xmlns:a16="http://schemas.microsoft.com/office/drawing/2014/main" val="2225044391"/>
                        </a:ext>
                      </a:extLst>
                    </a:gridCol>
                    <a:gridCol w="1828800">
                      <a:extLst>
                        <a:ext uri="{9D8B030D-6E8A-4147-A177-3AD203B41FA5}">
                          <a16:colId xmlns:a16="http://schemas.microsoft.com/office/drawing/2014/main" val="1103860928"/>
                        </a:ext>
                      </a:extLst>
                    </a:gridCol>
                    <a:gridCol w="1280160">
                      <a:extLst>
                        <a:ext uri="{9D8B030D-6E8A-4147-A177-3AD203B41FA5}">
                          <a16:colId xmlns:a16="http://schemas.microsoft.com/office/drawing/2014/main" val="1600827840"/>
                        </a:ext>
                      </a:extLst>
                    </a:gridCol>
                  </a:tblGrid>
                  <a:tr h="0">
                    <a:tc>
                      <a:txBody>
                        <a:bodyPr/>
                        <a:lstStyle/>
                        <a:p>
                          <a:pPr marL="0" marR="0" indent="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Throw</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indent="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Comparison of Samuel’s Throw to Last Year’s Champion</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indent="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indent="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Yards Thrown</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209665572"/>
                      </a:ext>
                    </a:extLst>
                  </a:tr>
                  <a:tr h="594360">
                    <a:tc>
                      <a:txBody>
                        <a:bodyPr/>
                        <a:lstStyle/>
                        <a:p>
                          <a:pPr marL="0" marR="0" indent="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1</a:t>
                          </a:r>
                          <a:r>
                            <a:rPr lang="en-US" sz="2000" baseline="30000" dirty="0">
                              <a:effectLst/>
                              <a:latin typeface="Verdana" panose="020B0604030504040204" pitchFamily="34" charset="0"/>
                              <a:ea typeface="Verdana" panose="020B0604030504040204" pitchFamily="34" charset="0"/>
                              <a:cs typeface="Verdana" panose="020B0604030504040204" pitchFamily="34" charset="0"/>
                            </a:rPr>
                            <a:t>st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lnSpc>
                              <a:spcPct val="107000"/>
                            </a:lnSpc>
                            <a:spcBef>
                              <a:spcPts val="0"/>
                            </a:spcBef>
                            <a:spcAft>
                              <a:spcPts val="800"/>
                            </a:spcAft>
                          </a:pP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yards</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lnSpc>
                              <a:spcPct val="107000"/>
                            </a:lnSpc>
                            <a:spcBef>
                              <a:spcPts val="0"/>
                            </a:spcBef>
                            <a:spcAft>
                              <a:spcPts val="800"/>
                            </a:spcAft>
                          </a:pP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40</m:t>
                              </m:r>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4</m:t>
                                  </m:r>
                                </m:den>
                              </m:f>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93345"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8549623"/>
                      </a:ext>
                    </a:extLst>
                  </a:tr>
                  <a:tr h="594360">
                    <a:tc>
                      <a:txBody>
                        <a:bodyPr/>
                        <a:lstStyle/>
                        <a:p>
                          <a:pPr marL="0" marR="0" indent="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2</a:t>
                          </a:r>
                          <a:r>
                            <a:rPr lang="en-US" sz="2000" baseline="30000" dirty="0">
                              <a:effectLst/>
                              <a:latin typeface="Verdana" panose="020B0604030504040204" pitchFamily="34" charset="0"/>
                              <a:ea typeface="Verdana" panose="020B0604030504040204" pitchFamily="34" charset="0"/>
                              <a:cs typeface="Verdana" panose="020B0604030504040204" pitchFamily="34" charset="0"/>
                            </a:rPr>
                            <a:t>nd</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lnSpc>
                              <a:spcPct val="107000"/>
                            </a:lnSpc>
                            <a:spcBef>
                              <a:spcPts val="0"/>
                            </a:spcBef>
                            <a:spcAft>
                              <a:spcPts val="800"/>
                            </a:spcAft>
                          </a:pP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9</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7</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yards</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lnSpc>
                              <a:spcPct val="107000"/>
                            </a:lnSpc>
                            <a:spcBef>
                              <a:spcPts val="0"/>
                            </a:spcBef>
                            <a:spcAft>
                              <a:spcPts val="800"/>
                            </a:spcAft>
                          </a:pP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40</m:t>
                              </m:r>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4</m:t>
                                  </m:r>
                                </m:den>
                              </m:f>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d>
                                <m: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dPr>
                                <m:e>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9</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7</m:t>
                                      </m:r>
                                    </m:den>
                                  </m:f>
                                </m:e>
                              </m:d>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93345">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8030487"/>
                      </a:ext>
                    </a:extLst>
                  </a:tr>
                  <a:tr h="594360">
                    <a:tc>
                      <a:txBody>
                        <a:bodyPr/>
                        <a:lstStyle/>
                        <a:p>
                          <a:pPr marL="0" marR="0" indent="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3</a:t>
                          </a:r>
                          <a:r>
                            <a:rPr lang="en-US" sz="2000" baseline="30000" dirty="0">
                              <a:effectLst/>
                              <a:latin typeface="Verdana" panose="020B0604030504040204" pitchFamily="34" charset="0"/>
                              <a:ea typeface="Verdana" panose="020B0604030504040204" pitchFamily="34" charset="0"/>
                              <a:cs typeface="Verdana" panose="020B0604030504040204" pitchFamily="34" charset="0"/>
                            </a:rPr>
                            <a:t>rd</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a:lnSpc>
                              <a:spcPct val="107000"/>
                            </a:lnSpc>
                            <a:spcBef>
                              <a:spcPts val="0"/>
                            </a:spcBef>
                            <a:spcAft>
                              <a:spcPts val="800"/>
                            </a:spcAft>
                          </a:pPr>
                          <a14:m>
                            <m:oMath xmlns:m="http://schemas.openxmlformats.org/officeDocument/2006/math">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6</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13</m:t>
                                  </m:r>
                                </m:den>
                              </m:f>
                              <m:r>
                                <a:rPr lang="en-US" sz="2000" i="1">
                                  <a:effectLst/>
                                  <a:latin typeface="Cambria Math" panose="02040503050406030204" pitchFamily="18" charset="0"/>
                                  <a:ea typeface="Cambria Math" panose="02040503050406030204" pitchFamily="18" charset="0"/>
                                  <a:cs typeface="Cambria Math" panose="02040503050406030204" pitchFamily="18" charset="0"/>
                                </a:rPr>
                                <m:t> </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yards</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93345">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93345">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0229208"/>
                      </a:ext>
                    </a:extLst>
                  </a:tr>
                </a:tbl>
              </a:graphicData>
            </a:graphic>
          </p:graphicFrame>
        </mc:Choice>
        <mc:Fallback xmlns="">
          <p:graphicFrame>
            <p:nvGraphicFramePr>
              <p:cNvPr id="3" name="Table 2">
                <a:extLst>
                  <a:ext uri="{FF2B5EF4-FFF2-40B4-BE49-F238E27FC236}">
                    <a16:creationId xmlns:a16="http://schemas.microsoft.com/office/drawing/2014/main" id="{A326C178-0199-374E-84A6-50507246D38A}"/>
                  </a:ext>
                </a:extLst>
              </p:cNvPr>
              <p:cNvGraphicFramePr>
                <a:graphicFrameLocks noGrp="1"/>
              </p:cNvGraphicFramePr>
              <p:nvPr>
                <p:extLst>
                  <p:ext uri="{D42A27DB-BD31-4B8C-83A1-F6EECF244321}">
                    <p14:modId xmlns:p14="http://schemas.microsoft.com/office/powerpoint/2010/main" val="1878681785"/>
                  </p:ext>
                </p:extLst>
              </p:nvPr>
            </p:nvGraphicFramePr>
            <p:xfrm>
              <a:off x="2575560" y="2570478"/>
              <a:ext cx="7040880" cy="3420429"/>
            </p:xfrm>
            <a:graphic>
              <a:graphicData uri="http://schemas.openxmlformats.org/drawingml/2006/table">
                <a:tbl>
                  <a:tblPr bandRow="1"/>
                  <a:tblGrid>
                    <a:gridCol w="1188720">
                      <a:extLst>
                        <a:ext uri="{9D8B030D-6E8A-4147-A177-3AD203B41FA5}">
                          <a16:colId xmlns:a16="http://schemas.microsoft.com/office/drawing/2014/main" val="4095532206"/>
                        </a:ext>
                      </a:extLst>
                    </a:gridCol>
                    <a:gridCol w="2743200">
                      <a:extLst>
                        <a:ext uri="{9D8B030D-6E8A-4147-A177-3AD203B41FA5}">
                          <a16:colId xmlns:a16="http://schemas.microsoft.com/office/drawing/2014/main" val="2225044391"/>
                        </a:ext>
                      </a:extLst>
                    </a:gridCol>
                    <a:gridCol w="1828800">
                      <a:extLst>
                        <a:ext uri="{9D8B030D-6E8A-4147-A177-3AD203B41FA5}">
                          <a16:colId xmlns:a16="http://schemas.microsoft.com/office/drawing/2014/main" val="1103860928"/>
                        </a:ext>
                      </a:extLst>
                    </a:gridCol>
                    <a:gridCol w="1280160">
                      <a:extLst>
                        <a:ext uri="{9D8B030D-6E8A-4147-A177-3AD203B41FA5}">
                          <a16:colId xmlns:a16="http://schemas.microsoft.com/office/drawing/2014/main" val="1600827840"/>
                        </a:ext>
                      </a:extLst>
                    </a:gridCol>
                  </a:tblGrid>
                  <a:tr h="1458532">
                    <a:tc>
                      <a:txBody>
                        <a:bodyPr/>
                        <a:lstStyle/>
                        <a:p>
                          <a:pPr marL="0" marR="0" indent="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Throw</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indent="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Comparison of Samuel’s Throw to Last Year’s Champion</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indent="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Expression</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indent="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Yards Thrown</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209665572"/>
                      </a:ext>
                    </a:extLst>
                  </a:tr>
                  <a:tr h="645097">
                    <a:tc>
                      <a:txBody>
                        <a:bodyPr/>
                        <a:lstStyle/>
                        <a:p>
                          <a:pPr marL="0" marR="0" indent="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1</a:t>
                          </a:r>
                          <a:r>
                            <a:rPr lang="en-US" sz="2000" baseline="30000" dirty="0">
                              <a:effectLst/>
                              <a:latin typeface="Verdana" panose="020B0604030504040204" pitchFamily="34" charset="0"/>
                              <a:ea typeface="Verdana" panose="020B0604030504040204" pitchFamily="34" charset="0"/>
                              <a:cs typeface="Verdana" panose="020B0604030504040204" pitchFamily="34" charset="0"/>
                            </a:rPr>
                            <a:t>st</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3519" t="-227451" r="-114352" b="-205882"/>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13793" t="-227451" r="-70345" b="-205882"/>
                          </a:stretch>
                        </a:blipFill>
                      </a:tcPr>
                    </a:tc>
                    <a:tc>
                      <a:txBody>
                        <a:bodyPr/>
                        <a:lstStyle/>
                        <a:p>
                          <a:pPr marL="0" marR="0" indent="93345"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8549623"/>
                      </a:ext>
                    </a:extLst>
                  </a:tr>
                  <a:tr h="671005">
                    <a:tc>
                      <a:txBody>
                        <a:bodyPr/>
                        <a:lstStyle/>
                        <a:p>
                          <a:pPr marL="0" marR="0" indent="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2</a:t>
                          </a:r>
                          <a:r>
                            <a:rPr lang="en-US" sz="2000" baseline="30000" dirty="0">
                              <a:effectLst/>
                              <a:latin typeface="Verdana" panose="020B0604030504040204" pitchFamily="34" charset="0"/>
                              <a:ea typeface="Verdana" panose="020B0604030504040204" pitchFamily="34" charset="0"/>
                              <a:cs typeface="Verdana" panose="020B0604030504040204" pitchFamily="34" charset="0"/>
                            </a:rPr>
                            <a:t>nd</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3519" t="-315094" r="-114352" b="-98113"/>
                          </a:stretch>
                        </a:blipFill>
                      </a:tcPr>
                    </a:tc>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213793" t="-315094" r="-70345" b="-98113"/>
                          </a:stretch>
                        </a:blipFill>
                      </a:tcPr>
                    </a:tc>
                    <a:tc>
                      <a:txBody>
                        <a:bodyPr/>
                        <a:lstStyle/>
                        <a:p>
                          <a:pPr marL="0" marR="0" indent="93345">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8030487"/>
                      </a:ext>
                    </a:extLst>
                  </a:tr>
                  <a:tr h="645795">
                    <a:tc>
                      <a:txBody>
                        <a:bodyPr/>
                        <a:lstStyle/>
                        <a:p>
                          <a:pPr marL="0" marR="0" indent="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3</a:t>
                          </a:r>
                          <a:r>
                            <a:rPr lang="en-US" sz="2000" baseline="30000" dirty="0">
                              <a:effectLst/>
                              <a:latin typeface="Verdana" panose="020B0604030504040204" pitchFamily="34" charset="0"/>
                              <a:ea typeface="Verdana" panose="020B0604030504040204" pitchFamily="34" charset="0"/>
                              <a:cs typeface="Verdana" panose="020B0604030504040204" pitchFamily="34" charset="0"/>
                            </a:rPr>
                            <a:t>rd</a:t>
                          </a:r>
                          <a:endParaRPr lang="x-none" sz="2000">
                            <a:effectLst/>
                            <a:latin typeface="Verdana" pitchFamily="34" charset="0"/>
                            <a:ea typeface="Verdana" pitchFamily="34"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3519" t="-431373" r="-114352" b="-1961"/>
                          </a:stretch>
                        </a:blipFill>
                      </a:tcPr>
                    </a:tc>
                    <a:tc>
                      <a:txBody>
                        <a:bodyPr/>
                        <a:lstStyle/>
                        <a:p>
                          <a:pPr marL="0" marR="0" indent="93345">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93345">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10229208"/>
                      </a:ext>
                    </a:extLst>
                  </a:tr>
                </a:tbl>
              </a:graphicData>
            </a:graphic>
          </p:graphicFrame>
        </mc:Fallback>
      </mc:AlternateContent>
    </p:spTree>
    <p:extLst>
      <p:ext uri="{BB962C8B-B14F-4D97-AF65-F5344CB8AC3E}">
        <p14:creationId xmlns:p14="http://schemas.microsoft.com/office/powerpoint/2010/main" val="3653620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758423" y="269833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237332" y="283441"/>
            <a:ext cx="7651374" cy="588374"/>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3.5.6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730265" y="1108060"/>
            <a:ext cx="10887427" cy="707886"/>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As you reflect on today’s lesson, circle the word </a:t>
            </a:r>
            <a:r>
              <a:rPr lang="en-US" sz="2000" i="1" dirty="0">
                <a:latin typeface="Verdana" panose="020B0604030504040204" pitchFamily="34" charset="0"/>
                <a:ea typeface="Verdana" panose="020B0604030504040204" pitchFamily="34" charset="0"/>
                <a:cs typeface="Verdana" panose="020B0604030504040204" pitchFamily="34" charset="0"/>
              </a:rPr>
              <a:t>Sometimes, Always, </a:t>
            </a:r>
            <a:r>
              <a:rPr lang="en-US" sz="2000" dirty="0">
                <a:latin typeface="Verdana" panose="020B0604030504040204" pitchFamily="34" charset="0"/>
                <a:ea typeface="Verdana" panose="020B0604030504040204" pitchFamily="34" charset="0"/>
                <a:cs typeface="Verdana" panose="020B0604030504040204" pitchFamily="34" charset="0"/>
              </a:rPr>
              <a:t>or </a:t>
            </a:r>
            <a:r>
              <a:rPr lang="en-US" sz="2000" i="1" dirty="0">
                <a:latin typeface="Verdana" panose="020B0604030504040204" pitchFamily="34" charset="0"/>
                <a:ea typeface="Verdana" panose="020B0604030504040204" pitchFamily="34" charset="0"/>
                <a:cs typeface="Verdana" panose="020B0604030504040204" pitchFamily="34" charset="0"/>
              </a:rPr>
              <a:t>Never</a:t>
            </a:r>
            <a:r>
              <a:rPr lang="en-US" sz="2000" dirty="0">
                <a:latin typeface="Verdana" panose="020B0604030504040204" pitchFamily="34" charset="0"/>
                <a:ea typeface="Verdana" panose="020B0604030504040204" pitchFamily="34" charset="0"/>
                <a:cs typeface="Verdana" panose="020B0604030504040204" pitchFamily="34" charset="0"/>
              </a:rPr>
              <a:t> to indicate how often each statement describes you. </a:t>
            </a:r>
          </a:p>
        </p:txBody>
      </p:sp>
      <p:graphicFrame>
        <p:nvGraphicFramePr>
          <p:cNvPr id="4" name="Table 3">
            <a:extLst>
              <a:ext uri="{FF2B5EF4-FFF2-40B4-BE49-F238E27FC236}">
                <a16:creationId xmlns:a16="http://schemas.microsoft.com/office/drawing/2014/main" id="{18387C9A-2B98-7744-8413-D52036A6A1E7}"/>
              </a:ext>
            </a:extLst>
          </p:cNvPr>
          <p:cNvGraphicFramePr>
            <a:graphicFrameLocks noGrp="1"/>
          </p:cNvGraphicFramePr>
          <p:nvPr>
            <p:extLst>
              <p:ext uri="{D42A27DB-BD31-4B8C-83A1-F6EECF244321}">
                <p14:modId xmlns:p14="http://schemas.microsoft.com/office/powerpoint/2010/main" val="3385050219"/>
              </p:ext>
            </p:extLst>
          </p:nvPr>
        </p:nvGraphicFramePr>
        <p:xfrm>
          <a:off x="2392437" y="2129562"/>
          <a:ext cx="7563081" cy="3757422"/>
        </p:xfrm>
        <a:graphic>
          <a:graphicData uri="http://schemas.openxmlformats.org/drawingml/2006/table">
            <a:tbl>
              <a:tblPr bandRow="1"/>
              <a:tblGrid>
                <a:gridCol w="3814041">
                  <a:extLst>
                    <a:ext uri="{9D8B030D-6E8A-4147-A177-3AD203B41FA5}">
                      <a16:colId xmlns:a16="http://schemas.microsoft.com/office/drawing/2014/main" val="2730529201"/>
                    </a:ext>
                  </a:extLst>
                </a:gridCol>
                <a:gridCol w="1645920">
                  <a:extLst>
                    <a:ext uri="{9D8B030D-6E8A-4147-A177-3AD203B41FA5}">
                      <a16:colId xmlns:a16="http://schemas.microsoft.com/office/drawing/2014/main" val="2558124051"/>
                    </a:ext>
                  </a:extLst>
                </a:gridCol>
                <a:gridCol w="1097280">
                  <a:extLst>
                    <a:ext uri="{9D8B030D-6E8A-4147-A177-3AD203B41FA5}">
                      <a16:colId xmlns:a16="http://schemas.microsoft.com/office/drawing/2014/main" val="2206235610"/>
                    </a:ext>
                  </a:extLst>
                </a:gridCol>
                <a:gridCol w="1005840">
                  <a:extLst>
                    <a:ext uri="{9D8B030D-6E8A-4147-A177-3AD203B41FA5}">
                      <a16:colId xmlns:a16="http://schemas.microsoft.com/office/drawing/2014/main" val="2342425637"/>
                    </a:ext>
                  </a:extLst>
                </a:gridCol>
              </a:tblGrid>
              <a:tr h="636537">
                <a:tc>
                  <a:txBody>
                    <a:bodyPr/>
                    <a:lstStyle/>
                    <a:p>
                      <a:pPr marL="0" marR="0">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When I work hard on a problem, I expect that the answer will be correct. </a:t>
                      </a:r>
                      <a:endParaRPr lang="x-none" sz="2000">
                        <a:effectLst/>
                        <a:latin typeface="Calibri" panose="020F0502020204030204" pitchFamily="34" charset="0"/>
                        <a:ea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Sometimes</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Always</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Never</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8816152"/>
                  </a:ext>
                </a:extLst>
              </a:tr>
              <a:tr h="636537">
                <a:tc>
                  <a:txBody>
                    <a:bodyPr/>
                    <a:lstStyle/>
                    <a:p>
                      <a:pPr marL="0" marR="0">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There is no point in trying to do a problem if I know I won’t get the correct answer. </a:t>
                      </a:r>
                      <a:endParaRPr lang="x-none" sz="2000">
                        <a:effectLst/>
                        <a:latin typeface="Calibri" panose="020F0502020204030204" pitchFamily="34" charset="0"/>
                        <a:ea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Sometimes</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Always</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a:effectLst/>
                          <a:latin typeface="Verdana" panose="020B0604030504040204" pitchFamily="34" charset="0"/>
                          <a:ea typeface="Verdana" panose="020B0604030504040204" pitchFamily="34" charset="0"/>
                          <a:cs typeface="Verdana" panose="020B0604030504040204" pitchFamily="34" charset="0"/>
                        </a:rPr>
                        <a:t>Never</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8802984"/>
                  </a:ext>
                </a:extLst>
              </a:tr>
              <a:tr h="636537">
                <a:tc>
                  <a:txBody>
                    <a:bodyPr/>
                    <a:lstStyle/>
                    <a:p>
                      <a:pPr marL="0" marR="0">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Even if I made a mistake, I can still learn from working through a problem. </a:t>
                      </a:r>
                      <a:endParaRPr lang="x-none" sz="2000" dirty="0">
                        <a:effectLst/>
                        <a:latin typeface="Calibri" panose="020F0502020204030204" pitchFamily="34" charset="0"/>
                        <a:ea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Sometimes</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Always</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Never</a:t>
                      </a:r>
                      <a:endParaRPr lang="x-none" sz="2000" dirty="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00991013"/>
                  </a:ext>
                </a:extLst>
              </a:tr>
            </a:tbl>
          </a:graphicData>
        </a:graphic>
      </p:graphicFrame>
    </p:spTree>
    <p:extLst>
      <p:ext uri="{BB962C8B-B14F-4D97-AF65-F5344CB8AC3E}">
        <p14:creationId xmlns:p14="http://schemas.microsoft.com/office/powerpoint/2010/main" val="5539956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ABB42"/>
          </a:solidFill>
          <a:ln w="9525" cap="flat" cmpd="sng">
            <a:solidFill>
              <a:srgbClr val="FABB4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108</a:t>
            </a:r>
            <a:endParaRPr i="1" dirty="0">
              <a:latin typeface="Calibri"/>
              <a:ea typeface="Calibri"/>
              <a:cs typeface="Calibri"/>
              <a:sym typeface="Calibri"/>
            </a:endParaRPr>
          </a:p>
        </p:txBody>
      </p:sp>
      <p:graphicFrame>
        <p:nvGraphicFramePr>
          <p:cNvPr id="2" name="Table 1"/>
          <p:cNvGraphicFramePr>
            <a:graphicFrameLocks noGrp="1"/>
          </p:cNvGraphicFramePr>
          <p:nvPr>
            <p:extLst>
              <p:ext uri="{D42A27DB-BD31-4B8C-83A1-F6EECF244321}">
                <p14:modId xmlns:p14="http://schemas.microsoft.com/office/powerpoint/2010/main" val="2441477501"/>
              </p:ext>
            </p:extLst>
          </p:nvPr>
        </p:nvGraphicFramePr>
        <p:xfrm>
          <a:off x="2489895" y="968218"/>
          <a:ext cx="7563081" cy="3265932"/>
        </p:xfrm>
        <a:graphic>
          <a:graphicData uri="http://schemas.openxmlformats.org/drawingml/2006/table">
            <a:tbl>
              <a:tblPr bandRow="1"/>
              <a:tblGrid>
                <a:gridCol w="3814041">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849749">
                <a:tc>
                  <a:txBody>
                    <a:bodyPr/>
                    <a:lstStyle/>
                    <a:p>
                      <a:pPr marL="0" marR="0">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can show that I understand how to solve a problem, even if there is an error in my work.  </a:t>
                      </a:r>
                      <a:endParaRPr lang="x-none" sz="2000">
                        <a:effectLst/>
                        <a:latin typeface="Calibri" panose="020F0502020204030204" pitchFamily="34" charset="0"/>
                        <a:ea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Sometimes</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Always</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Never</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52572">
                <a:tc>
                  <a:txBody>
                    <a:bodyPr/>
                    <a:lstStyle/>
                    <a:p>
                      <a:pPr marL="0" marR="0">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If my answers are incorrect even after working extremely hard, I still choose to work hard on the next problem.</a:t>
                      </a:r>
                      <a:endParaRPr lang="x-none" sz="2000">
                        <a:effectLst/>
                        <a:latin typeface="Calibri" panose="020F0502020204030204" pitchFamily="34" charset="0"/>
                        <a:ea typeface="Times New Roman" panose="020206030504050203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Sometimes</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Always</a:t>
                      </a:r>
                      <a:endParaRPr lang="x-none" sz="200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Never</a:t>
                      </a:r>
                      <a:endParaRPr lang="x-none" sz="2000" dirty="0">
                        <a:effectLst/>
                        <a:latin typeface="Calibri" panose="020F0502020204030204" pitchFamily="34" charset="0"/>
                        <a:ea typeface="Times New Roman" panose="020206030504050203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53761231"/>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3245</TotalTime>
  <Words>1495</Words>
  <Application>Microsoft Office PowerPoint</Application>
  <PresentationFormat>Widescreen</PresentationFormat>
  <Paragraphs>295</Paragraphs>
  <Slides>26</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Calibri</vt:lpstr>
      <vt:lpstr>Arial Black</vt:lpstr>
      <vt:lpstr>Cambria Math</vt:lpstr>
      <vt:lpstr>Arial</vt:lpstr>
      <vt:lpstr>Verdana</vt:lpstr>
      <vt:lpstr>Wingdings</vt:lpstr>
      <vt:lpstr>Century Gothic</vt:lpstr>
      <vt:lpstr>1_Office Theme</vt:lpstr>
      <vt:lpstr>7th Grade Math  Unit 3, Lesson 5  Solving Real-World Problems with Rational Numbers – Part 1  Volume 1, pg. 104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48</cp:revision>
  <dcterms:created xsi:type="dcterms:W3CDTF">2015-03-17T18:51:18Z</dcterms:created>
  <dcterms:modified xsi:type="dcterms:W3CDTF">2022-06-07T15:06:11Z</dcterms:modified>
</cp:coreProperties>
</file>