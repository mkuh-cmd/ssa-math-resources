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345" r:id="rId4"/>
    <p:sldId id="286" r:id="rId5"/>
    <p:sldId id="261" r:id="rId6"/>
    <p:sldId id="287" r:id="rId7"/>
    <p:sldId id="314" r:id="rId8"/>
    <p:sldId id="315" r:id="rId9"/>
    <p:sldId id="316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360" r:id="rId20"/>
    <p:sldId id="346" r:id="rId21"/>
    <p:sldId id="347" r:id="rId22"/>
    <p:sldId id="348" r:id="rId23"/>
    <p:sldId id="349" r:id="rId24"/>
    <p:sldId id="306" r:id="rId25"/>
    <p:sldId id="307" r:id="rId26"/>
    <p:sldId id="361" r:id="rId27"/>
  </p:sldIdLst>
  <p:sldSz cx="12192000" cy="6858000"/>
  <p:notesSz cx="6858000" cy="9144000"/>
  <p:embeddedFontLst>
    <p:embeddedFont>
      <p:font typeface="Arial Black" panose="020B0A04020102020204" pitchFamily="34" charset="0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Century Gothic" panose="020B0502020202020204" pitchFamily="34" charset="0"/>
      <p:regular r:id="rId35"/>
      <p:bold r:id="rId36"/>
      <p:italic r:id="rId37"/>
      <p:boldItalic r:id="rId38"/>
    </p:embeddedFont>
    <p:embeddedFont>
      <p:font typeface="Cutive" panose="020B0604020202020204" charset="0"/>
      <p:regular r:id="rId39"/>
    </p:embeddedFont>
    <p:embeddedFont>
      <p:font typeface="Times" panose="02020603050405020304" pitchFamily="18" charset="0"/>
      <p:regular r:id="rId40"/>
      <p:bold r:id="rId41"/>
      <p:italic r:id="rId42"/>
      <p:boldItalic r:id="rId43"/>
    </p:embeddedFont>
    <p:embeddedFont>
      <p:font typeface="Verdana" panose="020B0604030504040204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FABB42"/>
    <a:srgbClr val="F79B59"/>
    <a:srgbClr val="F26763"/>
    <a:srgbClr val="1765AD"/>
    <a:srgbClr val="1664AC"/>
    <a:srgbClr val="BFBFBF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953" autoAdjust="0"/>
    <p:restoredTop sz="94591" autoAdjust="0"/>
  </p:normalViewPr>
  <p:slideViewPr>
    <p:cSldViewPr snapToGrid="0">
      <p:cViewPr varScale="1">
        <p:scale>
          <a:sx n="86" d="100"/>
          <a:sy n="86" d="100"/>
        </p:scale>
        <p:origin x="18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56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95179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4243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8677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7401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2708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1957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78985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8406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37986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86109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27799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5123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3907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hyperlink" Target="https://pixabay.com/en/man-person-climb-mountaineer-rock-373380/" TargetMode="External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Real-World Problems with Rational Numbers – Part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113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306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981201" y="136525"/>
            <a:ext cx="81199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575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04257" y="1462225"/>
            <a:ext cx="880654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MA.7.NSO.2.3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real-world problems involving any of the four operations with rational numbers.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415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984917" y="129667"/>
            <a:ext cx="863190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1404257" y="1455367"/>
            <a:ext cx="8512663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7CC83FF-5C83-CD42-A75D-B443F14E1C19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4042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410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897369" y="161289"/>
            <a:ext cx="871945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109" y="4504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91343" y="1600200"/>
            <a:ext cx="87194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problems with three operations involving any of the four operations with rational numbers.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6588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3D2F04D-C861-A149-B5F8-A913FBED75A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2060448" y="468044"/>
            <a:ext cx="8382553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3.7.1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541" y="38984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566197" y="1361442"/>
            <a:ext cx="8382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 each operation using numbers 1-4 to reflect the correct order of the order of operations.</a:t>
            </a: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0CD40667-98C3-7A43-A8EC-50FA988E0942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7F2C44E-964B-9B4C-AD42-8E364243AE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5219432"/>
                  </p:ext>
                </p:extLst>
              </p:nvPr>
            </p:nvGraphicFramePr>
            <p:xfrm>
              <a:off x="2661044" y="2744066"/>
              <a:ext cx="6840000" cy="3312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2059446"/>
                        </a:ext>
                      </a:extLst>
                    </a:gridCol>
                    <a:gridCol w="6120000">
                      <a:extLst>
                        <a:ext uri="{9D8B030D-6E8A-4147-A177-3AD203B41FA5}">
                          <a16:colId xmlns:a16="http://schemas.microsoft.com/office/drawing/2014/main" val="552377152"/>
                        </a:ext>
                      </a:extLst>
                    </a:gridCol>
                  </a:tblGrid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Perform addition and subtraction in order from left to right.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28841929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Perform operations inside grouping symbols.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399649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Evaluate expressions with exponents.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13156319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Perform multiplication and division in order from left to right.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663064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7F2C44E-964B-9B4C-AD42-8E364243AE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5219432"/>
                  </p:ext>
                </p:extLst>
              </p:nvPr>
            </p:nvGraphicFramePr>
            <p:xfrm>
              <a:off x="2661044" y="2744066"/>
              <a:ext cx="6840000" cy="3312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2059446"/>
                        </a:ext>
                      </a:extLst>
                    </a:gridCol>
                    <a:gridCol w="6120000">
                      <a:extLst>
                        <a:ext uri="{9D8B030D-6E8A-4147-A177-3AD203B41FA5}">
                          <a16:colId xmlns:a16="http://schemas.microsoft.com/office/drawing/2014/main" val="552377152"/>
                        </a:ext>
                      </a:extLst>
                    </a:gridCol>
                  </a:tblGrid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008" t="-1538" r="-207" b="-3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8841929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Perform operations inside grouping symbols.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399649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Evaluate expressions with exponents.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13156319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008" t="-303077" r="-207" b="-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630641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ECBE8D5B-1061-D94D-9431-ADB327D68E9A}"/>
              </a:ext>
            </a:extLst>
          </p:cNvPr>
          <p:cNvSpPr/>
          <p:nvPr/>
        </p:nvSpPr>
        <p:spPr>
          <a:xfrm>
            <a:off x="2800016" y="2952136"/>
            <a:ext cx="422275" cy="41116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D1AFCC-1655-EE40-B9DF-E6CD32B5F96B}"/>
              </a:ext>
            </a:extLst>
          </p:cNvPr>
          <p:cNvSpPr/>
          <p:nvPr/>
        </p:nvSpPr>
        <p:spPr>
          <a:xfrm>
            <a:off x="2800016" y="3793510"/>
            <a:ext cx="422275" cy="41275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9CCEEEA-CEAA-C84D-8A0A-24F3320C8B51}"/>
              </a:ext>
            </a:extLst>
          </p:cNvPr>
          <p:cNvSpPr/>
          <p:nvPr/>
        </p:nvSpPr>
        <p:spPr>
          <a:xfrm>
            <a:off x="2800016" y="4636473"/>
            <a:ext cx="422275" cy="41275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846EA9A-C5B7-E146-9078-8F6D116C5324}"/>
              </a:ext>
            </a:extLst>
          </p:cNvPr>
          <p:cNvSpPr/>
          <p:nvPr/>
        </p:nvSpPr>
        <p:spPr>
          <a:xfrm>
            <a:off x="2800016" y="5479435"/>
            <a:ext cx="422275" cy="41275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691763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6.png" descr="Icon&#10;&#10;Description automatically generated">
            <a:extLst>
              <a:ext uri="{FF2B5EF4-FFF2-40B4-BE49-F238E27FC236}">
                <a16:creationId xmlns:a16="http://schemas.microsoft.com/office/drawing/2014/main" id="{7FA605EE-5E30-E74E-84B3-70DE614F1B0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454198" y="2852923"/>
            <a:ext cx="1152145" cy="11521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957493" y="90305"/>
            <a:ext cx="858165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3.7.2 Activity: Error Analysis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6B19A2-BBA2-0441-AC88-F1F62E75949B}"/>
                  </a:ext>
                </a:extLst>
              </p:cNvPr>
              <p:cNvSpPr txBox="1"/>
              <p:nvPr/>
            </p:nvSpPr>
            <p:spPr>
              <a:xfrm>
                <a:off x="1527717" y="1458909"/>
                <a:ext cx="8807185" cy="394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answer each question below.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Diana was given the following problem to solve.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8895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Eugene has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$40.00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spend at a theme park gift shop. He receives a discount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off the price of an item for being an annual passholder. He wants to purchase a collectible passholder pin that has a retail price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$19.95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How much will he have left after purchasing the pin?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6B19A2-BBA2-0441-AC88-F1F62E759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717" y="1458909"/>
                <a:ext cx="8807185" cy="3940181"/>
              </a:xfrm>
              <a:prstGeom prst="rect">
                <a:avLst/>
              </a:prstGeom>
              <a:blipFill>
                <a:blip r:embed="rId4"/>
                <a:stretch>
                  <a:fillRect l="-1108" t="-1236" b="-2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6.png" descr="Icon&#10;&#10;Description automatically generated">
            <a:extLst>
              <a:ext uri="{FF2B5EF4-FFF2-40B4-BE49-F238E27FC236}">
                <a16:creationId xmlns:a16="http://schemas.microsoft.com/office/drawing/2014/main" id="{577688F9-CF53-4C4D-9311-F84053E69A7C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07682" y="378249"/>
            <a:ext cx="749811" cy="74981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114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65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6442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1516566" y="367110"/>
            <a:ext cx="84074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Diana solved the problem with the steps shown. 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A03AB36F-8579-894B-AAEE-7E9A1C3113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8236" y="864182"/>
            <a:ext cx="6359422" cy="31472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94FFBE-7A1A-064D-B95C-E48B05DD182C}"/>
              </a:ext>
            </a:extLst>
          </p:cNvPr>
          <p:cNvSpPr txBox="1"/>
          <p:nvPr/>
        </p:nvSpPr>
        <p:spPr>
          <a:xfrm>
            <a:off x="1516566" y="4093912"/>
            <a:ext cx="8584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what Diana did correctly and incorrectly.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15878B-B022-8045-A92C-B5F288D0F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822514"/>
              </p:ext>
            </p:extLst>
          </p:nvPr>
        </p:nvGraphicFramePr>
        <p:xfrm>
          <a:off x="3092828" y="4614628"/>
          <a:ext cx="6480000" cy="1872000"/>
        </p:xfrm>
        <a:graphic>
          <a:graphicData uri="http://schemas.openxmlformats.org/drawingml/2006/table">
            <a:tbl>
              <a:tblPr firstRow="1" firstCol="1" bandRow="1"/>
              <a:tblGrid>
                <a:gridCol w="3240000">
                  <a:extLst>
                    <a:ext uri="{9D8B030D-6E8A-4147-A177-3AD203B41FA5}">
                      <a16:colId xmlns:a16="http://schemas.microsoft.com/office/drawing/2014/main" val="3274230768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28233955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orrect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982674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61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114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03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8681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1527717" y="922986"/>
            <a:ext cx="8512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much money will Eugene have left over after buying the pin? Show your work.</a:t>
            </a:r>
          </a:p>
        </p:txBody>
      </p:sp>
    </p:spTree>
    <p:extLst>
      <p:ext uri="{BB962C8B-B14F-4D97-AF65-F5344CB8AC3E}">
        <p14:creationId xmlns:p14="http://schemas.microsoft.com/office/powerpoint/2010/main" val="299640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71B7AA-10E7-9B44-A591-563821260A41}"/>
                  </a:ext>
                </a:extLst>
              </p:cNvPr>
              <p:cNvSpPr txBox="1"/>
              <p:nvPr/>
            </p:nvSpPr>
            <p:spPr>
              <a:xfrm>
                <a:off x="1527717" y="868934"/>
                <a:ext cx="8700235" cy="3571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Jeffrey was given the following problem to solve.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9263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Diego is planning to hike the very difficult Shorty’s Well Route to Telescope Peak, which begins at an elevation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−262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and ends at an elevation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11,043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feet. He wants to hike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the change in elevation of the trail on the first day of his hike. If Diego sticks to his plan, at what elevation will he start on the second day?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71B7AA-10E7-9B44-A591-563821260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717" y="868934"/>
                <a:ext cx="8700235" cy="3571619"/>
              </a:xfrm>
              <a:prstGeom prst="rect">
                <a:avLst/>
              </a:prstGeom>
              <a:blipFill>
                <a:blip r:embed="rId4"/>
                <a:stretch>
                  <a:fillRect l="-1121" t="-1368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81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1527717" y="378717"/>
            <a:ext cx="8366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Jeffrey solved the problem with the steps shown.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03E13EC4-4E71-1040-9FEE-E3DA06B2FE6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1121" y="864182"/>
            <a:ext cx="6451832" cy="31472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1527717" y="4057338"/>
            <a:ext cx="8379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what Jeffrey did correctly and incorrectly.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412CF80-27DC-8A48-A93E-4C93D65DA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959357"/>
              </p:ext>
            </p:extLst>
          </p:nvPr>
        </p:nvGraphicFramePr>
        <p:xfrm>
          <a:off x="3099559" y="4552041"/>
          <a:ext cx="6480000" cy="1872000"/>
        </p:xfrm>
        <a:graphic>
          <a:graphicData uri="http://schemas.openxmlformats.org/drawingml/2006/table">
            <a:tbl>
              <a:tblPr firstRow="1" firstCol="1" bandRow="1"/>
              <a:tblGrid>
                <a:gridCol w="3240000">
                  <a:extLst>
                    <a:ext uri="{9D8B030D-6E8A-4147-A177-3AD203B41FA5}">
                      <a16:colId xmlns:a16="http://schemas.microsoft.com/office/drawing/2014/main" val="111342466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349469103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512764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953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205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CF8BCF-F56C-AB49-A02B-6686BE9689EB}"/>
              </a:ext>
            </a:extLst>
          </p:cNvPr>
          <p:cNvSpPr txBox="1"/>
          <p:nvPr/>
        </p:nvSpPr>
        <p:spPr>
          <a:xfrm>
            <a:off x="1527716" y="379534"/>
            <a:ext cx="88429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 what elevation will Diego start on the second day? Show your work.</a:t>
            </a:r>
          </a:p>
        </p:txBody>
      </p:sp>
    </p:spTree>
    <p:extLst>
      <p:ext uri="{BB962C8B-B14F-4D97-AF65-F5344CB8AC3E}">
        <p14:creationId xmlns:p14="http://schemas.microsoft.com/office/powerpoint/2010/main" val="722003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71B7AA-10E7-9B44-A591-563821260A41}"/>
                  </a:ext>
                </a:extLst>
              </p:cNvPr>
              <p:cNvSpPr txBox="1"/>
              <p:nvPr/>
            </p:nvSpPr>
            <p:spPr>
              <a:xfrm>
                <a:off x="1527717" y="379075"/>
                <a:ext cx="8346583" cy="320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Ashlyn was given the following problem to solve.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9263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Fernando runs after school to prepare for the cross-country season. On Monday he ran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4.34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miles, Wednesday he ran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6.56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miles, and on Friday he ran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1.375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miles. His teammate Marcus only ran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the number of miles as Fernando. How many miles did Marcus run?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71B7AA-10E7-9B44-A591-563821260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717" y="379075"/>
                <a:ext cx="8346583" cy="3200748"/>
              </a:xfrm>
              <a:prstGeom prst="rect">
                <a:avLst/>
              </a:prstGeom>
              <a:blipFill>
                <a:blip r:embed="rId4"/>
                <a:stretch>
                  <a:fillRect l="-1169" t="-1524" r="-2337" b="-3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8388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114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03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8681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1516566" y="379421"/>
            <a:ext cx="8344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Ashlyn solved the problem with the steps shown.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B8BFF185-85A4-C147-829E-660E22CC52A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1122" y="779532"/>
            <a:ext cx="6457475" cy="31472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1516566" y="4047589"/>
            <a:ext cx="8344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 defTabSz="9017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what Ashlyn did correctly and incorrectly.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9FB0230-621D-5B4F-9618-3B665FDE4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422113"/>
              </p:ext>
            </p:extLst>
          </p:nvPr>
        </p:nvGraphicFramePr>
        <p:xfrm>
          <a:off x="2991121" y="4596999"/>
          <a:ext cx="6480000" cy="1872000"/>
        </p:xfrm>
        <a:graphic>
          <a:graphicData uri="http://schemas.openxmlformats.org/drawingml/2006/table">
            <a:tbl>
              <a:tblPr firstRow="1" firstCol="1" bandRow="1"/>
              <a:tblGrid>
                <a:gridCol w="3240000">
                  <a:extLst>
                    <a:ext uri="{9D8B030D-6E8A-4147-A177-3AD203B41FA5}">
                      <a16:colId xmlns:a16="http://schemas.microsoft.com/office/drawing/2014/main" val="1659845785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92881616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</a:t>
                      </a:r>
                      <a:endParaRPr lang="x-none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</a:t>
                      </a:r>
                      <a:endParaRPr lang="x-none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21484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463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61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634150-5B3E-984F-A1A0-2190CD7D26DA}"/>
              </a:ext>
            </a:extLst>
          </p:cNvPr>
          <p:cNvSpPr txBox="1"/>
          <p:nvPr/>
        </p:nvSpPr>
        <p:spPr>
          <a:xfrm>
            <a:off x="1516566" y="792815"/>
            <a:ext cx="8523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miles did Marcus run? Show your work.</a:t>
            </a:r>
          </a:p>
        </p:txBody>
      </p:sp>
    </p:spTree>
    <p:extLst>
      <p:ext uri="{BB962C8B-B14F-4D97-AF65-F5344CB8AC3E}">
        <p14:creationId xmlns:p14="http://schemas.microsoft.com/office/powerpoint/2010/main" val="553313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71B7AA-10E7-9B44-A591-563821260A41}"/>
                  </a:ext>
                </a:extLst>
              </p:cNvPr>
              <p:cNvSpPr txBox="1"/>
              <p:nvPr/>
            </p:nvSpPr>
            <p:spPr>
              <a:xfrm>
                <a:off x="1527717" y="1025958"/>
                <a:ext cx="9110546" cy="2993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Craig was given the following problem to solve.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9263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Rhonda makes a specific hair dye color by mixing </a:t>
                </a:r>
                <a14:m>
                  <m:oMath xmlns:m="http://schemas.openxmlformats.org/officeDocument/2006/math">
                    <m:r>
                      <a:rPr lang="es-E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ounces (oz) of red tone,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oz of gray tone,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oz of brown tone. If Rhonda needs to make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oz of the same color dye, how much of each color tone is needed?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71B7AA-10E7-9B44-A591-563821260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717" y="1025958"/>
                <a:ext cx="9110546" cy="2993127"/>
              </a:xfrm>
              <a:prstGeom prst="rect">
                <a:avLst/>
              </a:prstGeom>
              <a:blipFill>
                <a:blip r:embed="rId4"/>
                <a:stretch>
                  <a:fillRect l="-1071" t="-1629" r="-268" b="-36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6352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6267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92445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1505415" y="378717"/>
            <a:ext cx="8356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01638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Craig solved the problem with the steps shown.</a:t>
            </a:r>
          </a:p>
        </p:txBody>
      </p:sp>
      <p:pic>
        <p:nvPicPr>
          <p:cNvPr id="7" name="Picture 6" descr="Text, whiteboard&#10;&#10;Description automatically generated">
            <a:extLst>
              <a:ext uri="{FF2B5EF4-FFF2-40B4-BE49-F238E27FC236}">
                <a16:creationId xmlns:a16="http://schemas.microsoft.com/office/drawing/2014/main" id="{37E50BA3-238A-BB4E-89D7-EB345BA7A14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1122" y="779532"/>
            <a:ext cx="6473743" cy="31472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1505415" y="4036675"/>
            <a:ext cx="8356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what Craig did correctly and incorrectly.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D1F5F2C-B58B-6D44-B038-727235B8D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248693"/>
              </p:ext>
            </p:extLst>
          </p:nvPr>
        </p:nvGraphicFramePr>
        <p:xfrm>
          <a:off x="2984864" y="4585675"/>
          <a:ext cx="6480000" cy="1872000"/>
        </p:xfrm>
        <a:graphic>
          <a:graphicData uri="http://schemas.openxmlformats.org/drawingml/2006/table">
            <a:tbl>
              <a:tblPr firstRow="1" firstCol="1" bandRow="1"/>
              <a:tblGrid>
                <a:gridCol w="3240000">
                  <a:extLst>
                    <a:ext uri="{9D8B030D-6E8A-4147-A177-3AD203B41FA5}">
                      <a16:colId xmlns:a16="http://schemas.microsoft.com/office/drawing/2014/main" val="953718227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32303366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</a:t>
                      </a:r>
                      <a:endParaRPr lang="x-none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</a:t>
                      </a:r>
                      <a:endParaRPr lang="x-none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696059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2631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386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61BF5E-1BE0-9444-9D44-AD64C197045E}"/>
                  </a:ext>
                </a:extLst>
              </p:cNvPr>
              <p:cNvSpPr txBox="1"/>
              <p:nvPr/>
            </p:nvSpPr>
            <p:spPr>
              <a:xfrm>
                <a:off x="1527717" y="962416"/>
                <a:ext cx="872025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much of each color is needed to make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oz of dye? Show your work.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61BF5E-1BE0-9444-9D44-AD64C1970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717" y="962416"/>
                <a:ext cx="8720254" cy="830997"/>
              </a:xfrm>
              <a:prstGeom prst="rect">
                <a:avLst/>
              </a:prstGeom>
              <a:blipFill>
                <a:blip r:embed="rId4"/>
                <a:stretch>
                  <a:fillRect t="-6618" r="-1259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7729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>
            <a:extLst>
              <a:ext uri="{FF2B5EF4-FFF2-40B4-BE49-F238E27FC236}">
                <a16:creationId xmlns:a16="http://schemas.microsoft.com/office/drawing/2014/main" id="{16FE160E-CE8F-A34B-AA71-83FC21B74096}"/>
              </a:ext>
            </a:extLst>
          </p:cNvPr>
          <p:cNvSpPr txBox="1">
            <a:spLocks/>
          </p:cNvSpPr>
          <p:nvPr/>
        </p:nvSpPr>
        <p:spPr>
          <a:xfrm>
            <a:off x="5478317" y="268237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5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image1.png">
            <a:extLst>
              <a:ext uri="{FF2B5EF4-FFF2-40B4-BE49-F238E27FC236}">
                <a16:creationId xmlns:a16="http://schemas.microsoft.com/office/drawing/2014/main" id="{725351E7-1516-3F4B-8B42-6D3C32EA3A3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320167" y="2766145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8514" y="-15711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963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141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415" y="1654880"/>
                <a:ext cx="9946355" cy="40934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Many homeowners have solar panels that can generate energy to power their homes. The Better Utility Company charges customers who have solar panels using the following criteria: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811213" indent="-373063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Customers are charged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$0.12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per kilowatt-hour for the energy used that is provided by the utility company.</a:t>
                </a:r>
              </a:p>
              <a:p>
                <a:pPr marL="811213" indent="-373063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11213" indent="-373063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utility company does not charge customers for energy they use from their own solar panel(s). </a:t>
                </a:r>
              </a:p>
              <a:p>
                <a:pPr marL="811213" indent="-373063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11213" indent="-373063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every kilowatt-hour of electricity that customers with solar panels generate but do not use, the utility company gives a price adjustment 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−$0.025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5415" y="1654880"/>
                <a:ext cx="9946355" cy="4093428"/>
              </a:xfrm>
              <a:prstGeom prst="rect">
                <a:avLst/>
              </a:prstGeom>
              <a:blipFill>
                <a:blip r:embed="rId4"/>
                <a:stretch>
                  <a:fillRect l="-674" t="-298" r="-1042" b="-22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1.png">
            <a:extLst>
              <a:ext uri="{FF2B5EF4-FFF2-40B4-BE49-F238E27FC236}">
                <a16:creationId xmlns:a16="http://schemas.microsoft.com/office/drawing/2014/main" id="{9A8F2347-07E5-1D41-BB1B-720A6F9B2900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2066" y="273423"/>
            <a:ext cx="747432" cy="747432"/>
          </a:xfrm>
          <a:prstGeom prst="rect">
            <a:avLst/>
          </a:prstGeom>
          <a:ln/>
        </p:spPr>
      </p:pic>
      <p:sp>
        <p:nvSpPr>
          <p:cNvPr id="13" name="Google Shape;324;g103996e1364_0_25">
            <a:extLst>
              <a:ext uri="{FF2B5EF4-FFF2-40B4-BE49-F238E27FC236}">
                <a16:creationId xmlns:a16="http://schemas.microsoft.com/office/drawing/2014/main" id="{80BC819E-5FA6-BE4D-8A99-2BF1160E99A1}"/>
              </a:ext>
            </a:extLst>
          </p:cNvPr>
          <p:cNvSpPr txBox="1">
            <a:spLocks/>
          </p:cNvSpPr>
          <p:nvPr/>
        </p:nvSpPr>
        <p:spPr>
          <a:xfrm>
            <a:off x="1973766" y="139065"/>
            <a:ext cx="85653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3.7.3 Collaboration: Finding Missing Values</a:t>
            </a:r>
          </a:p>
        </p:txBody>
      </p:sp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5D1B9F-A752-AD42-8D60-9B883A251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566" y="476878"/>
            <a:ext cx="84803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Erin Hill’s bill for the month of July is missing some information.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5B69FFA-25D3-D746-88A0-12FE048C64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4015511"/>
                  </p:ext>
                </p:extLst>
              </p:nvPr>
            </p:nvGraphicFramePr>
            <p:xfrm>
              <a:off x="2122231" y="1585348"/>
              <a:ext cx="7560000" cy="424903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85217654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3237075816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110075758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769722431"/>
                        </a:ext>
                      </a:extLst>
                    </a:gridCol>
                  </a:tblGrid>
                  <a:tr h="1010920"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Best Utility Company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123 Ohms Way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Big City, ST 12345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Erin Hill 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456 Long St.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Small Town, ST 98765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0166156"/>
                      </a:ext>
                    </a:extLst>
                  </a:tr>
                  <a:tr h="1377315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Kilowatt-hours used from Best Utility Company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________</a:t>
                          </a:r>
                          <a:endParaRPr lang="x-none" sz="200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Charge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$82.04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4869215"/>
                      </a:ext>
                    </a:extLst>
                  </a:tr>
                  <a:tr h="1183640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Kilowatt-hours generated by solar panel and not used by customer </a:t>
                          </a:r>
                          <a:endParaRPr lang="x-none" sz="200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________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Credit 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$</m:t>
                                </m:r>
                                <m:sPre>
                                  <m:sPre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4.10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x-none" sz="20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12870384"/>
                      </a:ext>
                    </a:extLst>
                  </a:tr>
                  <a:tr h="634365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Amount Due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$________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645623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5B69FFA-25D3-D746-88A0-12FE048C64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4015511"/>
                  </p:ext>
                </p:extLst>
              </p:nvPr>
            </p:nvGraphicFramePr>
            <p:xfrm>
              <a:off x="2122231" y="1585348"/>
              <a:ext cx="7560000" cy="424903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85217654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3237075816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110075758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769722431"/>
                        </a:ext>
                      </a:extLst>
                    </a:gridCol>
                  </a:tblGrid>
                  <a:tr h="1053719"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Best Utility Company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123 Ohms Way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Big City, ST 12345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Erin Hill 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456 Long St.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Small Town, ST 98765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0166156"/>
                      </a:ext>
                    </a:extLst>
                  </a:tr>
                  <a:tr h="1377315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Kilowatt-hours used from Best Utility Company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________</a:t>
                          </a:r>
                          <a:endParaRPr lang="x-none" sz="200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Charge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426695" t="-78761" r="-1271" b="-1336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869215"/>
                      </a:ext>
                    </a:extLst>
                  </a:tr>
                  <a:tr h="1183640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Kilowatt-hours generated by solar panel and not used by customer </a:t>
                          </a:r>
                          <a:endParaRPr lang="x-none" sz="200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________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Credit 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426695" t="-207179" r="-1271" b="-548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2870384"/>
                      </a:ext>
                    </a:extLst>
                  </a:tr>
                  <a:tr h="634365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Amount Due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" pitchFamily="2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$________</a:t>
                          </a: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645623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2851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00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4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75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505415" y="383587"/>
            <a:ext cx="893212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fill in the missing information on the bill. Round answers to nearest hundredth.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another classmate other than your partner and compare your missing values.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the missing values for both are the same, have your classmate initial next to each value in your bill.</a:t>
            </a:r>
          </a:p>
          <a:p>
            <a:pPr marL="811213" indent="-373063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the missing values are different, discuss your work to determine what error(s) were made. After correcting any mistakes, initial next to each value in each other’s bill. </a:t>
            </a:r>
          </a:p>
        </p:txBody>
      </p:sp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2053243" y="458297"/>
            <a:ext cx="8052407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3.7.4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6713" y="33117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1527717" y="1670715"/>
            <a:ext cx="85448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reflecting on the day’s lesson.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BCA553-E7A0-9D41-9EA6-F63C26805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999793"/>
              </p:ext>
            </p:extLst>
          </p:nvPr>
        </p:nvGraphicFramePr>
        <p:xfrm>
          <a:off x="2053243" y="2757572"/>
          <a:ext cx="7200000" cy="2966466"/>
        </p:xfrm>
        <a:graphic>
          <a:graphicData uri="http://schemas.openxmlformats.org/drawingml/2006/table">
            <a:tbl>
              <a:tblPr bandRow="1"/>
              <a:tblGrid>
                <a:gridCol w="3600000">
                  <a:extLst>
                    <a:ext uri="{9D8B030D-6E8A-4147-A177-3AD203B41FA5}">
                      <a16:colId xmlns:a16="http://schemas.microsoft.com/office/drawing/2014/main" val="1972973053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721307631"/>
                    </a:ext>
                  </a:extLst>
                </a:gridCol>
              </a:tblGrid>
              <a:tr h="288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Today I deserve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for …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7870610"/>
                  </a:ext>
                </a:extLst>
              </a:tr>
            </a:tbl>
          </a:graphicData>
        </a:graphic>
      </p:graphicFrame>
      <p:pic>
        <p:nvPicPr>
          <p:cNvPr id="11" name="Picture 10" descr="A picture containing person, person&#10;&#10;Description automatically generated">
            <a:extLst>
              <a:ext uri="{FF2B5EF4-FFF2-40B4-BE49-F238E27FC236}">
                <a16:creationId xmlns:a16="http://schemas.microsoft.com/office/drawing/2014/main" id="{7094A8D9-0170-C942-9BD8-71B1716541D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1552" y="3163159"/>
            <a:ext cx="3115949" cy="21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D7372C-2A99-834E-9EAF-F6478A66D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846305"/>
              </p:ext>
            </p:extLst>
          </p:nvPr>
        </p:nvGraphicFramePr>
        <p:xfrm>
          <a:off x="2638041" y="462155"/>
          <a:ext cx="7200000" cy="5932932"/>
        </p:xfrm>
        <a:graphic>
          <a:graphicData uri="http://schemas.openxmlformats.org/drawingml/2006/table">
            <a:tbl>
              <a:tblPr bandRow="1"/>
              <a:tblGrid>
                <a:gridCol w="3600000">
                  <a:extLst>
                    <a:ext uri="{9D8B030D-6E8A-4147-A177-3AD203B41FA5}">
                      <a16:colId xmlns:a16="http://schemas.microsoft.com/office/drawing/2014/main" val="646722445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4087660485"/>
                    </a:ext>
                  </a:extLst>
                </a:gridCol>
              </a:tblGrid>
              <a:tr h="33879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Today I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by doing …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20876"/>
                  </a:ext>
                </a:extLst>
              </a:tr>
              <a:tr h="20734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Today I was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by …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4051461"/>
                  </a:ext>
                </a:extLst>
              </a:tr>
            </a:tbl>
          </a:graphicData>
        </a:graphic>
      </p:graphicFrame>
      <p:pic>
        <p:nvPicPr>
          <p:cNvPr id="12" name="Picture 11" descr="Man Person Climb · Free photo on Pixabay">
            <a:extLst>
              <a:ext uri="{FF2B5EF4-FFF2-40B4-BE49-F238E27FC236}">
                <a16:creationId xmlns:a16="http://schemas.microsoft.com/office/drawing/2014/main" id="{32D97912-FBAA-3C4E-B13C-EC964BCBABD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371117" y="877840"/>
            <a:ext cx="1910080" cy="2546985"/>
          </a:xfrm>
          <a:prstGeom prst="rect">
            <a:avLst/>
          </a:prstGeom>
        </p:spPr>
      </p:pic>
      <p:pic>
        <p:nvPicPr>
          <p:cNvPr id="13" name="image25.png" descr="A picture containing text, sign, sky, outdoor&#10;&#10;Description automatically generated">
            <a:extLst>
              <a:ext uri="{FF2B5EF4-FFF2-40B4-BE49-F238E27FC236}">
                <a16:creationId xmlns:a16="http://schemas.microsoft.com/office/drawing/2014/main" id="{B0A0AB68-E056-EB4E-94F1-71D5175E08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5111" y="4235242"/>
            <a:ext cx="2662093" cy="176616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9544950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3219</TotalTime>
  <Words>1135</Words>
  <Application>Microsoft Office PowerPoint</Application>
  <PresentationFormat>Widescreen</PresentationFormat>
  <Paragraphs>181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Cutive</vt:lpstr>
      <vt:lpstr>Calibri</vt:lpstr>
      <vt:lpstr>Arial Black</vt:lpstr>
      <vt:lpstr>Times</vt:lpstr>
      <vt:lpstr>Cambria Math</vt:lpstr>
      <vt:lpstr>Arial</vt:lpstr>
      <vt:lpstr>Verdana</vt:lpstr>
      <vt:lpstr>Wingdings</vt:lpstr>
      <vt:lpstr>Century Gothic</vt:lpstr>
      <vt:lpstr>1_Office Theme</vt:lpstr>
      <vt:lpstr>7th Grade Math  Unit 3, Lesson 7  Solving  Real-World Problems with Rational Numbers – Part 3  Volume 1, pg. 113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39</cp:revision>
  <dcterms:created xsi:type="dcterms:W3CDTF">2015-03-17T18:51:18Z</dcterms:created>
  <dcterms:modified xsi:type="dcterms:W3CDTF">2022-06-07T15:37:21Z</dcterms:modified>
</cp:coreProperties>
</file>