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345" r:id="rId4"/>
    <p:sldId id="286" r:id="rId5"/>
    <p:sldId id="261" r:id="rId6"/>
    <p:sldId id="287" r:id="rId7"/>
    <p:sldId id="376" r:id="rId8"/>
    <p:sldId id="377" r:id="rId9"/>
    <p:sldId id="378" r:id="rId10"/>
    <p:sldId id="394" r:id="rId11"/>
    <p:sldId id="314" r:id="rId12"/>
    <p:sldId id="315" r:id="rId13"/>
    <p:sldId id="316" r:id="rId14"/>
    <p:sldId id="406" r:id="rId15"/>
    <p:sldId id="407" r:id="rId16"/>
    <p:sldId id="395" r:id="rId17"/>
    <p:sldId id="396" r:id="rId18"/>
    <p:sldId id="397" r:id="rId19"/>
    <p:sldId id="399" r:id="rId20"/>
    <p:sldId id="400" r:id="rId21"/>
    <p:sldId id="405" r:id="rId22"/>
    <p:sldId id="306" r:id="rId23"/>
    <p:sldId id="307" r:id="rId24"/>
    <p:sldId id="408" r:id="rId25"/>
  </p:sldIdLst>
  <p:sldSz cx="12192000" cy="6858000"/>
  <p:notesSz cx="6858000" cy="9144000"/>
  <p:embeddedFontLst>
    <p:embeddedFont>
      <p:font typeface="Arial Black" panose="020B0A04020102020204" pitchFamily="34" charset="0"/>
      <p:bold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Cambria Math" panose="02040503050406030204" pitchFamily="18" charset="0"/>
      <p:regular r:id="rId32"/>
    </p:embeddedFont>
    <p:embeddedFont>
      <p:font typeface="Century Gothic" panose="020B0502020202020204" pitchFamily="34" charset="0"/>
      <p:regular r:id="rId33"/>
      <p:bold r:id="rId34"/>
      <p:italic r:id="rId35"/>
      <p:boldItalic r:id="rId36"/>
    </p:embeddedFont>
    <p:embeddedFont>
      <p:font typeface="Verdana" panose="020B0604030504040204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4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4E5F"/>
    <a:srgbClr val="FABB42"/>
    <a:srgbClr val="F79B59"/>
    <a:srgbClr val="F26763"/>
    <a:srgbClr val="1765AD"/>
    <a:srgbClr val="1664AC"/>
    <a:srgbClr val="BFBFBF"/>
    <a:srgbClr val="C9DF6F"/>
    <a:srgbClr val="417DBF"/>
    <a:srgbClr val="3F2A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82" autoAdjust="0"/>
    <p:restoredTop sz="94719"/>
  </p:normalViewPr>
  <p:slideViewPr>
    <p:cSldViewPr snapToGrid="0">
      <p:cViewPr varScale="1">
        <p:scale>
          <a:sx n="81" d="100"/>
          <a:sy n="81" d="100"/>
        </p:scale>
        <p:origin x="97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54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56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343628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49622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9113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64813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10189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47066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19393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187262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20521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60361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02234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5123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38934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0793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459722" y="2212771"/>
            <a:ext cx="507765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3, Lesson 4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Dividing Rational Numbers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100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lang="en-US" sz="28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90357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937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36395" y="-88032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730266" y="1237668"/>
            <a:ext cx="1123234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MA.7.NSO.2.2</a:t>
            </a:r>
          </a:p>
          <a:p>
            <a:pPr marL="552450" lvl="1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Add, subtract, multiply, and divide rational numbers with procedural fluency.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id="{78632872-3F42-3447-924A-20A16C6976F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Google Shape;281;g104476d1465_1_17">
            <a:extLst>
              <a:ext uri="{FF2B5EF4-FFF2-40B4-BE49-F238E27FC236}">
                <a16:creationId xmlns:a16="http://schemas.microsoft.com/office/drawing/2014/main" id="{D915A027-4791-D04E-90A8-9E6239ED88E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Google Shape;283;g104476d1465_1_17">
            <a:extLst>
              <a:ext uri="{FF2B5EF4-FFF2-40B4-BE49-F238E27FC236}">
                <a16:creationId xmlns:a16="http://schemas.microsoft.com/office/drawing/2014/main" id="{983DCB5F-2CE8-A74F-A579-F39E2E9337FB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Google Shape;295;g103996e1364_0_10">
            <a:extLst>
              <a:ext uri="{FF2B5EF4-FFF2-40B4-BE49-F238E27FC236}">
                <a16:creationId xmlns:a16="http://schemas.microsoft.com/office/drawing/2014/main" id="{73A67FE7-C13F-C24F-85E9-A4B96A1F42A8}"/>
              </a:ext>
            </a:extLst>
          </p:cNvPr>
          <p:cNvSpPr txBox="1">
            <a:spLocks/>
          </p:cNvSpPr>
          <p:nvPr/>
        </p:nvSpPr>
        <p:spPr>
          <a:xfrm>
            <a:off x="1237332" y="1130"/>
            <a:ext cx="1095466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7" name="Google Shape;296;g103996e1364_0_10">
            <a:extLst>
              <a:ext uri="{FF2B5EF4-FFF2-40B4-BE49-F238E27FC236}">
                <a16:creationId xmlns:a16="http://schemas.microsoft.com/office/drawing/2014/main" id="{5BB4D65A-27E8-4F4F-9348-5380FE318E8D}"/>
              </a:ext>
            </a:extLst>
          </p:cNvPr>
          <p:cNvSpPr txBox="1">
            <a:spLocks/>
          </p:cNvSpPr>
          <p:nvPr/>
        </p:nvSpPr>
        <p:spPr>
          <a:xfrm>
            <a:off x="730265" y="1455367"/>
            <a:ext cx="10954667" cy="474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37CC83FF-5C83-CD42-A75D-B443F14E1C19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37332" y="-88032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730266" y="1505932"/>
            <a:ext cx="1077986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6263" indent="-576263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fluently divide rational numbers.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5846" y="2766150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43D2F04D-C861-A149-B5F8-A913FBED75AE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3002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34330" y="-53249"/>
            <a:ext cx="1056872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3.4.1 Warm-Up: Would You Rather?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655853" y="1352015"/>
                <a:ext cx="10844847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if you would rather have a stack of quarters that stands from the floor to the top of your head, or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$225.00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whether you would change your mind if the quarters were stacked to the top of your desk.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53" y="1352015"/>
                <a:ext cx="10844847" cy="3170099"/>
              </a:xfrm>
              <a:prstGeom prst="rect">
                <a:avLst/>
              </a:prstGeom>
              <a:blipFill>
                <a:blip r:embed="rId5"/>
                <a:stretch>
                  <a:fillRect l="-585" t="-1195" b="-2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3">
            <a:extLst>
              <a:ext uri="{FF2B5EF4-FFF2-40B4-BE49-F238E27FC236}">
                <a16:creationId xmlns:a16="http://schemas.microsoft.com/office/drawing/2014/main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0CD40667-98C3-7A43-A8EC-50FA988E0942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42228" y="278414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Refresher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12.png" descr="Icon&#10;&#10;Description automatically generated">
            <a:extLst>
              <a:ext uri="{FF2B5EF4-FFF2-40B4-BE49-F238E27FC236}">
                <a16:creationId xmlns:a16="http://schemas.microsoft.com/office/drawing/2014/main" id="{CA37EB4F-AD06-9442-B14A-5AE5851B0FD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52928"/>
            <a:ext cx="1188132" cy="1188132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84323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16751" y="4498849"/>
            <a:ext cx="2259859" cy="1916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04049" y="-93231"/>
            <a:ext cx="1095453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3.4.2 Refresher: Dividing Positive Rational Numbers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208A00-51E7-C544-ABDE-AE9DC3DAA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332" y="1644773"/>
            <a:ext cx="1087406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Ren found the following quotient, making at least one error in her work.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Circle the error(s) in Ren’s work and write an explanation of the error(s). Then, find the correct quotient. </a:t>
            </a:r>
          </a:p>
        </p:txBody>
      </p:sp>
      <p:pic>
        <p:nvPicPr>
          <p:cNvPr id="8" name="image12.png" descr="Icon&#10;&#10;Description automatically generated">
            <a:extLst>
              <a:ext uri="{FF2B5EF4-FFF2-40B4-BE49-F238E27FC236}">
                <a16:creationId xmlns:a16="http://schemas.microsoft.com/office/drawing/2014/main" id="{D5444911-581A-4044-B69F-A304F9D66740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47433" cy="747433"/>
          </a:xfrm>
          <a:prstGeom prst="rect">
            <a:avLst/>
          </a:prstGeom>
          <a:ln/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6605491"/>
                  </p:ext>
                </p:extLst>
              </p:nvPr>
            </p:nvGraphicFramePr>
            <p:xfrm>
              <a:off x="3133725" y="3424825"/>
              <a:ext cx="6532880" cy="30784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4688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err="1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Ren’s</a:t>
                          </a: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 Work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Explanation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Correct Quotient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3774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12.636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  <a:cs typeface="Calibri"/>
                                  </a:rPr>
                                  <m:t>÷3.12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6605491"/>
                  </p:ext>
                </p:extLst>
              </p:nvPr>
            </p:nvGraphicFramePr>
            <p:xfrm>
              <a:off x="3133725" y="3424825"/>
              <a:ext cx="6532880" cy="30784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4688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err="1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Ren’s</a:t>
                          </a: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 Work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Explanation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Correct Quotient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3774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47" t="-30691" r="-165185" b="-5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87674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5D1B9F-A752-AD42-8D60-9B883A251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0" y="408386"/>
            <a:ext cx="1160591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137795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 startAt="2"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advice do you have for </a:t>
            </a:r>
            <a:r>
              <a:rPr lang="en-US" altLang="en-US" sz="2400" dirty="0" err="1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Ren</a:t>
            </a: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that could help her with dividing decimals in the future? </a:t>
            </a:r>
          </a:p>
        </p:txBody>
      </p:sp>
    </p:spTree>
    <p:extLst>
      <p:ext uri="{BB962C8B-B14F-4D97-AF65-F5344CB8AC3E}">
        <p14:creationId xmlns:p14="http://schemas.microsoft.com/office/powerpoint/2010/main" val="3238106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5D1B9F-A752-AD42-8D60-9B883A251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88" y="515067"/>
            <a:ext cx="1150316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 startAt="2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Trevor found the following quotient, making at least one error in his work. Circle the error(s) in Trevor’s work. Write an explanation of the error(s). Then, find the correct quotient.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6C9F8AD-D3D0-2748-B80C-3689494E87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3342545"/>
                  </p:ext>
                </p:extLst>
              </p:nvPr>
            </p:nvGraphicFramePr>
            <p:xfrm>
              <a:off x="2678415" y="1762272"/>
              <a:ext cx="7159506" cy="44791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86502">
                      <a:extLst>
                        <a:ext uri="{9D8B030D-6E8A-4147-A177-3AD203B41FA5}">
                          <a16:colId xmlns:a16="http://schemas.microsoft.com/office/drawing/2014/main" val="1026527044"/>
                        </a:ext>
                      </a:extLst>
                    </a:gridCol>
                    <a:gridCol w="2386502">
                      <a:extLst>
                        <a:ext uri="{9D8B030D-6E8A-4147-A177-3AD203B41FA5}">
                          <a16:colId xmlns:a16="http://schemas.microsoft.com/office/drawing/2014/main" val="16577175"/>
                        </a:ext>
                      </a:extLst>
                    </a:gridCol>
                    <a:gridCol w="2386502">
                      <a:extLst>
                        <a:ext uri="{9D8B030D-6E8A-4147-A177-3AD203B41FA5}">
                          <a16:colId xmlns:a16="http://schemas.microsoft.com/office/drawing/2014/main" val="277669042"/>
                        </a:ext>
                      </a:extLst>
                    </a:gridCol>
                  </a:tblGrid>
                  <a:tr h="46977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Trevor</a:t>
                          </a: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’s Work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Explanation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Correct Quotient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5120585"/>
                      </a:ext>
                    </a:extLst>
                  </a:tr>
                  <a:tr h="36576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38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13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÷</m:t>
                                </m:r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6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38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13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÷</m:t>
                                </m:r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19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(38÷19)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8364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6C9F8AD-D3D0-2748-B80C-3689494E87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3342545"/>
                  </p:ext>
                </p:extLst>
              </p:nvPr>
            </p:nvGraphicFramePr>
            <p:xfrm>
              <a:off x="2678415" y="1762272"/>
              <a:ext cx="7159506" cy="44638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86502">
                      <a:extLst>
                        <a:ext uri="{9D8B030D-6E8A-4147-A177-3AD203B41FA5}">
                          <a16:colId xmlns:a16="http://schemas.microsoft.com/office/drawing/2014/main" val="1026527044"/>
                        </a:ext>
                      </a:extLst>
                    </a:gridCol>
                    <a:gridCol w="2386502">
                      <a:extLst>
                        <a:ext uri="{9D8B030D-6E8A-4147-A177-3AD203B41FA5}">
                          <a16:colId xmlns:a16="http://schemas.microsoft.com/office/drawing/2014/main" val="16577175"/>
                        </a:ext>
                      </a:extLst>
                    </a:gridCol>
                    <a:gridCol w="2386502">
                      <a:extLst>
                        <a:ext uri="{9D8B030D-6E8A-4147-A177-3AD203B41FA5}">
                          <a16:colId xmlns:a16="http://schemas.microsoft.com/office/drawing/2014/main" val="277669042"/>
                        </a:ext>
                      </a:extLst>
                    </a:gridCol>
                  </a:tblGrid>
                  <a:tr h="80626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Trevor</a:t>
                          </a: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’s Work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Explanation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Correct Quotient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5120585"/>
                      </a:ext>
                    </a:extLst>
                  </a:tr>
                  <a:tr h="3657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2145" r="-201064" b="-3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8364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22271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00286" y="2766150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8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1.png">
            <a:extLst>
              <a:ext uri="{FF2B5EF4-FFF2-40B4-BE49-F238E27FC236}">
                <a16:creationId xmlns:a16="http://schemas.microsoft.com/office/drawing/2014/main" id="{1FDD32E5-A76C-CB44-B772-56CF29C6597C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52928"/>
            <a:ext cx="1152145" cy="115214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06427" y="-86777"/>
            <a:ext cx="1072895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3.4.3 Collaboration: Signed Number Rules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6B19A2-BBA2-0441-AC88-F1F62E75949B}"/>
              </a:ext>
            </a:extLst>
          </p:cNvPr>
          <p:cNvSpPr txBox="1"/>
          <p:nvPr/>
        </p:nvSpPr>
        <p:spPr>
          <a:xfrm>
            <a:off x="731520" y="1484878"/>
            <a:ext cx="10985997" cy="3272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2000"/>
              </a:spcAft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Fill in the blanks with the words positive or negative to write the rules for dividing integers. </a:t>
            </a:r>
          </a:p>
          <a:p>
            <a:pPr marL="9144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quotient of two positive integers is a ________ integer. </a:t>
            </a:r>
          </a:p>
          <a:p>
            <a:pPr marL="9144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quotient of two negative integers is a ________ integer. </a:t>
            </a:r>
          </a:p>
          <a:p>
            <a:pPr marL="9144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quotient of a negative integer divided by a positive integer is a ________ integer.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quotient of a positive integer divided by a negative integer is a ________ integer.</a:t>
            </a:r>
          </a:p>
        </p:txBody>
      </p:sp>
      <p:pic>
        <p:nvPicPr>
          <p:cNvPr id="9" name="image1.png">
            <a:extLst>
              <a:ext uri="{FF2B5EF4-FFF2-40B4-BE49-F238E27FC236}">
                <a16:creationId xmlns:a16="http://schemas.microsoft.com/office/drawing/2014/main" id="{1D15C9F4-1A5F-2F48-9D45-4DAE821B60FC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49811" cy="74981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5D1B9F-A752-AD42-8D60-9B883A251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441" y="351825"/>
            <a:ext cx="1103182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whether you think the same rules apply to rational numbers. Write a summary of your reasoning.</a:t>
            </a:r>
          </a:p>
        </p:txBody>
      </p:sp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71B7AA-10E7-9B44-A591-563821260A41}"/>
              </a:ext>
            </a:extLst>
          </p:cNvPr>
          <p:cNvSpPr txBox="1"/>
          <p:nvPr/>
        </p:nvSpPr>
        <p:spPr>
          <a:xfrm>
            <a:off x="483304" y="387472"/>
            <a:ext cx="112624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table. Use a calculator to find the quotient of each expression to verify if the same rules for signs apply when dividing rational numbers.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6A933E5-75F1-D640-B738-0B6E68DBE0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8331697"/>
                  </p:ext>
                </p:extLst>
              </p:nvPr>
            </p:nvGraphicFramePr>
            <p:xfrm>
              <a:off x="2744787" y="1503632"/>
              <a:ext cx="7315200" cy="420192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77440">
                      <a:extLst>
                        <a:ext uri="{9D8B030D-6E8A-4147-A177-3AD203B41FA5}">
                          <a16:colId xmlns:a16="http://schemas.microsoft.com/office/drawing/2014/main" val="3267783334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672404366"/>
                        </a:ext>
                      </a:extLst>
                    </a:gridCol>
                    <a:gridCol w="1463040">
                      <a:extLst>
                        <a:ext uri="{9D8B030D-6E8A-4147-A177-3AD203B41FA5}">
                          <a16:colId xmlns:a16="http://schemas.microsoft.com/office/drawing/2014/main" val="1121694371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179602277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102235" marR="0" indent="-10223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Expression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Sign of Quotient Using the Rules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Quotient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Did the Same Rule Apply?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4111260"/>
                      </a:ext>
                    </a:extLst>
                  </a:tr>
                  <a:tr h="713740">
                    <a:tc>
                      <a:txBody>
                        <a:bodyPr/>
                        <a:lstStyle/>
                        <a:p>
                          <a:pPr marL="102235" marR="0" indent="-10223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−2</m:t>
                                    </m:r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8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÷</m:t>
                                </m:r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38205791"/>
                      </a:ext>
                    </a:extLst>
                  </a:tr>
                  <a:tr h="633730">
                    <a:tc>
                      <a:txBody>
                        <a:bodyPr/>
                        <a:lstStyle/>
                        <a:p>
                          <a:pPr marL="102235" marR="0" indent="-10223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6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18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÷</m:t>
                                </m:r>
                                <m:sPre>
                                  <m:sPrePr>
                                    <m:ctrlPr>
                                      <a:rPr lang="x-none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4</m:t>
                                    </m:r>
                                    <m:f>
                                      <m:fPr>
                                        <m:ctrlPr>
                                          <a:rPr lang="x-none" sz="20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Calibri" panose="020F0502020204030204" pitchFamily="34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Calibri" panose="020F0502020204030204" pitchFamily="34" charset="0"/>
                                          </a:rPr>
                                          <m:t>9</m:t>
                                        </m:r>
                                      </m:den>
                                    </m:f>
                                  </m:e>
                                </m:sPre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00546062"/>
                      </a:ext>
                    </a:extLst>
                  </a:tr>
                  <a:tr h="513715">
                    <a:tc>
                      <a:txBody>
                        <a:bodyPr/>
                        <a:lstStyle/>
                        <a:p>
                          <a:pPr marL="102235" marR="0" indent="-10223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43.008÷</m:t>
                                </m:r>
                                <m:sPre>
                                  <m:sPrePr>
                                    <m:ctrlPr>
                                      <a:rPr lang="x-none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4.096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32164026"/>
                      </a:ext>
                    </a:extLst>
                  </a:tr>
                  <a:tr h="513715">
                    <a:tc>
                      <a:txBody>
                        <a:bodyPr/>
                        <a:lstStyle/>
                        <a:p>
                          <a:pPr marL="102235" marR="0" indent="-10223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(</m:t>
                                </m:r>
                                <m:sPre>
                                  <m:sPrePr>
                                    <m:ctrlPr>
                                      <a:rPr lang="x-none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525.6)</m:t>
                                    </m:r>
                                  </m:e>
                                </m:sPr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÷(−0.36)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479484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6A933E5-75F1-D640-B738-0B6E68DBE0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8331697"/>
                  </p:ext>
                </p:extLst>
              </p:nvPr>
            </p:nvGraphicFramePr>
            <p:xfrm>
              <a:off x="2744787" y="1503632"/>
              <a:ext cx="7315200" cy="40886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77440">
                      <a:extLst>
                        <a:ext uri="{9D8B030D-6E8A-4147-A177-3AD203B41FA5}">
                          <a16:colId xmlns:a16="http://schemas.microsoft.com/office/drawing/2014/main" val="3267783334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672404366"/>
                        </a:ext>
                      </a:extLst>
                    </a:gridCol>
                    <a:gridCol w="1463040">
                      <a:extLst>
                        <a:ext uri="{9D8B030D-6E8A-4147-A177-3AD203B41FA5}">
                          <a16:colId xmlns:a16="http://schemas.microsoft.com/office/drawing/2014/main" val="1121694371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1796022777"/>
                        </a:ext>
                      </a:extLst>
                    </a:gridCol>
                  </a:tblGrid>
                  <a:tr h="1458532">
                    <a:tc>
                      <a:txBody>
                        <a:bodyPr/>
                        <a:lstStyle/>
                        <a:p>
                          <a:pPr marL="102235" marR="0" indent="-10223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Expression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Sign of Quotient Using the Rules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Quotient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Did the Same Rule Apply?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4111260"/>
                      </a:ext>
                    </a:extLst>
                  </a:tr>
                  <a:tr h="8023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32" t="-181250" r="-207447" b="-226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38205791"/>
                      </a:ext>
                    </a:extLst>
                  </a:tr>
                  <a:tr h="7955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32" t="-290323" r="-207447" b="-1338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00546062"/>
                      </a:ext>
                    </a:extLst>
                  </a:tr>
                  <a:tr h="5160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32" t="-590244" r="-207447" b="-1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32164026"/>
                      </a:ext>
                    </a:extLst>
                  </a:tr>
                  <a:tr h="5160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32" t="-690244" r="-207447" b="-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4794848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1564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5D1B9F-A752-AD42-8D60-9B883A251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282" y="389531"/>
            <a:ext cx="10457521" cy="2141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sentence.</a:t>
            </a:r>
          </a:p>
          <a:p>
            <a:pPr marL="463550" indent="-12700">
              <a:lnSpc>
                <a:spcPct val="250000"/>
              </a:lnSpc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rules for dividing rational numbers are the 		 integer rules for division. </a:t>
            </a:r>
          </a:p>
        </p:txBody>
      </p:sp>
      <p:sp>
        <p:nvSpPr>
          <p:cNvPr id="9" name="Rectangle: Rounded Corners 24"/>
          <p:cNvSpPr/>
          <p:nvPr/>
        </p:nvSpPr>
        <p:spPr>
          <a:xfrm>
            <a:off x="8510712" y="971887"/>
            <a:ext cx="2834640" cy="976579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07000"/>
              </a:lnSpc>
              <a:buFont typeface="Courier New"/>
              <a:buChar char="o"/>
            </a:pPr>
            <a:r>
              <a:rPr lang="en-US" sz="2400" dirty="0">
                <a:latin typeface="Verdana" pitchFamily="34" charset="0"/>
                <a:ea typeface="Verdana" pitchFamily="34" charset="0"/>
                <a:cs typeface="Times New Roman"/>
              </a:rPr>
              <a:t>the same as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Courier New"/>
              <a:buChar char="o"/>
            </a:pPr>
            <a:r>
              <a:rPr lang="en-US" sz="2400" dirty="0">
                <a:latin typeface="Verdana" pitchFamily="34" charset="0"/>
                <a:ea typeface="Verdana" pitchFamily="34" charset="0"/>
                <a:cs typeface="Times New Roman"/>
              </a:rPr>
              <a:t>different from</a:t>
            </a:r>
          </a:p>
        </p:txBody>
      </p:sp>
    </p:spTree>
    <p:extLst>
      <p:ext uri="{BB962C8B-B14F-4D97-AF65-F5344CB8AC3E}">
        <p14:creationId xmlns:p14="http://schemas.microsoft.com/office/powerpoint/2010/main" val="40951143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914876" y="2766150"/>
            <a:ext cx="716161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3.png" descr="Icon&#10;&#10;Description automatically generated">
            <a:extLst>
              <a:ext uri="{FF2B5EF4-FFF2-40B4-BE49-F238E27FC236}">
                <a16:creationId xmlns:a16="http://schemas.microsoft.com/office/drawing/2014/main" id="{0D19F6B6-A388-1443-A380-52938AB2312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52928"/>
            <a:ext cx="1158151" cy="1158151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4827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7464" y="-12622"/>
            <a:ext cx="1059792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3.4.4 Guided Practice: Finding Quotients of Rational Numbers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208A00-51E7-C544-ABDE-AE9DC3DAA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331" y="1555191"/>
            <a:ext cx="1059791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Circle the expressions that will result in a positive quotient. </a:t>
            </a:r>
          </a:p>
        </p:txBody>
      </p:sp>
      <p:pic>
        <p:nvPicPr>
          <p:cNvPr id="10" name="image3.png" descr="Icon&#10;&#10;Description automatically generated">
            <a:extLst>
              <a:ext uri="{FF2B5EF4-FFF2-40B4-BE49-F238E27FC236}">
                <a16:creationId xmlns:a16="http://schemas.microsoft.com/office/drawing/2014/main" id="{7A2D9D50-9448-8245-B927-6E7175407A67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47432" cy="747432"/>
          </a:xfrm>
          <a:prstGeom prst="rect">
            <a:avLst/>
          </a:prstGeom>
          <a:ln/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5C44F3B-727B-B14A-88DF-B405DAB27B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3765247"/>
                  </p:ext>
                </p:extLst>
              </p:nvPr>
            </p:nvGraphicFramePr>
            <p:xfrm>
              <a:off x="1856232" y="2410523"/>
              <a:ext cx="7040880" cy="203695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468880">
                      <a:extLst>
                        <a:ext uri="{9D8B030D-6E8A-4147-A177-3AD203B41FA5}">
                          <a16:colId xmlns:a16="http://schemas.microsoft.com/office/drawing/2014/main" val="346234686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1778843753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127517569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Pre>
                                  <m:sPre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9.655 ÷0.5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PH" sz="20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91440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0.068 ÷ </m:t>
                                </m:r>
                                <m:sPre>
                                  <m:sPre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0.01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PH" sz="20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91440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Pre>
                                  <m:sPrePr>
                                    <m:ctrlPr>
                                      <a:rPr lang="x-none" sz="2000" i="1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14.628</m:t>
                                    </m:r>
                                  </m:e>
                                </m:sPre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÷ </m:t>
                                </m:r>
                                <m:sPre>
                                  <m:sPre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4.6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PH" sz="20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8344481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16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÷ </m:t>
                                </m:r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8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15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x-none" sz="20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91440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9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6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÷ </m:t>
                                </m:r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x-none" sz="20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91440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÷ 2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433953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5C44F3B-727B-B14A-88DF-B405DAB27B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3765247"/>
                  </p:ext>
                </p:extLst>
              </p:nvPr>
            </p:nvGraphicFramePr>
            <p:xfrm>
              <a:off x="1856232" y="2410523"/>
              <a:ext cx="7040880" cy="203695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468880">
                      <a:extLst>
                        <a:ext uri="{9D8B030D-6E8A-4147-A177-3AD203B41FA5}">
                          <a16:colId xmlns:a16="http://schemas.microsoft.com/office/drawing/2014/main" val="346234686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1778843753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1275175694"/>
                        </a:ext>
                      </a:extLst>
                    </a:gridCol>
                  </a:tblGrid>
                  <a:tr h="130416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91440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r="-185432" b="-565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91440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89800" r="-66519" b="-565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285333" b="-565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3444812"/>
                      </a:ext>
                    </a:extLst>
                  </a:tr>
                  <a:tr h="732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91440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176860" r="-185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91440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89800" t="-176860" r="-66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285333" t="-1768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33953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82521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C5D1B9F-A752-AD42-8D60-9B883A2514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6843" y="446563"/>
                <a:ext cx="10994113" cy="13301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Write a division sentence in the form of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÷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where the value of 𝑎 is a number </a:t>
                </a:r>
                <a:r>
                  <a:rPr lang="en-US" altLang="en-US" sz="2000" b="1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between</a:t>
                </a: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15.1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16.2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𝑏 is a number </a:t>
                </a:r>
                <a:r>
                  <a:rPr lang="en-US" altLang="en-US" sz="2000" b="1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between</a:t>
                </a: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PrePr>
                      <m:sub/>
                      <m:sup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p>
                      <m:e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4.6</m:t>
                        </m:r>
                      </m:e>
                    </m:sPre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PrePr>
                      <m:sub/>
                      <m:sup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p>
                      <m:e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3.3</m:t>
                        </m:r>
                      </m:e>
                    </m:sPre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value of the quotient?</a:t>
                </a: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C5D1B9F-A752-AD42-8D60-9B883A2514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6843" y="446563"/>
                <a:ext cx="10994113" cy="1330108"/>
              </a:xfrm>
              <a:prstGeom prst="rect">
                <a:avLst/>
              </a:prstGeom>
              <a:blipFill>
                <a:blip r:embed="rId4"/>
                <a:stretch>
                  <a:fillRect l="-610" t="-2752" b="-779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2021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2247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13.png" descr="Icon&#10;&#10;Description automatically generated">
            <a:extLst>
              <a:ext uri="{FF2B5EF4-FFF2-40B4-BE49-F238E27FC236}">
                <a16:creationId xmlns:a16="http://schemas.microsoft.com/office/drawing/2014/main" id="{32268E94-E434-4940-9512-03AE3A0DAF31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52928"/>
            <a:ext cx="1158151" cy="1158151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5110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22799" y="296374"/>
            <a:ext cx="8306646" cy="562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3.4.5 Your Turn!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208A00-51E7-C544-ABDE-AE9DC3DAA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950" y="1215087"/>
            <a:ext cx="78018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 the value of each expression.</a:t>
            </a:r>
          </a:p>
        </p:txBody>
      </p:sp>
      <p:pic>
        <p:nvPicPr>
          <p:cNvPr id="8" name="image13.png" descr="Icon&#10;&#10;Description automatically generated">
            <a:extLst>
              <a:ext uri="{FF2B5EF4-FFF2-40B4-BE49-F238E27FC236}">
                <a16:creationId xmlns:a16="http://schemas.microsoft.com/office/drawing/2014/main" id="{2547E01E-671D-5741-BE6A-2442400C6323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52669" cy="752669"/>
          </a:xfrm>
          <a:prstGeom prst="rect">
            <a:avLst/>
          </a:prstGeom>
          <a:ln/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2D2AAD3-FEB4-6A4C-AA4D-51AD07F8D9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595496"/>
                  </p:ext>
                </p:extLst>
              </p:nvPr>
            </p:nvGraphicFramePr>
            <p:xfrm>
              <a:off x="1222799" y="1971655"/>
              <a:ext cx="6866890" cy="30683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433445">
                      <a:extLst>
                        <a:ext uri="{9D8B030D-6E8A-4147-A177-3AD203B41FA5}">
                          <a16:colId xmlns:a16="http://schemas.microsoft.com/office/drawing/2014/main" val="3188548250"/>
                        </a:ext>
                      </a:extLst>
                    </a:gridCol>
                    <a:gridCol w="3433445">
                      <a:extLst>
                        <a:ext uri="{9D8B030D-6E8A-4147-A177-3AD203B41FA5}">
                          <a16:colId xmlns:a16="http://schemas.microsoft.com/office/drawing/2014/main" val="1448375475"/>
                        </a:ext>
                      </a:extLst>
                    </a:gridCol>
                  </a:tblGrid>
                  <a:tr h="2361565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/>
                          </a:pPr>
                          <a:r>
                            <a:rPr lang="x-none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−3</m:t>
                                  </m:r>
                                  <m:f>
                                    <m:fPr>
                                      <m:ctrlPr>
                                        <a:rPr lang="x-non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9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÷</m:t>
                              </m:r>
                              <m:d>
                                <m:d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  <m:f>
                                    <m:fPr>
                                      <m:ctrlPr>
                                        <a:rPr lang="x-non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 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lvl="0" indent="-4572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2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70.62÷</m:t>
                              </m:r>
                              <m:sPre>
                                <m:sPre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PrePr>
                                <m:sub/>
                                <m:sup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</m:sup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160.5</m:t>
                                  </m:r>
                                </m:e>
                              </m:sPre>
                            </m:oMath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9144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7112844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2D2AAD3-FEB4-6A4C-AA4D-51AD07F8D9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595496"/>
                  </p:ext>
                </p:extLst>
              </p:nvPr>
            </p:nvGraphicFramePr>
            <p:xfrm>
              <a:off x="1222799" y="1971655"/>
              <a:ext cx="6866890" cy="30683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433445">
                      <a:extLst>
                        <a:ext uri="{9D8B030D-6E8A-4147-A177-3AD203B41FA5}">
                          <a16:colId xmlns:a16="http://schemas.microsoft.com/office/drawing/2014/main" val="3188548250"/>
                        </a:ext>
                      </a:extLst>
                    </a:gridCol>
                    <a:gridCol w="3433445">
                      <a:extLst>
                        <a:ext uri="{9D8B030D-6E8A-4147-A177-3AD203B41FA5}">
                          <a16:colId xmlns:a16="http://schemas.microsoft.com/office/drawing/2014/main" val="1448375475"/>
                        </a:ext>
                      </a:extLst>
                    </a:gridCol>
                  </a:tblGrid>
                  <a:tr h="3068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112844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20476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E99E18B-C94D-B248-BA3B-7CF3CFD995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547950"/>
                  </p:ext>
                </p:extLst>
              </p:nvPr>
            </p:nvGraphicFramePr>
            <p:xfrm>
              <a:off x="1239388" y="615268"/>
              <a:ext cx="10855046" cy="467926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6461661">
                      <a:extLst>
                        <a:ext uri="{9D8B030D-6E8A-4147-A177-3AD203B41FA5}">
                          <a16:colId xmlns:a16="http://schemas.microsoft.com/office/drawing/2014/main" val="3525666546"/>
                        </a:ext>
                      </a:extLst>
                    </a:gridCol>
                    <a:gridCol w="4393385">
                      <a:extLst>
                        <a:ext uri="{9D8B030D-6E8A-4147-A177-3AD203B41FA5}">
                          <a16:colId xmlns:a16="http://schemas.microsoft.com/office/drawing/2014/main" val="1818793714"/>
                        </a:ext>
                      </a:extLst>
                    </a:gridCol>
                  </a:tblGrid>
                  <a:tr h="2737057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3"/>
                          </a:pPr>
                          <a:r>
                            <a:rPr lang="x-none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  <m:f>
                                    <m:fPr>
                                      <m:ctrlPr>
                                        <a:rPr lang="x-non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6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7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÷</m:t>
                              </m:r>
                              <m:d>
                                <m:d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−5</m:t>
                                  </m:r>
                                  <m:f>
                                    <m:fPr>
                                      <m:ctrlPr>
                                        <a:rPr lang="x-non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9607" marR="59607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4"/>
                          </a:pPr>
                          <a:r>
                            <a:rPr lang="x-none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Pre>
                                <m:sPre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PrePr>
                                <m:sub/>
                                <m:sup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</m:sup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44.64</m:t>
                                  </m:r>
                                </m:e>
                              </m:sPre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÷</m:t>
                              </m:r>
                              <m:sPre>
                                <m:sPre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PrePr>
                                <m:sub/>
                                <m:sup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</m:sup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2.88</m:t>
                                  </m:r>
                                </m:e>
                              </m:sPre>
                            </m:oMath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9607" marR="59607" marT="9144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64861689"/>
                      </a:ext>
                    </a:extLst>
                  </a:tr>
                  <a:tr h="1942207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5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÷</m:t>
                              </m:r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68580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9607" marR="59607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6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−45.018÷(−7.32)</m:t>
                              </m:r>
                            </m:oMath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9607" marR="59607" marT="9144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1686286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E99E18B-C94D-B248-BA3B-7CF3CFD995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547950"/>
                  </p:ext>
                </p:extLst>
              </p:nvPr>
            </p:nvGraphicFramePr>
            <p:xfrm>
              <a:off x="1239388" y="615268"/>
              <a:ext cx="10855046" cy="467926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6461661">
                      <a:extLst>
                        <a:ext uri="{9D8B030D-6E8A-4147-A177-3AD203B41FA5}">
                          <a16:colId xmlns:a16="http://schemas.microsoft.com/office/drawing/2014/main" val="3525666546"/>
                        </a:ext>
                      </a:extLst>
                    </a:gridCol>
                    <a:gridCol w="4393385">
                      <a:extLst>
                        <a:ext uri="{9D8B030D-6E8A-4147-A177-3AD203B41FA5}">
                          <a16:colId xmlns:a16="http://schemas.microsoft.com/office/drawing/2014/main" val="1818793714"/>
                        </a:ext>
                      </a:extLst>
                    </a:gridCol>
                  </a:tblGrid>
                  <a:tr h="27370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607" marR="59607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r="-68019" b="-70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607" marR="59607" marT="9144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147018" b="-70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4861689"/>
                      </a:ext>
                    </a:extLst>
                  </a:tr>
                  <a:tr h="19422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607" marR="59607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t="-141066" r="-680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607" marR="59607" marT="9144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147018" t="-1410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686286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536208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855625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37332" y="335106"/>
            <a:ext cx="8019300" cy="47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3.4.6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E281112-0763-C941-9DB7-9B28C4EA4745}"/>
              </a:ext>
            </a:extLst>
          </p:cNvPr>
          <p:cNvSpPr/>
          <p:nvPr/>
        </p:nvSpPr>
        <p:spPr>
          <a:xfrm>
            <a:off x="730266" y="1136885"/>
            <a:ext cx="1129833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Draw an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on each line to indicate where your current learning is in relation to each statement. Then, provide a brief explanation or evidence to support your self-assessment. 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correctly decide the sign of the quotient when dividing rational numbers.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Evidence: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1DAE898-3C11-B244-8DA4-CBC9AF74F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818831"/>
              </p:ext>
            </p:extLst>
          </p:nvPr>
        </p:nvGraphicFramePr>
        <p:xfrm>
          <a:off x="2493234" y="3244315"/>
          <a:ext cx="7772400" cy="1052576"/>
        </p:xfrm>
        <a:graphic>
          <a:graphicData uri="http://schemas.openxmlformats.org/drawingml/2006/table">
            <a:tbl>
              <a:tblPr firstRow="1" firstCol="1" bandRow="1"/>
              <a:tblGrid>
                <a:gridCol w="2743200">
                  <a:extLst>
                    <a:ext uri="{9D8B030D-6E8A-4147-A177-3AD203B41FA5}">
                      <a16:colId xmlns:a16="http://schemas.microsoft.com/office/drawing/2014/main" val="2558979148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25635657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33121028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 need help. </a:t>
                      </a:r>
                      <a:b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 can’t get started. 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I’m getting there.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 understand and have evidence. 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391031"/>
                  </a:ext>
                </a:extLst>
              </a:tr>
              <a:tr h="417830"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x-none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368252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0FCBB9-5835-8E48-A772-8D5056BC7E09}"/>
              </a:ext>
            </a:extLst>
          </p:cNvPr>
          <p:cNvCxnSpPr/>
          <p:nvPr/>
        </p:nvCxnSpPr>
        <p:spPr>
          <a:xfrm>
            <a:off x="2670175" y="4211637"/>
            <a:ext cx="7607576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E281112-0763-C941-9DB7-9B28C4EA4745}"/>
              </a:ext>
            </a:extLst>
          </p:cNvPr>
          <p:cNvSpPr/>
          <p:nvPr/>
        </p:nvSpPr>
        <p:spPr>
          <a:xfrm>
            <a:off x="612450" y="518099"/>
            <a:ext cx="10247228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fluently divide rational numbers that are fractions.</a:t>
            </a: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Evidence:</a:t>
            </a:r>
          </a:p>
          <a:p>
            <a:pPr marL="457200"/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fluently divide rational numbers that are decimals.</a:t>
            </a: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Evidence: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1DAE898-3C11-B244-8DA4-CBC9AF74F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26948"/>
              </p:ext>
            </p:extLst>
          </p:nvPr>
        </p:nvGraphicFramePr>
        <p:xfrm>
          <a:off x="2651263" y="1257207"/>
          <a:ext cx="7772400" cy="1052576"/>
        </p:xfrm>
        <a:graphic>
          <a:graphicData uri="http://schemas.openxmlformats.org/drawingml/2006/table">
            <a:tbl>
              <a:tblPr firstRow="1" firstCol="1" bandRow="1"/>
              <a:tblGrid>
                <a:gridCol w="2743200">
                  <a:extLst>
                    <a:ext uri="{9D8B030D-6E8A-4147-A177-3AD203B41FA5}">
                      <a16:colId xmlns:a16="http://schemas.microsoft.com/office/drawing/2014/main" val="2558979148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25635657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33121028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 need help. </a:t>
                      </a:r>
                      <a:b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 can’t get started. </a:t>
                      </a:r>
                      <a:endParaRPr lang="x-none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I’m getting there.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 understand and have evidence. 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391031"/>
                  </a:ext>
                </a:extLst>
              </a:tr>
              <a:tr h="417830"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x-none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368252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50FCBB9-5835-8E48-A772-8D5056BC7E09}"/>
              </a:ext>
            </a:extLst>
          </p:cNvPr>
          <p:cNvCxnSpPr/>
          <p:nvPr/>
        </p:nvCxnSpPr>
        <p:spPr>
          <a:xfrm>
            <a:off x="2651263" y="2146416"/>
            <a:ext cx="7607576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1DAE898-3C11-B244-8DA4-CBC9AF74F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467010"/>
              </p:ext>
            </p:extLst>
          </p:nvPr>
        </p:nvGraphicFramePr>
        <p:xfrm>
          <a:off x="2651263" y="4345453"/>
          <a:ext cx="7772400" cy="1052576"/>
        </p:xfrm>
        <a:graphic>
          <a:graphicData uri="http://schemas.openxmlformats.org/drawingml/2006/table">
            <a:tbl>
              <a:tblPr firstRow="1" firstCol="1" bandRow="1"/>
              <a:tblGrid>
                <a:gridCol w="2743200">
                  <a:extLst>
                    <a:ext uri="{9D8B030D-6E8A-4147-A177-3AD203B41FA5}">
                      <a16:colId xmlns:a16="http://schemas.microsoft.com/office/drawing/2014/main" val="2558979148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25635657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33121028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 need help. </a:t>
                      </a:r>
                      <a:b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 can’t get started. 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I’m getting there.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 understand and have evidence. 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391031"/>
                  </a:ext>
                </a:extLst>
              </a:tr>
              <a:tr h="417830"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x-none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368252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50FCBB9-5835-8E48-A772-8D5056BC7E09}"/>
              </a:ext>
            </a:extLst>
          </p:cNvPr>
          <p:cNvCxnSpPr/>
          <p:nvPr/>
        </p:nvCxnSpPr>
        <p:spPr>
          <a:xfrm>
            <a:off x="2651125" y="5266752"/>
            <a:ext cx="7607576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629711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3230</TotalTime>
  <Words>968</Words>
  <Application>Microsoft Office PowerPoint</Application>
  <PresentationFormat>Widescreen</PresentationFormat>
  <Paragraphs>197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Calibri</vt:lpstr>
      <vt:lpstr>Arial Black</vt:lpstr>
      <vt:lpstr>Cambria Math</vt:lpstr>
      <vt:lpstr>Courier New</vt:lpstr>
      <vt:lpstr>Arial</vt:lpstr>
      <vt:lpstr>Verdana</vt:lpstr>
      <vt:lpstr>Wingdings</vt:lpstr>
      <vt:lpstr>Century Gothic</vt:lpstr>
      <vt:lpstr>1_Office Theme</vt:lpstr>
      <vt:lpstr>7th Grade Math  Unit 3, Lesson 4  Dividing Rational Numbers  Volume 1, pg. 100  </vt:lpstr>
      <vt:lpstr>Benchmark</vt:lpstr>
      <vt:lpstr>PowerPoint Presentation</vt:lpstr>
      <vt:lpstr>PowerPoint Presentation</vt:lpstr>
      <vt:lpstr>Warm-Up</vt:lpstr>
      <vt:lpstr>PowerPoint Presentation</vt:lpstr>
      <vt:lpstr>Refresher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49</cp:revision>
  <dcterms:created xsi:type="dcterms:W3CDTF">2015-03-17T18:51:18Z</dcterms:created>
  <dcterms:modified xsi:type="dcterms:W3CDTF">2022-06-07T14:39:24Z</dcterms:modified>
</cp:coreProperties>
</file>