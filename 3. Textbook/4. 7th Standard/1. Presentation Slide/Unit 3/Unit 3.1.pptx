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345" r:id="rId4"/>
    <p:sldId id="286" r:id="rId5"/>
    <p:sldId id="261" r:id="rId6"/>
    <p:sldId id="287" r:id="rId7"/>
    <p:sldId id="381" r:id="rId8"/>
    <p:sldId id="346" r:id="rId9"/>
    <p:sldId id="347" r:id="rId10"/>
    <p:sldId id="349" r:id="rId11"/>
    <p:sldId id="350" r:id="rId12"/>
    <p:sldId id="314" r:id="rId13"/>
    <p:sldId id="315" r:id="rId14"/>
    <p:sldId id="376" r:id="rId15"/>
    <p:sldId id="377" r:id="rId16"/>
    <p:sldId id="378" r:id="rId17"/>
    <p:sldId id="394" r:id="rId18"/>
    <p:sldId id="401" r:id="rId19"/>
    <p:sldId id="402" r:id="rId20"/>
    <p:sldId id="406" r:id="rId21"/>
    <p:sldId id="395" r:id="rId22"/>
    <p:sldId id="396" r:id="rId23"/>
    <p:sldId id="398" r:id="rId24"/>
    <p:sldId id="404" r:id="rId25"/>
    <p:sldId id="399" r:id="rId26"/>
    <p:sldId id="400" r:id="rId27"/>
    <p:sldId id="306" r:id="rId28"/>
    <p:sldId id="307" r:id="rId29"/>
  </p:sldIdLst>
  <p:sldSz cx="12192000" cy="6858000"/>
  <p:notesSz cx="6858000" cy="9144000"/>
  <p:embeddedFontLst>
    <p:embeddedFont>
      <p:font typeface="Arial Black" panose="020B0A04020102020204" pitchFamily="34" charset="0"/>
      <p:bold r:id="rId31"/>
    </p:embeddedFont>
    <p:embeddedFont>
      <p:font typeface="Calibri" panose="020F0502020204030204" pitchFamily="34" charset="0"/>
      <p:regular r:id="rId32"/>
      <p:bold r:id="rId33"/>
      <p:italic r:id="rId34"/>
      <p:boldItalic r:id="rId35"/>
    </p:embeddedFont>
    <p:embeddedFont>
      <p:font typeface="Cambria Math" panose="02040503050406030204" pitchFamily="18" charset="0"/>
      <p:regular r:id="rId36"/>
    </p:embeddedFont>
    <p:embeddedFont>
      <p:font typeface="Century Gothic" panose="020B0502020202020204" pitchFamily="34" charset="0"/>
      <p:regular r:id="rId37"/>
      <p:bold r:id="rId38"/>
      <p:italic r:id="rId39"/>
      <p:boldItalic r:id="rId40"/>
    </p:embeddedFont>
    <p:embeddedFont>
      <p:font typeface="Verdana" panose="020B0604030504040204" pitchFamily="34"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4E5F"/>
    <a:srgbClr val="FABB42"/>
    <a:srgbClr val="F79B59"/>
    <a:srgbClr val="F26763"/>
    <a:srgbClr val="1765AD"/>
    <a:srgbClr val="1664AC"/>
    <a:srgbClr val="BFBFBF"/>
    <a:srgbClr val="C9DF6F"/>
    <a:srgbClr val="417DBF"/>
    <a:srgbClr val="3F2A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32" autoAdjust="0"/>
    <p:restoredTop sz="94609" autoAdjust="0"/>
  </p:normalViewPr>
  <p:slideViewPr>
    <p:cSldViewPr snapToGrid="0">
      <p:cViewPr varScale="1">
        <p:scale>
          <a:sx n="77" d="100"/>
          <a:sy n="77" d="100"/>
        </p:scale>
        <p:origin x="918"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1.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56"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9597046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1191503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838804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9172432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4301364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8606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22949622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869113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40664813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8910189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2960196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0242302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0242302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37187262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1820521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5931289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29023106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29902234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745123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50.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5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300.png"/><Relationship Id="rId5" Type="http://schemas.openxmlformats.org/officeDocument/2006/relationships/image" Target="../media/image30.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image" Target="../media/image37.pn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468431" y="2212771"/>
            <a:ext cx="5077650"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7</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3, Lesson 1</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Adding Rational Numbers</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2400" b="1" dirty="0">
                <a:solidFill>
                  <a:srgbClr val="417DBF"/>
                </a:solidFill>
                <a:latin typeface="Verdana"/>
                <a:ea typeface="Verdana"/>
                <a:cs typeface="Verdana"/>
                <a:sym typeface="Verdana"/>
              </a:rPr>
              <a:t>Volume 1, pg. 85</a:t>
            </a:r>
          </a:p>
          <a:p>
            <a:pPr algn="ctr">
              <a:lnSpc>
                <a:spcPct val="100000"/>
              </a:lnSpc>
              <a:buClr>
                <a:srgbClr val="000000"/>
              </a:buClr>
            </a:pPr>
            <a:endParaRPr lang="en-US" sz="3200" b="1" dirty="0">
              <a:solidFill>
                <a:srgbClr val="417DBF"/>
              </a:solidFill>
              <a:latin typeface="Verdana"/>
              <a:ea typeface="Verdana"/>
              <a:cs typeface="Verdana"/>
              <a:sym typeface="Verdana"/>
            </a:endParaRPr>
          </a:p>
          <a:p>
            <a:pPr algn="ctr">
              <a:lnSpc>
                <a:spcPct val="75000"/>
              </a:lnSpc>
            </a:pPr>
            <a:endParaRPr lang="en-US" sz="28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90357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37332" y="-88032"/>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85</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730266" y="1401935"/>
            <a:ext cx="1114688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500" dirty="0">
                <a:latin typeface="Verdana" panose="020B0604030504040204" pitchFamily="34" charset="0"/>
                <a:ea typeface="Verdana" panose="020B0604030504040204" pitchFamily="34" charset="0"/>
                <a:cs typeface="Verdana" panose="020B0604030504040204" pitchFamily="34" charset="0"/>
              </a:rPr>
              <a:t>MA.7.NSO.2.2</a:t>
            </a:r>
          </a:p>
          <a:p>
            <a:pPr marL="552450" lvl="1" indent="0">
              <a:buNone/>
            </a:pPr>
            <a:r>
              <a:rPr lang="en-US" sz="3500" dirty="0">
                <a:latin typeface="Verdana" panose="020B0604030504040204" pitchFamily="34" charset="0"/>
                <a:ea typeface="Verdana" panose="020B0604030504040204" pitchFamily="34" charset="0"/>
                <a:cs typeface="Verdana" panose="020B0604030504040204" pitchFamily="34" charset="0"/>
              </a:rPr>
              <a:t>Add, subtract, multiply, and divide rational numbers with procedural fluency.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id="{78632872-3F42-3447-924A-20A16C6976F7}"/>
              </a:ext>
            </a:extLst>
          </p:cNvPr>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Google Shape;281;g104476d1465_1_17">
            <a:extLst>
              <a:ext uri="{FF2B5EF4-FFF2-40B4-BE49-F238E27FC236}">
                <a16:creationId xmlns:a16="http://schemas.microsoft.com/office/drawing/2014/main" id="{D915A027-4791-D04E-90A8-9E6239ED88EB}"/>
              </a:ext>
            </a:extLst>
          </p:cNvPr>
          <p:cNvPicPr preferRelativeResize="0"/>
          <p:nvPr/>
        </p:nvPicPr>
        <p:blipFill>
          <a:blip r:embed="rId2">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4" name="Google Shape;283;g104476d1465_1_17">
            <a:extLst>
              <a:ext uri="{FF2B5EF4-FFF2-40B4-BE49-F238E27FC236}">
                <a16:creationId xmlns:a16="http://schemas.microsoft.com/office/drawing/2014/main" id="{983DCB5F-2CE8-A74F-A579-F39E2E9337FB}"/>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id="{73A67FE7-C13F-C24F-85E9-A4B96A1F42A8}"/>
              </a:ext>
            </a:extLst>
          </p:cNvPr>
          <p:cNvSpPr txBox="1">
            <a:spLocks/>
          </p:cNvSpPr>
          <p:nvPr/>
        </p:nvSpPr>
        <p:spPr>
          <a:xfrm>
            <a:off x="1125875" y="-88032"/>
            <a:ext cx="1080151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7" name="Google Shape;296;g103996e1364_0_10">
            <a:extLst>
              <a:ext uri="{FF2B5EF4-FFF2-40B4-BE49-F238E27FC236}">
                <a16:creationId xmlns:a16="http://schemas.microsoft.com/office/drawing/2014/main" id="{5BB4D65A-27E8-4F4F-9348-5380FE318E8D}"/>
              </a:ext>
            </a:extLst>
          </p:cNvPr>
          <p:cNvSpPr txBox="1">
            <a:spLocks/>
          </p:cNvSpPr>
          <p:nvPr/>
        </p:nvSpPr>
        <p:spPr>
          <a:xfrm>
            <a:off x="730265" y="1237668"/>
            <a:ext cx="10604275" cy="47452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9" name="Google Shape;282;g104476d1465_1_17">
            <a:extLst>
              <a:ext uri="{FF2B5EF4-FFF2-40B4-BE49-F238E27FC236}">
                <a16:creationId xmlns:a16="http://schemas.microsoft.com/office/drawing/2014/main" id="{37CC83FF-5C83-CD42-A75D-B443F14E1C19}"/>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85</a:t>
            </a:r>
            <a:endParaRPr i="1" dirty="0">
              <a:latin typeface="Calibri"/>
              <a:ea typeface="Calibri"/>
              <a:cs typeface="Calibri"/>
              <a:sym typeface="Calibri"/>
            </a:endParaRPr>
          </a:p>
        </p:txBody>
      </p:sp>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58888" y="-8803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730265" y="1326150"/>
            <a:ext cx="10785145"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36575" indent="-536575">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fluently add rational numbers.</a:t>
            </a:r>
          </a:p>
        </p:txBody>
      </p:sp>
      <p:sp>
        <p:nvSpPr>
          <p:cNvPr id="9" name="Google Shape;282;g104476d1465_1_17">
            <a:extLst>
              <a:ext uri="{FF2B5EF4-FFF2-40B4-BE49-F238E27FC236}">
                <a16:creationId xmlns:a16="http://schemas.microsoft.com/office/drawing/2014/main" id="{E147E8E3-844B-6A49-A77E-05F3246D39F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85</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216517" y="2766150"/>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43D2F04D-C861-A149-B5F8-A913FBED75AE}"/>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85</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37332" y="270220"/>
            <a:ext cx="10730255"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3.1.1 Warm-Up: Landscape Architect</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730266" y="1356055"/>
            <a:ext cx="11076547" cy="3785652"/>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Janice Nicol, a landscape architect, works to design natural systems and outdoor spaces, like trails and parks, for campuses and recreational facilities. Her job is both creative and technical. Creativity is expressed through drawing sketches both by hand and by using computer design programs and imaging. The technical side of her job involves knowing things such as land grading, water calculations, and natural systems.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Janice mentions that she regularly collaborates and works together with others while doing her job.</a:t>
            </a:r>
          </a:p>
        </p:txBody>
      </p:sp>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Google Shape;282;g104476d1465_1_17">
            <a:extLst>
              <a:ext uri="{FF2B5EF4-FFF2-40B4-BE49-F238E27FC236}">
                <a16:creationId xmlns:a16="http://schemas.microsoft.com/office/drawing/2014/main" id="{0CD40667-98C3-7A43-A8EC-50FA988E094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85</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563244" y="381000"/>
            <a:ext cx="11223472" cy="3785652"/>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Why do you think it is important to be able to collaborate when doing a job?</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How can you build your collaboration skills?</a:t>
            </a:r>
          </a:p>
        </p:txBody>
      </p:sp>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Google Shape;282;g104476d1465_1_17">
            <a:extLst>
              <a:ext uri="{FF2B5EF4-FFF2-40B4-BE49-F238E27FC236}">
                <a16:creationId xmlns:a16="http://schemas.microsoft.com/office/drawing/2014/main" id="{0CD40667-98C3-7A43-A8EC-50FA988E094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85</a:t>
            </a:r>
            <a:endParaRPr i="1" dirty="0">
              <a:latin typeface="Calibri"/>
              <a:ea typeface="Calibri"/>
              <a:cs typeface="Calibri"/>
              <a:sym typeface="Calibri"/>
            </a:endParaRPr>
          </a:p>
        </p:txBody>
      </p:sp>
    </p:spTree>
    <p:extLst>
      <p:ext uri="{BB962C8B-B14F-4D97-AF65-F5344CB8AC3E}">
        <p14:creationId xmlns:p14="http://schemas.microsoft.com/office/powerpoint/2010/main" val="2697970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41060" y="2766150"/>
            <a:ext cx="7324218"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86</a:t>
            </a:r>
            <a:endParaRPr i="1" dirty="0">
              <a:latin typeface="Calibri"/>
              <a:ea typeface="Calibri"/>
              <a:cs typeface="Calibri"/>
              <a:sym typeface="Calibri"/>
            </a:endParaRPr>
          </a:p>
        </p:txBody>
      </p:sp>
      <p:pic>
        <p:nvPicPr>
          <p:cNvPr id="7" name="image2.png" descr="Icon&#10;&#10;Description automatically generated">
            <a:extLst>
              <a:ext uri="{FF2B5EF4-FFF2-40B4-BE49-F238E27FC236}">
                <a16:creationId xmlns:a16="http://schemas.microsoft.com/office/drawing/2014/main" id="{B8663E50-D763-C343-96E8-FEAEDD7FA21B}"/>
              </a:ext>
            </a:extLst>
          </p:cNvPr>
          <p:cNvPicPr/>
          <p:nvPr/>
        </p:nvPicPr>
        <p:blipFill>
          <a:blip r:embed="rId4"/>
          <a:srcRect/>
          <a:stretch>
            <a:fillRect/>
          </a:stretch>
        </p:blipFill>
        <p:spPr>
          <a:xfrm>
            <a:off x="3054096" y="2852928"/>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151888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37462" y="85538"/>
            <a:ext cx="10954537"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3.1.2 Guided Instruction: Adding Positive Rational Numbers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730330" y="1305016"/>
                <a:ext cx="9464419" cy="347787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Adrian added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5.25</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6.4</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b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b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His work is shown.</a:t>
                </a:r>
              </a:p>
              <a:p>
                <a:pPr marL="889000"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889000" indent="-457200" eaLnBrk="0" fontAlgn="base" hangingPunct="0">
                  <a:spcBef>
                    <a:spcPct val="0"/>
                  </a:spcBef>
                  <a:spcAft>
                    <a:spcPct val="0"/>
                  </a:spcAft>
                  <a:buClrTx/>
                  <a:buFont typeface="+mj-lt"/>
                  <a:buAutoNum type="alphaL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Write an explanation to </a:t>
                </a:r>
                <a:b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b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Adrian detailing any mistakes </a:t>
                </a:r>
                <a:b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b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he made and how he can </a:t>
                </a:r>
                <a:b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b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correct his work.</a:t>
                </a:r>
              </a:p>
              <a:p>
                <a:pPr marL="889000"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889000"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889000"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889000" indent="-457200" eaLnBrk="0" fontAlgn="base" hangingPunct="0">
                  <a:spcBef>
                    <a:spcPct val="0"/>
                  </a:spcBef>
                  <a:spcAft>
                    <a:spcPct val="0"/>
                  </a:spcAft>
                  <a:buClrTx/>
                  <a:buFont typeface="+mj-lt"/>
                  <a:buAutoNum type="alphaL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What is the sum of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5.25</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6.4</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t>
                </a:r>
              </a:p>
            </p:txBody>
          </p:sp>
        </mc:Choice>
        <mc:Fallback xmlns="">
          <p:sp>
            <p:nvSpPr>
              <p:cNvPr id="4" name="Rectangle 3">
                <a:extLst>
                  <a:ext uri="{FF2B5EF4-FFF2-40B4-BE49-F238E27FC236}">
                    <a16:creationId xmlns:a16="http://schemas.microsoft.com/office/drawing/2014/main" id="{FE208A00-51E7-C544-ABDE-AE9DC3DAAB4C}"/>
                  </a:ext>
                </a:extLst>
              </p:cNvPr>
              <p:cNvSpPr>
                <a:spLocks noRot="1" noChangeAspect="1" noMove="1" noResize="1" noEditPoints="1" noAdjustHandles="1" noChangeArrowheads="1" noChangeShapeType="1" noTextEdit="1"/>
              </p:cNvSpPr>
              <p:nvPr/>
            </p:nvSpPr>
            <p:spPr bwMode="auto">
              <a:xfrm>
                <a:off x="730330" y="1305016"/>
                <a:ext cx="9464419" cy="3477875"/>
              </a:xfrm>
              <a:prstGeom prst="rect">
                <a:avLst/>
              </a:prstGeom>
              <a:blipFill>
                <a:blip r:embed="rId4"/>
                <a:stretch>
                  <a:fillRect l="-670" t="-727" b="-218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9" name="image2.png" descr="Icon&#10;&#10;Description automatically generated">
            <a:extLst>
              <a:ext uri="{FF2B5EF4-FFF2-40B4-BE49-F238E27FC236}">
                <a16:creationId xmlns:a16="http://schemas.microsoft.com/office/drawing/2014/main" id="{77E23D0C-703F-9A43-BC01-6CC2541A0FCE}"/>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356616" y="201168"/>
            <a:ext cx="747431" cy="747431"/>
          </a:xfrm>
          <a:prstGeom prst="rect">
            <a:avLst/>
          </a:prstGeom>
          <a:ln/>
        </p:spPr>
      </p:pic>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D6822373-1746-2848-9476-221361CF053B}"/>
                  </a:ext>
                </a:extLst>
              </p:cNvPr>
              <p:cNvGraphicFramePr>
                <a:graphicFrameLocks noGrp="1"/>
              </p:cNvGraphicFramePr>
              <p:nvPr>
                <p:extLst>
                  <p:ext uri="{D42A27DB-BD31-4B8C-83A1-F6EECF244321}">
                    <p14:modId xmlns:p14="http://schemas.microsoft.com/office/powerpoint/2010/main" val="902071147"/>
                  </p:ext>
                </p:extLst>
              </p:nvPr>
            </p:nvGraphicFramePr>
            <p:xfrm>
              <a:off x="7314749" y="2075300"/>
              <a:ext cx="2880000" cy="1648968"/>
            </p:xfrm>
            <a:graphic>
              <a:graphicData uri="http://schemas.openxmlformats.org/drawingml/2006/table">
                <a:tbl>
                  <a:tblPr firstRow="1" firstCol="1" bandRow="1">
                    <a:tableStyleId>{A91F0D33-8C57-4600-99A7-42BC86742BE1}</a:tableStyleId>
                  </a:tblPr>
                  <a:tblGrid>
                    <a:gridCol w="2880000">
                      <a:extLst>
                        <a:ext uri="{9D8B030D-6E8A-4147-A177-3AD203B41FA5}">
                          <a16:colId xmlns:a16="http://schemas.microsoft.com/office/drawing/2014/main" val="1799173674"/>
                        </a:ext>
                      </a:extLst>
                    </a:gridCol>
                  </a:tblGrid>
                  <a:tr h="187353">
                    <a:tc>
                      <a:txBody>
                        <a:bodyPr/>
                        <a:lstStyle/>
                        <a:p>
                          <a:pPr marL="0" marR="0" algn="ctr">
                            <a:lnSpc>
                              <a:spcPct val="100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Adrian’s Work</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762762305"/>
                      </a:ext>
                    </a:extLst>
                  </a:tr>
                  <a:tr h="360000">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  5 . 2 5</m:t>
                                </m:r>
                              </m:oMath>
                            </m:oMathPara>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u="sng">
                                    <a:effectLst/>
                                    <a:latin typeface="Cambria Math"/>
                                  </a:rPr>
                                  <m:t>+  6 . 4</m:t>
                                </m:r>
                              </m:oMath>
                            </m:oMathPara>
                          </a14:m>
                          <a:endParaRPr lang="x-none" sz="2000" u="sng"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  5 . 8 9</m:t>
                                </m:r>
                              </m:oMath>
                            </m:oMathPara>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6123627"/>
                      </a:ext>
                    </a:extLst>
                  </a:tr>
                </a:tbl>
              </a:graphicData>
            </a:graphic>
          </p:graphicFrame>
        </mc:Choice>
        <mc:Fallback xmlns="">
          <p:graphicFrame>
            <p:nvGraphicFramePr>
              <p:cNvPr id="2" name="Table 1">
                <a:extLst>
                  <a:ext uri="{FF2B5EF4-FFF2-40B4-BE49-F238E27FC236}">
                    <a16:creationId xmlns:a16="http://schemas.microsoft.com/office/drawing/2014/main" id="{D6822373-1746-2848-9476-221361CF053B}"/>
                  </a:ext>
                </a:extLst>
              </p:cNvPr>
              <p:cNvGraphicFramePr>
                <a:graphicFrameLocks noGrp="1"/>
              </p:cNvGraphicFramePr>
              <p:nvPr>
                <p:extLst>
                  <p:ext uri="{D42A27DB-BD31-4B8C-83A1-F6EECF244321}">
                    <p14:modId xmlns:p14="http://schemas.microsoft.com/office/powerpoint/2010/main" val="902071147"/>
                  </p:ext>
                </p:extLst>
              </p:nvPr>
            </p:nvGraphicFramePr>
            <p:xfrm>
              <a:off x="7314749" y="2075300"/>
              <a:ext cx="2880000" cy="1648968"/>
            </p:xfrm>
            <a:graphic>
              <a:graphicData uri="http://schemas.openxmlformats.org/drawingml/2006/table">
                <a:tbl>
                  <a:tblPr firstRow="1" firstCol="1" bandRow="1">
                    <a:tableStyleId>{A91F0D33-8C57-4600-99A7-42BC86742BE1}</a:tableStyleId>
                  </a:tblPr>
                  <a:tblGrid>
                    <a:gridCol w="2880000">
                      <a:extLst>
                        <a:ext uri="{9D8B030D-6E8A-4147-A177-3AD203B41FA5}">
                          <a16:colId xmlns:a16="http://schemas.microsoft.com/office/drawing/2014/main" val="1799173674"/>
                        </a:ext>
                      </a:extLst>
                    </a:gridCol>
                  </a:tblGrid>
                  <a:tr h="396240">
                    <a:tc>
                      <a:txBody>
                        <a:bodyPr/>
                        <a:lstStyle/>
                        <a:p>
                          <a:pPr marL="0" marR="0" algn="ctr">
                            <a:lnSpc>
                              <a:spcPct val="100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Adrian’s Work</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762762305"/>
                      </a:ext>
                    </a:extLst>
                  </a:tr>
                  <a:tr h="1252728">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t="-34000" r="-877" b="-2000"/>
                          </a:stretch>
                        </a:blipFill>
                      </a:tcPr>
                    </a:tc>
                    <a:extLst>
                      <a:ext uri="{0D108BD9-81ED-4DB2-BD59-A6C34878D82A}">
                        <a16:rowId xmlns:a16="http://schemas.microsoft.com/office/drawing/2014/main" val="1336123627"/>
                      </a:ext>
                    </a:extLst>
                  </a:tr>
                </a:tbl>
              </a:graphicData>
            </a:graphic>
          </p:graphicFrame>
        </mc:Fallback>
      </mc:AlternateContent>
      <p:grpSp>
        <p:nvGrpSpPr>
          <p:cNvPr id="10" name="Group 9"/>
          <p:cNvGrpSpPr/>
          <p:nvPr/>
        </p:nvGrpSpPr>
        <p:grpSpPr>
          <a:xfrm>
            <a:off x="2872606" y="5140997"/>
            <a:ext cx="6480000" cy="830866"/>
            <a:chOff x="1110990" y="3401393"/>
            <a:chExt cx="6480000" cy="830866"/>
          </a:xfrm>
        </p:grpSpPr>
        <p:sp>
          <p:nvSpPr>
            <p:cNvPr id="13" name="Rectangle: Rounded Corners 114">
              <a:extLst>
                <a:ext uri="{FF2B5EF4-FFF2-40B4-BE49-F238E27FC236}">
                  <a16:creationId xmlns:a16="http://schemas.microsoft.com/office/drawing/2014/main" id="{9A6CCBF2-DA2A-774A-AC84-4AF963BD728F}"/>
                </a:ext>
              </a:extLst>
            </p:cNvPr>
            <p:cNvSpPr/>
            <p:nvPr/>
          </p:nvSpPr>
          <p:spPr>
            <a:xfrm>
              <a:off x="1110990" y="3401393"/>
              <a:ext cx="6480000" cy="830866"/>
            </a:xfrm>
            <a:prstGeom prst="roundRect">
              <a:avLst/>
            </a:prstGeom>
            <a:solidFill>
              <a:srgbClr val="B8E7F5"/>
            </a:solidFill>
            <a:ln>
              <a:solidFill>
                <a:srgbClr val="B9E5F7"/>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spAutoFit/>
            </a:bodyPr>
            <a:lstStyle/>
            <a:p>
              <a:pPr marL="633413">
                <a:lnSpc>
                  <a:spcPct val="107000"/>
                </a:lnSpc>
                <a:spcAft>
                  <a:spcPts val="800"/>
                </a:spcAft>
              </a:pPr>
              <a:r>
                <a:rPr lang="en-US" sz="2000" dirty="0">
                  <a:solidFill>
                    <a:srgbClr val="00609E"/>
                  </a:solidFill>
                  <a:latin typeface="Verdana" panose="020B0604030504040204" pitchFamily="34" charset="0"/>
                  <a:ea typeface="Times New Roman" panose="02020603050405020304" pitchFamily="18" charset="0"/>
                  <a:cs typeface="Times New Roman" panose="02020603050405020304" pitchFamily="18" charset="0"/>
                </a:rPr>
                <a:t>When finding the sum of decimal numbers, add values with the same place value.</a:t>
              </a:r>
              <a:endParaRPr lang="x-none" sz="1200">
                <a:ea typeface="Times New Roman" panose="02020603050405020304" pitchFamily="18" charset="0"/>
                <a:cs typeface="Times New Roman" panose="02020603050405020304" pitchFamily="18" charset="0"/>
              </a:endParaRPr>
            </a:p>
          </p:txBody>
        </p:sp>
        <p:pic>
          <p:nvPicPr>
            <p:cNvPr id="14" name="Shape 31" descr="Icon&#10;&#10;Description automatically generated">
              <a:extLst>
                <a:ext uri="{FF2B5EF4-FFF2-40B4-BE49-F238E27FC236}">
                  <a16:creationId xmlns:a16="http://schemas.microsoft.com/office/drawing/2014/main" id="{D6C9E79B-0D00-AD47-859D-C13C1D7E2EE5}"/>
                </a:ext>
              </a:extLst>
            </p:cNvPr>
            <p:cNvPicPr/>
            <p:nvPr/>
          </p:nvPicPr>
          <p:blipFill rotWithShape="1">
            <a:blip r:embed="rId7" cstate="screen">
              <a:alphaModFix/>
              <a:extLst>
                <a:ext uri="{28A0092B-C50C-407E-A947-70E740481C1C}">
                  <a14:useLocalDpi xmlns:a14="http://schemas.microsoft.com/office/drawing/2010/main"/>
                </a:ext>
              </a:extLst>
            </a:blip>
            <a:srcRect/>
            <a:stretch/>
          </p:blipFill>
          <p:spPr>
            <a:xfrm>
              <a:off x="1197734" y="3543822"/>
              <a:ext cx="539750" cy="539115"/>
            </a:xfrm>
            <a:prstGeom prst="rect">
              <a:avLst/>
            </a:prstGeom>
            <a:noFill/>
            <a:ln>
              <a:noFill/>
            </a:ln>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2999405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586539" y="403683"/>
                <a:ext cx="11260468" cy="1355051"/>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Johannes added </a:t>
                </a:r>
                <a14:m>
                  <m:oMath xmlns:m="http://schemas.openxmlformats.org/officeDocument/2006/math">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1</m:t>
                        </m:r>
                      </m:num>
                      <m:den>
                        <m:r>
                          <a:rPr lang="es-ES" sz="2400" i="1" dirty="0">
                            <a:latin typeface="Cambria Math" panose="02040503050406030204" pitchFamily="18" charset="0"/>
                            <a:ea typeface="Verdana" panose="020B0604030504040204" pitchFamily="34" charset="0"/>
                            <a:cs typeface="Verdana" panose="020B0604030504040204" pitchFamily="34" charset="0"/>
                          </a:rPr>
                          <m:t>8</m:t>
                        </m:r>
                      </m:den>
                    </m:f>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3</m:t>
                        </m:r>
                      </m:num>
                      <m:den>
                        <m:r>
                          <a:rPr lang="es-ES" sz="2400" i="1" dirty="0">
                            <a:latin typeface="Cambria Math" panose="02040503050406030204" pitchFamily="18" charset="0"/>
                            <a:ea typeface="Verdana" panose="020B0604030504040204" pitchFamily="34" charset="0"/>
                            <a:cs typeface="Verdana" panose="020B0604030504040204" pitchFamily="34" charset="0"/>
                          </a:rPr>
                          <m:t>4</m:t>
                        </m:r>
                      </m:den>
                    </m:f>
                  </m:oMath>
                </a14:m>
                <a:r>
                  <a:rPr lang="en-US" sz="2400" dirty="0">
                    <a:latin typeface="Verdana" panose="020B0604030504040204" pitchFamily="34" charset="0"/>
                    <a:ea typeface="Verdana" panose="020B0604030504040204" pitchFamily="34" charset="0"/>
                    <a:cs typeface="Verdana" panose="020B0604030504040204" pitchFamily="34" charset="0"/>
                  </a:rPr>
                  <a:t>. Part of her work is shown.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8890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Complete Johannes’ work by filling in the boxes.</a:t>
                </a: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586539" y="403683"/>
                <a:ext cx="11260468" cy="1355051"/>
              </a:xfrm>
              <a:prstGeom prst="rect">
                <a:avLst/>
              </a:prstGeom>
              <a:blipFill>
                <a:blip r:embed="rId4"/>
                <a:stretch>
                  <a:fillRect l="-902" b="-92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5C90EDD9-5E2B-3048-8EF9-75F3E41A537C}"/>
                  </a:ext>
                </a:extLst>
              </p:cNvPr>
              <p:cNvGraphicFramePr>
                <a:graphicFrameLocks noGrp="1"/>
              </p:cNvGraphicFramePr>
              <p:nvPr>
                <p:extLst>
                  <p:ext uri="{D42A27DB-BD31-4B8C-83A1-F6EECF244321}">
                    <p14:modId xmlns:p14="http://schemas.microsoft.com/office/powerpoint/2010/main" val="1675822585"/>
                  </p:ext>
                </p:extLst>
              </p:nvPr>
            </p:nvGraphicFramePr>
            <p:xfrm>
              <a:off x="4360862" y="2359906"/>
              <a:ext cx="3470275" cy="3352805"/>
            </p:xfrm>
            <a:graphic>
              <a:graphicData uri="http://schemas.openxmlformats.org/drawingml/2006/table">
                <a:tbl>
                  <a:tblPr firstRow="1" firstCol="1" bandRow="1">
                    <a:tableStyleId>{A91F0D33-8C57-4600-99A7-42BC86742BE1}</a:tableStyleId>
                  </a:tblPr>
                  <a:tblGrid>
                    <a:gridCol w="3470275">
                      <a:extLst>
                        <a:ext uri="{9D8B030D-6E8A-4147-A177-3AD203B41FA5}">
                          <a16:colId xmlns:a16="http://schemas.microsoft.com/office/drawing/2014/main" val="818998404"/>
                        </a:ext>
                      </a:extLst>
                    </a:gridCol>
                  </a:tblGrid>
                  <a:tr h="468000">
                    <a:tc>
                      <a:txBody>
                        <a:bodyPr/>
                        <a:lstStyle/>
                        <a:p>
                          <a:pPr marL="0" marR="0" algn="ctr">
                            <a:lnSpc>
                              <a:spcPct val="100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Johannes’ Answer</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010028223"/>
                      </a:ext>
                    </a:extLst>
                  </a:tr>
                  <a:tr h="1050925">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smtClean="0">
                                        <a:effectLst/>
                                        <a:latin typeface="Cambria Math" panose="02040503050406030204" pitchFamily="18" charset="0"/>
                                      </a:rPr>
                                    </m:ctrlPr>
                                  </m:fPr>
                                  <m:num>
                                    <m:r>
                                      <a:rPr lang="en-US" sz="2000">
                                        <a:effectLst/>
                                        <a:latin typeface="Cambria Math"/>
                                      </a:rPr>
                                      <m:t>1</m:t>
                                    </m:r>
                                  </m:num>
                                  <m:den>
                                    <m:r>
                                      <a:rPr lang="en-US" sz="2000">
                                        <a:effectLst/>
                                        <a:latin typeface="Cambria Math"/>
                                      </a:rPr>
                                      <m:t>8</m:t>
                                    </m:r>
                                  </m:den>
                                </m:f>
                                <m:r>
                                  <a:rPr lang="en-US" sz="2000">
                                    <a:effectLst/>
                                    <a:latin typeface="Cambria Math"/>
                                  </a:rPr>
                                  <m:t> + </m:t>
                                </m:r>
                                <m:f>
                                  <m:fPr>
                                    <m:ctrlPr>
                                      <a:rPr lang="x-none" sz="2000" i="1">
                                        <a:effectLst/>
                                        <a:latin typeface="Cambria Math" panose="02040503050406030204" pitchFamily="18" charset="0"/>
                                      </a:rPr>
                                    </m:ctrlPr>
                                  </m:fPr>
                                  <m:num>
                                    <m:r>
                                      <a:rPr lang="en-US" sz="2000">
                                        <a:effectLst/>
                                        <a:latin typeface="Cambria Math"/>
                                      </a:rPr>
                                      <m:t>3</m:t>
                                    </m:r>
                                  </m:num>
                                  <m:den>
                                    <m:r>
                                      <a:rPr lang="en-US" sz="2000">
                                        <a:effectLst/>
                                        <a:latin typeface="Cambria Math"/>
                                      </a:rPr>
                                      <m:t>4</m:t>
                                    </m:r>
                                  </m:den>
                                </m:f>
                                <m:r>
                                  <a:rPr lang="en-US" sz="2000">
                                    <a:effectLst/>
                                    <a:latin typeface="Cambria Math"/>
                                  </a:rPr>
                                  <m:t> =</m:t>
                                </m:r>
                              </m:oMath>
                            </m:oMathPara>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endParaRPr lang="en-PH" sz="2000" i="1" dirty="0">
                            <a:effectLst/>
                            <a:latin typeface="Cambria Math"/>
                          </a:endParaRP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rPr>
                                    </m:ctrlPr>
                                  </m:fPr>
                                  <m:num>
                                    <m:r>
                                      <a:rPr lang="en-US" sz="2000">
                                        <a:effectLst/>
                                        <a:latin typeface="Cambria Math"/>
                                      </a:rPr>
                                      <m:t>1</m:t>
                                    </m:r>
                                  </m:num>
                                  <m:den>
                                    <m:r>
                                      <a:rPr lang="en-US" sz="2000">
                                        <a:effectLst/>
                                        <a:latin typeface="Cambria Math"/>
                                      </a:rPr>
                                      <m:t>8</m:t>
                                    </m:r>
                                  </m:den>
                                </m:f>
                                <m:r>
                                  <a:rPr lang="en-US" sz="2000">
                                    <a:effectLst/>
                                    <a:latin typeface="Cambria Math"/>
                                  </a:rPr>
                                  <m:t> + </m:t>
                                </m:r>
                                <m:f>
                                  <m:fPr>
                                    <m:ctrlPr>
                                      <a:rPr lang="x-none" sz="2000" i="1">
                                        <a:effectLst/>
                                        <a:latin typeface="Cambria Math" panose="02040503050406030204" pitchFamily="18" charset="0"/>
                                      </a:rPr>
                                    </m:ctrlPr>
                                  </m:fPr>
                                  <m:num>
                                    <m:r>
                                      <a:rPr lang="en-US" sz="2000">
                                        <a:effectLst/>
                                        <a:latin typeface="Cambria Math"/>
                                      </a:rPr>
                                      <m:t>3</m:t>
                                    </m:r>
                                  </m:num>
                                  <m:den>
                                    <m:r>
                                      <a:rPr lang="en-US" sz="2000">
                                        <a:effectLst/>
                                        <a:latin typeface="Cambria Math"/>
                                      </a:rPr>
                                      <m:t>4</m:t>
                                    </m:r>
                                  </m:den>
                                </m:f>
                                <m:d>
                                  <m:dPr>
                                    <m:ctrlPr>
                                      <a:rPr lang="x-none" sz="2000" i="1">
                                        <a:effectLst/>
                                        <a:latin typeface="Cambria Math" panose="02040503050406030204" pitchFamily="18" charset="0"/>
                                      </a:rPr>
                                    </m:ctrlPr>
                                  </m:dPr>
                                  <m:e>
                                    <m:f>
                                      <m:fPr>
                                        <m:ctrlPr>
                                          <a:rPr lang="x-none" sz="2000" i="1">
                                            <a:effectLst/>
                                            <a:latin typeface="Cambria Math" panose="02040503050406030204" pitchFamily="18" charset="0"/>
                                          </a:rPr>
                                        </m:ctrlPr>
                                      </m:fPr>
                                      <m:num>
                                        <m:r>
                                          <a:rPr lang="en-US" sz="2000">
                                            <a:effectLst/>
                                            <a:latin typeface="Cambria Math"/>
                                          </a:rPr>
                                          <m:t>2</m:t>
                                        </m:r>
                                      </m:num>
                                      <m:den>
                                        <m:r>
                                          <a:rPr lang="en-US" sz="2000">
                                            <a:effectLst/>
                                            <a:latin typeface="Cambria Math"/>
                                          </a:rPr>
                                          <m:t>2</m:t>
                                        </m:r>
                                      </m:den>
                                    </m:f>
                                  </m:e>
                                </m:d>
                                <m:r>
                                  <a:rPr lang="en-US" sz="2000">
                                    <a:effectLst/>
                                    <a:latin typeface="Cambria Math"/>
                                  </a:rPr>
                                  <m:t>=</m:t>
                                </m:r>
                              </m:oMath>
                            </m:oMathPara>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br>
                            <a:rPr lang="x-none" sz="2000" dirty="0">
                              <a:effectLst/>
                              <a:latin typeface="Verdana" panose="020B0604030504040204" pitchFamily="34" charset="0"/>
                              <a:ea typeface="Verdana" panose="020B0604030504040204" pitchFamily="34" charset="0"/>
                              <a:cs typeface="Verdana" panose="020B0604030504040204" pitchFamily="34" charset="0"/>
                            </a:rPr>
                          </a:b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rPr>
                                    </m:ctrlPr>
                                  </m:fPr>
                                  <m:num>
                                    <m:r>
                                      <a:rPr lang="en-US" sz="2000">
                                        <a:effectLst/>
                                        <a:latin typeface="Cambria Math"/>
                                      </a:rPr>
                                      <m:t>1</m:t>
                                    </m:r>
                                  </m:num>
                                  <m:den>
                                    <m:r>
                                      <a:rPr lang="en-US" sz="2000">
                                        <a:effectLst/>
                                        <a:latin typeface="Cambria Math"/>
                                      </a:rPr>
                                      <m:t>8</m:t>
                                    </m:r>
                                  </m:den>
                                </m:f>
                                <m:r>
                                  <a:rPr lang="en-US" sz="2000">
                                    <a:effectLst/>
                                    <a:latin typeface="Cambria Math"/>
                                  </a:rPr>
                                  <m:t> + </m:t>
                                </m:r>
                                <m:f>
                                  <m:fPr>
                                    <m:ctrlPr>
                                      <a:rPr lang="x-none" sz="2000" i="1">
                                        <a:effectLst/>
                                        <a:latin typeface="Cambria Math" panose="02040503050406030204" pitchFamily="18" charset="0"/>
                                      </a:rPr>
                                    </m:ctrlPr>
                                  </m:fPr>
                                  <m:num>
                                    <m:r>
                                      <a:rPr lang="en-PH" sz="2000" b="0" i="1" smtClean="0">
                                        <a:effectLst/>
                                        <a:latin typeface="Cambria Math"/>
                                      </a:rPr>
                                      <m:t> </m:t>
                                    </m:r>
                                  </m:num>
                                  <m:den>
                                    <m:r>
                                      <a:rPr lang="en-PH" sz="2000" b="0" i="1" smtClean="0">
                                        <a:effectLst/>
                                        <a:latin typeface="Cambria Math"/>
                                      </a:rPr>
                                      <m:t>     </m:t>
                                    </m:r>
                                  </m:den>
                                </m:f>
                                <m:r>
                                  <a:rPr lang="en-US" sz="2000">
                                    <a:effectLst/>
                                    <a:latin typeface="Cambria Math"/>
                                  </a:rPr>
                                  <m:t> = </m:t>
                                </m:r>
                                <m:f>
                                  <m:fPr>
                                    <m:ctrlPr>
                                      <a:rPr lang="x-none" sz="2000" i="1">
                                        <a:effectLst/>
                                        <a:latin typeface="Cambria Math" panose="02040503050406030204" pitchFamily="18" charset="0"/>
                                      </a:rPr>
                                    </m:ctrlPr>
                                  </m:fPr>
                                  <m:num>
                                    <m:r>
                                      <a:rPr lang="en-PH" sz="2000" b="0" i="1" smtClean="0">
                                        <a:effectLst/>
                                        <a:latin typeface="Cambria Math"/>
                                      </a:rPr>
                                      <m:t> </m:t>
                                    </m:r>
                                  </m:num>
                                  <m:den>
                                    <m:r>
                                      <a:rPr lang="en-PH" sz="2000" b="0" i="1" smtClean="0">
                                        <a:effectLst/>
                                        <a:latin typeface="Cambria Math"/>
                                      </a:rPr>
                                      <m:t>     </m:t>
                                    </m:r>
                                  </m:den>
                                </m:f>
                              </m:oMath>
                            </m:oMathPara>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6087626"/>
                      </a:ext>
                    </a:extLst>
                  </a:tr>
                </a:tbl>
              </a:graphicData>
            </a:graphic>
          </p:graphicFrame>
        </mc:Choice>
        <mc:Fallback xmlns="">
          <p:graphicFrame>
            <p:nvGraphicFramePr>
              <p:cNvPr id="2" name="Table 1">
                <a:extLst>
                  <a:ext uri="{FF2B5EF4-FFF2-40B4-BE49-F238E27FC236}">
                    <a16:creationId xmlns:a16="http://schemas.microsoft.com/office/drawing/2014/main" id="{5C90EDD9-5E2B-3048-8EF9-75F3E41A537C}"/>
                  </a:ext>
                </a:extLst>
              </p:cNvPr>
              <p:cNvGraphicFramePr>
                <a:graphicFrameLocks noGrp="1"/>
              </p:cNvGraphicFramePr>
              <p:nvPr>
                <p:extLst>
                  <p:ext uri="{D42A27DB-BD31-4B8C-83A1-F6EECF244321}">
                    <p14:modId xmlns:p14="http://schemas.microsoft.com/office/powerpoint/2010/main" val="1675822585"/>
                  </p:ext>
                </p:extLst>
              </p:nvPr>
            </p:nvGraphicFramePr>
            <p:xfrm>
              <a:off x="4360862" y="2359906"/>
              <a:ext cx="3470275" cy="3239521"/>
            </p:xfrm>
            <a:graphic>
              <a:graphicData uri="http://schemas.openxmlformats.org/drawingml/2006/table">
                <a:tbl>
                  <a:tblPr firstRow="1" firstCol="1" bandRow="1">
                    <a:tableStyleId>{A91F0D33-8C57-4600-99A7-42BC86742BE1}</a:tableStyleId>
                  </a:tblPr>
                  <a:tblGrid>
                    <a:gridCol w="3470275">
                      <a:extLst>
                        <a:ext uri="{9D8B030D-6E8A-4147-A177-3AD203B41FA5}">
                          <a16:colId xmlns:a16="http://schemas.microsoft.com/office/drawing/2014/main" val="818998404"/>
                        </a:ext>
                      </a:extLst>
                    </a:gridCol>
                  </a:tblGrid>
                  <a:tr h="468000">
                    <a:tc>
                      <a:txBody>
                        <a:bodyPr/>
                        <a:lstStyle/>
                        <a:p>
                          <a:pPr marL="0" marR="0" algn="ctr">
                            <a:lnSpc>
                              <a:spcPct val="100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Johannes’ Answer</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010028223"/>
                      </a:ext>
                    </a:extLst>
                  </a:tr>
                  <a:tr h="2771521">
                    <a:tc>
                      <a:txBody>
                        <a:bodyPr/>
                        <a:lstStyle/>
                        <a:p>
                          <a:endParaRPr lang="en-US"/>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365" t="-17352" r="-730" b="-1826"/>
                          </a:stretch>
                        </a:blipFill>
                      </a:tcPr>
                    </a:tc>
                    <a:extLst>
                      <a:ext uri="{0D108BD9-81ED-4DB2-BD59-A6C34878D82A}">
                        <a16:rowId xmlns:a16="http://schemas.microsoft.com/office/drawing/2014/main" val="1376087626"/>
                      </a:ext>
                    </a:extLst>
                  </a:tr>
                </a:tbl>
              </a:graphicData>
            </a:graphic>
          </p:graphicFrame>
        </mc:Fallback>
      </mc:AlternateContent>
    </p:spTree>
    <p:extLst>
      <p:ext uri="{BB962C8B-B14F-4D97-AF65-F5344CB8AC3E}">
        <p14:creationId xmlns:p14="http://schemas.microsoft.com/office/powerpoint/2010/main" val="3814089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86</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C8F82859-BA98-3646-BF3B-9E17E52A2E35}"/>
              </a:ext>
            </a:extLst>
          </p:cNvPr>
          <p:cNvSpPr txBox="1"/>
          <p:nvPr/>
        </p:nvSpPr>
        <p:spPr>
          <a:xfrm>
            <a:off x="111600" y="352785"/>
            <a:ext cx="11845938" cy="707886"/>
          </a:xfrm>
          <a:prstGeom prst="rect">
            <a:avLst/>
          </a:prstGeom>
          <a:noFill/>
        </p:spPr>
        <p:txBody>
          <a:bodyPr wrap="square" rtlCol="0">
            <a:spAutoFit/>
          </a:bodyPr>
          <a:lstStyle/>
          <a:p>
            <a:pPr marL="137795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Complete the statements by choosing a word or number from the bank. Not all words and numbers may be used, and some may be used more than once.</a:t>
            </a: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2D87D61D-831B-954E-AC15-D96C518D72EA}"/>
                  </a:ext>
                </a:extLst>
              </p:cNvPr>
              <p:cNvGraphicFramePr>
                <a:graphicFrameLocks noGrp="1"/>
              </p:cNvGraphicFramePr>
              <p:nvPr>
                <p:extLst>
                  <p:ext uri="{D42A27DB-BD31-4B8C-83A1-F6EECF244321}">
                    <p14:modId xmlns:p14="http://schemas.microsoft.com/office/powerpoint/2010/main" val="3181535005"/>
                  </p:ext>
                </p:extLst>
              </p:nvPr>
            </p:nvGraphicFramePr>
            <p:xfrm>
              <a:off x="3125788" y="2034349"/>
              <a:ext cx="5940425" cy="1349756"/>
            </p:xfrm>
            <a:graphic>
              <a:graphicData uri="http://schemas.openxmlformats.org/drawingml/2006/table">
                <a:tbl>
                  <a:tblPr firstRow="1" firstCol="1" bandRow="1"/>
                  <a:tblGrid>
                    <a:gridCol w="2397125">
                      <a:extLst>
                        <a:ext uri="{9D8B030D-6E8A-4147-A177-3AD203B41FA5}">
                          <a16:colId xmlns:a16="http://schemas.microsoft.com/office/drawing/2014/main" val="3714548040"/>
                        </a:ext>
                      </a:extLst>
                    </a:gridCol>
                    <a:gridCol w="1600200">
                      <a:extLst>
                        <a:ext uri="{9D8B030D-6E8A-4147-A177-3AD203B41FA5}">
                          <a16:colId xmlns:a16="http://schemas.microsoft.com/office/drawing/2014/main" val="1887870358"/>
                        </a:ext>
                      </a:extLst>
                    </a:gridCol>
                    <a:gridCol w="1943100">
                      <a:extLst>
                        <a:ext uri="{9D8B030D-6E8A-4147-A177-3AD203B41FA5}">
                          <a16:colId xmlns:a16="http://schemas.microsoft.com/office/drawing/2014/main" val="943132646"/>
                        </a:ext>
                      </a:extLst>
                    </a:gridCol>
                  </a:tblGrid>
                  <a:tr h="19050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a:noFill/>
                        </a:lnL>
                        <a:lnR>
                          <a:noFill/>
                        </a:lnR>
                        <a:lnT>
                          <a:noFill/>
                        </a:lnT>
                        <a:lnB>
                          <a:noFill/>
                        </a:lnB>
                      </a:tcPr>
                    </a:tc>
                    <a:extLst>
                      <a:ext uri="{0D108BD9-81ED-4DB2-BD59-A6C34878D82A}">
                        <a16:rowId xmlns:a16="http://schemas.microsoft.com/office/drawing/2014/main" val="1969328215"/>
                      </a:ext>
                    </a:extLst>
                  </a:tr>
                  <a:tr h="511810">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numerators</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a:noFill/>
                        </a:lnL>
                        <a:lnR>
                          <a:noFill/>
                        </a:lnR>
                        <a:lnT>
                          <a:noFill/>
                        </a:lnT>
                        <a:lnB>
                          <a:noFill/>
                        </a:lnB>
                      </a:tcPr>
                    </a:tc>
                    <a:tc gridSpan="2">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common denominator</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a:noFill/>
                        </a:lnL>
                        <a:lnR>
                          <a:noFill/>
                        </a:lnR>
                        <a:lnT>
                          <a:noFill/>
                        </a:lnT>
                        <a:lnB>
                          <a:noFill/>
                        </a:lnB>
                      </a:tcPr>
                    </a:tc>
                    <a:tc hMerge="1">
                      <a:txBody>
                        <a:bodyPr/>
                        <a:lstStyle/>
                        <a:p>
                          <a:endParaRPr lang="x-none"/>
                        </a:p>
                      </a:txBody>
                      <a:tcPr/>
                    </a:tc>
                    <a:extLst>
                      <a:ext uri="{0D108BD9-81ED-4DB2-BD59-A6C34878D82A}">
                        <a16:rowId xmlns:a16="http://schemas.microsoft.com/office/drawing/2014/main" val="3225781158"/>
                      </a:ext>
                    </a:extLst>
                  </a:tr>
                  <a:tr h="511810">
                    <a:tc>
                      <a:txBody>
                        <a:bodyPr/>
                        <a:lstStyle/>
                        <a:p>
                          <a:pPr marL="0" marR="0" algn="ctr">
                            <a:lnSpc>
                              <a:spcPct val="107000"/>
                            </a:lnSpc>
                            <a:spcBef>
                              <a:spcPts val="0"/>
                            </a:spcBef>
                            <a:spcAft>
                              <a:spcPts val="0"/>
                            </a:spcAft>
                          </a:pPr>
                          <a:r>
                            <a:rPr lang="en-US" sz="2000">
                              <a:solidFill>
                                <a:srgbClr val="000000"/>
                              </a:solidFill>
                              <a:effectLst/>
                              <a:latin typeface="Verdana" panose="020B0604030504040204" pitchFamily="34" charset="0"/>
                              <a:ea typeface="Verdana" pitchFamily="34" charset="0"/>
                              <a:cs typeface="Times New Roman" panose="02020603050405020304" pitchFamily="18" charset="0"/>
                            </a:rPr>
                            <a:t>one half</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l">
                            <a:lnSpc>
                              <a:spcPct val="107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fourths</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lnSpc>
                              <a:spcPct val="107000"/>
                            </a:lnSpc>
                            <a:spcBef>
                              <a:spcPts val="0"/>
                            </a:spcBef>
                            <a:spcAft>
                              <a:spcPts val="0"/>
                            </a:spcAft>
                          </a:pPr>
                          <a:r>
                            <a:rPr lang="en-US" sz="2000" dirty="0">
                              <a:solidFill>
                                <a:srgbClr val="000000"/>
                              </a:solidFill>
                              <a:effectLst/>
                              <a:latin typeface="Verdana" panose="020B0604030504040204" pitchFamily="34" charset="0"/>
                              <a:ea typeface="Verdana" pitchFamily="34" charset="0"/>
                              <a:cs typeface="Times New Roman" panose="02020603050405020304" pitchFamily="18" charset="0"/>
                            </a:rPr>
                            <a:t>seven eighths</a:t>
                          </a:r>
                          <a:endParaRPr lang="x-none" sz="2000" dirty="0">
                            <a:effectLst/>
                            <a:latin typeface="Verdana" pitchFamily="34" charset="0"/>
                            <a:ea typeface="Verdana" pitchFamily="34" charset="0"/>
                            <a:cs typeface="Times New Roman" panose="02020603050405020304" pitchFamily="18" charset="0"/>
                          </a:endParaRPr>
                        </a:p>
                      </a:txBody>
                      <a:tcPr marL="68580" marR="68580" marT="0" marB="0" anchor="ctr">
                        <a:lnL>
                          <a:noFill/>
                        </a:lnL>
                        <a:lnR>
                          <a:noFill/>
                        </a:lnR>
                        <a:lnT>
                          <a:noFill/>
                        </a:lnT>
                        <a:lnB>
                          <a:noFill/>
                        </a:lnB>
                      </a:tcPr>
                    </a:tc>
                    <a:extLst>
                      <a:ext uri="{0D108BD9-81ED-4DB2-BD59-A6C34878D82A}">
                        <a16:rowId xmlns:a16="http://schemas.microsoft.com/office/drawing/2014/main" val="2034033559"/>
                      </a:ext>
                    </a:extLst>
                  </a:tr>
                </a:tbl>
              </a:graphicData>
            </a:graphic>
          </p:graphicFrame>
        </mc:Choice>
        <mc:Fallback xmlns="">
          <p:graphicFrame>
            <p:nvGraphicFramePr>
              <p:cNvPr id="5" name="Table 4">
                <a:extLst>
                  <a:ext uri="{FF2B5EF4-FFF2-40B4-BE49-F238E27FC236}">
                    <a16:creationId xmlns:a16="http://schemas.microsoft.com/office/drawing/2014/main" id="{2D87D61D-831B-954E-AC15-D96C518D72EA}"/>
                  </a:ext>
                </a:extLst>
              </p:cNvPr>
              <p:cNvGraphicFramePr>
                <a:graphicFrameLocks noGrp="1"/>
              </p:cNvGraphicFramePr>
              <p:nvPr>
                <p:extLst>
                  <p:ext uri="{D42A27DB-BD31-4B8C-83A1-F6EECF244321}">
                    <p14:modId xmlns:p14="http://schemas.microsoft.com/office/powerpoint/2010/main" val="3181535005"/>
                  </p:ext>
                </p:extLst>
              </p:nvPr>
            </p:nvGraphicFramePr>
            <p:xfrm>
              <a:off x="3125788" y="2034349"/>
              <a:ext cx="5940425" cy="1349756"/>
            </p:xfrm>
            <a:graphic>
              <a:graphicData uri="http://schemas.openxmlformats.org/drawingml/2006/table">
                <a:tbl>
                  <a:tblPr firstRow="1" firstCol="1" bandRow="1"/>
                  <a:tblGrid>
                    <a:gridCol w="2397125">
                      <a:extLst>
                        <a:ext uri="{9D8B030D-6E8A-4147-A177-3AD203B41FA5}">
                          <a16:colId xmlns:a16="http://schemas.microsoft.com/office/drawing/2014/main" val="3714548040"/>
                        </a:ext>
                      </a:extLst>
                    </a:gridCol>
                    <a:gridCol w="1600200">
                      <a:extLst>
                        <a:ext uri="{9D8B030D-6E8A-4147-A177-3AD203B41FA5}">
                          <a16:colId xmlns:a16="http://schemas.microsoft.com/office/drawing/2014/main" val="1887870358"/>
                        </a:ext>
                      </a:extLst>
                    </a:gridCol>
                    <a:gridCol w="1943100">
                      <a:extLst>
                        <a:ext uri="{9D8B030D-6E8A-4147-A177-3AD203B41FA5}">
                          <a16:colId xmlns:a16="http://schemas.microsoft.com/office/drawing/2014/main" val="943132646"/>
                        </a:ext>
                      </a:extLst>
                    </a:gridCol>
                  </a:tblGrid>
                  <a:tr h="326136">
                    <a:tc>
                      <a:txBody>
                        <a:bodyPr/>
                        <a:lstStyle/>
                        <a:p>
                          <a:endParaRPr lang="en-US"/>
                        </a:p>
                      </a:txBody>
                      <a:tcPr marL="68580" marR="68580" marT="0" marB="0" anchor="ctr">
                        <a:lnL>
                          <a:noFill/>
                        </a:lnL>
                        <a:lnR>
                          <a:noFill/>
                        </a:lnR>
                        <a:lnT>
                          <a:noFill/>
                        </a:lnT>
                        <a:lnB>
                          <a:noFill/>
                        </a:lnB>
                        <a:blipFill>
                          <a:blip r:embed="rId4"/>
                          <a:stretch>
                            <a:fillRect l="-529" t="-3846" r="-148148" b="-323077"/>
                          </a:stretch>
                        </a:blipFill>
                      </a:tcPr>
                    </a:tc>
                    <a:tc>
                      <a:txBody>
                        <a:bodyPr/>
                        <a:lstStyle/>
                        <a:p>
                          <a:endParaRPr lang="en-US"/>
                        </a:p>
                      </a:txBody>
                      <a:tcPr marL="68580" marR="68580" marT="0" marB="0" anchor="ctr">
                        <a:lnL>
                          <a:noFill/>
                        </a:lnL>
                        <a:lnR>
                          <a:noFill/>
                        </a:lnR>
                        <a:lnT>
                          <a:noFill/>
                        </a:lnT>
                        <a:lnB>
                          <a:noFill/>
                        </a:lnB>
                        <a:blipFill>
                          <a:blip r:embed="rId4"/>
                          <a:stretch>
                            <a:fillRect l="-150794" t="-3846" r="-122222" b="-323077"/>
                          </a:stretch>
                        </a:blipFill>
                      </a:tcPr>
                    </a:tc>
                    <a:tc>
                      <a:txBody>
                        <a:bodyPr/>
                        <a:lstStyle/>
                        <a:p>
                          <a:endParaRPr lang="en-US"/>
                        </a:p>
                      </a:txBody>
                      <a:tcPr marL="68580" marR="68580" marT="0" marB="0" anchor="ctr">
                        <a:lnL>
                          <a:noFill/>
                        </a:lnL>
                        <a:lnR>
                          <a:noFill/>
                        </a:lnR>
                        <a:lnT>
                          <a:noFill/>
                        </a:lnT>
                        <a:lnB>
                          <a:noFill/>
                        </a:lnB>
                        <a:blipFill>
                          <a:blip r:embed="rId4"/>
                          <a:stretch>
                            <a:fillRect l="-206536" t="-3846" r="-654" b="-323077"/>
                          </a:stretch>
                        </a:blipFill>
                      </a:tcPr>
                    </a:tc>
                    <a:extLst>
                      <a:ext uri="{0D108BD9-81ED-4DB2-BD59-A6C34878D82A}">
                        <a16:rowId xmlns:a16="http://schemas.microsoft.com/office/drawing/2014/main" val="1969328215"/>
                      </a:ext>
                    </a:extLst>
                  </a:tr>
                  <a:tr h="511810">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numerators</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a:noFill/>
                        </a:lnL>
                        <a:lnR>
                          <a:noFill/>
                        </a:lnR>
                        <a:lnT>
                          <a:noFill/>
                        </a:lnT>
                        <a:lnB>
                          <a:noFill/>
                        </a:lnB>
                      </a:tcPr>
                    </a:tc>
                    <a:tc gridSpan="2">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common denominator</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a:noFill/>
                        </a:lnL>
                        <a:lnR>
                          <a:noFill/>
                        </a:lnR>
                        <a:lnT>
                          <a:noFill/>
                        </a:lnT>
                        <a:lnB>
                          <a:noFill/>
                        </a:lnB>
                      </a:tcPr>
                    </a:tc>
                    <a:tc hMerge="1">
                      <a:txBody>
                        <a:bodyPr/>
                        <a:lstStyle/>
                        <a:p>
                          <a:endParaRPr lang="x-none"/>
                        </a:p>
                      </a:txBody>
                      <a:tcPr/>
                    </a:tc>
                    <a:extLst>
                      <a:ext uri="{0D108BD9-81ED-4DB2-BD59-A6C34878D82A}">
                        <a16:rowId xmlns:a16="http://schemas.microsoft.com/office/drawing/2014/main" val="3225781158"/>
                      </a:ext>
                    </a:extLst>
                  </a:tr>
                  <a:tr h="511810">
                    <a:tc>
                      <a:txBody>
                        <a:bodyPr/>
                        <a:lstStyle/>
                        <a:p>
                          <a:pPr marL="0" marR="0" algn="ctr">
                            <a:lnSpc>
                              <a:spcPct val="107000"/>
                            </a:lnSpc>
                            <a:spcBef>
                              <a:spcPts val="0"/>
                            </a:spcBef>
                            <a:spcAft>
                              <a:spcPts val="0"/>
                            </a:spcAft>
                          </a:pPr>
                          <a:r>
                            <a:rPr lang="en-US" sz="2000">
                              <a:solidFill>
                                <a:srgbClr val="000000"/>
                              </a:solidFill>
                              <a:effectLst/>
                              <a:latin typeface="Verdana" panose="020B0604030504040204" pitchFamily="34" charset="0"/>
                              <a:ea typeface="Verdana" pitchFamily="34" charset="0"/>
                              <a:cs typeface="Times New Roman" panose="02020603050405020304" pitchFamily="18" charset="0"/>
                            </a:rPr>
                            <a:t>one half</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l">
                            <a:lnSpc>
                              <a:spcPct val="107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fourths</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lnSpc>
                              <a:spcPct val="107000"/>
                            </a:lnSpc>
                            <a:spcBef>
                              <a:spcPts val="0"/>
                            </a:spcBef>
                            <a:spcAft>
                              <a:spcPts val="0"/>
                            </a:spcAft>
                          </a:pPr>
                          <a:r>
                            <a:rPr lang="en-US" sz="2000" dirty="0">
                              <a:solidFill>
                                <a:srgbClr val="000000"/>
                              </a:solidFill>
                              <a:effectLst/>
                              <a:latin typeface="Verdana" panose="020B0604030504040204" pitchFamily="34" charset="0"/>
                              <a:ea typeface="Verdana" pitchFamily="34" charset="0"/>
                              <a:cs typeface="Times New Roman" panose="02020603050405020304" pitchFamily="18" charset="0"/>
                            </a:rPr>
                            <a:t>seven eighths</a:t>
                          </a:r>
                          <a:endParaRPr lang="x-none" sz="2000" dirty="0">
                            <a:effectLst/>
                            <a:latin typeface="Verdana" pitchFamily="34" charset="0"/>
                            <a:ea typeface="Verdana" pitchFamily="34" charset="0"/>
                            <a:cs typeface="Times New Roman" panose="02020603050405020304" pitchFamily="18" charset="0"/>
                          </a:endParaRPr>
                        </a:p>
                      </a:txBody>
                      <a:tcPr marL="68580" marR="68580" marT="0" marB="0" anchor="ctr">
                        <a:lnL>
                          <a:noFill/>
                        </a:lnL>
                        <a:lnR>
                          <a:noFill/>
                        </a:lnR>
                        <a:lnT>
                          <a:noFill/>
                        </a:lnT>
                        <a:lnB>
                          <a:noFill/>
                        </a:lnB>
                      </a:tcPr>
                    </a:tc>
                    <a:extLst>
                      <a:ext uri="{0D108BD9-81ED-4DB2-BD59-A6C34878D82A}">
                        <a16:rowId xmlns:a16="http://schemas.microsoft.com/office/drawing/2014/main" val="2034033559"/>
                      </a:ext>
                    </a:extLst>
                  </a:tr>
                </a:tbl>
              </a:graphicData>
            </a:graphic>
          </p:graphicFrame>
        </mc:Fallback>
      </mc:AlternateContent>
      <p:sp>
        <p:nvSpPr>
          <p:cNvPr id="13" name="Rectangle: Rounded Corners 89">
            <a:extLst>
              <a:ext uri="{FF2B5EF4-FFF2-40B4-BE49-F238E27FC236}">
                <a16:creationId xmlns:a16="http://schemas.microsoft.com/office/drawing/2014/main" id="{D8709BBC-FC2D-6440-8B0D-7E205192F20F}"/>
              </a:ext>
            </a:extLst>
          </p:cNvPr>
          <p:cNvSpPr/>
          <p:nvPr/>
        </p:nvSpPr>
        <p:spPr>
          <a:xfrm>
            <a:off x="3231698" y="1584105"/>
            <a:ext cx="6120000" cy="1800000"/>
          </a:xfrm>
          <a:prstGeom prst="round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1000"/>
              </a:spcAft>
            </a:pPr>
            <a:r>
              <a:rPr lang="en-US" sz="180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a:t>
            </a:r>
            <a:endParaRPr lang="x-none" sz="1100">
              <a:ea typeface="Times New Roman" panose="02020603050405020304" pitchFamily="18" charset="0"/>
              <a:cs typeface="Times New Roman" panose="02020603050405020304" pitchFamily="18" charset="0"/>
            </a:endParaRPr>
          </a:p>
          <a:p>
            <a:pPr algn="ctr">
              <a:lnSpc>
                <a:spcPct val="107000"/>
              </a:lnSpc>
              <a:spcAft>
                <a:spcPts val="1000"/>
              </a:spcAft>
            </a:pPr>
            <a:r>
              <a:rPr lang="en-US" sz="180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a:t>
            </a:r>
            <a:endParaRPr lang="x-none" sz="1100">
              <a:ea typeface="Times New Roman" panose="02020603050405020304" pitchFamily="18" charset="0"/>
              <a:cs typeface="Times New Roman" panose="02020603050405020304" pitchFamily="18" charset="0"/>
            </a:endParaRPr>
          </a:p>
          <a:p>
            <a:pPr marL="457200" algn="ctr">
              <a:lnSpc>
                <a:spcPct val="107000"/>
              </a:lnSpc>
              <a:spcAft>
                <a:spcPts val="1000"/>
              </a:spcAft>
            </a:pPr>
            <a:r>
              <a:rPr lang="en-US" sz="180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a:t>
            </a:r>
            <a:endParaRPr lang="x-none" sz="1100">
              <a:ea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3D699143-ABEA-3F4C-94E3-37B157CE24B4}"/>
              </a:ext>
            </a:extLst>
          </p:cNvPr>
          <p:cNvSpPr txBox="1"/>
          <p:nvPr/>
        </p:nvSpPr>
        <p:spPr>
          <a:xfrm>
            <a:off x="3717691" y="1619000"/>
            <a:ext cx="5148014" cy="400110"/>
          </a:xfrm>
          <a:prstGeom prst="rect">
            <a:avLst/>
          </a:prstGeom>
          <a:noFill/>
        </p:spPr>
        <p:txBody>
          <a:bodyPr wrap="square" rtlCol="0">
            <a:spAutoFit/>
          </a:bodyPr>
          <a:lstStyle/>
          <a:p>
            <a:pPr algn="ctr"/>
            <a:r>
              <a:rPr lang="en-US" sz="2000" b="1" dirty="0">
                <a:latin typeface="Verdana" panose="020B0604030504040204" pitchFamily="34" charset="0"/>
                <a:ea typeface="Verdana" panose="020B0604030504040204" pitchFamily="34" charset="0"/>
                <a:cs typeface="Verdana" panose="020B0604030504040204" pitchFamily="34" charset="0"/>
              </a:rPr>
              <a:t>Word Bank</a:t>
            </a:r>
          </a:p>
        </p:txBody>
      </p: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F6248C27-63DE-9C4F-8F54-4AA1EFFCAC8E}"/>
                  </a:ext>
                </a:extLst>
              </p:cNvPr>
              <p:cNvSpPr txBox="1"/>
              <p:nvPr/>
            </p:nvSpPr>
            <p:spPr>
              <a:xfrm>
                <a:off x="111600" y="3625518"/>
                <a:ext cx="11655020" cy="2594108"/>
              </a:xfrm>
              <a:prstGeom prst="rect">
                <a:avLst/>
              </a:prstGeom>
              <a:noFill/>
            </p:spPr>
            <p:txBody>
              <a:bodyPr wrap="square" rtlCol="0">
                <a:spAutoFit/>
              </a:bodyPr>
              <a:lstStyle/>
              <a:p>
                <a:pPr marL="1377950">
                  <a:lnSpc>
                    <a:spcPct val="150000"/>
                  </a:lnSpc>
                </a:pPr>
                <a:r>
                  <a:rPr lang="en-US" sz="2000" dirty="0">
                    <a:latin typeface="Verdana" panose="020B0604030504040204" pitchFamily="34" charset="0"/>
                    <a:ea typeface="Verdana" panose="020B0604030504040204" pitchFamily="34" charset="0"/>
                    <a:cs typeface="Verdana" panose="020B0604030504040204" pitchFamily="34" charset="0"/>
                  </a:rPr>
                  <a:t>To find the sum of </a:t>
                </a:r>
                <a14:m>
                  <m:oMath xmlns:m="http://schemas.openxmlformats.org/officeDocument/2006/math">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1</m:t>
                        </m:r>
                      </m:num>
                      <m:den>
                        <m:r>
                          <a:rPr lang="es-ES" sz="2000" i="1" dirty="0">
                            <a:latin typeface="Cambria Math" panose="02040503050406030204" pitchFamily="18" charset="0"/>
                            <a:ea typeface="Verdana" panose="020B0604030504040204" pitchFamily="34" charset="0"/>
                            <a:cs typeface="Verdana" panose="020B0604030504040204" pitchFamily="34" charset="0"/>
                          </a:rPr>
                          <m:t>8</m:t>
                        </m:r>
                      </m:den>
                    </m:f>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3</m:t>
                        </m:r>
                      </m:num>
                      <m:den>
                        <m:r>
                          <a:rPr lang="es-ES" sz="2000" i="1" dirty="0">
                            <a:latin typeface="Cambria Math" panose="02040503050406030204" pitchFamily="18" charset="0"/>
                            <a:ea typeface="Verdana" panose="020B0604030504040204" pitchFamily="34" charset="0"/>
                            <a:cs typeface="Verdana" panose="020B0604030504040204" pitchFamily="34"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Johannes first rewrote each fraction using a _____________________.  </a:t>
                </a:r>
              </a:p>
              <a:p>
                <a:pPr marL="1377950">
                  <a:lnSpc>
                    <a:spcPct val="150000"/>
                  </a:lnSpc>
                </a:pPr>
                <a:r>
                  <a:rPr lang="en-US" sz="2000" dirty="0">
                    <a:latin typeface="Verdana" panose="020B0604030504040204" pitchFamily="34" charset="0"/>
                    <a:ea typeface="Verdana" panose="020B0604030504040204" pitchFamily="34" charset="0"/>
                    <a:cs typeface="Verdana" panose="020B0604030504040204" pitchFamily="34" charset="0"/>
                  </a:rPr>
                  <a:t>The ___________________ of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8</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4</m:t>
                    </m:r>
                  </m:oMath>
                </a14:m>
                <a:r>
                  <a:rPr lang="en-US" sz="2000" dirty="0">
                    <a:latin typeface="Verdana" panose="020B0604030504040204" pitchFamily="34" charset="0"/>
                    <a:ea typeface="Verdana" panose="020B0604030504040204" pitchFamily="34" charset="0"/>
                    <a:cs typeface="Verdana" panose="020B0604030504040204" pitchFamily="34" charset="0"/>
                  </a:rPr>
                  <a:t> that Johannes used was ____. Then, she added the two ___________ together to find the total number of _______________. </a:t>
                </a:r>
              </a:p>
            </p:txBody>
          </p:sp>
        </mc:Choice>
        <mc:Fallback>
          <p:sp>
            <p:nvSpPr>
              <p:cNvPr id="15" name="TextBox 14">
                <a:extLst>
                  <a:ext uri="{FF2B5EF4-FFF2-40B4-BE49-F238E27FC236}">
                    <a16:creationId xmlns:a16="http://schemas.microsoft.com/office/drawing/2014/main" id="{F6248C27-63DE-9C4F-8F54-4AA1EFFCAC8E}"/>
                  </a:ext>
                </a:extLst>
              </p:cNvPr>
              <p:cNvSpPr txBox="1">
                <a:spLocks noRot="1" noChangeAspect="1" noMove="1" noResize="1" noEditPoints="1" noAdjustHandles="1" noChangeArrowheads="1" noChangeShapeType="1" noTextEdit="1"/>
              </p:cNvSpPr>
              <p:nvPr/>
            </p:nvSpPr>
            <p:spPr>
              <a:xfrm>
                <a:off x="111600" y="3625518"/>
                <a:ext cx="11655020" cy="2594108"/>
              </a:xfrm>
              <a:prstGeom prst="rect">
                <a:avLst/>
              </a:prstGeom>
              <a:blipFill>
                <a:blip r:embed="rId5"/>
                <a:stretch>
                  <a:fillRect b="-1176"/>
                </a:stretch>
              </a:blipFill>
            </p:spPr>
            <p:txBody>
              <a:bodyPr/>
              <a:lstStyle/>
              <a:p>
                <a:r>
                  <a:rPr lang="en-US">
                    <a:noFill/>
                  </a:rPr>
                  <a:t> </a:t>
                </a:r>
              </a:p>
            </p:txBody>
          </p:sp>
        </mc:Fallback>
      </mc:AlternateContent>
    </p:spTree>
    <p:extLst>
      <p:ext uri="{BB962C8B-B14F-4D97-AF65-F5344CB8AC3E}">
        <p14:creationId xmlns:p14="http://schemas.microsoft.com/office/powerpoint/2010/main" val="2122147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3876"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054096" y="2766150"/>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400" b="1" dirty="0">
                <a:solidFill>
                  <a:srgbClr val="33BEA6"/>
                </a:solidFill>
                <a:latin typeface="Verdana"/>
                <a:ea typeface="Verdana"/>
                <a:cs typeface="Verdana"/>
                <a:sym typeface="Verdana"/>
              </a:rPr>
              <a:t>Try It</a:t>
            </a:r>
            <a:endParaRPr sz="48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87</a:t>
            </a:r>
            <a:endParaRPr i="1" dirty="0">
              <a:latin typeface="Calibri"/>
              <a:ea typeface="Calibri"/>
              <a:cs typeface="Calibri"/>
              <a:sym typeface="Calibri"/>
            </a:endParaRPr>
          </a:p>
        </p:txBody>
      </p:sp>
      <p:pic>
        <p:nvPicPr>
          <p:cNvPr id="9" name="image2.png">
            <a:extLst>
              <a:ext uri="{FF2B5EF4-FFF2-40B4-BE49-F238E27FC236}">
                <a16:creationId xmlns:a16="http://schemas.microsoft.com/office/drawing/2014/main" id="{B64530AD-4C6C-0348-9D24-874AC7B9F9FB}"/>
              </a:ext>
            </a:extLst>
          </p:cNvPr>
          <p:cNvPicPr/>
          <p:nvPr/>
        </p:nvPicPr>
        <p:blipFill>
          <a:blip r:embed="rId4"/>
          <a:srcRect/>
          <a:stretch>
            <a:fillRect/>
          </a:stretch>
        </p:blipFill>
        <p:spPr>
          <a:xfrm>
            <a:off x="3054096" y="2852928"/>
            <a:ext cx="1152145" cy="1152145"/>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60788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39842" y="0"/>
            <a:ext cx="1059554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3.1.3 Try It: Adding Positive Rational Numbers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87</a:t>
            </a:r>
            <a:endParaRPr i="1" dirty="0">
              <a:latin typeface="Calibri"/>
              <a:ea typeface="Calibri"/>
              <a:cs typeface="Calibri"/>
              <a:sym typeface="Calibri"/>
            </a:endParaRPr>
          </a:p>
        </p:txBody>
      </p:sp>
      <p:sp>
        <p:nvSpPr>
          <p:cNvPr id="11" name="TextBox 10">
            <a:extLst>
              <a:ext uri="{FF2B5EF4-FFF2-40B4-BE49-F238E27FC236}">
                <a16:creationId xmlns:a16="http://schemas.microsoft.com/office/drawing/2014/main" id="{B46B19A2-BBA2-0441-AC88-F1F62E75949B}"/>
              </a:ext>
            </a:extLst>
          </p:cNvPr>
          <p:cNvSpPr txBox="1"/>
          <p:nvPr/>
        </p:nvSpPr>
        <p:spPr>
          <a:xfrm>
            <a:off x="731521" y="1617425"/>
            <a:ext cx="11025050" cy="83099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Match pairs of expressions that have the same sum. Write the equivalent expressions on the lines provided. </a:t>
            </a:r>
          </a:p>
        </p:txBody>
      </p:sp>
      <p:pic>
        <p:nvPicPr>
          <p:cNvPr id="10" name="image2.png">
            <a:extLst>
              <a:ext uri="{FF2B5EF4-FFF2-40B4-BE49-F238E27FC236}">
                <a16:creationId xmlns:a16="http://schemas.microsoft.com/office/drawing/2014/main" id="{F44E4916-1EE1-8749-9704-4CF5CFBD5C54}"/>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56616" y="201168"/>
            <a:ext cx="749811" cy="749811"/>
          </a:xfrm>
          <a:prstGeom prst="rect">
            <a:avLst/>
          </a:prstGeom>
          <a:ln/>
        </p:spPr>
      </p:pic>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2554B9CA-9695-1746-ADBC-EF79CE4D8708}"/>
                  </a:ext>
                </a:extLst>
              </p:cNvPr>
              <p:cNvGraphicFramePr>
                <a:graphicFrameLocks noGrp="1"/>
              </p:cNvGraphicFramePr>
              <p:nvPr>
                <p:extLst>
                  <p:ext uri="{D42A27DB-BD31-4B8C-83A1-F6EECF244321}">
                    <p14:modId xmlns:p14="http://schemas.microsoft.com/office/powerpoint/2010/main" val="2110611240"/>
                  </p:ext>
                </p:extLst>
              </p:nvPr>
            </p:nvGraphicFramePr>
            <p:xfrm>
              <a:off x="2727729" y="3002337"/>
              <a:ext cx="4320000" cy="2880000"/>
            </p:xfrm>
            <a:graphic>
              <a:graphicData uri="http://schemas.openxmlformats.org/drawingml/2006/table">
                <a:tbl>
                  <a:tblPr firstRow="1" firstCol="1" bandRow="1"/>
                  <a:tblGrid>
                    <a:gridCol w="1440000">
                      <a:extLst>
                        <a:ext uri="{9D8B030D-6E8A-4147-A177-3AD203B41FA5}">
                          <a16:colId xmlns:a16="http://schemas.microsoft.com/office/drawing/2014/main" val="4149371527"/>
                        </a:ext>
                      </a:extLst>
                    </a:gridCol>
                    <a:gridCol w="1440000">
                      <a:extLst>
                        <a:ext uri="{9D8B030D-6E8A-4147-A177-3AD203B41FA5}">
                          <a16:colId xmlns:a16="http://schemas.microsoft.com/office/drawing/2014/main" val="1237514969"/>
                        </a:ext>
                      </a:extLst>
                    </a:gridCol>
                    <a:gridCol w="1440000">
                      <a:extLst>
                        <a:ext uri="{9D8B030D-6E8A-4147-A177-3AD203B41FA5}">
                          <a16:colId xmlns:a16="http://schemas.microsoft.com/office/drawing/2014/main" val="775069101"/>
                        </a:ext>
                      </a:extLst>
                    </a:gridCol>
                  </a:tblGrid>
                  <a:tr h="144000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 </m:t>
                                </m:r>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m:t>
                                    </m:r>
                                  </m:den>
                                </m:f>
                              </m:oMath>
                            </m:oMathPara>
                          </a14:m>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 </m:t>
                                </m:r>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den>
                                </m:f>
                              </m:oMath>
                            </m:oMathPara>
                          </a14:m>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 </m:t>
                                </m:r>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18</m:t>
                                    </m:r>
                                  </m:den>
                                </m:f>
                              </m:oMath>
                            </m:oMathPara>
                          </a14:m>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9246207"/>
                      </a:ext>
                    </a:extLst>
                  </a:tr>
                  <a:tr h="144000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9</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 </m:t>
                                </m:r>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den>
                                </m:f>
                              </m:oMath>
                            </m:oMathPara>
                          </a14:m>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15</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15</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 </m:t>
                                </m:r>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30</m:t>
                                    </m:r>
                                  </m:den>
                                </m:f>
                              </m:oMath>
                            </m:oMathPara>
                          </a14:m>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12</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16</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 </m:t>
                                </m:r>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den>
                                </m:f>
                              </m:oMath>
                            </m:oMathPara>
                          </a14:m>
                          <a:endParaRPr lang="x-none"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4392303"/>
                      </a:ext>
                    </a:extLst>
                  </a:tr>
                </a:tbl>
              </a:graphicData>
            </a:graphic>
          </p:graphicFrame>
        </mc:Choice>
        <mc:Fallback xmlns="">
          <p:graphicFrame>
            <p:nvGraphicFramePr>
              <p:cNvPr id="4" name="Table 3">
                <a:extLst>
                  <a:ext uri="{FF2B5EF4-FFF2-40B4-BE49-F238E27FC236}">
                    <a16:creationId xmlns:a16="http://schemas.microsoft.com/office/drawing/2014/main" id="{2554B9CA-9695-1746-ADBC-EF79CE4D8708}"/>
                  </a:ext>
                </a:extLst>
              </p:cNvPr>
              <p:cNvGraphicFramePr>
                <a:graphicFrameLocks noGrp="1"/>
              </p:cNvGraphicFramePr>
              <p:nvPr>
                <p:extLst>
                  <p:ext uri="{D42A27DB-BD31-4B8C-83A1-F6EECF244321}">
                    <p14:modId xmlns:p14="http://schemas.microsoft.com/office/powerpoint/2010/main" val="2110611240"/>
                  </p:ext>
                </p:extLst>
              </p:nvPr>
            </p:nvGraphicFramePr>
            <p:xfrm>
              <a:off x="2727729" y="3002337"/>
              <a:ext cx="4320000" cy="2880000"/>
            </p:xfrm>
            <a:graphic>
              <a:graphicData uri="http://schemas.openxmlformats.org/drawingml/2006/table">
                <a:tbl>
                  <a:tblPr firstRow="1" firstCol="1" bandRow="1"/>
                  <a:tblGrid>
                    <a:gridCol w="1440000">
                      <a:extLst>
                        <a:ext uri="{9D8B030D-6E8A-4147-A177-3AD203B41FA5}">
                          <a16:colId xmlns:a16="http://schemas.microsoft.com/office/drawing/2014/main" val="4149371527"/>
                        </a:ext>
                      </a:extLst>
                    </a:gridCol>
                    <a:gridCol w="1440000">
                      <a:extLst>
                        <a:ext uri="{9D8B030D-6E8A-4147-A177-3AD203B41FA5}">
                          <a16:colId xmlns:a16="http://schemas.microsoft.com/office/drawing/2014/main" val="1237514969"/>
                        </a:ext>
                      </a:extLst>
                    </a:gridCol>
                    <a:gridCol w="1440000">
                      <a:extLst>
                        <a:ext uri="{9D8B030D-6E8A-4147-A177-3AD203B41FA5}">
                          <a16:colId xmlns:a16="http://schemas.microsoft.com/office/drawing/2014/main" val="775069101"/>
                        </a:ext>
                      </a:extLst>
                    </a:gridCol>
                  </a:tblGrid>
                  <a:tr h="1440000">
                    <a:tc>
                      <a:txBody>
                        <a:bodyPr/>
                        <a:lstStyle/>
                        <a:p>
                          <a:endParaRPr lang="en-US"/>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877" t="-877" r="-200877" b="-101754"/>
                          </a:stretch>
                        </a:blipFill>
                      </a:tcPr>
                    </a:tc>
                    <a:tc>
                      <a:txBody>
                        <a:bodyPr/>
                        <a:lstStyle/>
                        <a:p>
                          <a:endParaRPr lang="en-US"/>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01770" t="-877" r="-102655" b="-101754"/>
                          </a:stretch>
                        </a:blipFill>
                      </a:tcPr>
                    </a:tc>
                    <a:tc>
                      <a:txBody>
                        <a:bodyPr/>
                        <a:lstStyle/>
                        <a:p>
                          <a:endParaRPr lang="en-US"/>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00000" t="-877" r="-1754" b="-101754"/>
                          </a:stretch>
                        </a:blipFill>
                      </a:tcPr>
                    </a:tc>
                    <a:extLst>
                      <a:ext uri="{0D108BD9-81ED-4DB2-BD59-A6C34878D82A}">
                        <a16:rowId xmlns:a16="http://schemas.microsoft.com/office/drawing/2014/main" val="809246207"/>
                      </a:ext>
                    </a:extLst>
                  </a:tr>
                  <a:tr h="1440000">
                    <a:tc>
                      <a:txBody>
                        <a:bodyPr/>
                        <a:lstStyle/>
                        <a:p>
                          <a:endParaRPr lang="en-US"/>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877" t="-100877" r="-200877" b="-1754"/>
                          </a:stretch>
                        </a:blipFill>
                      </a:tcPr>
                    </a:tc>
                    <a:tc>
                      <a:txBody>
                        <a:bodyPr/>
                        <a:lstStyle/>
                        <a:p>
                          <a:endParaRPr lang="en-US"/>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01770" t="-100877" r="-102655" b="-1754"/>
                          </a:stretch>
                        </a:blipFill>
                      </a:tcPr>
                    </a:tc>
                    <a:tc>
                      <a:txBody>
                        <a:bodyPr/>
                        <a:lstStyle/>
                        <a:p>
                          <a:endParaRPr lang="en-US"/>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00000" t="-100877" r="-1754" b="-1754"/>
                          </a:stretch>
                        </a:blipFill>
                      </a:tcPr>
                    </a:tc>
                    <a:extLst>
                      <a:ext uri="{0D108BD9-81ED-4DB2-BD59-A6C34878D82A}">
                        <a16:rowId xmlns:a16="http://schemas.microsoft.com/office/drawing/2014/main" val="4184392303"/>
                      </a:ext>
                    </a:extLst>
                  </a:tr>
                </a:tbl>
              </a:graphicData>
            </a:graphic>
          </p:graphicFrame>
        </mc:Fallback>
      </mc:AlternateContent>
      <p:sp>
        <p:nvSpPr>
          <p:cNvPr id="12" name="TextBox 11">
            <a:extLst>
              <a:ext uri="{FF2B5EF4-FFF2-40B4-BE49-F238E27FC236}">
                <a16:creationId xmlns:a16="http://schemas.microsoft.com/office/drawing/2014/main" id="{4B71B7AA-10E7-9B44-A591-563821260A41}"/>
              </a:ext>
            </a:extLst>
          </p:cNvPr>
          <p:cNvSpPr txBox="1"/>
          <p:nvPr/>
        </p:nvSpPr>
        <p:spPr>
          <a:xfrm>
            <a:off x="7136032" y="3109480"/>
            <a:ext cx="3721155" cy="2862322"/>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_________ = _________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_________ = _________ </a:t>
            </a:r>
          </a:p>
          <a:p>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_________ = _________ </a:t>
            </a:r>
          </a:p>
        </p:txBody>
      </p:sp>
    </p:spTree>
    <p:extLst>
      <p:ext uri="{BB962C8B-B14F-4D97-AF65-F5344CB8AC3E}">
        <p14:creationId xmlns:p14="http://schemas.microsoft.com/office/powerpoint/2010/main" val="16744370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332"/>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42228" y="2784144"/>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Refresher</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87</a:t>
            </a:r>
            <a:endParaRPr i="1" dirty="0">
              <a:latin typeface="Calibri"/>
              <a:ea typeface="Calibri"/>
              <a:cs typeface="Calibri"/>
              <a:sym typeface="Calibri"/>
            </a:endParaRPr>
          </a:p>
        </p:txBody>
      </p:sp>
      <p:pic>
        <p:nvPicPr>
          <p:cNvPr id="7" name="image12.png" descr="Icon&#10;&#10;Description automatically generated">
            <a:extLst>
              <a:ext uri="{FF2B5EF4-FFF2-40B4-BE49-F238E27FC236}">
                <a16:creationId xmlns:a16="http://schemas.microsoft.com/office/drawing/2014/main" id="{CA37EB4F-AD06-9442-B14A-5AE5851B0FDD}"/>
              </a:ext>
            </a:extLst>
          </p:cNvPr>
          <p:cNvPicPr/>
          <p:nvPr/>
        </p:nvPicPr>
        <p:blipFill>
          <a:blip r:embed="rId4"/>
          <a:srcRect/>
          <a:stretch>
            <a:fillRect/>
          </a:stretch>
        </p:blipFill>
        <p:spPr>
          <a:xfrm>
            <a:off x="3054096" y="2852928"/>
            <a:ext cx="1188132" cy="1188132"/>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184323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37465" y="79593"/>
            <a:ext cx="10750219" cy="10894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54B5D1"/>
                </a:solidFill>
                <a:latin typeface="Verdana"/>
                <a:ea typeface="Verdana"/>
                <a:cs typeface="Verdana"/>
                <a:sym typeface="Verdana"/>
              </a:rPr>
              <a:t>3.1.4 Refresher: Operations with Integers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87</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730331" y="1314478"/>
            <a:ext cx="1044343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Work with your partner to complete the table. </a:t>
            </a:r>
            <a:b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b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first addition expression has been done for you. </a:t>
            </a:r>
          </a:p>
        </p:txBody>
      </p:sp>
      <p:pic>
        <p:nvPicPr>
          <p:cNvPr id="8" name="image12.png" descr="Icon&#10;&#10;Description automatically generated">
            <a:extLst>
              <a:ext uri="{FF2B5EF4-FFF2-40B4-BE49-F238E27FC236}">
                <a16:creationId xmlns:a16="http://schemas.microsoft.com/office/drawing/2014/main" id="{D5444911-581A-4044-B69F-A304F9D66740}"/>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56616" y="201168"/>
            <a:ext cx="747433" cy="747433"/>
          </a:xfrm>
          <a:prstGeom prst="rect">
            <a:avLst/>
          </a:prstGeom>
          <a:ln/>
        </p:spPr>
      </p:pic>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B39789FF-AFD5-4644-A9B5-09C94B4E6F92}"/>
                  </a:ext>
                </a:extLst>
              </p:cNvPr>
              <p:cNvGraphicFramePr>
                <a:graphicFrameLocks noGrp="1"/>
              </p:cNvGraphicFramePr>
              <p:nvPr>
                <p:extLst>
                  <p:ext uri="{D42A27DB-BD31-4B8C-83A1-F6EECF244321}">
                    <p14:modId xmlns:p14="http://schemas.microsoft.com/office/powerpoint/2010/main" val="2308954726"/>
                  </p:ext>
                </p:extLst>
              </p:nvPr>
            </p:nvGraphicFramePr>
            <p:xfrm>
              <a:off x="2093584" y="2093742"/>
              <a:ext cx="8280000" cy="3864594"/>
            </p:xfrm>
            <a:graphic>
              <a:graphicData uri="http://schemas.openxmlformats.org/drawingml/2006/table">
                <a:tbl>
                  <a:tblPr firstRow="1" firstCol="1" bandRow="1"/>
                  <a:tblGrid>
                    <a:gridCol w="1800000">
                      <a:extLst>
                        <a:ext uri="{9D8B030D-6E8A-4147-A177-3AD203B41FA5}">
                          <a16:colId xmlns:a16="http://schemas.microsoft.com/office/drawing/2014/main" val="967340752"/>
                        </a:ext>
                      </a:extLst>
                    </a:gridCol>
                    <a:gridCol w="1440000">
                      <a:extLst>
                        <a:ext uri="{9D8B030D-6E8A-4147-A177-3AD203B41FA5}">
                          <a16:colId xmlns:a16="http://schemas.microsoft.com/office/drawing/2014/main" val="3910908675"/>
                        </a:ext>
                      </a:extLst>
                    </a:gridCol>
                    <a:gridCol w="1440000">
                      <a:extLst>
                        <a:ext uri="{9D8B030D-6E8A-4147-A177-3AD203B41FA5}">
                          <a16:colId xmlns:a16="http://schemas.microsoft.com/office/drawing/2014/main" val="1793446429"/>
                        </a:ext>
                      </a:extLst>
                    </a:gridCol>
                    <a:gridCol w="1440000">
                      <a:extLst>
                        <a:ext uri="{9D8B030D-6E8A-4147-A177-3AD203B41FA5}">
                          <a16:colId xmlns:a16="http://schemas.microsoft.com/office/drawing/2014/main" val="59674594"/>
                        </a:ext>
                      </a:extLst>
                    </a:gridCol>
                    <a:gridCol w="1080000">
                      <a:extLst>
                        <a:ext uri="{9D8B030D-6E8A-4147-A177-3AD203B41FA5}">
                          <a16:colId xmlns:a16="http://schemas.microsoft.com/office/drawing/2014/main" val="1710049185"/>
                        </a:ext>
                      </a:extLst>
                    </a:gridCol>
                    <a:gridCol w="1080000">
                      <a:extLst>
                        <a:ext uri="{9D8B030D-6E8A-4147-A177-3AD203B41FA5}">
                          <a16:colId xmlns:a16="http://schemas.microsoft.com/office/drawing/2014/main" val="566101635"/>
                        </a:ext>
                      </a:extLst>
                    </a:gridCol>
                  </a:tblGrid>
                  <a:tr h="1467188">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Expression</a:t>
                          </a:r>
                          <a:endParaRPr lang="x-none"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Absolute Value of First Addend</a:t>
                          </a:r>
                          <a:endParaRPr lang="x-none"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Absolute Value of Second Addend</a:t>
                          </a:r>
                          <a:endParaRPr lang="x-none"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Addend with Greater Absolute Value</a:t>
                          </a:r>
                          <a:endParaRPr lang="x-none"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Sign of Sum</a:t>
                          </a:r>
                          <a:endParaRPr lang="x-none"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Sum</a:t>
                          </a:r>
                          <a:endParaRPr lang="x-none"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699491175"/>
                      </a:ext>
                    </a:extLst>
                  </a:tr>
                  <a:tr h="540000">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sPre>
                                      <m:sPre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PrePr>
                                      <m:sub/>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up>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Pre>
                                  </m:e>
                                </m:d>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oMath>
                            </m:oMathPara>
                          </a14:m>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dirty="0">
                              <a:effectLst/>
                              <a:latin typeface="Cambria Math" panose="02040503050406030204" pitchFamily="18" charset="0"/>
                              <a:ea typeface="Times New Roman" panose="02020603050405020304" pitchFamily="18" charset="0"/>
                              <a:cs typeface="Times New Roman" panose="02020603050405020304" pitchFamily="18" charset="0"/>
                            </a:rPr>
                            <a:t>10</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Cambria Math" panose="02040503050406030204" pitchFamily="18" charset="0"/>
                              <a:ea typeface="Times New Roman" panose="02020603050405020304" pitchFamily="18" charset="0"/>
                              <a:cs typeface="Times New Roman" panose="02020603050405020304" pitchFamily="18" charset="0"/>
                            </a:rPr>
                            <a:t>6</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Pre>
                                  <m:sPre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PrePr>
                                  <m:sub/>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up>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Pre>
                              </m:oMath>
                            </m:oMathPara>
                          </a14:m>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Cambria Math" panose="02040503050406030204" pitchFamily="18" charset="0"/>
                              <a:ea typeface="Times New Roman" panose="02020603050405020304" pitchFamily="18" charset="0"/>
                              <a:cs typeface="Times New Roman" panose="02020603050405020304" pitchFamily="18" charset="0"/>
                            </a:rPr>
                            <a:t>–</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Pre>
                                  <m:sPre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PrePr>
                                  <m:sub/>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up>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e>
                                </m:sPre>
                              </m:oMath>
                            </m:oMathPara>
                          </a14:m>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0099003"/>
                      </a:ext>
                    </a:extLst>
                  </a:tr>
                  <a:tr h="540000">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Times New Roman" panose="02020603050405020304" pitchFamily="18" charset="0"/>
                                    <a:cs typeface="Times New Roman" panose="02020603050405020304" pitchFamily="18" charset="0"/>
                                  </a:rPr>
                                  <m:t>10+</m:t>
                                </m:r>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sPre>
                                      <m:sPre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PrePr>
                                      <m:sub/>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up>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e>
                                    </m:sPre>
                                  </m:e>
                                </m:d>
                              </m:oMath>
                            </m:oMathPara>
                          </a14:m>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4951374"/>
                      </a:ext>
                    </a:extLst>
                  </a:tr>
                  <a:tr h="540000">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sPre>
                                      <m:sPre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PrePr>
                                      <m:sub/>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up>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Pre>
                                  </m:e>
                                </m:d>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sPre>
                                      <m:sPre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PrePr>
                                      <m:sub/>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up>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e>
                                    </m:sPre>
                                  </m:e>
                                </m:d>
                              </m:oMath>
                            </m:oMathPara>
                          </a14:m>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dirty="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7281514"/>
                      </a:ext>
                    </a:extLst>
                  </a:tr>
                  <a:tr h="540000">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10+6</m:t>
                                </m:r>
                              </m:oMath>
                            </m:oMathPara>
                          </a14:m>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dirty="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dirty="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6389527"/>
                      </a:ext>
                    </a:extLst>
                  </a:tr>
                </a:tbl>
              </a:graphicData>
            </a:graphic>
          </p:graphicFrame>
        </mc:Choice>
        <mc:Fallback>
          <p:graphicFrame>
            <p:nvGraphicFramePr>
              <p:cNvPr id="3" name="Table 2">
                <a:extLst>
                  <a:ext uri="{FF2B5EF4-FFF2-40B4-BE49-F238E27FC236}">
                    <a16:creationId xmlns:a16="http://schemas.microsoft.com/office/drawing/2014/main" id="{B39789FF-AFD5-4644-A9B5-09C94B4E6F92}"/>
                  </a:ext>
                </a:extLst>
              </p:cNvPr>
              <p:cNvGraphicFramePr>
                <a:graphicFrameLocks noGrp="1"/>
              </p:cNvGraphicFramePr>
              <p:nvPr>
                <p:extLst>
                  <p:ext uri="{D42A27DB-BD31-4B8C-83A1-F6EECF244321}">
                    <p14:modId xmlns:p14="http://schemas.microsoft.com/office/powerpoint/2010/main" val="2308954726"/>
                  </p:ext>
                </p:extLst>
              </p:nvPr>
            </p:nvGraphicFramePr>
            <p:xfrm>
              <a:off x="2093584" y="2093742"/>
              <a:ext cx="8280000" cy="3864594"/>
            </p:xfrm>
            <a:graphic>
              <a:graphicData uri="http://schemas.openxmlformats.org/drawingml/2006/table">
                <a:tbl>
                  <a:tblPr firstRow="1" firstCol="1" bandRow="1"/>
                  <a:tblGrid>
                    <a:gridCol w="1800000">
                      <a:extLst>
                        <a:ext uri="{9D8B030D-6E8A-4147-A177-3AD203B41FA5}">
                          <a16:colId xmlns:a16="http://schemas.microsoft.com/office/drawing/2014/main" val="967340752"/>
                        </a:ext>
                      </a:extLst>
                    </a:gridCol>
                    <a:gridCol w="1440000">
                      <a:extLst>
                        <a:ext uri="{9D8B030D-6E8A-4147-A177-3AD203B41FA5}">
                          <a16:colId xmlns:a16="http://schemas.microsoft.com/office/drawing/2014/main" val="3910908675"/>
                        </a:ext>
                      </a:extLst>
                    </a:gridCol>
                    <a:gridCol w="1440000">
                      <a:extLst>
                        <a:ext uri="{9D8B030D-6E8A-4147-A177-3AD203B41FA5}">
                          <a16:colId xmlns:a16="http://schemas.microsoft.com/office/drawing/2014/main" val="1793446429"/>
                        </a:ext>
                      </a:extLst>
                    </a:gridCol>
                    <a:gridCol w="1440000">
                      <a:extLst>
                        <a:ext uri="{9D8B030D-6E8A-4147-A177-3AD203B41FA5}">
                          <a16:colId xmlns:a16="http://schemas.microsoft.com/office/drawing/2014/main" val="59674594"/>
                        </a:ext>
                      </a:extLst>
                    </a:gridCol>
                    <a:gridCol w="1080000">
                      <a:extLst>
                        <a:ext uri="{9D8B030D-6E8A-4147-A177-3AD203B41FA5}">
                          <a16:colId xmlns:a16="http://schemas.microsoft.com/office/drawing/2014/main" val="1710049185"/>
                        </a:ext>
                      </a:extLst>
                    </a:gridCol>
                    <a:gridCol w="1080000">
                      <a:extLst>
                        <a:ext uri="{9D8B030D-6E8A-4147-A177-3AD203B41FA5}">
                          <a16:colId xmlns:a16="http://schemas.microsoft.com/office/drawing/2014/main" val="566101635"/>
                        </a:ext>
                      </a:extLst>
                    </a:gridCol>
                  </a:tblGrid>
                  <a:tr h="1704594">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Expression</a:t>
                          </a:r>
                          <a:endParaRPr lang="x-none"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Absolute Value of First Addend</a:t>
                          </a:r>
                          <a:endParaRPr lang="x-none"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Absolute Value of Second Addend</a:t>
                          </a:r>
                          <a:endParaRPr lang="x-none"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Addend with Greater Absolute Value</a:t>
                          </a:r>
                          <a:endParaRPr lang="x-none"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Sign of Sum</a:t>
                          </a:r>
                          <a:endParaRPr lang="x-none"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Sum</a:t>
                          </a:r>
                          <a:endParaRPr lang="x-none"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699491175"/>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678" t="-321348" r="-361695" b="-302247"/>
                          </a:stretch>
                        </a:blipFill>
                      </a:tcPr>
                    </a:tc>
                    <a:tc>
                      <a:txBody>
                        <a:bodyPr/>
                        <a:lstStyle/>
                        <a:p>
                          <a:pPr marL="0" marR="0" algn="ctr">
                            <a:lnSpc>
                              <a:spcPct val="100000"/>
                            </a:lnSpc>
                            <a:spcBef>
                              <a:spcPts val="0"/>
                            </a:spcBef>
                            <a:spcAft>
                              <a:spcPts val="0"/>
                            </a:spcAft>
                          </a:pPr>
                          <a:r>
                            <a:rPr lang="en-US" sz="2000" dirty="0">
                              <a:effectLst/>
                              <a:latin typeface="Cambria Math" panose="02040503050406030204" pitchFamily="18" charset="0"/>
                              <a:ea typeface="Times New Roman" panose="02020603050405020304" pitchFamily="18" charset="0"/>
                              <a:cs typeface="Times New Roman" panose="02020603050405020304" pitchFamily="18" charset="0"/>
                            </a:rPr>
                            <a:t>10</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Cambria Math" panose="02040503050406030204" pitchFamily="18" charset="0"/>
                              <a:ea typeface="Times New Roman" panose="02020603050405020304" pitchFamily="18" charset="0"/>
                              <a:cs typeface="Times New Roman" panose="02020603050405020304" pitchFamily="18" charset="0"/>
                            </a:rPr>
                            <a:t>6</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326271" t="-321348" r="-151695" b="-302247"/>
                          </a:stretch>
                        </a:blipFill>
                      </a:tcPr>
                    </a:tc>
                    <a:tc>
                      <a:txBody>
                        <a:bodyPr/>
                        <a:lstStyle/>
                        <a:p>
                          <a:pPr marL="0" marR="0" algn="ctr">
                            <a:lnSpc>
                              <a:spcPct val="100000"/>
                            </a:lnSpc>
                            <a:spcBef>
                              <a:spcPts val="0"/>
                            </a:spcBef>
                            <a:spcAft>
                              <a:spcPts val="0"/>
                            </a:spcAft>
                          </a:pPr>
                          <a:r>
                            <a:rPr lang="en-US" sz="2000">
                              <a:effectLst/>
                              <a:latin typeface="Cambria Math" panose="02040503050406030204" pitchFamily="18" charset="0"/>
                              <a:ea typeface="Times New Roman" panose="02020603050405020304" pitchFamily="18" charset="0"/>
                              <a:cs typeface="Times New Roman" panose="02020603050405020304" pitchFamily="18" charset="0"/>
                            </a:rPr>
                            <a:t>–</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668927" t="-321348" r="-1695" b="-302247"/>
                          </a:stretch>
                        </a:blipFill>
                      </a:tcPr>
                    </a:tc>
                    <a:extLst>
                      <a:ext uri="{0D108BD9-81ED-4DB2-BD59-A6C34878D82A}">
                        <a16:rowId xmlns:a16="http://schemas.microsoft.com/office/drawing/2014/main" val="980099003"/>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678" t="-421348" r="-361695" b="-202247"/>
                          </a:stretch>
                        </a:blipFill>
                      </a:tcPr>
                    </a:tc>
                    <a:tc>
                      <a:txBody>
                        <a:bodyPr/>
                        <a:lstStyle/>
                        <a:p>
                          <a:pPr marL="0" marR="0" algn="ctr">
                            <a:lnSpc>
                              <a:spcPct val="100000"/>
                            </a:lnSpc>
                            <a:spcBef>
                              <a:spcPts val="0"/>
                            </a:spcBef>
                            <a:spcAft>
                              <a:spcPts val="0"/>
                            </a:spcAft>
                          </a:pPr>
                          <a:r>
                            <a:rPr lang="en-US" sz="200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4951374"/>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678" t="-527273" r="-361695" b="-104545"/>
                          </a:stretch>
                        </a:blipFill>
                      </a:tcPr>
                    </a:tc>
                    <a:tc>
                      <a:txBody>
                        <a:bodyPr/>
                        <a:lstStyle/>
                        <a:p>
                          <a:pPr marL="0" marR="0" algn="ctr">
                            <a:lnSpc>
                              <a:spcPct val="100000"/>
                            </a:lnSpc>
                            <a:spcBef>
                              <a:spcPts val="0"/>
                            </a:spcBef>
                            <a:spcAft>
                              <a:spcPts val="0"/>
                            </a:spcAft>
                          </a:pPr>
                          <a:r>
                            <a:rPr lang="en-US" sz="2000" dirty="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7281514"/>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678" t="-620225" r="-361695" b="-3371"/>
                          </a:stretch>
                        </a:blipFill>
                      </a:tcPr>
                    </a:tc>
                    <a:tc>
                      <a:txBody>
                        <a:bodyPr/>
                        <a:lstStyle/>
                        <a:p>
                          <a:pPr marL="0" marR="0" algn="ctr">
                            <a:lnSpc>
                              <a:spcPct val="100000"/>
                            </a:lnSpc>
                            <a:spcBef>
                              <a:spcPts val="0"/>
                            </a:spcBef>
                            <a:spcAft>
                              <a:spcPts val="0"/>
                            </a:spcAft>
                          </a:pPr>
                          <a:r>
                            <a:rPr lang="en-US" sz="2000" dirty="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dirty="0">
                              <a:effectLst/>
                              <a:latin typeface="Cambria Math" panose="02040503050406030204" pitchFamily="18" charset="0"/>
                              <a:ea typeface="Times New Roman" panose="02020603050405020304" pitchFamily="18" charset="0"/>
                              <a:cs typeface="Times New Roman" panose="02020603050405020304" pitchFamily="18" charset="0"/>
                            </a:rPr>
                            <a:t> </a:t>
                          </a:r>
                          <a:endParaRPr lang="x-none"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6389527"/>
                      </a:ext>
                    </a:extLst>
                  </a:tr>
                </a:tbl>
              </a:graphicData>
            </a:graphic>
          </p:graphicFrame>
        </mc:Fallback>
      </mc:AlternateContent>
    </p:spTree>
    <p:extLst>
      <p:ext uri="{BB962C8B-B14F-4D97-AF65-F5344CB8AC3E}">
        <p14:creationId xmlns:p14="http://schemas.microsoft.com/office/powerpoint/2010/main" val="38876743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9908"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87</a:t>
            </a:r>
            <a:endParaRPr i="1" dirty="0">
              <a:latin typeface="Calibri"/>
              <a:ea typeface="Calibri"/>
              <a:cs typeface="Calibri"/>
              <a:sym typeface="Calibri"/>
            </a:endParaRPr>
          </a:p>
        </p:txBody>
      </p:sp>
      <p:sp>
        <p:nvSpPr>
          <p:cNvPr id="6" name="Rectangle 5">
            <a:extLst>
              <a:ext uri="{FF2B5EF4-FFF2-40B4-BE49-F238E27FC236}">
                <a16:creationId xmlns:a16="http://schemas.microsoft.com/office/drawing/2014/main" id="{5C5D1B9F-A752-AD42-8D60-9B883A2514E7}"/>
              </a:ext>
            </a:extLst>
          </p:cNvPr>
          <p:cNvSpPr>
            <a:spLocks noChangeArrowheads="1"/>
          </p:cNvSpPr>
          <p:nvPr/>
        </p:nvSpPr>
        <p:spPr bwMode="auto">
          <a:xfrm>
            <a:off x="592475" y="498969"/>
            <a:ext cx="11154047"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startAt="2"/>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How did the size of the absolute value for each addend determine the sign of the sum?</a:t>
            </a:r>
          </a:p>
          <a:p>
            <a:pPr marL="457200" indent="-457200" eaLnBrk="0" fontAlgn="base" hangingPunct="0">
              <a:spcBef>
                <a:spcPct val="0"/>
              </a:spcBef>
              <a:spcAft>
                <a:spcPct val="0"/>
              </a:spcAft>
              <a:buClrTx/>
              <a:buFont typeface="+mj-lt"/>
              <a:buAutoNum type="arabi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Explain how finding the sum for the first two expressions was different from finding the sum for the last two expressions. </a:t>
            </a:r>
          </a:p>
        </p:txBody>
      </p:sp>
    </p:spTree>
    <p:extLst>
      <p:ext uri="{BB962C8B-B14F-4D97-AF65-F5344CB8AC3E}">
        <p14:creationId xmlns:p14="http://schemas.microsoft.com/office/powerpoint/2010/main" val="32381065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5C5D1B9F-A752-AD42-8D60-9B883A2514E7}"/>
                  </a:ext>
                </a:extLst>
              </p:cNvPr>
              <p:cNvSpPr>
                <a:spLocks noChangeArrowheads="1"/>
              </p:cNvSpPr>
              <p:nvPr/>
            </p:nvSpPr>
            <p:spPr bwMode="auto">
              <a:xfrm>
                <a:off x="652765" y="458869"/>
                <a:ext cx="11043516" cy="306327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startAt="4"/>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How were the sums for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10+(</m:t>
                    </m:r>
                    <m:sPre>
                      <m:sPrePr>
                        <m:ctrlP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PrePr>
                      <m:sub/>
                      <m:sup>
                        <m:r>
                          <a:rPr lang="es-E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sup>
                      <m:e>
                        <m:r>
                          <a:rPr lang="es-E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6</m:t>
                        </m:r>
                      </m:e>
                    </m:sPre>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sPre>
                      <m:sPrePr>
                        <m:ctrlP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PrePr>
                      <m:sub/>
                      <m:sup>
                        <m:r>
                          <a:rPr lang="es-E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sup>
                      <m:e>
                        <m:r>
                          <a:rPr lang="es-E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10</m:t>
                        </m:r>
                      </m:e>
                    </m:sPre>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)+6</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similar?</a:t>
                </a:r>
              </a:p>
              <a:p>
                <a:pPr marL="457200" indent="-457200" eaLnBrk="0" fontAlgn="base" hangingPunct="0">
                  <a:spcBef>
                    <a:spcPct val="0"/>
                  </a:spcBef>
                  <a:spcAft>
                    <a:spcPct val="0"/>
                  </a:spcAft>
                  <a:buClrTx/>
                  <a:buFont typeface="+mj-lt"/>
                  <a:buAutoNum type="arabicPeriod" startAt="4"/>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4"/>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4"/>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4"/>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4"/>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4"/>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4"/>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How were the sums for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sPre>
                      <m:sPrePr>
                        <m:ctrlP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PrePr>
                      <m:sub/>
                      <m:sup>
                        <m:r>
                          <a:rPr lang="es-E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sup>
                      <m:e>
                        <m:r>
                          <a:rPr lang="es-E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10</m:t>
                        </m:r>
                      </m:e>
                    </m:sPre>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sPre>
                      <m:sPrePr>
                        <m:ctrlP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PrePr>
                      <m:sub/>
                      <m:sup>
                        <m:r>
                          <a:rPr lang="es-E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sup>
                      <m:e>
                        <m:r>
                          <a:rPr lang="es-E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6</m:t>
                        </m:r>
                      </m:e>
                    </m:sPre>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10+6</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different? </a:t>
                </a:r>
              </a:p>
            </p:txBody>
          </p:sp>
        </mc:Choice>
        <mc:Fallback xmlns="">
          <p:sp>
            <p:nvSpPr>
              <p:cNvPr id="6" name="Rectangle 5">
                <a:extLst>
                  <a:ext uri="{FF2B5EF4-FFF2-40B4-BE49-F238E27FC236}">
                    <a16:creationId xmlns:a16="http://schemas.microsoft.com/office/drawing/2014/main" id="{5C5D1B9F-A752-AD42-8D60-9B883A2514E7}"/>
                  </a:ext>
                </a:extLst>
              </p:cNvPr>
              <p:cNvSpPr>
                <a:spLocks noRot="1" noChangeAspect="1" noMove="1" noResize="1" noEditPoints="1" noAdjustHandles="1" noChangeArrowheads="1" noChangeShapeType="1" noTextEdit="1"/>
              </p:cNvSpPr>
              <p:nvPr/>
            </p:nvSpPr>
            <p:spPr bwMode="auto">
              <a:xfrm>
                <a:off x="652765" y="458869"/>
                <a:ext cx="11043516" cy="3063274"/>
              </a:xfrm>
              <a:prstGeom prst="rect">
                <a:avLst/>
              </a:prstGeom>
              <a:blipFill>
                <a:blip r:embed="rId4"/>
                <a:stretch>
                  <a:fillRect l="-918" t="-2066" b="-289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29222711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88</a:t>
            </a:r>
            <a:endParaRPr i="1" dirty="0">
              <a:latin typeface="Calibri"/>
              <a:ea typeface="Calibri"/>
              <a:cs typeface="Calibri"/>
              <a:sym typeface="Calibri"/>
            </a:endParaRPr>
          </a:p>
        </p:txBody>
      </p:sp>
      <p:sp>
        <p:nvSpPr>
          <p:cNvPr id="6" name="Rectangle 5">
            <a:extLst>
              <a:ext uri="{FF2B5EF4-FFF2-40B4-BE49-F238E27FC236}">
                <a16:creationId xmlns:a16="http://schemas.microsoft.com/office/drawing/2014/main" id="{5C5D1B9F-A752-AD42-8D60-9B883A2514E7}"/>
              </a:ext>
            </a:extLst>
          </p:cNvPr>
          <p:cNvSpPr>
            <a:spLocks noChangeArrowheads="1"/>
          </p:cNvSpPr>
          <p:nvPr/>
        </p:nvSpPr>
        <p:spPr bwMode="auto">
          <a:xfrm>
            <a:off x="712593" y="421048"/>
            <a:ext cx="10802818" cy="3710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startAt="6"/>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Complete the statements using the words </a:t>
            </a:r>
            <a:r>
              <a:rPr lang="en-US" altLang="en-US" sz="2400" i="1"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same</a:t>
            </a: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or </a:t>
            </a:r>
            <a:r>
              <a:rPr lang="en-US" altLang="en-US" sz="2400" i="1"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different</a:t>
            </a: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to describe the rules for finding the sums of signed numbers. </a:t>
            </a:r>
          </a:p>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p>
          <a:p>
            <a:pPr marL="444500" eaLnBrk="0" fontAlgn="base" hangingPunct="0">
              <a:lnSpc>
                <a:spcPct val="150000"/>
              </a:lnSpc>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When two addends have the _____________ sign, the sum will have the sign of the addends. </a:t>
            </a: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44500" eaLnBrk="0" fontAlgn="base" hangingPunct="0">
              <a:lnSpc>
                <a:spcPct val="150000"/>
              </a:lnSpc>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When two addends have _____________ signs, the sum will have the sign of the addend with the greater absolute value. </a:t>
            </a:r>
          </a:p>
        </p:txBody>
      </p:sp>
    </p:spTree>
    <p:extLst>
      <p:ext uri="{BB962C8B-B14F-4D97-AF65-F5344CB8AC3E}">
        <p14:creationId xmlns:p14="http://schemas.microsoft.com/office/powerpoint/2010/main" val="1089331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88</a:t>
            </a:r>
            <a:endParaRPr i="1" dirty="0">
              <a:latin typeface="Calibri"/>
              <a:ea typeface="Calibri"/>
              <a:cs typeface="Calibri"/>
              <a:sym typeface="Calibri"/>
            </a:endParaRPr>
          </a:p>
        </p:txBody>
      </p:sp>
      <p:sp>
        <p:nvSpPr>
          <p:cNvPr id="6" name="Rectangle 5">
            <a:extLst>
              <a:ext uri="{FF2B5EF4-FFF2-40B4-BE49-F238E27FC236}">
                <a16:creationId xmlns:a16="http://schemas.microsoft.com/office/drawing/2014/main" id="{5C5D1B9F-A752-AD42-8D60-9B883A2514E7}"/>
              </a:ext>
            </a:extLst>
          </p:cNvPr>
          <p:cNvSpPr>
            <a:spLocks noChangeArrowheads="1"/>
          </p:cNvSpPr>
          <p:nvPr/>
        </p:nvSpPr>
        <p:spPr bwMode="auto">
          <a:xfrm>
            <a:off x="451798" y="355700"/>
            <a:ext cx="1196796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startAt="7"/>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Apply the rules for integers to these expressions with rational numbers. Find the sum of each expression. Then, verify your answer using a calculator. </a:t>
            </a:r>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66E12E39-C625-4B4D-A6B7-0E797EAFAA51}"/>
                  </a:ext>
                </a:extLst>
              </p:cNvPr>
              <p:cNvGraphicFramePr>
                <a:graphicFrameLocks noGrp="1"/>
              </p:cNvGraphicFramePr>
              <p:nvPr>
                <p:extLst>
                  <p:ext uri="{D42A27DB-BD31-4B8C-83A1-F6EECF244321}">
                    <p14:modId xmlns:p14="http://schemas.microsoft.com/office/powerpoint/2010/main" val="3401248857"/>
                  </p:ext>
                </p:extLst>
              </p:nvPr>
            </p:nvGraphicFramePr>
            <p:xfrm>
              <a:off x="2617245" y="1515015"/>
              <a:ext cx="7560000" cy="4655356"/>
            </p:xfrm>
            <a:graphic>
              <a:graphicData uri="http://schemas.openxmlformats.org/drawingml/2006/table">
                <a:tbl>
                  <a:tblPr firstRow="1" firstCol="1" bandRow="1"/>
                  <a:tblGrid>
                    <a:gridCol w="2340000">
                      <a:extLst>
                        <a:ext uri="{9D8B030D-6E8A-4147-A177-3AD203B41FA5}">
                          <a16:colId xmlns:a16="http://schemas.microsoft.com/office/drawing/2014/main" val="3716163204"/>
                        </a:ext>
                      </a:extLst>
                    </a:gridCol>
                    <a:gridCol w="1800000">
                      <a:extLst>
                        <a:ext uri="{9D8B030D-6E8A-4147-A177-3AD203B41FA5}">
                          <a16:colId xmlns:a16="http://schemas.microsoft.com/office/drawing/2014/main" val="795894218"/>
                        </a:ext>
                      </a:extLst>
                    </a:gridCol>
                    <a:gridCol w="1800000">
                      <a:extLst>
                        <a:ext uri="{9D8B030D-6E8A-4147-A177-3AD203B41FA5}">
                          <a16:colId xmlns:a16="http://schemas.microsoft.com/office/drawing/2014/main" val="1806779784"/>
                        </a:ext>
                      </a:extLst>
                    </a:gridCol>
                    <a:gridCol w="1620000">
                      <a:extLst>
                        <a:ext uri="{9D8B030D-6E8A-4147-A177-3AD203B41FA5}">
                          <a16:colId xmlns:a16="http://schemas.microsoft.com/office/drawing/2014/main" val="4191787373"/>
                        </a:ext>
                      </a:extLst>
                    </a:gridCol>
                  </a:tblGrid>
                  <a:tr h="744183">
                    <a:tc>
                      <a:txBody>
                        <a:bodyPr/>
                        <a:lstStyle/>
                        <a:p>
                          <a:pPr marL="0" marR="0" indent="0" algn="ctr">
                            <a:lnSpc>
                              <a:spcPct val="107000"/>
                            </a:lnSpc>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Addition Expression</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indent="34925" algn="ctr">
                            <a:lnSpc>
                              <a:spcPct val="107000"/>
                            </a:lnSpc>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Sum When Using the Rule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indent="0" algn="ctr">
                            <a:lnSpc>
                              <a:spcPct val="107000"/>
                            </a:lnSpc>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Sum </a:t>
                          </a:r>
                          <a:b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b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with a Calculator</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indent="0" algn="ctr">
                            <a:lnSpc>
                              <a:spcPct val="107000"/>
                            </a:lnSpc>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Does </a:t>
                          </a:r>
                          <a:b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b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the Rule Work?</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400797333"/>
                      </a:ext>
                    </a:extLst>
                  </a:tr>
                  <a:tr h="900000">
                    <a:tc>
                      <a:txBody>
                        <a:bodyPr/>
                        <a:lstStyle/>
                        <a:p>
                          <a:pPr marL="0" marR="0" indent="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sPre>
                                      <m:sPre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PrePr>
                                      <m:sub/>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up>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0.92</m:t>
                                        </m:r>
                                      </m:e>
                                    </m:sPre>
                                  </m:e>
                                </m:d>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+50.6</m:t>
                                </m:r>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559122"/>
                      </a:ext>
                    </a:extLst>
                  </a:tr>
                  <a:tr h="900000">
                    <a:tc>
                      <a:txBody>
                        <a:bodyPr/>
                        <a:lstStyle/>
                        <a:p>
                          <a:pPr marL="0" marR="0" indent="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4.95+3.05</m:t>
                                </m:r>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6063756"/>
                      </a:ext>
                    </a:extLst>
                  </a:tr>
                  <a:tr h="900000">
                    <a:tc>
                      <a:txBody>
                        <a:bodyPr/>
                        <a:lstStyle/>
                        <a:p>
                          <a:pPr marL="0" marR="0" indent="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x-none" sz="20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0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x-none" sz="20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000" i="1">
                                            <a:effectLst/>
                                            <a:latin typeface="Cambria Math" panose="02040503050406030204" pitchFamily="18" charset="0"/>
                                            <a:ea typeface="Calibri" panose="020F0502020204030204" pitchFamily="34" charset="0"/>
                                            <a:cs typeface="Times New Roman" panose="02020603050405020304" pitchFamily="18" charset="0"/>
                                          </a:rPr>
                                          <m:t>4</m:t>
                                        </m:r>
                                      </m:num>
                                      <m:den>
                                        <m:r>
                                          <a:rPr lang="en-US" sz="2000" i="1">
                                            <a:effectLst/>
                                            <a:latin typeface="Cambria Math" panose="02040503050406030204" pitchFamily="18" charset="0"/>
                                            <a:ea typeface="Calibri" panose="020F0502020204030204" pitchFamily="34" charset="0"/>
                                            <a:cs typeface="Times New Roman" panose="02020603050405020304" pitchFamily="18" charset="0"/>
                                          </a:rPr>
                                          <m:t>5</m:t>
                                        </m:r>
                                      </m:den>
                                    </m:f>
                                  </m:e>
                                </m:d>
                                <m:r>
                                  <a:rPr lang="en-US" sz="2000" i="1">
                                    <a:effectLst/>
                                    <a:latin typeface="Cambria Math" panose="02040503050406030204" pitchFamily="18" charset="0"/>
                                    <a:ea typeface="Calibri" panose="020F0502020204030204" pitchFamily="34" charset="0"/>
                                    <a:cs typeface="Times New Roman" panose="02020603050405020304" pitchFamily="18" charset="0"/>
                                  </a:rPr>
                                  <m:t>+ </m:t>
                                </m:r>
                                <m:d>
                                  <m:dPr>
                                    <m:ctrlPr>
                                      <a:rPr lang="x-none" sz="2000" i="1">
                                        <a:effectLst/>
                                        <a:latin typeface="Cambria Math" panose="02040503050406030204" pitchFamily="18" charset="0"/>
                                        <a:ea typeface="Calibri" panose="020F0502020204030204" pitchFamily="34" charset="0"/>
                                        <a:cs typeface="Times New Roman" panose="02020603050405020304" pitchFamily="18" charset="0"/>
                                      </a:rPr>
                                    </m:ctrlPr>
                                  </m:dPr>
                                  <m:e>
                                    <m:f>
                                      <m:fPr>
                                        <m:ctrlPr>
                                          <a:rPr lang="x-none" sz="20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000" i="1">
                                            <a:effectLst/>
                                            <a:latin typeface="Cambria Math" panose="02040503050406030204" pitchFamily="18" charset="0"/>
                                            <a:ea typeface="Calibri" panose="020F0502020204030204" pitchFamily="34" charset="0"/>
                                            <a:cs typeface="Times New Roman" panose="02020603050405020304" pitchFamily="18" charset="0"/>
                                          </a:rPr>
                                          <m:t>22</m:t>
                                        </m:r>
                                      </m:num>
                                      <m:den>
                                        <m:r>
                                          <a:rPr lang="en-US" sz="2000" i="1">
                                            <a:effectLst/>
                                            <a:latin typeface="Cambria Math" panose="02040503050406030204" pitchFamily="18" charset="0"/>
                                            <a:ea typeface="Calibri" panose="020F0502020204030204" pitchFamily="34" charset="0"/>
                                            <a:cs typeface="Times New Roman" panose="02020603050405020304" pitchFamily="18" charset="0"/>
                                          </a:rPr>
                                          <m:t>25</m:t>
                                        </m:r>
                                      </m:den>
                                    </m:f>
                                  </m:e>
                                </m:d>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0082884"/>
                      </a:ext>
                    </a:extLst>
                  </a:tr>
                  <a:tr h="914400">
                    <a:tc>
                      <a:txBody>
                        <a:bodyPr/>
                        <a:lstStyle/>
                        <a:p>
                          <a:pPr marL="0" marR="0" indent="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Times New Roman" panose="02020603050405020304" pitchFamily="18" charset="0"/>
                                    <a:cs typeface="Times New Roman" panose="02020603050405020304" pitchFamily="18" charset="0"/>
                                  </a:rPr>
                                  <m:t>1.25+</m:t>
                                </m:r>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sPre>
                                      <m:sPre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PrePr>
                                      <m:sub/>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up>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6.45</m:t>
                                        </m:r>
                                      </m:e>
                                    </m:sPre>
                                  </m:e>
                                </m:d>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213334"/>
                      </a:ext>
                    </a:extLst>
                  </a:tr>
                </a:tbl>
              </a:graphicData>
            </a:graphic>
          </p:graphicFrame>
        </mc:Choice>
        <mc:Fallback>
          <p:graphicFrame>
            <p:nvGraphicFramePr>
              <p:cNvPr id="3" name="Table 2">
                <a:extLst>
                  <a:ext uri="{FF2B5EF4-FFF2-40B4-BE49-F238E27FC236}">
                    <a16:creationId xmlns:a16="http://schemas.microsoft.com/office/drawing/2014/main" id="{66E12E39-C625-4B4D-A6B7-0E797EAFAA51}"/>
                  </a:ext>
                </a:extLst>
              </p:cNvPr>
              <p:cNvGraphicFramePr>
                <a:graphicFrameLocks noGrp="1"/>
              </p:cNvGraphicFramePr>
              <p:nvPr>
                <p:extLst>
                  <p:ext uri="{D42A27DB-BD31-4B8C-83A1-F6EECF244321}">
                    <p14:modId xmlns:p14="http://schemas.microsoft.com/office/powerpoint/2010/main" val="3401248857"/>
                  </p:ext>
                </p:extLst>
              </p:nvPr>
            </p:nvGraphicFramePr>
            <p:xfrm>
              <a:off x="2617245" y="1515015"/>
              <a:ext cx="7560000" cy="4655356"/>
            </p:xfrm>
            <a:graphic>
              <a:graphicData uri="http://schemas.openxmlformats.org/drawingml/2006/table">
                <a:tbl>
                  <a:tblPr firstRow="1" firstCol="1" bandRow="1"/>
                  <a:tblGrid>
                    <a:gridCol w="2340000">
                      <a:extLst>
                        <a:ext uri="{9D8B030D-6E8A-4147-A177-3AD203B41FA5}">
                          <a16:colId xmlns:a16="http://schemas.microsoft.com/office/drawing/2014/main" val="3716163204"/>
                        </a:ext>
                      </a:extLst>
                    </a:gridCol>
                    <a:gridCol w="1800000">
                      <a:extLst>
                        <a:ext uri="{9D8B030D-6E8A-4147-A177-3AD203B41FA5}">
                          <a16:colId xmlns:a16="http://schemas.microsoft.com/office/drawing/2014/main" val="795894218"/>
                        </a:ext>
                      </a:extLst>
                    </a:gridCol>
                    <a:gridCol w="1800000">
                      <a:extLst>
                        <a:ext uri="{9D8B030D-6E8A-4147-A177-3AD203B41FA5}">
                          <a16:colId xmlns:a16="http://schemas.microsoft.com/office/drawing/2014/main" val="1806779784"/>
                        </a:ext>
                      </a:extLst>
                    </a:gridCol>
                    <a:gridCol w="1620000">
                      <a:extLst>
                        <a:ext uri="{9D8B030D-6E8A-4147-A177-3AD203B41FA5}">
                          <a16:colId xmlns:a16="http://schemas.microsoft.com/office/drawing/2014/main" val="4191787373"/>
                        </a:ext>
                      </a:extLst>
                    </a:gridCol>
                  </a:tblGrid>
                  <a:tr h="1040956">
                    <a:tc>
                      <a:txBody>
                        <a:bodyPr/>
                        <a:lstStyle/>
                        <a:p>
                          <a:pPr marL="0" marR="0" indent="0" algn="ctr">
                            <a:lnSpc>
                              <a:spcPct val="107000"/>
                            </a:lnSpc>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Addition Expression</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indent="34925" algn="ctr">
                            <a:lnSpc>
                              <a:spcPct val="107000"/>
                            </a:lnSpc>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Sum When Using the Rule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indent="0" algn="ctr">
                            <a:lnSpc>
                              <a:spcPct val="107000"/>
                            </a:lnSpc>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Sum </a:t>
                          </a:r>
                          <a:b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b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with a Calculator</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indent="0" algn="ctr">
                            <a:lnSpc>
                              <a:spcPct val="107000"/>
                            </a:lnSpc>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Does </a:t>
                          </a:r>
                          <a:b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b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the Rule Work?</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400797333"/>
                      </a:ext>
                    </a:extLst>
                  </a:tr>
                  <a:tr h="90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521" t="-119595" r="-223958" b="-303378"/>
                          </a:stretch>
                        </a:blipFill>
                      </a:tcPr>
                    </a:tc>
                    <a:tc>
                      <a:txBody>
                        <a:bodyPr/>
                        <a:lstStyle/>
                        <a:p>
                          <a:pPr marL="93345" marR="0" indent="-57150">
                            <a:lnSpc>
                              <a:spcPct val="107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559122"/>
                      </a:ext>
                    </a:extLst>
                  </a:tr>
                  <a:tr h="90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521" t="-219595" r="-223958" b="-203378"/>
                          </a:stretch>
                        </a:blipFill>
                      </a:tcPr>
                    </a:tc>
                    <a:tc>
                      <a:txBody>
                        <a:bodyPr/>
                        <a:lstStyle/>
                        <a:p>
                          <a:pPr marL="93345" marR="0" indent="-57150">
                            <a:lnSpc>
                              <a:spcPct val="107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6063756"/>
                      </a:ext>
                    </a:extLst>
                  </a:tr>
                  <a:tr h="90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521" t="-319595" r="-223958" b="-103378"/>
                          </a:stretch>
                        </a:blipFill>
                      </a:tcPr>
                    </a:tc>
                    <a:tc>
                      <a:txBody>
                        <a:bodyPr/>
                        <a:lstStyle/>
                        <a:p>
                          <a:pPr marL="93345" marR="0" indent="-57150">
                            <a:lnSpc>
                              <a:spcPct val="107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0082884"/>
                      </a:ext>
                    </a:extLst>
                  </a:tr>
                  <a:tr h="9144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521" t="-414000" r="-223958" b="-2000"/>
                          </a:stretch>
                        </a:blipFill>
                      </a:tcPr>
                    </a:tc>
                    <a:tc>
                      <a:txBody>
                        <a:bodyPr/>
                        <a:lstStyle/>
                        <a:p>
                          <a:pPr marL="93345" marR="0" indent="-57150">
                            <a:lnSpc>
                              <a:spcPct val="107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213334"/>
                      </a:ext>
                    </a:extLst>
                  </a:tr>
                </a:tbl>
              </a:graphicData>
            </a:graphic>
          </p:graphicFrame>
        </mc:Fallback>
      </mc:AlternateContent>
    </p:spTree>
    <p:extLst>
      <p:ext uri="{BB962C8B-B14F-4D97-AF65-F5344CB8AC3E}">
        <p14:creationId xmlns:p14="http://schemas.microsoft.com/office/powerpoint/2010/main" val="19090911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88</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66E12E39-C625-4B4D-A6B7-0E797EAFAA51}"/>
                  </a:ext>
                </a:extLst>
              </p:cNvPr>
              <p:cNvGraphicFramePr>
                <a:graphicFrameLocks noGrp="1"/>
              </p:cNvGraphicFramePr>
              <p:nvPr>
                <p:extLst>
                  <p:ext uri="{D42A27DB-BD31-4B8C-83A1-F6EECF244321}">
                    <p14:modId xmlns:p14="http://schemas.microsoft.com/office/powerpoint/2010/main" val="155498789"/>
                  </p:ext>
                </p:extLst>
              </p:nvPr>
            </p:nvGraphicFramePr>
            <p:xfrm>
              <a:off x="2621426" y="372408"/>
              <a:ext cx="7560000" cy="2840956"/>
            </p:xfrm>
            <a:graphic>
              <a:graphicData uri="http://schemas.openxmlformats.org/drawingml/2006/table">
                <a:tbl>
                  <a:tblPr firstRow="1" firstCol="1" bandRow="1"/>
                  <a:tblGrid>
                    <a:gridCol w="2340000">
                      <a:extLst>
                        <a:ext uri="{9D8B030D-6E8A-4147-A177-3AD203B41FA5}">
                          <a16:colId xmlns:a16="http://schemas.microsoft.com/office/drawing/2014/main" val="3716163204"/>
                        </a:ext>
                      </a:extLst>
                    </a:gridCol>
                    <a:gridCol w="1800000">
                      <a:extLst>
                        <a:ext uri="{9D8B030D-6E8A-4147-A177-3AD203B41FA5}">
                          <a16:colId xmlns:a16="http://schemas.microsoft.com/office/drawing/2014/main" val="795894218"/>
                        </a:ext>
                      </a:extLst>
                    </a:gridCol>
                    <a:gridCol w="1800000">
                      <a:extLst>
                        <a:ext uri="{9D8B030D-6E8A-4147-A177-3AD203B41FA5}">
                          <a16:colId xmlns:a16="http://schemas.microsoft.com/office/drawing/2014/main" val="1806779784"/>
                        </a:ext>
                      </a:extLst>
                    </a:gridCol>
                    <a:gridCol w="1620000">
                      <a:extLst>
                        <a:ext uri="{9D8B030D-6E8A-4147-A177-3AD203B41FA5}">
                          <a16:colId xmlns:a16="http://schemas.microsoft.com/office/drawing/2014/main" val="4191787373"/>
                        </a:ext>
                      </a:extLst>
                    </a:gridCol>
                  </a:tblGrid>
                  <a:tr h="744183">
                    <a:tc>
                      <a:txBody>
                        <a:bodyPr/>
                        <a:lstStyle/>
                        <a:p>
                          <a:pPr marL="0" marR="0" indent="0" algn="ctr">
                            <a:lnSpc>
                              <a:spcPct val="107000"/>
                            </a:lnSpc>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Addition Expression</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indent="34925" algn="ctr">
                            <a:lnSpc>
                              <a:spcPct val="107000"/>
                            </a:lnSpc>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Sum When Using the Rule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indent="0" algn="ctr">
                            <a:lnSpc>
                              <a:spcPct val="107000"/>
                            </a:lnSpc>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Sum </a:t>
                          </a:r>
                          <a:b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b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with a Calculator</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indent="0" algn="ctr">
                            <a:lnSpc>
                              <a:spcPct val="107000"/>
                            </a:lnSpc>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Does </a:t>
                          </a:r>
                          <a:b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b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the Rule Work?</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400797333"/>
                      </a:ext>
                    </a:extLst>
                  </a:tr>
                  <a:tr h="900000">
                    <a:tc>
                      <a:txBody>
                        <a:bodyPr/>
                        <a:lstStyle/>
                        <a:p>
                          <a:pPr marL="0" marR="0" indent="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x-none" sz="20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0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x-none" sz="20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num>
                                      <m:den>
                                        <m:r>
                                          <a:rPr lang="en-US" sz="2000" i="1">
                                            <a:effectLst/>
                                            <a:latin typeface="Cambria Math" panose="02040503050406030204" pitchFamily="18" charset="0"/>
                                            <a:ea typeface="Calibri" panose="020F0502020204030204" pitchFamily="34" charset="0"/>
                                            <a:cs typeface="Times New Roman" panose="02020603050405020304" pitchFamily="18" charset="0"/>
                                          </a:rPr>
                                          <m:t>3</m:t>
                                        </m:r>
                                      </m:den>
                                    </m:f>
                                  </m:e>
                                </m:d>
                                <m:r>
                                  <a:rPr lang="en-US" sz="2000" i="1">
                                    <a:effectLst/>
                                    <a:latin typeface="Cambria Math" panose="02040503050406030204" pitchFamily="18" charset="0"/>
                                    <a:ea typeface="Calibri" panose="020F0502020204030204" pitchFamily="34" charset="0"/>
                                    <a:cs typeface="Times New Roman" panose="02020603050405020304" pitchFamily="18" charset="0"/>
                                  </a:rPr>
                                  <m:t>+ </m:t>
                                </m:r>
                                <m:d>
                                  <m:dPr>
                                    <m:ctrlPr>
                                      <a:rPr lang="x-none" sz="20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0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x-none" sz="20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000" i="1">
                                            <a:effectLst/>
                                            <a:latin typeface="Cambria Math" panose="02040503050406030204" pitchFamily="18" charset="0"/>
                                            <a:ea typeface="Calibri" panose="020F0502020204030204" pitchFamily="34" charset="0"/>
                                            <a:cs typeface="Times New Roman" panose="02020603050405020304" pitchFamily="18" charset="0"/>
                                          </a:rPr>
                                          <m:t>9</m:t>
                                        </m:r>
                                      </m:num>
                                      <m:den>
                                        <m:r>
                                          <a:rPr lang="en-US" sz="2000" i="1">
                                            <a:effectLst/>
                                            <a:latin typeface="Cambria Math" panose="02040503050406030204" pitchFamily="18" charset="0"/>
                                            <a:ea typeface="Calibri" panose="020F0502020204030204" pitchFamily="34" charset="0"/>
                                            <a:cs typeface="Times New Roman" panose="02020603050405020304" pitchFamily="18" charset="0"/>
                                          </a:rPr>
                                          <m:t>20</m:t>
                                        </m:r>
                                      </m:den>
                                    </m:f>
                                  </m:e>
                                </m:d>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6334556"/>
                      </a:ext>
                    </a:extLst>
                  </a:tr>
                  <a:tr h="900000">
                    <a:tc>
                      <a:txBody>
                        <a:bodyPr/>
                        <a:lstStyle/>
                        <a:p>
                          <a:pPr marL="0" marR="0" indent="0" algn="ctr">
                            <a:lnSpc>
                              <a:spcPct val="107000"/>
                            </a:lnSpc>
                            <a:spcBef>
                              <a:spcPts val="0"/>
                            </a:spcBef>
                            <a:spcAft>
                              <a:spcPts val="0"/>
                            </a:spcAft>
                          </a:pPr>
                          <a14:m>
                            <m:oMathPara xmlns:m="http://schemas.openxmlformats.org/officeDocument/2006/math">
                              <m:oMathParaPr>
                                <m:jc m:val="center"/>
                              </m:oMathParaPr>
                              <m:oMath xmlns:m="http://schemas.openxmlformats.org/officeDocument/2006/math">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sPre>
                                      <m:sPre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PrePr>
                                      <m:sub/>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up>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17.01</m:t>
                                        </m:r>
                                      </m:e>
                                    </m:sPre>
                                  </m:e>
                                </m:d>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sPre>
                                      <m:sPre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PrePr>
                                      <m:sub/>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up>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2.99</m:t>
                                        </m:r>
                                      </m:e>
                                    </m:sPre>
                                  </m:e>
                                </m:d>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2190833"/>
                      </a:ext>
                    </a:extLst>
                  </a:tr>
                </a:tbl>
              </a:graphicData>
            </a:graphic>
          </p:graphicFrame>
        </mc:Choice>
        <mc:Fallback>
          <p:graphicFrame>
            <p:nvGraphicFramePr>
              <p:cNvPr id="3" name="Table 2">
                <a:extLst>
                  <a:ext uri="{FF2B5EF4-FFF2-40B4-BE49-F238E27FC236}">
                    <a16:creationId xmlns:a16="http://schemas.microsoft.com/office/drawing/2014/main" id="{66E12E39-C625-4B4D-A6B7-0E797EAFAA51}"/>
                  </a:ext>
                </a:extLst>
              </p:cNvPr>
              <p:cNvGraphicFramePr>
                <a:graphicFrameLocks noGrp="1"/>
              </p:cNvGraphicFramePr>
              <p:nvPr>
                <p:extLst>
                  <p:ext uri="{D42A27DB-BD31-4B8C-83A1-F6EECF244321}">
                    <p14:modId xmlns:p14="http://schemas.microsoft.com/office/powerpoint/2010/main" val="155498789"/>
                  </p:ext>
                </p:extLst>
              </p:nvPr>
            </p:nvGraphicFramePr>
            <p:xfrm>
              <a:off x="2621426" y="372408"/>
              <a:ext cx="7560000" cy="2840956"/>
            </p:xfrm>
            <a:graphic>
              <a:graphicData uri="http://schemas.openxmlformats.org/drawingml/2006/table">
                <a:tbl>
                  <a:tblPr firstRow="1" firstCol="1" bandRow="1"/>
                  <a:tblGrid>
                    <a:gridCol w="2340000">
                      <a:extLst>
                        <a:ext uri="{9D8B030D-6E8A-4147-A177-3AD203B41FA5}">
                          <a16:colId xmlns:a16="http://schemas.microsoft.com/office/drawing/2014/main" val="3716163204"/>
                        </a:ext>
                      </a:extLst>
                    </a:gridCol>
                    <a:gridCol w="1800000">
                      <a:extLst>
                        <a:ext uri="{9D8B030D-6E8A-4147-A177-3AD203B41FA5}">
                          <a16:colId xmlns:a16="http://schemas.microsoft.com/office/drawing/2014/main" val="795894218"/>
                        </a:ext>
                      </a:extLst>
                    </a:gridCol>
                    <a:gridCol w="1800000">
                      <a:extLst>
                        <a:ext uri="{9D8B030D-6E8A-4147-A177-3AD203B41FA5}">
                          <a16:colId xmlns:a16="http://schemas.microsoft.com/office/drawing/2014/main" val="1806779784"/>
                        </a:ext>
                      </a:extLst>
                    </a:gridCol>
                    <a:gridCol w="1620000">
                      <a:extLst>
                        <a:ext uri="{9D8B030D-6E8A-4147-A177-3AD203B41FA5}">
                          <a16:colId xmlns:a16="http://schemas.microsoft.com/office/drawing/2014/main" val="4191787373"/>
                        </a:ext>
                      </a:extLst>
                    </a:gridCol>
                  </a:tblGrid>
                  <a:tr h="1040956">
                    <a:tc>
                      <a:txBody>
                        <a:bodyPr/>
                        <a:lstStyle/>
                        <a:p>
                          <a:pPr marL="0" marR="0" indent="0" algn="ctr">
                            <a:lnSpc>
                              <a:spcPct val="107000"/>
                            </a:lnSpc>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Addition Expression</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indent="34925" algn="ctr">
                            <a:lnSpc>
                              <a:spcPct val="107000"/>
                            </a:lnSpc>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Sum When Using the Rule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indent="0" algn="ctr">
                            <a:lnSpc>
                              <a:spcPct val="107000"/>
                            </a:lnSpc>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Sum </a:t>
                          </a:r>
                          <a:b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b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with a Calculator</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indent="0" algn="ctr">
                            <a:lnSpc>
                              <a:spcPct val="107000"/>
                            </a:lnSpc>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Does </a:t>
                          </a:r>
                          <a:b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b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the Rule Work?</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400797333"/>
                      </a:ext>
                    </a:extLst>
                  </a:tr>
                  <a:tr h="90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521" t="-119595" r="-223958" b="-102027"/>
                          </a:stretch>
                        </a:blipFill>
                      </a:tcPr>
                    </a:tc>
                    <a:tc>
                      <a:txBody>
                        <a:bodyPr/>
                        <a:lstStyle/>
                        <a:p>
                          <a:pPr marL="93345" marR="0" indent="-57150">
                            <a:lnSpc>
                              <a:spcPct val="107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6334556"/>
                      </a:ext>
                    </a:extLst>
                  </a:tr>
                  <a:tr h="90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521" t="-219595" r="-223958" b="-2027"/>
                          </a:stretch>
                        </a:blipFill>
                      </a:tcPr>
                    </a:tc>
                    <a:tc>
                      <a:txBody>
                        <a:bodyPr/>
                        <a:lstStyle/>
                        <a:p>
                          <a:pPr marL="93345" marR="0" indent="-57150">
                            <a:lnSpc>
                              <a:spcPct val="107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3345" marR="0" indent="-57150">
                            <a:lnSpc>
                              <a:spcPct val="107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2190833"/>
                      </a:ext>
                    </a:extLst>
                  </a:tr>
                </a:tbl>
              </a:graphicData>
            </a:graphic>
          </p:graphicFrame>
        </mc:Fallback>
      </mc:AlternateContent>
      <p:sp>
        <p:nvSpPr>
          <p:cNvPr id="7" name="Rectangle 6">
            <a:extLst>
              <a:ext uri="{FF2B5EF4-FFF2-40B4-BE49-F238E27FC236}">
                <a16:creationId xmlns:a16="http://schemas.microsoft.com/office/drawing/2014/main" id="{5C5D1B9F-A752-AD42-8D60-9B883A2514E7}"/>
              </a:ext>
            </a:extLst>
          </p:cNvPr>
          <p:cNvSpPr>
            <a:spLocks noChangeArrowheads="1"/>
          </p:cNvSpPr>
          <p:nvPr/>
        </p:nvSpPr>
        <p:spPr bwMode="auto">
          <a:xfrm>
            <a:off x="692959" y="3780019"/>
            <a:ext cx="10991138" cy="2141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startAt="8"/>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Complete the sentence.</a:t>
            </a:r>
          </a:p>
          <a:p>
            <a:pPr marL="452438" eaLnBrk="0" fontAlgn="base" hangingPunct="0">
              <a:lnSpc>
                <a:spcPct val="250000"/>
              </a:lnSpc>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sign rules for adding integers are 				as the rules for adding rational numbers.</a:t>
            </a:r>
          </a:p>
        </p:txBody>
      </p:sp>
      <p:sp>
        <p:nvSpPr>
          <p:cNvPr id="2" name="Rounded Rectangle 1"/>
          <p:cNvSpPr/>
          <p:nvPr/>
        </p:nvSpPr>
        <p:spPr>
          <a:xfrm>
            <a:off x="7184355" y="4344181"/>
            <a:ext cx="2648607" cy="815870"/>
          </a:xfrm>
          <a:prstGeom prst="round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273050" indent="-273050">
              <a:buFont typeface="Courier New" pitchFamily="49" charset="0"/>
              <a:buChar char="o"/>
            </a:pPr>
            <a:r>
              <a:rPr lang="en-PH" sz="2400" dirty="0">
                <a:latin typeface="Verdana" pitchFamily="34" charset="0"/>
                <a:ea typeface="Verdana" pitchFamily="34" charset="0"/>
              </a:rPr>
              <a:t>the same</a:t>
            </a:r>
          </a:p>
          <a:p>
            <a:pPr marL="273050" indent="-273050">
              <a:buFont typeface="Courier New" pitchFamily="49" charset="0"/>
              <a:buChar char="o"/>
            </a:pPr>
            <a:r>
              <a:rPr lang="en-PH" sz="2400" dirty="0">
                <a:latin typeface="Verdana" pitchFamily="34" charset="0"/>
                <a:ea typeface="Verdana" pitchFamily="34" charset="0"/>
              </a:rPr>
              <a:t>not the same</a:t>
            </a:r>
          </a:p>
        </p:txBody>
      </p:sp>
    </p:spTree>
    <p:extLst>
      <p:ext uri="{BB962C8B-B14F-4D97-AF65-F5344CB8AC3E}">
        <p14:creationId xmlns:p14="http://schemas.microsoft.com/office/powerpoint/2010/main" val="20825666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473788" y="2766150"/>
            <a:ext cx="799138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89</a:t>
            </a:r>
            <a:endParaRPr i="1" dirty="0">
              <a:latin typeface="Calibri"/>
              <a:ea typeface="Calibri"/>
              <a:cs typeface="Calibri"/>
              <a:sym typeface="Calibri"/>
            </a:endParaRPr>
          </a:p>
        </p:txBody>
      </p:sp>
      <p:pic>
        <p:nvPicPr>
          <p:cNvPr id="9" name="image3.png" descr="Icon&#10;&#10;Description automatically generated">
            <a:extLst>
              <a:ext uri="{FF2B5EF4-FFF2-40B4-BE49-F238E27FC236}">
                <a16:creationId xmlns:a16="http://schemas.microsoft.com/office/drawing/2014/main" id="{0D19F6B6-A388-1443-A380-52938AB2312D}"/>
              </a:ext>
            </a:extLst>
          </p:cNvPr>
          <p:cNvPicPr/>
          <p:nvPr/>
        </p:nvPicPr>
        <p:blipFill>
          <a:blip r:embed="rId4"/>
          <a:srcRect/>
          <a:stretch>
            <a:fillRect/>
          </a:stretch>
        </p:blipFill>
        <p:spPr>
          <a:xfrm>
            <a:off x="3054096" y="2852928"/>
            <a:ext cx="1158151" cy="1158151"/>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4548277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37464" y="186574"/>
            <a:ext cx="10597920" cy="867890"/>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2800" b="1" dirty="0">
                <a:solidFill>
                  <a:srgbClr val="54B5D1"/>
                </a:solidFill>
                <a:latin typeface="Verdana"/>
                <a:ea typeface="Verdana"/>
                <a:cs typeface="Verdana"/>
                <a:sym typeface="Verdana"/>
              </a:rPr>
              <a:t>3.1.5 Guided Practice: Applying Signed Number Rules to Rational Numbers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89</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730331" y="1119758"/>
                <a:ext cx="11247303" cy="220945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blanks in the addition equation represent missing values. Fill in the blanks for the addition equation below to make a true statement.</a:t>
                </a:r>
              </a:p>
              <a:p>
                <a:pPr marL="457200" indent="-457200" eaLnBrk="0" fontAlgn="base" hangingPunct="0">
                  <a:spcBef>
                    <a:spcPct val="0"/>
                  </a:spcBef>
                  <a:spcAft>
                    <a:spcPct val="0"/>
                  </a:spcAft>
                  <a:buClrTx/>
                  <a:buFont typeface="+mj-lt"/>
                  <a:buAutoNum type="arabi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14:m>
                  <m:oMathPara xmlns:m="http://schemas.openxmlformats.org/officeDocument/2006/math">
                    <m:oMathParaPr>
                      <m:jc m:val="centerGroup"/>
                    </m:oMathParaPr>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−12</m:t>
                      </m:r>
                      <m:f>
                        <m:fPr>
                          <m:ctrlPr>
                            <a:rPr lang="en-US" altLang="en-US" sz="2000" i="1" dirty="0">
                              <a:solidFill>
                                <a:schemeClr val="tx1"/>
                              </a:solidFill>
                              <a:latin typeface="Cambria Math" panose="02040503050406030204" pitchFamily="18" charset="0"/>
                              <a:cs typeface="Times New Roman" panose="02020603050405020304" pitchFamily="18" charset="0"/>
                            </a:rPr>
                          </m:ctrlPr>
                        </m:fPr>
                        <m:num>
                          <m:r>
                            <a:rPr lang="es-ES" altLang="en-US" sz="2000" i="1" dirty="0">
                              <a:solidFill>
                                <a:schemeClr val="tx1"/>
                              </a:solidFill>
                              <a:latin typeface="Cambria Math" panose="02040503050406030204" pitchFamily="18" charset="0"/>
                              <a:cs typeface="Times New Roman" panose="02020603050405020304" pitchFamily="18" charset="0"/>
                            </a:rPr>
                            <m:t>3</m:t>
                          </m:r>
                        </m:num>
                        <m:den>
                          <m:r>
                            <a:rPr lang="es-ES" altLang="en-US" sz="2000" i="1" dirty="0">
                              <a:solidFill>
                                <a:schemeClr val="tx1"/>
                              </a:solidFill>
                              <a:latin typeface="Cambria Math" panose="02040503050406030204" pitchFamily="18" charset="0"/>
                              <a:cs typeface="Times New Roman" panose="02020603050405020304" pitchFamily="18" charset="0"/>
                            </a:rPr>
                            <m:t>4</m:t>
                          </m:r>
                        </m:den>
                      </m:f>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 +</m:t>
                      </m:r>
                      <m:d>
                        <m:dPr>
                          <m:ctrlPr>
                            <a:rPr lang="en-US" altLang="en-US" sz="2000" i="1" dirty="0">
                              <a:solidFill>
                                <a:schemeClr val="tx1"/>
                              </a:solidFill>
                              <a:latin typeface="Cambria Math" panose="02040503050406030204" pitchFamily="18" charset="0"/>
                              <a:cs typeface="Times New Roman" panose="02020603050405020304" pitchFamily="18" charset="0"/>
                            </a:rPr>
                          </m:ctrlPr>
                        </m:dPr>
                        <m:e>
                          <m:r>
                            <a:rPr lang="es-ES" altLang="en-US" sz="2000" i="1" dirty="0">
                              <a:solidFill>
                                <a:schemeClr val="tx1"/>
                              </a:solidFill>
                              <a:latin typeface="Cambria Math" panose="02040503050406030204" pitchFamily="18" charset="0"/>
                              <a:cs typeface="Times New Roman" panose="02020603050405020304" pitchFamily="18" charset="0"/>
                            </a:rPr>
                            <m:t>−5</m:t>
                          </m:r>
                          <m:f>
                            <m:fPr>
                              <m:ctrlPr>
                                <a:rPr lang="es-ES" altLang="en-US" sz="2000" i="1" dirty="0">
                                  <a:solidFill>
                                    <a:schemeClr val="tx1"/>
                                  </a:solidFill>
                                  <a:latin typeface="Cambria Math" panose="02040503050406030204" pitchFamily="18" charset="0"/>
                                  <a:cs typeface="Times New Roman" panose="02020603050405020304" pitchFamily="18" charset="0"/>
                                </a:rPr>
                              </m:ctrlPr>
                            </m:fPr>
                            <m:num>
                              <m:r>
                                <a:rPr lang="es-ES" altLang="en-US" sz="2000" i="1" dirty="0">
                                  <a:solidFill>
                                    <a:schemeClr val="tx1"/>
                                  </a:solidFill>
                                  <a:latin typeface="Cambria Math" panose="02040503050406030204" pitchFamily="18" charset="0"/>
                                  <a:cs typeface="Times New Roman" panose="02020603050405020304" pitchFamily="18" charset="0"/>
                                </a:rPr>
                                <m:t>            </m:t>
                              </m:r>
                            </m:num>
                            <m:den>
                              <m:r>
                                <a:rPr lang="es-ES" altLang="en-US" sz="2000" i="1" dirty="0">
                                  <a:solidFill>
                                    <a:schemeClr val="tx1"/>
                                  </a:solidFill>
                                  <a:latin typeface="Cambria Math" panose="02040503050406030204" pitchFamily="18" charset="0"/>
                                  <a:cs typeface="Times New Roman" panose="02020603050405020304" pitchFamily="18" charset="0"/>
                                </a:rPr>
                                <m:t>6</m:t>
                              </m:r>
                            </m:den>
                          </m:f>
                        </m:e>
                      </m:d>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 −18</m:t>
                      </m:r>
                      <m:f>
                        <m:fPr>
                          <m:ctrlPr>
                            <a:rPr lang="en-US" altLang="en-US" sz="2000" i="1" dirty="0">
                              <a:solidFill>
                                <a:schemeClr val="tx1"/>
                              </a:solidFill>
                              <a:latin typeface="Cambria Math" panose="02040503050406030204" pitchFamily="18" charset="0"/>
                              <a:cs typeface="Times New Roman" panose="02020603050405020304" pitchFamily="18" charset="0"/>
                            </a:rPr>
                          </m:ctrlPr>
                        </m:fPr>
                        <m:num>
                          <m:r>
                            <a:rPr lang="es-ES" altLang="en-US" sz="2000" i="1" dirty="0">
                              <a:solidFill>
                                <a:schemeClr val="tx1"/>
                              </a:solidFill>
                              <a:latin typeface="Cambria Math" panose="02040503050406030204" pitchFamily="18" charset="0"/>
                              <a:cs typeface="Times New Roman" panose="02020603050405020304" pitchFamily="18" charset="0"/>
                            </a:rPr>
                            <m:t>          </m:t>
                          </m:r>
                        </m:num>
                        <m:den>
                          <m:r>
                            <a:rPr lang="es-ES" altLang="en-US" sz="2000" i="1" dirty="0">
                              <a:solidFill>
                                <a:schemeClr val="tx1"/>
                              </a:solidFill>
                              <a:latin typeface="Cambria Math" panose="02040503050406030204" pitchFamily="18" charset="0"/>
                              <a:cs typeface="Times New Roman" panose="02020603050405020304" pitchFamily="18" charset="0"/>
                            </a:rPr>
                            <m:t>12</m:t>
                          </m:r>
                        </m:den>
                      </m:f>
                    </m:oMath>
                  </m:oMathPara>
                </a14:m>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r>
                  <a:rPr lang="en-US" altLang="en-US" sz="2000" dirty="0">
                    <a:latin typeface="Verdana" panose="020B0604030504040204" pitchFamily="34" charset="0"/>
                    <a:ea typeface="Times New Roman" panose="02020603050405020304" pitchFamily="18" charset="0"/>
                    <a:cs typeface="Times New Roman" panose="02020603050405020304" pitchFamily="18" charset="0"/>
                  </a:rPr>
                  <a:t>Find the sum for each addition expression.</a:t>
                </a:r>
              </a:p>
            </p:txBody>
          </p:sp>
        </mc:Choice>
        <mc:Fallback xmlns="">
          <p:sp>
            <p:nvSpPr>
              <p:cNvPr id="4" name="Rectangle 3">
                <a:extLst>
                  <a:ext uri="{FF2B5EF4-FFF2-40B4-BE49-F238E27FC236}">
                    <a16:creationId xmlns:a16="http://schemas.microsoft.com/office/drawing/2014/main" id="{FE208A00-51E7-C544-ABDE-AE9DC3DAAB4C}"/>
                  </a:ext>
                </a:extLst>
              </p:cNvPr>
              <p:cNvSpPr>
                <a:spLocks noRot="1" noChangeAspect="1" noMove="1" noResize="1" noEditPoints="1" noAdjustHandles="1" noChangeArrowheads="1" noChangeShapeType="1" noTextEdit="1"/>
              </p:cNvSpPr>
              <p:nvPr/>
            </p:nvSpPr>
            <p:spPr bwMode="auto">
              <a:xfrm>
                <a:off x="730331" y="1119758"/>
                <a:ext cx="11247303" cy="2209451"/>
              </a:xfrm>
              <a:prstGeom prst="rect">
                <a:avLst/>
              </a:prstGeom>
              <a:blipFill>
                <a:blip r:embed="rId4"/>
                <a:stretch>
                  <a:fillRect l="-564" t="-1714" r="-225" b="-342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10" name="image3.png" descr="Icon&#10;&#10;Description automatically generated">
            <a:extLst>
              <a:ext uri="{FF2B5EF4-FFF2-40B4-BE49-F238E27FC236}">
                <a16:creationId xmlns:a16="http://schemas.microsoft.com/office/drawing/2014/main" id="{7A2D9D50-9448-8245-B927-6E7175407A67}"/>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356616" y="201168"/>
            <a:ext cx="747432" cy="747432"/>
          </a:xfrm>
          <a:prstGeom prst="rect">
            <a:avLst/>
          </a:prstGeom>
          <a:ln/>
        </p:spPr>
      </p:pic>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9E49090E-84E9-3946-AC32-BCB173163DC1}"/>
                  </a:ext>
                </a:extLst>
              </p:cNvPr>
              <p:cNvGraphicFramePr>
                <a:graphicFrameLocks noGrp="1"/>
              </p:cNvGraphicFramePr>
              <p:nvPr>
                <p:extLst>
                  <p:ext uri="{D42A27DB-BD31-4B8C-83A1-F6EECF244321}">
                    <p14:modId xmlns:p14="http://schemas.microsoft.com/office/powerpoint/2010/main" val="418728097"/>
                  </p:ext>
                </p:extLst>
              </p:nvPr>
            </p:nvGraphicFramePr>
            <p:xfrm>
              <a:off x="2496000" y="3579442"/>
              <a:ext cx="7200000" cy="2628000"/>
            </p:xfrm>
            <a:graphic>
              <a:graphicData uri="http://schemas.openxmlformats.org/drawingml/2006/table">
                <a:tbl>
                  <a:tblPr firstRow="1" firstCol="1" bandRow="1"/>
                  <a:tblGrid>
                    <a:gridCol w="3600000">
                      <a:extLst>
                        <a:ext uri="{9D8B030D-6E8A-4147-A177-3AD203B41FA5}">
                          <a16:colId xmlns:a16="http://schemas.microsoft.com/office/drawing/2014/main" val="409510840"/>
                        </a:ext>
                      </a:extLst>
                    </a:gridCol>
                    <a:gridCol w="3600000">
                      <a:extLst>
                        <a:ext uri="{9D8B030D-6E8A-4147-A177-3AD203B41FA5}">
                          <a16:colId xmlns:a16="http://schemas.microsoft.com/office/drawing/2014/main" val="1718117185"/>
                        </a:ext>
                      </a:extLst>
                    </a:gridCol>
                  </a:tblGrid>
                  <a:tr h="468000">
                    <a:tc>
                      <a:txBody>
                        <a:bodyPr/>
                        <a:lstStyle/>
                        <a:p>
                          <a:pPr marL="0" marR="0" algn="ctr">
                            <a:lnSpc>
                              <a:spcPct val="100000"/>
                            </a:lnSpc>
                            <a:spcBef>
                              <a:spcPts val="0"/>
                            </a:spcBef>
                            <a:spcAft>
                              <a:spcPts val="0"/>
                            </a:spcAft>
                          </a:pPr>
                          <a:r>
                            <a:rPr lang="en-US" sz="2000" b="1" dirty="0">
                              <a:effectLst/>
                              <a:latin typeface="Verdana" pitchFamily="34" charset="0"/>
                              <a:ea typeface="Verdana" pitchFamily="34" charset="0"/>
                              <a:cs typeface="Times New Roman" panose="02020603050405020304" pitchFamily="18" charset="0"/>
                            </a:rPr>
                            <a:t>Addition </a:t>
                          </a:r>
                          <a:r>
                            <a:rPr lang="en-US" sz="2000" b="1" dirty="0">
                              <a:solidFill>
                                <a:srgbClr val="000000"/>
                              </a:solidFill>
                              <a:effectLst/>
                              <a:latin typeface="Verdana" pitchFamily="34" charset="0"/>
                              <a:ea typeface="Verdana" pitchFamily="34" charset="0"/>
                              <a:cs typeface="Times New Roman" panose="02020603050405020304" pitchFamily="18" charset="0"/>
                            </a:rPr>
                            <a:t>Expression</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0000"/>
                            </a:lnSpc>
                            <a:spcBef>
                              <a:spcPts val="0"/>
                            </a:spcBef>
                            <a:spcAft>
                              <a:spcPts val="0"/>
                            </a:spcAft>
                          </a:pPr>
                          <a:r>
                            <a:rPr lang="en-US" sz="2000" b="1" dirty="0">
                              <a:solidFill>
                                <a:srgbClr val="000000"/>
                              </a:solidFill>
                              <a:effectLst/>
                              <a:latin typeface="Verdana" pitchFamily="34" charset="0"/>
                              <a:ea typeface="Verdana" pitchFamily="34" charset="0"/>
                              <a:cs typeface="Times New Roman" panose="02020603050405020304" pitchFamily="18" charset="0"/>
                            </a:rPr>
                            <a:t>Sum</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39423717"/>
                      </a:ext>
                    </a:extLst>
                  </a:tr>
                  <a:tr h="108000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Times New Roman" panose="02020603050405020304" pitchFamily="18" charset="0"/>
                                        <a:cs typeface="Calibri" panose="020F0502020204030204" pitchFamily="34" charset="0"/>
                                      </a:rPr>
                                    </m:ctrlPr>
                                  </m:fPr>
                                  <m:num>
                                    <m:r>
                                      <a:rPr lang="en-US" sz="2000">
                                        <a:effectLst/>
                                        <a:latin typeface="Cambria Math" panose="02040503050406030204" pitchFamily="18" charset="0"/>
                                        <a:ea typeface="Times New Roman" panose="02020603050405020304" pitchFamily="18" charset="0"/>
                                        <a:cs typeface="Calibri" panose="020F0502020204030204" pitchFamily="34" charset="0"/>
                                      </a:rPr>
                                      <m:t>4</m:t>
                                    </m:r>
                                  </m:num>
                                  <m:den>
                                    <m:r>
                                      <a:rPr lang="en-US" sz="2000">
                                        <a:effectLst/>
                                        <a:latin typeface="Cambria Math" panose="02040503050406030204" pitchFamily="18" charset="0"/>
                                        <a:ea typeface="Times New Roman" panose="02020603050405020304" pitchFamily="18" charset="0"/>
                                        <a:cs typeface="Calibri" panose="020F0502020204030204" pitchFamily="34" charset="0"/>
                                      </a:rPr>
                                      <m:t>5</m:t>
                                    </m:r>
                                  </m:den>
                                </m:f>
                                <m:r>
                                  <a:rPr lang="en-US" sz="2000">
                                    <a:effectLst/>
                                    <a:latin typeface="Cambria Math" panose="02040503050406030204" pitchFamily="18" charset="0"/>
                                    <a:ea typeface="Times New Roman" panose="02020603050405020304" pitchFamily="18" charset="0"/>
                                    <a:cs typeface="Calibri" panose="020F0502020204030204" pitchFamily="34" charset="0"/>
                                  </a:rPr>
                                  <m:t>+</m:t>
                                </m:r>
                                <m:d>
                                  <m:dPr>
                                    <m:ctrlPr>
                                      <a:rPr lang="x-none" sz="2000" i="1">
                                        <a:effectLst/>
                                        <a:latin typeface="Cambria Math" panose="02040503050406030204" pitchFamily="18" charset="0"/>
                                        <a:ea typeface="Times New Roman" panose="02020603050405020304" pitchFamily="18" charset="0"/>
                                        <a:cs typeface="Calibri" panose="020F0502020204030204" pitchFamily="34" charset="0"/>
                                      </a:rPr>
                                    </m:ctrlPr>
                                  </m:dPr>
                                  <m:e>
                                    <m:r>
                                      <a:rPr lang="en-US" sz="2000" i="1">
                                        <a:effectLst/>
                                        <a:latin typeface="Cambria Math" panose="02040503050406030204" pitchFamily="18" charset="0"/>
                                        <a:ea typeface="Times New Roman" panose="02020603050405020304" pitchFamily="18" charset="0"/>
                                        <a:cs typeface="Calibri" panose="020F0502020204030204" pitchFamily="34" charset="0"/>
                                      </a:rPr>
                                      <m:t>−</m:t>
                                    </m:r>
                                    <m:f>
                                      <m:fPr>
                                        <m:ctrlPr>
                                          <a:rPr lang="x-none" sz="2000" i="1">
                                            <a:effectLst/>
                                            <a:latin typeface="Cambria Math" panose="02040503050406030204" pitchFamily="18" charset="0"/>
                                            <a:ea typeface="Times New Roman" panose="02020603050405020304" pitchFamily="18" charset="0"/>
                                            <a:cs typeface="Calibri" panose="020F0502020204030204" pitchFamily="34" charset="0"/>
                                          </a:rPr>
                                        </m:ctrlPr>
                                      </m:fPr>
                                      <m:num>
                                        <m:r>
                                          <a:rPr lang="en-US" sz="2000">
                                            <a:effectLst/>
                                            <a:latin typeface="Cambria Math" panose="02040503050406030204" pitchFamily="18" charset="0"/>
                                            <a:ea typeface="Times New Roman" panose="02020603050405020304" pitchFamily="18" charset="0"/>
                                            <a:cs typeface="Calibri" panose="020F0502020204030204" pitchFamily="34" charset="0"/>
                                          </a:rPr>
                                          <m:t> 3 </m:t>
                                        </m:r>
                                      </m:num>
                                      <m:den>
                                        <m:r>
                                          <a:rPr lang="en-US" sz="2000">
                                            <a:effectLst/>
                                            <a:latin typeface="Cambria Math" panose="02040503050406030204" pitchFamily="18" charset="0"/>
                                            <a:ea typeface="Times New Roman" panose="02020603050405020304" pitchFamily="18" charset="0"/>
                                            <a:cs typeface="Calibri" panose="020F0502020204030204" pitchFamily="34" charset="0"/>
                                          </a:rPr>
                                          <m:t>7</m:t>
                                        </m:r>
                                      </m:den>
                                    </m:f>
                                  </m:e>
                                </m:d>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6145142"/>
                      </a:ext>
                    </a:extLst>
                  </a:tr>
                  <a:tr h="108000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a:effectLst/>
                                    <a:latin typeface="Cambria Math" panose="02040503050406030204" pitchFamily="18" charset="0"/>
                                    <a:ea typeface="Times New Roman" panose="02020603050405020304" pitchFamily="18" charset="0"/>
                                    <a:cs typeface="Times New Roman" panose="02020603050405020304" pitchFamily="18" charset="0"/>
                                  </a:rPr>
                                  <m:t>9</m:t>
                                </m:r>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a:effectLst/>
                                        <a:latin typeface="Cambria Math" panose="02040503050406030204" pitchFamily="18" charset="0"/>
                                        <a:ea typeface="Times New Roman" panose="02020603050405020304" pitchFamily="18" charset="0"/>
                                        <a:cs typeface="Times New Roman" panose="02020603050405020304" pitchFamily="18" charset="0"/>
                                      </a:rPr>
                                      <m:t>2</m:t>
                                    </m:r>
                                  </m:den>
                                </m:f>
                                <m:r>
                                  <a:rPr lang="en-US" sz="2000">
                                    <a:effectLst/>
                                    <a:latin typeface="Cambria Math" panose="02040503050406030204" pitchFamily="18" charset="0"/>
                                    <a:ea typeface="Times New Roman" panose="02020603050405020304" pitchFamily="18" charset="0"/>
                                    <a:cs typeface="Calibri" panose="020F0502020204030204" pitchFamily="34" charset="0"/>
                                  </a:rPr>
                                  <m:t>+</m:t>
                                </m:r>
                                <m:d>
                                  <m:d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effectLst/>
                                        <a:latin typeface="Cambria Math" panose="02040503050406030204" pitchFamily="18" charset="0"/>
                                        <a:ea typeface="Times New Roman" panose="02020603050405020304" pitchFamily="18" charset="0"/>
                                        <a:cs typeface="Calibri" panose="020F0502020204030204" pitchFamily="34" charset="0"/>
                                      </a:rPr>
                                      <m:t>−</m:t>
                                    </m:r>
                                    <m:r>
                                      <a:rPr lang="en-US" sz="2000">
                                        <a:effectLst/>
                                        <a:latin typeface="Cambria Math" panose="02040503050406030204" pitchFamily="18" charset="0"/>
                                        <a:ea typeface="Times New Roman" panose="02020603050405020304" pitchFamily="18" charset="0"/>
                                        <a:cs typeface="Calibri" panose="020F0502020204030204" pitchFamily="34" charset="0"/>
                                      </a:rPr>
                                      <m:t>14</m:t>
                                    </m:r>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a:effectLst/>
                                            <a:latin typeface="Cambria Math" panose="02040503050406030204" pitchFamily="18" charset="0"/>
                                            <a:ea typeface="Times New Roman" panose="02020603050405020304" pitchFamily="18" charset="0"/>
                                            <a:cs typeface="Times New Roman" panose="02020603050405020304" pitchFamily="18" charset="0"/>
                                          </a:rPr>
                                          <m:t>8</m:t>
                                        </m:r>
                                      </m:den>
                                    </m:f>
                                  </m:e>
                                </m:d>
                              </m:oMath>
                            </m:oMathPara>
                          </a14:m>
                          <a:endParaRPr lang="en-PH" sz="2000" dirty="0">
                            <a:effectLst/>
                            <a:latin typeface="Verdana" pitchFamily="34" charset="0"/>
                            <a:ea typeface="Times New Roman" panose="02020603050405020304" pitchFamily="18" charset="0"/>
                            <a:cs typeface="Calibri" panose="020F050202020403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endParaRPr lang="x-none"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5593279"/>
                      </a:ext>
                    </a:extLst>
                  </a:tr>
                </a:tbl>
              </a:graphicData>
            </a:graphic>
          </p:graphicFrame>
        </mc:Choice>
        <mc:Fallback xmlns="">
          <p:graphicFrame>
            <p:nvGraphicFramePr>
              <p:cNvPr id="13" name="Table 12">
                <a:extLst>
                  <a:ext uri="{FF2B5EF4-FFF2-40B4-BE49-F238E27FC236}">
                    <a16:creationId xmlns:a16="http://schemas.microsoft.com/office/drawing/2014/main" id="{9E49090E-84E9-3946-AC32-BCB173163DC1}"/>
                  </a:ext>
                </a:extLst>
              </p:cNvPr>
              <p:cNvGraphicFramePr>
                <a:graphicFrameLocks noGrp="1"/>
              </p:cNvGraphicFramePr>
              <p:nvPr>
                <p:extLst>
                  <p:ext uri="{D42A27DB-BD31-4B8C-83A1-F6EECF244321}">
                    <p14:modId xmlns:p14="http://schemas.microsoft.com/office/powerpoint/2010/main" val="418728097"/>
                  </p:ext>
                </p:extLst>
              </p:nvPr>
            </p:nvGraphicFramePr>
            <p:xfrm>
              <a:off x="2496000" y="3579442"/>
              <a:ext cx="7200000" cy="2628000"/>
            </p:xfrm>
            <a:graphic>
              <a:graphicData uri="http://schemas.openxmlformats.org/drawingml/2006/table">
                <a:tbl>
                  <a:tblPr firstRow="1" firstCol="1" bandRow="1"/>
                  <a:tblGrid>
                    <a:gridCol w="3600000">
                      <a:extLst>
                        <a:ext uri="{9D8B030D-6E8A-4147-A177-3AD203B41FA5}">
                          <a16:colId xmlns:a16="http://schemas.microsoft.com/office/drawing/2014/main" val="409510840"/>
                        </a:ext>
                      </a:extLst>
                    </a:gridCol>
                    <a:gridCol w="3600000">
                      <a:extLst>
                        <a:ext uri="{9D8B030D-6E8A-4147-A177-3AD203B41FA5}">
                          <a16:colId xmlns:a16="http://schemas.microsoft.com/office/drawing/2014/main" val="1718117185"/>
                        </a:ext>
                      </a:extLst>
                    </a:gridCol>
                  </a:tblGrid>
                  <a:tr h="468000">
                    <a:tc>
                      <a:txBody>
                        <a:bodyPr/>
                        <a:lstStyle/>
                        <a:p>
                          <a:pPr marL="0" marR="0" algn="ctr">
                            <a:lnSpc>
                              <a:spcPct val="100000"/>
                            </a:lnSpc>
                            <a:spcBef>
                              <a:spcPts val="0"/>
                            </a:spcBef>
                            <a:spcAft>
                              <a:spcPts val="0"/>
                            </a:spcAft>
                          </a:pPr>
                          <a:r>
                            <a:rPr lang="en-US" sz="2000" b="1" dirty="0">
                              <a:effectLst/>
                              <a:latin typeface="Verdana" pitchFamily="34" charset="0"/>
                              <a:ea typeface="Verdana" pitchFamily="34" charset="0"/>
                              <a:cs typeface="Times New Roman" panose="02020603050405020304" pitchFamily="18" charset="0"/>
                            </a:rPr>
                            <a:t>Addition </a:t>
                          </a:r>
                          <a:r>
                            <a:rPr lang="en-US" sz="2000" b="1" dirty="0">
                              <a:solidFill>
                                <a:srgbClr val="000000"/>
                              </a:solidFill>
                              <a:effectLst/>
                              <a:latin typeface="Verdana" pitchFamily="34" charset="0"/>
                              <a:ea typeface="Verdana" pitchFamily="34" charset="0"/>
                              <a:cs typeface="Times New Roman" panose="02020603050405020304" pitchFamily="18" charset="0"/>
                            </a:rPr>
                            <a:t>Expression</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0000"/>
                            </a:lnSpc>
                            <a:spcBef>
                              <a:spcPts val="0"/>
                            </a:spcBef>
                            <a:spcAft>
                              <a:spcPts val="0"/>
                            </a:spcAft>
                          </a:pPr>
                          <a:r>
                            <a:rPr lang="en-US" sz="2000" b="1" dirty="0">
                              <a:solidFill>
                                <a:srgbClr val="000000"/>
                              </a:solidFill>
                              <a:effectLst/>
                              <a:latin typeface="Verdana" pitchFamily="34" charset="0"/>
                              <a:ea typeface="Verdana" pitchFamily="34" charset="0"/>
                              <a:cs typeface="Times New Roman" panose="02020603050405020304" pitchFamily="18" charset="0"/>
                            </a:rPr>
                            <a:t>Sum</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39423717"/>
                      </a:ext>
                    </a:extLst>
                  </a:tr>
                  <a:tr h="108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352" t="-44186" r="-100704" b="-101163"/>
                          </a:stretch>
                        </a:blipFill>
                      </a:tcPr>
                    </a:tc>
                    <a:tc>
                      <a:txBody>
                        <a:bodyPr/>
                        <a:lstStyle/>
                        <a:p>
                          <a:pPr marL="0" marR="0">
                            <a:lnSpc>
                              <a:spcPct val="107000"/>
                            </a:lnSpc>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6145142"/>
                      </a:ext>
                    </a:extLst>
                  </a:tr>
                  <a:tr h="108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352" t="-145882" r="-100704" b="-2353"/>
                          </a:stretch>
                        </a:blipFill>
                      </a:tcPr>
                    </a:tc>
                    <a:tc>
                      <a:txBody>
                        <a:bodyPr/>
                        <a:lstStyle/>
                        <a:p>
                          <a:pPr marL="0" marR="0">
                            <a:lnSpc>
                              <a:spcPct val="107000"/>
                            </a:lnSpc>
                            <a:spcBef>
                              <a:spcPts val="0"/>
                            </a:spcBef>
                            <a:spcAft>
                              <a:spcPts val="0"/>
                            </a:spcAft>
                          </a:pPr>
                          <a:endParaRPr lang="x-none"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5593279"/>
                      </a:ext>
                    </a:extLst>
                  </a:tr>
                </a:tbl>
              </a:graphicData>
            </a:graphic>
          </p:graphicFrame>
        </mc:Fallback>
      </mc:AlternateContent>
    </p:spTree>
    <p:extLst>
      <p:ext uri="{BB962C8B-B14F-4D97-AF65-F5344CB8AC3E}">
        <p14:creationId xmlns:p14="http://schemas.microsoft.com/office/powerpoint/2010/main" val="37825212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89</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5C5D1B9F-A752-AD42-8D60-9B883A2514E7}"/>
                  </a:ext>
                </a:extLst>
              </p:cNvPr>
              <p:cNvSpPr>
                <a:spLocks noChangeArrowheads="1"/>
              </p:cNvSpPr>
              <p:nvPr/>
            </p:nvSpPr>
            <p:spPr bwMode="auto">
              <a:xfrm>
                <a:off x="429798" y="615445"/>
                <a:ext cx="11332404" cy="415498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startAt="3"/>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blanks in the addition equation represent digits in the values. </a:t>
                </a: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893763" indent="-452438" eaLnBrk="0" fontAlgn="base" hangingPunct="0">
                  <a:spcBef>
                    <a:spcPct val="0"/>
                  </a:spcBef>
                  <a:spcAft>
                    <a:spcPct val="0"/>
                  </a:spcAft>
                  <a:buClrTx/>
                  <a:buFont typeface="+mj-lt"/>
                  <a:buAutoNum type="alphaL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Fill in the blanks for the addition equation below to create a true equation.</a:t>
                </a:r>
              </a:p>
              <a:p>
                <a:pPr marL="457200" indent="-457200"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14:m>
                  <m:oMathPara xmlns:m="http://schemas.openxmlformats.org/officeDocument/2006/math">
                    <m:oMathParaPr>
                      <m:jc m:val="centerGroup"/>
                    </m:oMathParaPr>
                    <m:oMath xmlns:m="http://schemas.openxmlformats.org/officeDocument/2006/math">
                      <m:r>
                        <a:rPr lang="es-E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16.537+6.1          8= −10.</m:t>
                      </m:r>
                      <m:r>
                        <a:rPr lang="en-US" altLang="en-US" sz="2400" i="1" dirty="0"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  </m:t>
                      </m:r>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        59</m:t>
                      </m:r>
                    </m:oMath>
                  </m:oMathPara>
                </a14:m>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889000" indent="-457200" eaLnBrk="0" fontAlgn="base" hangingPunct="0">
                  <a:spcBef>
                    <a:spcPct val="0"/>
                  </a:spcBef>
                  <a:spcAft>
                    <a:spcPct val="0"/>
                  </a:spcAft>
                  <a:buClrTx/>
                  <a:buFont typeface="+mj-lt"/>
                  <a:buAutoNum type="alphaLcPeriod" startAt="2"/>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Describe the process you used to determine the values for each of the blanks above.</a:t>
                </a:r>
              </a:p>
            </p:txBody>
          </p:sp>
        </mc:Choice>
        <mc:Fallback xmlns="">
          <p:sp>
            <p:nvSpPr>
              <p:cNvPr id="6" name="Rectangle 5">
                <a:extLst>
                  <a:ext uri="{FF2B5EF4-FFF2-40B4-BE49-F238E27FC236}">
                    <a16:creationId xmlns:a16="http://schemas.microsoft.com/office/drawing/2014/main" id="{5C5D1B9F-A752-AD42-8D60-9B883A2514E7}"/>
                  </a:ext>
                </a:extLst>
              </p:cNvPr>
              <p:cNvSpPr>
                <a:spLocks noRot="1" noChangeAspect="1" noMove="1" noResize="1" noEditPoints="1" noAdjustHandles="1" noChangeArrowheads="1" noChangeShapeType="1" noTextEdit="1"/>
              </p:cNvSpPr>
              <p:nvPr/>
            </p:nvSpPr>
            <p:spPr bwMode="auto">
              <a:xfrm>
                <a:off x="429798" y="615445"/>
                <a:ext cx="11332404" cy="4154984"/>
              </a:xfrm>
              <a:prstGeom prst="rect">
                <a:avLst/>
              </a:prstGeom>
              <a:blipFill>
                <a:blip r:embed="rId4"/>
                <a:stretch>
                  <a:fillRect l="-897" t="-1220" r="-1570" b="-243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7" name="Rectangle 6">
            <a:extLst>
              <a:ext uri="{FF2B5EF4-FFF2-40B4-BE49-F238E27FC236}">
                <a16:creationId xmlns:a16="http://schemas.microsoft.com/office/drawing/2014/main" id="{528F5F7D-89AF-7644-8B53-877CB96483EA}"/>
              </a:ext>
            </a:extLst>
          </p:cNvPr>
          <p:cNvSpPr/>
          <p:nvPr/>
        </p:nvSpPr>
        <p:spPr>
          <a:xfrm>
            <a:off x="5714162" y="2844688"/>
            <a:ext cx="464716" cy="4679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Rectangle 7">
            <a:extLst>
              <a:ext uri="{FF2B5EF4-FFF2-40B4-BE49-F238E27FC236}">
                <a16:creationId xmlns:a16="http://schemas.microsoft.com/office/drawing/2014/main" id="{7D3C1E83-181E-7E4B-B076-058D3AF34EB1}"/>
              </a:ext>
            </a:extLst>
          </p:cNvPr>
          <p:cNvSpPr/>
          <p:nvPr/>
        </p:nvSpPr>
        <p:spPr>
          <a:xfrm>
            <a:off x="7557333" y="2844687"/>
            <a:ext cx="464716" cy="4679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27084350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89</a:t>
            </a:r>
            <a:endParaRPr i="1" dirty="0">
              <a:latin typeface="Calibri"/>
              <a:ea typeface="Calibri"/>
              <a:cs typeface="Calibri"/>
              <a:sym typeface="Calibri"/>
            </a:endParaRPr>
          </a:p>
        </p:txBody>
      </p:sp>
      <p:sp>
        <p:nvSpPr>
          <p:cNvPr id="6" name="Rectangle 5">
            <a:extLst>
              <a:ext uri="{FF2B5EF4-FFF2-40B4-BE49-F238E27FC236}">
                <a16:creationId xmlns:a16="http://schemas.microsoft.com/office/drawing/2014/main" id="{5C5D1B9F-A752-AD42-8D60-9B883A2514E7}"/>
              </a:ext>
            </a:extLst>
          </p:cNvPr>
          <p:cNvSpPr>
            <a:spLocks noChangeArrowheads="1"/>
          </p:cNvSpPr>
          <p:nvPr/>
        </p:nvSpPr>
        <p:spPr bwMode="auto">
          <a:xfrm>
            <a:off x="111600" y="369015"/>
            <a:ext cx="1174545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1377950" indent="-482600" eaLnBrk="0" fontAlgn="base" hangingPunct="0">
              <a:spcBef>
                <a:spcPct val="0"/>
              </a:spcBef>
              <a:spcAft>
                <a:spcPct val="0"/>
              </a:spcAft>
              <a:buClrTx/>
              <a:buFont typeface="+mj-lt"/>
              <a:buAutoNum type="alphaLcPeriod" startAt="3"/>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Discuss your process with your partner. Write a summary of their process. Have your partner initial to show that your summary accurately expressed their process. </a:t>
            </a:r>
          </a:p>
        </p:txBody>
      </p:sp>
      <p:graphicFrame>
        <p:nvGraphicFramePr>
          <p:cNvPr id="3" name="Table 2">
            <a:extLst>
              <a:ext uri="{FF2B5EF4-FFF2-40B4-BE49-F238E27FC236}">
                <a16:creationId xmlns:a16="http://schemas.microsoft.com/office/drawing/2014/main" id="{C4F73B6D-0580-3D49-874D-5E972DB012A1}"/>
              </a:ext>
            </a:extLst>
          </p:cNvPr>
          <p:cNvGraphicFramePr>
            <a:graphicFrameLocks noGrp="1"/>
          </p:cNvGraphicFramePr>
          <p:nvPr>
            <p:extLst>
              <p:ext uri="{D42A27DB-BD31-4B8C-83A1-F6EECF244321}">
                <p14:modId xmlns:p14="http://schemas.microsoft.com/office/powerpoint/2010/main" val="936026750"/>
              </p:ext>
            </p:extLst>
          </p:nvPr>
        </p:nvGraphicFramePr>
        <p:xfrm>
          <a:off x="2971800" y="2089008"/>
          <a:ext cx="6840000" cy="4068000"/>
        </p:xfrm>
        <a:graphic>
          <a:graphicData uri="http://schemas.openxmlformats.org/drawingml/2006/table">
            <a:tbl>
              <a:tblPr firstRow="1" firstCol="1" bandRow="1">
                <a:tableStyleId>{A91F0D33-8C57-4600-99A7-42BC86742BE1}</a:tableStyleId>
              </a:tblPr>
              <a:tblGrid>
                <a:gridCol w="6840000">
                  <a:extLst>
                    <a:ext uri="{9D8B030D-6E8A-4147-A177-3AD203B41FA5}">
                      <a16:colId xmlns:a16="http://schemas.microsoft.com/office/drawing/2014/main" val="3031172018"/>
                    </a:ext>
                  </a:extLst>
                </a:gridCol>
              </a:tblGrid>
              <a:tr h="468000">
                <a:tc>
                  <a:txBody>
                    <a:bodyPr/>
                    <a:lstStyle/>
                    <a:p>
                      <a:pPr marL="0" marR="0" algn="ctr">
                        <a:lnSpc>
                          <a:spcPct val="100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Your Partner’s Process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797848975"/>
                  </a:ext>
                </a:extLst>
              </a:tr>
              <a:tr h="3600000">
                <a:tc>
                  <a:txBody>
                    <a:bodyPr/>
                    <a:lstStyle/>
                    <a:p>
                      <a:pPr marL="0" marR="0">
                        <a:lnSpc>
                          <a:spcPct val="107000"/>
                        </a:lnSpc>
                        <a:spcBef>
                          <a:spcPts val="0"/>
                        </a:spcBef>
                        <a:spcAft>
                          <a:spcPts val="0"/>
                        </a:spcAft>
                      </a:pP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7492334"/>
                  </a:ext>
                </a:extLst>
              </a:tr>
            </a:tbl>
          </a:graphicData>
        </a:graphic>
      </p:graphicFrame>
      <p:sp>
        <p:nvSpPr>
          <p:cNvPr id="11" name="Text Box 34">
            <a:extLst>
              <a:ext uri="{FF2B5EF4-FFF2-40B4-BE49-F238E27FC236}">
                <a16:creationId xmlns:a16="http://schemas.microsoft.com/office/drawing/2014/main" id="{D858C218-6626-5F40-AE13-BB09C9E23321}"/>
              </a:ext>
            </a:extLst>
          </p:cNvPr>
          <p:cNvSpPr txBox="1"/>
          <p:nvPr/>
        </p:nvSpPr>
        <p:spPr>
          <a:xfrm>
            <a:off x="7414027" y="5410080"/>
            <a:ext cx="2435446" cy="70643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US" sz="2000" dirty="0">
                <a:latin typeface="Verdana" panose="020B0604030504040204" pitchFamily="34" charset="0"/>
                <a:ea typeface="Verdana" pitchFamily="34" charset="0"/>
                <a:cs typeface="Times New Roman" panose="02020603050405020304" pitchFamily="18" charset="0"/>
              </a:rPr>
              <a:t>Partner’s </a:t>
            </a:r>
            <a:endParaRPr lang="x-none" sz="2000" dirty="0">
              <a:latin typeface="Verdana" pitchFamily="34" charset="0"/>
              <a:ea typeface="Verdana" pitchFamily="34" charset="0"/>
              <a:cs typeface="Times New Roman" panose="02020603050405020304" pitchFamily="18" charset="0"/>
            </a:endParaRPr>
          </a:p>
          <a:p>
            <a:r>
              <a:rPr lang="en-US" sz="2000" dirty="0">
                <a:latin typeface="Verdana" panose="020B0604030504040204" pitchFamily="34" charset="0"/>
                <a:ea typeface="Verdana" pitchFamily="34" charset="0"/>
                <a:cs typeface="Times New Roman" panose="02020603050405020304" pitchFamily="18" charset="0"/>
              </a:rPr>
              <a:t>Initials      _____</a:t>
            </a:r>
            <a:endParaRPr lang="x-none" sz="2000" dirty="0">
              <a:latin typeface="Verdana" pitchFamily="34" charset="0"/>
              <a:ea typeface="Verdana" pitchFamily="34" charset="0"/>
              <a:cs typeface="Times New Roman" panose="02020603050405020304" pitchFamily="18" charset="0"/>
            </a:endParaRPr>
          </a:p>
        </p:txBody>
      </p:sp>
    </p:spTree>
    <p:extLst>
      <p:ext uri="{BB962C8B-B14F-4D97-AF65-F5344CB8AC3E}">
        <p14:creationId xmlns:p14="http://schemas.microsoft.com/office/powerpoint/2010/main" val="22638271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2247" y="276615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90</a:t>
            </a:r>
            <a:endParaRPr i="1" dirty="0">
              <a:latin typeface="Calibri"/>
              <a:ea typeface="Calibri"/>
              <a:cs typeface="Calibri"/>
              <a:sym typeface="Calibri"/>
            </a:endParaRPr>
          </a:p>
        </p:txBody>
      </p:sp>
      <p:pic>
        <p:nvPicPr>
          <p:cNvPr id="7" name="image13.png" descr="Icon&#10;&#10;Description automatically generated">
            <a:extLst>
              <a:ext uri="{FF2B5EF4-FFF2-40B4-BE49-F238E27FC236}">
                <a16:creationId xmlns:a16="http://schemas.microsoft.com/office/drawing/2014/main" id="{32268E94-E434-4940-9512-03AE3A0DAF31}"/>
              </a:ext>
            </a:extLst>
          </p:cNvPr>
          <p:cNvPicPr/>
          <p:nvPr/>
        </p:nvPicPr>
        <p:blipFill>
          <a:blip r:embed="rId4"/>
          <a:srcRect/>
          <a:stretch>
            <a:fillRect/>
          </a:stretch>
        </p:blipFill>
        <p:spPr>
          <a:xfrm>
            <a:off x="3054096" y="2852928"/>
            <a:ext cx="1158151" cy="1158151"/>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3451109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09285" y="-85348"/>
            <a:ext cx="830664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4400" b="1" dirty="0">
                <a:solidFill>
                  <a:srgbClr val="E24E5F"/>
                </a:solidFill>
                <a:latin typeface="Verdana"/>
                <a:ea typeface="Verdana"/>
                <a:cs typeface="Verdana"/>
                <a:sym typeface="Verdana"/>
              </a:rPr>
              <a:t>3.1.6 Your Turn!</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90</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732950" y="1326813"/>
            <a:ext cx="780189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Find the sum for each expression.</a:t>
            </a:r>
          </a:p>
        </p:txBody>
      </p:sp>
      <p:pic>
        <p:nvPicPr>
          <p:cNvPr id="8" name="image13.png" descr="Icon&#10;&#10;Description automatically generated">
            <a:extLst>
              <a:ext uri="{FF2B5EF4-FFF2-40B4-BE49-F238E27FC236}">
                <a16:creationId xmlns:a16="http://schemas.microsoft.com/office/drawing/2014/main" id="{2547E01E-671D-5741-BE6A-2442400C6323}"/>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56616" y="201168"/>
            <a:ext cx="752669" cy="752669"/>
          </a:xfrm>
          <a:prstGeom prst="rect">
            <a:avLst/>
          </a:prstGeom>
          <a:ln/>
        </p:spPr>
      </p:pic>
      <mc:AlternateContent xmlns:mc="http://schemas.openxmlformats.org/markup-compatibility/2006" xmlns:a14="http://schemas.microsoft.com/office/drawing/2010/main">
        <mc:Choice Requires="a14">
          <p:sp>
            <p:nvSpPr>
              <p:cNvPr id="2" name="TextBox 1"/>
              <p:cNvSpPr txBox="1"/>
              <p:nvPr/>
            </p:nvSpPr>
            <p:spPr>
              <a:xfrm>
                <a:off x="1109285" y="1964414"/>
                <a:ext cx="7089936" cy="645048"/>
              </a:xfrm>
              <a:prstGeom prst="rect">
                <a:avLst/>
              </a:prstGeom>
              <a:noFill/>
            </p:spPr>
            <p:txBody>
              <a:bodyPr wrap="square" numCol="2" rtlCol="0" anchor="ctr" anchorCtr="0">
                <a:noAutofit/>
              </a:bodyPr>
              <a:lstStyle/>
              <a:p>
                <a:pPr marL="357188" indent="-357188">
                  <a:buFont typeface="+mj-lt"/>
                  <a:buAutoNum type="alphaLcPeriod"/>
                </a:pPr>
                <a:r>
                  <a:rPr lang="en-US" sz="2000" dirty="0">
                    <a:latin typeface="Verdana" pitchFamily="34" charset="0"/>
                    <a:ea typeface="Verdana" pitchFamily="34" charset="0"/>
                    <a:cs typeface="Times New Roman" panose="02020603050405020304" pitchFamily="18" charset="0"/>
                  </a:rPr>
                  <a: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m:t>
                    </m:r>
                    <m:f>
                      <m:f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2</m:t>
                        </m:r>
                      </m:den>
                    </m:f>
                    <m:r>
                      <a:rPr lang="en-US" sz="2000" i="1">
                        <a:latin typeface="Cambria Math" panose="02040503050406030204" pitchFamily="18" charset="0"/>
                        <a:ea typeface="Times New Roman" panose="02020603050405020304" pitchFamily="18" charset="0"/>
                        <a:cs typeface="Times New Roman" panose="02020603050405020304" pitchFamily="18" charset="0"/>
                      </a:rPr>
                      <m:t> + </m:t>
                    </m:r>
                    <m:d>
                      <m:d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latin typeface="Cambria Math" panose="02040503050406030204" pitchFamily="18" charset="0"/>
                            <a:ea typeface="Times New Roman" panose="02020603050405020304" pitchFamily="18" charset="0"/>
                            <a:cs typeface="Times New Roman" panose="02020603050405020304" pitchFamily="18" charset="0"/>
                          </a:rPr>
                          <m:t>−</m:t>
                        </m:r>
                        <m:f>
                          <m:f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8</m:t>
                            </m:r>
                          </m:den>
                        </m:f>
                      </m:e>
                    </m:d>
                  </m:oMath>
                </a14:m>
                <a:endParaRPr lang="en-PH" sz="2000" i="1" dirty="0">
                  <a:latin typeface="Verdana" pitchFamily="34" charset="0"/>
                  <a:ea typeface="Verdana" pitchFamily="34" charset="0"/>
                  <a:cs typeface="Times New Roman" panose="02020603050405020304" pitchFamily="18" charset="0"/>
                </a:endParaRPr>
              </a:p>
              <a:p>
                <a:pPr marL="357188" indent="-357188">
                  <a:buFont typeface="+mj-lt"/>
                  <a:buAutoNum type="alphaLcPeriod"/>
                </a:pPr>
                <a:r>
                  <a:rPr lang="en-US" sz="2000" dirty="0">
                    <a:latin typeface="Verdana" pitchFamily="34" charset="0"/>
                    <a:ea typeface="Verdana" pitchFamily="34" charset="0"/>
                    <a:cs typeface="Times New Roman" panose="02020603050405020304" pitchFamily="18" charset="0"/>
                  </a:rPr>
                  <a: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−12.37 + 18.161</m:t>
                    </m:r>
                  </m:oMath>
                </a14:m>
                <a:endParaRPr lang="x-none"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1109285" y="1964414"/>
                <a:ext cx="7089936" cy="645048"/>
              </a:xfrm>
              <a:prstGeom prst="rect">
                <a:avLst/>
              </a:prstGeom>
              <a:blipFill>
                <a:blip r:embed="rId5"/>
                <a:stretch>
                  <a:fillRect l="-8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1109285" y="3429000"/>
                <a:ext cx="7089936" cy="725717"/>
              </a:xfrm>
              <a:prstGeom prst="rect">
                <a:avLst/>
              </a:prstGeom>
              <a:noFill/>
            </p:spPr>
            <p:txBody>
              <a:bodyPr wrap="square" numCol="2" rtlCol="0">
                <a:noAutofit/>
              </a:bodyPr>
              <a:lstStyle/>
              <a:p>
                <a:pPr marL="357188" indent="-357188">
                  <a:buFont typeface="+mj-lt"/>
                  <a:buAutoNum type="alphaLcPeriod" startAt="3"/>
                </a:pPr>
                <a:r>
                  <a:rPr lang="en-US" sz="2000" dirty="0">
                    <a:latin typeface="Verdana" pitchFamily="34" charset="0"/>
                    <a:ea typeface="Verdana" pitchFamily="34" charset="0"/>
                    <a:cs typeface="Times New Roman" panose="02020603050405020304" pitchFamily="18" charset="0"/>
                  </a:rPr>
                  <a: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m:t>
                    </m:r>
                    <m:f>
                      <m:f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2</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5</m:t>
                        </m:r>
                      </m:den>
                    </m:f>
                    <m:r>
                      <a:rPr lang="en-US" sz="2000" i="1">
                        <a:latin typeface="Cambria Math" panose="02040503050406030204" pitchFamily="18" charset="0"/>
                        <a:ea typeface="Times New Roman" panose="02020603050405020304" pitchFamily="18" charset="0"/>
                        <a:cs typeface="Times New Roman" panose="02020603050405020304" pitchFamily="18" charset="0"/>
                      </a:rPr>
                      <m:t> + </m:t>
                    </m:r>
                    <m:d>
                      <m:d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latin typeface="Cambria Math" panose="02040503050406030204" pitchFamily="18" charset="0"/>
                            <a:ea typeface="Times New Roman" panose="02020603050405020304" pitchFamily="18" charset="0"/>
                            <a:cs typeface="Times New Roman" panose="02020603050405020304" pitchFamily="18" charset="0"/>
                          </a:rPr>
                          <m:t>−7</m:t>
                        </m:r>
                        <m:f>
                          <m:f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4</m:t>
                            </m:r>
                          </m:den>
                        </m:f>
                      </m:e>
                    </m:d>
                  </m:oMath>
                </a14:m>
                <a:endParaRPr lang="en-PH" sz="2000" dirty="0">
                  <a:latin typeface="Verdana" pitchFamily="34" charset="0"/>
                  <a:ea typeface="Verdana" pitchFamily="34" charset="0"/>
                </a:endParaRPr>
              </a:p>
              <a:p>
                <a:pPr marL="357188" indent="-357188">
                  <a:buFont typeface="+mj-lt"/>
                  <a:buAutoNum type="alphaLcPeriod" startAt="3"/>
                </a:pPr>
                <a:r>
                  <a:rPr lang="en-US" sz="2000" dirty="0">
                    <a:latin typeface="Verdana" pitchFamily="34" charset="0"/>
                    <a:ea typeface="Verdana" pitchFamily="34" charset="0"/>
                    <a:cs typeface="Times New Roman" panose="02020603050405020304" pitchFamily="18" charset="0"/>
                  </a:rPr>
                  <a: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−4.48 + 9.366</m:t>
                    </m:r>
                  </m:oMath>
                </a14:m>
                <a:endParaRPr lang="en-PH" sz="2000" dirty="0">
                  <a:latin typeface="Verdana" pitchFamily="34" charset="0"/>
                  <a:ea typeface="Verdana" pitchFamily="34" charset="0"/>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1109285" y="3429000"/>
                <a:ext cx="7089936" cy="725717"/>
              </a:xfrm>
              <a:prstGeom prst="rect">
                <a:avLst/>
              </a:prstGeom>
              <a:blipFill>
                <a:blip r:embed="rId6"/>
                <a:stretch>
                  <a:fillRect l="-894" t="-51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109285" y="4974255"/>
                <a:ext cx="7089936" cy="529247"/>
              </a:xfrm>
              <a:prstGeom prst="rect">
                <a:avLst/>
              </a:prstGeom>
            </p:spPr>
            <p:txBody>
              <a:bodyPr wrap="square" numCol="2">
                <a:spAutoFit/>
              </a:bodyPr>
              <a:lstStyle/>
              <a:p>
                <a:pPr marL="457200" indent="-457200">
                  <a:buFont typeface="+mj-lt"/>
                  <a:buAutoNum type="alphaLcPeriod" startAt="5"/>
                </a:pPr>
                <a:r>
                  <a:rPr lang="en-PH" sz="2000" dirty="0">
                    <a:latin typeface="Verdana" pitchFamily="34" charset="0"/>
                    <a:ea typeface="Verdana" pitchFamily="34" charset="0"/>
                    <a:cs typeface="Times New Roman" panose="02020603050405020304" pitchFamily="18" charset="0"/>
                  </a:rPr>
                  <a:t> </a:t>
                </a:r>
                <a14:m>
                  <m:oMath xmlns:m="http://schemas.openxmlformats.org/officeDocument/2006/math">
                    <m:r>
                      <a:rPr lang="en-PH" sz="2000" i="1">
                        <a:latin typeface="Cambria Math"/>
                        <a:ea typeface="Times New Roman" panose="02020603050405020304" pitchFamily="18" charset="0"/>
                        <a:cs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233.24 + 25.8</m:t>
                    </m:r>
                  </m:oMath>
                </a14:m>
                <a:endParaRPr lang="en-PH" sz="2000" i="1" dirty="0">
                  <a:latin typeface="Verdana" pitchFamily="34" charset="0"/>
                  <a:ea typeface="Verdana" pitchFamily="34" charset="0"/>
                  <a:cs typeface="Times New Roman" panose="02020603050405020304" pitchFamily="18" charset="0"/>
                </a:endParaRPr>
              </a:p>
              <a:p>
                <a:pPr marL="357188" indent="-357188">
                  <a:buFont typeface="+mj-lt"/>
                  <a:buAutoNum type="alphaLcPeriod" startAt="5"/>
                </a:pPr>
                <a:r>
                  <a:rPr lang="en-US" sz="2000" dirty="0">
                    <a:latin typeface="Verdana" pitchFamily="34" charset="0"/>
                    <a:ea typeface="Verdana" pitchFamily="34" charset="0"/>
                    <a:cs typeface="Times New Roman" panose="02020603050405020304" pitchFamily="18" charset="0"/>
                  </a:rPr>
                  <a: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−4</m:t>
                    </m:r>
                    <m:f>
                      <m:f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7</m:t>
                        </m:r>
                      </m:den>
                    </m:f>
                    <m:r>
                      <a:rPr lang="en-US" sz="2000" i="1">
                        <a:latin typeface="Cambria Math" panose="02040503050406030204" pitchFamily="18" charset="0"/>
                        <a:ea typeface="Times New Roman" panose="02020603050405020304" pitchFamily="18" charset="0"/>
                        <a:cs typeface="Times New Roman" panose="02020603050405020304" pitchFamily="18" charset="0"/>
                      </a:rPr>
                      <m:t> + 17</m:t>
                    </m:r>
                    <m:f>
                      <m:f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2</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9</m:t>
                        </m:r>
                      </m:den>
                    </m:f>
                  </m:oMath>
                </a14:m>
                <a:endParaRPr lang="x-none"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6" name="Rectangle 5"/>
              <p:cNvSpPr>
                <a:spLocks noRot="1" noChangeAspect="1" noMove="1" noResize="1" noEditPoints="1" noAdjustHandles="1" noChangeArrowheads="1" noChangeShapeType="1" noTextEdit="1"/>
              </p:cNvSpPr>
              <p:nvPr/>
            </p:nvSpPr>
            <p:spPr>
              <a:xfrm>
                <a:off x="1109285" y="4974255"/>
                <a:ext cx="7089936" cy="529247"/>
              </a:xfrm>
              <a:prstGeom prst="rect">
                <a:avLst/>
              </a:prstGeom>
              <a:blipFill>
                <a:blip r:embed="rId7"/>
                <a:stretch>
                  <a:fillRect l="-894" t="-6977" b="-4651"/>
                </a:stretch>
              </a:blipFill>
            </p:spPr>
            <p:txBody>
              <a:bodyPr/>
              <a:lstStyle/>
              <a:p>
                <a:r>
                  <a:rPr lang="en-US">
                    <a:noFill/>
                  </a:rPr>
                  <a:t> </a:t>
                </a:r>
              </a:p>
            </p:txBody>
          </p:sp>
        </mc:Fallback>
      </mc:AlternateContent>
    </p:spTree>
    <p:extLst>
      <p:ext uri="{BB962C8B-B14F-4D97-AF65-F5344CB8AC3E}">
        <p14:creationId xmlns:p14="http://schemas.microsoft.com/office/powerpoint/2010/main" val="22204764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90</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855625" y="276615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90</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28438" y="279372"/>
            <a:ext cx="11063562"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3.1.7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p:spPr>
      </p:pic>
      <p:sp>
        <p:nvSpPr>
          <p:cNvPr id="2" name="Rectangle 1">
            <a:extLst>
              <a:ext uri="{FF2B5EF4-FFF2-40B4-BE49-F238E27FC236}">
                <a16:creationId xmlns:a16="http://schemas.microsoft.com/office/drawing/2014/main" id="{AE281112-0763-C941-9DB7-9B28C4EA4745}"/>
              </a:ext>
            </a:extLst>
          </p:cNvPr>
          <p:cNvSpPr/>
          <p:nvPr/>
        </p:nvSpPr>
        <p:spPr>
          <a:xfrm>
            <a:off x="730265" y="1280252"/>
            <a:ext cx="11287563" cy="707886"/>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Choose a value from Row A and a value from Row B that, when added, will result in a negative answer. Then, calculate the sum.</a:t>
            </a:r>
          </a:p>
        </p:txBody>
      </p:sp>
      <p:pic>
        <p:nvPicPr>
          <p:cNvPr id="5" name="Picture 4" descr="Table&#10;&#10;Description automatically generated with medium confidence">
            <a:extLst>
              <a:ext uri="{FF2B5EF4-FFF2-40B4-BE49-F238E27FC236}">
                <a16:creationId xmlns:a16="http://schemas.microsoft.com/office/drawing/2014/main" id="{873AF54A-A3F2-AC4D-8DF5-C4B92D82DAD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591485" y="2295915"/>
            <a:ext cx="5009031" cy="4389937"/>
          </a:xfrm>
          <a:prstGeom prst="rect">
            <a:avLst/>
          </a:prstGeom>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3248</TotalTime>
  <Words>1327</Words>
  <Application>Microsoft Office PowerPoint</Application>
  <PresentationFormat>Widescreen</PresentationFormat>
  <Paragraphs>268</Paragraphs>
  <Slides>28</Slides>
  <Notes>27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Calibri</vt:lpstr>
      <vt:lpstr>Arial Black</vt:lpstr>
      <vt:lpstr>Cambria Math</vt:lpstr>
      <vt:lpstr>Courier New</vt:lpstr>
      <vt:lpstr>Arial</vt:lpstr>
      <vt:lpstr>Verdana</vt:lpstr>
      <vt:lpstr>Wingdings</vt:lpstr>
      <vt:lpstr>Century Gothic</vt:lpstr>
      <vt:lpstr>1_Office Theme</vt:lpstr>
      <vt:lpstr>7th Grade Math  Unit 3, Lesson 1  Adding Rational Numbers  Volume 1, pg. 85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Try It</vt:lpstr>
      <vt:lpstr>PowerPoint Presentation</vt:lpstr>
      <vt:lpstr>Refresher</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40</cp:revision>
  <dcterms:created xsi:type="dcterms:W3CDTF">2015-03-17T18:51:18Z</dcterms:created>
  <dcterms:modified xsi:type="dcterms:W3CDTF">2022-06-07T13:13:18Z</dcterms:modified>
</cp:coreProperties>
</file>