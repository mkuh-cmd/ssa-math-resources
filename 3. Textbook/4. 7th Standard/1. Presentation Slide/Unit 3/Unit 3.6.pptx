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45" r:id="rId4"/>
    <p:sldId id="286" r:id="rId5"/>
    <p:sldId id="261" r:id="rId6"/>
    <p:sldId id="287" r:id="rId7"/>
    <p:sldId id="314" r:id="rId8"/>
    <p:sldId id="315" r:id="rId9"/>
    <p:sldId id="316" r:id="rId10"/>
    <p:sldId id="406" r:id="rId11"/>
    <p:sldId id="407" r:id="rId12"/>
    <p:sldId id="346" r:id="rId13"/>
    <p:sldId id="347" r:id="rId14"/>
    <p:sldId id="349" r:id="rId15"/>
    <p:sldId id="350" r:id="rId16"/>
    <p:sldId id="409" r:id="rId17"/>
    <p:sldId id="399" r:id="rId18"/>
    <p:sldId id="400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 Math" panose="02040503050406030204" pitchFamily="18" charset="0"/>
      <p:regular r:id="rId28"/>
    </p:embeddedFont>
    <p:embeddedFont>
      <p:font typeface="Century Gothic" panose="020B0502020202020204" pitchFamily="34" charset="0"/>
      <p:regular r:id="rId29"/>
      <p:bold r:id="rId30"/>
      <p:italic r:id="rId31"/>
      <p:bold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FABB42"/>
    <a:srgbClr val="F79B59"/>
    <a:srgbClr val="F26763"/>
    <a:srgbClr val="1765AD"/>
    <a:srgbClr val="1664AC"/>
    <a:srgbClr val="BFBFBF"/>
    <a:srgbClr val="C9DF6F"/>
    <a:srgbClr val="417DBF"/>
    <a:srgbClr val="3F2A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1"/>
    <p:restoredTop sz="94694"/>
  </p:normalViewPr>
  <p:slideViewPr>
    <p:cSldViewPr snapToGrid="0">
      <p:cViewPr varScale="1">
        <p:scale>
          <a:sx n="81" d="100"/>
          <a:sy n="81" d="100"/>
        </p:scale>
        <p:origin x="67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8969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1100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802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0505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0223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12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Real-World Problems with Rational Numbers – Part 2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86296" y="136525"/>
            <a:ext cx="841485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5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197429" y="1462225"/>
            <a:ext cx="1068977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MA.7.NSO.2.3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real-world problems involving any of the four operations with rational numbers.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49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781299" y="129667"/>
            <a:ext cx="883552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1251857" y="1455367"/>
            <a:ext cx="8665063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2006930" y="77150"/>
            <a:ext cx="85320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23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04257" y="1600200"/>
            <a:ext cx="102216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problems with one or two operations by multiplying and/or dividing rational numbers.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861132" y="479655"/>
            <a:ext cx="8244518" cy="56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3.6.1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875" y="381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520042" y="1690062"/>
            <a:ext cx="63096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picture of a thermometer is shown.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the error in the image.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to fix the image so that there is no “math fail.”  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A picture containing text, device, thermometer, gauge&#10;&#10;Description automatically generated">
            <a:extLst>
              <a:ext uri="{FF2B5EF4-FFF2-40B4-BE49-F238E27FC236}">
                <a16:creationId xmlns:a16="http://schemas.microsoft.com/office/drawing/2014/main" id="{E1CC2202-3F37-8C4B-9D98-6D5E0B0DC03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145" t="20777" r="35662" b="2424"/>
          <a:stretch/>
        </p:blipFill>
        <p:spPr bwMode="auto">
          <a:xfrm>
            <a:off x="8265268" y="1196502"/>
            <a:ext cx="1215958" cy="50527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00637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E6F2FF04-F7A1-F845-B9E7-BE8D1189B00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461935" y="2851827"/>
            <a:ext cx="1154347" cy="115434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935678" y="264999"/>
            <a:ext cx="86034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3.6.2 Collaboration: Solving a Problem with Rational Numbers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6B19A2-BBA2-0441-AC88-F1F62E75949B}"/>
                  </a:ext>
                </a:extLst>
              </p:cNvPr>
              <p:cNvSpPr txBox="1"/>
              <p:nvPr/>
            </p:nvSpPr>
            <p:spPr>
              <a:xfrm>
                <a:off x="1429777" y="1646259"/>
                <a:ext cx="8603471" cy="4459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order to make a profit, stores sell products for more than what they paid for them. For example, a local furniture store buys a mattress from a manufacturer for a certain price. The store then sets the store price at </a:t>
                </a:r>
                <a14:m>
                  <m:oMath xmlns:m="http://schemas.openxmlformats.org/officeDocument/2006/math">
                    <m:r>
                      <a:rPr lang="es-E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times what they paid the manufacturer for it. If the mattress hasn’t sold in a year, then the store will reduce its price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original store price. 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 based on the information given.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6B19A2-BBA2-0441-AC88-F1F62E759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777" y="1646259"/>
                <a:ext cx="8603471" cy="4459426"/>
              </a:xfrm>
              <a:prstGeom prst="rect">
                <a:avLst/>
              </a:prstGeom>
              <a:blipFill>
                <a:blip r:embed="rId4"/>
                <a:stretch>
                  <a:fillRect l="-1134" t="-1093" b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.png">
            <a:extLst>
              <a:ext uri="{FF2B5EF4-FFF2-40B4-BE49-F238E27FC236}">
                <a16:creationId xmlns:a16="http://schemas.microsoft.com/office/drawing/2014/main" id="{DA7F20C3-BC13-9440-8DF9-3C94EF4B7E01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6619" y="503250"/>
            <a:ext cx="749811" cy="7498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/>
              <p:nvPr/>
            </p:nvSpPr>
            <p:spPr>
              <a:xfrm>
                <a:off x="1520042" y="385447"/>
                <a:ext cx="852010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Drawing a diagram can help make sense of the problem. Without calculating, complete the timeline to show how the price of a mattress the store purchases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$325.50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 change over time.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71B7AA-10E7-9B44-A591-563821260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42" y="385447"/>
                <a:ext cx="8520109" cy="1323439"/>
              </a:xfrm>
              <a:prstGeom prst="rect">
                <a:avLst/>
              </a:prstGeom>
              <a:blipFill>
                <a:blip r:embed="rId4"/>
                <a:stretch>
                  <a:fillRect l="-787" t="-3226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0150" y="2060530"/>
            <a:ext cx="7702826" cy="404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20042" y="1096788"/>
            <a:ext cx="852010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whether the store’s first price will be greater than or less than the price they paid the manufacturer.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first price the store will set for the mattress?</a:t>
            </a:r>
          </a:p>
        </p:txBody>
      </p:sp>
    </p:spTree>
    <p:extLst>
      <p:ext uri="{BB962C8B-B14F-4D97-AF65-F5344CB8AC3E}">
        <p14:creationId xmlns:p14="http://schemas.microsoft.com/office/powerpoint/2010/main" val="447783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71B7AA-10E7-9B44-A591-563821260A41}"/>
              </a:ext>
            </a:extLst>
          </p:cNvPr>
          <p:cNvSpPr txBox="1"/>
          <p:nvPr/>
        </p:nvSpPr>
        <p:spPr>
          <a:xfrm>
            <a:off x="1508166" y="1049778"/>
            <a:ext cx="853198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whether the price after a year will be greater than or less than the store’s first price.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sale price of the mattress after one year?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store sells the mattress after one year, explain if the store will make or lose money on the mattress.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4854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14550" y="0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360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53450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7537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2.png" descr="Icon&#10;&#10;Description automatically generated">
            <a:extLst>
              <a:ext uri="{FF2B5EF4-FFF2-40B4-BE49-F238E27FC236}">
                <a16:creationId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495300" y="276614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4886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32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911926" y="69009"/>
            <a:ext cx="94408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3.6.3 Guided Instruction: Solving Real-World Problems with Rational Numbers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6503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0042" y="1472534"/>
                <a:ext cx="8532934" cy="4503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Ramon paid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$18,360.00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a new car. By the end of the first year, the value of the car changed by </a:t>
                </a:r>
                <a14:m>
                  <m:oMath xmlns:m="http://schemas.openxmlformats.org/officeDocument/2006/math">
                    <m:r>
                      <a:rPr lang="es-ES" alt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its original value. By the end of the second year, the value of the car changed by </a:t>
                </a:r>
                <a14:m>
                  <m:oMath xmlns:m="http://schemas.openxmlformats.org/officeDocument/2006/math">
                    <m:r>
                      <a:rPr lang="es-ES" alt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its value at the end of the first year.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ts val="300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the value of the car increasing or decreasing during these two years?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ts val="300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By what amount did the value of the car change at the end of the first year?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value of Ramon’s car at the end of the second year?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0042" y="1472534"/>
                <a:ext cx="8532934" cy="4503925"/>
              </a:xfrm>
              <a:prstGeom prst="rect">
                <a:avLst/>
              </a:prstGeom>
              <a:blipFill>
                <a:blip r:embed="rId4"/>
                <a:stretch>
                  <a:fillRect l="-786" t="-949" r="-1714" b="-162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.png" descr="Icon&#10;&#10;Description automatically generated">
            <a:extLst>
              <a:ext uri="{FF2B5EF4-FFF2-40B4-BE49-F238E27FC236}">
                <a16:creationId xmlns:a16="http://schemas.microsoft.com/office/drawing/2014/main" id="{77E23D0C-703F-9A43-BC01-6CC2541A0FC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1788" y="262529"/>
            <a:ext cx="747431" cy="74743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508166" y="383587"/>
                <a:ext cx="854481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farmer is building a fence around a space on his property. The space has five equal sides. The farmer determined that he should buy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138.75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yards (yd) of fencing. The fence costs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$133.21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yd.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and label a diagram to make sense of the problem.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66" y="383587"/>
                <a:ext cx="8544811" cy="1938992"/>
              </a:xfrm>
              <a:prstGeom prst="rect">
                <a:avLst/>
              </a:prstGeom>
              <a:blipFill>
                <a:blip r:embed="rId4"/>
                <a:stretch>
                  <a:fillRect l="-785" t="-2201" r="-71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419C80-234B-BA43-91BA-3B33FC781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47702"/>
              </p:ext>
            </p:extLst>
          </p:nvPr>
        </p:nvGraphicFramePr>
        <p:xfrm>
          <a:off x="2478979" y="2800199"/>
          <a:ext cx="6893392" cy="3657600"/>
        </p:xfrm>
        <a:graphic>
          <a:graphicData uri="http://schemas.openxmlformats.org/drawingml/2006/table">
            <a:tbl>
              <a:tblPr firstRow="1" firstCol="1" bandRow="1"/>
              <a:tblGrid>
                <a:gridCol w="6893392">
                  <a:extLst>
                    <a:ext uri="{9D8B030D-6E8A-4147-A177-3AD203B41FA5}">
                      <a16:colId xmlns:a16="http://schemas.microsoft.com/office/drawing/2014/main" val="3405178708"/>
                    </a:ext>
                  </a:extLst>
                </a:gridCol>
              </a:tblGrid>
              <a:tr h="3657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709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03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681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1531917" y="703318"/>
                <a:ext cx="8624355" cy="5451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much fencing is used for each side?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cost for fencing on one side of the space?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water well drilling rig dug to a depth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−147.5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(ft). The rig drills </a:t>
                </a:r>
                <a14:m>
                  <m:oMath xmlns:m="http://schemas.openxmlformats.org/officeDocument/2006/math">
                    <m:r>
                      <a:rPr lang="es-E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 in one hour.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hours has the drill been running?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this rate, how many hours will it take until the drill reaches a depth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ft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17" y="703318"/>
                <a:ext cx="8624355" cy="5451364"/>
              </a:xfrm>
              <a:prstGeom prst="rect">
                <a:avLst/>
              </a:prstGeom>
              <a:blipFill>
                <a:blip r:embed="rId4"/>
                <a:stretch>
                  <a:fillRect l="-777" t="-670" r="-636" b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520043" y="906102"/>
                <a:ext cx="8532934" cy="1758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marine biologist was doing research in a one-person submarine. The submarine started to ascend (go up) from a position of </a:t>
                </a:r>
                <a14:m>
                  <m:oMath xmlns:m="http://schemas.openxmlformats.org/officeDocument/2006/math">
                    <m:r>
                      <a:rPr lang="es-E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−130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feet. The submarine surfaces (goes up) at a rate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23.3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per minute. How long, in minutes, will it take the submarine to reach the surface?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43" y="906102"/>
                <a:ext cx="8532934" cy="1758045"/>
              </a:xfrm>
              <a:prstGeom prst="rect">
                <a:avLst/>
              </a:prstGeom>
              <a:blipFill>
                <a:blip r:embed="rId4"/>
                <a:stretch>
                  <a:fillRect l="-786" t="-243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018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72226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13.png" descr="Icon&#10;&#10;Description automatically generated">
            <a:extLst>
              <a:ext uri="{FF2B5EF4-FFF2-40B4-BE49-F238E27FC236}">
                <a16:creationId xmlns:a16="http://schemas.microsoft.com/office/drawing/2014/main" id="{32268E94-E434-4940-9512-03AE3A0DAF3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495300" y="2766145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5110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2001975" y="444314"/>
            <a:ext cx="8894566" cy="562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3.6.4 Your Turn!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8167" y="1471477"/>
                <a:ext cx="8681858" cy="39150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Delaney wants to sell her bicycle. The original price of the bike was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$150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 value of the bike has changed by </a:t>
                </a:r>
                <a14:m>
                  <m:oMath xmlns:m="http://schemas.openxmlformats.org/officeDocument/2006/math">
                    <m:r>
                      <a:rPr lang="es-ES" altLang="en-US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original price. What is the current value of the bike?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 the beginning of the day on Monday, Stephon had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$15.78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his lunch account. At the end of the day on Friday, he had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$1.53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his lunch account. If Stephon purchased the same lunch each day on Monday through Friday, describe how the account changed each day.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8167" y="1471477"/>
                <a:ext cx="8681858" cy="3915046"/>
              </a:xfrm>
              <a:prstGeom prst="rect">
                <a:avLst/>
              </a:prstGeom>
              <a:blipFill>
                <a:blip r:embed="rId4"/>
                <a:stretch>
                  <a:fillRect l="-772" t="-933" r="-1544" b="-17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13.png" descr="Icon&#10;&#10;Description automatically generated">
            <a:extLst>
              <a:ext uri="{FF2B5EF4-FFF2-40B4-BE49-F238E27FC236}">
                <a16:creationId xmlns:a16="http://schemas.microsoft.com/office/drawing/2014/main" id="{2547E01E-671D-5741-BE6A-2442400C632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0213" y="357318"/>
            <a:ext cx="752669" cy="75266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20476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FABB42"/>
          </a:solidFill>
          <a:ln w="9525" cap="flat" cmpd="sng">
            <a:solidFill>
              <a:srgbClr val="FABB4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75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876301" y="383067"/>
            <a:ext cx="8740525" cy="853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3.6.5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713" y="40571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/>
              <p:nvPr/>
            </p:nvSpPr>
            <p:spPr>
              <a:xfrm>
                <a:off x="1520042" y="1740461"/>
                <a:ext cx="8585608" cy="11424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temperature has been changing at a rate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−3.64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℉ every hour for </a:t>
                </a:r>
                <a14:m>
                  <m:oMath xmlns:m="http://schemas.openxmlformats.org/officeDocument/2006/math">
                    <m:r>
                      <a:rPr lang="es-ES" sz="20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hours, how much has the temperature changed over that time?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42" y="1740461"/>
                <a:ext cx="8585608" cy="1142492"/>
              </a:xfrm>
              <a:prstGeom prst="rect">
                <a:avLst/>
              </a:prstGeom>
              <a:blipFill>
                <a:blip r:embed="rId5"/>
                <a:stretch>
                  <a:fillRect l="-781" t="-374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3290</TotalTime>
  <Words>1037</Words>
  <Application>Microsoft Office PowerPoint</Application>
  <PresentationFormat>Widescreen</PresentationFormat>
  <Paragraphs>134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Arial Black</vt:lpstr>
      <vt:lpstr>Cambria Math</vt:lpstr>
      <vt:lpstr>Arial</vt:lpstr>
      <vt:lpstr>Verdana</vt:lpstr>
      <vt:lpstr>Wingdings</vt:lpstr>
      <vt:lpstr>Century Gothic</vt:lpstr>
      <vt:lpstr>1_Office Theme</vt:lpstr>
      <vt:lpstr>7th Grade Math  Unit 3, Lesson 6  Solving Real-World Problems with Rational Numbers – Part 2  Volume 1, pg. 109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40</cp:revision>
  <dcterms:created xsi:type="dcterms:W3CDTF">2015-03-17T18:51:18Z</dcterms:created>
  <dcterms:modified xsi:type="dcterms:W3CDTF">2022-06-07T15:15:27Z</dcterms:modified>
</cp:coreProperties>
</file>