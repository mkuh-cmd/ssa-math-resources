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45" r:id="rId4"/>
    <p:sldId id="286" r:id="rId5"/>
    <p:sldId id="261" r:id="rId6"/>
    <p:sldId id="287" r:id="rId7"/>
    <p:sldId id="381" r:id="rId8"/>
    <p:sldId id="314" r:id="rId9"/>
    <p:sldId id="315" r:id="rId10"/>
    <p:sldId id="316" r:id="rId11"/>
    <p:sldId id="406" r:id="rId12"/>
    <p:sldId id="407" r:id="rId13"/>
    <p:sldId id="408" r:id="rId14"/>
    <p:sldId id="409" r:id="rId15"/>
    <p:sldId id="399" r:id="rId16"/>
    <p:sldId id="400" r:id="rId17"/>
    <p:sldId id="405" r:id="rId18"/>
    <p:sldId id="306" r:id="rId19"/>
    <p:sldId id="307" r:id="rId20"/>
  </p:sldIdLst>
  <p:sldSz cx="12192000" cy="6858000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0" autoAdjust="0"/>
    <p:restoredTop sz="94591" autoAdjust="0"/>
  </p:normalViewPr>
  <p:slideViewPr>
    <p:cSldViewPr snapToGrid="0">
      <p:cViewPr varScale="1">
        <p:scale>
          <a:sx n="86" d="100"/>
          <a:sy n="86" d="100"/>
        </p:scale>
        <p:origin x="50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86593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50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7393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39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002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002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223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12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3893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Problems with Rational Numbers – Part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119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306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2178121" y="136525"/>
            <a:ext cx="79230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57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07560" y="1462225"/>
            <a:ext cx="892734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MA.7.NSO.2.3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any of the four operations with rational numbers.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4699" y="39589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948824" y="129667"/>
            <a:ext cx="86680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1575174" y="1455367"/>
            <a:ext cx="8341746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973766" y="225869"/>
            <a:ext cx="85652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3635" y="52485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97285" y="1600200"/>
            <a:ext cx="88135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with at least three operations involving any of the four operations with rational numbers.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055409" y="439230"/>
            <a:ext cx="805024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3.8.1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3832" y="2359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516567" y="1493923"/>
            <a:ext cx="5250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binder clips in the image? 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EF9E89-4181-594C-AAA8-E8565581D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61099" y="1445525"/>
            <a:ext cx="3362325" cy="24974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432CF8-5798-6449-8B24-48960D5A844D}"/>
              </a:ext>
            </a:extLst>
          </p:cNvPr>
          <p:cNvSpPr txBox="1"/>
          <p:nvPr/>
        </p:nvSpPr>
        <p:spPr>
          <a:xfrm>
            <a:off x="1516567" y="4276920"/>
            <a:ext cx="8536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questions come to mind when you look at this image?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527717" y="763490"/>
                <a:ext cx="852525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stack of papers contains about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sheets of paper. Estimate the number of sheets each binder clip can hold.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make a good estimate, what information would be useful to know?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tools or resources could help you find that information?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717" y="763490"/>
                <a:ext cx="8525259" cy="4893647"/>
              </a:xfrm>
              <a:prstGeom prst="rect">
                <a:avLst/>
              </a:prstGeom>
              <a:blipFill>
                <a:blip r:embed="rId4"/>
                <a:stretch>
                  <a:fillRect l="-1144" t="-1121" r="-858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797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13379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6.png" descr="Icon&#10;&#10;Description automatically generated">
            <a:extLst>
              <a:ext uri="{FF2B5EF4-FFF2-40B4-BE49-F238E27FC236}">
                <a16:creationId xmlns:a16="http://schemas.microsoft.com/office/drawing/2014/main" id="{EB8EB2D2-7C1B-714B-8600-F8C35DE53F4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1692" y="2852923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984917" y="452973"/>
            <a:ext cx="8349984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3.8.2 Activity: Gallery Walk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B19A2-BBA2-0441-AC88-F1F62E75949B}"/>
              </a:ext>
            </a:extLst>
          </p:cNvPr>
          <p:cNvSpPr txBox="1"/>
          <p:nvPr/>
        </p:nvSpPr>
        <p:spPr>
          <a:xfrm>
            <a:off x="1505415" y="1490008"/>
            <a:ext cx="88294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assign your group one of the following scenarios. Work together to answer the question(s), writing neatly on the chart paper provided. Show all your work to prepare a presentation for the other students in your class.</a:t>
            </a:r>
          </a:p>
        </p:txBody>
      </p:sp>
      <p:pic>
        <p:nvPicPr>
          <p:cNvPr id="9" name="image6.png" descr="Icon&#10;&#10;Description automatically generated">
            <a:extLst>
              <a:ext uri="{FF2B5EF4-FFF2-40B4-BE49-F238E27FC236}">
                <a16:creationId xmlns:a16="http://schemas.microsoft.com/office/drawing/2014/main" id="{39F22DEC-68CA-DF4B-BEB6-33B991EFB23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7288" y="373512"/>
            <a:ext cx="749811" cy="7498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079" y="-26896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72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B6E3017-D8ED-AC44-9E78-CDBC9B34F4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9546130"/>
                  </p:ext>
                </p:extLst>
              </p:nvPr>
            </p:nvGraphicFramePr>
            <p:xfrm>
              <a:off x="2016034" y="376880"/>
              <a:ext cx="7920000" cy="603624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61005419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3543192139"/>
                        </a:ext>
                      </a:extLst>
                    </a:gridCol>
                  </a:tblGrid>
                  <a:tr h="5183324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1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Marie plans to use a ride sharing service for the trip from Tampa International Airport to her hotel. The service has a booking fee of $2.45 and a cost of $0.42 for the first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mile and an additional fee of $0.16 for each 0.1 mile after the first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mile. 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How much will the trip cost if Marie’s hotel is 7.25 miles from the airport?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Marie decides to stop by a grocery store before arriving at her hotel. The ride sharing service charges $0.45 for each minute they have to wait on a customer. Her total bill was $21.72. How long was Marie in the grocery store?</a:t>
                          </a: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776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B6E3017-D8ED-AC44-9E78-CDBC9B34F4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9546130"/>
                  </p:ext>
                </p:extLst>
              </p:nvPr>
            </p:nvGraphicFramePr>
            <p:xfrm>
              <a:off x="2016034" y="376880"/>
              <a:ext cx="7920000" cy="603624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61005419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3543192139"/>
                        </a:ext>
                      </a:extLst>
                    </a:gridCol>
                  </a:tblGrid>
                  <a:tr h="6036247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1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607" t="-630" r="-414" b="-4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768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036" y="-2098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673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5850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81B9504-B3C9-3247-B021-7AD2EDE411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8411766"/>
                  </p:ext>
                </p:extLst>
              </p:nvPr>
            </p:nvGraphicFramePr>
            <p:xfrm>
              <a:off x="2009786" y="370883"/>
              <a:ext cx="7920000" cy="60377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983169577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605944696"/>
                        </a:ext>
                      </a:extLst>
                    </a:gridCol>
                  </a:tblGrid>
                  <a:tr h="57429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2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Leah and her parents have an agreement. She borrowed money from them to buy a video gaming system and is supposed to pay them back within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months. If Leah does not have the balance paid by the agreed-upon time, she will have to give the system to her parents until it is paid off. Leah and her parents created a payment plan to help her meet this goal. Starting on July 1, Leah should pay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$5.95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per day until the gaming system is paid off. On July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th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her balance was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−$10.25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since she couldn’t pay the full amount each day. Leah was not able to pay anything again for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15 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days. On July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th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Leah paid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$85.00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How much had Leah paid her parents by July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1800" baseline="30000" dirty="0" err="1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5143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 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By July 20</a:t>
                          </a:r>
                          <a:r>
                            <a:rPr lang="en-US" sz="1800" baseline="30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, how much more or less had Leah paid than what was required by the payment plan?</a:t>
                          </a: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8955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81B9504-B3C9-3247-B021-7AD2EDE411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8411766"/>
                  </p:ext>
                </p:extLst>
              </p:nvPr>
            </p:nvGraphicFramePr>
            <p:xfrm>
              <a:off x="2009786" y="370883"/>
              <a:ext cx="7920000" cy="60377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983169577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605944696"/>
                        </a:ext>
                      </a:extLst>
                    </a:gridCol>
                  </a:tblGrid>
                  <a:tr h="603777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2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668" t="-840" r="-415" b="-4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89557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0614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160" y="-23852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274" y="61849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73048" y="64420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E84E580-3CA5-7D46-9F0B-2C8EF2DAF5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273744"/>
                  </p:ext>
                </p:extLst>
              </p:nvPr>
            </p:nvGraphicFramePr>
            <p:xfrm>
              <a:off x="2015687" y="365802"/>
              <a:ext cx="7920000" cy="60867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6319740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875696289"/>
                        </a:ext>
                      </a:extLst>
                    </a:gridCol>
                  </a:tblGrid>
                  <a:tr h="60867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3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coffee shop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keeps track of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changes in their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coffee inventory.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week of their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record-keeping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shown. 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How much coffee is left at the end of the week?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69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69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Coffee is delivered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50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-pound (</a:t>
                          </a:r>
                          <a:r>
                            <a:rPr lang="en-US" sz="18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lb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 bags, </a:t>
                          </a:r>
                          <a:b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bags at a time. How many pounds of coffee were sold on Thursday?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43667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E84E580-3CA5-7D46-9F0B-2C8EF2DAF5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273744"/>
                  </p:ext>
                </p:extLst>
              </p:nvPr>
            </p:nvGraphicFramePr>
            <p:xfrm>
              <a:off x="2015687" y="365802"/>
              <a:ext cx="7920000" cy="60867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6319740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875696289"/>
                        </a:ext>
                      </a:extLst>
                    </a:gridCol>
                  </a:tblGrid>
                  <a:tr h="60867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3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53" t="-601" r="-299" b="-3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4366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C400DFB-3AB5-F449-BCBE-C95DCCBC43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4486589"/>
                  </p:ext>
                </p:extLst>
              </p:nvPr>
            </p:nvGraphicFramePr>
            <p:xfrm>
              <a:off x="6066574" y="466993"/>
              <a:ext cx="3780000" cy="33572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4105590347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953992296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Day</a:t>
                          </a:r>
                          <a:endParaRPr lang="x-none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Change in Inventory (</a:t>
                          </a:r>
                          <a:r>
                            <a:rPr lang="en-US" sz="1800" b="1" dirty="0" err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lb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4198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453758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Tuesday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−43.3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123373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Wednesday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−50.5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149307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Thursday</a:t>
                          </a:r>
                          <a:endParaRPr lang="x-none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72.8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293971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Friday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−52.7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079974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Saturday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−21.6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06781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Sunday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014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C400DFB-3AB5-F449-BCBE-C95DCCBC43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4486589"/>
                  </p:ext>
                </p:extLst>
              </p:nvPr>
            </p:nvGraphicFramePr>
            <p:xfrm>
              <a:off x="6066574" y="466993"/>
              <a:ext cx="3780000" cy="33572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4105590347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953992296"/>
                        </a:ext>
                      </a:extLst>
                    </a:gridCol>
                  </a:tblGrid>
                  <a:tr h="66268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Day</a:t>
                          </a:r>
                          <a:endParaRPr lang="x-none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Change in Inventory (</a:t>
                          </a:r>
                          <a:r>
                            <a:rPr lang="en-US" sz="1800" b="1" dirty="0" err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lb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419867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186667" r="-1170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537587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Tuesday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277419" r="-1170" b="-5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1233734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Wednesday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390000" r="-1170" b="-4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493070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Thursday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474194" r="-1170" b="-3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2939712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Friday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593333" r="-1170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799740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Saturday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670968" r="-1170"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67813"/>
                      </a:ext>
                    </a:extLst>
                  </a:tr>
                  <a:tr h="3849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Sunday</a:t>
                          </a:r>
                          <a:endParaRPr lang="x-none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5439" t="-796667" r="-117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0140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169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4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793" y="624791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25567" y="650499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7262724"/>
                  </p:ext>
                </p:extLst>
              </p:nvPr>
            </p:nvGraphicFramePr>
            <p:xfrm>
              <a:off x="2022848" y="381429"/>
              <a:ext cx="7920000" cy="60867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60867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Recall from the previous lesson that The Better Utility Company charges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$0.12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per kilowatt-hour for the energy a customer uses that is provided by the utility company. The company gives an adjustment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−$0.025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for every kilowatt-hour of electricity a customer with solar panel(s) generates that they do not use themselves.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The table shows the number of kilowatt-hours of the electricity a customer used and generated each week for a month.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7262724"/>
                  </p:ext>
                </p:extLst>
              </p:nvPr>
            </p:nvGraphicFramePr>
            <p:xfrm>
              <a:off x="2022848" y="381429"/>
              <a:ext cx="7920000" cy="60867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60867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668" t="-833" r="-415" b="-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7C13933-0AAE-694A-B164-B76A442DE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7861615"/>
                  </p:ext>
                </p:extLst>
              </p:nvPr>
            </p:nvGraphicFramePr>
            <p:xfrm>
              <a:off x="3992850" y="3929552"/>
              <a:ext cx="5760000" cy="23220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313943864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21105599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66609696"/>
                        </a:ext>
                      </a:extLst>
                    </a:gridCol>
                  </a:tblGrid>
                  <a:tr h="84890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Used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Generated That Were Not Used by the Customer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807364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1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112.08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253.2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8448880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2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181.5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357.6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2359341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3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308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060954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4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200.42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214.4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398718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7C13933-0AAE-694A-B164-B76A442DE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7861615"/>
                  </p:ext>
                </p:extLst>
              </p:nvPr>
            </p:nvGraphicFramePr>
            <p:xfrm>
              <a:off x="3992850" y="3929552"/>
              <a:ext cx="5760000" cy="23220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313943864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21105599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66609696"/>
                        </a:ext>
                      </a:extLst>
                    </a:gridCol>
                  </a:tblGrid>
                  <a:tr h="114801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Used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Generated That Were Not Used by the Customer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807364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1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847" t="-420833" r="-202119" b="-3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11" t="-420833" r="-846" b="-3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48880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2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847" t="-520833" r="-202119" b="-2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11" t="-520833" r="-846" b="-2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2359341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3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847" t="-608163" r="-202119" b="-1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11" t="-608163" r="-846" b="-1367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060954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4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847" t="-722917" r="-202119" b="-39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11" t="-722917" r="-846" b="-39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8718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86590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3739784"/>
                  </p:ext>
                </p:extLst>
              </p:nvPr>
            </p:nvGraphicFramePr>
            <p:xfrm>
              <a:off x="2022848" y="381428"/>
              <a:ext cx="7920000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4320000">
                    <a:tc>
                      <a:txBody>
                        <a:bodyPr/>
                        <a:lstStyle/>
                        <a:p>
                          <a:pPr marL="1588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What is the amount due for this month?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The average customer’s bill is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of what they would have been charged if they had not produced electricity using solar panels. Explain if this customer’s savings was below or above that average.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3739784"/>
                  </p:ext>
                </p:extLst>
              </p:nvPr>
            </p:nvGraphicFramePr>
            <p:xfrm>
              <a:off x="2022848" y="381428"/>
              <a:ext cx="7920000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4320000">
                    <a:tc>
                      <a:txBody>
                        <a:bodyPr/>
                        <a:lstStyle/>
                        <a:p>
                          <a:pPr marL="1588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668" t="-1173" r="-415" b="-2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094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72226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3.png" descr="Icon&#10;&#10;Description automatically generated">
            <a:extLst>
              <a:ext uri="{FF2B5EF4-FFF2-40B4-BE49-F238E27FC236}">
                <a16:creationId xmlns:a16="http://schemas.microsoft.com/office/drawing/2014/main" id="{32268E94-E434-4940-9512-03AE3A0DAF3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495300" y="2766145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5110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948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796" y="618972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2146852" y="339635"/>
            <a:ext cx="8679644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3.8.3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71570" y="644680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415" y="1299095"/>
                <a:ext cx="8443335" cy="32326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Araya is making red ribbons to sell to support a local nonprofit organization. She purchased a roll of fabric that is </a:t>
                </a:r>
                <a14:m>
                  <m:oMath xmlns:m="http://schemas.openxmlformats.org/officeDocument/2006/math">
                    <m:r>
                      <a:rPr lang="es-ES" alt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30</m:t>
                    </m:r>
                    <m:f>
                      <m:f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in length and each ribbon uses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0.635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of fabric.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she already has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ribbon orders, how many additional ribbons will she be able to sell with the single roll? Show your work.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5415" y="1299095"/>
                <a:ext cx="8443335" cy="3232680"/>
              </a:xfrm>
              <a:prstGeom prst="rect">
                <a:avLst/>
              </a:prstGeom>
              <a:blipFill>
                <a:blip r:embed="rId4"/>
                <a:stretch>
                  <a:fillRect l="-1155" t="-566" r="-1083" b="-32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3.png" descr="Icon&#10;&#10;Description automatically generated">
            <a:extLst>
              <a:ext uri="{FF2B5EF4-FFF2-40B4-BE49-F238E27FC236}">
                <a16:creationId xmlns:a16="http://schemas.microsoft.com/office/drawing/2014/main" id="{96F12890-E5A9-E74E-9B5D-7E0FA1C30B6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3860" y="252115"/>
            <a:ext cx="808220" cy="78921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0476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5A6E4B-F6F0-7B45-BB6F-FE7557CB6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7717" y="376421"/>
                <a:ext cx="8525259" cy="1507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Joanne purchased </a:t>
                </a:r>
                <a14:m>
                  <m:oMath xmlns:m="http://schemas.openxmlformats.org/officeDocument/2006/math">
                    <m:r>
                      <a:rPr lang="es-ES" alt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pounds of tomatoes, </a:t>
                </a:r>
                <a:b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s-ES" alt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pounds of red onions,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pounds of asparagus, and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lemons from a grocery store. 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F5A6E4B-F6F0-7B45-BB6F-FE7557CB6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7717" y="376421"/>
                <a:ext cx="8525259" cy="1507272"/>
              </a:xfrm>
              <a:prstGeom prst="rect">
                <a:avLst/>
              </a:prstGeom>
              <a:blipFill>
                <a:blip r:embed="rId4"/>
                <a:stretch>
                  <a:fillRect l="-1144" b="-80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FE23490-E83C-8F4D-B403-0F6BF5970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0103723"/>
                  </p:ext>
                </p:extLst>
              </p:nvPr>
            </p:nvGraphicFramePr>
            <p:xfrm>
              <a:off x="2747419" y="2073283"/>
              <a:ext cx="4680000" cy="23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47627563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62210434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Price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11889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Tomatoes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$2.99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per pound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815289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Red Onions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$1.79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per pound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580677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Asparagus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$2.49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per pound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832931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Lemons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$0.79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each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67415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FE23490-E83C-8F4D-B403-0F6BF5970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0103723"/>
                  </p:ext>
                </p:extLst>
              </p:nvPr>
            </p:nvGraphicFramePr>
            <p:xfrm>
              <a:off x="2747419" y="2073283"/>
              <a:ext cx="4680000" cy="23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47627563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362210434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Price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11889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Tomatoes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5990" t="-102597" r="-725" b="-3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15289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Red Onions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5990" t="-205263" r="-725" b="-21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806777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Asparagus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5990" t="-301299" r="-725" b="-1155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832931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Lemons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5990" t="-401299" r="-725" b="-155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67415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9F10F6F4-DC9A-8B40-B87B-F0BC1F9D5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717" y="4602873"/>
            <a:ext cx="825286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8895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the listed prices, how much would Joanne spend?</a:t>
            </a:r>
          </a:p>
        </p:txBody>
      </p:sp>
    </p:spTree>
    <p:extLst>
      <p:ext uri="{BB962C8B-B14F-4D97-AF65-F5344CB8AC3E}">
        <p14:creationId xmlns:p14="http://schemas.microsoft.com/office/powerpoint/2010/main" val="3653620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63118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134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2174488" y="400325"/>
            <a:ext cx="815542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3.8.4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9200" y="30539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1527717" y="1134478"/>
            <a:ext cx="85779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Color in the arrow up to the statement which best describes your current understanding of solving real-world problems with rational numbers.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8B0097-F9E6-B840-9EF4-BCB85332E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679982"/>
              </p:ext>
            </p:extLst>
          </p:nvPr>
        </p:nvGraphicFramePr>
        <p:xfrm>
          <a:off x="2683892" y="2317675"/>
          <a:ext cx="7646016" cy="4140000"/>
        </p:xfrm>
        <a:graphic>
          <a:graphicData uri="http://schemas.openxmlformats.org/drawingml/2006/table">
            <a:tbl>
              <a:tblPr firstRow="1" firstCol="1" bandRow="1"/>
              <a:tblGrid>
                <a:gridCol w="260030">
                  <a:extLst>
                    <a:ext uri="{9D8B030D-6E8A-4147-A177-3AD203B41FA5}">
                      <a16:colId xmlns:a16="http://schemas.microsoft.com/office/drawing/2014/main" val="288388149"/>
                    </a:ext>
                  </a:extLst>
                </a:gridCol>
                <a:gridCol w="7385986">
                  <a:extLst>
                    <a:ext uri="{9D8B030D-6E8A-4147-A177-3AD203B41FA5}">
                      <a16:colId xmlns:a16="http://schemas.microsoft.com/office/drawing/2014/main" val="3457164004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I’m so confident, I could explain this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 someone else!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969657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can get to the right answer, but I don’t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well enough to explain it yet.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907707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understand some of this, but I don’t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all of it yet.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44136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tried hard and I listened, but I am finding </a:t>
                      </a:r>
                      <a:b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this challenging. I will make sure that I get help.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28409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do not understand any of this yet. There are things I could do to be a better learner.</a:t>
                      </a:r>
                      <a:endParaRPr lang="x-none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99" marR="5719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361248"/>
                  </a:ext>
                </a:extLst>
              </a:tr>
            </a:tbl>
          </a:graphicData>
        </a:graphic>
      </p:graphicFrame>
      <p:sp>
        <p:nvSpPr>
          <p:cNvPr id="11" name="Arrow: Up 3">
            <a:extLst>
              <a:ext uri="{FF2B5EF4-FFF2-40B4-BE49-F238E27FC236}">
                <a16:creationId xmlns:a16="http://schemas.microsoft.com/office/drawing/2014/main" id="{6EEB0C69-75DB-B24F-BA7B-7904EDC88291}"/>
              </a:ext>
            </a:extLst>
          </p:cNvPr>
          <p:cNvSpPr/>
          <p:nvPr/>
        </p:nvSpPr>
        <p:spPr>
          <a:xfrm>
            <a:off x="2026500" y="2293403"/>
            <a:ext cx="584856" cy="3993931"/>
          </a:xfrm>
          <a:prstGeom prst="up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1247</Words>
  <Application>Microsoft Office PowerPoint</Application>
  <PresentationFormat>Widescreen</PresentationFormat>
  <Paragraphs>168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Arial Black</vt:lpstr>
      <vt:lpstr>Cambria Math</vt:lpstr>
      <vt:lpstr>Arial</vt:lpstr>
      <vt:lpstr>Verdana</vt:lpstr>
      <vt:lpstr>Wingdings</vt:lpstr>
      <vt:lpstr>Century Gothic</vt:lpstr>
      <vt:lpstr>1_Office Theme</vt:lpstr>
      <vt:lpstr>7th Grade Math  Unit 3, Lesson 8  Solving  Real-World Problems with Rational Numbers – Part 4  Volume 1, pg. 119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42</cp:revision>
  <dcterms:created xsi:type="dcterms:W3CDTF">2015-03-17T18:51:18Z</dcterms:created>
  <dcterms:modified xsi:type="dcterms:W3CDTF">2022-06-07T16:03:43Z</dcterms:modified>
</cp:coreProperties>
</file>