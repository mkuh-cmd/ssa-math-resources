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93" r:id="rId9"/>
    <p:sldId id="276" r:id="rId10"/>
    <p:sldId id="277" r:id="rId11"/>
    <p:sldId id="294" r:id="rId12"/>
    <p:sldId id="265" r:id="rId13"/>
    <p:sldId id="296" r:id="rId14"/>
    <p:sldId id="297" r:id="rId15"/>
    <p:sldId id="298" r:id="rId16"/>
    <p:sldId id="299" r:id="rId17"/>
    <p:sldId id="263" r:id="rId18"/>
    <p:sldId id="264" r:id="rId19"/>
    <p:sldId id="295" r:id="rId20"/>
    <p:sldId id="300" r:id="rId21"/>
    <p:sldId id="301" r:id="rId22"/>
    <p:sldId id="302" r:id="rId23"/>
    <p:sldId id="303" r:id="rId24"/>
    <p:sldId id="266" r:id="rId25"/>
    <p:sldId id="267" r:id="rId26"/>
    <p:sldId id="268" r:id="rId27"/>
    <p:sldId id="304" r:id="rId28"/>
    <p:sldId id="305" r:id="rId29"/>
    <p:sldId id="306" r:id="rId30"/>
    <p:sldId id="287" r:id="rId31"/>
    <p:sldId id="288" r:id="rId32"/>
    <p:sldId id="289" r:id="rId33"/>
    <p:sldId id="307" r:id="rId34"/>
    <p:sldId id="290" r:id="rId35"/>
    <p:sldId id="291" r:id="rId36"/>
    <p:sldId id="292" r:id="rId37"/>
  </p:sldIdLst>
  <p:sldSz cx="12192000" cy="6858000"/>
  <p:notesSz cx="6858000" cy="9144000"/>
  <p:embeddedFontLst>
    <p:embeddedFont>
      <p:font typeface="Arial Black" panose="020B0604020202020204" pitchFamily="34" charset="0"/>
      <p:bold r:id="rId39"/>
    </p:embeddedFont>
    <p:embeddedFont>
      <p:font typeface="Calibri" panose="020F0502020204030204" pitchFamily="34" charset="0"/>
      <p:regular r:id="rId40"/>
      <p:bold r:id="rId41"/>
      <p:italic r:id="rId42"/>
      <p:boldItalic r:id="rId43"/>
    </p:embeddedFont>
    <p:embeddedFont>
      <p:font typeface="Calibri Light" panose="020F0302020204030204" pitchFamily="34" charset="0"/>
      <p:regular r:id="rId44"/>
      <p:italic r:id="rId45"/>
    </p:embeddedFont>
    <p:embeddedFont>
      <p:font typeface="Cambria" panose="02040503050406030204" pitchFamily="18" charset="0"/>
      <p:regular r:id="rId46"/>
      <p:bold r:id="rId47"/>
      <p:italic r:id="rId48"/>
      <p:boldItalic r:id="rId49"/>
    </p:embeddedFont>
    <p:embeddedFont>
      <p:font typeface="Cambria Math" panose="02040503050406030204" pitchFamily="18" charset="0"/>
      <p:regular r:id="rId50"/>
    </p:embeddedFont>
    <p:embeddedFont>
      <p:font typeface="Century Gothic" panose="020B0502020202020204" pitchFamily="34" charset="0"/>
      <p:regular r:id="rId51"/>
      <p:bold r:id="rId52"/>
      <p:italic r:id="rId53"/>
      <p:boldItalic r:id="rId54"/>
    </p:embeddedFont>
    <p:embeddedFont>
      <p:font typeface="Verdana" panose="020B0604030504040204" pitchFamily="34" charset="0"/>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0" roundtripDataSignature="AMtx7mhyqYPJk/l/3x3rfj67Dr9y5qrdQ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8376"/>
    <p:restoredTop sz="94694"/>
  </p:normalViewPr>
  <p:slideViewPr>
    <p:cSldViewPr snapToGrid="0">
      <p:cViewPr varScale="1">
        <p:scale>
          <a:sx n="154" d="100"/>
          <a:sy n="154" d="100"/>
        </p:scale>
        <p:origin x="512" y="1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font" Target="fonts/font20.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54" Type="http://schemas.openxmlformats.org/officeDocument/2006/relationships/font" Target="fonts/font16.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57" Type="http://schemas.openxmlformats.org/officeDocument/2006/relationships/font" Target="fonts/font1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font" Target="fonts/font14.fntdata"/><Relationship Id="rId60"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2363839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extLst>
      <p:ext uri="{BB962C8B-B14F-4D97-AF65-F5344CB8AC3E}">
        <p14:creationId xmlns:p14="http://schemas.microsoft.com/office/powerpoint/2010/main" val="3907109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3930058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1628636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extLst>
      <p:ext uri="{BB962C8B-B14F-4D97-AF65-F5344CB8AC3E}">
        <p14:creationId xmlns:p14="http://schemas.microsoft.com/office/powerpoint/2010/main" val="22363442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extLst>
      <p:ext uri="{BB962C8B-B14F-4D97-AF65-F5344CB8AC3E}">
        <p14:creationId xmlns:p14="http://schemas.microsoft.com/office/powerpoint/2010/main" val="27944313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extLst>
      <p:ext uri="{BB962C8B-B14F-4D97-AF65-F5344CB8AC3E}">
        <p14:creationId xmlns:p14="http://schemas.microsoft.com/office/powerpoint/2010/main" val="32145435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extLst>
      <p:ext uri="{BB962C8B-B14F-4D97-AF65-F5344CB8AC3E}">
        <p14:creationId xmlns:p14="http://schemas.microsoft.com/office/powerpoint/2010/main" val="38025683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extLst>
      <p:ext uri="{BB962C8B-B14F-4D97-AF65-F5344CB8AC3E}">
        <p14:creationId xmlns:p14="http://schemas.microsoft.com/office/powerpoint/2010/main" val="8426246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extLst>
      <p:ext uri="{BB962C8B-B14F-4D97-AF65-F5344CB8AC3E}">
        <p14:creationId xmlns:p14="http://schemas.microsoft.com/office/powerpoint/2010/main" val="35276874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extLst>
      <p:ext uri="{BB962C8B-B14F-4D97-AF65-F5344CB8AC3E}">
        <p14:creationId xmlns:p14="http://schemas.microsoft.com/office/powerpoint/2010/main" val="34088633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extLst>
      <p:ext uri="{BB962C8B-B14F-4D97-AF65-F5344CB8AC3E}">
        <p14:creationId xmlns:p14="http://schemas.microsoft.com/office/powerpoint/2010/main" val="30984380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extLst>
      <p:ext uri="{BB962C8B-B14F-4D97-AF65-F5344CB8AC3E}">
        <p14:creationId xmlns:p14="http://schemas.microsoft.com/office/powerpoint/2010/main" val="22589648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28</a:t>
            </a:fld>
            <a:endParaRPr/>
          </a:p>
        </p:txBody>
      </p:sp>
    </p:spTree>
    <p:extLst>
      <p:ext uri="{BB962C8B-B14F-4D97-AF65-F5344CB8AC3E}">
        <p14:creationId xmlns:p14="http://schemas.microsoft.com/office/powerpoint/2010/main" val="15127603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extLst>
      <p:ext uri="{BB962C8B-B14F-4D97-AF65-F5344CB8AC3E}">
        <p14:creationId xmlns:p14="http://schemas.microsoft.com/office/powerpoint/2010/main" val="35298400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33</a:t>
            </a:fld>
            <a:endParaRPr/>
          </a:p>
        </p:txBody>
      </p:sp>
    </p:spTree>
    <p:extLst>
      <p:ext uri="{BB962C8B-B14F-4D97-AF65-F5344CB8AC3E}">
        <p14:creationId xmlns:p14="http://schemas.microsoft.com/office/powerpoint/2010/main" val="4371814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4" name="Google Shape;474;p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90.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10.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30.png"/><Relationship Id="rId4" Type="http://schemas.openxmlformats.org/officeDocument/2006/relationships/image" Target="../media/image220.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0.png"/></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5" name="Google Shape;115;g104476d1465_0_0"/>
          <p:cNvSpPr/>
          <p:nvPr/>
        </p:nvSpPr>
        <p:spPr>
          <a:xfrm>
            <a:off x="-14875" y="-9144"/>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
        <p:nvSpPr>
          <p:cNvPr id="8" name="Google Shape;261;g104476d1465_0_0"/>
          <p:cNvSpPr txBox="1">
            <a:spLocks/>
          </p:cNvSpPr>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4000" b="1" dirty="0">
                <a:solidFill>
                  <a:srgbClr val="417DBF"/>
                </a:solidFill>
                <a:latin typeface="Verdana"/>
                <a:ea typeface="Verdana"/>
                <a:cs typeface="Verdana"/>
                <a:sym typeface="Verdana"/>
              </a:rPr>
              <a:t>7th Grade Math</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algn="ctr">
              <a:lnSpc>
                <a:spcPct val="100000"/>
              </a:lnSpc>
              <a:buClr>
                <a:srgbClr val="000000"/>
              </a:buClr>
            </a:pPr>
            <a:r>
              <a:rPr lang="en-US" sz="4000" b="1" dirty="0">
                <a:solidFill>
                  <a:srgbClr val="417DBF"/>
                </a:solidFill>
                <a:latin typeface="Verdana"/>
                <a:ea typeface="Verdana"/>
                <a:cs typeface="Verdana"/>
                <a:sym typeface="Verdana"/>
              </a:rPr>
              <a:t>Unit 5, Lesson 1</a:t>
            </a:r>
            <a:br>
              <a:rPr lang="en-US" sz="4000" b="1" dirty="0">
                <a:solidFill>
                  <a:srgbClr val="417DBF"/>
                </a:solidFill>
                <a:latin typeface="Verdana"/>
                <a:ea typeface="Verdana"/>
                <a:cs typeface="Verdana"/>
                <a:sym typeface="Verdana"/>
              </a:rPr>
            </a:br>
            <a:br>
              <a:rPr lang="en-US" sz="4000" b="1" dirty="0">
                <a:solidFill>
                  <a:srgbClr val="417DBF"/>
                </a:solidFill>
                <a:latin typeface="Verdana"/>
                <a:ea typeface="Verdana"/>
                <a:cs typeface="Verdana"/>
                <a:sym typeface="Verdana"/>
              </a:rPr>
            </a:br>
            <a:r>
              <a:rPr lang="en-US" sz="4000" b="1" dirty="0">
                <a:solidFill>
                  <a:srgbClr val="417DBF"/>
                </a:solidFill>
                <a:latin typeface="Verdana" panose="020B0604030504040204" pitchFamily="34" charset="0"/>
              </a:rPr>
              <a:t>Random Samples vs. Population</a:t>
            </a:r>
            <a:br>
              <a:rPr lang="en-US" sz="4400" b="1" dirty="0">
                <a:solidFill>
                  <a:srgbClr val="417DBF"/>
                </a:solidFill>
                <a:latin typeface="Verdana"/>
                <a:ea typeface="Verdana"/>
                <a:cs typeface="Verdana"/>
                <a:sym typeface="Verdana"/>
              </a:rPr>
            </a:br>
            <a:br>
              <a:rPr lang="en-US" sz="4400" b="1" dirty="0">
                <a:solidFill>
                  <a:srgbClr val="417DBF"/>
                </a:solidFill>
                <a:latin typeface="Verdana"/>
                <a:ea typeface="Verdana"/>
                <a:cs typeface="Verdana"/>
                <a:sym typeface="Verdana"/>
              </a:rPr>
            </a:br>
            <a:r>
              <a:rPr lang="en-US" sz="3200" b="1" dirty="0">
                <a:solidFill>
                  <a:srgbClr val="417DBF"/>
                </a:solidFill>
                <a:latin typeface="Verdana" panose="020B0604030504040204" pitchFamily="34" charset="0"/>
              </a:rPr>
              <a:t>Volume 1, pg. 179</a:t>
            </a:r>
            <a:endParaRPr lang="en-US" sz="40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5"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179</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8" name="Google Shape;279;g104476d1465_1_17"/>
          <p:cNvSpPr txBox="1">
            <a:spLocks/>
          </p:cNvSpPr>
          <p:nvPr/>
        </p:nvSpPr>
        <p:spPr>
          <a:xfrm>
            <a:off x="1151917"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buFont typeface="Century Gothic"/>
              <a:buNone/>
            </a:pPr>
            <a:r>
              <a:rPr lang="en-US" sz="4700" b="1" dirty="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9" name="Google Shape;281;g104476d1465_1_17"/>
          <p:cNvPicPr preferRelativeResize="0"/>
          <p:nvPr/>
        </p:nvPicPr>
        <p:blipFill>
          <a:blip r:embed="rId4">
            <a:alphaModFix/>
          </a:blip>
          <a:stretch>
            <a:fillRect/>
          </a:stretch>
        </p:blipFill>
        <p:spPr>
          <a:xfrm>
            <a:off x="328417" y="372300"/>
            <a:ext cx="747300" cy="747300"/>
          </a:xfrm>
          <a:prstGeom prst="rect">
            <a:avLst/>
          </a:prstGeom>
          <a:noFill/>
          <a:ln>
            <a:noFill/>
          </a:ln>
          <a:effectLst>
            <a:outerShdw blurRad="57150" dist="19050" dir="5400000" algn="bl" rotWithShape="0">
              <a:srgbClr val="000000">
                <a:alpha val="50000"/>
              </a:srgbClr>
            </a:outerShdw>
          </a:effectLst>
        </p:spPr>
      </p:pic>
      <p:sp>
        <p:nvSpPr>
          <p:cNvPr id="10" name="Google Shape;280;g104476d1465_1_17">
            <a:extLst>
              <a:ext uri="{FF2B5EF4-FFF2-40B4-BE49-F238E27FC236}">
                <a16:creationId xmlns:a16="http://schemas.microsoft.com/office/drawing/2014/main" id="{527A9F9F-07B8-ED47-B967-E5507C67DBC5}"/>
              </a:ext>
            </a:extLst>
          </p:cNvPr>
          <p:cNvSpPr txBox="1">
            <a:spLocks/>
          </p:cNvSpPr>
          <p:nvPr/>
        </p:nvSpPr>
        <p:spPr>
          <a:xfrm>
            <a:off x="444683" y="1600200"/>
            <a:ext cx="1032675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latin typeface="Verdana" panose="020B0604030504040204" pitchFamily="34" charset="0"/>
                <a:ea typeface="Verdana" panose="020B0604030504040204" pitchFamily="34" charset="0"/>
                <a:cs typeface="Verdana" panose="020B0604030504040204" pitchFamily="34" charset="0"/>
              </a:rPr>
              <a:t>MA.7.DP.1.3 </a:t>
            </a:r>
          </a:p>
          <a:p>
            <a:pPr indent="0">
              <a:buSzPts val="1100"/>
              <a:buNone/>
            </a:pPr>
            <a:r>
              <a:rPr lang="en-US" sz="3600" dirty="0">
                <a:latin typeface="Verdana" panose="020B0604030504040204" pitchFamily="34" charset="0"/>
                <a:ea typeface="Verdana" panose="020B0604030504040204" pitchFamily="34" charset="0"/>
                <a:cs typeface="Verdana" panose="020B0604030504040204" pitchFamily="34" charset="0"/>
              </a:rPr>
              <a:t>Given categorical data from a random sample, use proportional relationships to make predictions about a population.</a:t>
            </a:r>
            <a:endParaRPr lang="en-US" sz="3600" dirty="0">
              <a:solidFill>
                <a:schemeClr val="tx1"/>
              </a:solidFill>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35" name="Google Shape;135;p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37" name="Google Shape;137;p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179</a:t>
            </a:r>
            <a:endParaRPr i="1" dirty="0">
              <a:latin typeface="Calibri"/>
              <a:ea typeface="Calibri"/>
              <a:cs typeface="Calibri"/>
              <a:sym typeface="Calibri"/>
            </a:endParaRPr>
          </a:p>
        </p:txBody>
      </p:sp>
      <p:pic>
        <p:nvPicPr>
          <p:cNvPr id="8" name="Google Shape;281;g104476d1465_1_17"/>
          <p:cNvPicPr preferRelativeResize="0"/>
          <p:nvPr/>
        </p:nvPicPr>
        <p:blipFill>
          <a:blip r:embed="rId4">
            <a:alphaModFix/>
          </a:blip>
          <a:stretch>
            <a:fillRect/>
          </a:stretch>
        </p:blipFill>
        <p:spPr>
          <a:xfrm>
            <a:off x="329567" y="372300"/>
            <a:ext cx="747300" cy="747300"/>
          </a:xfrm>
          <a:prstGeom prst="rect">
            <a:avLst/>
          </a:prstGeom>
          <a:noFill/>
          <a:ln>
            <a:noFill/>
          </a:ln>
          <a:effectLst>
            <a:outerShdw blurRad="57150" dist="19050" dir="5400000" algn="bl" rotWithShape="0">
              <a:srgbClr val="000000">
                <a:alpha val="50000"/>
              </a:srgbClr>
            </a:outerShdw>
          </a:effectLst>
        </p:spPr>
      </p:pic>
      <p:sp>
        <p:nvSpPr>
          <p:cNvPr id="9" name="Google Shape;295;g103996e1364_0_10">
            <a:extLst>
              <a:ext uri="{FF2B5EF4-FFF2-40B4-BE49-F238E27FC236}">
                <a16:creationId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96;g103996e1364_0_10">
            <a:extLst>
              <a:ext uri="{FF2B5EF4-FFF2-40B4-BE49-F238E27FC236}">
                <a16:creationId xmlns:a16="http://schemas.microsoft.com/office/drawing/2014/main" id="{A6E18E39-B007-D647-9935-55A748533A45}"/>
              </a:ext>
            </a:extLst>
          </p:cNvPr>
          <p:cNvSpPr txBox="1">
            <a:spLocks/>
          </p:cNvSpPr>
          <p:nvPr/>
        </p:nvSpPr>
        <p:spPr>
          <a:xfrm>
            <a:off x="1154216" y="1596390"/>
            <a:ext cx="1037636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dirty="0">
                <a:latin typeface="Verdana" panose="020B0604030504040204" pitchFamily="34" charset="0"/>
              </a:rPr>
              <a:t>MA.K12.MTR.1.1 Actively participate in effortful learning both individually and collectively.</a:t>
            </a:r>
            <a:endParaRPr lang="en-US" sz="2400" dirty="0"/>
          </a:p>
          <a:p>
            <a:br>
              <a:rPr lang="en-US" sz="2400" dirty="0"/>
            </a:br>
            <a:r>
              <a:rPr lang="en-US" sz="2400" dirty="0">
                <a:latin typeface="Verdana" panose="020B0604030504040204" pitchFamily="34" charset="0"/>
              </a:rPr>
              <a:t>MA.K12.MTR.4.1 Engage in discussions that reflect on the mathematical thinking of self and others.</a:t>
            </a:r>
            <a:endParaRPr lang="en-US" sz="2400" dirty="0"/>
          </a:p>
          <a:p>
            <a:br>
              <a:rPr lang="en-US" sz="2400" dirty="0"/>
            </a:br>
            <a:r>
              <a:rPr lang="en-US" sz="2400" dirty="0">
                <a:latin typeface="Verdana" panose="020B0604030504040204" pitchFamily="34" charset="0"/>
              </a:rPr>
              <a:t>MA.K12.MTR.7.1 Apply mathematics to real-world contexts.</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0" name="Google Shape;302;g103996e1364_0_16">
            <a:extLst>
              <a:ext uri="{FF2B5EF4-FFF2-40B4-BE49-F238E27FC236}">
                <a16:creationId xmlns:a16="http://schemas.microsoft.com/office/drawing/2014/main" id="{9B7C98EC-F13C-9146-B728-D7044DB4247D}"/>
              </a:ext>
            </a:extLst>
          </p:cNvPr>
          <p:cNvSpPr txBox="1">
            <a:spLocks/>
          </p:cNvSpPr>
          <p:nvPr/>
        </p:nvSpPr>
        <p:spPr>
          <a:xfrm>
            <a:off x="444682" y="160020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ts val="3500"/>
              <a:buFont typeface="Verdana"/>
              <a:buChar char="❏"/>
            </a:pPr>
            <a:r>
              <a:rPr lang="en-US" sz="3600" dirty="0">
                <a:latin typeface="Verdana" panose="020B0604030504040204" pitchFamily="34" charset="0"/>
              </a:rPr>
              <a:t>I can determine if a sample is representative of the population.</a:t>
            </a:r>
          </a:p>
        </p:txBody>
      </p:sp>
      <p:sp>
        <p:nvSpPr>
          <p:cNvPr id="144" name="Google Shape;144;p2"/>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pic>
        <p:nvPicPr>
          <p:cNvPr id="145" name="Google Shape;145;p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48" name="Google Shape;148;p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179</a:t>
            </a:r>
            <a:endParaRPr i="1" dirty="0">
              <a:latin typeface="Calibri"/>
              <a:ea typeface="Calibri"/>
              <a:cs typeface="Calibri"/>
              <a:sym typeface="Calibri"/>
            </a:endParaRPr>
          </a:p>
        </p:txBody>
      </p:sp>
      <p:sp>
        <p:nvSpPr>
          <p:cNvPr id="11" name="Google Shape;301;g103996e1364_0_16">
            <a:extLst>
              <a:ext uri="{FF2B5EF4-FFF2-40B4-BE49-F238E27FC236}">
                <a16:creationId xmlns:a16="http://schemas.microsoft.com/office/drawing/2014/main" id="{5771FBFA-7311-BB45-8AFF-04B380531EE6}"/>
              </a:ext>
            </a:extLst>
          </p:cNvPr>
          <p:cNvSpPr txBox="1">
            <a:spLocks/>
          </p:cNvSpPr>
          <p:nvPr/>
        </p:nvSpPr>
        <p:spPr>
          <a:xfrm>
            <a:off x="1108371"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26209" y="319860"/>
            <a:ext cx="747300" cy="747300"/>
          </a:xfrm>
          <a:prstGeom prst="rect">
            <a:avLst/>
          </a:prstGeom>
          <a:noFill/>
          <a:ln>
            <a:noFill/>
          </a:ln>
          <a:effectLst>
            <a:outerShdw blurRad="50800" dist="38100" dir="2700000" algn="tl" rotWithShape="0">
              <a:prstClr val="black">
                <a:alpha val="40000"/>
              </a:prst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6" name="Google Shape;156;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59"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179</a:t>
            </a:r>
            <a:endParaRPr i="1" dirty="0">
              <a:latin typeface="Calibri"/>
              <a:ea typeface="Calibri"/>
              <a:cs typeface="Calibri"/>
              <a:sym typeface="Calibri"/>
            </a:endParaRPr>
          </a:p>
        </p:txBody>
      </p:sp>
      <p:pic>
        <p:nvPicPr>
          <p:cNvPr id="11"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12"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66" name="Google Shape;166;p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67" name="Google Shape;167;p4"/>
          <p:cNvSpPr txBox="1"/>
          <p:nvPr/>
        </p:nvSpPr>
        <p:spPr>
          <a:xfrm>
            <a:off x="1143000" y="182113"/>
            <a:ext cx="10515600" cy="1089489"/>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5.1.1 Warm-Up: Electric Vehicle Technician</a:t>
            </a:r>
            <a:endParaRPr dirty="0"/>
          </a:p>
        </p:txBody>
      </p:sp>
      <p:pic>
        <p:nvPicPr>
          <p:cNvPr id="168" name="Google Shape;168;p4"/>
          <p:cNvPicPr preferRelativeResize="0"/>
          <p:nvPr/>
        </p:nvPicPr>
        <p:blipFill rotWithShape="1">
          <a:blip r:embed="rId4">
            <a:alphaModFix/>
          </a:blip>
          <a:srcRect/>
          <a:stretch/>
        </p:blipFill>
        <p:spPr>
          <a:xfrm>
            <a:off x="356616" y="353207"/>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179</a:t>
            </a:r>
            <a:endParaRPr i="1" dirty="0">
              <a:latin typeface="Calibri"/>
              <a:ea typeface="Calibri"/>
              <a:cs typeface="Calibri"/>
              <a:sym typeface="Calibri"/>
            </a:endParaRPr>
          </a:p>
        </p:txBody>
      </p:sp>
      <p:sp>
        <p:nvSpPr>
          <p:cNvPr id="170" name="Google Shape;170;p4"/>
          <p:cNvSpPr txBox="1"/>
          <p:nvPr/>
        </p:nvSpPr>
        <p:spPr>
          <a:xfrm>
            <a:off x="914400" y="1386026"/>
            <a:ext cx="10515600" cy="4493497"/>
          </a:xfrm>
          <a:prstGeom prst="rect">
            <a:avLst/>
          </a:prstGeom>
          <a:noFill/>
          <a:ln>
            <a:noFill/>
          </a:ln>
        </p:spPr>
        <p:txBody>
          <a:bodyPr spcFirstLastPara="1" wrap="square" lIns="91425" tIns="45700" rIns="91425" bIns="45700" anchor="t" anchorCtr="0">
            <a:spAutoFit/>
          </a:bodyPr>
          <a:lstStyle/>
          <a:p>
            <a:pPr marR="34290"/>
            <a:r>
              <a:rPr lang="en-US" sz="2000" dirty="0">
                <a:latin typeface="Verdana" panose="020B0604030504040204" pitchFamily="34" charset="0"/>
              </a:rPr>
              <a:t>Ben Grandy is an electrical vehicle technician for City Car Share. When Ben was considering what to do with his life, he knew he wanted to do something that would bring him happiness. Now he uses the skills he has gained from his study of landscape architecture and work as an electrical engineer to maintain the fleet of electric vehicles and electric bikes used by City Car Share.</a:t>
            </a:r>
            <a:br>
              <a:rPr lang="en-US" sz="2000" dirty="0">
                <a:latin typeface="Verdana" panose="020B0604030504040204" pitchFamily="34" charset="0"/>
              </a:rPr>
            </a:br>
            <a:br>
              <a:rPr lang="en-US" sz="2000" dirty="0">
                <a:latin typeface="Verdana" panose="020B0604030504040204" pitchFamily="34" charset="0"/>
              </a:rPr>
            </a:br>
            <a:r>
              <a:rPr lang="en-US" sz="2000" dirty="0">
                <a:latin typeface="Verdana" panose="020B0604030504040204" pitchFamily="34" charset="0"/>
              </a:rPr>
              <a:t>Ben found that dedicating himself to a cause that is bigger than himself brings him happiness.</a:t>
            </a:r>
            <a:br>
              <a:rPr lang="en-US" sz="2000" dirty="0">
                <a:latin typeface="Verdana" panose="020B0604030504040204" pitchFamily="34" charset="0"/>
              </a:rPr>
            </a:br>
            <a:br>
              <a:rPr lang="en-US" sz="2400" dirty="0">
                <a:latin typeface="Verdana" panose="020B0604030504040204" pitchFamily="34" charset="0"/>
              </a:rPr>
            </a:br>
            <a:endParaRPr lang="en-US" sz="2400" dirty="0"/>
          </a:p>
          <a:p>
            <a:br>
              <a:rPr lang="en-US" sz="2400" dirty="0"/>
            </a:b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77" name="Google Shape;177;p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78" name="Google Shape;178;p5"/>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179</a:t>
            </a:r>
            <a:endParaRPr i="1" dirty="0">
              <a:latin typeface="Calibri"/>
              <a:ea typeface="Calibri"/>
              <a:cs typeface="Calibri"/>
              <a:sym typeface="Calibri"/>
            </a:endParaRPr>
          </a:p>
        </p:txBody>
      </p:sp>
      <p:sp>
        <p:nvSpPr>
          <p:cNvPr id="179" name="Google Shape;179;p5"/>
          <p:cNvSpPr txBox="1"/>
          <p:nvPr/>
        </p:nvSpPr>
        <p:spPr>
          <a:xfrm>
            <a:off x="914400" y="487736"/>
            <a:ext cx="10515600" cy="5078273"/>
          </a:xfrm>
          <a:prstGeom prst="rect">
            <a:avLst/>
          </a:prstGeom>
          <a:noFill/>
          <a:ln>
            <a:noFill/>
          </a:ln>
        </p:spPr>
        <p:txBody>
          <a:bodyPr spcFirstLastPara="1" wrap="square" lIns="91425" tIns="45700" rIns="91425" bIns="45700" anchor="t" anchorCtr="0">
            <a:spAutoFit/>
          </a:bodyPr>
          <a:lstStyle/>
          <a:p>
            <a:pPr marL="457200" marR="34290" indent="-457200" fontAlgn="base">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Think about what you would like to do with your life. What kind of work would make you happy?</a:t>
            </a:r>
          </a:p>
          <a:p>
            <a:pPr marR="34290" fontAlgn="base">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R="34290"/>
            <a:endParaRPr lang="en-US" sz="2000" dirty="0">
              <a:latin typeface="Verdana" panose="020B0604030504040204" pitchFamily="34" charset="0"/>
              <a:ea typeface="Verdana" panose="020B0604030504040204" pitchFamily="34" charset="0"/>
              <a:cs typeface="Verdana" panose="020B0604030504040204" pitchFamily="34" charset="0"/>
            </a:endParaRPr>
          </a:p>
          <a:p>
            <a:pPr marR="34290"/>
            <a:endParaRPr lang="en-US" sz="2000" dirty="0">
              <a:latin typeface="Verdana" panose="020B0604030504040204" pitchFamily="34" charset="0"/>
              <a:ea typeface="Verdana" panose="020B0604030504040204" pitchFamily="34" charset="0"/>
              <a:cs typeface="Verdana" panose="020B0604030504040204" pitchFamily="34" charset="0"/>
            </a:endParaRPr>
          </a:p>
          <a:p>
            <a:pPr marR="34290"/>
            <a:endParaRPr lang="en-US" sz="2000" dirty="0">
              <a:latin typeface="Verdana" panose="020B0604030504040204" pitchFamily="34" charset="0"/>
              <a:ea typeface="Verdana" panose="020B0604030504040204" pitchFamily="34" charset="0"/>
              <a:cs typeface="Verdana" panose="020B0604030504040204" pitchFamily="34" charset="0"/>
            </a:endParaRPr>
          </a:p>
          <a:p>
            <a:pPr marR="34290"/>
            <a:endParaRPr lang="en-US" sz="2000" dirty="0">
              <a:latin typeface="Verdana" panose="020B0604030504040204" pitchFamily="34" charset="0"/>
              <a:ea typeface="Verdana" panose="020B0604030504040204" pitchFamily="34" charset="0"/>
              <a:cs typeface="Verdana" panose="020B0604030504040204" pitchFamily="34" charset="0"/>
            </a:endParaRPr>
          </a:p>
          <a:p>
            <a:pPr marR="34290"/>
            <a:endParaRPr lang="en-US" sz="2000" dirty="0">
              <a:latin typeface="Verdana" panose="020B0604030504040204" pitchFamily="34" charset="0"/>
              <a:ea typeface="Verdana" panose="020B0604030504040204" pitchFamily="34" charset="0"/>
              <a:cs typeface="Verdana" panose="020B0604030504040204" pitchFamily="34" charset="0"/>
            </a:endParaRPr>
          </a:p>
          <a:p>
            <a:pPr marR="34290"/>
            <a:endParaRPr lang="en-US" sz="2000" dirty="0">
              <a:latin typeface="Verdana" panose="020B0604030504040204" pitchFamily="34" charset="0"/>
              <a:ea typeface="Verdana" panose="020B0604030504040204" pitchFamily="34" charset="0"/>
              <a:cs typeface="Verdana" panose="020B0604030504040204" pitchFamily="34" charset="0"/>
            </a:endParaRPr>
          </a:p>
          <a:p>
            <a:pPr marR="34290"/>
            <a:r>
              <a:rPr lang="en-US" sz="2000" dirty="0">
                <a:latin typeface="Verdana" panose="020B0604030504040204" pitchFamily="34" charset="0"/>
                <a:ea typeface="Verdana" panose="020B0604030504040204" pitchFamily="34" charset="0"/>
                <a:cs typeface="Verdana" panose="020B0604030504040204" pitchFamily="34" charset="0"/>
              </a:rPr>
              <a:t>In talking about his work, Ben said, “That’s how engineering and design is. You never get to a point where you think, ‘Oh, that’s perfect! That’s done.’ You start asking questions like, ‘Now that we’ve gotten this far, what’s the next step? How can we improve this?’” </a:t>
            </a:r>
          </a:p>
          <a:p>
            <a:pPr marR="34290" fontAlgn="base"/>
            <a:endParaRPr lang="en-US" sz="2000" dirty="0">
              <a:latin typeface="Verdana" panose="020B0604030504040204" pitchFamily="34" charset="0"/>
              <a:ea typeface="Verdana" panose="020B0604030504040204" pitchFamily="34" charset="0"/>
              <a:cs typeface="Verdana" panose="020B0604030504040204" pitchFamily="34" charset="0"/>
            </a:endParaRPr>
          </a:p>
          <a:p>
            <a:pPr marR="34290" fontAlgn="base"/>
            <a:r>
              <a:rPr lang="en-US" sz="2000" dirty="0">
                <a:latin typeface="Verdana" panose="020B0604030504040204" pitchFamily="34" charset="0"/>
                <a:ea typeface="Verdana" panose="020B0604030504040204" pitchFamily="34" charset="0"/>
                <a:cs typeface="Verdana" panose="020B0604030504040204" pitchFamily="34" charset="0"/>
              </a:rPr>
              <a:t>2. How do you think having this mentality is helpful?</a:t>
            </a:r>
          </a:p>
          <a:p>
            <a:pPr marR="34290" fontAlgn="base"/>
            <a:endParaRPr lang="en-US" sz="2400" dirty="0">
              <a:latin typeface="Verdana" panose="020B060403050404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306" name="Google Shape;306;p1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09" name="Google Shape;309;p1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180</a:t>
            </a:r>
            <a:endParaRPr i="1" dirty="0">
              <a:latin typeface="Calibri"/>
              <a:ea typeface="Calibri"/>
              <a:cs typeface="Calibri"/>
              <a:sym typeface="Calibri"/>
            </a:endParaRPr>
          </a:p>
        </p:txBody>
      </p:sp>
      <p:sp>
        <p:nvSpPr>
          <p:cNvPr id="7"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8"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03080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9"/>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16" name="Google Shape;316;p1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17" name="Google Shape;317;p19"/>
          <p:cNvSpPr txBox="1"/>
          <p:nvPr/>
        </p:nvSpPr>
        <p:spPr>
          <a:xfrm>
            <a:off x="1143000" y="97784"/>
            <a:ext cx="10515600" cy="954067"/>
          </a:xfrm>
          <a:prstGeom prst="rect">
            <a:avLst/>
          </a:prstGeom>
          <a:noFill/>
          <a:ln>
            <a:noFill/>
          </a:ln>
        </p:spPr>
        <p:txBody>
          <a:bodyPr spcFirstLastPara="1" wrap="square" lIns="91425" tIns="45700" rIns="91425" bIns="45700" anchor="ctr" anchorCtr="0">
            <a:spAutoFit/>
          </a:bodyPr>
          <a:lstStyle/>
          <a:p>
            <a:r>
              <a:rPr lang="en-US" sz="2800" b="1" dirty="0">
                <a:solidFill>
                  <a:srgbClr val="54B5D1"/>
                </a:solidFill>
                <a:latin typeface="Verdana"/>
                <a:ea typeface="Verdana"/>
                <a:cs typeface="Verdana"/>
                <a:sym typeface="Verdana"/>
              </a:rPr>
              <a:t>5.1.2 Guided Instruction: </a:t>
            </a:r>
            <a:r>
              <a:rPr lang="en-US" sz="2800" b="1" dirty="0">
                <a:solidFill>
                  <a:srgbClr val="54B5D1"/>
                </a:solidFill>
                <a:latin typeface="Verdana" panose="020B0604030504040204" pitchFamily="34" charset="0"/>
              </a:rPr>
              <a:t>Is the Sample Representative of the Population?</a:t>
            </a:r>
            <a:endParaRPr dirty="0"/>
          </a:p>
        </p:txBody>
      </p:sp>
      <p:pic>
        <p:nvPicPr>
          <p:cNvPr id="318" name="Google Shape;318;p19"/>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
        <p:nvSpPr>
          <p:cNvPr id="319" name="Google Shape;319;p1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180</a:t>
            </a:r>
            <a:endParaRPr i="1" dirty="0">
              <a:latin typeface="Calibri"/>
              <a:ea typeface="Calibri"/>
              <a:cs typeface="Calibri"/>
              <a:sym typeface="Calibri"/>
            </a:endParaRPr>
          </a:p>
        </p:txBody>
      </p:sp>
      <p:sp>
        <p:nvSpPr>
          <p:cNvPr id="320" name="Google Shape;320;p19"/>
          <p:cNvSpPr txBox="1"/>
          <p:nvPr/>
        </p:nvSpPr>
        <p:spPr>
          <a:xfrm>
            <a:off x="914400" y="1549312"/>
            <a:ext cx="10515600" cy="4524275"/>
          </a:xfrm>
          <a:prstGeom prst="rect">
            <a:avLst/>
          </a:prstGeom>
          <a:noFill/>
          <a:ln>
            <a:noFill/>
          </a:ln>
        </p:spPr>
        <p:txBody>
          <a:bodyPr spcFirstLastPara="1" wrap="square" lIns="91425" tIns="45700" rIns="91425" bIns="45700" anchor="t" anchorCtr="0">
            <a:spAutoFit/>
          </a:bodyPr>
          <a:lstStyle/>
          <a:p>
            <a:pPr marR="34290"/>
            <a:r>
              <a:rPr lang="en-US" sz="2400" dirty="0">
                <a:latin typeface="Verdana" panose="020B0604030504040204" pitchFamily="34" charset="0"/>
              </a:rPr>
              <a:t>Many organizations want to know how large groups of people think and behave. This helps businesses make decisions regarding what to sell, when to be open, and whom to target with advertisements. Research is also used to make predictions about events like elections, and to help doctors provide appropriate healthcare to their patients. </a:t>
            </a:r>
            <a:br>
              <a:rPr lang="en-US" sz="2400" dirty="0">
                <a:latin typeface="Verdana" panose="020B0604030504040204" pitchFamily="34" charset="0"/>
              </a:rPr>
            </a:br>
            <a:br>
              <a:rPr lang="en-US" sz="2400" dirty="0">
                <a:latin typeface="Verdana" panose="020B0604030504040204" pitchFamily="34" charset="0"/>
              </a:rPr>
            </a:br>
            <a:endParaRPr lang="en-US" sz="2400" dirty="0"/>
          </a:p>
          <a:p>
            <a:r>
              <a:rPr lang="en-US" sz="2400" dirty="0">
                <a:latin typeface="Verdana" panose="020B0604030504040204" pitchFamily="34" charset="0"/>
              </a:rPr>
              <a:t>To gather this information, companies and organizations often collect data </a:t>
            </a:r>
            <a:r>
              <a:rPr lang="en-US" sz="2400" b="1" i="1" dirty="0">
                <a:latin typeface="Verdana" panose="020B0604030504040204" pitchFamily="34" charset="0"/>
              </a:rPr>
              <a:t>samples</a:t>
            </a:r>
            <a:r>
              <a:rPr lang="en-US" sz="2400" dirty="0">
                <a:latin typeface="Verdana" panose="020B0604030504040204" pitchFamily="34" charset="0"/>
              </a:rPr>
              <a:t> from a </a:t>
            </a:r>
            <a:r>
              <a:rPr lang="en-US" sz="2400" b="1" i="1" dirty="0">
                <a:latin typeface="Verdana" panose="020B0604030504040204" pitchFamily="34" charset="0"/>
              </a:rPr>
              <a:t>population</a:t>
            </a:r>
            <a:r>
              <a:rPr lang="en-US" sz="2400" dirty="0">
                <a:latin typeface="Verdana" panose="020B0604030504040204" pitchFamily="34" charset="0"/>
              </a:rPr>
              <a:t> they are studying.</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pic>
        <p:nvPicPr>
          <p:cNvPr id="327" name="Google Shape;327;p2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129037"/>
            <a:ext cx="563850" cy="657276"/>
          </a:xfrm>
          <a:prstGeom prst="rect">
            <a:avLst/>
          </a:prstGeom>
          <a:noFill/>
          <a:ln>
            <a:noFill/>
          </a:ln>
          <a:effectLst>
            <a:outerShdw blurRad="57150" dist="19050" dir="5400000" algn="bl" rotWithShape="0">
              <a:srgbClr val="000000">
                <a:alpha val="49803"/>
              </a:srgbClr>
            </a:outerShdw>
          </a:effectLst>
        </p:spPr>
      </p:pic>
      <p:sp>
        <p:nvSpPr>
          <p:cNvPr id="328" name="Google Shape;328;p2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180</a:t>
            </a:r>
            <a:endParaRPr i="1" dirty="0">
              <a:latin typeface="Calibri"/>
              <a:ea typeface="Calibri"/>
              <a:cs typeface="Calibri"/>
              <a:sym typeface="Calibri"/>
            </a:endParaRPr>
          </a:p>
        </p:txBody>
      </p:sp>
      <p:grpSp>
        <p:nvGrpSpPr>
          <p:cNvPr id="6" name="Group 5">
            <a:extLst>
              <a:ext uri="{FF2B5EF4-FFF2-40B4-BE49-F238E27FC236}">
                <a16:creationId xmlns:a16="http://schemas.microsoft.com/office/drawing/2014/main" id="{F4CE09BB-A66D-8E4D-9BFA-9CB2119CA388}"/>
              </a:ext>
            </a:extLst>
          </p:cNvPr>
          <p:cNvGrpSpPr/>
          <p:nvPr/>
        </p:nvGrpSpPr>
        <p:grpSpPr>
          <a:xfrm>
            <a:off x="3068617" y="1972003"/>
            <a:ext cx="6629400" cy="1143826"/>
            <a:chOff x="2031300" y="3163114"/>
            <a:chExt cx="6629400" cy="1143984"/>
          </a:xfrm>
        </p:grpSpPr>
        <p:grpSp>
          <p:nvGrpSpPr>
            <p:cNvPr id="7" name="Group 6">
              <a:extLst>
                <a:ext uri="{FF2B5EF4-FFF2-40B4-BE49-F238E27FC236}">
                  <a16:creationId xmlns:a16="http://schemas.microsoft.com/office/drawing/2014/main" id="{10CBEBA1-4D46-1748-A9C1-43594D1B8C09}"/>
                </a:ext>
              </a:extLst>
            </p:cNvPr>
            <p:cNvGrpSpPr/>
            <p:nvPr/>
          </p:nvGrpSpPr>
          <p:grpSpPr>
            <a:xfrm>
              <a:off x="2031300" y="3163114"/>
              <a:ext cx="6629400" cy="1143984"/>
              <a:chOff x="2031300" y="3174128"/>
              <a:chExt cx="6629400" cy="1123560"/>
            </a:xfrm>
          </p:grpSpPr>
          <p:sp>
            <p:nvSpPr>
              <p:cNvPr id="8" name="Rectangle 7">
                <a:extLst>
                  <a:ext uri="{FF2B5EF4-FFF2-40B4-BE49-F238E27FC236}">
                    <a16:creationId xmlns:a16="http://schemas.microsoft.com/office/drawing/2014/main" id="{B5BD3C66-D549-F34B-A964-3DD1489F5460}"/>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9" name="Group 8">
                <a:extLst>
                  <a:ext uri="{FF2B5EF4-FFF2-40B4-BE49-F238E27FC236}">
                    <a16:creationId xmlns:a16="http://schemas.microsoft.com/office/drawing/2014/main" id="{86100352-F6A7-0D47-84F7-AC7C43EDA66A}"/>
                  </a:ext>
                </a:extLst>
              </p:cNvPr>
              <p:cNvGrpSpPr/>
              <p:nvPr/>
            </p:nvGrpSpPr>
            <p:grpSpPr>
              <a:xfrm>
                <a:off x="2031300" y="3174128"/>
                <a:ext cx="6629400" cy="1123560"/>
                <a:chOff x="2031300" y="3285440"/>
                <a:chExt cx="6629400" cy="1123560"/>
              </a:xfrm>
            </p:grpSpPr>
            <p:sp>
              <p:nvSpPr>
                <p:cNvPr id="10" name="Rectangle 9">
                  <a:extLst>
                    <a:ext uri="{FF2B5EF4-FFF2-40B4-BE49-F238E27FC236}">
                      <a16:creationId xmlns:a16="http://schemas.microsoft.com/office/drawing/2014/main" id="{4356A459-1BB4-9544-8408-63783BF7EF28}"/>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11" name="Group 10">
                  <a:extLst>
                    <a:ext uri="{FF2B5EF4-FFF2-40B4-BE49-F238E27FC236}">
                      <a16:creationId xmlns:a16="http://schemas.microsoft.com/office/drawing/2014/main" id="{DC7BB0F1-433F-6F4A-BF71-928F9980054A}"/>
                    </a:ext>
                  </a:extLst>
                </p:cNvPr>
                <p:cNvGrpSpPr/>
                <p:nvPr/>
              </p:nvGrpSpPr>
              <p:grpSpPr>
                <a:xfrm>
                  <a:off x="2031300" y="3285440"/>
                  <a:ext cx="6629400" cy="1035424"/>
                  <a:chOff x="2031300" y="3285440"/>
                  <a:chExt cx="6629400" cy="1035424"/>
                </a:xfrm>
              </p:grpSpPr>
              <p:sp>
                <p:nvSpPr>
                  <p:cNvPr id="12" name="Rectangle 11">
                    <a:extLst>
                      <a:ext uri="{FF2B5EF4-FFF2-40B4-BE49-F238E27FC236}">
                        <a16:creationId xmlns:a16="http://schemas.microsoft.com/office/drawing/2014/main" id="{090601FC-9611-414B-A7DB-4FE01AA0926F}"/>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13" name="Group 12">
                    <a:extLst>
                      <a:ext uri="{FF2B5EF4-FFF2-40B4-BE49-F238E27FC236}">
                        <a16:creationId xmlns:a16="http://schemas.microsoft.com/office/drawing/2014/main" id="{A41EEAC3-7153-FF4E-8628-D6A2C7FDA47F}"/>
                      </a:ext>
                    </a:extLst>
                  </p:cNvPr>
                  <p:cNvGrpSpPr/>
                  <p:nvPr/>
                </p:nvGrpSpPr>
                <p:grpSpPr>
                  <a:xfrm>
                    <a:off x="2031300" y="3285440"/>
                    <a:ext cx="6629400" cy="1035424"/>
                    <a:chOff x="0" y="-88160"/>
                    <a:chExt cx="6629400" cy="1035424"/>
                  </a:xfrm>
                </p:grpSpPr>
                <p:sp>
                  <p:nvSpPr>
                    <p:cNvPr id="14" name="Rectangle 13">
                      <a:extLst>
                        <a:ext uri="{FF2B5EF4-FFF2-40B4-BE49-F238E27FC236}">
                          <a16:creationId xmlns:a16="http://schemas.microsoft.com/office/drawing/2014/main" id="{BFD77125-67E5-814A-871A-D2738436D39D}"/>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sp>
                  <p:nvSpPr>
                    <p:cNvPr id="15" name="Rounded Rectangle 14">
                      <a:extLst>
                        <a:ext uri="{FF2B5EF4-FFF2-40B4-BE49-F238E27FC236}">
                          <a16:creationId xmlns:a16="http://schemas.microsoft.com/office/drawing/2014/main" id="{772D48FD-DB3B-8146-B957-7FBACB94B304}"/>
                        </a:ext>
                      </a:extLst>
                    </p:cNvPr>
                    <p:cNvSpPr/>
                    <p:nvPr/>
                  </p:nvSpPr>
                  <p:spPr>
                    <a:xfrm>
                      <a:off x="0" y="-88160"/>
                      <a:ext cx="6629400" cy="1035424"/>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indent="685800">
                        <a:spcAft>
                          <a:spcPts val="1000"/>
                        </a:spcAft>
                      </a:pPr>
                      <a:endPar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endParaRPr>
                    </a:p>
                    <a:p>
                      <a:pPr marL="68580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population</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the entire set of cases or individuals under consideration in a statistical analysis.</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indent="1371600">
                        <a:spcAft>
                          <a:spcPts val="1000"/>
                        </a:spcAft>
                      </a:pPr>
                      <a:r>
                        <a:rPr lang="en-US" sz="1200" dirty="0">
                          <a:latin typeface="Cambria" panose="02040503050406030204" pitchFamily="18" charset="0"/>
                          <a:ea typeface="Times New Roman" panose="02020603050405020304" pitchFamily="18" charset="0"/>
                          <a:cs typeface="Cambria" panose="02040503050406030204" pitchFamily="18" charset="0"/>
                        </a:rPr>
                        <a:t> </a:t>
                      </a:r>
                    </a:p>
                  </p:txBody>
                </p:sp>
                <p:pic>
                  <p:nvPicPr>
                    <p:cNvPr id="16" name="Shape 29" descr="Icon&#10;&#10;Description automatically generated">
                      <a:extLst>
                        <a:ext uri="{FF2B5EF4-FFF2-40B4-BE49-F238E27FC236}">
                          <a16:creationId xmlns:a16="http://schemas.microsoft.com/office/drawing/2014/main" id="{AA76FB43-9980-3540-8719-2CE89CE30681}"/>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38545" y="92367"/>
                      <a:ext cx="548640" cy="539750"/>
                    </a:xfrm>
                    <a:prstGeom prst="rect">
                      <a:avLst/>
                    </a:prstGeom>
                    <a:noFill/>
                    <a:ln>
                      <a:noFill/>
                    </a:ln>
                    <a:effectLst>
                      <a:outerShdw blurRad="50800" dist="38100" dir="2700000" algn="tl" rotWithShape="0">
                        <a:prstClr val="black">
                          <a:alpha val="40000"/>
                        </a:prstClr>
                      </a:outerShdw>
                    </a:effectLst>
                  </p:spPr>
                </p:pic>
              </p:grpSp>
            </p:grpSp>
          </p:grpSp>
        </p:grpSp>
      </p:grpSp>
      <p:sp>
        <p:nvSpPr>
          <p:cNvPr id="26" name="Rounded Rectangle 25">
            <a:extLst>
              <a:ext uri="{FF2B5EF4-FFF2-40B4-BE49-F238E27FC236}">
                <a16:creationId xmlns:a16="http://schemas.microsoft.com/office/drawing/2014/main" id="{5639DCF3-CC62-C84B-B3E5-1E959B989FFA}"/>
              </a:ext>
            </a:extLst>
          </p:cNvPr>
          <p:cNvSpPr/>
          <p:nvPr/>
        </p:nvSpPr>
        <p:spPr>
          <a:xfrm>
            <a:off x="3068617" y="3380131"/>
            <a:ext cx="6629400" cy="707162"/>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a:spcBef>
                <a:spcPts val="1010"/>
              </a:spcBef>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sample</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subset, or part, of a population.</a:t>
            </a:r>
            <a:r>
              <a:rPr lang="en-US" sz="1200" dirty="0">
                <a:latin typeface="Cambria" panose="02040503050406030204" pitchFamily="18" charset="0"/>
                <a:ea typeface="Times New Roman" panose="02020603050405020304" pitchFamily="18" charset="0"/>
                <a:cs typeface="Cambria" panose="02040503050406030204" pitchFamily="18" charset="0"/>
              </a:rPr>
              <a:t> </a:t>
            </a:r>
          </a:p>
        </p:txBody>
      </p:sp>
      <p:sp>
        <p:nvSpPr>
          <p:cNvPr id="17" name="Google Shape;315;p19"/>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07" name="Google Shape;207;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08" name="Google Shape;208;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buSzPts val="1400"/>
            </a:pPr>
            <a:r>
              <a:rPr lang="en-US" i="1" dirty="0">
                <a:latin typeface="Calibri"/>
                <a:ea typeface="Calibri"/>
                <a:cs typeface="Calibri"/>
                <a:sym typeface="Calibri"/>
              </a:rPr>
              <a:t>volume 1, pg. 180</a:t>
            </a:r>
          </a:p>
        </p:txBody>
      </p:sp>
      <p:sp>
        <p:nvSpPr>
          <p:cNvPr id="209" name="Google Shape;209;p8"/>
          <p:cNvSpPr txBox="1"/>
          <p:nvPr/>
        </p:nvSpPr>
        <p:spPr>
          <a:xfrm>
            <a:off x="914400" y="520394"/>
            <a:ext cx="10515600" cy="5324494"/>
          </a:xfrm>
          <a:prstGeom prst="rect">
            <a:avLst/>
          </a:prstGeom>
          <a:noFill/>
          <a:ln>
            <a:noFill/>
          </a:ln>
        </p:spPr>
        <p:txBody>
          <a:bodyPr spcFirstLastPara="1" wrap="square" lIns="91425" tIns="45700" rIns="91425" bIns="45700" anchor="t" anchorCtr="0">
            <a:spAutoFit/>
          </a:bodyPr>
          <a:lstStyle/>
          <a:p>
            <a:pPr marL="457200" indent="-457200" fontAlgn="base">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Imagine a group of researchers want to gather information about which candidate for sheriff all registered voters in Glades County, Florida plan to vote for in an upcoming election.</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47675"/>
            <a:r>
              <a:rPr lang="en-US" sz="2000" dirty="0">
                <a:latin typeface="Verdana" panose="020B0604030504040204" pitchFamily="34" charset="0"/>
                <a:ea typeface="Verdana" panose="020B0604030504040204" pitchFamily="34" charset="0"/>
                <a:cs typeface="Verdana" panose="020B0604030504040204" pitchFamily="34" charset="0"/>
              </a:rPr>
              <a:t>Use the definitions to complete the statements.</a:t>
            </a:r>
          </a:p>
          <a:p>
            <a:pPr marL="447675"/>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In this scenario, the                       being studied is </a:t>
            </a:r>
          </a:p>
          <a:p>
            <a:pPr marL="447675"/>
            <a:r>
              <a:rPr lang="en-US" sz="2000" dirty="0">
                <a:latin typeface="Verdana" panose="020B0604030504040204" pitchFamily="34" charset="0"/>
                <a:ea typeface="Verdana" panose="020B0604030504040204" pitchFamily="34" charset="0"/>
                <a:cs typeface="Verdana" panose="020B0604030504040204" pitchFamily="34" charset="0"/>
              </a:rPr>
              <a:t> </a:t>
            </a:r>
          </a:p>
          <a:p>
            <a:pPr marL="447675"/>
            <a:r>
              <a:rPr lang="en-US" sz="2000" dirty="0">
                <a:latin typeface="Verdana" panose="020B0604030504040204" pitchFamily="34" charset="0"/>
                <a:ea typeface="Verdana" panose="020B0604030504040204" pitchFamily="34" charset="0"/>
                <a:cs typeface="Verdana" panose="020B0604030504040204" pitchFamily="34" charset="0"/>
              </a:rPr>
              <a:t>all registered voters in Glades County, Florida. It is not </a:t>
            </a:r>
          </a:p>
          <a:p>
            <a:pPr marL="447675"/>
            <a:r>
              <a:rPr lang="en-US" sz="2000" dirty="0">
                <a:latin typeface="Verdana" panose="020B0604030504040204" pitchFamily="34" charset="0"/>
                <a:ea typeface="Verdana" panose="020B0604030504040204" pitchFamily="34" charset="0"/>
                <a:cs typeface="Verdana" panose="020B0604030504040204" pitchFamily="34" charset="0"/>
              </a:rPr>
              <a:t> </a:t>
            </a:r>
          </a:p>
          <a:p>
            <a:pPr marL="447675"/>
            <a:r>
              <a:rPr lang="en-US" sz="2000" dirty="0">
                <a:latin typeface="Verdana" panose="020B0604030504040204" pitchFamily="34" charset="0"/>
                <a:ea typeface="Verdana" panose="020B0604030504040204" pitchFamily="34" charset="0"/>
                <a:cs typeface="Verdana" panose="020B0604030504040204" pitchFamily="34" charset="0"/>
              </a:rPr>
              <a:t>realistic for researchers to ask every single registered </a:t>
            </a:r>
          </a:p>
          <a:p>
            <a:pPr marL="447675"/>
            <a:r>
              <a:rPr lang="en-US" sz="2000" dirty="0">
                <a:latin typeface="Verdana" panose="020B0604030504040204" pitchFamily="34" charset="0"/>
                <a:ea typeface="Verdana" panose="020B0604030504040204" pitchFamily="34" charset="0"/>
                <a:cs typeface="Verdana" panose="020B0604030504040204" pitchFamily="34" charset="0"/>
              </a:rPr>
              <a:t> </a:t>
            </a:r>
          </a:p>
          <a:p>
            <a:pPr marL="447675"/>
            <a:r>
              <a:rPr lang="en-US" sz="2000" dirty="0">
                <a:latin typeface="Verdana" panose="020B0604030504040204" pitchFamily="34" charset="0"/>
                <a:ea typeface="Verdana" panose="020B0604030504040204" pitchFamily="34" charset="0"/>
                <a:cs typeface="Verdana" panose="020B0604030504040204" pitchFamily="34" charset="0"/>
              </a:rPr>
              <a:t>voter, so researchers would collect data from a </a:t>
            </a:r>
          </a:p>
          <a:p>
            <a:pPr marL="447675"/>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of registered voters in Glades County, Florida </a:t>
            </a:r>
          </a:p>
          <a:p>
            <a:pPr marL="447675"/>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to make predictions.</a:t>
            </a:r>
            <a:endParaRPr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100513" y="2162175"/>
            <a:ext cx="1857375"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441133" y="4585335"/>
            <a:ext cx="1857375"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07479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07" name="Google Shape;207;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08" name="Google Shape;208;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buSzPts val="1400"/>
            </a:pPr>
            <a:r>
              <a:rPr lang="en-US" i="1" dirty="0">
                <a:latin typeface="Calibri"/>
                <a:ea typeface="Calibri"/>
                <a:cs typeface="Calibri"/>
                <a:sym typeface="Calibri"/>
              </a:rPr>
              <a:t>volume 1, pg. 180</a:t>
            </a:r>
          </a:p>
        </p:txBody>
      </p:sp>
      <mc:AlternateContent xmlns:mc="http://schemas.openxmlformats.org/markup-compatibility/2006" xmlns:a14="http://schemas.microsoft.com/office/drawing/2010/main">
        <mc:Choice Requires="a14">
          <p:sp>
            <p:nvSpPr>
              <p:cNvPr id="209" name="Google Shape;209;p8"/>
              <p:cNvSpPr txBox="1"/>
              <p:nvPr/>
            </p:nvSpPr>
            <p:spPr>
              <a:xfrm>
                <a:off x="914400" y="520393"/>
                <a:ext cx="10515600" cy="3170058"/>
              </a:xfrm>
              <a:prstGeom prst="rect">
                <a:avLst/>
              </a:prstGeom>
              <a:noFill/>
              <a:ln>
                <a:noFill/>
              </a:ln>
            </p:spPr>
            <p:txBody>
              <a:bodyPr spcFirstLastPara="1" wrap="square" lIns="91425" tIns="45700" rIns="91425" bIns="45700" anchor="t" anchorCtr="0">
                <a:spAutoFit/>
              </a:bodyPr>
              <a:lstStyle/>
              <a:p>
                <a:pPr marL="457200" indent="-457200" fontAlgn="base">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Volusia County School District wants to find out more about which mode of transportation students take to school, so they decide to conduct a survey. The entire school district has a population of </a:t>
                </a:r>
                <a14:m>
                  <m:oMath xmlns:m="http://schemas.openxmlformats.org/officeDocument/2006/math">
                    <m:r>
                      <a:rPr lang="en-US" sz="2000" i="1" dirty="0" smtClean="0">
                        <a:latin typeface="Cambria Math"/>
                        <a:ea typeface="Verdana" panose="020B0604030504040204" pitchFamily="34" charset="0"/>
                        <a:cs typeface="Verdana" panose="020B0604030504040204" pitchFamily="34" charset="0"/>
                      </a:rPr>
                      <m:t>63,223</m:t>
                    </m:r>
                  </m:oMath>
                </a14:m>
                <a:r>
                  <a:rPr lang="en-US" sz="2000" dirty="0">
                    <a:latin typeface="Verdana" panose="020B0604030504040204" pitchFamily="34" charset="0"/>
                    <a:ea typeface="Verdana" panose="020B0604030504040204" pitchFamily="34" charset="0"/>
                    <a:cs typeface="Verdana" panose="020B0604030504040204" pitchFamily="34" charset="0"/>
                  </a:rPr>
                  <a:t> students. Since the number of students is so large, the district will only survey some of the students.</a:t>
                </a:r>
              </a:p>
              <a:p>
                <a:pPr marL="457200" indent="-457200" fontAlgn="base">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fontAlgn="base">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In this scenario, what is the population being studied?</a:t>
                </a:r>
              </a:p>
              <a:p>
                <a:pPr marL="914400" indent="-457200" fontAlgn="base">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fontAlgn="base">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fontAlgn="base">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sample being used?</a:t>
                </a:r>
              </a:p>
            </p:txBody>
          </p:sp>
        </mc:Choice>
        <mc:Fallback xmlns="">
          <p:sp>
            <p:nvSpPr>
              <p:cNvPr id="209" name="Google Shape;209;p8"/>
              <p:cNvSpPr txBox="1">
                <a:spLocks noRot="1" noChangeAspect="1" noMove="1" noResize="1" noEditPoints="1" noAdjustHandles="1" noChangeArrowheads="1" noChangeShapeType="1" noTextEdit="1"/>
              </p:cNvSpPr>
              <p:nvPr/>
            </p:nvSpPr>
            <p:spPr>
              <a:xfrm>
                <a:off x="914400" y="520393"/>
                <a:ext cx="10515600" cy="3170058"/>
              </a:xfrm>
              <a:prstGeom prst="rect">
                <a:avLst/>
              </a:prstGeom>
              <a:blipFill rotWithShape="1">
                <a:blip r:embed="rId4"/>
                <a:stretch>
                  <a:fillRect l="-638" t="-1154" b="-2500"/>
                </a:stretch>
              </a:blipFill>
              <a:ln>
                <a:noFill/>
              </a:ln>
            </p:spPr>
            <p:txBody>
              <a:bodyPr/>
              <a:lstStyle/>
              <a:p>
                <a:r>
                  <a:rPr 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07" name="Google Shape;207;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08" name="Google Shape;208;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buSzPts val="1400"/>
            </a:pPr>
            <a:r>
              <a:rPr lang="en-US" i="1" dirty="0">
                <a:latin typeface="Calibri"/>
                <a:ea typeface="Calibri"/>
                <a:cs typeface="Calibri"/>
                <a:sym typeface="Calibri"/>
              </a:rPr>
              <a:t>volume 1, pg. 180</a:t>
            </a:r>
          </a:p>
        </p:txBody>
      </p:sp>
      <p:sp>
        <p:nvSpPr>
          <p:cNvPr id="209" name="Google Shape;209;p8"/>
          <p:cNvSpPr txBox="1"/>
          <p:nvPr/>
        </p:nvSpPr>
        <p:spPr>
          <a:xfrm>
            <a:off x="914400" y="510882"/>
            <a:ext cx="10515600" cy="707846"/>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rPr>
              <a:t>To ensure the students surveyed are representative of all students in Volusia County, a system is used to select who is surveyed.</a:t>
            </a:r>
            <a:endParaRPr lang="en-US" dirty="0"/>
          </a:p>
        </p:txBody>
      </p:sp>
      <p:grpSp>
        <p:nvGrpSpPr>
          <p:cNvPr id="6" name="Group 5">
            <a:extLst>
              <a:ext uri="{FF2B5EF4-FFF2-40B4-BE49-F238E27FC236}">
                <a16:creationId xmlns:a16="http://schemas.microsoft.com/office/drawing/2014/main" id="{D39E1DD7-C10A-FA49-9B1F-36DEC7C0F052}"/>
              </a:ext>
            </a:extLst>
          </p:cNvPr>
          <p:cNvGrpSpPr/>
          <p:nvPr/>
        </p:nvGrpSpPr>
        <p:grpSpPr>
          <a:xfrm>
            <a:off x="2781300" y="2665095"/>
            <a:ext cx="6629400" cy="1527810"/>
            <a:chOff x="2031300" y="3016071"/>
            <a:chExt cx="6629400" cy="1527859"/>
          </a:xfrm>
        </p:grpSpPr>
        <p:grpSp>
          <p:nvGrpSpPr>
            <p:cNvPr id="7" name="Group 6">
              <a:extLst>
                <a:ext uri="{FF2B5EF4-FFF2-40B4-BE49-F238E27FC236}">
                  <a16:creationId xmlns:a16="http://schemas.microsoft.com/office/drawing/2014/main" id="{D6747D60-0E59-6C4B-89DD-D27238F2DC28}"/>
                </a:ext>
              </a:extLst>
            </p:cNvPr>
            <p:cNvGrpSpPr/>
            <p:nvPr/>
          </p:nvGrpSpPr>
          <p:grpSpPr>
            <a:xfrm>
              <a:off x="2031300" y="3016071"/>
              <a:ext cx="6629400" cy="1527859"/>
              <a:chOff x="2031300" y="3275734"/>
              <a:chExt cx="6629400" cy="1527859"/>
            </a:xfrm>
          </p:grpSpPr>
          <p:sp>
            <p:nvSpPr>
              <p:cNvPr id="8" name="Rectangle 7">
                <a:extLst>
                  <a:ext uri="{FF2B5EF4-FFF2-40B4-BE49-F238E27FC236}">
                    <a16:creationId xmlns:a16="http://schemas.microsoft.com/office/drawing/2014/main" id="{2E695E83-2010-DF41-BBEE-4DCAA7B388D4}"/>
                  </a:ext>
                </a:extLst>
              </p:cNvPr>
              <p:cNvSpPr/>
              <p:nvPr/>
            </p:nvSpPr>
            <p:spPr>
              <a:xfrm>
                <a:off x="2031300" y="3275734"/>
                <a:ext cx="6629400" cy="1527850"/>
              </a:xfrm>
              <a:prstGeom prst="rect">
                <a:avLst/>
              </a:prstGeom>
              <a:noFill/>
              <a:ln>
                <a:noFill/>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9" name="Group 8">
                <a:extLst>
                  <a:ext uri="{FF2B5EF4-FFF2-40B4-BE49-F238E27FC236}">
                    <a16:creationId xmlns:a16="http://schemas.microsoft.com/office/drawing/2014/main" id="{0992C028-3E72-3F4F-80A2-9A9FFB53A54A}"/>
                  </a:ext>
                </a:extLst>
              </p:cNvPr>
              <p:cNvGrpSpPr/>
              <p:nvPr/>
            </p:nvGrpSpPr>
            <p:grpSpPr>
              <a:xfrm>
                <a:off x="2031300" y="3275734"/>
                <a:ext cx="6629400" cy="1527859"/>
                <a:chOff x="0" y="-1"/>
                <a:chExt cx="6629400" cy="1527859"/>
              </a:xfrm>
            </p:grpSpPr>
            <p:sp>
              <p:nvSpPr>
                <p:cNvPr id="10" name="Rectangle 9">
                  <a:extLst>
                    <a:ext uri="{FF2B5EF4-FFF2-40B4-BE49-F238E27FC236}">
                      <a16:creationId xmlns:a16="http://schemas.microsoft.com/office/drawing/2014/main" id="{B8391566-EF8E-4E44-A162-8697F1D9C2D8}"/>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11" name="Group 10">
                  <a:extLst>
                    <a:ext uri="{FF2B5EF4-FFF2-40B4-BE49-F238E27FC236}">
                      <a16:creationId xmlns:a16="http://schemas.microsoft.com/office/drawing/2014/main" id="{6507304E-887F-2C42-A4FF-CBB7029ACEC6}"/>
                    </a:ext>
                  </a:extLst>
                </p:cNvPr>
                <p:cNvGrpSpPr/>
                <p:nvPr/>
              </p:nvGrpSpPr>
              <p:grpSpPr>
                <a:xfrm>
                  <a:off x="0" y="-1"/>
                  <a:ext cx="6629400" cy="1527859"/>
                  <a:chOff x="0" y="-1"/>
                  <a:chExt cx="6629400" cy="1527859"/>
                </a:xfrm>
              </p:grpSpPr>
              <p:sp>
                <p:nvSpPr>
                  <p:cNvPr id="13" name="Rectangle 12">
                    <a:extLst>
                      <a:ext uri="{FF2B5EF4-FFF2-40B4-BE49-F238E27FC236}">
                        <a16:creationId xmlns:a16="http://schemas.microsoft.com/office/drawing/2014/main" id="{C3C84AD6-048D-804D-BED0-556D39EA6102}"/>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sp>
                <p:nvSpPr>
                  <p:cNvPr id="14" name="Rectangle 13">
                    <a:extLst>
                      <a:ext uri="{FF2B5EF4-FFF2-40B4-BE49-F238E27FC236}">
                        <a16:creationId xmlns:a16="http://schemas.microsoft.com/office/drawing/2014/main" id="{C0162423-44BD-4340-B7F2-CDA9C3B2D71A}"/>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sp>
                <p:nvSpPr>
                  <p:cNvPr id="15" name="Rounded Rectangle 14">
                    <a:extLst>
                      <a:ext uri="{FF2B5EF4-FFF2-40B4-BE49-F238E27FC236}">
                        <a16:creationId xmlns:a16="http://schemas.microsoft.com/office/drawing/2014/main" id="{D20A56C7-1676-DF45-882C-FA539E0DEECA}"/>
                      </a:ext>
                    </a:extLst>
                  </p:cNvPr>
                  <p:cNvSpPr/>
                  <p:nvPr/>
                </p:nvSpPr>
                <p:spPr>
                  <a:xfrm>
                    <a:off x="0" y="-1"/>
                    <a:ext cx="6629400" cy="1527859"/>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marR="34290">
                      <a:spcBef>
                        <a:spcPts val="900"/>
                      </a:spcBef>
                      <a:spcAft>
                        <a:spcPts val="900"/>
                      </a:spcAft>
                    </a:pPr>
                    <a:r>
                      <a:rPr lang="en-US" sz="2000" dirty="0">
                        <a:solidFill>
                          <a:srgbClr val="2475BF"/>
                        </a:solidFill>
                        <a:latin typeface="Verdana" panose="020B0604030504040204" pitchFamily="34" charset="0"/>
                        <a:ea typeface="Verdana" panose="020B0604030504040204" pitchFamily="34" charset="0"/>
                        <a:cs typeface="Verdana" panose="020B0604030504040204" pitchFamily="34" charset="0"/>
                      </a:rPr>
                      <a:t>A sample that is </a:t>
                    </a:r>
                    <a:r>
                      <a:rPr lang="en-US" sz="2000" b="1" dirty="0">
                        <a:solidFill>
                          <a:srgbClr val="2475BF"/>
                        </a:solidFill>
                        <a:latin typeface="Verdana" panose="020B0604030504040204" pitchFamily="34" charset="0"/>
                        <a:ea typeface="Verdana" panose="020B0604030504040204" pitchFamily="34" charset="0"/>
                        <a:cs typeface="Verdana" panose="020B0604030504040204" pitchFamily="34" charset="0"/>
                      </a:rPr>
                      <a:t>representative</a:t>
                    </a:r>
                    <a:r>
                      <a:rPr lang="en-US" sz="2000" dirty="0">
                        <a:solidFill>
                          <a:srgbClr val="2475BF"/>
                        </a:solidFill>
                        <a:latin typeface="Verdana" panose="020B0604030504040204" pitchFamily="34" charset="0"/>
                        <a:ea typeface="Verdana" panose="020B0604030504040204" pitchFamily="34" charset="0"/>
                        <a:cs typeface="Verdana" panose="020B0604030504040204" pitchFamily="34" charset="0"/>
                      </a:rPr>
                      <a:t> of a population resembles the population and can be used to make accurate predictions about the population.</a:t>
                    </a:r>
                    <a:r>
                      <a:rPr lang="en-US" dirty="0">
                        <a:latin typeface="Cambria" panose="02040503050406030204" pitchFamily="18" charset="0"/>
                        <a:ea typeface="Times New Roman" panose="02020603050405020304" pitchFamily="18" charset="0"/>
                        <a:cs typeface="Cambria" panose="02040503050406030204" pitchFamily="18" charset="0"/>
                      </a:rPr>
                      <a:t> </a:t>
                    </a:r>
                  </a:p>
                </p:txBody>
              </p:sp>
            </p:grpSp>
            <p:pic>
              <p:nvPicPr>
                <p:cNvPr id="12" name="Shape 20" descr="Icon&#10;&#10;Description automatically generated">
                  <a:extLst>
                    <a:ext uri="{FF2B5EF4-FFF2-40B4-BE49-F238E27FC236}">
                      <a16:creationId xmlns:a16="http://schemas.microsoft.com/office/drawing/2014/main" id="{665FC499-71A4-6743-AF7B-13BAA2268E5B}"/>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83914" y="155149"/>
                  <a:ext cx="539750" cy="539750"/>
                </a:xfrm>
                <a:prstGeom prst="rect">
                  <a:avLst/>
                </a:prstGeom>
                <a:noFill/>
                <a:ln>
                  <a:noFill/>
                </a:ln>
                <a:effectLst>
                  <a:outerShdw blurRad="50800" dist="38100" dir="2700000" algn="tl" rotWithShape="0">
                    <a:prstClr val="black">
                      <a:alpha val="40000"/>
                    </a:prstClr>
                  </a:outerShdw>
                </a:effectLst>
              </p:spPr>
            </p:pic>
          </p:grpSp>
        </p:grpSp>
      </p:grpSp>
    </p:spTree>
    <p:extLst>
      <p:ext uri="{BB962C8B-B14F-4D97-AF65-F5344CB8AC3E}">
        <p14:creationId xmlns:p14="http://schemas.microsoft.com/office/powerpoint/2010/main" val="4043403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07" name="Google Shape;207;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08" name="Google Shape;208;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buSzPts val="1400"/>
            </a:pPr>
            <a:r>
              <a:rPr lang="en-US" i="1" dirty="0">
                <a:latin typeface="Calibri"/>
                <a:ea typeface="Calibri"/>
                <a:cs typeface="Calibri"/>
                <a:sym typeface="Calibri"/>
              </a:rPr>
              <a:t>volume 1, pg. 180</a:t>
            </a:r>
          </a:p>
        </p:txBody>
      </p:sp>
      <p:sp>
        <p:nvSpPr>
          <p:cNvPr id="209" name="Google Shape;209;p8"/>
          <p:cNvSpPr txBox="1"/>
          <p:nvPr/>
        </p:nvSpPr>
        <p:spPr>
          <a:xfrm>
            <a:off x="914400" y="510883"/>
            <a:ext cx="10515600" cy="1015622"/>
          </a:xfrm>
          <a:prstGeom prst="rect">
            <a:avLst/>
          </a:prstGeom>
          <a:noFill/>
          <a:ln>
            <a:noFill/>
          </a:ln>
        </p:spPr>
        <p:txBody>
          <a:bodyPr spcFirstLastPara="1" wrap="square" lIns="91425" tIns="45700" rIns="91425" bIns="45700" anchor="t" anchorCtr="0">
            <a:spAutoFit/>
          </a:bodyPr>
          <a:lstStyle/>
          <a:p>
            <a:pPr marL="457200" marR="3429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Twenty-five students from each grade level will be chosen at random to participate in the survey. With your partner, discuss how you think this method will help ensure the sample is representative of the population.</a:t>
            </a:r>
            <a:endParaRPr lang="en-US" dirty="0"/>
          </a:p>
        </p:txBody>
      </p:sp>
    </p:spTree>
    <p:extLst>
      <p:ext uri="{BB962C8B-B14F-4D97-AF65-F5344CB8AC3E}">
        <p14:creationId xmlns:p14="http://schemas.microsoft.com/office/powerpoint/2010/main" val="1575760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07" name="Google Shape;207;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08" name="Google Shape;208;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buSzPts val="1400"/>
            </a:pPr>
            <a:r>
              <a:rPr lang="en-US" i="1" dirty="0">
                <a:latin typeface="Calibri"/>
                <a:ea typeface="Calibri"/>
                <a:cs typeface="Calibri"/>
                <a:sym typeface="Calibri"/>
              </a:rPr>
              <a:t>volume 1, pg. 181</a:t>
            </a:r>
          </a:p>
        </p:txBody>
      </p:sp>
      <mc:AlternateContent xmlns:mc="http://schemas.openxmlformats.org/markup-compatibility/2006">
        <mc:Choice xmlns:a14="http://schemas.microsoft.com/office/drawing/2010/main" Requires="a14">
          <p:sp>
            <p:nvSpPr>
              <p:cNvPr id="209" name="Google Shape;209;p8"/>
              <p:cNvSpPr txBox="1"/>
              <p:nvPr/>
            </p:nvSpPr>
            <p:spPr>
              <a:xfrm>
                <a:off x="914400" y="510883"/>
                <a:ext cx="10515600" cy="3785611"/>
              </a:xfrm>
              <a:prstGeom prst="rect">
                <a:avLst/>
              </a:prstGeom>
              <a:noFill/>
              <a:ln>
                <a:noFill/>
              </a:ln>
            </p:spPr>
            <p:txBody>
              <a:bodyPr spcFirstLastPara="1" wrap="square" lIns="91425" tIns="45700" rIns="91425" bIns="45700" anchor="t" anchorCtr="0">
                <a:spAutoFit/>
              </a:bodyPr>
              <a:lstStyle/>
              <a:p>
                <a:pPr marL="457200" marR="3429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Claire wants to collect data on the highest education level achieved by adults in Jacksonville, Florida. She decides to go to the University of North Florida campus and ask the first person who comes into the library every </a:t>
                </a:r>
                <a:br>
                  <a:rPr lang="en-US" sz="2000" dirty="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30</m:t>
                    </m:r>
                  </m:oMath>
                </a14:m>
                <a:r>
                  <a:rPr lang="en-US" sz="2000" dirty="0">
                    <a:latin typeface="Verdana" panose="020B0604030504040204" pitchFamily="34" charset="0"/>
                    <a:ea typeface="Verdana" panose="020B0604030504040204" pitchFamily="34" charset="0"/>
                    <a:cs typeface="Verdana" panose="020B0604030504040204" pitchFamily="34" charset="0"/>
                  </a:rPr>
                  <a:t> minutes about their education level. </a:t>
                </a:r>
              </a:p>
              <a:p>
                <a:pPr marR="3429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marR="34290" indent="-457200">
                  <a:buSzPts val="18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population?</a:t>
                </a:r>
              </a:p>
              <a:p>
                <a:pPr marL="914400" marR="34290" indent="-457200">
                  <a:buSzPts val="18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marR="34290" indent="-457200">
                  <a:buSzPts val="18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marR="34290" indent="-457200">
                  <a:buSzPts val="18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sample? </a:t>
                </a:r>
                <a:endParaRPr lang="en-US" sz="1600" b="1" dirty="0">
                  <a:solidFill>
                    <a:srgbClr val="4472C4"/>
                  </a:solidFill>
                  <a:latin typeface="Calibri Light" panose="020F0302020204030204" pitchFamily="34" charset="0"/>
                  <a:ea typeface="Times New Roman" panose="02020603050405020304" pitchFamily="18" charset="0"/>
                  <a:cs typeface="Times New Roman" panose="02020603050405020304" pitchFamily="18" charset="0"/>
                </a:endParaRPr>
              </a:p>
              <a:p>
                <a:pPr marR="34290"/>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209" name="Google Shape;209;p8"/>
              <p:cNvSpPr txBox="1">
                <a:spLocks noRot="1" noChangeAspect="1" noMove="1" noResize="1" noEditPoints="1" noAdjustHandles="1" noChangeArrowheads="1" noChangeShapeType="1" noTextEdit="1"/>
              </p:cNvSpPr>
              <p:nvPr/>
            </p:nvSpPr>
            <p:spPr>
              <a:xfrm>
                <a:off x="914400" y="510883"/>
                <a:ext cx="10515600" cy="3785611"/>
              </a:xfrm>
              <a:prstGeom prst="rect">
                <a:avLst/>
              </a:prstGeom>
              <a:blipFill>
                <a:blip r:embed="rId4"/>
                <a:stretch>
                  <a:fillRect l="-724" t="-100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955242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07" name="Google Shape;207;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08" name="Google Shape;208;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buSzPts val="1400"/>
            </a:pPr>
            <a:r>
              <a:rPr lang="en-US" i="1" dirty="0">
                <a:latin typeface="Calibri"/>
                <a:ea typeface="Calibri"/>
                <a:cs typeface="Calibri"/>
                <a:sym typeface="Calibri"/>
              </a:rPr>
              <a:t>volume 1, pg. 181</a:t>
            </a:r>
          </a:p>
        </p:txBody>
      </p:sp>
      <p:sp>
        <p:nvSpPr>
          <p:cNvPr id="209" name="Google Shape;209;p8"/>
          <p:cNvSpPr txBox="1"/>
          <p:nvPr/>
        </p:nvSpPr>
        <p:spPr>
          <a:xfrm>
            <a:off x="914400" y="510882"/>
            <a:ext cx="10515600" cy="830956"/>
          </a:xfrm>
          <a:prstGeom prst="rect">
            <a:avLst/>
          </a:prstGeom>
          <a:noFill/>
          <a:ln>
            <a:noFill/>
          </a:ln>
        </p:spPr>
        <p:txBody>
          <a:bodyPr spcFirstLastPara="1" wrap="square" lIns="91425" tIns="45700" rIns="91425" bIns="45700" anchor="t" anchorCtr="0">
            <a:spAutoFit/>
          </a:bodyPr>
          <a:lstStyle/>
          <a:p>
            <a:pPr marL="457200" marR="3429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Explain why a sample chosen in this way may </a:t>
            </a:r>
            <a:r>
              <a:rPr lang="en-US" sz="2400" b="1" dirty="0">
                <a:latin typeface="Verdana" panose="020B0604030504040204" pitchFamily="34" charset="0"/>
                <a:ea typeface="Verdana" panose="020B0604030504040204" pitchFamily="34" charset="0"/>
                <a:cs typeface="Verdana" panose="020B0604030504040204" pitchFamily="34" charset="0"/>
              </a:rPr>
              <a:t>not</a:t>
            </a:r>
            <a:r>
              <a:rPr lang="en-US" sz="2400" dirty="0">
                <a:latin typeface="Verdana" panose="020B0604030504040204" pitchFamily="34" charset="0"/>
                <a:ea typeface="Verdana" panose="020B0604030504040204" pitchFamily="34" charset="0"/>
                <a:cs typeface="Verdana" panose="020B0604030504040204" pitchFamily="34" charset="0"/>
              </a:rPr>
              <a:t> be representative of the population.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grpSp>
        <p:nvGrpSpPr>
          <p:cNvPr id="2" name="Group 1"/>
          <p:cNvGrpSpPr/>
          <p:nvPr/>
        </p:nvGrpSpPr>
        <p:grpSpPr>
          <a:xfrm>
            <a:off x="2856633" y="3520223"/>
            <a:ext cx="6629400" cy="2145223"/>
            <a:chOff x="2856633" y="3520223"/>
            <a:chExt cx="6629400" cy="2145223"/>
          </a:xfrm>
        </p:grpSpPr>
        <p:sp>
          <p:nvSpPr>
            <p:cNvPr id="24" name="Rounded Rectangle 23">
              <a:extLst>
                <a:ext uri="{FF2B5EF4-FFF2-40B4-BE49-F238E27FC236}">
                  <a16:creationId xmlns:a16="http://schemas.microsoft.com/office/drawing/2014/main" id="{44D59401-BE40-9E47-A339-DFD6D6810AB7}"/>
                </a:ext>
              </a:extLst>
            </p:cNvPr>
            <p:cNvSpPr/>
            <p:nvPr/>
          </p:nvSpPr>
          <p:spPr>
            <a:xfrm>
              <a:off x="2856633" y="3520223"/>
              <a:ext cx="6629400" cy="2145223"/>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spAutoFit/>
            </a:bodyPr>
            <a:lstStyle/>
            <a:p>
              <a:pPr marL="742950" indent="1588"/>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random sampling</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smaller group </a:t>
              </a:r>
              <a:b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b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of people or objects chosen from a larger group or population by a process giving equal chance of selection to all possible people or objects, and all possible subsets of the same size.</a:t>
              </a:r>
              <a:endParaRPr lang="en-US" dirty="0">
                <a:latin typeface="Cambria" panose="02040503050406030204" pitchFamily="18" charset="0"/>
                <a:ea typeface="Times New Roman" panose="02020603050405020304" pitchFamily="18" charset="0"/>
                <a:cs typeface="Cambria" panose="02040503050406030204" pitchFamily="18" charset="0"/>
              </a:endParaRPr>
            </a:p>
          </p:txBody>
        </p:sp>
        <p:pic>
          <p:nvPicPr>
            <p:cNvPr id="25" name="Shape 11" descr="Icon&#10;&#10;Description automatically generated">
              <a:extLst>
                <a:ext uri="{FF2B5EF4-FFF2-40B4-BE49-F238E27FC236}">
                  <a16:creationId xmlns:a16="http://schemas.microsoft.com/office/drawing/2014/main" id="{30988477-70F6-4D46-9666-6DE27D2CC4D4}"/>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070068" y="3750756"/>
              <a:ext cx="539750" cy="539750"/>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2095430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86" name="Google Shape;186;p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88" name="Google Shape;188;p6"/>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181</a:t>
            </a:r>
            <a:endParaRPr i="1" dirty="0">
              <a:latin typeface="Calibri"/>
              <a:ea typeface="Calibri"/>
              <a:cs typeface="Calibri"/>
              <a:sym typeface="Calibri"/>
            </a:endParaRPr>
          </a:p>
        </p:txBody>
      </p:sp>
      <p:sp>
        <p:nvSpPr>
          <p:cNvPr id="7" name="Google Shape;313;g104476d1465_1_39"/>
          <p:cNvSpPr txBox="1">
            <a:spLocks/>
          </p:cNvSpPr>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3BEA6"/>
                </a:solidFill>
                <a:latin typeface="Verdana"/>
                <a:ea typeface="Verdana"/>
                <a:cs typeface="Verdana"/>
                <a:sym typeface="Verdana"/>
              </a:rPr>
              <a:t>Collaboration</a:t>
            </a:r>
            <a:endParaRPr lang="en-US" sz="5100" b="1" dirty="0">
              <a:solidFill>
                <a:srgbClr val="33BEA6"/>
              </a:solidFill>
              <a:latin typeface="Verdana"/>
              <a:ea typeface="Verdana"/>
              <a:cs typeface="Verdana"/>
              <a:sym typeface="Verdana"/>
            </a:endParaRPr>
          </a:p>
        </p:txBody>
      </p:sp>
      <p:pic>
        <p:nvPicPr>
          <p:cNvPr id="8"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96" name="Google Shape;196;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97" name="Google Shape;197;p7"/>
          <p:cNvSpPr txBox="1"/>
          <p:nvPr/>
        </p:nvSpPr>
        <p:spPr>
          <a:xfrm>
            <a:off x="1143000" y="231247"/>
            <a:ext cx="10515600" cy="1325700"/>
          </a:xfrm>
          <a:prstGeom prst="rect">
            <a:avLst/>
          </a:prstGeom>
          <a:noFill/>
          <a:ln>
            <a:noFill/>
          </a:ln>
        </p:spPr>
        <p:txBody>
          <a:bodyPr spcFirstLastPara="1" wrap="square" lIns="91425" tIns="45700" rIns="91425" bIns="45700" anchor="ctr" anchorCtr="0">
            <a:noAutofit/>
          </a:bodyPr>
          <a:lstStyle/>
          <a:p>
            <a:r>
              <a:rPr lang="en-US" sz="3200" b="1" dirty="0">
                <a:solidFill>
                  <a:srgbClr val="33BEA6"/>
                </a:solidFill>
                <a:latin typeface="Verdana"/>
                <a:ea typeface="Verdana"/>
                <a:cs typeface="Verdana"/>
                <a:sym typeface="Verdana"/>
              </a:rPr>
              <a:t>5.1.3 Collaboration: </a:t>
            </a:r>
            <a:r>
              <a:rPr lang="en-US" sz="3200" b="1" dirty="0">
                <a:solidFill>
                  <a:srgbClr val="33BEA6"/>
                </a:solidFill>
                <a:latin typeface="Verdana" panose="020B0604030504040204" pitchFamily="34" charset="0"/>
                <a:ea typeface="Verdana" panose="020B0604030504040204" pitchFamily="34" charset="0"/>
                <a:cs typeface="Verdana" panose="020B0604030504040204" pitchFamily="34" charset="0"/>
              </a:rPr>
              <a:t>Comparing Methods for Selecting Samples</a:t>
            </a:r>
            <a:endParaRPr lang="en-US" sz="3200" dirty="0">
              <a:latin typeface="Verdana" panose="020B0604030504040204" pitchFamily="34" charset="0"/>
              <a:ea typeface="Verdana" panose="020B0604030504040204" pitchFamily="34" charset="0"/>
              <a:cs typeface="Verdana" panose="020B0604030504040204" pitchFamily="34" charset="0"/>
            </a:endParaRPr>
          </a:p>
          <a:p>
            <a:br>
              <a:rPr lang="en-US" dirty="0"/>
            </a:br>
            <a:endParaRPr dirty="0"/>
          </a:p>
        </p:txBody>
      </p:sp>
      <p:sp>
        <p:nvSpPr>
          <p:cNvPr id="198" name="Google Shape;198;p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181</a:t>
            </a:r>
            <a:endParaRPr i="1" dirty="0">
              <a:latin typeface="Calibri"/>
              <a:ea typeface="Calibri"/>
              <a:cs typeface="Calibri"/>
              <a:sym typeface="Calibri"/>
            </a:endParaRPr>
          </a:p>
        </p:txBody>
      </p:sp>
      <p:pic>
        <p:nvPicPr>
          <p:cNvPr id="199" name="Google Shape;199;p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56616" y="201168"/>
            <a:ext cx="749808" cy="749808"/>
          </a:xfrm>
          <a:prstGeom prst="rect">
            <a:avLst/>
          </a:prstGeom>
          <a:noFill/>
          <a:ln>
            <a:noFill/>
          </a:ln>
          <a:effectLst>
            <a:outerShdw blurRad="50800" dist="38100" dir="2700000" algn="tl" rotWithShape="0">
              <a:srgbClr val="000000">
                <a:alpha val="40000"/>
              </a:srgbClr>
            </a:outerShdw>
          </a:effectLst>
        </p:spPr>
      </p:pic>
      <p:sp>
        <p:nvSpPr>
          <p:cNvPr id="200" name="Google Shape;200;p7"/>
          <p:cNvSpPr txBox="1"/>
          <p:nvPr/>
        </p:nvSpPr>
        <p:spPr>
          <a:xfrm>
            <a:off x="914400" y="1647282"/>
            <a:ext cx="10515600" cy="3046948"/>
          </a:xfrm>
          <a:prstGeom prst="rect">
            <a:avLst/>
          </a:prstGeom>
          <a:noFill/>
          <a:ln>
            <a:noFill/>
          </a:ln>
        </p:spPr>
        <p:txBody>
          <a:bodyPr spcFirstLastPara="1" wrap="square" lIns="91425" tIns="45700" rIns="91425" bIns="45700" anchor="t" anchorCtr="0">
            <a:spAutoFit/>
          </a:bodyPr>
          <a:lstStyle/>
          <a:p>
            <a:r>
              <a:rPr lang="en-US" sz="2400" dirty="0">
                <a:latin typeface="Verdana" panose="020B0604030504040204" pitchFamily="34" charset="0"/>
              </a:rPr>
              <a:t>For each scenario below, read the information about the study and answer the questions that follow. </a:t>
            </a:r>
            <a:endParaRPr lang="en-US" sz="2400" dirty="0"/>
          </a:p>
          <a:p>
            <a:pPr marR="34290"/>
            <a:br>
              <a:rPr lang="en-US" sz="2400" i="1" dirty="0">
                <a:latin typeface="Verdana" panose="020B0604030504040204" pitchFamily="34" charset="0"/>
              </a:rPr>
            </a:br>
            <a:r>
              <a:rPr lang="en-US" sz="2400" b="1" dirty="0">
                <a:latin typeface="Verdana" panose="020B0604030504040204" pitchFamily="34" charset="0"/>
              </a:rPr>
              <a:t>Scenario 1:</a:t>
            </a:r>
            <a:r>
              <a:rPr lang="en-US" sz="2400" dirty="0">
                <a:latin typeface="Verdana" panose="020B0604030504040204" pitchFamily="34" charset="0"/>
              </a:rPr>
              <a:t> Lin is running for president of the seventh grade. She wants to predict her chances of winning the election. She is considering three different methods for surveying a sample of the students.</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07" name="Google Shape;207;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08" name="Google Shape;208;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181</a:t>
            </a:r>
            <a:endParaRPr i="1" dirty="0">
              <a:latin typeface="Calibri"/>
              <a:ea typeface="Calibri"/>
              <a:cs typeface="Calibri"/>
              <a:sym typeface="Calibri"/>
            </a:endParaRPr>
          </a:p>
        </p:txBody>
      </p:sp>
      <p:sp>
        <p:nvSpPr>
          <p:cNvPr id="209" name="Google Shape;209;p8"/>
          <p:cNvSpPr txBox="1"/>
          <p:nvPr/>
        </p:nvSpPr>
        <p:spPr>
          <a:xfrm>
            <a:off x="914400" y="520393"/>
            <a:ext cx="10515600" cy="1938952"/>
          </a:xfrm>
          <a:prstGeom prst="rect">
            <a:avLst/>
          </a:prstGeom>
          <a:noFill/>
          <a:ln>
            <a:noFill/>
          </a:ln>
        </p:spPr>
        <p:txBody>
          <a:bodyPr spcFirstLastPara="1" wrap="square" lIns="91425" tIns="45700" rIns="91425" bIns="45700" anchor="t" anchorCtr="0">
            <a:spAutoFit/>
          </a:bodyPr>
          <a:lstStyle/>
          <a:p>
            <a:pPr marL="457200" marR="34290" indent="-457200" fontAlgn="base">
              <a:buFont typeface="+mj-lt"/>
              <a:buAutoNum type="arabicPeriod"/>
            </a:pPr>
            <a:r>
              <a:rPr lang="en-US" sz="2400" dirty="0">
                <a:latin typeface="Verdana" panose="020B0604030504040204" pitchFamily="34" charset="0"/>
              </a:rPr>
              <a:t>Complete the table to describe the benefits and problems with each of the possible survey methods described.</a:t>
            </a:r>
          </a:p>
          <a:p>
            <a:pPr marR="34290" fontAlgn="base"/>
            <a:endParaRPr lang="en-US" sz="2400" dirty="0">
              <a:latin typeface="Verdana" panose="020B0604030504040204" pitchFamily="34" charset="0"/>
            </a:endParaRPr>
          </a:p>
          <a:p>
            <a:pPr marR="34290" fontAlgn="base"/>
            <a:endParaRPr lang="en-US" sz="2400" dirty="0">
              <a:latin typeface="Verdana" panose="020B0604030504040204" pitchFamily="34" charset="0"/>
            </a:endParaRPr>
          </a:p>
          <a:p>
            <a:pPr marR="34290" fontAlgn="base">
              <a:buFont typeface="+mj-lt"/>
              <a:buAutoNum type="arabicPeriod"/>
            </a:pPr>
            <a:endParaRPr lang="en-US" sz="2400" dirty="0">
              <a:latin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B936E2BF-663E-1D4F-B9EE-3CE2F2BE4292}"/>
                  </a:ext>
                </a:extLst>
              </p:cNvPr>
              <p:cNvGraphicFramePr>
                <a:graphicFrameLocks noGrp="1"/>
              </p:cNvGraphicFramePr>
              <p:nvPr>
                <p:extLst>
                  <p:ext uri="{D42A27DB-BD31-4B8C-83A1-F6EECF244321}">
                    <p14:modId xmlns:p14="http://schemas.microsoft.com/office/powerpoint/2010/main" val="651526503"/>
                  </p:ext>
                </p:extLst>
              </p:nvPr>
            </p:nvGraphicFramePr>
            <p:xfrm>
              <a:off x="1492447" y="1601505"/>
              <a:ext cx="8778205" cy="4328160"/>
            </p:xfrm>
            <a:graphic>
              <a:graphicData uri="http://schemas.openxmlformats.org/drawingml/2006/table">
                <a:tbl>
                  <a:tblPr/>
                  <a:tblGrid>
                    <a:gridCol w="4663440">
                      <a:extLst>
                        <a:ext uri="{9D8B030D-6E8A-4147-A177-3AD203B41FA5}">
                          <a16:colId xmlns:a16="http://schemas.microsoft.com/office/drawing/2014/main" val="1565255306"/>
                        </a:ext>
                      </a:extLst>
                    </a:gridCol>
                    <a:gridCol w="1920205">
                      <a:extLst>
                        <a:ext uri="{9D8B030D-6E8A-4147-A177-3AD203B41FA5}">
                          <a16:colId xmlns:a16="http://schemas.microsoft.com/office/drawing/2014/main" val="1940369703"/>
                        </a:ext>
                      </a:extLst>
                    </a:gridCol>
                    <a:gridCol w="2194560">
                      <a:extLst>
                        <a:ext uri="{9D8B030D-6E8A-4147-A177-3AD203B41FA5}">
                          <a16:colId xmlns:a16="http://schemas.microsoft.com/office/drawing/2014/main" val="3945219942"/>
                        </a:ext>
                      </a:extLst>
                    </a:gridCol>
                  </a:tblGrid>
                  <a:tr h="514311">
                    <a:tc>
                      <a:txBody>
                        <a:bodyPr/>
                        <a:lstStyle/>
                        <a:p>
                          <a:pPr marR="34290" algn="ctr" rtl="0" fontAlgn="ctr">
                            <a:spcBef>
                              <a:spcPts val="0"/>
                            </a:spcBef>
                            <a:spcAft>
                              <a:spcPts val="0"/>
                            </a:spcAft>
                          </a:pPr>
                          <a:r>
                            <a:rPr lang="en-US" sz="2000" b="1" i="0" u="none" strike="noStrike" dirty="0">
                              <a:solidFill>
                                <a:srgbClr val="000000"/>
                              </a:solidFill>
                              <a:effectLst/>
                              <a:latin typeface="Verdana" panose="020B0604030504040204" pitchFamily="34" charset="0"/>
                            </a:rPr>
                            <a:t>Sample Surveyed</a:t>
                          </a:r>
                          <a:endParaRPr lang="en-US" sz="2000" dirty="0">
                            <a:effectLs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R="34290" algn="ctr" rtl="0" fontAlgn="ctr">
                            <a:spcBef>
                              <a:spcPts val="0"/>
                            </a:spcBef>
                            <a:spcAft>
                              <a:spcPts val="0"/>
                            </a:spcAft>
                          </a:pPr>
                          <a:r>
                            <a:rPr lang="en-US" sz="2000" b="1" i="0" u="none" strike="noStrike">
                              <a:solidFill>
                                <a:srgbClr val="000000"/>
                              </a:solidFill>
                              <a:effectLst/>
                              <a:latin typeface="Verdana" panose="020B0604030504040204" pitchFamily="34" charset="0"/>
                            </a:rPr>
                            <a:t>Benefits of this Method</a:t>
                          </a:r>
                          <a:endParaRPr lang="en-US" sz="2000">
                            <a:effectLs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R="34290" algn="ctr" rtl="0" fontAlgn="ctr">
                            <a:spcBef>
                              <a:spcPts val="0"/>
                            </a:spcBef>
                            <a:spcAft>
                              <a:spcPts val="0"/>
                            </a:spcAft>
                          </a:pPr>
                          <a:r>
                            <a:rPr lang="en-US" sz="2000" b="1" i="0" u="none" strike="noStrike" dirty="0">
                              <a:solidFill>
                                <a:srgbClr val="000000"/>
                              </a:solidFill>
                              <a:effectLst/>
                              <a:latin typeface="Verdana" panose="020B0604030504040204" pitchFamily="34" charset="0"/>
                            </a:rPr>
                            <a:t>Problems with this Method</a:t>
                          </a:r>
                          <a:endParaRPr lang="en-US" sz="2000" dirty="0">
                            <a:effectLs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902217286"/>
                      </a:ext>
                    </a:extLst>
                  </a:tr>
                  <a:tr h="914400">
                    <a:tc>
                      <a:txBody>
                        <a:bodyPr/>
                        <a:lstStyle/>
                        <a:p>
                          <a:pPr marR="34290" rtl="0" fontAlgn="t">
                            <a:spcBef>
                              <a:spcPts val="0"/>
                            </a:spcBef>
                            <a:spcAft>
                              <a:spcPts val="0"/>
                            </a:spcAft>
                          </a:pPr>
                          <a:r>
                            <a:rPr lang="en-US" sz="2000" b="1" i="0" u="none" strike="noStrike" dirty="0">
                              <a:solidFill>
                                <a:srgbClr val="000000"/>
                              </a:solidFill>
                              <a:effectLst/>
                              <a:latin typeface="Verdana" panose="020B0604030504040204" pitchFamily="34" charset="0"/>
                            </a:rPr>
                            <a:t>Method 1: </a:t>
                          </a:r>
                          <a:endParaRPr lang="en-US" sz="2000" dirty="0">
                            <a:effectLst/>
                          </a:endParaRPr>
                        </a:p>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Ask everyone on her basketball team who they are voting for.</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 </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 </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5898994"/>
                      </a:ext>
                    </a:extLst>
                  </a:tr>
                  <a:tr h="914400">
                    <a:tc>
                      <a:txBody>
                        <a:bodyPr/>
                        <a:lstStyle/>
                        <a:p>
                          <a:pPr marR="34290" rtl="0" fontAlgn="t">
                            <a:spcBef>
                              <a:spcPts val="0"/>
                            </a:spcBef>
                            <a:spcAft>
                              <a:spcPts val="0"/>
                            </a:spcAft>
                          </a:pPr>
                          <a:r>
                            <a:rPr lang="en-US" sz="2000" b="1" i="0" u="none" strike="noStrike" dirty="0">
                              <a:solidFill>
                                <a:srgbClr val="000000"/>
                              </a:solidFill>
                              <a:effectLst/>
                              <a:latin typeface="Verdana" panose="020B0604030504040204" pitchFamily="34" charset="0"/>
                            </a:rPr>
                            <a:t>Method 2: </a:t>
                          </a:r>
                          <a:endParaRPr lang="en-US" sz="2000" dirty="0">
                            <a:effectLst/>
                          </a:endParaRPr>
                        </a:p>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Ask every third girl waiting in the lunch line who they are voting for.</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 </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 </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483003"/>
                      </a:ext>
                    </a:extLst>
                  </a:tr>
                  <a:tr h="914400">
                    <a:tc>
                      <a:txBody>
                        <a:bodyPr/>
                        <a:lstStyle/>
                        <a:p>
                          <a:pPr marR="34290" rtl="0" fontAlgn="t">
                            <a:spcBef>
                              <a:spcPts val="0"/>
                            </a:spcBef>
                            <a:spcAft>
                              <a:spcPts val="0"/>
                            </a:spcAft>
                          </a:pPr>
                          <a:r>
                            <a:rPr lang="en-US" sz="2000" b="1" i="0" u="none" strike="noStrike" dirty="0">
                              <a:solidFill>
                                <a:srgbClr val="000000"/>
                              </a:solidFill>
                              <a:effectLst/>
                              <a:latin typeface="Verdana" panose="020B0604030504040204" pitchFamily="34" charset="0"/>
                            </a:rPr>
                            <a:t>Method 3:</a:t>
                          </a:r>
                          <a:endParaRPr lang="en-US" sz="2000" dirty="0">
                            <a:effectLst/>
                          </a:endParaRPr>
                        </a:p>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Ask the first </a:t>
                          </a:r>
                          <a14:m>
                            <m:oMath xmlns:m="http://schemas.openxmlformats.org/officeDocument/2006/math">
                              <m:r>
                                <a:rPr lang="en-US" sz="2000" b="0" i="1" u="none" strike="noStrike" dirty="0" smtClean="0">
                                  <a:solidFill>
                                    <a:srgbClr val="000000"/>
                                  </a:solidFill>
                                  <a:effectLst/>
                                  <a:latin typeface="Cambria Math"/>
                                </a:rPr>
                                <m:t>15</m:t>
                              </m:r>
                            </m:oMath>
                          </a14:m>
                          <a:r>
                            <a:rPr lang="en-US" sz="2000" b="0" i="0" u="none" strike="noStrike" dirty="0">
                              <a:solidFill>
                                <a:srgbClr val="000000"/>
                              </a:solidFill>
                              <a:effectLst/>
                              <a:latin typeface="Verdana" panose="020B0604030504040204" pitchFamily="34" charset="0"/>
                            </a:rPr>
                            <a:t> seventh graders to arrive at school one morning who they are voting for.</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 </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 </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6801626"/>
                      </a:ext>
                    </a:extLst>
                  </a:tr>
                </a:tbl>
              </a:graphicData>
            </a:graphic>
          </p:graphicFrame>
        </mc:Choice>
        <mc:Fallback xmlns="">
          <p:graphicFrame>
            <p:nvGraphicFramePr>
              <p:cNvPr id="4" name="Table 3">
                <a:extLst>
                  <a:ext uri="{FF2B5EF4-FFF2-40B4-BE49-F238E27FC236}">
                    <a16:creationId xmlns:a16="http://schemas.microsoft.com/office/drawing/2014/main" xmlns="" id="{B936E2BF-663E-1D4F-B9EE-3CE2F2BE4292}"/>
                  </a:ext>
                </a:extLst>
              </p:cNvPr>
              <p:cNvGraphicFramePr>
                <a:graphicFrameLocks noGrp="1"/>
              </p:cNvGraphicFramePr>
              <p:nvPr>
                <p:extLst>
                  <p:ext uri="{D42A27DB-BD31-4B8C-83A1-F6EECF244321}">
                    <p14:modId xmlns:p14="http://schemas.microsoft.com/office/powerpoint/2010/main" val="651526503"/>
                  </p:ext>
                </p:extLst>
              </p:nvPr>
            </p:nvGraphicFramePr>
            <p:xfrm>
              <a:off x="1492447" y="1601505"/>
              <a:ext cx="8778205" cy="4328160"/>
            </p:xfrm>
            <a:graphic>
              <a:graphicData uri="http://schemas.openxmlformats.org/drawingml/2006/table">
                <a:tbl>
                  <a:tblPr/>
                  <a:tblGrid>
                    <a:gridCol w="4663440">
                      <a:extLst>
                        <a:ext uri="{9D8B030D-6E8A-4147-A177-3AD203B41FA5}">
                          <a16:colId xmlns:a16="http://schemas.microsoft.com/office/drawing/2014/main" xmlns="" val="1565255306"/>
                        </a:ext>
                      </a:extLst>
                    </a:gridCol>
                    <a:gridCol w="1920205">
                      <a:extLst>
                        <a:ext uri="{9D8B030D-6E8A-4147-A177-3AD203B41FA5}">
                          <a16:colId xmlns:a16="http://schemas.microsoft.com/office/drawing/2014/main" xmlns="" val="1940369703"/>
                        </a:ext>
                      </a:extLst>
                    </a:gridCol>
                    <a:gridCol w="2194560">
                      <a:extLst>
                        <a:ext uri="{9D8B030D-6E8A-4147-A177-3AD203B41FA5}">
                          <a16:colId xmlns:a16="http://schemas.microsoft.com/office/drawing/2014/main" xmlns="" val="3945219942"/>
                        </a:ext>
                      </a:extLst>
                    </a:gridCol>
                  </a:tblGrid>
                  <a:tr h="1005840">
                    <a:tc>
                      <a:txBody>
                        <a:bodyPr/>
                        <a:lstStyle/>
                        <a:p>
                          <a:pPr marR="34290" algn="ctr" rtl="0" fontAlgn="ctr">
                            <a:spcBef>
                              <a:spcPts val="0"/>
                            </a:spcBef>
                            <a:spcAft>
                              <a:spcPts val="0"/>
                            </a:spcAft>
                          </a:pPr>
                          <a:r>
                            <a:rPr lang="en-US" sz="2000" b="1" i="0" u="none" strike="noStrike" dirty="0">
                              <a:solidFill>
                                <a:srgbClr val="000000"/>
                              </a:solidFill>
                              <a:effectLst/>
                              <a:latin typeface="Verdana" panose="020B0604030504040204" pitchFamily="34" charset="0"/>
                            </a:rPr>
                            <a:t>Sample Surveyed</a:t>
                          </a:r>
                          <a:endParaRPr lang="en-US" sz="2000" dirty="0">
                            <a:effectLs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R="34290" algn="ctr" rtl="0" fontAlgn="ctr">
                            <a:spcBef>
                              <a:spcPts val="0"/>
                            </a:spcBef>
                            <a:spcAft>
                              <a:spcPts val="0"/>
                            </a:spcAft>
                          </a:pPr>
                          <a:r>
                            <a:rPr lang="en-US" sz="2000" b="1" i="0" u="none" strike="noStrike">
                              <a:solidFill>
                                <a:srgbClr val="000000"/>
                              </a:solidFill>
                              <a:effectLst/>
                              <a:latin typeface="Verdana" panose="020B0604030504040204" pitchFamily="34" charset="0"/>
                            </a:rPr>
                            <a:t>Benefits of this Method</a:t>
                          </a:r>
                          <a:endParaRPr lang="en-US" sz="2000">
                            <a:effectLs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R="34290" algn="ctr" rtl="0" fontAlgn="ctr">
                            <a:spcBef>
                              <a:spcPts val="0"/>
                            </a:spcBef>
                            <a:spcAft>
                              <a:spcPts val="0"/>
                            </a:spcAft>
                          </a:pPr>
                          <a:r>
                            <a:rPr lang="en-US" sz="2000" b="1" i="0" u="none" strike="noStrike" dirty="0">
                              <a:solidFill>
                                <a:srgbClr val="000000"/>
                              </a:solidFill>
                              <a:effectLst/>
                              <a:latin typeface="Verdana" panose="020B0604030504040204" pitchFamily="34" charset="0"/>
                            </a:rPr>
                            <a:t>Problems with this Method</a:t>
                          </a:r>
                          <a:endParaRPr lang="en-US" sz="2000" dirty="0">
                            <a:effectLs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1902217286"/>
                      </a:ext>
                    </a:extLst>
                  </a:tr>
                  <a:tr h="1005840">
                    <a:tc>
                      <a:txBody>
                        <a:bodyPr/>
                        <a:lstStyle/>
                        <a:p>
                          <a:pPr marR="34290" rtl="0" fontAlgn="t">
                            <a:spcBef>
                              <a:spcPts val="0"/>
                            </a:spcBef>
                            <a:spcAft>
                              <a:spcPts val="0"/>
                            </a:spcAft>
                          </a:pPr>
                          <a:r>
                            <a:rPr lang="en-US" sz="2000" b="1" i="0" u="none" strike="noStrike" dirty="0">
                              <a:solidFill>
                                <a:srgbClr val="000000"/>
                              </a:solidFill>
                              <a:effectLst/>
                              <a:latin typeface="Verdana" panose="020B0604030504040204" pitchFamily="34" charset="0"/>
                            </a:rPr>
                            <a:t>Method 1: </a:t>
                          </a:r>
                          <a:endParaRPr lang="en-US" sz="2000" dirty="0">
                            <a:effectLst/>
                          </a:endParaRPr>
                        </a:p>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Ask everyone on her basketball team who they are voting for.</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 </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 </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45898994"/>
                      </a:ext>
                    </a:extLst>
                  </a:tr>
                  <a:tr h="1005840">
                    <a:tc>
                      <a:txBody>
                        <a:bodyPr/>
                        <a:lstStyle/>
                        <a:p>
                          <a:pPr marR="34290" rtl="0" fontAlgn="t">
                            <a:spcBef>
                              <a:spcPts val="0"/>
                            </a:spcBef>
                            <a:spcAft>
                              <a:spcPts val="0"/>
                            </a:spcAft>
                          </a:pPr>
                          <a:r>
                            <a:rPr lang="en-US" sz="2000" b="1" i="0" u="none" strike="noStrike" dirty="0">
                              <a:solidFill>
                                <a:srgbClr val="000000"/>
                              </a:solidFill>
                              <a:effectLst/>
                              <a:latin typeface="Verdana" panose="020B0604030504040204" pitchFamily="34" charset="0"/>
                            </a:rPr>
                            <a:t>Method 2: </a:t>
                          </a:r>
                          <a:endParaRPr lang="en-US" sz="2000" dirty="0">
                            <a:effectLst/>
                          </a:endParaRPr>
                        </a:p>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Ask every third girl waiting in the lunch line who they are voting for.</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 </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 </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6483003"/>
                      </a:ext>
                    </a:extLst>
                  </a:tr>
                  <a:tr h="13106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31" t="-232558" r="-88235" b="-8372"/>
                          </a:stretch>
                        </a:blipFill>
                      </a:tcPr>
                    </a:tc>
                    <a:tc>
                      <a:txBody>
                        <a:bodyPr/>
                        <a:lstStyle/>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 </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R="34290" rtl="0" fontAlgn="t">
                            <a:spcBef>
                              <a:spcPts val="0"/>
                            </a:spcBef>
                            <a:spcAft>
                              <a:spcPts val="0"/>
                            </a:spcAft>
                          </a:pPr>
                          <a:r>
                            <a:rPr lang="en-US" sz="2000" b="0" i="0" u="none" strike="noStrike" dirty="0">
                              <a:solidFill>
                                <a:srgbClr val="000000"/>
                              </a:solidFill>
                              <a:effectLst/>
                              <a:latin typeface="Verdana" panose="020B0604030504040204" pitchFamily="34" charset="0"/>
                            </a:rPr>
                            <a:t> </a:t>
                          </a:r>
                          <a:endParaRPr lang="en-US" sz="20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976801626"/>
                      </a:ext>
                    </a:extLst>
                  </a:tr>
                </a:tbl>
              </a:graphicData>
            </a:graphic>
          </p:graphicFrame>
        </mc:Fallback>
      </mc:AlternateContent>
      <p:sp>
        <p:nvSpPr>
          <p:cNvPr id="5" name="Rectangle 2">
            <a:extLst>
              <a:ext uri="{FF2B5EF4-FFF2-40B4-BE49-F238E27FC236}">
                <a16:creationId xmlns:a16="http://schemas.microsoft.com/office/drawing/2014/main" id="{BD6767A7-73A2-D046-8727-482B0A7C53D2}"/>
              </a:ext>
            </a:extLst>
          </p:cNvPr>
          <p:cNvSpPr>
            <a:spLocks noChangeArrowheads="1"/>
          </p:cNvSpPr>
          <p:nvPr/>
        </p:nvSpPr>
        <p:spPr bwMode="auto">
          <a:xfrm>
            <a:off x="3249614" y="1900337"/>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039266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07" name="Google Shape;207;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08" name="Google Shape;208;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182</a:t>
            </a:r>
            <a:endParaRPr i="1" dirty="0">
              <a:latin typeface="Calibri"/>
              <a:ea typeface="Calibri"/>
              <a:cs typeface="Calibri"/>
              <a:sym typeface="Calibri"/>
            </a:endParaRPr>
          </a:p>
        </p:txBody>
      </p:sp>
      <p:sp>
        <p:nvSpPr>
          <p:cNvPr id="209" name="Google Shape;209;p8"/>
          <p:cNvSpPr txBox="1"/>
          <p:nvPr/>
        </p:nvSpPr>
        <p:spPr>
          <a:xfrm>
            <a:off x="914400" y="326052"/>
            <a:ext cx="10515600" cy="2677616"/>
          </a:xfrm>
          <a:prstGeom prst="rect">
            <a:avLst/>
          </a:prstGeom>
          <a:noFill/>
          <a:ln>
            <a:noFill/>
          </a:ln>
        </p:spPr>
        <p:txBody>
          <a:bodyPr spcFirstLastPara="1" wrap="square" lIns="91425" tIns="45700" rIns="91425" bIns="45700" anchor="t" anchorCtr="0">
            <a:spAutoFit/>
          </a:bodyPr>
          <a:lstStyle/>
          <a:p>
            <a:pPr marL="457200" marR="3429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How could the different methods for selecting a sample in Scenario 1 lead to different conclusions about the population?</a:t>
            </a:r>
          </a:p>
          <a:p>
            <a:pPr marL="457200" marR="3429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marR="3429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marR="3429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Explain which of the methods listed in the table would be the most likely to produce a sample that is representative of the population.</a:t>
            </a:r>
            <a:endParaRPr lang="en-US" sz="2400" dirty="0">
              <a:latin typeface="Verdana" panose="020B0604030504040204" pitchFamily="34" charset="0"/>
            </a:endParaRPr>
          </a:p>
        </p:txBody>
      </p:sp>
      <p:sp>
        <p:nvSpPr>
          <p:cNvPr id="5" name="Rectangle 2">
            <a:extLst>
              <a:ext uri="{FF2B5EF4-FFF2-40B4-BE49-F238E27FC236}">
                <a16:creationId xmlns:a16="http://schemas.microsoft.com/office/drawing/2014/main" id="{BD6767A7-73A2-D046-8727-482B0A7C53D2}"/>
              </a:ext>
            </a:extLst>
          </p:cNvPr>
          <p:cNvSpPr>
            <a:spLocks noChangeArrowheads="1"/>
          </p:cNvSpPr>
          <p:nvPr/>
        </p:nvSpPr>
        <p:spPr bwMode="auto">
          <a:xfrm>
            <a:off x="3249614" y="1900337"/>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652617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07" name="Google Shape;207;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08" name="Google Shape;208;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182</a:t>
            </a:r>
            <a:endParaRPr i="1" dirty="0">
              <a:latin typeface="Calibri"/>
              <a:ea typeface="Calibri"/>
              <a:cs typeface="Calibri"/>
              <a:sym typeface="Calibri"/>
            </a:endParaRPr>
          </a:p>
        </p:txBody>
      </p:sp>
      <p:sp>
        <p:nvSpPr>
          <p:cNvPr id="209" name="Google Shape;209;p8"/>
          <p:cNvSpPr txBox="1"/>
          <p:nvPr/>
        </p:nvSpPr>
        <p:spPr>
          <a:xfrm>
            <a:off x="914400" y="326052"/>
            <a:ext cx="10515600" cy="830956"/>
          </a:xfrm>
          <a:prstGeom prst="rect">
            <a:avLst/>
          </a:prstGeom>
          <a:noFill/>
          <a:ln>
            <a:noFill/>
          </a:ln>
        </p:spPr>
        <p:txBody>
          <a:bodyPr spcFirstLastPara="1" wrap="square" lIns="91425" tIns="45700" rIns="91425" bIns="45700" anchor="t" anchorCtr="0">
            <a:spAutoFit/>
          </a:bodyPr>
          <a:lstStyle/>
          <a:p>
            <a:pPr marL="457200" marR="3429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With your partner, determine a better way to select a sample for this study.</a:t>
            </a:r>
          </a:p>
        </p:txBody>
      </p:sp>
      <p:sp>
        <p:nvSpPr>
          <p:cNvPr id="5" name="Rectangle 2">
            <a:extLst>
              <a:ext uri="{FF2B5EF4-FFF2-40B4-BE49-F238E27FC236}">
                <a16:creationId xmlns:a16="http://schemas.microsoft.com/office/drawing/2014/main" id="{BD6767A7-73A2-D046-8727-482B0A7C53D2}"/>
              </a:ext>
            </a:extLst>
          </p:cNvPr>
          <p:cNvSpPr>
            <a:spLocks noChangeArrowheads="1"/>
          </p:cNvSpPr>
          <p:nvPr/>
        </p:nvSpPr>
        <p:spPr bwMode="auto">
          <a:xfrm>
            <a:off x="3249614" y="1900337"/>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40582304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07" name="Google Shape;207;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08" name="Google Shape;208;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182</a:t>
            </a:r>
            <a:endParaRPr i="1" dirty="0">
              <a:latin typeface="Calibri"/>
              <a:ea typeface="Calibri"/>
              <a:cs typeface="Calibri"/>
              <a:sym typeface="Calibri"/>
            </a:endParaRPr>
          </a:p>
        </p:txBody>
      </p:sp>
      <p:sp>
        <p:nvSpPr>
          <p:cNvPr id="209" name="Google Shape;209;p8"/>
          <p:cNvSpPr txBox="1"/>
          <p:nvPr/>
        </p:nvSpPr>
        <p:spPr>
          <a:xfrm>
            <a:off x="914400" y="326051"/>
            <a:ext cx="10515600" cy="1569620"/>
          </a:xfrm>
          <a:prstGeom prst="rect">
            <a:avLst/>
          </a:prstGeom>
          <a:noFill/>
          <a:ln>
            <a:noFill/>
          </a:ln>
        </p:spPr>
        <p:txBody>
          <a:bodyPr spcFirstLastPara="1" wrap="square" lIns="91425" tIns="45700" rIns="91425" bIns="45700" anchor="t" anchorCtr="0">
            <a:spAutoFit/>
          </a:bodyPr>
          <a:lstStyle/>
          <a:p>
            <a:pPr marR="34290" fontAlgn="base"/>
            <a:r>
              <a:rPr lang="en-US" sz="2400" b="1" dirty="0">
                <a:latin typeface="Verdana" panose="020B0604030504040204" pitchFamily="34" charset="0"/>
              </a:rPr>
              <a:t>Scenario 2: </a:t>
            </a:r>
            <a:r>
              <a:rPr lang="en-US" sz="2400" dirty="0" err="1">
                <a:latin typeface="Verdana" panose="020B0604030504040204" pitchFamily="34" charset="0"/>
              </a:rPr>
              <a:t>Maneet</a:t>
            </a:r>
            <a:r>
              <a:rPr lang="en-US" sz="2400" dirty="0">
                <a:latin typeface="Verdana" panose="020B0604030504040204" pitchFamily="34" charset="0"/>
              </a:rPr>
              <a:t>, a nutritionist, wants to collect data on how much caffeine the average American drinks per day. She works with three of her colleagues to decide how to survey a sample of the population.</a:t>
            </a:r>
          </a:p>
        </p:txBody>
      </p:sp>
      <p:sp>
        <p:nvSpPr>
          <p:cNvPr id="5" name="Rectangle 2">
            <a:extLst>
              <a:ext uri="{FF2B5EF4-FFF2-40B4-BE49-F238E27FC236}">
                <a16:creationId xmlns:a16="http://schemas.microsoft.com/office/drawing/2014/main" id="{BD6767A7-73A2-D046-8727-482B0A7C53D2}"/>
              </a:ext>
            </a:extLst>
          </p:cNvPr>
          <p:cNvSpPr>
            <a:spLocks noChangeArrowheads="1"/>
          </p:cNvSpPr>
          <p:nvPr/>
        </p:nvSpPr>
        <p:spPr bwMode="auto">
          <a:xfrm>
            <a:off x="3249614" y="1900337"/>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8B411226-07EE-9544-9FBC-A6A687C72CD2}"/>
                  </a:ext>
                </a:extLst>
              </p:cNvPr>
              <p:cNvGraphicFramePr>
                <a:graphicFrameLocks noGrp="1"/>
              </p:cNvGraphicFramePr>
              <p:nvPr>
                <p:extLst>
                  <p:ext uri="{D42A27DB-BD31-4B8C-83A1-F6EECF244321}">
                    <p14:modId xmlns:p14="http://schemas.microsoft.com/office/powerpoint/2010/main" val="171394690"/>
                  </p:ext>
                </p:extLst>
              </p:nvPr>
            </p:nvGraphicFramePr>
            <p:xfrm>
              <a:off x="2686050" y="2285206"/>
              <a:ext cx="7035165" cy="2926080"/>
            </p:xfrm>
            <a:graphic>
              <a:graphicData uri="http://schemas.openxmlformats.org/drawingml/2006/table">
                <a:tbl>
                  <a:tblPr/>
                  <a:tblGrid>
                    <a:gridCol w="3749040">
                      <a:extLst>
                        <a:ext uri="{9D8B030D-6E8A-4147-A177-3AD203B41FA5}">
                          <a16:colId xmlns:a16="http://schemas.microsoft.com/office/drawing/2014/main" val="1046925559"/>
                        </a:ext>
                      </a:extLst>
                    </a:gridCol>
                    <a:gridCol w="3286125">
                      <a:extLst>
                        <a:ext uri="{9D8B030D-6E8A-4147-A177-3AD203B41FA5}">
                          <a16:colId xmlns:a16="http://schemas.microsoft.com/office/drawing/2014/main" val="732432447"/>
                        </a:ext>
                      </a:extLst>
                    </a:gridCol>
                  </a:tblGrid>
                  <a:tr h="294640">
                    <a:tc>
                      <a:txBody>
                        <a:bodyPr/>
                        <a:lstStyle/>
                        <a:p>
                          <a:pPr marR="34290" algn="ctr" rtl="0" fontAlgn="ctr">
                            <a:spcBef>
                              <a:spcPts val="0"/>
                            </a:spcBef>
                            <a:spcAft>
                              <a:spcPts val="0"/>
                            </a:spcAft>
                          </a:pPr>
                          <a:r>
                            <a:rPr lang="en-US" sz="20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Method 1</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R="34290" algn="ctr" rtl="0" fontAlgn="ctr">
                            <a:spcBef>
                              <a:spcPts val="0"/>
                            </a:spcBef>
                            <a:spcAft>
                              <a:spcPts val="0"/>
                            </a:spcAft>
                          </a:pPr>
                          <a:r>
                            <a:rPr lang="en-US" sz="2000" b="1"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rPr>
                            <a:t>Method 2</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755182021"/>
                      </a:ext>
                    </a:extLst>
                  </a:tr>
                  <a:tr h="2152015">
                    <a:tc>
                      <a:txBody>
                        <a:bodyPr/>
                        <a:lstStyle/>
                        <a:p>
                          <a:pPr marR="34290" rtl="0" fontAlgn="ctr">
                            <a:spcBef>
                              <a:spcPts val="0"/>
                            </a:spcBef>
                            <a:spcAft>
                              <a:spcPts val="0"/>
                            </a:spcAft>
                          </a:pPr>
                          <a:r>
                            <a:rPr lang="en-US" sz="2000" b="0" i="0" u="none" strike="noStrike"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Maneet</a:t>
                          </a:r>
                          <a:r>
                            <a:rPr lang="en-US" sz="20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and </a:t>
                          </a:r>
                          <a:r>
                            <a:rPr lang="en-US" sz="2000" b="0" i="0" u="none" strike="noStrike"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Diarmaid</a:t>
                          </a:r>
                          <a:r>
                            <a:rPr lang="en-US" sz="20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believe the best way to survey is to ask the first </a:t>
                          </a:r>
                          <a:br>
                            <a:rPr lang="en-US" sz="20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b="0" i="1" u="none" strike="noStrike" dirty="0" smtClean="0">
                                  <a:solidFill>
                                    <a:srgbClr val="000000"/>
                                  </a:solidFill>
                                  <a:effectLst/>
                                  <a:latin typeface="Cambria Math"/>
                                  <a:ea typeface="Verdana" panose="020B0604030504040204" pitchFamily="34" charset="0"/>
                                  <a:cs typeface="Verdana" panose="020B0604030504040204" pitchFamily="34" charset="0"/>
                                </a:rPr>
                                <m:t>20</m:t>
                              </m:r>
                            </m:oMath>
                          </a14:m>
                          <a:r>
                            <a:rPr lang="en-US" sz="20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adults who arrive at a grocery store after </a:t>
                          </a:r>
                          <a:br>
                            <a:rPr lang="en-US" sz="20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b="0" i="1" u="none" strike="noStrike" dirty="0" smtClean="0">
                                  <a:solidFill>
                                    <a:srgbClr val="000000"/>
                                  </a:solidFill>
                                  <a:effectLst/>
                                  <a:latin typeface="Cambria Math"/>
                                  <a:ea typeface="Verdana" panose="020B0604030504040204" pitchFamily="34" charset="0"/>
                                  <a:cs typeface="Verdana" panose="020B0604030504040204" pitchFamily="34" charset="0"/>
                                </a:rPr>
                                <m:t>10:00</m:t>
                              </m:r>
                            </m:oMath>
                          </a14:m>
                          <a:r>
                            <a:rPr lang="en-US" sz="20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A.M. about the average amount of caffeine they consume each day.</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R="34290" rtl="0" fontAlgn="ctr">
                            <a:spcBef>
                              <a:spcPts val="0"/>
                            </a:spcBef>
                            <a:spcAft>
                              <a:spcPts val="0"/>
                            </a:spcAft>
                          </a:pPr>
                          <a:r>
                            <a:rPr lang="en-US" sz="20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Faith and Santiago would rather ask the first adult who comes into a coffee shop every </a:t>
                          </a:r>
                          <a14:m>
                            <m:oMath xmlns:m="http://schemas.openxmlformats.org/officeDocument/2006/math">
                              <m:r>
                                <a:rPr lang="en-US" sz="2000" b="0" i="1" u="none" strike="noStrike" dirty="0" smtClean="0">
                                  <a:solidFill>
                                    <a:srgbClr val="000000"/>
                                  </a:solidFill>
                                  <a:effectLst/>
                                  <a:latin typeface="Cambria Math"/>
                                  <a:ea typeface="Verdana" panose="020B0604030504040204" pitchFamily="34" charset="0"/>
                                  <a:cs typeface="Verdana" panose="020B0604030504040204" pitchFamily="34" charset="0"/>
                                </a:rPr>
                                <m:t>30</m:t>
                              </m:r>
                            </m:oMath>
                          </a14:m>
                          <a:r>
                            <a:rPr lang="en-US" sz="20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minutes about the average amount of caffeine they consume each day.</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6500907"/>
                      </a:ext>
                    </a:extLst>
                  </a:tr>
                </a:tbl>
              </a:graphicData>
            </a:graphic>
          </p:graphicFrame>
        </mc:Choice>
        <mc:Fallback xmlns="">
          <p:graphicFrame>
            <p:nvGraphicFramePr>
              <p:cNvPr id="3" name="Table 2">
                <a:extLst>
                  <a:ext uri="{FF2B5EF4-FFF2-40B4-BE49-F238E27FC236}">
                    <a16:creationId xmlns="" xmlns:a16="http://schemas.microsoft.com/office/drawing/2014/main" id="{8B411226-07EE-9544-9FBC-A6A687C72CD2}"/>
                  </a:ext>
                </a:extLst>
              </p:cNvPr>
              <p:cNvGraphicFramePr>
                <a:graphicFrameLocks noGrp="1"/>
              </p:cNvGraphicFramePr>
              <p:nvPr>
                <p:extLst>
                  <p:ext uri="{D42A27DB-BD31-4B8C-83A1-F6EECF244321}">
                    <p14:modId xmlns:p14="http://schemas.microsoft.com/office/powerpoint/2010/main" val="171394690"/>
                  </p:ext>
                </p:extLst>
              </p:nvPr>
            </p:nvGraphicFramePr>
            <p:xfrm>
              <a:off x="2686050" y="2285206"/>
              <a:ext cx="7035165" cy="2926080"/>
            </p:xfrm>
            <a:graphic>
              <a:graphicData uri="http://schemas.openxmlformats.org/drawingml/2006/table">
                <a:tbl>
                  <a:tblPr/>
                  <a:tblGrid>
                    <a:gridCol w="3749040">
                      <a:extLst>
                        <a:ext uri="{9D8B030D-6E8A-4147-A177-3AD203B41FA5}">
                          <a16:colId xmlns="" xmlns:a16="http://schemas.microsoft.com/office/drawing/2014/main" val="1046925559"/>
                        </a:ext>
                      </a:extLst>
                    </a:gridCol>
                    <a:gridCol w="3286125">
                      <a:extLst>
                        <a:ext uri="{9D8B030D-6E8A-4147-A177-3AD203B41FA5}">
                          <a16:colId xmlns="" xmlns:a16="http://schemas.microsoft.com/office/drawing/2014/main" val="732432447"/>
                        </a:ext>
                      </a:extLst>
                    </a:gridCol>
                  </a:tblGrid>
                  <a:tr h="396240">
                    <a:tc>
                      <a:txBody>
                        <a:bodyPr/>
                        <a:lstStyle/>
                        <a:p>
                          <a:pPr marR="34290" algn="ctr" rtl="0" fontAlgn="ctr">
                            <a:spcBef>
                              <a:spcPts val="0"/>
                            </a:spcBef>
                            <a:spcAft>
                              <a:spcPts val="0"/>
                            </a:spcAft>
                          </a:pPr>
                          <a:r>
                            <a:rPr lang="en-US" sz="20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Method 1</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R="34290" algn="ctr" rtl="0" fontAlgn="ctr">
                            <a:spcBef>
                              <a:spcPts val="0"/>
                            </a:spcBef>
                            <a:spcAft>
                              <a:spcPts val="0"/>
                            </a:spcAft>
                          </a:pPr>
                          <a:r>
                            <a:rPr lang="en-US" sz="2000" b="1"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rPr>
                            <a:t>Method 2</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755182021"/>
                      </a:ext>
                    </a:extLst>
                  </a:tr>
                  <a:tr h="2529840">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63" t="-16867" r="-87642" b="-4337"/>
                          </a:stretch>
                        </a:blipFill>
                      </a:tcPr>
                    </a:tc>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14286" t="-16867" b="-4337"/>
                          </a:stretch>
                        </a:blipFill>
                      </a:tcPr>
                    </a:tc>
                    <a:extLst>
                      <a:ext uri="{0D108BD9-81ED-4DB2-BD59-A6C34878D82A}">
                        <a16:rowId xmlns="" xmlns:a16="http://schemas.microsoft.com/office/drawing/2014/main" val="476500907"/>
                      </a:ext>
                    </a:extLst>
                  </a:tr>
                </a:tbl>
              </a:graphicData>
            </a:graphic>
          </p:graphicFrame>
        </mc:Fallback>
      </mc:AlternateContent>
      <p:sp>
        <p:nvSpPr>
          <p:cNvPr id="4" name="Rectangle 1">
            <a:extLst>
              <a:ext uri="{FF2B5EF4-FFF2-40B4-BE49-F238E27FC236}">
                <a16:creationId xmlns:a16="http://schemas.microsoft.com/office/drawing/2014/main" id="{035BC0C7-1157-F442-A71F-AAAACDAB87F3}"/>
              </a:ext>
            </a:extLst>
          </p:cNvPr>
          <p:cNvSpPr>
            <a:spLocks noChangeArrowheads="1"/>
          </p:cNvSpPr>
          <p:nvPr/>
        </p:nvSpPr>
        <p:spPr bwMode="auto">
          <a:xfrm>
            <a:off x="2686051" y="2647049"/>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br>
              <a:rPr lang="en-US" altLang="en-US" sz="1800">
                <a:solidFill>
                  <a:schemeClr val="tx1"/>
                </a:solidFill>
                <a:latin typeface="Arial" panose="020B0604020202020204" pitchFamily="34" charset="0"/>
              </a:rPr>
            </a:br>
            <a:endParaRPr lang="en-US" altLang="en-US" sz="1800">
              <a:solidFill>
                <a:schemeClr val="tx1"/>
              </a:solidFill>
              <a:latin typeface="Arial" panose="020B0604020202020204" pitchFamily="34" charset="0"/>
            </a:endParaRPr>
          </a:p>
        </p:txBody>
      </p:sp>
    </p:spTree>
    <p:extLst>
      <p:ext uri="{BB962C8B-B14F-4D97-AF65-F5344CB8AC3E}">
        <p14:creationId xmlns:p14="http://schemas.microsoft.com/office/powerpoint/2010/main" val="25371264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07" name="Google Shape;207;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08" name="Google Shape;208;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182</a:t>
            </a:r>
            <a:endParaRPr i="1" dirty="0">
              <a:latin typeface="Calibri"/>
              <a:ea typeface="Calibri"/>
              <a:cs typeface="Calibri"/>
              <a:sym typeface="Calibri"/>
            </a:endParaRPr>
          </a:p>
        </p:txBody>
      </p:sp>
      <p:sp>
        <p:nvSpPr>
          <p:cNvPr id="209" name="Google Shape;209;p8"/>
          <p:cNvSpPr txBox="1"/>
          <p:nvPr/>
        </p:nvSpPr>
        <p:spPr>
          <a:xfrm>
            <a:off x="914400" y="326051"/>
            <a:ext cx="10515600" cy="830956"/>
          </a:xfrm>
          <a:prstGeom prst="rect">
            <a:avLst/>
          </a:prstGeom>
          <a:noFill/>
          <a:ln>
            <a:noFill/>
          </a:ln>
        </p:spPr>
        <p:txBody>
          <a:bodyPr spcFirstLastPara="1" wrap="square" lIns="91425" tIns="45700" rIns="91425" bIns="45700" anchor="t" anchorCtr="0">
            <a:spAutoFit/>
          </a:bodyPr>
          <a:lstStyle/>
          <a:p>
            <a:pPr marL="457200" marR="3429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What recommendation(s) would you give to this committee about how to select the most representative sample?</a:t>
            </a:r>
            <a:endParaRPr lang="en-US" sz="2400" dirty="0">
              <a:latin typeface="Verdana" panose="020B0604030504040204" pitchFamily="34" charset="0"/>
            </a:endParaRPr>
          </a:p>
        </p:txBody>
      </p:sp>
      <p:sp>
        <p:nvSpPr>
          <p:cNvPr id="5" name="Rectangle 2">
            <a:extLst>
              <a:ext uri="{FF2B5EF4-FFF2-40B4-BE49-F238E27FC236}">
                <a16:creationId xmlns:a16="http://schemas.microsoft.com/office/drawing/2014/main" id="{BD6767A7-73A2-D046-8727-482B0A7C53D2}"/>
              </a:ext>
            </a:extLst>
          </p:cNvPr>
          <p:cNvSpPr>
            <a:spLocks noChangeArrowheads="1"/>
          </p:cNvSpPr>
          <p:nvPr/>
        </p:nvSpPr>
        <p:spPr bwMode="auto">
          <a:xfrm>
            <a:off x="3249614" y="1900337"/>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1">
            <a:extLst>
              <a:ext uri="{FF2B5EF4-FFF2-40B4-BE49-F238E27FC236}">
                <a16:creationId xmlns:a16="http://schemas.microsoft.com/office/drawing/2014/main" id="{035BC0C7-1157-F442-A71F-AAAACDAB87F3}"/>
              </a:ext>
            </a:extLst>
          </p:cNvPr>
          <p:cNvSpPr>
            <a:spLocks noChangeArrowheads="1"/>
          </p:cNvSpPr>
          <p:nvPr/>
        </p:nvSpPr>
        <p:spPr bwMode="auto">
          <a:xfrm>
            <a:off x="2686051" y="2647049"/>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br>
              <a:rPr lang="en-US" altLang="en-US" sz="1800">
                <a:solidFill>
                  <a:schemeClr val="tx1"/>
                </a:solidFill>
                <a:latin typeface="Arial" panose="020B0604020202020204" pitchFamily="34" charset="0"/>
              </a:rPr>
            </a:br>
            <a:endParaRPr lang="en-US" altLang="en-US" sz="1800">
              <a:solidFill>
                <a:schemeClr val="tx1"/>
              </a:solidFill>
              <a:latin typeface="Arial" panose="020B0604020202020204" pitchFamily="34" charset="0"/>
            </a:endParaRPr>
          </a:p>
        </p:txBody>
      </p:sp>
    </p:spTree>
    <p:extLst>
      <p:ext uri="{BB962C8B-B14F-4D97-AF65-F5344CB8AC3E}">
        <p14:creationId xmlns:p14="http://schemas.microsoft.com/office/powerpoint/2010/main" val="473275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216" name="Google Shape;216;p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18" name="Google Shape;218;p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 pg. #</a:t>
            </a:r>
            <a:endParaRPr i="1">
              <a:latin typeface="Calibri"/>
              <a:ea typeface="Calibri"/>
              <a:cs typeface="Calibri"/>
              <a:sym typeface="Calibri"/>
            </a:endParaRPr>
          </a:p>
        </p:txBody>
      </p:sp>
      <p:sp>
        <p:nvSpPr>
          <p:cNvPr id="7" name="Google Shape;313;g104476d1465_1_39"/>
          <p:cNvSpPr txBox="1">
            <a:spLocks/>
          </p:cNvSpPr>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3BEA6"/>
                </a:solidFill>
                <a:latin typeface="Verdana"/>
                <a:ea typeface="Verdana"/>
                <a:cs typeface="Verdana"/>
                <a:sym typeface="Verdana"/>
              </a:rPr>
              <a:t>Exploration</a:t>
            </a:r>
            <a:endParaRPr lang="en-US" sz="5100" b="1" dirty="0">
              <a:solidFill>
                <a:srgbClr val="33BEA6"/>
              </a:solidFill>
              <a:latin typeface="Verdana"/>
              <a:ea typeface="Verdana"/>
              <a:cs typeface="Verdana"/>
              <a:sym typeface="Verdana"/>
            </a:endParaRPr>
          </a:p>
        </p:txBody>
      </p:sp>
      <p:pic>
        <p:nvPicPr>
          <p:cNvPr id="8"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0"/>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26" name="Google Shape;226;p1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27" name="Google Shape;227;p10"/>
          <p:cNvSpPr txBox="1"/>
          <p:nvPr/>
        </p:nvSpPr>
        <p:spPr>
          <a:xfrm>
            <a:off x="1143000" y="281849"/>
            <a:ext cx="1051560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5.1.4 Exploration: Sample Size</a:t>
            </a:r>
            <a:endParaRPr dirty="0"/>
          </a:p>
        </p:txBody>
      </p:sp>
      <p:sp>
        <p:nvSpPr>
          <p:cNvPr id="228" name="Google Shape;228;p1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183</a:t>
            </a:r>
            <a:endParaRPr i="1" dirty="0">
              <a:latin typeface="Calibri"/>
              <a:ea typeface="Calibri"/>
              <a:cs typeface="Calibri"/>
              <a:sym typeface="Calibri"/>
            </a:endParaRPr>
          </a:p>
        </p:txBody>
      </p:sp>
      <p:pic>
        <p:nvPicPr>
          <p:cNvPr id="229" name="Google Shape;229;p10"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56616" y="201168"/>
            <a:ext cx="752254" cy="752254"/>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230" name="Google Shape;230;p10"/>
              <p:cNvSpPr txBox="1"/>
              <p:nvPr/>
            </p:nvSpPr>
            <p:spPr>
              <a:xfrm>
                <a:off x="914400" y="1315631"/>
                <a:ext cx="10515600" cy="3416279"/>
              </a:xfrm>
              <a:prstGeom prst="rect">
                <a:avLst/>
              </a:prstGeom>
              <a:noFill/>
              <a:ln>
                <a:noFill/>
              </a:ln>
            </p:spPr>
            <p:txBody>
              <a:bodyPr spcFirstLastPara="1" wrap="square" lIns="91425" tIns="45700" rIns="91425" bIns="45700" anchor="t" anchorCtr="0">
                <a:spAutoFit/>
              </a:bodyPr>
              <a:lstStyle/>
              <a:p>
                <a:pPr marR="34290"/>
                <a:r>
                  <a:rPr lang="en-US" sz="2400" dirty="0">
                    <a:latin typeface="Verdana" panose="020B0604030504040204" pitchFamily="34" charset="0"/>
                    <a:ea typeface="Verdana" panose="020B0604030504040204" pitchFamily="34" charset="0"/>
                    <a:cs typeface="Verdana" panose="020B0604030504040204" pitchFamily="34" charset="0"/>
                  </a:rPr>
                  <a:t>Isabella is playing a computer game. Her challenge is to create a replica of a hidden spinner that she cannot see. Her score is based on two things: the accuracy of the spinner she creates and the number of spins she uses to create the spinner (the fewer spins she uses equals a higher score). </a:t>
                </a:r>
              </a:p>
              <a:p>
                <a:pPr marR="34290"/>
                <a:endParaRPr lang="en-US" sz="2400" dirty="0">
                  <a:latin typeface="Verdana" panose="020B0604030504040204" pitchFamily="34" charset="0"/>
                  <a:ea typeface="Verdana" panose="020B0604030504040204" pitchFamily="34" charset="0"/>
                  <a:cs typeface="Verdana" panose="020B0604030504040204" pitchFamily="34" charset="0"/>
                </a:endParaRPr>
              </a:p>
              <a:p>
                <a:pPr marR="34290"/>
                <a:r>
                  <a:rPr lang="en-US" sz="2400" dirty="0">
                    <a:latin typeface="Verdana" panose="020B0604030504040204" pitchFamily="34" charset="0"/>
                    <a:ea typeface="Verdana" panose="020B0604030504040204" pitchFamily="34" charset="0"/>
                    <a:cs typeface="Verdana" panose="020B0604030504040204" pitchFamily="34" charset="0"/>
                  </a:rPr>
                  <a:t>Isabella creates her first replica after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12</m:t>
                    </m:r>
                  </m:oMath>
                </a14:m>
                <a:r>
                  <a:rPr lang="en-US" sz="2400" dirty="0">
                    <a:latin typeface="Verdana" panose="020B0604030504040204" pitchFamily="34" charset="0"/>
                    <a:ea typeface="Verdana" panose="020B0604030504040204" pitchFamily="34" charset="0"/>
                    <a:cs typeface="Verdana" panose="020B0604030504040204" pitchFamily="34" charset="0"/>
                  </a:rPr>
                  <a:t> spins of the hidden spinner. Below is a table showing the outcomes of the first </a:t>
                </a:r>
                <a:br>
                  <a:rPr lang="en-US" sz="2400" dirty="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12</m:t>
                    </m:r>
                  </m:oMath>
                </a14:m>
                <a:r>
                  <a:rPr lang="en-US" sz="2400" dirty="0">
                    <a:latin typeface="Verdana" panose="020B0604030504040204" pitchFamily="34" charset="0"/>
                    <a:ea typeface="Verdana" panose="020B0604030504040204" pitchFamily="34" charset="0"/>
                    <a:cs typeface="Verdana" panose="020B0604030504040204" pitchFamily="34" charset="0"/>
                  </a:rPr>
                  <a:t> spins.</a:t>
                </a:r>
                <a:endParaRPr lang="en-US" sz="1600" dirty="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230" name="Google Shape;230;p10"/>
              <p:cNvSpPr txBox="1">
                <a:spLocks noRot="1" noChangeAspect="1" noMove="1" noResize="1" noEditPoints="1" noAdjustHandles="1" noChangeArrowheads="1" noChangeShapeType="1" noTextEdit="1"/>
              </p:cNvSpPr>
              <p:nvPr/>
            </p:nvSpPr>
            <p:spPr>
              <a:xfrm>
                <a:off x="914400" y="1315631"/>
                <a:ext cx="10515600" cy="3416279"/>
              </a:xfrm>
              <a:prstGeom prst="rect">
                <a:avLst/>
              </a:prstGeom>
              <a:blipFill rotWithShape="1">
                <a:blip r:embed="rId5"/>
                <a:stretch>
                  <a:fillRect l="-928" t="-1429" r="-1275" b="-3036"/>
                </a:stretch>
              </a:blipFill>
              <a:ln>
                <a:noFill/>
              </a:ln>
            </p:spPr>
            <p:txBody>
              <a:bodyPr/>
              <a:lstStyle/>
              <a:p>
                <a:r>
                  <a:rPr 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1"/>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37" name="Google Shape;237;p1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38" name="Google Shape;238;p1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39" name="Google Shape;239;p11"/>
              <p:cNvSpPr txBox="1"/>
              <p:nvPr/>
            </p:nvSpPr>
            <p:spPr>
              <a:xfrm>
                <a:off x="914400" y="3270337"/>
                <a:ext cx="10515600" cy="2923837"/>
              </a:xfrm>
              <a:prstGeom prst="rect">
                <a:avLst/>
              </a:prstGeom>
              <a:noFill/>
              <a:ln>
                <a:noFill/>
              </a:ln>
            </p:spPr>
            <p:txBody>
              <a:bodyPr spcFirstLastPara="1" wrap="square" lIns="91425" tIns="45700" rIns="91425" bIns="45700" anchor="t" anchorCtr="0">
                <a:spAutoFit/>
              </a:bodyPr>
              <a:lstStyle/>
              <a:p>
                <a:pPr marL="457200" marR="3429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Use the data from the first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12</m:t>
                    </m:r>
                  </m:oMath>
                </a14:m>
                <a:r>
                  <a:rPr lang="en-US" sz="2400" dirty="0">
                    <a:latin typeface="Verdana" panose="020B0604030504040204" pitchFamily="34" charset="0"/>
                    <a:ea typeface="Verdana" panose="020B0604030504040204" pitchFamily="34" charset="0"/>
                    <a:cs typeface="Verdana" panose="020B0604030504040204" pitchFamily="34" charset="0"/>
                  </a:rPr>
                  <a:t> spins to draw a sketch of what you think the hidden spinner might look like. </a:t>
                </a:r>
                <a:br>
                  <a:rPr lang="en-US" sz="2400" dirty="0">
                    <a:latin typeface="Verdana" panose="020B0604030504040204" pitchFamily="34" charset="0"/>
                    <a:ea typeface="Verdana" panose="020B0604030504040204" pitchFamily="34" charset="0"/>
                    <a:cs typeface="Verdana" panose="020B0604030504040204" pitchFamily="34" charset="0"/>
                  </a:rPr>
                </a:br>
                <a:br>
                  <a:rPr lang="en-US" sz="2400" dirty="0">
                    <a:latin typeface="Verdana" panose="020B0604030504040204" pitchFamily="34" charset="0"/>
                    <a:ea typeface="Verdana" panose="020B0604030504040204" pitchFamily="34" charset="0"/>
                    <a:cs typeface="Verdana" panose="020B0604030504040204" pitchFamily="34" charset="0"/>
                  </a:rPr>
                </a:br>
                <a:br>
                  <a:rPr lang="en-US" sz="2400" dirty="0">
                    <a:latin typeface="Verdana" panose="020B0604030504040204" pitchFamily="34" charset="0"/>
                    <a:ea typeface="Verdana" panose="020B0604030504040204" pitchFamily="34" charset="0"/>
                    <a:cs typeface="Verdana" panose="020B0604030504040204" pitchFamily="34" charset="0"/>
                  </a:rPr>
                </a:br>
                <a:br>
                  <a:rPr lang="en-US" sz="2400" dirty="0">
                    <a:latin typeface="Verdana" panose="020B0604030504040204" pitchFamily="34" charset="0"/>
                    <a:ea typeface="Verdana" panose="020B0604030504040204" pitchFamily="34" charset="0"/>
                    <a:cs typeface="Verdana" panose="020B0604030504040204" pitchFamily="34" charset="0"/>
                  </a:rPr>
                </a:br>
                <a:br>
                  <a:rPr lang="en-US" sz="2400" dirty="0">
                    <a:latin typeface="Verdana" panose="020B0604030504040204" pitchFamily="34" charset="0"/>
                    <a:ea typeface="Verdana" panose="020B0604030504040204" pitchFamily="34" charset="0"/>
                    <a:cs typeface="Verdana" panose="020B0604030504040204" pitchFamily="34" charset="0"/>
                  </a:rPr>
                </a:br>
                <a:br>
                  <a:rPr lang="en-US" sz="2400" dirty="0">
                    <a:latin typeface="Verdana" panose="020B0604030504040204" pitchFamily="34" charset="0"/>
                    <a:ea typeface="Verdana" panose="020B0604030504040204" pitchFamily="34" charset="0"/>
                    <a:cs typeface="Verdana" panose="020B0604030504040204" pitchFamily="34" charset="0"/>
                  </a:rPr>
                </a:br>
                <a:endParaRPr lang="en-US" sz="1600" dirty="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239" name="Google Shape;239;p11"/>
              <p:cNvSpPr txBox="1">
                <a:spLocks noRot="1" noChangeAspect="1" noMove="1" noResize="1" noEditPoints="1" noAdjustHandles="1" noChangeArrowheads="1" noChangeShapeType="1" noTextEdit="1"/>
              </p:cNvSpPr>
              <p:nvPr/>
            </p:nvSpPr>
            <p:spPr>
              <a:xfrm>
                <a:off x="914400" y="3270337"/>
                <a:ext cx="10515600" cy="2923837"/>
              </a:xfrm>
              <a:prstGeom prst="rect">
                <a:avLst/>
              </a:prstGeom>
              <a:blipFill rotWithShape="1">
                <a:blip r:embed="rId4"/>
                <a:stretch>
                  <a:fillRect l="-928" t="-187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C0A4AD00-CE9A-8F4B-9577-005ADB23CEFB}"/>
                  </a:ext>
                </a:extLst>
              </p:cNvPr>
              <p:cNvGraphicFramePr>
                <a:graphicFrameLocks noGrp="1"/>
              </p:cNvGraphicFramePr>
              <p:nvPr>
                <p:extLst>
                  <p:ext uri="{D42A27DB-BD31-4B8C-83A1-F6EECF244321}">
                    <p14:modId xmlns:p14="http://schemas.microsoft.com/office/powerpoint/2010/main" val="3872609246"/>
                  </p:ext>
                </p:extLst>
              </p:nvPr>
            </p:nvGraphicFramePr>
            <p:xfrm>
              <a:off x="4152900" y="566058"/>
              <a:ext cx="3886200" cy="2438400"/>
            </p:xfrm>
            <a:graphic>
              <a:graphicData uri="http://schemas.openxmlformats.org/drawingml/2006/table">
                <a:tbl>
                  <a:tblPr bandRow="1"/>
                  <a:tblGrid>
                    <a:gridCol w="1577956">
                      <a:extLst>
                        <a:ext uri="{9D8B030D-6E8A-4147-A177-3AD203B41FA5}">
                          <a16:colId xmlns:a16="http://schemas.microsoft.com/office/drawing/2014/main" val="877081507"/>
                        </a:ext>
                      </a:extLst>
                    </a:gridCol>
                    <a:gridCol w="2308244">
                      <a:extLst>
                        <a:ext uri="{9D8B030D-6E8A-4147-A177-3AD203B41FA5}">
                          <a16:colId xmlns:a16="http://schemas.microsoft.com/office/drawing/2014/main" val="3948171708"/>
                        </a:ext>
                      </a:extLst>
                    </a:gridCol>
                  </a:tblGrid>
                  <a:tr h="457200">
                    <a:tc>
                      <a:txBody>
                        <a:bodyPr/>
                        <a:lstStyle/>
                        <a:p>
                          <a:pPr marL="0" marR="3429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Color</a:t>
                          </a:r>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Spins</a:t>
                          </a:r>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162271478"/>
                      </a:ext>
                    </a:extLst>
                  </a:tr>
                  <a:tr h="457200">
                    <a:tc>
                      <a:txBody>
                        <a:bodyPr/>
                        <a:lstStyle/>
                        <a:p>
                          <a:pPr marL="0" marR="3429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red</a:t>
                          </a:r>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2</m:t>
                                </m:r>
                              </m:oMath>
                            </m:oMathPara>
                          </a14:m>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2470718"/>
                      </a:ext>
                    </a:extLst>
                  </a:tr>
                  <a:tr h="457200">
                    <a:tc>
                      <a:txBody>
                        <a:bodyPr/>
                        <a:lstStyle/>
                        <a:p>
                          <a:pPr marL="0" marR="3429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purple</a:t>
                          </a:r>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oMath>
                            </m:oMathPara>
                          </a14:m>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0356529"/>
                      </a:ext>
                    </a:extLst>
                  </a:tr>
                  <a:tr h="457200">
                    <a:tc>
                      <a:txBody>
                        <a:bodyPr/>
                        <a:lstStyle/>
                        <a:p>
                          <a:pPr marL="0" marR="3429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blue</a:t>
                          </a:r>
                          <a:endParaRPr lang="en-US" sz="20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3</m:t>
                                </m:r>
                              </m:oMath>
                            </m:oMathPara>
                          </a14:m>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1520009"/>
                      </a:ext>
                    </a:extLst>
                  </a:tr>
                  <a:tr h="457200">
                    <a:tc>
                      <a:txBody>
                        <a:bodyPr/>
                        <a:lstStyle/>
                        <a:p>
                          <a:pPr marL="0" marR="3429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yellow</a:t>
                          </a:r>
                          <a:endParaRPr lang="en-US" sz="20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3</m:t>
                                </m:r>
                              </m:oMath>
                            </m:oMathPara>
                          </a14:m>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7777881"/>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C0A4AD00-CE9A-8F4B-9577-005ADB23CEFB}"/>
                  </a:ext>
                </a:extLst>
              </p:cNvPr>
              <p:cNvGraphicFramePr>
                <a:graphicFrameLocks noGrp="1"/>
              </p:cNvGraphicFramePr>
              <p:nvPr>
                <p:extLst>
                  <p:ext uri="{D42A27DB-BD31-4B8C-83A1-F6EECF244321}">
                    <p14:modId xmlns:p14="http://schemas.microsoft.com/office/powerpoint/2010/main" val="3872609246"/>
                  </p:ext>
                </p:extLst>
              </p:nvPr>
            </p:nvGraphicFramePr>
            <p:xfrm>
              <a:off x="4152900" y="566058"/>
              <a:ext cx="3886200" cy="2438400"/>
            </p:xfrm>
            <a:graphic>
              <a:graphicData uri="http://schemas.openxmlformats.org/drawingml/2006/table">
                <a:tbl>
                  <a:tblPr bandRow="1"/>
                  <a:tblGrid>
                    <a:gridCol w="1577956">
                      <a:extLst>
                        <a:ext uri="{9D8B030D-6E8A-4147-A177-3AD203B41FA5}">
                          <a16:colId xmlns:a16="http://schemas.microsoft.com/office/drawing/2014/main" xmlns:a14="http://schemas.microsoft.com/office/drawing/2010/main" xmlns="" val="877081507"/>
                        </a:ext>
                      </a:extLst>
                    </a:gridCol>
                    <a:gridCol w="2308244">
                      <a:extLst>
                        <a:ext uri="{9D8B030D-6E8A-4147-A177-3AD203B41FA5}">
                          <a16:colId xmlns:a16="http://schemas.microsoft.com/office/drawing/2014/main" xmlns:a14="http://schemas.microsoft.com/office/drawing/2010/main" xmlns="" val="3948171708"/>
                        </a:ext>
                      </a:extLst>
                    </a:gridCol>
                  </a:tblGrid>
                  <a:tr h="609600">
                    <a:tc>
                      <a:txBody>
                        <a:bodyPr/>
                        <a:lstStyle/>
                        <a:p>
                          <a:pPr marL="0" marR="3429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Color</a:t>
                          </a:r>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Spins</a:t>
                          </a:r>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162271478"/>
                      </a:ext>
                    </a:extLst>
                  </a:tr>
                  <a:tr h="457200">
                    <a:tc>
                      <a:txBody>
                        <a:bodyPr/>
                        <a:lstStyle/>
                        <a:p>
                          <a:pPr marL="0" marR="3429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red</a:t>
                          </a:r>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68338" t="-150667" b="-317333"/>
                          </a:stretch>
                        </a:blipFill>
                      </a:tcPr>
                    </a:tc>
                    <a:extLst>
                      <a:ext uri="{0D108BD9-81ED-4DB2-BD59-A6C34878D82A}">
                        <a16:rowId xmlns:a16="http://schemas.microsoft.com/office/drawing/2014/main" xmlns:a14="http://schemas.microsoft.com/office/drawing/2010/main" xmlns="" val="2252470718"/>
                      </a:ext>
                    </a:extLst>
                  </a:tr>
                  <a:tr h="457200">
                    <a:tc>
                      <a:txBody>
                        <a:bodyPr/>
                        <a:lstStyle/>
                        <a:p>
                          <a:pPr marL="0" marR="3429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purple</a:t>
                          </a:r>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68338" t="-250667" b="-217333"/>
                          </a:stretch>
                        </a:blipFill>
                      </a:tcPr>
                    </a:tc>
                    <a:extLst>
                      <a:ext uri="{0D108BD9-81ED-4DB2-BD59-A6C34878D82A}">
                        <a16:rowId xmlns:a16="http://schemas.microsoft.com/office/drawing/2014/main" xmlns:a14="http://schemas.microsoft.com/office/drawing/2010/main" xmlns="" val="2650356529"/>
                      </a:ext>
                    </a:extLst>
                  </a:tr>
                  <a:tr h="457200">
                    <a:tc>
                      <a:txBody>
                        <a:bodyPr/>
                        <a:lstStyle/>
                        <a:p>
                          <a:pPr marL="0" marR="3429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blue</a:t>
                          </a:r>
                          <a:endParaRPr lang="en-US" sz="20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68338" t="-350667" b="-117333"/>
                          </a:stretch>
                        </a:blipFill>
                      </a:tcPr>
                    </a:tc>
                    <a:extLst>
                      <a:ext uri="{0D108BD9-81ED-4DB2-BD59-A6C34878D82A}">
                        <a16:rowId xmlns:a16="http://schemas.microsoft.com/office/drawing/2014/main" xmlns:a14="http://schemas.microsoft.com/office/drawing/2010/main" xmlns="" val="3541520009"/>
                      </a:ext>
                    </a:extLst>
                  </a:tr>
                  <a:tr h="457200">
                    <a:tc>
                      <a:txBody>
                        <a:bodyPr/>
                        <a:lstStyle/>
                        <a:p>
                          <a:pPr marL="0" marR="3429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yellow</a:t>
                          </a:r>
                          <a:endParaRPr lang="en-US" sz="20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68338" t="-450667" b="-17333"/>
                          </a:stretch>
                        </a:blipFill>
                      </a:tcPr>
                    </a:tc>
                    <a:extLst>
                      <a:ext uri="{0D108BD9-81ED-4DB2-BD59-A6C34878D82A}">
                        <a16:rowId xmlns:a16="http://schemas.microsoft.com/office/drawing/2014/main" xmlns:a14="http://schemas.microsoft.com/office/drawing/2010/main" xmlns="" val="867777881"/>
                      </a:ext>
                    </a:extLst>
                  </a:tr>
                </a:tbl>
              </a:graphicData>
            </a:graphic>
          </p:graphicFrame>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1"/>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37" name="Google Shape;237;p1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38" name="Google Shape;238;p1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39" name="Google Shape;239;p11"/>
              <p:cNvSpPr txBox="1"/>
              <p:nvPr/>
            </p:nvSpPr>
            <p:spPr>
              <a:xfrm>
                <a:off x="914400" y="391864"/>
                <a:ext cx="10515600" cy="1569620"/>
              </a:xfrm>
              <a:prstGeom prst="rect">
                <a:avLst/>
              </a:prstGeom>
              <a:noFill/>
              <a:ln>
                <a:noFill/>
              </a:ln>
            </p:spPr>
            <p:txBody>
              <a:bodyPr spcFirstLastPara="1" wrap="square" lIns="91425" tIns="45700" rIns="91425" bIns="45700" anchor="t" anchorCtr="0">
                <a:spAutoFit/>
              </a:bodyPr>
              <a:lstStyle/>
              <a:p>
                <a:pPr marR="34290"/>
                <a:r>
                  <a:rPr lang="en-US" sz="2400" dirty="0">
                    <a:latin typeface="Verdana" panose="020B0604030504040204" pitchFamily="34" charset="0"/>
                    <a:ea typeface="Verdana" panose="020B0604030504040204" pitchFamily="34" charset="0"/>
                    <a:cs typeface="Verdana" panose="020B0604030504040204" pitchFamily="34" charset="0"/>
                  </a:rPr>
                  <a:t>Isabella’s spinner was not accurate, so she had the computer generate additional data. The table below shows the data from the first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36</m:t>
                    </m:r>
                  </m:oMath>
                </a14:m>
                <a:r>
                  <a:rPr lang="en-US" sz="2400" dirty="0">
                    <a:latin typeface="Verdana" panose="020B0604030504040204" pitchFamily="34" charset="0"/>
                    <a:ea typeface="Verdana" panose="020B0604030504040204" pitchFamily="34" charset="0"/>
                    <a:cs typeface="Verdana" panose="020B0604030504040204" pitchFamily="34" charset="0"/>
                  </a:rPr>
                  <a:t> spins of the spinner, including the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12</m:t>
                    </m:r>
                  </m:oMath>
                </a14:m>
                <a:r>
                  <a:rPr lang="en-US" sz="2400" dirty="0">
                    <a:latin typeface="Verdana" panose="020B0604030504040204" pitchFamily="34" charset="0"/>
                    <a:ea typeface="Verdana" panose="020B0604030504040204" pitchFamily="34" charset="0"/>
                    <a:cs typeface="Verdana" panose="020B0604030504040204" pitchFamily="34" charset="0"/>
                  </a:rPr>
                  <a:t> shown in the previous table.</a:t>
                </a:r>
                <a:endParaRPr lang="en-US" sz="1600" dirty="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239" name="Google Shape;239;p11"/>
              <p:cNvSpPr txBox="1">
                <a:spLocks noRot="1" noChangeAspect="1" noMove="1" noResize="1" noEditPoints="1" noAdjustHandles="1" noChangeArrowheads="1" noChangeShapeType="1" noTextEdit="1"/>
              </p:cNvSpPr>
              <p:nvPr/>
            </p:nvSpPr>
            <p:spPr>
              <a:xfrm>
                <a:off x="914400" y="391864"/>
                <a:ext cx="10515600" cy="1569620"/>
              </a:xfrm>
              <a:prstGeom prst="rect">
                <a:avLst/>
              </a:prstGeom>
              <a:blipFill rotWithShape="1">
                <a:blip r:embed="rId4"/>
                <a:stretch>
                  <a:fillRect l="-928" t="-3101" r="-1333" b="-736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AF9D32A5-B90E-F04D-80C6-27D20D0B350D}"/>
                  </a:ext>
                </a:extLst>
              </p:cNvPr>
              <p:cNvGraphicFramePr>
                <a:graphicFrameLocks noGrp="1"/>
              </p:cNvGraphicFramePr>
              <p:nvPr>
                <p:extLst>
                  <p:ext uri="{D42A27DB-BD31-4B8C-83A1-F6EECF244321}">
                    <p14:modId xmlns:p14="http://schemas.microsoft.com/office/powerpoint/2010/main" val="2969115202"/>
                  </p:ext>
                </p:extLst>
              </p:nvPr>
            </p:nvGraphicFramePr>
            <p:xfrm>
              <a:off x="4038600" y="2301586"/>
              <a:ext cx="4114800" cy="3352800"/>
            </p:xfrm>
            <a:graphic>
              <a:graphicData uri="http://schemas.openxmlformats.org/drawingml/2006/table">
                <a:tbl>
                  <a:tblPr bandRow="1"/>
                  <a:tblGrid>
                    <a:gridCol w="1771650">
                      <a:extLst>
                        <a:ext uri="{9D8B030D-6E8A-4147-A177-3AD203B41FA5}">
                          <a16:colId xmlns:a16="http://schemas.microsoft.com/office/drawing/2014/main" val="849579809"/>
                        </a:ext>
                      </a:extLst>
                    </a:gridCol>
                    <a:gridCol w="2343150">
                      <a:extLst>
                        <a:ext uri="{9D8B030D-6E8A-4147-A177-3AD203B41FA5}">
                          <a16:colId xmlns:a16="http://schemas.microsoft.com/office/drawing/2014/main" val="3702913295"/>
                        </a:ext>
                      </a:extLst>
                    </a:gridCol>
                  </a:tblGrid>
                  <a:tr h="457200">
                    <a:tc>
                      <a:txBody>
                        <a:bodyPr/>
                        <a:lstStyle/>
                        <a:p>
                          <a:pPr marL="0" marR="3429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Color</a:t>
                          </a:r>
                          <a:endParaRPr lang="en-US" sz="2000" dirty="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Spins</a:t>
                          </a:r>
                          <a:endParaRPr lang="en-US" sz="200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537072106"/>
                      </a:ext>
                    </a:extLst>
                  </a:tr>
                  <a:tr h="457200">
                    <a:tc>
                      <a:txBody>
                        <a:bodyPr/>
                        <a:lstStyle/>
                        <a:p>
                          <a:pPr marL="0" marR="3429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red</a:t>
                          </a:r>
                          <a:endParaRPr lang="en-US" sz="2000" dirty="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3</m:t>
                                </m:r>
                              </m:oMath>
                            </m:oMathPara>
                          </a14:m>
                          <a:endParaRPr lang="en-US" sz="2000" dirty="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4202114"/>
                      </a:ext>
                    </a:extLst>
                  </a:tr>
                  <a:tr h="457200">
                    <a:tc>
                      <a:txBody>
                        <a:bodyPr/>
                        <a:lstStyle/>
                        <a:p>
                          <a:pPr marL="0" marR="3429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purple</a:t>
                          </a:r>
                          <a:endParaRPr lang="en-US" sz="2000" dirty="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oMath>
                            </m:oMathPara>
                          </a14:m>
                          <a:endParaRPr lang="en-US" sz="2000" dirty="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006097"/>
                      </a:ext>
                    </a:extLst>
                  </a:tr>
                  <a:tr h="457200">
                    <a:tc>
                      <a:txBody>
                        <a:bodyPr/>
                        <a:lstStyle/>
                        <a:p>
                          <a:pPr marL="0" marR="3429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blue</a:t>
                          </a:r>
                          <a:endParaRPr lang="en-US" sz="2000" dirty="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8</m:t>
                                </m:r>
                              </m:oMath>
                            </m:oMathPara>
                          </a14:m>
                          <a:endParaRPr lang="en-US" sz="2000" dirty="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8912503"/>
                      </a:ext>
                    </a:extLst>
                  </a:tr>
                  <a:tr h="457200">
                    <a:tc>
                      <a:txBody>
                        <a:bodyPr/>
                        <a:lstStyle/>
                        <a:p>
                          <a:pPr marL="0" marR="3429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yellow</a:t>
                          </a:r>
                          <a:endParaRPr lang="en-US" sz="200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oMath>
                            </m:oMathPara>
                          </a14:m>
                          <a:endParaRPr lang="en-US" sz="2000" dirty="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8124199"/>
                      </a:ext>
                    </a:extLst>
                  </a:tr>
                  <a:tr h="457200">
                    <a:tc>
                      <a:txBody>
                        <a:bodyPr/>
                        <a:lstStyle/>
                        <a:p>
                          <a:pPr marL="0" marR="3429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orange</a:t>
                          </a:r>
                          <a:endParaRPr lang="en-US" sz="200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2</m:t>
                                </m:r>
                              </m:oMath>
                            </m:oMathPara>
                          </a14:m>
                          <a:endParaRPr lang="en-US" sz="2000" dirty="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8895038"/>
                      </a:ext>
                    </a:extLst>
                  </a:tr>
                  <a:tr h="457200">
                    <a:tc>
                      <a:txBody>
                        <a:bodyPr/>
                        <a:lstStyle/>
                        <a:p>
                          <a:pPr marL="0" marR="3429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green </a:t>
                          </a:r>
                          <a:endParaRPr lang="en-US" sz="2000" dirty="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9</m:t>
                                </m:r>
                              </m:oMath>
                            </m:oMathPara>
                          </a14:m>
                          <a:endParaRPr lang="en-US" sz="2000" dirty="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8977816"/>
                      </a:ext>
                    </a:extLst>
                  </a:tr>
                </a:tbl>
              </a:graphicData>
            </a:graphic>
          </p:graphicFrame>
        </mc:Choice>
        <mc:Fallback xmlns="">
          <p:graphicFrame>
            <p:nvGraphicFramePr>
              <p:cNvPr id="4" name="Table 3">
                <a:extLst>
                  <a:ext uri="{FF2B5EF4-FFF2-40B4-BE49-F238E27FC236}">
                    <a16:creationId xmlns:a16="http://schemas.microsoft.com/office/drawing/2014/main" xmlns:a14="http://schemas.microsoft.com/office/drawing/2010/main" xmlns="" id="{AF9D32A5-B90E-F04D-80C6-27D20D0B350D}"/>
                  </a:ext>
                </a:extLst>
              </p:cNvPr>
              <p:cNvGraphicFramePr>
                <a:graphicFrameLocks noGrp="1"/>
              </p:cNvGraphicFramePr>
              <p:nvPr>
                <p:extLst>
                  <p:ext uri="{D42A27DB-BD31-4B8C-83A1-F6EECF244321}">
                    <p14:modId xmlns:p14="http://schemas.microsoft.com/office/powerpoint/2010/main" val="2969115202"/>
                  </p:ext>
                </p:extLst>
              </p:nvPr>
            </p:nvGraphicFramePr>
            <p:xfrm>
              <a:off x="4038600" y="2301586"/>
              <a:ext cx="4114800" cy="3352800"/>
            </p:xfrm>
            <a:graphic>
              <a:graphicData uri="http://schemas.openxmlformats.org/drawingml/2006/table">
                <a:tbl>
                  <a:tblPr bandRow="1"/>
                  <a:tblGrid>
                    <a:gridCol w="1771650">
                      <a:extLst>
                        <a:ext uri="{9D8B030D-6E8A-4147-A177-3AD203B41FA5}">
                          <a16:colId xmlns:a16="http://schemas.microsoft.com/office/drawing/2014/main" xmlns:a14="http://schemas.microsoft.com/office/drawing/2010/main" xmlns="" val="849579809"/>
                        </a:ext>
                      </a:extLst>
                    </a:gridCol>
                    <a:gridCol w="2343150">
                      <a:extLst>
                        <a:ext uri="{9D8B030D-6E8A-4147-A177-3AD203B41FA5}">
                          <a16:colId xmlns:a16="http://schemas.microsoft.com/office/drawing/2014/main" xmlns:a14="http://schemas.microsoft.com/office/drawing/2010/main" xmlns="" val="3702913295"/>
                        </a:ext>
                      </a:extLst>
                    </a:gridCol>
                  </a:tblGrid>
                  <a:tr h="609600">
                    <a:tc>
                      <a:txBody>
                        <a:bodyPr/>
                        <a:lstStyle/>
                        <a:p>
                          <a:pPr marL="0" marR="3429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Color</a:t>
                          </a:r>
                          <a:endParaRPr lang="en-US" sz="2000" dirty="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Spins</a:t>
                          </a:r>
                          <a:endParaRPr lang="en-US" sz="200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537072106"/>
                      </a:ext>
                    </a:extLst>
                  </a:tr>
                  <a:tr h="457200">
                    <a:tc>
                      <a:txBody>
                        <a:bodyPr/>
                        <a:lstStyle/>
                        <a:p>
                          <a:pPr marL="0" marR="3429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red</a:t>
                          </a:r>
                          <a:endParaRPr lang="en-US" sz="2000" dirty="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6042" t="-150667" b="-517333"/>
                          </a:stretch>
                        </a:blipFill>
                      </a:tcPr>
                    </a:tc>
                    <a:extLst>
                      <a:ext uri="{0D108BD9-81ED-4DB2-BD59-A6C34878D82A}">
                        <a16:rowId xmlns:a16="http://schemas.microsoft.com/office/drawing/2014/main" xmlns:a14="http://schemas.microsoft.com/office/drawing/2010/main" xmlns="" val="484202114"/>
                      </a:ext>
                    </a:extLst>
                  </a:tr>
                  <a:tr h="457200">
                    <a:tc>
                      <a:txBody>
                        <a:bodyPr/>
                        <a:lstStyle/>
                        <a:p>
                          <a:pPr marL="0" marR="3429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purple</a:t>
                          </a:r>
                          <a:endParaRPr lang="en-US" sz="2000" dirty="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6042" t="-250667" b="-417333"/>
                          </a:stretch>
                        </a:blipFill>
                      </a:tcPr>
                    </a:tc>
                    <a:extLst>
                      <a:ext uri="{0D108BD9-81ED-4DB2-BD59-A6C34878D82A}">
                        <a16:rowId xmlns:a16="http://schemas.microsoft.com/office/drawing/2014/main" xmlns:a14="http://schemas.microsoft.com/office/drawing/2010/main" xmlns="" val="85006097"/>
                      </a:ext>
                    </a:extLst>
                  </a:tr>
                  <a:tr h="457200">
                    <a:tc>
                      <a:txBody>
                        <a:bodyPr/>
                        <a:lstStyle/>
                        <a:p>
                          <a:pPr marL="0" marR="3429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blue</a:t>
                          </a:r>
                          <a:endParaRPr lang="en-US" sz="2000" dirty="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6042" t="-350667" b="-317333"/>
                          </a:stretch>
                        </a:blipFill>
                      </a:tcPr>
                    </a:tc>
                    <a:extLst>
                      <a:ext uri="{0D108BD9-81ED-4DB2-BD59-A6C34878D82A}">
                        <a16:rowId xmlns:a16="http://schemas.microsoft.com/office/drawing/2014/main" xmlns:a14="http://schemas.microsoft.com/office/drawing/2010/main" xmlns="" val="3108912503"/>
                      </a:ext>
                    </a:extLst>
                  </a:tr>
                  <a:tr h="457200">
                    <a:tc>
                      <a:txBody>
                        <a:bodyPr/>
                        <a:lstStyle/>
                        <a:p>
                          <a:pPr marL="0" marR="3429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yellow</a:t>
                          </a:r>
                          <a:endParaRPr lang="en-US" sz="200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6042" t="-450667" b="-217333"/>
                          </a:stretch>
                        </a:blipFill>
                      </a:tcPr>
                    </a:tc>
                    <a:extLst>
                      <a:ext uri="{0D108BD9-81ED-4DB2-BD59-A6C34878D82A}">
                        <a16:rowId xmlns:a16="http://schemas.microsoft.com/office/drawing/2014/main" xmlns:a14="http://schemas.microsoft.com/office/drawing/2010/main" xmlns="" val="4258124199"/>
                      </a:ext>
                    </a:extLst>
                  </a:tr>
                  <a:tr h="457200">
                    <a:tc>
                      <a:txBody>
                        <a:bodyPr/>
                        <a:lstStyle/>
                        <a:p>
                          <a:pPr marL="0" marR="3429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orange</a:t>
                          </a:r>
                          <a:endParaRPr lang="en-US" sz="200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6042" t="-550667" b="-117333"/>
                          </a:stretch>
                        </a:blipFill>
                      </a:tcPr>
                    </a:tc>
                    <a:extLst>
                      <a:ext uri="{0D108BD9-81ED-4DB2-BD59-A6C34878D82A}">
                        <a16:rowId xmlns:a16="http://schemas.microsoft.com/office/drawing/2014/main" xmlns:a14="http://schemas.microsoft.com/office/drawing/2010/main" xmlns="" val="1688895038"/>
                      </a:ext>
                    </a:extLst>
                  </a:tr>
                  <a:tr h="457200">
                    <a:tc>
                      <a:txBody>
                        <a:bodyPr/>
                        <a:lstStyle/>
                        <a:p>
                          <a:pPr marL="0" marR="3429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green </a:t>
                          </a:r>
                          <a:endParaRPr lang="en-US" sz="2000" dirty="0">
                            <a:effectLst/>
                            <a:latin typeface="Verdana" pitchFamily="34" charset="0"/>
                            <a:ea typeface="Verdana" pitchFamily="34"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6042" t="-650667" b="-17333"/>
                          </a:stretch>
                        </a:blipFill>
                      </a:tcPr>
                    </a:tc>
                    <a:extLst>
                      <a:ext uri="{0D108BD9-81ED-4DB2-BD59-A6C34878D82A}">
                        <a16:rowId xmlns:a16="http://schemas.microsoft.com/office/drawing/2014/main" xmlns:a14="http://schemas.microsoft.com/office/drawing/2010/main" xmlns="" val="598977816"/>
                      </a:ext>
                    </a:extLst>
                  </a:tr>
                </a:tbl>
              </a:graphicData>
            </a:graphic>
          </p:graphicFrame>
        </mc:Fallback>
      </mc:AlternateContent>
    </p:spTree>
    <p:extLst>
      <p:ext uri="{BB962C8B-B14F-4D97-AF65-F5344CB8AC3E}">
        <p14:creationId xmlns:p14="http://schemas.microsoft.com/office/powerpoint/2010/main" val="41080883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1"/>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37" name="Google Shape;237;p1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38" name="Google Shape;238;p1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183</a:t>
            </a:r>
            <a:endParaRPr i="1" dirty="0">
              <a:latin typeface="Calibri"/>
              <a:ea typeface="Calibri"/>
              <a:cs typeface="Calibri"/>
              <a:sym typeface="Calibri"/>
            </a:endParaRPr>
          </a:p>
        </p:txBody>
      </p:sp>
      <p:sp>
        <p:nvSpPr>
          <p:cNvPr id="6" name="Google Shape;239;p11"/>
          <p:cNvSpPr txBox="1"/>
          <p:nvPr/>
        </p:nvSpPr>
        <p:spPr>
          <a:xfrm>
            <a:off x="914400" y="391864"/>
            <a:ext cx="10515600" cy="2677616"/>
          </a:xfrm>
          <a:prstGeom prst="rect">
            <a:avLst/>
          </a:prstGeom>
          <a:noFill/>
          <a:ln>
            <a:noFill/>
          </a:ln>
        </p:spPr>
        <p:txBody>
          <a:bodyPr spcFirstLastPara="1" wrap="square" lIns="91425" tIns="45700" rIns="91425" bIns="45700" anchor="t" anchorCtr="0">
            <a:spAutoFit/>
          </a:bodyPr>
          <a:lstStyle/>
          <a:p>
            <a:pPr marL="457200" marR="3429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Revise your spinner based on this new data.</a:t>
            </a:r>
          </a:p>
          <a:p>
            <a:pPr marL="457200" marR="3429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marR="3429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marR="3429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marR="3429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marR="3429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Explain which spinner you think is closest to what the hidden spinner looks like.</a:t>
            </a:r>
            <a:endParaRPr lang="en-US" sz="1800" dirty="0">
              <a:latin typeface="Cambria" panose="02040503050406030204" pitchFamily="18" charset="0"/>
              <a:ea typeface="Times New Roman" panose="02020603050405020304" pitchFamily="18" charset="0"/>
              <a:cs typeface="Cambria" panose="02040503050406030204" pitchFamily="18" charset="0"/>
            </a:endParaRPr>
          </a:p>
        </p:txBody>
      </p:sp>
    </p:spTree>
    <p:extLst>
      <p:ext uri="{BB962C8B-B14F-4D97-AF65-F5344CB8AC3E}">
        <p14:creationId xmlns:p14="http://schemas.microsoft.com/office/powerpoint/2010/main" val="31169023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1"/>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37" name="Google Shape;237;p1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38" name="Google Shape;238;p1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183</a:t>
            </a:r>
            <a:endParaRPr i="1" dirty="0">
              <a:latin typeface="Calibri"/>
              <a:ea typeface="Calibri"/>
              <a:cs typeface="Calibri"/>
              <a:sym typeface="Calibri"/>
            </a:endParaRPr>
          </a:p>
        </p:txBody>
      </p:sp>
      <p:sp>
        <p:nvSpPr>
          <p:cNvPr id="6" name="Google Shape;239;p11"/>
          <p:cNvSpPr txBox="1"/>
          <p:nvPr/>
        </p:nvSpPr>
        <p:spPr>
          <a:xfrm>
            <a:off x="914400" y="391864"/>
            <a:ext cx="10515600" cy="1938952"/>
          </a:xfrm>
          <a:prstGeom prst="rect">
            <a:avLst/>
          </a:prstGeom>
          <a:noFill/>
          <a:ln>
            <a:noFill/>
          </a:ln>
        </p:spPr>
        <p:txBody>
          <a:bodyPr spcFirstLastPara="1" wrap="square" lIns="91425" tIns="45700" rIns="91425" bIns="45700" anchor="t" anchorCtr="0">
            <a:spAutoFit/>
          </a:bodyPr>
          <a:lstStyle/>
          <a:p>
            <a:pPr marL="457200" marR="3429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The second spinner Isabella drew was far more accurate than the first. Having additional spins gave a more accurate representation of what the spinner actually looked like. What can this simulation teach us about choosing the size of the sample in a population study?</a:t>
            </a:r>
            <a:endParaRPr lang="en-US" sz="2400" dirty="0">
              <a:latin typeface="Cambria" panose="02040503050406030204" pitchFamily="18" charset="0"/>
              <a:ea typeface="Times New Roman" panose="02020603050405020304" pitchFamily="18" charset="0"/>
              <a:cs typeface="Cambria" panose="02040503050406030204" pitchFamily="18" charset="0"/>
            </a:endParaRPr>
          </a:p>
        </p:txBody>
      </p:sp>
    </p:spTree>
    <p:extLst>
      <p:ext uri="{BB962C8B-B14F-4D97-AF65-F5344CB8AC3E}">
        <p14:creationId xmlns:p14="http://schemas.microsoft.com/office/powerpoint/2010/main" val="41513746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0"/>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426" name="Google Shape;426;p3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429" name="Google Shape;429;p3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184</a:t>
            </a:r>
            <a:endParaRPr i="1" dirty="0">
              <a:latin typeface="Calibri"/>
              <a:ea typeface="Calibri"/>
              <a:cs typeface="Calibri"/>
              <a:sym typeface="Calibri"/>
            </a:endParaRPr>
          </a:p>
        </p:txBody>
      </p:sp>
      <p:sp>
        <p:nvSpPr>
          <p:cNvPr id="7"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E24E5F"/>
                </a:solidFill>
                <a:latin typeface="Verdana"/>
                <a:ea typeface="Verdana"/>
                <a:cs typeface="Verdana"/>
                <a:sym typeface="Verdana"/>
              </a:rPr>
              <a:t>Your Turn</a:t>
            </a:r>
            <a:endParaRPr lang="en-US"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31"/>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36" name="Google Shape;436;p3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437" name="Google Shape;437;p31"/>
          <p:cNvSpPr txBox="1"/>
          <p:nvPr/>
        </p:nvSpPr>
        <p:spPr>
          <a:xfrm>
            <a:off x="1143000" y="226028"/>
            <a:ext cx="8019300" cy="687840"/>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pPr>
            <a:r>
              <a:rPr lang="en-US" sz="4300" b="1" dirty="0">
                <a:solidFill>
                  <a:srgbClr val="E24E5F"/>
                </a:solidFill>
                <a:latin typeface="Verdana"/>
                <a:ea typeface="Verdana"/>
                <a:cs typeface="Verdana"/>
                <a:sym typeface="Verdana"/>
              </a:rPr>
              <a:t>5.1.5 Your Turn!</a:t>
            </a:r>
            <a:endParaRPr dirty="0"/>
          </a:p>
        </p:txBody>
      </p:sp>
      <p:pic>
        <p:nvPicPr>
          <p:cNvPr id="438" name="Google Shape;438;p31"/>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
        <p:nvSpPr>
          <p:cNvPr id="439" name="Google Shape;439;p31"/>
          <p:cNvSpPr txBox="1"/>
          <p:nvPr/>
        </p:nvSpPr>
        <p:spPr>
          <a:xfrm>
            <a:off x="8897112" y="6463250"/>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40" name="Google Shape;440;p31"/>
              <p:cNvSpPr txBox="1"/>
              <p:nvPr/>
            </p:nvSpPr>
            <p:spPr>
              <a:xfrm>
                <a:off x="914400" y="1386026"/>
                <a:ext cx="10027920" cy="3785611"/>
              </a:xfrm>
              <a:prstGeom prst="rect">
                <a:avLst/>
              </a:prstGeom>
              <a:noFill/>
              <a:ln>
                <a:noFill/>
              </a:ln>
            </p:spPr>
            <p:txBody>
              <a:bodyPr spcFirstLastPara="1" wrap="square" lIns="91425" tIns="45700" rIns="91425" bIns="45700" anchor="t" anchorCtr="0">
                <a:spAutoFit/>
              </a:bodyPr>
              <a:lstStyle/>
              <a:p>
                <a:pPr marL="457200" marR="3429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meat department manager at a grocery store is worried some of the packages of ground beef labeled as having one pound of meat may be under-filled. He decides to take a sample of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5</m:t>
                    </m:r>
                  </m:oMath>
                </a14:m>
                <a:r>
                  <a:rPr lang="en-US" sz="2400" dirty="0">
                    <a:latin typeface="Verdana" panose="020B0604030504040204" pitchFamily="34" charset="0"/>
                    <a:ea typeface="Verdana" panose="020B0604030504040204" pitchFamily="34" charset="0"/>
                    <a:cs typeface="Verdana" panose="020B0604030504040204" pitchFamily="34" charset="0"/>
                  </a:rPr>
                  <a:t> packages from a shipment containing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100</m:t>
                    </m:r>
                  </m:oMath>
                </a14:m>
                <a:r>
                  <a:rPr lang="en-US" sz="2400" dirty="0">
                    <a:latin typeface="Verdana" panose="020B0604030504040204" pitchFamily="34" charset="0"/>
                    <a:ea typeface="Verdana" panose="020B0604030504040204" pitchFamily="34" charset="0"/>
                    <a:cs typeface="Verdana" panose="020B0604030504040204" pitchFamily="34" charset="0"/>
                  </a:rPr>
                  <a:t> packages of ground beef. The packages were numbered as they were put in the box, so each one has a different number between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100</m:t>
                    </m:r>
                  </m:oMath>
                </a14:m>
                <a:r>
                  <a:rPr lang="en-US" sz="2400" dirty="0">
                    <a:latin typeface="Verdana" panose="020B0604030504040204" pitchFamily="34" charset="0"/>
                    <a:ea typeface="Verdana" panose="020B0604030504040204" pitchFamily="34" charset="0"/>
                    <a:cs typeface="Verdana" panose="020B0604030504040204" pitchFamily="34" charset="0"/>
                  </a:rPr>
                  <a:t>.</a:t>
                </a:r>
                <a:br>
                  <a:rPr lang="en-US" sz="2400" dirty="0">
                    <a:latin typeface="Verdana" panose="020B0604030504040204" pitchFamily="34" charset="0"/>
                    <a:ea typeface="Verdana" panose="020B0604030504040204" pitchFamily="34" charset="0"/>
                    <a:cs typeface="Verdana" panose="020B0604030504040204" pitchFamily="34" charset="0"/>
                  </a:rPr>
                </a:b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marR="34290"/>
                <a:r>
                  <a:rPr lang="en-US" sz="2400" dirty="0">
                    <a:latin typeface="Verdana" panose="020B0604030504040204" pitchFamily="34" charset="0"/>
                    <a:ea typeface="Verdana" panose="020B0604030504040204" pitchFamily="34" charset="0"/>
                    <a:cs typeface="Verdana" panose="020B0604030504040204" pitchFamily="34" charset="0"/>
                  </a:rPr>
                  <a:t>Describe how the manager can select a fair sample of </a:t>
                </a:r>
                <a:br>
                  <a:rPr lang="en-US" sz="2400" dirty="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5</m:t>
                    </m:r>
                  </m:oMath>
                </a14:m>
                <a:r>
                  <a:rPr lang="en-US" sz="2400" dirty="0">
                    <a:latin typeface="Verdana" panose="020B0604030504040204" pitchFamily="34" charset="0"/>
                    <a:ea typeface="Verdana" panose="020B0604030504040204" pitchFamily="34" charset="0"/>
                    <a:cs typeface="Verdana" panose="020B0604030504040204" pitchFamily="34" charset="0"/>
                  </a:rPr>
                  <a:t> packages. </a:t>
                </a:r>
                <a:endParaRPr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40" name="Google Shape;440;p31"/>
              <p:cNvSpPr txBox="1">
                <a:spLocks noRot="1" noChangeAspect="1" noMove="1" noResize="1" noEditPoints="1" noAdjustHandles="1" noChangeArrowheads="1" noChangeShapeType="1" noTextEdit="1"/>
              </p:cNvSpPr>
              <p:nvPr/>
            </p:nvSpPr>
            <p:spPr>
              <a:xfrm>
                <a:off x="914400" y="1386026"/>
                <a:ext cx="10027920" cy="3785611"/>
              </a:xfrm>
              <a:prstGeom prst="rect">
                <a:avLst/>
              </a:prstGeom>
              <a:blipFill rotWithShape="1">
                <a:blip r:embed="rId5"/>
                <a:stretch>
                  <a:fillRect l="-973" t="-1288" r="-426" b="-2576"/>
                </a:stretch>
              </a:blipFill>
              <a:ln>
                <a:noFill/>
              </a:ln>
            </p:spPr>
            <p:txBody>
              <a:bodyPr/>
              <a:lstStyle/>
              <a:p>
                <a:r>
                  <a:rPr 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2"/>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47" name="Google Shape;447;p3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448" name="Google Shape;448;p3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49" name="Google Shape;449;p32"/>
              <p:cNvSpPr txBox="1"/>
              <p:nvPr/>
            </p:nvSpPr>
            <p:spPr>
              <a:xfrm>
                <a:off x="914400" y="377877"/>
                <a:ext cx="10515600" cy="2677616"/>
              </a:xfrm>
              <a:prstGeom prst="rect">
                <a:avLst/>
              </a:prstGeom>
              <a:noFill/>
              <a:ln>
                <a:noFill/>
              </a:ln>
            </p:spPr>
            <p:txBody>
              <a:bodyPr spcFirstLastPara="1" wrap="square" lIns="91425" tIns="45700" rIns="91425" bIns="45700" anchor="t" anchorCtr="0">
                <a:spAutoFit/>
              </a:bodyPr>
              <a:lstStyle/>
              <a:p>
                <a:pPr marL="457200" marR="3429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Diego wants to survey a sample of students at his school to learn about the percentage of students who are satisfied with the food in the cafeteria. He decides to go to the cafeteria on a Monday and ask the first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25</m:t>
                    </m:r>
                  </m:oMath>
                </a14:m>
                <a:r>
                  <a:rPr lang="en-US" sz="2400" dirty="0">
                    <a:latin typeface="Verdana" panose="020B0604030504040204" pitchFamily="34" charset="0"/>
                    <a:ea typeface="Verdana" panose="020B0604030504040204" pitchFamily="34" charset="0"/>
                    <a:cs typeface="Verdana" panose="020B0604030504040204" pitchFamily="34" charset="0"/>
                  </a:rPr>
                  <a:t> students who purchase a lunch at the cafeteria if they are satisfied with the food. </a:t>
                </a: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Explain whether you think this is a good way for Diego to select his sample. </a:t>
                </a:r>
                <a:endParaRPr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49" name="Google Shape;449;p32"/>
              <p:cNvSpPr txBox="1">
                <a:spLocks noRot="1" noChangeAspect="1" noMove="1" noResize="1" noEditPoints="1" noAdjustHandles="1" noChangeArrowheads="1" noChangeShapeType="1" noTextEdit="1"/>
              </p:cNvSpPr>
              <p:nvPr/>
            </p:nvSpPr>
            <p:spPr>
              <a:xfrm>
                <a:off x="914400" y="377877"/>
                <a:ext cx="10515600" cy="2677616"/>
              </a:xfrm>
              <a:prstGeom prst="rect">
                <a:avLst/>
              </a:prstGeom>
              <a:blipFill rotWithShape="1">
                <a:blip r:embed="rId4"/>
                <a:stretch>
                  <a:fillRect l="-928" t="-1822" r="-1391" b="-4328"/>
                </a:stretch>
              </a:blipFill>
              <a:ln>
                <a:noFill/>
              </a:ln>
            </p:spPr>
            <p:txBody>
              <a:bodyPr/>
              <a:lstStyle/>
              <a:p>
                <a:r>
                  <a:rPr 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2"/>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47" name="Google Shape;447;p3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448" name="Google Shape;448;p3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49" name="Google Shape;449;p32"/>
              <p:cNvSpPr txBox="1"/>
              <p:nvPr/>
            </p:nvSpPr>
            <p:spPr>
              <a:xfrm>
                <a:off x="914400" y="377877"/>
                <a:ext cx="10515600" cy="1569620"/>
              </a:xfrm>
              <a:prstGeom prst="rect">
                <a:avLst/>
              </a:prstGeom>
              <a:noFill/>
              <a:ln>
                <a:noFill/>
              </a:ln>
            </p:spPr>
            <p:txBody>
              <a:bodyPr spcFirstLastPara="1" wrap="square" lIns="91425" tIns="45700" rIns="91425" bIns="45700" anchor="t" anchorCtr="0">
                <a:spAutoFit/>
              </a:bodyPr>
              <a:lstStyle/>
              <a:p>
                <a:pPr marL="457200" marR="3429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Eleanor wants to make the most accurate prediction about who will win the student council election. Explain whether it would be better for her to conduct a random sample of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people or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50</m:t>
                    </m:r>
                  </m:oMath>
                </a14:m>
                <a:r>
                  <a:rPr lang="en-US" sz="2400" dirty="0">
                    <a:latin typeface="Verdana" panose="020B0604030504040204" pitchFamily="34" charset="0"/>
                    <a:ea typeface="Verdana" panose="020B0604030504040204" pitchFamily="34" charset="0"/>
                    <a:cs typeface="Verdana" panose="020B0604030504040204" pitchFamily="34" charset="0"/>
                  </a:rPr>
                  <a:t> people.</a:t>
                </a:r>
                <a:endParaRPr lang="en-US" sz="1600" dirty="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449" name="Google Shape;449;p32"/>
              <p:cNvSpPr txBox="1">
                <a:spLocks noRot="1" noChangeAspect="1" noMove="1" noResize="1" noEditPoints="1" noAdjustHandles="1" noChangeArrowheads="1" noChangeShapeType="1" noTextEdit="1"/>
              </p:cNvSpPr>
              <p:nvPr/>
            </p:nvSpPr>
            <p:spPr>
              <a:xfrm>
                <a:off x="914400" y="377877"/>
                <a:ext cx="10515600" cy="1569620"/>
              </a:xfrm>
              <a:prstGeom prst="rect">
                <a:avLst/>
              </a:prstGeom>
              <a:blipFill rotWithShape="1">
                <a:blip r:embed="rId4"/>
                <a:stretch>
                  <a:fillRect l="-928" t="-3113" r="-812" b="-7782"/>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0097177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405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6" name="Google Shape;456;p33"/>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184</a:t>
            </a:r>
            <a:endParaRPr i="1" dirty="0">
              <a:latin typeface="Calibri"/>
              <a:ea typeface="Calibri"/>
              <a:cs typeface="Calibri"/>
              <a:sym typeface="Calibri"/>
            </a:endParaRPr>
          </a:p>
        </p:txBody>
      </p:sp>
      <p:pic>
        <p:nvPicPr>
          <p:cNvPr id="457" name="Google Shape;457;p3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7"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8"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34"/>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66" name="Google Shape;466;p3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184</a:t>
            </a:r>
            <a:endParaRPr i="1" dirty="0">
              <a:latin typeface="Calibri"/>
              <a:ea typeface="Calibri"/>
              <a:cs typeface="Calibri"/>
              <a:sym typeface="Calibri"/>
            </a:endParaRPr>
          </a:p>
        </p:txBody>
      </p:sp>
      <p:pic>
        <p:nvPicPr>
          <p:cNvPr id="467" name="Google Shape;467;p3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468" name="Google Shape;468;p34"/>
          <p:cNvSpPr txBox="1"/>
          <p:nvPr/>
        </p:nvSpPr>
        <p:spPr>
          <a:xfrm>
            <a:off x="1143000" y="284833"/>
            <a:ext cx="801930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5.1.6 Wrap-Up: Cool Down</a:t>
            </a:r>
            <a:endParaRPr dirty="0"/>
          </a:p>
        </p:txBody>
      </p:sp>
      <p:pic>
        <p:nvPicPr>
          <p:cNvPr id="469" name="Google Shape;469;p34"/>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
        <p:nvSpPr>
          <p:cNvPr id="470" name="Google Shape;470;p34"/>
          <p:cNvSpPr txBox="1"/>
          <p:nvPr/>
        </p:nvSpPr>
        <p:spPr>
          <a:xfrm>
            <a:off x="914400" y="1386025"/>
            <a:ext cx="10515600" cy="1938952"/>
          </a:xfrm>
          <a:prstGeom prst="rect">
            <a:avLst/>
          </a:prstGeom>
          <a:noFill/>
          <a:ln>
            <a:noFill/>
          </a:ln>
        </p:spPr>
        <p:txBody>
          <a:bodyPr spcFirstLastPara="1" wrap="square" lIns="91425" tIns="45700" rIns="91425" bIns="45700" anchor="t" anchorCtr="0">
            <a:spAutoFit/>
          </a:bodyPr>
          <a:lstStyle/>
          <a:p>
            <a:pPr marR="34290"/>
            <a:r>
              <a:rPr lang="en-US" sz="2400" dirty="0">
                <a:latin typeface="Verdana" panose="020B0604030504040204" pitchFamily="34" charset="0"/>
                <a:ea typeface="Verdana" panose="020B0604030504040204" pitchFamily="34" charset="0"/>
                <a:cs typeface="Verdana" panose="020B0604030504040204" pitchFamily="34" charset="0"/>
              </a:rPr>
              <a:t>Anthony is conducting research to determine how students at his school get to school each day (biking, walking, car, bus, etc.). Because there are many students in his school, he will be conducting a survey of a random sample of students to make predictions about the overall population.</a:t>
            </a:r>
            <a:endParaRPr lang="en-US" sz="1600" dirty="0">
              <a:latin typeface="Cambria" panose="02040503050406030204" pitchFamily="18" charset="0"/>
              <a:ea typeface="Times New Roman" panose="02020603050405020304" pitchFamily="18" charset="0"/>
              <a:cs typeface="Cambria" panose="020405030504060302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35"/>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77" name="Google Shape;477;p3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478" name="Google Shape;478;p35"/>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79" name="Google Shape;479;p35"/>
              <p:cNvSpPr txBox="1"/>
              <p:nvPr/>
            </p:nvSpPr>
            <p:spPr>
              <a:xfrm>
                <a:off x="914400" y="509508"/>
                <a:ext cx="10515600" cy="3683019"/>
              </a:xfrm>
              <a:prstGeom prst="rect">
                <a:avLst/>
              </a:prstGeom>
              <a:noFill/>
              <a:ln>
                <a:noFill/>
              </a:ln>
            </p:spPr>
            <p:txBody>
              <a:bodyPr spcFirstLastPara="1" wrap="square" lIns="91425" tIns="45700" rIns="91425" bIns="45700" anchor="t" anchorCtr="0">
                <a:spAutoFit/>
              </a:bodyPr>
              <a:lstStyle/>
              <a:p>
                <a:pPr marL="457200" marR="3429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Select all the options that would produce a random sample to represent the overall population of the school.</a:t>
                </a:r>
              </a:p>
              <a:p>
                <a:pPr marL="457200" marR="3429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00100" lvl="0" indent="-342900">
                  <a:spcAft>
                    <a:spcPts val="1000"/>
                  </a:spcAft>
                  <a:buFont typeface="Wingdings" pitchFamily="2" charset="2"/>
                  <a:buChar char="q"/>
                </a:pPr>
                <a:r>
                  <a:rPr lang="en-US" sz="2000" dirty="0">
                    <a:latin typeface="Verdana" pitchFamily="34" charset="0"/>
                    <a:ea typeface="Verdana" pitchFamily="34" charset="0"/>
                  </a:rPr>
                  <a:t>Anthony will get to school before everyone else and survey the first </a:t>
                </a:r>
                <a:br>
                  <a:rPr lang="en-US" sz="2000" dirty="0">
                    <a:latin typeface="Verdana" pitchFamily="34" charset="0"/>
                    <a:ea typeface="Verdana" pitchFamily="34" charset="0"/>
                  </a:rPr>
                </a:br>
                <a14:m>
                  <m:oMath xmlns:m="http://schemas.openxmlformats.org/officeDocument/2006/math">
                    <m:r>
                      <a:rPr lang="en-US" sz="2000" i="1" dirty="0" smtClean="0">
                        <a:latin typeface="Cambria Math"/>
                        <a:ea typeface="Verdana" pitchFamily="34" charset="0"/>
                      </a:rPr>
                      <m:t>50</m:t>
                    </m:r>
                  </m:oMath>
                </a14:m>
                <a:r>
                  <a:rPr lang="en-US" sz="2000" dirty="0">
                    <a:latin typeface="Verdana" pitchFamily="34" charset="0"/>
                    <a:ea typeface="Verdana" pitchFamily="34" charset="0"/>
                  </a:rPr>
                  <a:t> people who walk in the doors. </a:t>
                </a:r>
              </a:p>
              <a:p>
                <a:pPr marL="800100" lvl="0" indent="-342900">
                  <a:spcAft>
                    <a:spcPts val="1000"/>
                  </a:spcAft>
                  <a:buFont typeface="Wingdings" pitchFamily="2" charset="2"/>
                  <a:buChar char="q"/>
                </a:pPr>
                <a:r>
                  <a:rPr lang="en-US" sz="2000" dirty="0">
                    <a:latin typeface="Verdana" pitchFamily="34" charset="0"/>
                    <a:ea typeface="Verdana" pitchFamily="34" charset="0"/>
                  </a:rPr>
                  <a:t>Anthony will survey everyone at his jazz band practice. </a:t>
                </a:r>
              </a:p>
              <a:p>
                <a:pPr marL="800100" lvl="0" indent="-342900">
                  <a:spcAft>
                    <a:spcPts val="1000"/>
                  </a:spcAft>
                  <a:buFont typeface="Wingdings" pitchFamily="2" charset="2"/>
                  <a:buChar char="q"/>
                </a:pPr>
                <a:r>
                  <a:rPr lang="en-US" sz="2000" dirty="0">
                    <a:latin typeface="Verdana" pitchFamily="34" charset="0"/>
                    <a:ea typeface="Verdana" pitchFamily="34" charset="0"/>
                  </a:rPr>
                  <a:t>Anthony will survey two randomly chosen students in every homeroom. </a:t>
                </a:r>
              </a:p>
              <a:p>
                <a:pPr marL="800100" lvl="0" indent="-342900">
                  <a:spcAft>
                    <a:spcPts val="1000"/>
                  </a:spcAft>
                  <a:buFont typeface="Wingdings" pitchFamily="2" charset="2"/>
                  <a:buChar char="q"/>
                </a:pPr>
                <a:r>
                  <a:rPr lang="en-US" sz="2000" dirty="0">
                    <a:latin typeface="Verdana" pitchFamily="34" charset="0"/>
                    <a:ea typeface="Verdana" pitchFamily="34" charset="0"/>
                  </a:rPr>
                  <a:t>Anthony will assign each student in the school a number, randomly choose 50 numbers, and survey those students. </a:t>
                </a:r>
              </a:p>
              <a:p>
                <a:pPr marL="800100" lvl="0" indent="-342900">
                  <a:buFont typeface="Wingdings" pitchFamily="2" charset="2"/>
                  <a:buChar char="q"/>
                </a:pPr>
                <a:r>
                  <a:rPr lang="en-US" sz="2000" dirty="0">
                    <a:latin typeface="Verdana" pitchFamily="34" charset="0"/>
                    <a:ea typeface="Verdana" pitchFamily="34" charset="0"/>
                  </a:rPr>
                  <a:t>Anthony will survey every third student he sees on his walk to school.</a:t>
                </a:r>
              </a:p>
            </p:txBody>
          </p:sp>
        </mc:Choice>
        <mc:Fallback xmlns="">
          <p:sp>
            <p:nvSpPr>
              <p:cNvPr id="479" name="Google Shape;479;p35"/>
              <p:cNvSpPr txBox="1">
                <a:spLocks noRot="1" noChangeAspect="1" noMove="1" noResize="1" noEditPoints="1" noAdjustHandles="1" noChangeArrowheads="1" noChangeShapeType="1" noTextEdit="1"/>
              </p:cNvSpPr>
              <p:nvPr/>
            </p:nvSpPr>
            <p:spPr>
              <a:xfrm>
                <a:off x="914400" y="509508"/>
                <a:ext cx="10515600" cy="3683019"/>
              </a:xfrm>
              <a:prstGeom prst="rect">
                <a:avLst/>
              </a:prstGeom>
              <a:blipFill rotWithShape="1">
                <a:blip r:embed="rId4"/>
                <a:stretch>
                  <a:fillRect l="-638" t="-993" b="-2152"/>
                </a:stretch>
              </a:blipFill>
              <a:ln>
                <a:noFill/>
              </a:ln>
            </p:spPr>
            <p:txBody>
              <a:bodyPr/>
              <a:lstStyle/>
              <a:p>
                <a:r>
                  <a:rPr lang="en-US">
                    <a:noFill/>
                  </a:rPr>
                  <a:t> </a:t>
                </a:r>
              </a:p>
            </p:txBody>
          </p:sp>
        </mc:Fallback>
      </mc:AlternateContent>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250</TotalTime>
  <Words>2046</Words>
  <Application>Microsoft Macintosh PowerPoint</Application>
  <PresentationFormat>Widescreen</PresentationFormat>
  <Paragraphs>231</Paragraphs>
  <Slides>36</Slides>
  <Notes>36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Calibri</vt:lpstr>
      <vt:lpstr>Arial Black</vt:lpstr>
      <vt:lpstr>Cambria Math</vt:lpstr>
      <vt:lpstr>Wingdings</vt:lpstr>
      <vt:lpstr>Verdana</vt:lpstr>
      <vt:lpstr>Calibri Light</vt:lpstr>
      <vt:lpstr>Arial</vt:lpstr>
      <vt:lpstr>Cambria</vt:lpstr>
      <vt:lpstr>Century Gothic</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Math  Unit 5, Lesson 1  What are Ratios?  Volume 2, pg. #</dc:title>
  <dc:creator>Karen McKenzie</dc:creator>
  <cp:lastModifiedBy>Diana Barnett</cp:lastModifiedBy>
  <cp:revision>26</cp:revision>
  <dcterms:created xsi:type="dcterms:W3CDTF">2015-03-17T18:51:18Z</dcterms:created>
  <dcterms:modified xsi:type="dcterms:W3CDTF">2023-01-27T16:52:15Z</dcterms:modified>
</cp:coreProperties>
</file>