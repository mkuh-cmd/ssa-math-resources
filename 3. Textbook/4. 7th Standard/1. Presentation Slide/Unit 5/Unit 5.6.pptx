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345" r:id="rId4"/>
    <p:sldId id="286" r:id="rId5"/>
    <p:sldId id="261" r:id="rId6"/>
    <p:sldId id="287" r:id="rId7"/>
    <p:sldId id="383" r:id="rId8"/>
    <p:sldId id="371" r:id="rId9"/>
    <p:sldId id="372" r:id="rId10"/>
    <p:sldId id="373" r:id="rId11"/>
    <p:sldId id="374" r:id="rId12"/>
    <p:sldId id="375" r:id="rId13"/>
    <p:sldId id="376" r:id="rId14"/>
    <p:sldId id="398" r:id="rId15"/>
    <p:sldId id="399" r:id="rId16"/>
    <p:sldId id="400" r:id="rId17"/>
    <p:sldId id="401" r:id="rId18"/>
    <p:sldId id="289" r:id="rId19"/>
    <p:sldId id="290" r:id="rId20"/>
    <p:sldId id="389" r:id="rId21"/>
    <p:sldId id="390" r:id="rId22"/>
    <p:sldId id="391" r:id="rId23"/>
    <p:sldId id="392" r:id="rId24"/>
    <p:sldId id="306" r:id="rId25"/>
    <p:sldId id="307" r:id="rId26"/>
  </p:sldIdLst>
  <p:sldSz cx="12192000" cy="6858000"/>
  <p:notesSz cx="6858000" cy="9144000"/>
  <p:embeddedFontLst>
    <p:embeddedFont>
      <p:font typeface="Arial Black" panose="020B0604020202020204" pitchFamily="34" charset="0"/>
      <p:bold r:id="rId28"/>
    </p:embeddedFont>
    <p:embeddedFont>
      <p:font typeface="Calibri" panose="020F0502020204030204" pitchFamily="34" charset="0"/>
      <p:regular r:id="rId29"/>
      <p:bold r:id="rId30"/>
      <p:italic r:id="rId31"/>
      <p:boldItalic r:id="rId32"/>
    </p:embeddedFont>
    <p:embeddedFont>
      <p:font typeface="Cambria" panose="02040503050406030204" pitchFamily="18" charset="0"/>
      <p:regular r:id="rId33"/>
      <p:bold r:id="rId34"/>
      <p:italic r:id="rId35"/>
      <p:boldItalic r:id="rId36"/>
    </p:embeddedFont>
    <p:embeddedFont>
      <p:font typeface="Cambria Math" panose="02040503050406030204" pitchFamily="18" charset="0"/>
      <p:regular r:id="rId37"/>
    </p:embeddedFont>
    <p:embeddedFont>
      <p:font typeface="Century Gothic" panose="020B0502020202020204" pitchFamily="34" charset="0"/>
      <p:regular r:id="rId38"/>
      <p:bold r:id="rId39"/>
      <p:italic r:id="rId40"/>
      <p:boldItalic r:id="rId41"/>
    </p:embeddedFont>
    <p:embeddedFont>
      <p:font typeface="Cutive" pitchFamily="2" charset="0"/>
      <p:regular r:id="rId42"/>
    </p:embeddedFont>
    <p:embeddedFont>
      <p:font typeface="Verdana" panose="020B0604030504040204" pitchFamily="34" charset="0"/>
      <p:regular r:id="rId43"/>
      <p:bold r:id="rId44"/>
      <p:italic r:id="rId45"/>
      <p:boldItalic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9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4E5F"/>
    <a:srgbClr val="6ABC5E"/>
    <a:srgbClr val="BFBFBF"/>
    <a:srgbClr val="C9DF6F"/>
    <a:srgbClr val="417DBF"/>
    <a:srgbClr val="3F2A67"/>
    <a:srgbClr val="26B7D4"/>
    <a:srgbClr val="54B5D1"/>
    <a:srgbClr val="33BEA6"/>
    <a:srgbClr val="2DA4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37139"/>
    <p:restoredTop sz="96215"/>
  </p:normalViewPr>
  <p:slideViewPr>
    <p:cSldViewPr snapToGrid="0">
      <p:cViewPr varScale="1">
        <p:scale>
          <a:sx n="128" d="100"/>
          <a:sy n="128" d="100"/>
        </p:scale>
        <p:origin x="1472" y="1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2.fntdata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42" Type="http://schemas.openxmlformats.org/officeDocument/2006/relationships/font" Target="fonts/font15.fntdata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2.fntdata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font" Target="fonts/font13.fntdata"/><Relationship Id="rId45" Type="http://schemas.openxmlformats.org/officeDocument/2006/relationships/font" Target="fonts/font1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61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4" Type="http://schemas.openxmlformats.org/officeDocument/2006/relationships/font" Target="fonts/font17.fntdata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openxmlformats.org/officeDocument/2006/relationships/font" Target="fonts/font16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Relationship Id="rId46" Type="http://schemas.openxmlformats.org/officeDocument/2006/relationships/font" Target="fonts/font19.fntdata"/><Relationship Id="rId59" Type="http://customschemas.google.com/relationships/presentationmetadata" Target="metadata"/><Relationship Id="rId20" Type="http://schemas.openxmlformats.org/officeDocument/2006/relationships/slide" Target="slides/slide19.xml"/><Relationship Id="rId41" Type="http://schemas.openxmlformats.org/officeDocument/2006/relationships/font" Target="fonts/font14.fntdata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7645428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Video Link: https://</a:t>
            </a:r>
            <a:r>
              <a:rPr lang="en-US" dirty="0" err="1"/>
              <a:t>algebranation.wistia.com</a:t>
            </a:r>
            <a:r>
              <a:rPr lang="en-US" dirty="0"/>
              <a:t>/medias/fi4fidi5y8</a:t>
            </a: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Video Link: https://</a:t>
            </a:r>
            <a:r>
              <a:rPr lang="en-US" dirty="0" err="1"/>
              <a:t>algebranation.wistia.com</a:t>
            </a:r>
            <a:r>
              <a:rPr lang="en-US" dirty="0"/>
              <a:t>/medias/fi4fidi5y8</a:t>
            </a: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541589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413163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335488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191853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538053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4597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676176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708216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33677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885867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963443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5381757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8433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2810330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4863721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13.jpe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11" Type="http://schemas.openxmlformats.org/officeDocument/2006/relationships/image" Target="../media/image10.png"/><Relationship Id="rId5" Type="http://schemas.openxmlformats.org/officeDocument/2006/relationships/image" Target="../media/image17.tiff"/><Relationship Id="rId10" Type="http://schemas.openxmlformats.org/officeDocument/2006/relationships/image" Target="../media/image22.png"/><Relationship Id="rId4" Type="http://schemas.openxmlformats.org/officeDocument/2006/relationships/image" Target="../media/image14.png"/><Relationship Id="rId9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3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5.png"/><Relationship Id="rId10" Type="http://schemas.openxmlformats.org/officeDocument/2006/relationships/image" Target="../media/image10.png"/><Relationship Id="rId4" Type="http://schemas.openxmlformats.org/officeDocument/2006/relationships/image" Target="../media/image18.png"/><Relationship Id="rId9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9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1.png"/><Relationship Id="rId10" Type="http://schemas.openxmlformats.org/officeDocument/2006/relationships/image" Target="../media/image10.png"/><Relationship Id="rId4" Type="http://schemas.openxmlformats.org/officeDocument/2006/relationships/image" Target="../media/image19.tiff"/><Relationship Id="rId9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240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11" Type="http://schemas.openxmlformats.org/officeDocument/2006/relationships/image" Target="../media/image10.png"/><Relationship Id="rId10" Type="http://schemas.openxmlformats.org/officeDocument/2006/relationships/image" Target="../media/image41.png"/><Relationship Id="rId4" Type="http://schemas.openxmlformats.org/officeDocument/2006/relationships/image" Target="../media/image25.tiff"/><Relationship Id="rId9" Type="http://schemas.openxmlformats.org/officeDocument/2006/relationships/image" Target="../media/image4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10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0" Type="http://schemas.openxmlformats.org/officeDocument/2006/relationships/image" Target="../media/image50.png"/><Relationship Id="rId4" Type="http://schemas.openxmlformats.org/officeDocument/2006/relationships/image" Target="../media/image35.png"/><Relationship Id="rId9" Type="http://schemas.openxmlformats.org/officeDocument/2006/relationships/image" Target="../media/image4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1" y="2212773"/>
            <a:ext cx="5077650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7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5, Lesson 6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Scale Factors – Area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208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-8100"/>
            <a:ext cx="4094106" cy="6866100"/>
          </a:xfrm>
          <a:prstGeom prst="rect">
            <a:avLst/>
          </a:prstGeom>
          <a:solidFill>
            <a:srgbClr val="6ABC5E"/>
          </a:solidFill>
          <a:ln w="9525" cap="flat" cmpd="sng">
            <a:solidFill>
              <a:srgbClr val="6ABC5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8753" y="1514477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22608"/>
            <a:ext cx="223200" cy="6866100"/>
          </a:xfrm>
          <a:prstGeom prst="rect">
            <a:avLst/>
          </a:prstGeom>
          <a:solidFill>
            <a:srgbClr val="6ABC5E"/>
          </a:solidFill>
          <a:ln w="9525" cap="flat" cmpd="sng">
            <a:solidFill>
              <a:srgbClr val="6ABC5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72047" y="369510"/>
            <a:ext cx="7509900" cy="74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873" y="36545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442546" y="1579093"/>
            <a:ext cx="108000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MA.7.GR.1.5</a:t>
            </a:r>
          </a:p>
          <a:p>
            <a:pPr marL="552450" lvl="1"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Solve mathematical and real-world problems involving dimensions and areas of geometric figures, including scale drawings and scale factors. </a:t>
            </a: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4190" y="615586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8889924" y="6500862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208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78;g104476d1465_1_17">
            <a:extLst>
              <a:ext uri="{FF2B5EF4-FFF2-40B4-BE49-F238E27FC236}">
                <a16:creationId xmlns:a16="http://schemas.microsoft.com/office/drawing/2014/main" id="{78632872-3F42-3447-924A-20A16C6976F7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6ABC5E"/>
          </a:solidFill>
          <a:ln w="9525" cap="flat" cmpd="sng">
            <a:solidFill>
              <a:srgbClr val="6ABC5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5" name="Google Shape;295;g103996e1364_0_10">
            <a:extLst>
              <a:ext uri="{FF2B5EF4-FFF2-40B4-BE49-F238E27FC236}">
                <a16:creationId xmlns:a16="http://schemas.microsoft.com/office/drawing/2014/main" id="{73A67FE7-C13F-C24F-85E9-A4B96A1F42A8}"/>
              </a:ext>
            </a:extLst>
          </p:cNvPr>
          <p:cNvSpPr txBox="1">
            <a:spLocks/>
          </p:cNvSpPr>
          <p:nvPr/>
        </p:nvSpPr>
        <p:spPr>
          <a:xfrm>
            <a:off x="1141670" y="76250"/>
            <a:ext cx="906525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7" name="Google Shape;296;g103996e1364_0_10">
            <a:extLst>
              <a:ext uri="{FF2B5EF4-FFF2-40B4-BE49-F238E27FC236}">
                <a16:creationId xmlns:a16="http://schemas.microsoft.com/office/drawing/2014/main" id="{5BB4D65A-27E8-4F4F-9348-5380FE318E8D}"/>
              </a:ext>
            </a:extLst>
          </p:cNvPr>
          <p:cNvSpPr txBox="1">
            <a:spLocks/>
          </p:cNvSpPr>
          <p:nvPr/>
        </p:nvSpPr>
        <p:spPr>
          <a:xfrm>
            <a:off x="1141670" y="1585927"/>
            <a:ext cx="10174030" cy="4745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4190" y="615586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8889924" y="6500862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208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873" y="36545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42996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6ABC5E"/>
          </a:solidFill>
          <a:ln w="9525" cap="flat" cmpd="sng">
            <a:solidFill>
              <a:srgbClr val="6ABC5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4190" y="615586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71330" y="76250"/>
            <a:ext cx="8125975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8036" y="36545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8889924" y="6500862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208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437662" y="1583592"/>
            <a:ext cx="10800000" cy="40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36575" indent="-536575">
              <a:buFont typeface="Wingdings" pitchFamily="2" charset="2"/>
              <a:buChar char="q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relate the areas of rectangles to their scale factors.</a:t>
            </a:r>
          </a:p>
          <a:p>
            <a:pPr marL="536575" indent="-536575">
              <a:buFont typeface="Wingdings" pitchFamily="2" charset="2"/>
              <a:buChar char="q"/>
            </a:pPr>
            <a:endParaRPr lang="en-US" sz="35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536575" indent="-536575">
              <a:buFont typeface="Wingdings" pitchFamily="2" charset="2"/>
              <a:buChar char="q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relate the perimeters and areas of triangles to their scale factors. </a:t>
            </a:r>
          </a:p>
          <a:p>
            <a:pPr marL="536575" indent="-536575">
              <a:buFont typeface="Wingdings" pitchFamily="2" charset="2"/>
              <a:buChar char="q"/>
            </a:pPr>
            <a:endParaRPr lang="en-US" sz="35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536575" indent="-536575">
              <a:buFont typeface="Wingdings" pitchFamily="2" charset="2"/>
              <a:buChar char="q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relate the perimeters and areas of trapezoids to their scale factors. </a:t>
            </a: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6ABC5E"/>
          </a:solidFill>
          <a:ln w="9525" cap="flat" cmpd="sng">
            <a:solidFill>
              <a:srgbClr val="6ABC5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4190" y="615586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8889924" y="6500862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208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6ABC5E"/>
          </a:solidFill>
          <a:ln w="9525" cap="flat" cmpd="sng">
            <a:solidFill>
              <a:srgbClr val="6ABC5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73172" y="76250"/>
            <a:ext cx="910503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5.6.1 Warm-Up: World’s Largest Gummy Bear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036" y="36545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535638" y="1459457"/>
                <a:ext cx="745657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World's Largest Gummy Bear is the equivalent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1,400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regular sized gummy bears and packs a whopping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6,120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calories.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638" y="1459457"/>
                <a:ext cx="7456570" cy="1200329"/>
              </a:xfrm>
              <a:prstGeom prst="rect">
                <a:avLst/>
              </a:prstGeom>
              <a:blipFill rotWithShape="1">
                <a:blip r:embed="rId4"/>
                <a:stretch>
                  <a:fillRect l="-1308" t="-4061" r="-899" b="-10152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3">
            <a:extLst>
              <a:ext uri="{FF2B5EF4-FFF2-40B4-BE49-F238E27FC236}">
                <a16:creationId xmlns:a16="http://schemas.microsoft.com/office/drawing/2014/main" id="{F32FA606-312E-FE45-9E7F-5EB4EB5783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1963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0" name="Rectangle 15">
            <a:extLst>
              <a:ext uri="{FF2B5EF4-FFF2-40B4-BE49-F238E27FC236}">
                <a16:creationId xmlns:a16="http://schemas.microsoft.com/office/drawing/2014/main" id="{3F80061E-0FC7-534E-8F32-815F86902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4557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1" name="Rectangle 16">
            <a:extLst>
              <a:ext uri="{FF2B5EF4-FFF2-40B4-BE49-F238E27FC236}">
                <a16:creationId xmlns:a16="http://schemas.microsoft.com/office/drawing/2014/main" id="{F0663C2D-D71E-9747-B131-91E050FC8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38085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18">
            <a:extLst>
              <a:ext uri="{FF2B5EF4-FFF2-40B4-BE49-F238E27FC236}">
                <a16:creationId xmlns:a16="http://schemas.microsoft.com/office/drawing/2014/main" id="{1EDB4A78-8756-D641-B2CF-25FE103BD0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38085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2" name="Picture 11" descr="Giant Gummi Bear at Firebox.com by jourdanherrick liked from a luxurious wicker sofa.">
            <a:extLst>
              <a:ext uri="{FF2B5EF4-FFF2-40B4-BE49-F238E27FC236}">
                <a16:creationId xmlns:a16="http://schemas.microsoft.com/office/drawing/2014/main" id="{AA9DA45F-A4D5-DF4F-99F9-F232D1294B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96223" y="1459457"/>
            <a:ext cx="2939415" cy="293941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08F60D8-63C4-DC4F-B17B-7E55D4658744}"/>
              </a:ext>
            </a:extLst>
          </p:cNvPr>
          <p:cNvSpPr txBox="1"/>
          <p:nvPr/>
        </p:nvSpPr>
        <p:spPr>
          <a:xfrm>
            <a:off x="535639" y="2977516"/>
            <a:ext cx="75532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do you wonder about the World's Largest Gummy Bear?</a:t>
            </a:r>
          </a:p>
        </p:txBody>
      </p:sp>
      <p:pic>
        <p:nvPicPr>
          <p:cNvPr id="16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4190" y="615586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7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8889924" y="6500862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208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549015" y="377365"/>
                <a:ext cx="10800000" cy="39378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height of the World's Largest Gummy Bear is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9</m:t>
                    </m:r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</m:t>
                        </m:r>
                      </m:num>
                      <m:den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inches (in.). Guess what the scale factor for the World's Largest Gummy Bear is to a normal gummy bear.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height of a regular gummy bear is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0.8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in. Use your scale factor to determine the accuracy of your guess.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015" y="377365"/>
                <a:ext cx="10800000" cy="3937873"/>
              </a:xfrm>
              <a:prstGeom prst="rect">
                <a:avLst/>
              </a:prstGeom>
              <a:blipFill rotWithShape="1">
                <a:blip r:embed="rId3"/>
                <a:stretch>
                  <a:fillRect l="-847" r="-508" b="-247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3">
            <a:extLst>
              <a:ext uri="{FF2B5EF4-FFF2-40B4-BE49-F238E27FC236}">
                <a16:creationId xmlns:a16="http://schemas.microsoft.com/office/drawing/2014/main" id="{F32FA606-312E-FE45-9E7F-5EB4EB5783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1963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0" name="Rectangle 15">
            <a:extLst>
              <a:ext uri="{FF2B5EF4-FFF2-40B4-BE49-F238E27FC236}">
                <a16:creationId xmlns:a16="http://schemas.microsoft.com/office/drawing/2014/main" id="{3F80061E-0FC7-534E-8F32-815F86902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4557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1" name="Rectangle 16">
            <a:extLst>
              <a:ext uri="{FF2B5EF4-FFF2-40B4-BE49-F238E27FC236}">
                <a16:creationId xmlns:a16="http://schemas.microsoft.com/office/drawing/2014/main" id="{F0663C2D-D71E-9747-B131-91E050FC8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38085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18">
            <a:extLst>
              <a:ext uri="{FF2B5EF4-FFF2-40B4-BE49-F238E27FC236}">
                <a16:creationId xmlns:a16="http://schemas.microsoft.com/office/drawing/2014/main" id="{1EDB4A78-8756-D641-B2CF-25FE103BD0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38085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4190" y="615586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8889924" y="6500862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208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6ABC5E"/>
          </a:solidFill>
          <a:ln w="9525" cap="flat" cmpd="sng">
            <a:solidFill>
              <a:srgbClr val="6ABC5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09178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6ABC5E"/>
          </a:solidFill>
          <a:ln w="9525" cap="flat" cmpd="sng">
            <a:solidFill>
              <a:srgbClr val="6ABC5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" name="Google Shape;313;g104476d1465_1_39">
            <a:extLst>
              <a:ext uri="{FF2B5EF4-FFF2-40B4-BE49-F238E27FC236}">
                <a16:creationId xmlns:a16="http://schemas.microsoft.com/office/drawing/2014/main" id="{FBE81C39-C116-3E43-8FD2-10F6C7887F5E}"/>
              </a:ext>
            </a:extLst>
          </p:cNvPr>
          <p:cNvSpPr txBox="1">
            <a:spLocks/>
          </p:cNvSpPr>
          <p:nvPr/>
        </p:nvSpPr>
        <p:spPr>
          <a:xfrm>
            <a:off x="5597311" y="2766144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  <a:buFont typeface="Cutive"/>
              <a:buNone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lang="en-US"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image8.png" descr="Icon&#10;&#10;Description automatically generated">
            <a:extLst>
              <a:ext uri="{FF2B5EF4-FFF2-40B4-BE49-F238E27FC236}">
                <a16:creationId xmlns:a16="http://schemas.microsoft.com/office/drawing/2014/main" id="{B7CF1B7F-6D46-1F4D-AEAF-001F21A7F71B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4445163" y="2852920"/>
            <a:ext cx="1152149" cy="1152149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4190" y="615586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8889924" y="6500862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209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990403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8794" y="0"/>
            <a:ext cx="223200" cy="6866100"/>
          </a:xfrm>
          <a:prstGeom prst="rect">
            <a:avLst/>
          </a:prstGeom>
          <a:solidFill>
            <a:srgbClr val="6ABC5E"/>
          </a:solidFill>
          <a:ln w="9525" cap="flat" cmpd="sng">
            <a:solidFill>
              <a:srgbClr val="6ABC5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64379" y="79360"/>
            <a:ext cx="1062610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5.6.2 Exploration: Scale Factor and Area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/>
              <p:nvPr/>
            </p:nvSpPr>
            <p:spPr>
              <a:xfrm>
                <a:off x="545204" y="1463417"/>
                <a:ext cx="10800000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Work with your partner to complete the following.</a:t>
                </a:r>
              </a:p>
              <a:p>
                <a:pPr lvl="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same figures from Paolo’s advertisement are shown where Figure X has a length (L)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12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units and a width (W)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6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units, and Figure Y has a length (L)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6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units and a width (W) of </a:t>
                </a:r>
                <a:b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3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units.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204" y="1463417"/>
                <a:ext cx="10800000" cy="2308324"/>
              </a:xfrm>
              <a:prstGeom prst="rect">
                <a:avLst/>
              </a:prstGeom>
              <a:blipFill>
                <a:blip r:embed="rId3"/>
                <a:stretch>
                  <a:fillRect l="-822" t="-2186"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image8.png" descr="Icon&#10;&#10;Description automatically generated">
            <a:extLst>
              <a:ext uri="{FF2B5EF4-FFF2-40B4-BE49-F238E27FC236}">
                <a16:creationId xmlns:a16="http://schemas.microsoft.com/office/drawing/2014/main" id="{BB23145B-E454-1E4E-8BFC-AE8BF7469E77}"/>
              </a:ext>
            </a:extLst>
          </p:cNvPr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18036" y="365450"/>
            <a:ext cx="753520" cy="753520"/>
          </a:xfrm>
          <a:prstGeom prst="rect">
            <a:avLst/>
          </a:prstGeom>
          <a:ln/>
        </p:spPr>
      </p:pic>
      <p:pic>
        <p:nvPicPr>
          <p:cNvPr id="9" name="Picture 8" descr="Chart, histogram&#10;&#10;Description automatically generated">
            <a:extLst>
              <a:ext uri="{FF2B5EF4-FFF2-40B4-BE49-F238E27FC236}">
                <a16:creationId xmlns:a16="http://schemas.microsoft.com/office/drawing/2014/main" id="{84F276B9-519D-8443-B93C-433399353659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0969" b="36873"/>
          <a:stretch/>
        </p:blipFill>
        <p:spPr bwMode="auto">
          <a:xfrm>
            <a:off x="3616565" y="4215459"/>
            <a:ext cx="5208121" cy="181855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28039A1D-1FCC-214C-880C-03E94ECEDC17}"/>
              </a:ext>
            </a:extLst>
          </p:cNvPr>
          <p:cNvGrpSpPr/>
          <p:nvPr/>
        </p:nvGrpSpPr>
        <p:grpSpPr>
          <a:xfrm>
            <a:off x="3345947" y="3980853"/>
            <a:ext cx="5559063" cy="2106953"/>
            <a:chOff x="-601883" y="-862729"/>
            <a:chExt cx="5880223" cy="2474060"/>
          </a:xfrm>
        </p:grpSpPr>
        <p:sp>
          <p:nvSpPr>
            <p:cNvPr id="12" name="Text Box 28">
              <a:extLst>
                <a:ext uri="{FF2B5EF4-FFF2-40B4-BE49-F238E27FC236}">
                  <a16:creationId xmlns:a16="http://schemas.microsoft.com/office/drawing/2014/main" id="{7874D233-0345-4C43-BD66-0A3726F0A802}"/>
                </a:ext>
              </a:extLst>
            </p:cNvPr>
            <p:cNvSpPr txBox="1"/>
            <p:nvPr/>
          </p:nvSpPr>
          <p:spPr>
            <a:xfrm>
              <a:off x="560465" y="178694"/>
              <a:ext cx="1638300" cy="6286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1000"/>
                </a:spcAft>
              </a:pPr>
              <a:r>
                <a:rPr lang="en-US" sz="1800" b="1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Figure X</a:t>
              </a:r>
              <a:endParaRPr lang="x-none" sz="120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Text Box 29">
              <a:extLst>
                <a:ext uri="{FF2B5EF4-FFF2-40B4-BE49-F238E27FC236}">
                  <a16:creationId xmlns:a16="http://schemas.microsoft.com/office/drawing/2014/main" id="{5E9E14C1-88C0-874F-896B-048F8791B26C}"/>
                </a:ext>
              </a:extLst>
            </p:cNvPr>
            <p:cNvSpPr txBox="1"/>
            <p:nvPr/>
          </p:nvSpPr>
          <p:spPr>
            <a:xfrm>
              <a:off x="3394965" y="639917"/>
              <a:ext cx="1638300" cy="6286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1000"/>
                </a:spcAft>
              </a:pPr>
              <a:r>
                <a:rPr lang="en-US" sz="1800" b="1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Figure Y</a:t>
              </a:r>
              <a:endParaRPr lang="x-none" sz="120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 Box 30">
                  <a:extLst>
                    <a:ext uri="{FF2B5EF4-FFF2-40B4-BE49-F238E27FC236}">
                      <a16:creationId xmlns:a16="http://schemas.microsoft.com/office/drawing/2014/main" id="{D2430EF3-AC0C-A04E-B17E-153F082F0B41}"/>
                    </a:ext>
                  </a:extLst>
                </p:cNvPr>
                <p:cNvSpPr txBox="1"/>
                <p:nvPr/>
              </p:nvSpPr>
              <p:spPr>
                <a:xfrm rot="16200000">
                  <a:off x="-1209192" y="86449"/>
                  <a:ext cx="1665605" cy="450988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800" b="1">
                      <a:latin typeface="Verdana" panose="020B0604030504040204" pitchFamily="34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W = </a:t>
                  </a:r>
                  <a14:m>
                    <m:oMath xmlns:m="http://schemas.openxmlformats.org/officeDocument/2006/math">
                      <m:r>
                        <a:rPr lang="en-US" sz="1800" b="1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𝟔</m:t>
                      </m:r>
                      <m:r>
                        <a:rPr lang="en-US" sz="1800" b="1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a14:m>
                  <a:r>
                    <a:rPr lang="en-US" sz="1800" b="1">
                      <a:latin typeface="Verdana" panose="020B0604030504040204" pitchFamily="34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in.</a:t>
                  </a:r>
                  <a:endParaRPr lang="x-none" sz="120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4" name="Text Box 30">
                  <a:extLst>
                    <a:ext uri="{FF2B5EF4-FFF2-40B4-BE49-F238E27FC236}">
                      <a16:creationId xmlns:a16="http://schemas.microsoft.com/office/drawing/2014/main" id="{D2430EF3-AC0C-A04E-B17E-153F082F0B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-1209192" y="86449"/>
                  <a:ext cx="1665605" cy="450988"/>
                </a:xfrm>
                <a:prstGeom prst="rect">
                  <a:avLst/>
                </a:prstGeom>
                <a:blipFill>
                  <a:blip r:embed="rId7"/>
                  <a:stretch>
                    <a:fillRect l="-5714" r="-8571" b="-3540"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 Box 31">
                  <a:extLst>
                    <a:ext uri="{FF2B5EF4-FFF2-40B4-BE49-F238E27FC236}">
                      <a16:creationId xmlns:a16="http://schemas.microsoft.com/office/drawing/2014/main" id="{9CD96D61-FD9A-EB4A-BCCE-1976712AEE05}"/>
                    </a:ext>
                  </a:extLst>
                </p:cNvPr>
                <p:cNvSpPr txBox="1"/>
                <p:nvPr/>
              </p:nvSpPr>
              <p:spPr>
                <a:xfrm rot="16200000">
                  <a:off x="4220043" y="553035"/>
                  <a:ext cx="1665605" cy="450988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800" b="1">
                      <a:latin typeface="Verdana" panose="020B0604030504040204" pitchFamily="34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W = </a:t>
                  </a:r>
                  <a14:m>
                    <m:oMath xmlns:m="http://schemas.openxmlformats.org/officeDocument/2006/math">
                      <m:r>
                        <a:rPr lang="en-US" sz="1800" b="1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𝟑</m:t>
                      </m:r>
                      <m:r>
                        <a:rPr lang="en-US" sz="1800" b="1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a14:m>
                  <a:r>
                    <a:rPr lang="en-US" sz="1800" b="1">
                      <a:latin typeface="Verdana" panose="020B0604030504040204" pitchFamily="34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in.</a:t>
                  </a:r>
                  <a:endParaRPr lang="x-none" sz="120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6" name="Text Box 31">
                  <a:extLst>
                    <a:ext uri="{FF2B5EF4-FFF2-40B4-BE49-F238E27FC236}">
                      <a16:creationId xmlns:a16="http://schemas.microsoft.com/office/drawing/2014/main" id="{9CD96D61-FD9A-EB4A-BCCE-1976712AEE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4220043" y="553035"/>
                  <a:ext cx="1665605" cy="450988"/>
                </a:xfrm>
                <a:prstGeom prst="rect">
                  <a:avLst/>
                </a:prstGeom>
                <a:blipFill>
                  <a:blip r:embed="rId8"/>
                  <a:stretch>
                    <a:fillRect l="-5714" r="-8571" b="-3540"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 Box 32">
                  <a:extLst>
                    <a:ext uri="{FF2B5EF4-FFF2-40B4-BE49-F238E27FC236}">
                      <a16:creationId xmlns:a16="http://schemas.microsoft.com/office/drawing/2014/main" id="{08A040A9-6045-5C4E-A835-BBF8B1D3E1C3}"/>
                    </a:ext>
                  </a:extLst>
                </p:cNvPr>
                <p:cNvSpPr txBox="1"/>
                <p:nvPr/>
              </p:nvSpPr>
              <p:spPr>
                <a:xfrm>
                  <a:off x="726894" y="-862729"/>
                  <a:ext cx="1665605" cy="450988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800" b="1">
                      <a:latin typeface="Verdana" panose="020B0604030504040204" pitchFamily="34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L = </a:t>
                  </a:r>
                  <a14:m>
                    <m:oMath xmlns:m="http://schemas.openxmlformats.org/officeDocument/2006/math">
                      <m:r>
                        <a:rPr lang="en-US" sz="1800" b="1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𝟏𝟐</m:t>
                      </m:r>
                    </m:oMath>
                  </a14:m>
                  <a:r>
                    <a:rPr lang="en-US" sz="1800" b="1">
                      <a:latin typeface="Verdana" panose="020B0604030504040204" pitchFamily="34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 in.</a:t>
                  </a:r>
                  <a:endParaRPr lang="x-none" sz="120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7" name="Text Box 32">
                  <a:extLst>
                    <a:ext uri="{FF2B5EF4-FFF2-40B4-BE49-F238E27FC236}">
                      <a16:creationId xmlns:a16="http://schemas.microsoft.com/office/drawing/2014/main" id="{08A040A9-6045-5C4E-A835-BBF8B1D3E1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6894" y="-862729"/>
                  <a:ext cx="1665605" cy="450988"/>
                </a:xfrm>
                <a:prstGeom prst="rect">
                  <a:avLst/>
                </a:prstGeom>
                <a:blipFill>
                  <a:blip r:embed="rId9"/>
                  <a:stretch>
                    <a:fillRect l="-3200" t="-6452" b="-22581"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 Box 33">
                  <a:extLst>
                    <a:ext uri="{FF2B5EF4-FFF2-40B4-BE49-F238E27FC236}">
                      <a16:creationId xmlns:a16="http://schemas.microsoft.com/office/drawing/2014/main" id="{14D3A23A-50A4-A143-A4C8-10CA23721EB8}"/>
                    </a:ext>
                  </a:extLst>
                </p:cNvPr>
                <p:cNvSpPr txBox="1"/>
                <p:nvPr/>
              </p:nvSpPr>
              <p:spPr>
                <a:xfrm>
                  <a:off x="3394965" y="20617"/>
                  <a:ext cx="1665605" cy="450988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800" b="1">
                      <a:latin typeface="Verdana" panose="020B0604030504040204" pitchFamily="34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L = </a:t>
                  </a:r>
                  <a14:m>
                    <m:oMath xmlns:m="http://schemas.openxmlformats.org/officeDocument/2006/math">
                      <m:r>
                        <a:rPr lang="en-US" sz="1800" b="1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𝟔</m:t>
                      </m:r>
                    </m:oMath>
                  </a14:m>
                  <a:r>
                    <a:rPr lang="en-US" sz="1800" b="1">
                      <a:latin typeface="Verdana" panose="020B0604030504040204" pitchFamily="34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 in.</a:t>
                  </a:r>
                  <a:endParaRPr lang="x-none" sz="120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8" name="Text Box 33">
                  <a:extLst>
                    <a:ext uri="{FF2B5EF4-FFF2-40B4-BE49-F238E27FC236}">
                      <a16:creationId xmlns:a16="http://schemas.microsoft.com/office/drawing/2014/main" id="{14D3A23A-50A4-A143-A4C8-10CA23721E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94965" y="20617"/>
                  <a:ext cx="1665605" cy="450988"/>
                </a:xfrm>
                <a:prstGeom prst="rect">
                  <a:avLst/>
                </a:prstGeom>
                <a:blipFill>
                  <a:blip r:embed="rId10"/>
                  <a:stretch>
                    <a:fillRect l="-3200" t="-6250" b="-18750"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CO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9" name="Google Shape;283;g104476d1465_1_17"/>
          <p:cNvPicPr preferRelativeResize="0"/>
          <p:nvPr/>
        </p:nvPicPr>
        <p:blipFill>
          <a:blip r:embed="rId11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4190" y="615586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0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8889924" y="6500862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209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919977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6ABC5E"/>
          </a:solidFill>
          <a:ln w="9525" cap="flat" cmpd="sng">
            <a:solidFill>
              <a:srgbClr val="6ABC5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4A4596-5923-6342-9500-70E8F702680A}"/>
              </a:ext>
            </a:extLst>
          </p:cNvPr>
          <p:cNvSpPr/>
          <p:nvPr/>
        </p:nvSpPr>
        <p:spPr>
          <a:xfrm>
            <a:off x="538391" y="378046"/>
            <a:ext cx="1080000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96938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scale factor from Figure X to Figure Y is  _________.</a:t>
            </a:r>
          </a:p>
          <a:p>
            <a:pPr marL="896938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6938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6938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6938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6938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is the area of Figure X?</a:t>
            </a:r>
          </a:p>
          <a:p>
            <a:pPr marL="896938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6938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6938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6938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6938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6938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is the area of Figure Y?</a:t>
            </a:r>
          </a:p>
        </p:txBody>
      </p:sp>
      <p:pic>
        <p:nvPicPr>
          <p:cNvPr id="6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4190" y="615586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8889924" y="6500862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209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98398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6ABC5E"/>
          </a:solidFill>
          <a:ln w="9525" cap="flat" cmpd="sng">
            <a:solidFill>
              <a:srgbClr val="6ABC5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4A4596-5923-6342-9500-70E8F702680A}"/>
              </a:ext>
            </a:extLst>
          </p:cNvPr>
          <p:cNvSpPr/>
          <p:nvPr/>
        </p:nvSpPr>
        <p:spPr>
          <a:xfrm>
            <a:off x="537090" y="376605"/>
            <a:ext cx="110471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96938" indent="-457200">
              <a:buFont typeface="+mj-lt"/>
              <a:buAutoNum type="alphaLcPeriod" startAt="4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is the ratio of the area of Figure Y to the area of Figure X?</a:t>
            </a:r>
          </a:p>
          <a:p>
            <a:pPr marL="896938" indent="-457200">
              <a:buFont typeface="+mj-lt"/>
              <a:buAutoNum type="alphaLcPeriod" startAt="4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6938" indent="-457200">
              <a:buFont typeface="+mj-lt"/>
              <a:buAutoNum type="alphaLcPeriod" startAt="4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6938" indent="-457200">
              <a:buFont typeface="+mj-lt"/>
              <a:buAutoNum type="alphaLcPeriod" startAt="4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6938" indent="-457200">
              <a:buFont typeface="+mj-lt"/>
              <a:buAutoNum type="alphaLcPeriod" startAt="4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6938" indent="-457200">
              <a:buFont typeface="+mj-lt"/>
              <a:buAutoNum type="alphaLcPeriod" startAt="4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6938" indent="-457200">
              <a:buFont typeface="+mj-lt"/>
              <a:buAutoNum type="alphaLcPeriod" startAt="4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relationship, if any, is there between the scale factor and the ratio of the areas?</a:t>
            </a:r>
          </a:p>
        </p:txBody>
      </p:sp>
      <p:pic>
        <p:nvPicPr>
          <p:cNvPr id="6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4190" y="615586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8889924" y="6500862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209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670528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54A4596-5923-6342-9500-70E8F702680A}"/>
                  </a:ext>
                </a:extLst>
              </p:cNvPr>
              <p:cNvSpPr/>
              <p:nvPr/>
            </p:nvSpPr>
            <p:spPr>
              <a:xfrm>
                <a:off x="538014" y="381078"/>
                <a:ext cx="10800000" cy="1569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Figure B is a scale model of Figure A. Figure B has a length (L)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12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inches (in.) and a width (W)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7.5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in. Figure A has a length (L)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4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in. and a width (W)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2.5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in. 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F54A4596-5923-6342-9500-70E8F70268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014" y="381078"/>
                <a:ext cx="10800000" cy="1569660"/>
              </a:xfrm>
              <a:prstGeom prst="rect">
                <a:avLst/>
              </a:prstGeom>
              <a:blipFill rotWithShape="1">
                <a:blip r:embed="rId3"/>
                <a:stretch>
                  <a:fillRect l="-847" t="-3113" r="-1524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 picture containing indoor, tiled&#10;&#10;Description automatically generated">
            <a:extLst>
              <a:ext uri="{FF2B5EF4-FFF2-40B4-BE49-F238E27FC236}">
                <a16:creationId xmlns:a16="http://schemas.microsoft.com/office/drawing/2014/main" id="{30B3588C-7F20-2F40-86DD-BEC153E0C7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64564" y="1871519"/>
            <a:ext cx="6946900" cy="329438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12AE454C-DC73-1344-B6C7-87C32B5ACD03}"/>
              </a:ext>
            </a:extLst>
          </p:cNvPr>
          <p:cNvGrpSpPr/>
          <p:nvPr/>
        </p:nvGrpSpPr>
        <p:grpSpPr>
          <a:xfrm>
            <a:off x="3059330" y="2029495"/>
            <a:ext cx="5758815" cy="3279140"/>
            <a:chOff x="-717631" y="-305341"/>
            <a:chExt cx="5759248" cy="3279249"/>
          </a:xfrm>
        </p:grpSpPr>
        <p:sp>
          <p:nvSpPr>
            <p:cNvPr id="8" name="Text Box 46">
              <a:extLst>
                <a:ext uri="{FF2B5EF4-FFF2-40B4-BE49-F238E27FC236}">
                  <a16:creationId xmlns:a16="http://schemas.microsoft.com/office/drawing/2014/main" id="{62B3FFBA-C367-DF43-8567-8A6588E67ED3}"/>
                </a:ext>
              </a:extLst>
            </p:cNvPr>
            <p:cNvSpPr txBox="1"/>
            <p:nvPr/>
          </p:nvSpPr>
          <p:spPr>
            <a:xfrm>
              <a:off x="-324515" y="300194"/>
              <a:ext cx="1638300" cy="6286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1000"/>
                </a:spcAft>
              </a:pPr>
              <a:r>
                <a:rPr lang="en-US" sz="1800" b="1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Figure A</a:t>
              </a:r>
              <a:endParaRPr lang="x-none" sz="120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Text Box 5">
              <a:extLst>
                <a:ext uri="{FF2B5EF4-FFF2-40B4-BE49-F238E27FC236}">
                  <a16:creationId xmlns:a16="http://schemas.microsoft.com/office/drawing/2014/main" id="{76992289-F908-0F42-AE03-22DA4AEEFB58}"/>
                </a:ext>
              </a:extLst>
            </p:cNvPr>
            <p:cNvSpPr txBox="1"/>
            <p:nvPr/>
          </p:nvSpPr>
          <p:spPr>
            <a:xfrm>
              <a:off x="3403317" y="1060144"/>
              <a:ext cx="1638300" cy="6286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1000"/>
                </a:spcAft>
              </a:pPr>
              <a:r>
                <a:rPr lang="en-US" sz="1800" b="1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Figure B</a:t>
              </a:r>
              <a:endParaRPr lang="x-none" sz="120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 Box 48">
                  <a:extLst>
                    <a:ext uri="{FF2B5EF4-FFF2-40B4-BE49-F238E27FC236}">
                      <a16:creationId xmlns:a16="http://schemas.microsoft.com/office/drawing/2014/main" id="{439525EF-E78D-6A4E-B96F-F243DC76365B}"/>
                    </a:ext>
                  </a:extLst>
                </p:cNvPr>
                <p:cNvSpPr txBox="1"/>
                <p:nvPr/>
              </p:nvSpPr>
              <p:spPr>
                <a:xfrm rot="16200000">
                  <a:off x="-1324940" y="301968"/>
                  <a:ext cx="1665605" cy="450988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800" b="1">
                      <a:latin typeface="Verdana" panose="020B0604030504040204" pitchFamily="34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W = </a:t>
                  </a:r>
                  <a14:m>
                    <m:oMath xmlns:m="http://schemas.openxmlformats.org/officeDocument/2006/math">
                      <m:r>
                        <a:rPr lang="en-US" sz="1800" b="1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𝟐</m:t>
                      </m:r>
                      <m:r>
                        <a:rPr lang="en-US" sz="1800" b="1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sz="1800" b="1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𝟓</m:t>
                      </m:r>
                    </m:oMath>
                  </a14:m>
                  <a:r>
                    <a:rPr lang="en-US" sz="1800" b="1">
                      <a:latin typeface="Verdana" panose="020B0604030504040204" pitchFamily="34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 in.</a:t>
                  </a:r>
                  <a:endParaRPr lang="x-none" sz="120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" name="Text Box 48">
                  <a:extLst>
                    <a:ext uri="{FF2B5EF4-FFF2-40B4-BE49-F238E27FC236}">
                      <a16:creationId xmlns:a16="http://schemas.microsoft.com/office/drawing/2014/main" id="{439525EF-E78D-6A4E-B96F-F243DC7636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-1324940" y="301968"/>
                  <a:ext cx="1665605" cy="450988"/>
                </a:xfrm>
                <a:prstGeom prst="rect">
                  <a:avLst/>
                </a:prstGeom>
                <a:blipFill>
                  <a:blip r:embed="rId6"/>
                  <a:stretch>
                    <a:fillRect l="-8333" r="-5556" b="-2256"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 Box 39">
                  <a:extLst>
                    <a:ext uri="{FF2B5EF4-FFF2-40B4-BE49-F238E27FC236}">
                      <a16:creationId xmlns:a16="http://schemas.microsoft.com/office/drawing/2014/main" id="{AA4D2599-6862-A04A-9CF3-320EE9406038}"/>
                    </a:ext>
                  </a:extLst>
                </p:cNvPr>
                <p:cNvSpPr txBox="1"/>
                <p:nvPr/>
              </p:nvSpPr>
              <p:spPr>
                <a:xfrm rot="16200000">
                  <a:off x="1013147" y="958430"/>
                  <a:ext cx="1665605" cy="450988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800" b="1">
                      <a:latin typeface="Verdana" panose="020B0604030504040204" pitchFamily="34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W = </a:t>
                  </a:r>
                  <a14:m>
                    <m:oMath xmlns:m="http://schemas.openxmlformats.org/officeDocument/2006/math">
                      <m:r>
                        <a:rPr lang="en-US" sz="1800" b="1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𝟕</m:t>
                      </m:r>
                      <m:r>
                        <a:rPr lang="en-US" sz="1800" b="1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sz="1800" b="1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𝟓</m:t>
                      </m:r>
                    </m:oMath>
                  </a14:m>
                  <a:r>
                    <a:rPr lang="en-US" sz="1800" b="1">
                      <a:latin typeface="Verdana" panose="020B0604030504040204" pitchFamily="34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 in.</a:t>
                  </a:r>
                  <a:endParaRPr lang="x-none" sz="120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" name="Text Box 39">
                  <a:extLst>
                    <a:ext uri="{FF2B5EF4-FFF2-40B4-BE49-F238E27FC236}">
                      <a16:creationId xmlns:a16="http://schemas.microsoft.com/office/drawing/2014/main" id="{AA4D2599-6862-A04A-9CF3-320EE94060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1013147" y="958430"/>
                  <a:ext cx="1665605" cy="450988"/>
                </a:xfrm>
                <a:prstGeom prst="rect">
                  <a:avLst/>
                </a:prstGeom>
                <a:blipFill>
                  <a:blip r:embed="rId7"/>
                  <a:stretch>
                    <a:fillRect l="-5556" r="-5556" b="-3030"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 Box 40">
                  <a:extLst>
                    <a:ext uri="{FF2B5EF4-FFF2-40B4-BE49-F238E27FC236}">
                      <a16:creationId xmlns:a16="http://schemas.microsoft.com/office/drawing/2014/main" id="{93F0A6DF-C8F6-8D4C-893A-17B730946A99}"/>
                    </a:ext>
                  </a:extLst>
                </p:cNvPr>
                <p:cNvSpPr txBox="1"/>
                <p:nvPr/>
              </p:nvSpPr>
              <p:spPr>
                <a:xfrm>
                  <a:off x="-196408" y="833015"/>
                  <a:ext cx="1665605" cy="450988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800" b="1">
                      <a:latin typeface="Verdana" panose="020B0604030504040204" pitchFamily="34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L = </a:t>
                  </a:r>
                  <a14:m>
                    <m:oMath xmlns:m="http://schemas.openxmlformats.org/officeDocument/2006/math">
                      <m:r>
                        <a:rPr lang="en-US" sz="1800" b="1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𝟒</m:t>
                      </m:r>
                    </m:oMath>
                  </a14:m>
                  <a:r>
                    <a:rPr lang="en-US" sz="1800" b="1">
                      <a:latin typeface="Verdana" panose="020B0604030504040204" pitchFamily="34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 in.</a:t>
                  </a:r>
                  <a:endParaRPr lang="x-none" sz="120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3" name="Text Box 40">
                  <a:extLst>
                    <a:ext uri="{FF2B5EF4-FFF2-40B4-BE49-F238E27FC236}">
                      <a16:creationId xmlns:a16="http://schemas.microsoft.com/office/drawing/2014/main" id="{93F0A6DF-C8F6-8D4C-893A-17B730946A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96408" y="833015"/>
                  <a:ext cx="1665605" cy="450988"/>
                </a:xfrm>
                <a:prstGeom prst="rect">
                  <a:avLst/>
                </a:prstGeom>
                <a:blipFill>
                  <a:blip r:embed="rId8"/>
                  <a:stretch>
                    <a:fillRect l="-3030" t="-5556" b="-5556"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 Box 41">
                  <a:extLst>
                    <a:ext uri="{FF2B5EF4-FFF2-40B4-BE49-F238E27FC236}">
                      <a16:creationId xmlns:a16="http://schemas.microsoft.com/office/drawing/2014/main" id="{B530986D-9B93-644C-9AFA-DAB3CB6C7615}"/>
                    </a:ext>
                  </a:extLst>
                </p:cNvPr>
                <p:cNvSpPr txBox="1"/>
                <p:nvPr/>
              </p:nvSpPr>
              <p:spPr>
                <a:xfrm>
                  <a:off x="3287571" y="2522920"/>
                  <a:ext cx="1665605" cy="450988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800" b="1">
                      <a:latin typeface="Verdana" panose="020B0604030504040204" pitchFamily="34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L = </a:t>
                  </a:r>
                  <a14:m>
                    <m:oMath xmlns:m="http://schemas.openxmlformats.org/officeDocument/2006/math">
                      <m:r>
                        <a:rPr lang="en-US" sz="1800" b="1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𝟏𝟐</m:t>
                      </m:r>
                    </m:oMath>
                  </a14:m>
                  <a:r>
                    <a:rPr lang="en-US" sz="1800" b="1">
                      <a:latin typeface="Verdana" panose="020B0604030504040204" pitchFamily="34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 in.</a:t>
                  </a:r>
                  <a:endParaRPr lang="x-none" sz="120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4" name="Text Box 41">
                  <a:extLst>
                    <a:ext uri="{FF2B5EF4-FFF2-40B4-BE49-F238E27FC236}">
                      <a16:creationId xmlns:a16="http://schemas.microsoft.com/office/drawing/2014/main" id="{B530986D-9B93-644C-9AFA-DAB3CB6C76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87571" y="2522920"/>
                  <a:ext cx="1665605" cy="450988"/>
                </a:xfrm>
                <a:prstGeom prst="rect">
                  <a:avLst/>
                </a:prstGeom>
                <a:blipFill>
                  <a:blip r:embed="rId9"/>
                  <a:stretch>
                    <a:fillRect l="-3030" t="-5556" b="-5556"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CO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5" name="Google Shape;283;g104476d1465_1_17"/>
          <p:cNvPicPr preferRelativeResize="0"/>
          <p:nvPr/>
        </p:nvPicPr>
        <p:blipFill>
          <a:blip r:embed="rId10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4190" y="615586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6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8889924" y="6500862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209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6ABC5E"/>
          </a:solidFill>
          <a:ln w="9525" cap="flat" cmpd="sng">
            <a:solidFill>
              <a:srgbClr val="6ABC5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68980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6ABC5E"/>
          </a:solidFill>
          <a:ln w="9525" cap="flat" cmpd="sng">
            <a:solidFill>
              <a:srgbClr val="6ABC5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4A4596-5923-6342-9500-70E8F702680A}"/>
              </a:ext>
            </a:extLst>
          </p:cNvPr>
          <p:cNvSpPr/>
          <p:nvPr/>
        </p:nvSpPr>
        <p:spPr>
          <a:xfrm>
            <a:off x="533477" y="381082"/>
            <a:ext cx="10800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96938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is the scale factor from Figure A to Figure B?</a:t>
            </a:r>
          </a:p>
          <a:p>
            <a:pPr marL="896938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6938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6938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6938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6938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is the area of Figure A?</a:t>
            </a:r>
          </a:p>
        </p:txBody>
      </p:sp>
      <p:pic>
        <p:nvPicPr>
          <p:cNvPr id="6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4190" y="615586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8889924" y="6500862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209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814053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6ABC5E"/>
          </a:solidFill>
          <a:ln w="9525" cap="flat" cmpd="sng">
            <a:solidFill>
              <a:srgbClr val="6ABC5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4A4596-5923-6342-9500-70E8F702680A}"/>
              </a:ext>
            </a:extLst>
          </p:cNvPr>
          <p:cNvSpPr/>
          <p:nvPr/>
        </p:nvSpPr>
        <p:spPr>
          <a:xfrm>
            <a:off x="533987" y="376198"/>
            <a:ext cx="108000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96938" indent="-457200">
              <a:buFont typeface="+mj-lt"/>
              <a:buAutoNum type="alphaLcPeriod" startAt="3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is the area of Figure B?</a:t>
            </a:r>
          </a:p>
          <a:p>
            <a:pPr marL="896938" indent="-457200">
              <a:buFont typeface="+mj-lt"/>
              <a:buAutoNum type="alphaLcPeriod" startAt="3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6938" indent="-457200">
              <a:buFont typeface="+mj-lt"/>
              <a:buAutoNum type="alphaLcPeriod" startAt="3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6938" indent="-457200">
              <a:buFont typeface="+mj-lt"/>
              <a:buAutoNum type="alphaLcPeriod" startAt="3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6938" indent="-457200">
              <a:buFont typeface="+mj-lt"/>
              <a:buAutoNum type="alphaLcPeriod" startAt="3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6938" indent="-457200">
              <a:buFont typeface="+mj-lt"/>
              <a:buAutoNum type="alphaLcPeriod" startAt="3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6938" indent="-457200">
              <a:buFont typeface="+mj-lt"/>
              <a:buAutoNum type="alphaLcPeriod" startAt="3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does the scale factor from Figure A to Figure B relate to the ratio of the area of Figure A to Figure B?</a:t>
            </a:r>
          </a:p>
          <a:p>
            <a:pPr marL="896938" indent="-457200">
              <a:buFont typeface="+mj-lt"/>
              <a:buAutoNum type="alphaLcPeriod" startAt="3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6938" indent="-457200">
              <a:buFont typeface="+mj-lt"/>
              <a:buAutoNum type="alphaLcPeriod" startAt="3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6938" indent="-457200">
              <a:buFont typeface="+mj-lt"/>
              <a:buAutoNum type="alphaLcPeriod" startAt="3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6938" indent="-457200">
              <a:buFont typeface="+mj-lt"/>
              <a:buAutoNum type="alphaLcPeriod" startAt="3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6938" indent="-457200">
              <a:buFont typeface="+mj-lt"/>
              <a:buAutoNum type="alphaLcPeriod" startAt="3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Discuss the relationship between the scale factor and the area you observed in problems 1 and 2.</a:t>
            </a:r>
          </a:p>
        </p:txBody>
      </p:sp>
      <p:pic>
        <p:nvPicPr>
          <p:cNvPr id="6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4190" y="615586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8889924" y="6500862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210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235580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6ABC5E"/>
          </a:solidFill>
          <a:ln w="9525" cap="flat" cmpd="sng">
            <a:solidFill>
              <a:srgbClr val="6ABC5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54A4596-5923-6342-9500-70E8F702680A}"/>
                  </a:ext>
                </a:extLst>
              </p:cNvPr>
              <p:cNvSpPr/>
              <p:nvPr/>
            </p:nvSpPr>
            <p:spPr>
              <a:xfrm>
                <a:off x="534625" y="376199"/>
                <a:ext cx="10800000" cy="172374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Figure G has a length (L)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9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centimeters (cm) and a width (W)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6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cm. Figure G was scaled down by a factor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to create Figure H. Figure H has a length (L)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cm and a width (W) of </a:t>
                </a:r>
                <a:br>
                  <a:rPr lang="en-PH" sz="2400" i="1" dirty="0">
                    <a:latin typeface="Cambria Math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cm.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F54A4596-5923-6342-9500-70E8F70268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625" y="376199"/>
                <a:ext cx="10800000" cy="1723742"/>
              </a:xfrm>
              <a:prstGeom prst="rect">
                <a:avLst/>
              </a:prstGeom>
              <a:blipFill rotWithShape="1">
                <a:blip r:embed="rId3"/>
                <a:stretch>
                  <a:fillRect l="-903" t="-3191" b="-7092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Chart&#10;&#10;Description automatically generated">
            <a:extLst>
              <a:ext uri="{FF2B5EF4-FFF2-40B4-BE49-F238E27FC236}">
                <a16:creationId xmlns:a16="http://schemas.microsoft.com/office/drawing/2014/main" id="{2029A061-19D4-FE44-A798-C3654E4A3197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424" r="28519"/>
          <a:stretch/>
        </p:blipFill>
        <p:spPr bwMode="auto">
          <a:xfrm>
            <a:off x="3613150" y="2201271"/>
            <a:ext cx="4965700" cy="425640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Text Box 43">
            <a:extLst>
              <a:ext uri="{FF2B5EF4-FFF2-40B4-BE49-F238E27FC236}">
                <a16:creationId xmlns:a16="http://schemas.microsoft.com/office/drawing/2014/main" id="{83F56FA0-6797-7A4C-9309-2250944F79D2}"/>
              </a:ext>
            </a:extLst>
          </p:cNvPr>
          <p:cNvSpPr txBox="1"/>
          <p:nvPr/>
        </p:nvSpPr>
        <p:spPr>
          <a:xfrm>
            <a:off x="4736242" y="2028091"/>
            <a:ext cx="1752600" cy="67945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1000"/>
              </a:spcAft>
            </a:pPr>
            <a:r>
              <a:rPr lang="en-US" sz="1800" b="1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Figure G</a:t>
            </a:r>
            <a:endParaRPr lang="x-none" sz="120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Box 44">
            <a:extLst>
              <a:ext uri="{FF2B5EF4-FFF2-40B4-BE49-F238E27FC236}">
                <a16:creationId xmlns:a16="http://schemas.microsoft.com/office/drawing/2014/main" id="{4215509A-A0F0-D14D-B75B-EA49A5A7D883}"/>
              </a:ext>
            </a:extLst>
          </p:cNvPr>
          <p:cNvSpPr txBox="1"/>
          <p:nvPr/>
        </p:nvSpPr>
        <p:spPr>
          <a:xfrm>
            <a:off x="6994303" y="4611906"/>
            <a:ext cx="1870075" cy="67945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1000"/>
              </a:spcAft>
            </a:pPr>
            <a:r>
              <a:rPr lang="en-US" sz="1800" b="1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Figure H</a:t>
            </a:r>
            <a:endParaRPr lang="x-none" sz="120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Box 45">
                <a:extLst>
                  <a:ext uri="{FF2B5EF4-FFF2-40B4-BE49-F238E27FC236}">
                    <a16:creationId xmlns:a16="http://schemas.microsoft.com/office/drawing/2014/main" id="{4ACEEBCA-4E23-0941-B30F-0913039BE03A}"/>
                  </a:ext>
                </a:extLst>
              </p:cNvPr>
              <p:cNvSpPr txBox="1"/>
              <p:nvPr/>
            </p:nvSpPr>
            <p:spPr>
              <a:xfrm>
                <a:off x="4644802" y="6198772"/>
                <a:ext cx="1595120" cy="487045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800" b="1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 = </a:t>
                </a:r>
                <a14:m>
                  <m:oMath xmlns:m="http://schemas.openxmlformats.org/officeDocument/2006/math">
                    <m:r>
                      <a:rPr lang="en-US" sz="1800" b="1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𝟔</m:t>
                    </m:r>
                  </m:oMath>
                </a14:m>
                <a:r>
                  <a:rPr lang="en-US" sz="1800" b="1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cm</a:t>
                </a:r>
                <a:endParaRPr lang="x-none" sz="120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 Box 45">
                <a:extLst>
                  <a:ext uri="{FF2B5EF4-FFF2-40B4-BE49-F238E27FC236}">
                    <a16:creationId xmlns:a16="http://schemas.microsoft.com/office/drawing/2014/main" id="{4ACEEBCA-4E23-0941-B30F-0913039BE0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4802" y="6198772"/>
                <a:ext cx="1595120" cy="487045"/>
              </a:xfrm>
              <a:prstGeom prst="rect">
                <a:avLst/>
              </a:prstGeom>
              <a:blipFill>
                <a:blip r:embed="rId6"/>
                <a:stretch>
                  <a:fillRect l="-3150" t="-7692"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Box 47">
                <a:extLst>
                  <a:ext uri="{FF2B5EF4-FFF2-40B4-BE49-F238E27FC236}">
                    <a16:creationId xmlns:a16="http://schemas.microsoft.com/office/drawing/2014/main" id="{284582F1-C4ED-BD4A-B0CD-0CCF6ED045DA}"/>
                  </a:ext>
                </a:extLst>
              </p:cNvPr>
              <p:cNvSpPr txBox="1"/>
              <p:nvPr/>
            </p:nvSpPr>
            <p:spPr>
              <a:xfrm>
                <a:off x="6934612" y="6210202"/>
                <a:ext cx="1595120" cy="487045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800" b="1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 = </a:t>
                </a:r>
                <a14:m>
                  <m:oMath xmlns:m="http://schemas.openxmlformats.org/officeDocument/2006/math">
                    <m:r>
                      <a:rPr lang="en-US" sz="1800" b="1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𝟐</m:t>
                    </m:r>
                  </m:oMath>
                </a14:m>
                <a:r>
                  <a:rPr lang="en-US" sz="1800" b="1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cm</a:t>
                </a:r>
                <a:endParaRPr lang="x-none" sz="120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 Box 47">
                <a:extLst>
                  <a:ext uri="{FF2B5EF4-FFF2-40B4-BE49-F238E27FC236}">
                    <a16:creationId xmlns:a16="http://schemas.microsoft.com/office/drawing/2014/main" id="{284582F1-C4ED-BD4A-B0CD-0CCF6ED045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4612" y="6210202"/>
                <a:ext cx="1595120" cy="487045"/>
              </a:xfrm>
              <a:prstGeom prst="rect">
                <a:avLst/>
              </a:prstGeom>
              <a:blipFill>
                <a:blip r:embed="rId7"/>
                <a:stretch>
                  <a:fillRect l="-3968" t="-7692"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Box 49">
                <a:extLst>
                  <a:ext uri="{FF2B5EF4-FFF2-40B4-BE49-F238E27FC236}">
                    <a16:creationId xmlns:a16="http://schemas.microsoft.com/office/drawing/2014/main" id="{6C2899EF-4861-FD48-9856-10DA393DEF9A}"/>
                  </a:ext>
                </a:extLst>
              </p:cNvPr>
              <p:cNvSpPr txBox="1"/>
              <p:nvPr/>
            </p:nvSpPr>
            <p:spPr>
              <a:xfrm rot="16200000">
                <a:off x="3244310" y="3977224"/>
                <a:ext cx="1595120" cy="487045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800" b="1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L = </a:t>
                </a:r>
                <a14:m>
                  <m:oMath xmlns:m="http://schemas.openxmlformats.org/officeDocument/2006/math">
                    <m:r>
                      <a:rPr lang="en-US" sz="1800" b="1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𝟗</m:t>
                    </m:r>
                  </m:oMath>
                </a14:m>
                <a:r>
                  <a:rPr lang="en-US" sz="1800" b="1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cm</a:t>
                </a:r>
                <a:endParaRPr lang="x-none" sz="120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 Box 49">
                <a:extLst>
                  <a:ext uri="{FF2B5EF4-FFF2-40B4-BE49-F238E27FC236}">
                    <a16:creationId xmlns:a16="http://schemas.microsoft.com/office/drawing/2014/main" id="{6C2899EF-4861-FD48-9856-10DA393DEF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3244310" y="3977224"/>
                <a:ext cx="1595120" cy="487045"/>
              </a:xfrm>
              <a:prstGeom prst="rect">
                <a:avLst/>
              </a:prstGeom>
              <a:blipFill>
                <a:blip r:embed="rId8"/>
                <a:stretch>
                  <a:fillRect l="-5128" b="-3150"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Box 50">
                <a:extLst>
                  <a:ext uri="{FF2B5EF4-FFF2-40B4-BE49-F238E27FC236}">
                    <a16:creationId xmlns:a16="http://schemas.microsoft.com/office/drawing/2014/main" id="{B30EF21A-4781-8D48-89A4-FF163F27FBF0}"/>
                  </a:ext>
                </a:extLst>
              </p:cNvPr>
              <p:cNvSpPr txBox="1"/>
              <p:nvPr/>
            </p:nvSpPr>
            <p:spPr>
              <a:xfrm rot="16200000">
                <a:off x="6160230" y="5296754"/>
                <a:ext cx="1595120" cy="487045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800" b="1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L = </a:t>
                </a:r>
                <a14:m>
                  <m:oMath xmlns:m="http://schemas.openxmlformats.org/officeDocument/2006/math">
                    <m:r>
                      <a:rPr lang="en-US" sz="1800" b="1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𝟑</m:t>
                    </m:r>
                  </m:oMath>
                </a14:m>
                <a:r>
                  <a:rPr lang="en-US" sz="1800" b="1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cm</a:t>
                </a:r>
                <a:endParaRPr lang="x-none" sz="120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 Box 50">
                <a:extLst>
                  <a:ext uri="{FF2B5EF4-FFF2-40B4-BE49-F238E27FC236}">
                    <a16:creationId xmlns:a16="http://schemas.microsoft.com/office/drawing/2014/main" id="{B30EF21A-4781-8D48-89A4-FF163F27FB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6160230" y="5296754"/>
                <a:ext cx="1595120" cy="487045"/>
              </a:xfrm>
              <a:prstGeom prst="rect">
                <a:avLst/>
              </a:prstGeom>
              <a:blipFill>
                <a:blip r:embed="rId9"/>
                <a:stretch>
                  <a:fillRect l="-5128" b="-3150"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Google Shape;283;g104476d1465_1_17"/>
          <p:cNvPicPr preferRelativeResize="0"/>
          <p:nvPr/>
        </p:nvPicPr>
        <p:blipFill>
          <a:blip r:embed="rId10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4190" y="615586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8889924" y="6500862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210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514300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6ABC5E"/>
          </a:solidFill>
          <a:ln w="9525" cap="flat" cmpd="sng">
            <a:solidFill>
              <a:srgbClr val="6ABC5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4A4596-5923-6342-9500-70E8F702680A}"/>
              </a:ext>
            </a:extLst>
          </p:cNvPr>
          <p:cNvSpPr/>
          <p:nvPr/>
        </p:nvSpPr>
        <p:spPr>
          <a:xfrm>
            <a:off x="539676" y="386062"/>
            <a:ext cx="10800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96938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Find the area of Figure G.</a:t>
            </a:r>
          </a:p>
          <a:p>
            <a:pPr marL="896938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6938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6938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6938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6938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Without finding the product of the sides, what do you expect the area of Figure H to be?</a:t>
            </a:r>
          </a:p>
        </p:txBody>
      </p:sp>
      <p:pic>
        <p:nvPicPr>
          <p:cNvPr id="6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4190" y="615586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8889924" y="6500862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210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180558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6ABC5E"/>
          </a:solidFill>
          <a:ln w="9525" cap="flat" cmpd="sng">
            <a:solidFill>
              <a:srgbClr val="6ABC5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4A4596-5923-6342-9500-70E8F702680A}"/>
              </a:ext>
            </a:extLst>
          </p:cNvPr>
          <p:cNvSpPr/>
          <p:nvPr/>
        </p:nvSpPr>
        <p:spPr>
          <a:xfrm>
            <a:off x="532436" y="378153"/>
            <a:ext cx="108000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96938" indent="-457200">
              <a:buFont typeface="+mj-lt"/>
              <a:buAutoNum type="alphaLcPeriod" startAt="3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Verify your answer by finding the product of the sides of Figure H.</a:t>
            </a:r>
          </a:p>
          <a:p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4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your partner, write a rule that can be used to calculate the area of a scale model if given only an original area and a scale factor. </a:t>
            </a:r>
            <a:b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4190" y="615586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8889924" y="6500862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211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601671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-27091" y="3000"/>
            <a:ext cx="2731200" cy="6866100"/>
          </a:xfrm>
          <a:prstGeom prst="rect">
            <a:avLst/>
          </a:prstGeom>
          <a:solidFill>
            <a:srgbClr val="6ABC5E"/>
          </a:solidFill>
          <a:ln w="9525" cap="flat" cmpd="sng">
            <a:solidFill>
              <a:srgbClr val="6ABC5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image6.png" descr="Icon&#10;&#10;Description automatically generated">
            <a:extLst>
              <a:ext uri="{FF2B5EF4-FFF2-40B4-BE49-F238E27FC236}">
                <a16:creationId xmlns:a16="http://schemas.microsoft.com/office/drawing/2014/main" id="{893078A3-C5AD-EC41-8D1C-35C1FBA72382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4601428" y="2829169"/>
            <a:ext cx="1148148" cy="1148148"/>
          </a:xfrm>
          <a:prstGeom prst="rect">
            <a:avLst/>
          </a:prstGeom>
          <a:ln/>
        </p:spPr>
      </p:pic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4190" y="615586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8889924" y="6500862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211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9320" y="-8225"/>
            <a:ext cx="223200" cy="6866100"/>
          </a:xfrm>
          <a:prstGeom prst="rect">
            <a:avLst/>
          </a:prstGeom>
          <a:solidFill>
            <a:srgbClr val="6ABC5E"/>
          </a:solidFill>
          <a:ln w="9525" cap="flat" cmpd="sng">
            <a:solidFill>
              <a:srgbClr val="6ABC5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57043" y="150532"/>
            <a:ext cx="108000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5.6.3 Guided Instruction: Comparing Perimeter and Area of Scaled Triangles and Trapezoids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E208A00-51E7-C544-ABDE-AE9DC3DAAB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922" y="1816053"/>
                <a:ext cx="10988001" cy="144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/>
                </a:pPr>
                <a:r>
                  <a:rPr lang="en-US" altLang="en-US" sz="22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Right Triangle F has a base (b) of </a:t>
                </a:r>
                <a14:m>
                  <m:oMath xmlns:m="http://schemas.openxmlformats.org/officeDocument/2006/math">
                    <m:r>
                      <a:rPr lang="en-US" altLang="en-US" sz="2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6</m:t>
                    </m:r>
                  </m:oMath>
                </a14:m>
                <a:r>
                  <a:rPr lang="en-US" altLang="en-US" sz="22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units, a height (a) of </a:t>
                </a:r>
                <a14:m>
                  <m:oMath xmlns:m="http://schemas.openxmlformats.org/officeDocument/2006/math">
                    <m:r>
                      <a:rPr lang="en-US" altLang="en-US" sz="2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8</m:t>
                    </m:r>
                  </m:oMath>
                </a14:m>
                <a:r>
                  <a:rPr lang="en-US" altLang="en-US" sz="22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units, and a third side (f) of </a:t>
                </a:r>
                <a14:m>
                  <m:oMath xmlns:m="http://schemas.openxmlformats.org/officeDocument/2006/math">
                    <m:r>
                      <a:rPr lang="en-US" altLang="en-US" sz="2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10</m:t>
                    </m:r>
                  </m:oMath>
                </a14:m>
                <a:r>
                  <a:rPr lang="en-US" altLang="en-US" sz="22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units. Right Triangle R is a scaled image of Triangle F. Triangle R has a base (g) of </a:t>
                </a:r>
                <a14:m>
                  <m:oMath xmlns:m="http://schemas.openxmlformats.org/officeDocument/2006/math">
                    <m:r>
                      <a:rPr lang="en-US" altLang="en-US" sz="2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12</m:t>
                    </m:r>
                  </m:oMath>
                </a14:m>
                <a:r>
                  <a:rPr lang="en-US" altLang="en-US" sz="22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units, a height (d) of </a:t>
                </a:r>
                <a14:m>
                  <m:oMath xmlns:m="http://schemas.openxmlformats.org/officeDocument/2006/math">
                    <m:r>
                      <a:rPr lang="en-US" altLang="en-US" sz="2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16</m:t>
                    </m:r>
                  </m:oMath>
                </a14:m>
                <a:r>
                  <a:rPr lang="en-US" altLang="en-US" sz="22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units, and a third side (k) of </a:t>
                </a:r>
                <a14:m>
                  <m:oMath xmlns:m="http://schemas.openxmlformats.org/officeDocument/2006/math">
                    <m:r>
                      <a:rPr lang="en-US" altLang="en-US" sz="2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20</m:t>
                    </m:r>
                  </m:oMath>
                </a14:m>
                <a:r>
                  <a:rPr lang="en-US" altLang="en-US" sz="22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units.  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FE208A00-51E7-C544-ABDE-AE9DC3DAAB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5922" y="1816053"/>
                <a:ext cx="10988001" cy="1446550"/>
              </a:xfrm>
              <a:prstGeom prst="rect">
                <a:avLst/>
              </a:prstGeom>
              <a:blipFill rotWithShape="1">
                <a:blip r:embed="rId3"/>
                <a:stretch>
                  <a:fillRect l="-777" t="-3376" r="-1110" b="-759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image6.png" descr="Icon&#10;&#10;Description automatically generated">
            <a:extLst>
              <a:ext uri="{FF2B5EF4-FFF2-40B4-BE49-F238E27FC236}">
                <a16:creationId xmlns:a16="http://schemas.microsoft.com/office/drawing/2014/main" id="{797A3092-3E73-EA40-89DD-C952113E9EA5}"/>
              </a:ext>
            </a:extLst>
          </p:cNvPr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24257" y="371671"/>
            <a:ext cx="747299" cy="747299"/>
          </a:xfrm>
          <a:prstGeom prst="rect">
            <a:avLst/>
          </a:prstGeom>
          <a:ln/>
        </p:spPr>
      </p:pic>
      <p:pic>
        <p:nvPicPr>
          <p:cNvPr id="8" name="Picture 7" descr="Chart, line chart&#10;&#10;Description automatically generated">
            <a:extLst>
              <a:ext uri="{FF2B5EF4-FFF2-40B4-BE49-F238E27FC236}">
                <a16:creationId xmlns:a16="http://schemas.microsoft.com/office/drawing/2014/main" id="{FF158CA4-2041-FB45-A2CE-06587DDA8FF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409" r="10056"/>
          <a:stretch/>
        </p:blipFill>
        <p:spPr bwMode="auto">
          <a:xfrm>
            <a:off x="4181409" y="3483781"/>
            <a:ext cx="3581007" cy="310527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63BEB49B-6B9A-8343-B494-368884CA05FD}"/>
              </a:ext>
            </a:extLst>
          </p:cNvPr>
          <p:cNvGrpSpPr/>
          <p:nvPr/>
        </p:nvGrpSpPr>
        <p:grpSpPr>
          <a:xfrm>
            <a:off x="4054022" y="3855202"/>
            <a:ext cx="3385114" cy="2751020"/>
            <a:chOff x="0" y="213736"/>
            <a:chExt cx="4159826" cy="3380430"/>
          </a:xfrm>
        </p:grpSpPr>
        <p:sp>
          <p:nvSpPr>
            <p:cNvPr id="10" name="Text Box 11">
              <a:extLst>
                <a:ext uri="{FF2B5EF4-FFF2-40B4-BE49-F238E27FC236}">
                  <a16:creationId xmlns:a16="http://schemas.microsoft.com/office/drawing/2014/main" id="{6C913D0A-75CD-5A45-9ACA-EA12625496D5}"/>
                </a:ext>
              </a:extLst>
            </p:cNvPr>
            <p:cNvSpPr txBox="1"/>
            <p:nvPr/>
          </p:nvSpPr>
          <p:spPr>
            <a:xfrm>
              <a:off x="137795" y="2525162"/>
              <a:ext cx="2208530" cy="59690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1000"/>
                </a:spcAft>
              </a:pPr>
              <a:r>
                <a:rPr lang="en-US" sz="1600" b="1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Triangle F</a:t>
              </a:r>
              <a:endParaRPr lang="x-none" sz="110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Text Box 12">
              <a:extLst>
                <a:ext uri="{FF2B5EF4-FFF2-40B4-BE49-F238E27FC236}">
                  <a16:creationId xmlns:a16="http://schemas.microsoft.com/office/drawing/2014/main" id="{5632944F-A81B-AE4C-883C-D2C5E72CFF6F}"/>
                </a:ext>
              </a:extLst>
            </p:cNvPr>
            <p:cNvSpPr txBox="1"/>
            <p:nvPr/>
          </p:nvSpPr>
          <p:spPr>
            <a:xfrm>
              <a:off x="1951296" y="2173505"/>
              <a:ext cx="2208530" cy="59690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1000"/>
                </a:spcAft>
              </a:pPr>
              <a:r>
                <a:rPr lang="en-US" sz="1600" b="1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Triangle R</a:t>
              </a:r>
              <a:endParaRPr lang="x-none" sz="1100" dirty="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 Box 13">
                  <a:extLst>
                    <a:ext uri="{FF2B5EF4-FFF2-40B4-BE49-F238E27FC236}">
                      <a16:creationId xmlns:a16="http://schemas.microsoft.com/office/drawing/2014/main" id="{22DF7982-1C8D-9744-B6AC-05FF69499E32}"/>
                    </a:ext>
                  </a:extLst>
                </p:cNvPr>
                <p:cNvSpPr txBox="1"/>
                <p:nvPr/>
              </p:nvSpPr>
              <p:spPr>
                <a:xfrm>
                  <a:off x="634566" y="3165541"/>
                  <a:ext cx="1506220" cy="428625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600" b="1">
                      <a:latin typeface="Verdana" panose="020B0604030504040204" pitchFamily="34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b = </a:t>
                  </a:r>
                  <a14:m>
                    <m:oMath xmlns:m="http://schemas.openxmlformats.org/officeDocument/2006/math">
                      <m:r>
                        <a:rPr lang="en-US" sz="1600" b="1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𝟔</m:t>
                      </m:r>
                    </m:oMath>
                  </a14:m>
                  <a:endParaRPr lang="x-none" sz="110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4" name="Text Box 13">
                  <a:extLst>
                    <a:ext uri="{FF2B5EF4-FFF2-40B4-BE49-F238E27FC236}">
                      <a16:creationId xmlns:a16="http://schemas.microsoft.com/office/drawing/2014/main" id="{22DF7982-1C8D-9744-B6AC-05FF69499E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4566" y="3165541"/>
                  <a:ext cx="1506220" cy="428625"/>
                </a:xfrm>
                <a:prstGeom prst="rect">
                  <a:avLst/>
                </a:prstGeom>
                <a:blipFill>
                  <a:blip r:embed="rId7"/>
                  <a:stretch>
                    <a:fillRect l="-3093" t="-3448" b="-17241"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 Box 14">
                  <a:extLst>
                    <a:ext uri="{FF2B5EF4-FFF2-40B4-BE49-F238E27FC236}">
                      <a16:creationId xmlns:a16="http://schemas.microsoft.com/office/drawing/2014/main" id="{24FA5929-92A4-9449-832C-813E5017B1ED}"/>
                    </a:ext>
                  </a:extLst>
                </p:cNvPr>
                <p:cNvSpPr txBox="1"/>
                <p:nvPr/>
              </p:nvSpPr>
              <p:spPr>
                <a:xfrm>
                  <a:off x="2461690" y="3165541"/>
                  <a:ext cx="1155700" cy="428625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600" b="1" dirty="0">
                      <a:latin typeface="Verdana" panose="020B0604030504040204" pitchFamily="34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g = </a:t>
                  </a:r>
                  <a14:m>
                    <m:oMath xmlns:m="http://schemas.openxmlformats.org/officeDocument/2006/math">
                      <m:r>
                        <a:rPr lang="en-US" sz="1600" b="1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𝟏𝟐</m:t>
                      </m:r>
                    </m:oMath>
                  </a14:m>
                  <a:endParaRPr lang="x-none" sz="1100" dirty="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5" name="Text Box 14">
                  <a:extLst>
                    <a:ext uri="{FF2B5EF4-FFF2-40B4-BE49-F238E27FC236}">
                      <a16:creationId xmlns:a16="http://schemas.microsoft.com/office/drawing/2014/main" id="{24FA5929-92A4-9449-832C-813E5017B1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61690" y="3165541"/>
                  <a:ext cx="1155700" cy="428625"/>
                </a:xfrm>
                <a:prstGeom prst="rect">
                  <a:avLst/>
                </a:prstGeom>
                <a:blipFill>
                  <a:blip r:embed="rId8"/>
                  <a:stretch>
                    <a:fillRect l="-4000" t="-3448" b="-17241"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 Box 15">
                  <a:extLst>
                    <a:ext uri="{FF2B5EF4-FFF2-40B4-BE49-F238E27FC236}">
                      <a16:creationId xmlns:a16="http://schemas.microsoft.com/office/drawing/2014/main" id="{39B4FAE1-B7A2-8B49-A743-5AAD78956BCB}"/>
                    </a:ext>
                  </a:extLst>
                </p:cNvPr>
                <p:cNvSpPr txBox="1"/>
                <p:nvPr/>
              </p:nvSpPr>
              <p:spPr>
                <a:xfrm rot="16200000">
                  <a:off x="-319405" y="1871193"/>
                  <a:ext cx="1067435" cy="428625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600" b="1">
                      <a:latin typeface="Verdana" panose="020B0604030504040204" pitchFamily="34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a = </a:t>
                  </a:r>
                  <a14:m>
                    <m:oMath xmlns:m="http://schemas.openxmlformats.org/officeDocument/2006/math">
                      <m:r>
                        <a:rPr lang="en-US" sz="1600" b="1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𝟖</m:t>
                      </m:r>
                    </m:oMath>
                  </a14:m>
                  <a:endParaRPr lang="x-none" sz="110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6" name="Text Box 15">
                  <a:extLst>
                    <a:ext uri="{FF2B5EF4-FFF2-40B4-BE49-F238E27FC236}">
                      <a16:creationId xmlns:a16="http://schemas.microsoft.com/office/drawing/2014/main" id="{39B4FAE1-B7A2-8B49-A743-5AAD78956B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-319405" y="1871193"/>
                  <a:ext cx="1067435" cy="428625"/>
                </a:xfrm>
                <a:prstGeom prst="rect">
                  <a:avLst/>
                </a:prstGeom>
                <a:blipFill>
                  <a:blip r:embed="rId9"/>
                  <a:stretch>
                    <a:fillRect l="-7143" r="-17857" b="-4348"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CO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Text Box 16">
              <a:extLst>
                <a:ext uri="{FF2B5EF4-FFF2-40B4-BE49-F238E27FC236}">
                  <a16:creationId xmlns:a16="http://schemas.microsoft.com/office/drawing/2014/main" id="{A9861226-7557-3443-B664-7D7AC474CFFE}"/>
                </a:ext>
              </a:extLst>
            </p:cNvPr>
            <p:cNvSpPr txBox="1"/>
            <p:nvPr/>
          </p:nvSpPr>
          <p:spPr>
            <a:xfrm rot="16200000">
              <a:off x="701929" y="979545"/>
              <a:ext cx="1960244" cy="428625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1000"/>
                </a:spcAft>
              </a:pPr>
              <a:r>
                <a:rPr lang="en-US" sz="1600" b="1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d = 16</a:t>
              </a:r>
              <a:endParaRPr lang="x-none" sz="110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Text Box 17">
              <a:extLst>
                <a:ext uri="{FF2B5EF4-FFF2-40B4-BE49-F238E27FC236}">
                  <a16:creationId xmlns:a16="http://schemas.microsoft.com/office/drawing/2014/main" id="{78D12171-5E61-E348-AEE0-C145E006B01A}"/>
                </a:ext>
              </a:extLst>
            </p:cNvPr>
            <p:cNvSpPr txBox="1"/>
            <p:nvPr/>
          </p:nvSpPr>
          <p:spPr>
            <a:xfrm rot="3163493">
              <a:off x="600710" y="1959193"/>
              <a:ext cx="1243330" cy="428625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1000"/>
                </a:spcAft>
              </a:pPr>
              <a:r>
                <a:rPr lang="en-US" sz="1600" b="1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f = 10</a:t>
              </a:r>
              <a:endParaRPr lang="x-none" sz="110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 Box 18">
                  <a:extLst>
                    <a:ext uri="{FF2B5EF4-FFF2-40B4-BE49-F238E27FC236}">
                      <a16:creationId xmlns:a16="http://schemas.microsoft.com/office/drawing/2014/main" id="{20D1EDEC-6DC2-5344-ADE2-8E545E9BB622}"/>
                    </a:ext>
                  </a:extLst>
                </p:cNvPr>
                <p:cNvSpPr txBox="1"/>
                <p:nvPr/>
              </p:nvSpPr>
              <p:spPr>
                <a:xfrm rot="3259529">
                  <a:off x="2758398" y="1450892"/>
                  <a:ext cx="1155701" cy="428625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600" b="1" dirty="0">
                      <a:latin typeface="Verdana" panose="020B0604030504040204" pitchFamily="34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k = </a:t>
                  </a:r>
                  <a14:m>
                    <m:oMath xmlns:m="http://schemas.openxmlformats.org/officeDocument/2006/math">
                      <m:r>
                        <a:rPr lang="en-US" sz="1600" b="1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𝟐𝟎</m:t>
                      </m:r>
                    </m:oMath>
                  </a14:m>
                  <a:endParaRPr lang="x-none" sz="1100" dirty="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9" name="Text Box 18">
                  <a:extLst>
                    <a:ext uri="{FF2B5EF4-FFF2-40B4-BE49-F238E27FC236}">
                      <a16:creationId xmlns:a16="http://schemas.microsoft.com/office/drawing/2014/main" id="{20D1EDEC-6DC2-5344-ADE2-8E545E9BB6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3259529">
                  <a:off x="2758398" y="1450892"/>
                  <a:ext cx="1155701" cy="428625"/>
                </a:xfrm>
                <a:prstGeom prst="rect">
                  <a:avLst/>
                </a:prstGeom>
                <a:blipFill>
                  <a:blip r:embed="rId10"/>
                  <a:stretch>
                    <a:fillRect l="-9091" t="-3896"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CO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20" name="Google Shape;283;g104476d1465_1_17"/>
          <p:cNvPicPr preferRelativeResize="0"/>
          <p:nvPr/>
        </p:nvPicPr>
        <p:blipFill>
          <a:blip r:embed="rId11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4190" y="615586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1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8889924" y="6500862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211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6ABC5E"/>
          </a:solidFill>
          <a:ln w="9525" cap="flat" cmpd="sng">
            <a:solidFill>
              <a:srgbClr val="6ABC5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D330F31-6BC7-B146-B595-34E7025365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096" y="383877"/>
            <a:ext cx="1080000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896938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lphaLcPeriod"/>
            </a:pPr>
            <a:r>
              <a:rPr lang="en-US" altLang="en-US" sz="24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scale factor from Triangle F to Triangle R is _______.</a:t>
            </a:r>
          </a:p>
          <a:p>
            <a:pPr marL="896938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lphaLcPeriod"/>
            </a:pPr>
            <a:endParaRPr lang="en-US" altLang="en-US" sz="2400" dirty="0">
              <a:solidFill>
                <a:schemeClr val="tx1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6938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lphaLcPeriod"/>
            </a:pPr>
            <a:endParaRPr lang="en-US" altLang="en-US" sz="2400" dirty="0">
              <a:solidFill>
                <a:schemeClr val="tx1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6938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lphaLcPeriod"/>
            </a:pPr>
            <a:endParaRPr lang="en-US" altLang="en-US" sz="2400" dirty="0">
              <a:solidFill>
                <a:schemeClr val="tx1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6938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lphaLcPeriod"/>
            </a:pPr>
            <a:endParaRPr lang="en-US" altLang="en-US" sz="2400" dirty="0">
              <a:solidFill>
                <a:schemeClr val="tx1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6938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lphaLcPeriod"/>
            </a:pPr>
            <a:endParaRPr lang="en-US" altLang="en-US" sz="2400" dirty="0">
              <a:solidFill>
                <a:schemeClr val="tx1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6938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lphaLcPeriod"/>
            </a:pPr>
            <a:r>
              <a:rPr lang="en-US" altLang="en-US" sz="24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Compare the perimeter of Triangle F to the perimeter of Triangle R.</a:t>
            </a:r>
          </a:p>
        </p:txBody>
      </p:sp>
      <p:pic>
        <p:nvPicPr>
          <p:cNvPr id="6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4190" y="615586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8889924" y="6500862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211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126860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6ABC5E"/>
          </a:solidFill>
          <a:ln w="9525" cap="flat" cmpd="sng">
            <a:solidFill>
              <a:srgbClr val="6ABC5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D330F31-6BC7-B146-B595-34E7025365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096" y="370755"/>
            <a:ext cx="1098582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896938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lphaLcPeriod" startAt="3"/>
            </a:pPr>
            <a:r>
              <a:rPr lang="en-US" altLang="en-US" sz="24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Using Triangle F and the listed scale factors, complete the table.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0A57BCE1-E31D-C344-885D-BD2E59E5682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33544361"/>
                  </p:ext>
                </p:extLst>
              </p:nvPr>
            </p:nvGraphicFramePr>
            <p:xfrm>
              <a:off x="1627094" y="1021410"/>
              <a:ext cx="9720000" cy="2880000"/>
            </p:xfrm>
            <a:graphic>
              <a:graphicData uri="http://schemas.openxmlformats.org/drawingml/2006/table">
                <a:tbl>
                  <a:tblPr/>
                  <a:tblGrid>
                    <a:gridCol w="1620000">
                      <a:extLst>
                        <a:ext uri="{9D8B030D-6E8A-4147-A177-3AD203B41FA5}">
                          <a16:colId xmlns:a16="http://schemas.microsoft.com/office/drawing/2014/main" val="585317469"/>
                        </a:ext>
                      </a:extLst>
                    </a:gridCol>
                    <a:gridCol w="1620000">
                      <a:extLst>
                        <a:ext uri="{9D8B030D-6E8A-4147-A177-3AD203B41FA5}">
                          <a16:colId xmlns:a16="http://schemas.microsoft.com/office/drawing/2014/main" val="17757359"/>
                        </a:ext>
                      </a:extLst>
                    </a:gridCol>
                    <a:gridCol w="1620000">
                      <a:extLst>
                        <a:ext uri="{9D8B030D-6E8A-4147-A177-3AD203B41FA5}">
                          <a16:colId xmlns:a16="http://schemas.microsoft.com/office/drawing/2014/main" val="1663547886"/>
                        </a:ext>
                      </a:extLst>
                    </a:gridCol>
                    <a:gridCol w="1620000">
                      <a:extLst>
                        <a:ext uri="{9D8B030D-6E8A-4147-A177-3AD203B41FA5}">
                          <a16:colId xmlns:a16="http://schemas.microsoft.com/office/drawing/2014/main" val="1937478245"/>
                        </a:ext>
                      </a:extLst>
                    </a:gridCol>
                    <a:gridCol w="1620000">
                      <a:extLst>
                        <a:ext uri="{9D8B030D-6E8A-4147-A177-3AD203B41FA5}">
                          <a16:colId xmlns:a16="http://schemas.microsoft.com/office/drawing/2014/main" val="2247607629"/>
                        </a:ext>
                      </a:extLst>
                    </a:gridCol>
                    <a:gridCol w="1620000">
                      <a:extLst>
                        <a:ext uri="{9D8B030D-6E8A-4147-A177-3AD203B41FA5}">
                          <a16:colId xmlns:a16="http://schemas.microsoft.com/office/drawing/2014/main" val="2297362811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Scale Factor</a:t>
                          </a:r>
                          <a:endParaRPr lang="x-none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Base  </a:t>
                          </a:r>
                          <a:br>
                            <a:rPr lang="en-US" sz="18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a:br>
                          <a:r>
                            <a:rPr lang="en-US" sz="18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(cm)</a:t>
                          </a:r>
                          <a:endParaRPr lang="x-none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Height (cm)</a:t>
                          </a:r>
                          <a:endParaRPr lang="x-none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3</a:t>
                          </a:r>
                          <a:r>
                            <a:rPr lang="en-US" sz="1800" b="1" baseline="30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rd</a:t>
                          </a:r>
                          <a:r>
                            <a:rPr lang="en-US" sz="18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side (cm)</a:t>
                          </a:r>
                          <a:endParaRPr lang="x-none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Perimeter </a:t>
                          </a:r>
                          <a:r>
                            <a:rPr lang="en-US" sz="18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(cm)</a:t>
                          </a:r>
                          <a:endParaRPr lang="x-none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Area</a:t>
                          </a:r>
                          <a:endParaRPr lang="x-none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(cm</a:t>
                          </a:r>
                          <a:r>
                            <a:rPr lang="en-US" sz="1800" b="1" baseline="30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2</a:t>
                          </a:r>
                          <a:r>
                            <a:rPr lang="en-US" sz="18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)</a:t>
                          </a:r>
                          <a:endParaRPr lang="x-none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4490852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1800" b="0" i="1" smtClean="0">
                                    <a:effectLst/>
                                    <a:latin typeface="Cambria Math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1800" b="0" i="1" smtClean="0">
                                    <a:effectLst/>
                                    <a:latin typeface="Cambria Math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24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1800" b="0" i="1" smtClean="0">
                                    <a:effectLst/>
                                    <a:latin typeface="Cambria Math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24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57757993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18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1800" b="0" i="1" smtClean="0">
                                    <a:effectLst/>
                                    <a:latin typeface="Cambria Math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24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0480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Arial" panose="020B0604020202020204" pitchFamily="34" charset="0"/>
                            <a:buChar char=" "/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Arial" panose="020B0604020202020204" pitchFamily="34" charset="0"/>
                            <a:buChar char=" "/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882674953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x-none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x-none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Arial" panose="020B0604020202020204" pitchFamily="34" charset="0"/>
                            <a:buChar char=" "/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1800" b="0" i="1" smtClean="0">
                                    <a:effectLst/>
                                    <a:latin typeface="Cambria Math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Arial" panose="020B0604020202020204" pitchFamily="34" charset="0"/>
                            <a:buChar char=" "/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Arial" panose="020B0604020202020204" pitchFamily="34" charset="0"/>
                            <a:buChar char=" 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7317825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0A57BCE1-E31D-C344-885D-BD2E59E5682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33544361"/>
                  </p:ext>
                </p:extLst>
              </p:nvPr>
            </p:nvGraphicFramePr>
            <p:xfrm>
              <a:off x="1627094" y="1021410"/>
              <a:ext cx="9720000" cy="2880000"/>
            </p:xfrm>
            <a:graphic>
              <a:graphicData uri="http://schemas.openxmlformats.org/drawingml/2006/table">
                <a:tbl>
                  <a:tblPr/>
                  <a:tblGrid>
                    <a:gridCol w="1620000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585317469"/>
                        </a:ext>
                      </a:extLst>
                    </a:gridCol>
                    <a:gridCol w="1620000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17757359"/>
                        </a:ext>
                      </a:extLst>
                    </a:gridCol>
                    <a:gridCol w="1620000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1663547886"/>
                        </a:ext>
                      </a:extLst>
                    </a:gridCol>
                    <a:gridCol w="1620000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1937478245"/>
                        </a:ext>
                      </a:extLst>
                    </a:gridCol>
                    <a:gridCol w="1620000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2247607629"/>
                        </a:ext>
                      </a:extLst>
                    </a:gridCol>
                    <a:gridCol w="1620000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2297362811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Scale Factor</a:t>
                          </a:r>
                          <a:endParaRPr lang="x-none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Base  </a:t>
                          </a:r>
                          <a:r>
                            <a:rPr lang="en-US" sz="1800" b="1" dirty="0" smtClean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/>
                          </a:r>
                          <a:br>
                            <a:rPr lang="en-US" sz="1800" b="1" dirty="0" smtClean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a:br>
                          <a:r>
                            <a:rPr lang="en-US" sz="1800" b="1" dirty="0" smtClean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(</a:t>
                          </a:r>
                          <a:r>
                            <a:rPr lang="en-US" sz="18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cm)</a:t>
                          </a:r>
                          <a:endParaRPr lang="x-none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Height (cm)</a:t>
                          </a:r>
                          <a:endParaRPr lang="x-none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3</a:t>
                          </a:r>
                          <a:r>
                            <a:rPr lang="en-US" sz="1800" b="1" baseline="30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rd</a:t>
                          </a:r>
                          <a:r>
                            <a:rPr lang="en-US" sz="18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side (cm)</a:t>
                          </a:r>
                          <a:endParaRPr lang="x-none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Perimeter </a:t>
                          </a:r>
                          <a:r>
                            <a:rPr lang="en-US" sz="18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(cm)</a:t>
                          </a:r>
                          <a:endParaRPr lang="x-none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Area</a:t>
                          </a:r>
                          <a:endParaRPr lang="x-none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(cm</a:t>
                          </a:r>
                          <a:r>
                            <a:rPr lang="en-US" sz="1800" b="1" baseline="30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2</a:t>
                          </a:r>
                          <a:r>
                            <a:rPr lang="en-US" sz="18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)</a:t>
                          </a:r>
                          <a:endParaRPr lang="x-none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3614490852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376" t="-100847" r="-499624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00755" t="-100847" r="-401509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00000" t="-100847" r="-30000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300000" t="-100847" r="-20000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401509" t="-100847" r="-100755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499624" t="-100847" r="-376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4157757993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376" t="-200847" r="-499624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00755" t="-200847" r="-401509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00000" t="-200847" r="-300000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30480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Arial" panose="020B0604020202020204" pitchFamily="34" charset="0"/>
                            <a:buChar char=" "/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Arial" panose="020B0604020202020204" pitchFamily="34" charset="0"/>
                            <a:buChar char=" "/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3882674953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376" t="-300847" r="-4996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00755" t="-300847" r="-4015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Arial" panose="020B0604020202020204" pitchFamily="34" charset="0"/>
                            <a:buChar char=" "/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300000" t="-300847" r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Arial" panose="020B0604020202020204" pitchFamily="34" charset="0"/>
                            <a:buChar char=" "/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Arial" panose="020B0604020202020204" pitchFamily="34" charset="0"/>
                            <a:buChar char=" 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77317825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8F776073-6B13-EE43-847A-9553AB731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239" y="4023992"/>
            <a:ext cx="108000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896938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lphaLcPeriod" startAt="4"/>
            </a:pPr>
            <a:r>
              <a:rPr lang="en-US" altLang="en-US" sz="24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Discuss with your partner whether the rules you wrote for calculating the perimeter or area of a scaled rectangle, given a scale factor and the original perimeter or area, apply to triangles.</a:t>
            </a: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4190" y="615586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8889924" y="6500862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212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394027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6ABC5E"/>
          </a:solidFill>
          <a:ln w="9525" cap="flat" cmpd="sng">
            <a:solidFill>
              <a:srgbClr val="6ABC5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CD330F31-6BC7-B146-B595-34E7025365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8865" y="378888"/>
                <a:ext cx="10800000" cy="212365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 startAt="2"/>
                </a:pPr>
                <a:r>
                  <a:rPr lang="en-US" altLang="en-US" sz="22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Trapezoid K has two bases. One base (d) is </a:t>
                </a:r>
                <a14:m>
                  <m:oMath xmlns:m="http://schemas.openxmlformats.org/officeDocument/2006/math">
                    <m:r>
                      <a:rPr lang="en-US" altLang="en-US" sz="2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5</m:t>
                    </m:r>
                  </m:oMath>
                </a14:m>
                <a:r>
                  <a:rPr lang="en-US" altLang="en-US" sz="22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units long and the other </a:t>
                </a:r>
                <a:br>
                  <a:rPr lang="en-US" altLang="en-US" sz="22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en-US" sz="2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altLang="en-US" sz="22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(f) units long. The other two sides (a and g) have equal lengths of </a:t>
                </a:r>
                <a:br>
                  <a:rPr lang="en-PH" altLang="en-US" sz="220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en-US" sz="2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2.3</m:t>
                    </m:r>
                  </m:oMath>
                </a14:m>
                <a:r>
                  <a:rPr lang="en-US" altLang="en-US" sz="22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units. A scale factor of </a:t>
                </a:r>
                <a14:m>
                  <m:oMath xmlns:m="http://schemas.openxmlformats.org/officeDocument/2006/math">
                    <m:r>
                      <a:rPr lang="en-US" altLang="en-US" sz="2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en-US" altLang="en-US" sz="22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has been applied to Trapezoid K resulting in Trapezoid S. Trapezoid S has two bases, one (h) </a:t>
                </a:r>
                <a14:m>
                  <m:oMath xmlns:m="http://schemas.openxmlformats.org/officeDocument/2006/math">
                    <m:r>
                      <a:rPr lang="en-US" altLang="en-US" sz="2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10</m:t>
                    </m:r>
                  </m:oMath>
                </a14:m>
                <a:r>
                  <a:rPr lang="en-US" altLang="en-US" sz="22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units long and the other (k) </a:t>
                </a:r>
                <a14:m>
                  <m:oMath xmlns:m="http://schemas.openxmlformats.org/officeDocument/2006/math">
                    <m:r>
                      <a:rPr lang="en-US" altLang="en-US" sz="2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6</m:t>
                    </m:r>
                  </m:oMath>
                </a14:m>
                <a:r>
                  <a:rPr lang="en-US" altLang="en-US" sz="22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units long. The other two sides (e and m) have equal lengths of </a:t>
                </a:r>
                <a14:m>
                  <m:oMath xmlns:m="http://schemas.openxmlformats.org/officeDocument/2006/math">
                    <m:r>
                      <a:rPr lang="en-US" altLang="en-US" sz="2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4.6</m:t>
                    </m:r>
                  </m:oMath>
                </a14:m>
                <a:r>
                  <a:rPr lang="en-US" altLang="en-US" sz="22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units.</a:t>
                </a:r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D330F31-6BC7-B146-B595-34E7025365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8865" y="378888"/>
                <a:ext cx="10800000" cy="2123658"/>
              </a:xfrm>
              <a:prstGeom prst="rect">
                <a:avLst/>
              </a:prstGeom>
              <a:blipFill rotWithShape="1">
                <a:blip r:embed="rId3"/>
                <a:stretch>
                  <a:fillRect l="-734" t="-2292" r="-1637" b="-458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773CFDB3-008E-674A-A281-DF0BDD5BCC6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23468" y="2885058"/>
            <a:ext cx="6195695" cy="2959100"/>
          </a:xfrm>
          <a:prstGeom prst="rect">
            <a:avLst/>
          </a:prstGeom>
        </p:spPr>
      </p:pic>
      <p:sp>
        <p:nvSpPr>
          <p:cNvPr id="16" name="Text Box 69">
            <a:extLst>
              <a:ext uri="{FF2B5EF4-FFF2-40B4-BE49-F238E27FC236}">
                <a16:creationId xmlns:a16="http://schemas.microsoft.com/office/drawing/2014/main" id="{FE0C9E7C-599A-1545-B230-D41C76F5374A}"/>
              </a:ext>
            </a:extLst>
          </p:cNvPr>
          <p:cNvSpPr txBox="1"/>
          <p:nvPr/>
        </p:nvSpPr>
        <p:spPr>
          <a:xfrm>
            <a:off x="3485580" y="3594028"/>
            <a:ext cx="2446655" cy="68580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1000"/>
              </a:spcAft>
            </a:pPr>
            <a:r>
              <a:rPr lang="en-US" sz="1800" b="1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Trapezoid K</a:t>
            </a:r>
            <a:endParaRPr lang="x-none" sz="120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Box 70">
            <a:extLst>
              <a:ext uri="{FF2B5EF4-FFF2-40B4-BE49-F238E27FC236}">
                <a16:creationId xmlns:a16="http://schemas.microsoft.com/office/drawing/2014/main" id="{1B5089AD-4849-C34F-A472-EAF4359A7EDC}"/>
              </a:ext>
            </a:extLst>
          </p:cNvPr>
          <p:cNvSpPr txBox="1"/>
          <p:nvPr/>
        </p:nvSpPr>
        <p:spPr>
          <a:xfrm>
            <a:off x="6571680" y="3775003"/>
            <a:ext cx="2446655" cy="68580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1000"/>
              </a:spcAft>
            </a:pPr>
            <a:r>
              <a:rPr lang="en-US" sz="1800" b="1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Trapezoid S</a:t>
            </a:r>
            <a:endParaRPr lang="x-none" sz="120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 Box 71">
                <a:extLst>
                  <a:ext uri="{FF2B5EF4-FFF2-40B4-BE49-F238E27FC236}">
                    <a16:creationId xmlns:a16="http://schemas.microsoft.com/office/drawing/2014/main" id="{6FC1EC68-3823-934D-B2F5-54DD3D023FD1}"/>
                  </a:ext>
                </a:extLst>
              </p:cNvPr>
              <p:cNvSpPr txBox="1"/>
              <p:nvPr/>
            </p:nvSpPr>
            <p:spPr>
              <a:xfrm>
                <a:off x="3980879" y="4086789"/>
                <a:ext cx="1409700" cy="492125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800" b="1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 = </a:t>
                </a:r>
                <a14:m>
                  <m:oMath xmlns:m="http://schemas.openxmlformats.org/officeDocument/2006/math">
                    <m:r>
                      <a:rPr lang="en-US" sz="1800" b="1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𝟓</m:t>
                    </m:r>
                  </m:oMath>
                </a14:m>
                <a:endParaRPr lang="x-none" sz="120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Text Box 7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FC1EC68-3823-934D-B2F5-54DD3D023F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0879" y="4086789"/>
                <a:ext cx="1409700" cy="492125"/>
              </a:xfrm>
              <a:prstGeom prst="rect">
                <a:avLst/>
              </a:prstGeom>
              <a:blipFill rotWithShape="1">
                <a:blip r:embed="rId5"/>
                <a:stretch>
                  <a:fillRect l="-3463" t="-6173"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 Box 72">
                <a:extLst>
                  <a:ext uri="{FF2B5EF4-FFF2-40B4-BE49-F238E27FC236}">
                    <a16:creationId xmlns:a16="http://schemas.microsoft.com/office/drawing/2014/main" id="{B8656C9F-3482-4D41-88E2-AEA583895291}"/>
                  </a:ext>
                </a:extLst>
              </p:cNvPr>
              <p:cNvSpPr txBox="1"/>
              <p:nvPr/>
            </p:nvSpPr>
            <p:spPr>
              <a:xfrm>
                <a:off x="4107879" y="2905689"/>
                <a:ext cx="1409700" cy="492125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800" b="1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 = </a:t>
                </a:r>
                <a14:m>
                  <m:oMath xmlns:m="http://schemas.openxmlformats.org/officeDocument/2006/math">
                    <m:r>
                      <a:rPr lang="en-US" sz="1800" b="1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𝟑</m:t>
                    </m:r>
                  </m:oMath>
                </a14:m>
                <a:endParaRPr lang="x-none" sz="120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Text Box 7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8656C9F-3482-4D41-88E2-AEA5838952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7879" y="2905689"/>
                <a:ext cx="1409700" cy="492125"/>
              </a:xfrm>
              <a:prstGeom prst="rect">
                <a:avLst/>
              </a:prstGeom>
              <a:blipFill rotWithShape="1">
                <a:blip r:embed="rId6"/>
                <a:stretch>
                  <a:fillRect l="-3896" t="-6250"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Box 73">
                <a:extLst>
                  <a:ext uri="{FF2B5EF4-FFF2-40B4-BE49-F238E27FC236}">
                    <a16:creationId xmlns:a16="http://schemas.microsoft.com/office/drawing/2014/main" id="{F8920782-447C-D446-BBE3-34FD6BBD7546}"/>
                  </a:ext>
                </a:extLst>
              </p:cNvPr>
              <p:cNvSpPr txBox="1"/>
              <p:nvPr/>
            </p:nvSpPr>
            <p:spPr>
              <a:xfrm>
                <a:off x="3193479" y="3321614"/>
                <a:ext cx="1409700" cy="492125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800" b="1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 = </a:t>
                </a:r>
                <a14:m>
                  <m:oMath xmlns:m="http://schemas.openxmlformats.org/officeDocument/2006/math">
                    <m:r>
                      <a:rPr lang="en-US" sz="1800" b="1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𝟐</m:t>
                    </m:r>
                    <m:r>
                      <a:rPr lang="en-US" sz="1800" b="1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1800" b="1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𝟑</m:t>
                    </m:r>
                  </m:oMath>
                </a14:m>
                <a:endParaRPr lang="x-none" sz="120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" name="Text Box 7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F8920782-447C-D446-BBE3-34FD6BBD75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3479" y="3321614"/>
                <a:ext cx="1409700" cy="492125"/>
              </a:xfrm>
              <a:prstGeom prst="rect">
                <a:avLst/>
              </a:prstGeom>
              <a:blipFill rotWithShape="1">
                <a:blip r:embed="rId7"/>
                <a:stretch>
                  <a:fillRect l="-3896" t="-6173"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 Box 74">
                <a:extLst>
                  <a:ext uri="{FF2B5EF4-FFF2-40B4-BE49-F238E27FC236}">
                    <a16:creationId xmlns:a16="http://schemas.microsoft.com/office/drawing/2014/main" id="{FE993926-76F7-1043-ADA5-B1C700B7F4B5}"/>
                  </a:ext>
                </a:extLst>
              </p:cNvPr>
              <p:cNvSpPr txBox="1"/>
              <p:nvPr/>
            </p:nvSpPr>
            <p:spPr>
              <a:xfrm>
                <a:off x="4742879" y="3308914"/>
                <a:ext cx="1092200" cy="403225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800" b="1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g = </a:t>
                </a:r>
                <a14:m>
                  <m:oMath xmlns:m="http://schemas.openxmlformats.org/officeDocument/2006/math">
                    <m:r>
                      <a:rPr lang="en-US" sz="1800" b="1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𝟐</m:t>
                    </m:r>
                    <m:r>
                      <a:rPr lang="en-US" sz="1800" b="1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1800" b="1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𝟑</m:t>
                    </m:r>
                  </m:oMath>
                </a14:m>
                <a:endParaRPr lang="x-none" sz="120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Text Box 7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FE993926-76F7-1043-ADA5-B1C700B7F4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2879" y="3308914"/>
                <a:ext cx="1092200" cy="403225"/>
              </a:xfrm>
              <a:prstGeom prst="rect">
                <a:avLst/>
              </a:prstGeom>
              <a:blipFill rotWithShape="1">
                <a:blip r:embed="rId8"/>
                <a:stretch>
                  <a:fillRect l="-4469" t="-7576" b="-15152"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Box 75">
                <a:extLst>
                  <a:ext uri="{FF2B5EF4-FFF2-40B4-BE49-F238E27FC236}">
                    <a16:creationId xmlns:a16="http://schemas.microsoft.com/office/drawing/2014/main" id="{A57911A3-C27D-DC46-9B8C-77247841F2C8}"/>
                  </a:ext>
                </a:extLst>
              </p:cNvPr>
              <p:cNvSpPr txBox="1"/>
              <p:nvPr/>
            </p:nvSpPr>
            <p:spPr>
              <a:xfrm>
                <a:off x="6889179" y="4744014"/>
                <a:ext cx="1409700" cy="492125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800" b="1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h = </a:t>
                </a:r>
                <a14:m>
                  <m:oMath xmlns:m="http://schemas.openxmlformats.org/officeDocument/2006/math">
                    <m:r>
                      <a:rPr lang="en-US" sz="1800" b="1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𝟏𝟎</m:t>
                    </m:r>
                  </m:oMath>
                </a14:m>
                <a:endParaRPr lang="x-none" sz="120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" name="Text Box 7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57911A3-C27D-DC46-9B8C-77247841F2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9179" y="4744014"/>
                <a:ext cx="1409700" cy="492125"/>
              </a:xfrm>
              <a:prstGeom prst="rect">
                <a:avLst/>
              </a:prstGeom>
              <a:blipFill rotWithShape="1">
                <a:blip r:embed="rId9"/>
                <a:stretch>
                  <a:fillRect l="-3463" t="-6173"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Box 76">
                <a:extLst>
                  <a:ext uri="{FF2B5EF4-FFF2-40B4-BE49-F238E27FC236}">
                    <a16:creationId xmlns:a16="http://schemas.microsoft.com/office/drawing/2014/main" id="{64D8C4D9-EBF2-CD47-A37B-D0509CED1B81}"/>
                  </a:ext>
                </a:extLst>
              </p:cNvPr>
              <p:cNvSpPr txBox="1"/>
              <p:nvPr/>
            </p:nvSpPr>
            <p:spPr>
              <a:xfrm>
                <a:off x="8357300" y="4086789"/>
                <a:ext cx="1641475" cy="492125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800" b="1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 = </a:t>
                </a:r>
                <a14:m>
                  <m:oMath xmlns:m="http://schemas.openxmlformats.org/officeDocument/2006/math">
                    <m:r>
                      <a:rPr lang="en-US" sz="1800" b="1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𝟒</m:t>
                    </m:r>
                    <m:r>
                      <a:rPr lang="en-US" sz="1800" b="1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1800" b="1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𝟔</m:t>
                    </m:r>
                  </m:oMath>
                </a14:m>
                <a:endParaRPr lang="x-none" sz="120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" name="Text Box 76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4D8C4D9-EBF2-CD47-A37B-D0509CED1B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7300" y="4086789"/>
                <a:ext cx="1641475" cy="492125"/>
              </a:xfrm>
              <a:prstGeom prst="rect">
                <a:avLst/>
              </a:prstGeom>
              <a:blipFill rotWithShape="1">
                <a:blip r:embed="rId10"/>
                <a:stretch>
                  <a:fillRect l="-3346" t="-6173"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 Box 77">
                <a:extLst>
                  <a:ext uri="{FF2B5EF4-FFF2-40B4-BE49-F238E27FC236}">
                    <a16:creationId xmlns:a16="http://schemas.microsoft.com/office/drawing/2014/main" id="{DC857197-5DD5-754B-BF9F-F44866F37910}"/>
                  </a:ext>
                </a:extLst>
              </p:cNvPr>
              <p:cNvSpPr txBox="1"/>
              <p:nvPr/>
            </p:nvSpPr>
            <p:spPr>
              <a:xfrm>
                <a:off x="5530279" y="4150289"/>
                <a:ext cx="1409700" cy="492125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800" b="1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 = </a:t>
                </a:r>
                <a14:m>
                  <m:oMath xmlns:m="http://schemas.openxmlformats.org/officeDocument/2006/math">
                    <m:r>
                      <a:rPr lang="en-US" sz="1800" b="1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𝟒</m:t>
                    </m:r>
                    <m:r>
                      <a:rPr lang="en-US" sz="1800" b="1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1800" b="1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𝟔</m:t>
                    </m:r>
                  </m:oMath>
                </a14:m>
                <a:endParaRPr lang="x-none" sz="120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4" name="Text Box 7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DC857197-5DD5-754B-BF9F-F44866F379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0279" y="4150289"/>
                <a:ext cx="1409700" cy="492125"/>
              </a:xfrm>
              <a:prstGeom prst="rect">
                <a:avLst/>
              </a:prstGeom>
              <a:blipFill rotWithShape="1">
                <a:blip r:embed="rId11"/>
                <a:stretch>
                  <a:fillRect l="-3463" t="-6173"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 Box 78">
                <a:extLst>
                  <a:ext uri="{FF2B5EF4-FFF2-40B4-BE49-F238E27FC236}">
                    <a16:creationId xmlns:a16="http://schemas.microsoft.com/office/drawing/2014/main" id="{E820445B-9BBF-4247-9EB3-1B5E7B48C71E}"/>
                  </a:ext>
                </a:extLst>
              </p:cNvPr>
              <p:cNvSpPr txBox="1"/>
              <p:nvPr/>
            </p:nvSpPr>
            <p:spPr>
              <a:xfrm>
                <a:off x="6914580" y="2905689"/>
                <a:ext cx="1101725" cy="492125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800" b="1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k = </a:t>
                </a:r>
                <a14:m>
                  <m:oMath xmlns:m="http://schemas.openxmlformats.org/officeDocument/2006/math">
                    <m:r>
                      <a:rPr lang="en-US" sz="1800" b="1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𝟔</m:t>
                    </m:r>
                  </m:oMath>
                </a14:m>
                <a:endParaRPr lang="x-none" sz="120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" name="Text Box 7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820445B-9BBF-4247-9EB3-1B5E7B48C7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4580" y="2905689"/>
                <a:ext cx="1101725" cy="492125"/>
              </a:xfrm>
              <a:prstGeom prst="rect">
                <a:avLst/>
              </a:prstGeom>
              <a:blipFill rotWithShape="1">
                <a:blip r:embed="rId12"/>
                <a:stretch>
                  <a:fillRect l="-4420" t="-6250"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6" name="Google Shape;283;g104476d1465_1_17"/>
          <p:cNvPicPr preferRelativeResize="0"/>
          <p:nvPr/>
        </p:nvPicPr>
        <p:blipFill>
          <a:blip r:embed="rId1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4190" y="615586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7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8889924" y="6500862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212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039280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6ABC5E"/>
          </a:solidFill>
          <a:ln w="9525" cap="flat" cmpd="sng">
            <a:solidFill>
              <a:srgbClr val="6ABC5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D330F31-6BC7-B146-B595-34E7025365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096" y="375482"/>
            <a:ext cx="10800000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896938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lphaLcPeriod"/>
            </a:pPr>
            <a:r>
              <a:rPr lang="en-US" altLang="en-US" sz="20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does the perimeter of Trapezoid K compare to the perimeter of Trapezoid S?</a:t>
            </a:r>
          </a:p>
          <a:p>
            <a:pPr marL="896938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lphaLcPeriod"/>
            </a:pPr>
            <a:endParaRPr lang="en-US" altLang="en-US" sz="2000" dirty="0">
              <a:solidFill>
                <a:schemeClr val="tx1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6938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lphaLcPeriod"/>
            </a:pPr>
            <a:endParaRPr lang="en-US" altLang="en-US" sz="2000" dirty="0">
              <a:solidFill>
                <a:schemeClr val="tx1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6938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lphaLcPeriod"/>
            </a:pPr>
            <a:endParaRPr lang="en-US" altLang="en-US" sz="2000" dirty="0">
              <a:solidFill>
                <a:schemeClr val="tx1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6938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lphaLcPeriod"/>
            </a:pPr>
            <a:endParaRPr lang="en-US" altLang="en-US" sz="2000" dirty="0">
              <a:solidFill>
                <a:schemeClr val="tx1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6938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lphaLcPeriod"/>
            </a:pPr>
            <a:r>
              <a:rPr lang="en-US" altLang="en-US" sz="20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Explain how these perimeters relate to the scale factor.</a:t>
            </a:r>
          </a:p>
          <a:p>
            <a:pPr marL="896938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lphaLcPeriod"/>
            </a:pPr>
            <a:endParaRPr lang="en-US" altLang="en-US" sz="2000" dirty="0">
              <a:solidFill>
                <a:schemeClr val="tx1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6938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lphaLcPeriod"/>
            </a:pPr>
            <a:endParaRPr lang="en-US" altLang="en-US" sz="2000" dirty="0">
              <a:solidFill>
                <a:schemeClr val="tx1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6938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lphaLcPeriod"/>
            </a:pPr>
            <a:endParaRPr lang="en-US" altLang="en-US" sz="2000" dirty="0">
              <a:solidFill>
                <a:schemeClr val="tx1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6938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lphaLcPeriod"/>
            </a:pPr>
            <a:endParaRPr lang="en-US" altLang="en-US" sz="2000" dirty="0">
              <a:solidFill>
                <a:schemeClr val="tx1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6938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lphaLcPeriod"/>
            </a:pPr>
            <a:endParaRPr lang="en-US" altLang="en-US" sz="2000" dirty="0">
              <a:solidFill>
                <a:schemeClr val="tx1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6938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lphaLcPeriod"/>
            </a:pPr>
            <a:r>
              <a:rPr lang="en-US" altLang="en-US" sz="20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should the areas of the figures relate? </a:t>
            </a:r>
          </a:p>
        </p:txBody>
      </p:sp>
      <p:pic>
        <p:nvPicPr>
          <p:cNvPr id="6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4190" y="615586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8889924" y="6500862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212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420410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6ABC5E"/>
          </a:solidFill>
          <a:ln w="9525" cap="flat" cmpd="sng">
            <a:solidFill>
              <a:srgbClr val="6ABC5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4190" y="615586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8889924" y="6500862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213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6ABC5E"/>
          </a:solidFill>
          <a:ln w="9525" cap="flat" cmpd="sng">
            <a:solidFill>
              <a:srgbClr val="6ABC5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64378" y="82471"/>
            <a:ext cx="9465521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5.6.4 Wrap-Up: Growth Mindset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4257" y="371671"/>
            <a:ext cx="747300" cy="7473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E281112-0763-C941-9DB7-9B28C4EA4745}"/>
              </a:ext>
            </a:extLst>
          </p:cNvPr>
          <p:cNvSpPr/>
          <p:nvPr/>
        </p:nvSpPr>
        <p:spPr>
          <a:xfrm>
            <a:off x="538557" y="1462221"/>
            <a:ext cx="10800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Complete the table as you reflect on today’s lesson.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B10BB5B-A979-AA43-AA1D-5FD4E16B11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4980089"/>
              </p:ext>
            </p:extLst>
          </p:nvPr>
        </p:nvGraphicFramePr>
        <p:xfrm>
          <a:off x="1164378" y="2061652"/>
          <a:ext cx="8280000" cy="4639310"/>
        </p:xfrm>
        <a:graphic>
          <a:graphicData uri="http://schemas.openxmlformats.org/drawingml/2006/table">
            <a:tbl>
              <a:tblPr firstRow="1" bandRow="1"/>
              <a:tblGrid>
                <a:gridCol w="5400000">
                  <a:extLst>
                    <a:ext uri="{9D8B030D-6E8A-4147-A177-3AD203B41FA5}">
                      <a16:colId xmlns:a16="http://schemas.microsoft.com/office/drawing/2014/main" val="1859904574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4024608131"/>
                    </a:ext>
                  </a:extLst>
                </a:gridCol>
              </a:tblGrid>
              <a:tr h="70739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Which </a:t>
                      </a:r>
                      <a:r>
                        <a:rPr lang="en-GB" sz="2000" b="1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mindset</a:t>
                      </a:r>
                      <a:r>
                        <a:rPr lang="en-GB" sz="20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did I demonstrate?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Check the best description.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0155408"/>
                  </a:ext>
                </a:extLst>
              </a:tr>
              <a:tr h="9779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Did I use the partner discussions as learning opportunities? 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Char char=""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Never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Char char=""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Sometimes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Char char=""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Usually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Char char=""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Always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0985546"/>
                  </a:ext>
                </a:extLst>
              </a:tr>
              <a:tr h="9779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Did I work on problems that challenged me?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Char char=""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Never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Char char=""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Sometimes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Char char=""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Usually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Char char=""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Always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9443716"/>
                  </a:ext>
                </a:extLst>
              </a:tr>
              <a:tr h="9779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Did I use strategies to “un-stick” myself when I found the problems difficult?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Char char=""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Never</a:t>
                      </a:r>
                      <a:endParaRPr lang="x-none" sz="20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Char char=""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Sometimes</a:t>
                      </a:r>
                      <a:endParaRPr lang="x-none" sz="20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Char char=""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Usually</a:t>
                      </a:r>
                      <a:endParaRPr lang="x-none" sz="20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Char char=""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Always</a:t>
                      </a:r>
                      <a:endParaRPr lang="x-none" sz="20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018816"/>
                  </a:ext>
                </a:extLst>
              </a:tr>
            </a:tbl>
          </a:graphicData>
        </a:graphic>
      </p:graphicFrame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4190" y="615586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8889924" y="6500862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213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3151</TotalTime>
  <Words>1382</Words>
  <Application>Microsoft Macintosh PowerPoint</Application>
  <PresentationFormat>Widescreen</PresentationFormat>
  <Paragraphs>241</Paragraphs>
  <Slides>25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5" baseType="lpstr">
      <vt:lpstr>Calibri</vt:lpstr>
      <vt:lpstr>Arial Black</vt:lpstr>
      <vt:lpstr>Cambria Math</vt:lpstr>
      <vt:lpstr>Wingdings</vt:lpstr>
      <vt:lpstr>Cutive</vt:lpstr>
      <vt:lpstr>Verdana</vt:lpstr>
      <vt:lpstr>Arial</vt:lpstr>
      <vt:lpstr>Cambria</vt:lpstr>
      <vt:lpstr>Century Gothic</vt:lpstr>
      <vt:lpstr>1_Office Theme</vt:lpstr>
      <vt:lpstr>7th Grade Math  Unit 5, Lesson 6  Scale Factors – Area  Volume 1, pg. 208  </vt:lpstr>
      <vt:lpstr>Benchmark</vt:lpstr>
      <vt:lpstr>PowerPoint Presentation</vt:lpstr>
      <vt:lpstr>PowerPoint Presentation</vt:lpstr>
      <vt:lpstr>Warm-Up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Diana Barnett</cp:lastModifiedBy>
  <cp:revision>36</cp:revision>
  <dcterms:created xsi:type="dcterms:W3CDTF">2015-03-17T18:51:18Z</dcterms:created>
  <dcterms:modified xsi:type="dcterms:W3CDTF">2023-01-27T18:44:17Z</dcterms:modified>
</cp:coreProperties>
</file>