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5"/>
  </p:notesMasterIdLst>
  <p:sldIdLst>
    <p:sldId id="256" r:id="rId5"/>
    <p:sldId id="257" r:id="rId6"/>
    <p:sldId id="345" r:id="rId7"/>
    <p:sldId id="286" r:id="rId8"/>
    <p:sldId id="261" r:id="rId9"/>
    <p:sldId id="287" r:id="rId10"/>
    <p:sldId id="383" r:id="rId11"/>
    <p:sldId id="289" r:id="rId12"/>
    <p:sldId id="290" r:id="rId13"/>
    <p:sldId id="389" r:id="rId14"/>
    <p:sldId id="390" r:id="rId15"/>
    <p:sldId id="391" r:id="rId16"/>
    <p:sldId id="392" r:id="rId17"/>
    <p:sldId id="393" r:id="rId18"/>
    <p:sldId id="371" r:id="rId19"/>
    <p:sldId id="372" r:id="rId20"/>
    <p:sldId id="373" r:id="rId21"/>
    <p:sldId id="374" r:id="rId22"/>
    <p:sldId id="314" r:id="rId23"/>
    <p:sldId id="315" r:id="rId24"/>
    <p:sldId id="316" r:id="rId25"/>
    <p:sldId id="339" r:id="rId26"/>
    <p:sldId id="340" r:id="rId27"/>
    <p:sldId id="341" r:id="rId28"/>
    <p:sldId id="384" r:id="rId29"/>
    <p:sldId id="398" r:id="rId30"/>
    <p:sldId id="399" r:id="rId31"/>
    <p:sldId id="400" r:id="rId32"/>
    <p:sldId id="306" r:id="rId33"/>
    <p:sldId id="307" r:id="rId34"/>
  </p:sldIdLst>
  <p:sldSz cx="12192000" cy="6858000"/>
  <p:notesSz cx="6858000" cy="9144000"/>
  <p:embeddedFontLst>
    <p:embeddedFont>
      <p:font typeface="Arial Black" panose="020B0A04020102020204" pitchFamily="34" charset="0"/>
      <p:bold r:id="rId36"/>
    </p:embeddedFont>
    <p:embeddedFont>
      <p:font typeface="Calibri" panose="020F0502020204030204" pitchFamily="34" charset="0"/>
      <p:regular r:id="rId37"/>
      <p:bold r:id="rId38"/>
      <p:italic r:id="rId39"/>
      <p:boldItalic r:id="rId40"/>
    </p:embeddedFont>
    <p:embeddedFont>
      <p:font typeface="Cambria" panose="02040503050406030204" pitchFamily="18" charset="0"/>
      <p:regular r:id="rId41"/>
      <p:bold r:id="rId42"/>
      <p:italic r:id="rId43"/>
      <p:boldItalic r:id="rId44"/>
    </p:embeddedFont>
    <p:embeddedFont>
      <p:font typeface="Cambria Math" panose="02040503050406030204" pitchFamily="18" charset="0"/>
      <p:regular r:id="rId45"/>
    </p:embeddedFont>
    <p:embeddedFont>
      <p:font typeface="Century Gothic" panose="020B0502020202020204" pitchFamily="34" charset="0"/>
      <p:regular r:id="rId46"/>
      <p:bold r:id="rId47"/>
      <p:italic r:id="rId48"/>
      <p:boldItalic r:id="rId49"/>
    </p:embeddedFont>
    <p:embeddedFont>
      <p:font typeface="Verdana" panose="020B060403050404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B7D4"/>
    <a:srgbClr val="E24E5F"/>
    <a:srgbClr val="6ABC5E"/>
    <a:srgbClr val="BFBFBF"/>
    <a:srgbClr val="C9DF6F"/>
    <a:srgbClr val="417DBF"/>
    <a:srgbClr val="3F2A67"/>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503"/>
    <p:restoredTop sz="94694"/>
  </p:normalViewPr>
  <p:slideViewPr>
    <p:cSldViewPr snapToGrid="0">
      <p:cViewPr varScale="1">
        <p:scale>
          <a:sx n="61" d="100"/>
          <a:sy n="61" d="100"/>
        </p:scale>
        <p:origin x="84" y="3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font" Target="fonts/font11.fntdata"/><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6.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openxmlformats.org/officeDocument/2006/relationships/font" Target="fonts/font14.fntdata"/><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9.fntdata"/><Relationship Id="rId52" Type="http://schemas.openxmlformats.org/officeDocument/2006/relationships/font" Target="fonts/font17.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4.xml"/><Relationship Id="rId51" Type="http://schemas.openxmlformats.org/officeDocument/2006/relationships/font" Target="fonts/font16.fntdata"/><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Teen Views</a:t>
            </a:r>
            <a:r>
              <a:rPr lang="en-US" sz="1800" b="1" baseline="0">
                <a:solidFill>
                  <a:schemeClr val="tx1"/>
                </a:solidFill>
                <a:latin typeface="Verdana" panose="020B0604030504040204" pitchFamily="34" charset="0"/>
                <a:ea typeface="Verdana" panose="020B0604030504040204" pitchFamily="34" charset="0"/>
                <a:cs typeface="Verdana" panose="020B0604030504040204" pitchFamily="34" charset="0"/>
              </a:rPr>
              <a:t> on the Effect of Social Media on People Their Age</a:t>
            </a:r>
            <a:endParaRPr lang="en-US" sz="1800" b="1">
              <a:solidFill>
                <a:schemeClr val="tx1"/>
              </a:solidFill>
              <a:latin typeface="Verdana" panose="020B0604030504040204" pitchFamily="34" charset="0"/>
              <a:ea typeface="Verdana" panose="020B0604030504040204" pitchFamily="34" charset="0"/>
              <a:cs typeface="Verdana" panose="020B0604030504040204" pitchFamily="34" charset="0"/>
            </a:endParaRPr>
          </a:p>
        </c:rich>
      </c:tx>
      <c:layout>
        <c:manualLayout>
          <c:xMode val="edge"/>
          <c:yMode val="edge"/>
          <c:x val="0.13015966754155733"/>
          <c:y val="4.6296296296296294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0E4-CB44-969B-2DD313058A0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0E4-CB44-969B-2DD313058A0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0E4-CB44-969B-2DD313058A0E}"/>
              </c:ext>
            </c:extLst>
          </c:dPt>
          <c:dLbls>
            <c:dLbl>
              <c:idx val="0"/>
              <c:layout>
                <c:manualLayout>
                  <c:x val="-0.17237853481867135"/>
                  <c:y val="0.10504542701393095"/>
                </c:manualLayout>
              </c:layout>
              <c:tx>
                <c:rich>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r>
                      <a:rPr lang="en-US" sz="1800" b="1" dirty="0">
                        <a:solidFill>
                          <a:schemeClr val="tx1"/>
                        </a:solidFill>
                        <a:latin typeface="Cambria" panose="02040503050406030204" pitchFamily="18" charset="0"/>
                      </a:rPr>
                      <a:t>31%</a:t>
                    </a:r>
                    <a:endParaRPr lang="en-US" dirty="0"/>
                  </a:p>
                </c:rich>
              </c:tx>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00E4-CB44-969B-2DD313058A0E}"/>
                </c:ext>
              </c:extLst>
            </c:dLbl>
            <c:dLbl>
              <c:idx val="1"/>
              <c:layout>
                <c:manualLayout>
                  <c:x val="6.0204943132108432E-2"/>
                  <c:y val="-0.23297207640711579"/>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0E4-CB44-969B-2DD313058A0E}"/>
                </c:ext>
              </c:extLst>
            </c:dLbl>
            <c:dLbl>
              <c:idx val="2"/>
              <c:layout>
                <c:manualLayout>
                  <c:x val="0.13840191433976298"/>
                  <c:y val="0.18705520784260943"/>
                </c:manualLayout>
              </c:layout>
              <c:tx>
                <c:rich>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r>
                      <a:rPr lang="en-US" sz="1800" b="1" dirty="0">
                        <a:solidFill>
                          <a:schemeClr val="tx1"/>
                        </a:solidFill>
                        <a:latin typeface="Cambria" panose="02040503050406030204" pitchFamily="18" charset="0"/>
                      </a:rPr>
                      <a:t>24%</a:t>
                    </a:r>
                    <a:endParaRPr lang="en-US" dirty="0"/>
                  </a:p>
                </c:rich>
              </c:tx>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00E4-CB44-969B-2DD313058A0E}"/>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Sheet1!$A$1:$A$3</c:f>
              <c:strCache>
                <c:ptCount val="3"/>
                <c:pt idx="0">
                  <c:v>Mostly positive effect</c:v>
                </c:pt>
                <c:pt idx="1">
                  <c:v>Neither positive nor negative effect</c:v>
                </c:pt>
                <c:pt idx="2">
                  <c:v>Mostly negative effect</c:v>
                </c:pt>
              </c:strCache>
            </c:strRef>
          </c:cat>
          <c:val>
            <c:numRef>
              <c:f>Sheet1!$B$1:$B$3</c:f>
              <c:numCache>
                <c:formatCode>0%</c:formatCode>
                <c:ptCount val="3"/>
                <c:pt idx="0">
                  <c:v>0.31</c:v>
                </c:pt>
                <c:pt idx="1">
                  <c:v>0.45</c:v>
                </c:pt>
                <c:pt idx="2">
                  <c:v>0.24</c:v>
                </c:pt>
              </c:numCache>
            </c:numRef>
          </c:val>
          <c:extLst>
            <c:ext xmlns:c16="http://schemas.microsoft.com/office/drawing/2014/chart" uri="{C3380CC4-5D6E-409C-BE32-E72D297353CC}">
              <c16:uniqueId val="{00000006-00E4-CB44-969B-2DD313058A0E}"/>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0.0502</cdr:x>
      <cdr:y>0.18803</cdr:y>
    </cdr:from>
    <cdr:to>
      <cdr:x>0.25091</cdr:x>
      <cdr:y>0.40456</cdr:y>
    </cdr:to>
    <cdr:sp macro="" textlink="">
      <cdr:nvSpPr>
        <cdr:cNvPr id="2" name="Text Box 8"/>
        <cdr:cNvSpPr txBox="1"/>
      </cdr:nvSpPr>
      <cdr:spPr>
        <a:xfrm xmlns:a="http://schemas.openxmlformats.org/drawingml/2006/main">
          <a:off x="317500" y="838200"/>
          <a:ext cx="1269426" cy="965200"/>
        </a:xfrm>
        <a:prstGeom xmlns:a="http://schemas.openxmlformats.org/drawingml/2006/main" prst="rect">
          <a:avLst/>
        </a:prstGeom>
        <a:solidFill xmlns:a="http://schemas.openxmlformats.org/drawingml/2006/main">
          <a:schemeClr val="lt1"/>
        </a:solidFill>
        <a:ln xmlns:a="http://schemas.openxmlformats.org/drawingml/2006/main" w="6350">
          <a:noFill/>
        </a:ln>
      </cdr:spPr>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p xmlns:a="http://schemas.openxmlformats.org/drawingml/2006/main">
          <a:pPr marL="0" marR="0" algn="ctr">
            <a:spcBef>
              <a:spcPts val="0"/>
            </a:spcBef>
            <a:spcAft>
              <a:spcPts val="1000"/>
            </a:spcAft>
          </a:pPr>
          <a:r>
            <a:rPr lang="en-US" sz="1800" u="none">
              <a:solidFill>
                <a:schemeClr val="tx1"/>
              </a:solidFill>
              <a:effectLst/>
              <a:latin typeface="Verdana" panose="020B0604030504040204" pitchFamily="34" charset="0"/>
              <a:ea typeface="Times New Roman" panose="02020603050405020304" pitchFamily="18" charset="0"/>
              <a:cs typeface="Cambria" panose="02040503050406030204" pitchFamily="18" charset="0"/>
            </a:rPr>
            <a:t>mostly negative effect</a:t>
          </a:r>
          <a:endParaRPr lang="en-US" sz="1200" u="none">
            <a:solidFill>
              <a:schemeClr val="tx1"/>
            </a:solidFill>
            <a:effectLst/>
            <a:latin typeface="Cambria" panose="02040503050406030204" pitchFamily="18" charset="0"/>
            <a:ea typeface="Times New Roman" panose="02020603050405020304" pitchFamily="18" charset="0"/>
            <a:cs typeface="Cambria" panose="020405030504060302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1094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5415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881059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941316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33548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19185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753805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667963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9646841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576067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65559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Making Population Predictions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191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43883"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None/>
            </a:pPr>
            <a:r>
              <a:rPr lang="en-US" sz="3500" dirty="0">
                <a:latin typeface="Verdana" panose="020B0604030504040204" pitchFamily="34" charset="0"/>
                <a:ea typeface="Verdana" panose="020B0604030504040204" pitchFamily="34" charset="0"/>
                <a:cs typeface="Verdana" panose="020B0604030504040204" pitchFamily="34" charset="0"/>
              </a:rPr>
              <a:t>MA.7.DP.1.3</a:t>
            </a:r>
          </a:p>
          <a:p>
            <a:pPr marL="444500" lvl="1" indent="11113">
              <a:buNone/>
            </a:pPr>
            <a:r>
              <a:rPr lang="en-US" sz="35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 </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191</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8803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103916"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191</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35006"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indent="-69056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proportional relationships to make predictions about a population. </a:t>
            </a:r>
            <a:br>
              <a:rPr lang="en-US" sz="3500" dirty="0">
                <a:latin typeface="Verdana" panose="020B0604030504040204" pitchFamily="34" charset="0"/>
                <a:ea typeface="Verdana" panose="020B0604030504040204" pitchFamily="34" charset="0"/>
                <a:cs typeface="Verdana" panose="020B0604030504040204" pitchFamily="34" charset="0"/>
              </a:rPr>
            </a:br>
            <a:r>
              <a:rPr lang="en-US" sz="35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0"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79372"/>
            <a:ext cx="105156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0985A211-50B2-B246-800A-78A1888ADE88}"/>
              </a:ext>
            </a:extLst>
          </p:cNvPr>
          <p:cNvGraphicFramePr>
            <a:graphicFrameLocks noGrp="1"/>
          </p:cNvGraphicFramePr>
          <p:nvPr>
            <p:extLst>
              <p:ext uri="{D42A27DB-BD31-4B8C-83A1-F6EECF244321}">
                <p14:modId xmlns:p14="http://schemas.microsoft.com/office/powerpoint/2010/main" val="786382762"/>
              </p:ext>
            </p:extLst>
          </p:nvPr>
        </p:nvGraphicFramePr>
        <p:xfrm>
          <a:off x="3508375" y="1478100"/>
          <a:ext cx="5175250" cy="3474720"/>
        </p:xfrm>
        <a:graphic>
          <a:graphicData uri="http://schemas.openxmlformats.org/drawingml/2006/table">
            <a:tbl>
              <a:tblPr firstRow="1" firstCol="1" bandRow="1"/>
              <a:tblGrid>
                <a:gridCol w="2803525">
                  <a:extLst>
                    <a:ext uri="{9D8B030D-6E8A-4147-A177-3AD203B41FA5}">
                      <a16:colId xmlns:a16="http://schemas.microsoft.com/office/drawing/2014/main" val="468794775"/>
                    </a:ext>
                  </a:extLst>
                </a:gridCol>
                <a:gridCol w="1200150">
                  <a:extLst>
                    <a:ext uri="{9D8B030D-6E8A-4147-A177-3AD203B41FA5}">
                      <a16:colId xmlns:a16="http://schemas.microsoft.com/office/drawing/2014/main" val="783565760"/>
                    </a:ext>
                  </a:extLst>
                </a:gridCol>
                <a:gridCol w="1171575">
                  <a:extLst>
                    <a:ext uri="{9D8B030D-6E8A-4147-A177-3AD203B41FA5}">
                      <a16:colId xmlns:a16="http://schemas.microsoft.com/office/drawing/2014/main" val="999659075"/>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Cambria" panose="02040503050406030204" pitchFamily="18" charset="0"/>
                        </a:rPr>
                        <a:t>Burgers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Chips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Fries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162035534"/>
                  </a:ext>
                </a:extLst>
              </a:tr>
              <a:tr h="0">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Deluxe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$6.90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$7.70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1231982"/>
                  </a:ext>
                </a:extLst>
              </a:tr>
              <a:tr h="0">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Deluxe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$7.70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$8.45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7280682"/>
                  </a:ext>
                </a:extLst>
              </a:tr>
              <a:tr h="0">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Bacon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$8.65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8606863"/>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Bacon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1013675"/>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$8.35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$9.30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053354"/>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$9.25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9749191"/>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Bacon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$9.50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$10.25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4024860"/>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Cheese Garden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36094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Mushroom Swiss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53206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Jalapeno Pepper Jack</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976655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BBQ Western Bacon</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$9.20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$9.85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3455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Pastrami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$9.20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$9.85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43180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Power Pac</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$10.45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$11.05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35784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Cheese Power Pac</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$11.25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$11.70</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0527422"/>
                  </a:ext>
                </a:extLst>
              </a:tr>
            </a:tbl>
          </a:graphicData>
        </a:graphic>
      </p:graphicFrame>
      <p:sp>
        <p:nvSpPr>
          <p:cNvPr id="14" name="TextBox 13">
            <a:extLst>
              <a:ext uri="{FF2B5EF4-FFF2-40B4-BE49-F238E27FC236}">
                <a16:creationId xmlns:a16="http://schemas.microsoft.com/office/drawing/2014/main" id="{A975A524-EE67-7045-A856-4623C0BF3F39}"/>
              </a:ext>
            </a:extLst>
          </p:cNvPr>
          <p:cNvSpPr txBox="1"/>
          <p:nvPr/>
        </p:nvSpPr>
        <p:spPr>
          <a:xfrm>
            <a:off x="541538" y="5343862"/>
            <a:ext cx="105156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are two things you notice about this menu?</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532661" y="378042"/>
            <a:ext cx="10515600" cy="341632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one thing you wonder?</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a suggestion you could give to the owners about their pricing?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spTree>
    <p:extLst>
      <p:ext uri="{BB962C8B-B14F-4D97-AF65-F5344CB8AC3E}">
        <p14:creationId xmlns:p14="http://schemas.microsoft.com/office/powerpoint/2010/main" val="150917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sp>
        <p:nvSpPr>
          <p:cNvPr id="8"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1"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1606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5.3.2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Predicting How Many</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532660" y="1341763"/>
            <a:ext cx="10515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Results of a random sample can be used to make predictions. The results from a sample of 50 readers of each comic book are shown below.</a:t>
            </a:r>
          </a:p>
        </p:txBody>
      </p:sp>
      <p:pic>
        <p:nvPicPr>
          <p:cNvPr id="11" name="image6.png" descr="Icon&#10;&#10;Description automatically generated">
            <a:extLst>
              <a:ext uri="{FF2B5EF4-FFF2-40B4-BE49-F238E27FC236}">
                <a16:creationId xmlns:a16="http://schemas.microsoft.com/office/drawing/2014/main" id="{797A3092-3E73-EA40-89DD-C952113E9EA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356616" y="305262"/>
            <a:ext cx="747299" cy="747299"/>
          </a:xfrm>
          <a:prstGeom prst="rect">
            <a:avLst/>
          </a:prstGeom>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pic>
        <p:nvPicPr>
          <p:cNvPr id="1026" name="Picture 2" descr="D:\Upwork Jobs\misc_jobs\Study Edge\Compress Images PPTs\Verifying PPTs Phase 2\7th Grade\Unit 5\BB70B5C46FD05DDCEA326C01EEF3685E.png"/>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b="7230"/>
          <a:stretch/>
        </p:blipFill>
        <p:spPr bwMode="auto">
          <a:xfrm>
            <a:off x="2495604" y="2293123"/>
            <a:ext cx="6589712" cy="421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41538" y="375640"/>
                <a:ext cx="10800000" cy="3477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Suppose the author of </a:t>
                </a:r>
                <a:r>
                  <a:rPr lang="en-US" altLang="en-US" sz="22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Ashley Grant, is trying to make decisions about the future of the series. She really wants the new hero to have the ability to fly, but she knows there is a larger percentage of readers who want the new hero to have freeze power. As long as the new series can sell at least </a:t>
                </a:r>
                <a14:m>
                  <m:oMath xmlns:m="http://schemas.openxmlformats.org/officeDocument/2006/math">
                    <m:r>
                      <a:rPr lang="en-US" altLang="en-US" sz="22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3,600</m:t>
                    </m:r>
                  </m:oMath>
                </a14:m>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in the next five years, Ashley will be able to stay in business.</a:t>
                </a:r>
              </a:p>
              <a:p>
                <a:pPr lvl="0" eaLnBrk="0" fontAlgn="base" hangingPunct="0">
                  <a:spcBef>
                    <a:spcPct val="0"/>
                  </a:spcBef>
                  <a:spcAft>
                    <a:spcPct val="0"/>
                  </a:spcAft>
                  <a:buClrTx/>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Ashley determines ____ readers of </a:t>
                </a:r>
                <a:r>
                  <a:rPr lang="en-US" altLang="en-US" sz="22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responded to the survey. She then finds the percentage of the </a:t>
                </a:r>
                <a14:m>
                  <m:oMath xmlns:m="http://schemas.openxmlformats.org/officeDocument/2006/math">
                    <m:r>
                      <a:rPr lang="en-US" altLang="en-US" sz="22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50</m:t>
                    </m:r>
                  </m:oMath>
                </a14:m>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surveyed who want the new hero to have the ability to fly.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41538" y="375640"/>
                <a:ext cx="10800000" cy="3477875"/>
              </a:xfrm>
              <a:prstGeom prst="rect">
                <a:avLst/>
              </a:prstGeom>
              <a:blipFill rotWithShape="1">
                <a:blip r:embed="rId3"/>
                <a:stretch>
                  <a:fillRect l="-791" t="-877" b="-28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7540B2-F328-7246-B83D-7761B2CDF40C}"/>
                  </a:ext>
                </a:extLst>
              </p:cNvPr>
              <p:cNvSpPr txBox="1"/>
              <p:nvPr/>
            </p:nvSpPr>
            <p:spPr>
              <a:xfrm>
                <a:off x="3722594" y="4296079"/>
                <a:ext cx="4639234" cy="6971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panose="02040503050406030204" pitchFamily="18" charset="0"/>
                            </a:rPr>
                          </m:ctrlPr>
                        </m:fPr>
                        <m:num/>
                        <m:den>
                          <m:r>
                            <a:rPr lang="x-none" sz="2000">
                              <a:latin typeface="Cambria Math" panose="02040503050406030204" pitchFamily="18" charset="0"/>
                            </a:rPr>
                            <m:t>50</m:t>
                          </m:r>
                        </m:den>
                      </m:f>
                      <m:r>
                        <a:rPr lang="x-none" sz="2000">
                          <a:latin typeface="Cambria Math" panose="02040503050406030204" pitchFamily="18" charset="0"/>
                        </a:rPr>
                        <m:t> = </m:t>
                      </m:r>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40</m:t>
                          </m:r>
                        </m:num>
                        <m:den>
                          <m:r>
                            <a:rPr lang="x-none" sz="2000">
                              <a:latin typeface="Cambria Math" panose="02040503050406030204" pitchFamily="18" charset="0"/>
                            </a:rPr>
                            <m:t>100</m:t>
                          </m:r>
                        </m:den>
                      </m:f>
                      <m:r>
                        <a:rPr lang="x-none" sz="2000">
                          <a:latin typeface="Cambria Math" panose="02040503050406030204" pitchFamily="18" charset="0"/>
                        </a:rPr>
                        <m:t> =            = 40%</m:t>
                      </m:r>
                    </m:oMath>
                  </m:oMathPara>
                </a14:m>
                <a:endParaRPr lang="x-none" sz="2000" dirty="0"/>
              </a:p>
            </p:txBody>
          </p:sp>
        </mc:Choice>
        <mc:Fallback xmlns="">
          <p:sp>
            <p:nvSpPr>
              <p:cNvPr id="9" name="TextBox 8">
                <a:extLst>
                  <a:ext uri="{FF2B5EF4-FFF2-40B4-BE49-F238E27FC236}">
                    <a16:creationId xmlns:a16="http://schemas.microsoft.com/office/drawing/2014/main" xmlns:a14="http://schemas.microsoft.com/office/drawing/2010/main" xmlns="" id="{767540B2-F328-7246-B83D-7761B2CDF40C}"/>
                  </a:ext>
                </a:extLst>
              </p:cNvPr>
              <p:cNvSpPr txBox="1">
                <a:spLocks noRot="1" noChangeAspect="1" noMove="1" noResize="1" noEditPoints="1" noAdjustHandles="1" noChangeArrowheads="1" noChangeShapeType="1" noTextEdit="1"/>
              </p:cNvSpPr>
              <p:nvPr/>
            </p:nvSpPr>
            <p:spPr>
              <a:xfrm>
                <a:off x="3722594" y="4296079"/>
                <a:ext cx="4639234" cy="697114"/>
              </a:xfrm>
              <a:prstGeom prst="rect">
                <a:avLst/>
              </a:prstGeom>
              <a:blipFill rotWithShape="1">
                <a:blip r:embed="rId4"/>
                <a:stretch>
                  <a:fillRect/>
                </a:stretch>
              </a:blipFill>
            </p:spPr>
            <p:txBody>
              <a:bodyPr/>
              <a:lstStyle/>
              <a:p>
                <a:r>
                  <a:rPr lang="en-PH">
                    <a:noFill/>
                  </a:rPr>
                  <a:t> </a:t>
                </a:r>
              </a:p>
            </p:txBody>
          </p:sp>
        </mc:Fallback>
      </mc:AlternateContent>
      <p:sp>
        <p:nvSpPr>
          <p:cNvPr id="10" name="Rounded Rectangle 9">
            <a:extLst>
              <a:ext uri="{FF2B5EF4-FFF2-40B4-BE49-F238E27FC236}">
                <a16:creationId xmlns:a16="http://schemas.microsoft.com/office/drawing/2014/main" id="{1834CEBA-C5A8-1245-808F-A7B5754C13CD}"/>
              </a:ext>
            </a:extLst>
          </p:cNvPr>
          <p:cNvSpPr/>
          <p:nvPr/>
        </p:nvSpPr>
        <p:spPr>
          <a:xfrm>
            <a:off x="4482093" y="4187436"/>
            <a:ext cx="457200" cy="4572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ounded Rectangle 10">
            <a:extLst>
              <a:ext uri="{FF2B5EF4-FFF2-40B4-BE49-F238E27FC236}">
                <a16:creationId xmlns:a16="http://schemas.microsoft.com/office/drawing/2014/main" id="{C9C353F3-46EF-FC47-8497-3A36897EE8A2}"/>
              </a:ext>
            </a:extLst>
          </p:cNvPr>
          <p:cNvSpPr/>
          <p:nvPr/>
        </p:nvSpPr>
        <p:spPr>
          <a:xfrm>
            <a:off x="6122894" y="4456377"/>
            <a:ext cx="457200" cy="4572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spTree>
    <p:extLst>
      <p:ext uri="{BB962C8B-B14F-4D97-AF65-F5344CB8AC3E}">
        <p14:creationId xmlns:p14="http://schemas.microsoft.com/office/powerpoint/2010/main" val="121268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41538" y="388980"/>
                <a:ext cx="10800000" cy="1938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Over the past five years,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has had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loyal readers. Using three different strategies, Ashley uses the data to predict the number of those readers who want to see the new hero have the ability to fly. In each method, she predicts that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want this.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41538" y="388980"/>
                <a:ext cx="10800000" cy="1938992"/>
              </a:xfrm>
              <a:prstGeom prst="rect">
                <a:avLst/>
              </a:prstGeom>
              <a:blipFill rotWithShape="1">
                <a:blip r:embed="rId3"/>
                <a:stretch>
                  <a:fillRect l="-903" t="-2830" b="-597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spTree>
    <p:extLst>
      <p:ext uri="{BB962C8B-B14F-4D97-AF65-F5344CB8AC3E}">
        <p14:creationId xmlns:p14="http://schemas.microsoft.com/office/powerpoint/2010/main" val="839402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F140440-9E5C-3141-9112-6B4B6E562D5B}"/>
                  </a:ext>
                </a:extLst>
              </p:cNvPr>
              <p:cNvGraphicFramePr>
                <a:graphicFrameLocks noGrp="1"/>
              </p:cNvGraphicFramePr>
              <p:nvPr>
                <p:extLst>
                  <p:ext uri="{D42A27DB-BD31-4B8C-83A1-F6EECF244321}">
                    <p14:modId xmlns:p14="http://schemas.microsoft.com/office/powerpoint/2010/main" val="590635494"/>
                  </p:ext>
                </p:extLst>
              </p:nvPr>
            </p:nvGraphicFramePr>
            <p:xfrm>
              <a:off x="730584" y="371316"/>
              <a:ext cx="10800000" cy="5780909"/>
            </p:xfrm>
            <a:graphic>
              <a:graphicData uri="http://schemas.openxmlformats.org/drawingml/2006/table">
                <a:tbl>
                  <a:tblPr firstRow="1" firstCol="1" bandRow="1"/>
                  <a:tblGrid>
                    <a:gridCol w="3600000">
                      <a:extLst>
                        <a:ext uri="{9D8B030D-6E8A-4147-A177-3AD203B41FA5}">
                          <a16:colId xmlns:a16="http://schemas.microsoft.com/office/drawing/2014/main" val="1252442695"/>
                        </a:ext>
                      </a:extLst>
                    </a:gridCol>
                    <a:gridCol w="3600000">
                      <a:extLst>
                        <a:ext uri="{9D8B030D-6E8A-4147-A177-3AD203B41FA5}">
                          <a16:colId xmlns:a16="http://schemas.microsoft.com/office/drawing/2014/main" val="1164143812"/>
                        </a:ext>
                      </a:extLst>
                    </a:gridCol>
                    <a:gridCol w="3600000">
                      <a:extLst>
                        <a:ext uri="{9D8B030D-6E8A-4147-A177-3AD203B41FA5}">
                          <a16:colId xmlns:a16="http://schemas.microsoft.com/office/drawing/2014/main" val="633785019"/>
                        </a:ext>
                      </a:extLst>
                    </a:gridCol>
                  </a:tblGrid>
                  <a:tr h="452275">
                    <a:tc>
                      <a:txBody>
                        <a:bodyPr/>
                        <a:lstStyle/>
                        <a:p>
                          <a:pPr marL="0" marR="3429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Cambria" panose="02040503050406030204" pitchFamily="18" charset="0"/>
                            </a:rPr>
                            <a:t>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Scale Factor</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896372856"/>
                      </a:ext>
                    </a:extLst>
                  </a:tr>
                  <a:tr h="5328634">
                    <a:tc>
                      <a:txBody>
                        <a:bodyPr/>
                        <a:lstStyle/>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Write equivalent fractions until the denominator shows the population total (in this case </a:t>
                          </a:r>
                          <a:r>
                            <a:rPr lang="en-US" sz="1800" dirty="0">
                              <a:effectLst/>
                              <a:latin typeface="Cambria Math" panose="02040503050406030204" pitchFamily="18" charset="0"/>
                              <a:ea typeface="Times New Roman" panose="02020603050405020304" pitchFamily="18" charset="0"/>
                              <a:cs typeface="Cambria" panose="02040503050406030204" pitchFamily="18" charset="0"/>
                            </a:rPr>
                            <a:t>10,000</a:t>
                          </a:r>
                          <a:r>
                            <a:rPr lang="en-US" sz="1800" dirty="0">
                              <a:effectLst/>
                              <a:latin typeface="Verdana" panose="020B0604030504040204" pitchFamily="34" charset="0"/>
                              <a:ea typeface="Times New Roman" panose="02020603050405020304" pitchFamily="18" charset="0"/>
                              <a:cs typeface="Cambria" panose="02040503050406030204" pitchFamily="18" charset="0"/>
                            </a:rPr>
                            <a: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den>
                                </m:f>
                              </m:oMath>
                            </m:oMathPara>
                          </a14:m>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 </a:t>
                          </a:r>
                          <a14:m>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endParaRPr lang="en-PH"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Divide the population by the sample to find the scale factor needed. Then, multiply both the numerator and denominator by this scale factor to write an 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 ÷ 50 = 200</m:t>
                              </m:r>
                            </m:oMath>
                          </a14:m>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br>
                            <a:rPr lang="en-US" sz="1800" dirty="0">
                              <a:effectLst/>
                              <a:latin typeface="Verdana" panose="020B0604030504040204" pitchFamily="34" charset="0"/>
                              <a:ea typeface="Times New Roman" panose="02020603050405020304" pitchFamily="18" charset="0"/>
                              <a:cs typeface="Cambria" panose="02040503050406030204" pitchFamily="18" charset="0"/>
                            </a:rPr>
                          </a:br>
                          <a14:m>
                            <m:oMathPara xmlns:m="http://schemas.openxmlformats.org/officeDocument/2006/math">
                              <m:oMathParaPr>
                                <m:jc m:val="centerGroup"/>
                              </m:oMathParaPr>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200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den>
                                </m:f>
                              </m:oMath>
                            </m:oMathPara>
                          </a14:m>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 </a:t>
                          </a:r>
                          <a14:m>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br>
                            <a:rPr lang="en-US" sz="1800" dirty="0">
                              <a:effectLst/>
                              <a:latin typeface="Verdana" panose="020B0604030504040204" pitchFamily="34" charset="0"/>
                              <a:ea typeface="Times New Roman" panose="02020603050405020304" pitchFamily="18" charset="0"/>
                              <a:cs typeface="Cambria" panose="02040503050406030204" pitchFamily="18" charset="0"/>
                            </a:rPr>
                          </a:b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Find the percent of the sample for the given condition. Then multiply the population by the percent.</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endParaRPr lang="en-US" sz="1800" dirty="0">
                            <a:effectLst/>
                            <a:latin typeface="Verdana" panose="020B0604030504040204" pitchFamily="34" charset="0"/>
                            <a:ea typeface="Times New Roman" panose="02020603050405020304" pitchFamily="18" charset="0"/>
                            <a:cs typeface="Cambria" panose="02040503050406030204" pitchFamily="18" charset="0"/>
                          </a:endParaRPr>
                        </a:p>
                        <a:p>
                          <a:pPr marL="0" marR="34290" algn="ctr">
                            <a:spcBef>
                              <a:spcPts val="0"/>
                            </a:spcBef>
                            <a:spcAft>
                              <a:spcPts val="180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20÷50=</m:t>
                              </m:r>
                              <m:r>
                                <a:rPr lang="en-PH" sz="1800" b="0" i="1" smtClean="0">
                                  <a:effectLst/>
                                  <a:latin typeface="Cambria Math"/>
                                  <a:ea typeface="Times New Roman" panose="02020603050405020304" pitchFamily="18" charset="0"/>
                                  <a:cs typeface="Cambria" panose="02040503050406030204" pitchFamily="18" charset="0"/>
                                </a:rPr>
                                <m:t> </m:t>
                              </m:r>
                              <m:r>
                                <a:rPr lang="en-US" sz="1800" i="1">
                                  <a:effectLst/>
                                  <a:latin typeface="Cambria Math" panose="02040503050406030204" pitchFamily="18" charset="0"/>
                                  <a:ea typeface="Times New Roman" panose="02020603050405020304" pitchFamily="18" charset="0"/>
                                  <a:cs typeface="Cambria" panose="02040503050406030204" pitchFamily="18" charset="0"/>
                                </a:rPr>
                                <m:t>0.4</m:t>
                              </m:r>
                            </m:oMath>
                          </a14:m>
                          <a:r>
                            <a:rPr lang="en-US" sz="1800" dirty="0">
                              <a:effectLst/>
                              <a:latin typeface="Verdana" panose="020B0604030504040204" pitchFamily="34" charset="0"/>
                              <a:ea typeface="Times New Roman" panose="02020603050405020304" pitchFamily="18" charset="0"/>
                              <a:cs typeface="Cambria" panose="02040503050406030204" pitchFamily="18" charset="0"/>
                            </a:rPr>
                            <a:t> or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oMath>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180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10,000×0.4=4,000</m:t>
                              </m:r>
                            </m:oMath>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180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OR</a:t>
                          </a:r>
                          <a:endParaRPr lang="en-PH" sz="1800" i="1" dirty="0">
                            <a:effectLst/>
                            <a:latin typeface="Cambria Math"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1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40%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m:t>
                                    </m:r>
                                  </m:den>
                                </m:f>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oMath>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81335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FF140440-9E5C-3141-9112-6B4B6E562D5B}"/>
                  </a:ext>
                </a:extLst>
              </p:cNvPr>
              <p:cNvGraphicFramePr>
                <a:graphicFrameLocks noGrp="1"/>
              </p:cNvGraphicFramePr>
              <p:nvPr>
                <p:extLst>
                  <p:ext uri="{D42A27DB-BD31-4B8C-83A1-F6EECF244321}">
                    <p14:modId xmlns:p14="http://schemas.microsoft.com/office/powerpoint/2010/main" val="590635494"/>
                  </p:ext>
                </p:extLst>
              </p:nvPr>
            </p:nvGraphicFramePr>
            <p:xfrm>
              <a:off x="730584" y="371316"/>
              <a:ext cx="10800000" cy="5780909"/>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1252442695"/>
                        </a:ext>
                      </a:extLst>
                    </a:gridCol>
                    <a:gridCol w="3600000">
                      <a:extLst>
                        <a:ext uri="{9D8B030D-6E8A-4147-A177-3AD203B41FA5}">
                          <a16:colId xmlns:a16="http://schemas.microsoft.com/office/drawing/2014/main" xmlns:a14="http://schemas.microsoft.com/office/drawing/2010/main" xmlns="" val="1164143812"/>
                        </a:ext>
                      </a:extLst>
                    </a:gridCol>
                    <a:gridCol w="3600000">
                      <a:extLst>
                        <a:ext uri="{9D8B030D-6E8A-4147-A177-3AD203B41FA5}">
                          <a16:colId xmlns:a16="http://schemas.microsoft.com/office/drawing/2014/main" xmlns:a14="http://schemas.microsoft.com/office/drawing/2010/main" xmlns="" val="633785019"/>
                        </a:ext>
                      </a:extLst>
                    </a:gridCol>
                  </a:tblGrid>
                  <a:tr h="452275">
                    <a:tc>
                      <a:txBody>
                        <a:bodyPr/>
                        <a:lstStyle/>
                        <a:p>
                          <a:pPr marL="0" marR="3429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Cambria" panose="02040503050406030204" pitchFamily="18" charset="0"/>
                            </a:rPr>
                            <a:t>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Scale Factor</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896372856"/>
                      </a:ext>
                    </a:extLst>
                  </a:tr>
                  <a:tr h="5328634">
                    <a:tc>
                      <a:txBody>
                        <a:bodyPr/>
                        <a:lstStyle/>
                        <a:p>
                          <a:endParaRPr lang="en-US"/>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69" t="-8581" r="-199831" b="-114"/>
                          </a:stretch>
                        </a:blipFill>
                      </a:tcPr>
                    </a:tc>
                    <a:tc>
                      <a:txBody>
                        <a:bodyPr/>
                        <a:lstStyle/>
                        <a:p>
                          <a:endParaRPr lang="en-US"/>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339" t="-8581" r="-100169" b="-114"/>
                          </a:stretch>
                        </a:blipFill>
                      </a:tcPr>
                    </a:tc>
                    <a:tc>
                      <a:txBody>
                        <a:bodyPr/>
                        <a:lstStyle/>
                        <a:p>
                          <a:endParaRPr lang="en-US"/>
                        </a:p>
                      </a:txBody>
                      <a:tcPr marL="55350" marR="5535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00000" t="-8581" b="-114"/>
                          </a:stretch>
                        </a:blipFill>
                      </a:tcPr>
                    </a:tc>
                    <a:extLst>
                      <a:ext uri="{0D108BD9-81ED-4DB2-BD59-A6C34878D82A}">
                        <a16:rowId xmlns:a16="http://schemas.microsoft.com/office/drawing/2014/main" xmlns:a14="http://schemas.microsoft.com/office/drawing/2010/main" xmlns="" val="3551813357"/>
                      </a:ext>
                    </a:extLst>
                  </a:tr>
                </a:tbl>
              </a:graphicData>
            </a:graphic>
          </p:graphicFrame>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193</a:t>
            </a:r>
            <a:endParaRPr i="1" dirty="0">
              <a:latin typeface="Calibri"/>
              <a:ea typeface="Calibri"/>
              <a:cs typeface="Calibri"/>
              <a:sym typeface="Calibri"/>
            </a:endParaRPr>
          </a:p>
        </p:txBody>
      </p:sp>
    </p:spTree>
    <p:extLst>
      <p:ext uri="{BB962C8B-B14F-4D97-AF65-F5344CB8AC3E}">
        <p14:creationId xmlns:p14="http://schemas.microsoft.com/office/powerpoint/2010/main" val="2103928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3466" y="381974"/>
                <a:ext cx="10515600" cy="37856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whether one of Ashley’s strategies seems to be better than the others for solving this particular problem. </a:t>
                </a: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benefit of solving a problem using two different strategies? </a:t>
                </a: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Next, Ashley finds the percent of the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they need to sell in the next five years. Complete the work shown below.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33466" y="381974"/>
                <a:ext cx="10515600" cy="3785652"/>
              </a:xfrm>
              <a:prstGeom prst="rect">
                <a:avLst/>
              </a:prstGeom>
              <a:blipFill rotWithShape="1">
                <a:blip r:embed="rId3"/>
                <a:stretch>
                  <a:fillRect l="-638" t="-966" b="-193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80C08B-2389-1243-91E8-F908D4FAD367}"/>
                  </a:ext>
                </a:extLst>
              </p:cNvPr>
              <p:cNvSpPr txBox="1"/>
              <p:nvPr/>
            </p:nvSpPr>
            <p:spPr>
              <a:xfrm>
                <a:off x="3723400" y="4811358"/>
                <a:ext cx="4639234" cy="7030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3,600</m:t>
                          </m:r>
                        </m:num>
                        <m:den>
                          <m:r>
                            <a:rPr lang="x-none" sz="2000">
                              <a:latin typeface="Cambria Math" panose="02040503050406030204" pitchFamily="18" charset="0"/>
                            </a:rPr>
                            <m:t>10,000</m:t>
                          </m:r>
                        </m:den>
                      </m:f>
                      <m:r>
                        <a:rPr lang="x-none" sz="2000">
                          <a:latin typeface="Cambria Math" panose="02040503050406030204" pitchFamily="18" charset="0"/>
                        </a:rPr>
                        <m:t> = </m:t>
                      </m:r>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 </m:t>
                          </m:r>
                        </m:num>
                        <m:den>
                          <m:r>
                            <a:rPr lang="x-none" sz="2000">
                              <a:latin typeface="Cambria Math" panose="02040503050406030204" pitchFamily="18" charset="0"/>
                            </a:rPr>
                            <m:t>100</m:t>
                          </m:r>
                        </m:den>
                      </m:f>
                      <m:r>
                        <a:rPr lang="x-none" sz="2000">
                          <a:latin typeface="Cambria Math" panose="02040503050406030204" pitchFamily="18" charset="0"/>
                        </a:rPr>
                        <m:t> = 0.36 =          %</m:t>
                      </m:r>
                    </m:oMath>
                  </m:oMathPara>
                </a14:m>
                <a:endParaRPr lang="x-none" sz="2000" dirty="0"/>
              </a:p>
            </p:txBody>
          </p:sp>
        </mc:Choice>
        <mc:Fallback xmlns="">
          <p:sp>
            <p:nvSpPr>
              <p:cNvPr id="7" name="TextBox 6">
                <a:extLst>
                  <a:ext uri="{FF2B5EF4-FFF2-40B4-BE49-F238E27FC236}">
                    <a16:creationId xmlns:a16="http://schemas.microsoft.com/office/drawing/2014/main" xmlns:a14="http://schemas.microsoft.com/office/drawing/2010/main" xmlns="" id="{E680C08B-2389-1243-91E8-F908D4FAD367}"/>
                  </a:ext>
                </a:extLst>
              </p:cNvPr>
              <p:cNvSpPr txBox="1">
                <a:spLocks noRot="1" noChangeAspect="1" noMove="1" noResize="1" noEditPoints="1" noAdjustHandles="1" noChangeArrowheads="1" noChangeShapeType="1" noTextEdit="1"/>
              </p:cNvSpPr>
              <p:nvPr/>
            </p:nvSpPr>
            <p:spPr>
              <a:xfrm>
                <a:off x="3723400" y="4811358"/>
                <a:ext cx="4639234" cy="703078"/>
              </a:xfrm>
              <a:prstGeom prst="rect">
                <a:avLst/>
              </a:prstGeom>
              <a:blipFill rotWithShape="1">
                <a:blip r:embed="rId4"/>
                <a:stretch>
                  <a:fillRect/>
                </a:stretch>
              </a:blipFill>
            </p:spPr>
            <p:txBody>
              <a:bodyPr/>
              <a:lstStyle/>
              <a:p>
                <a:r>
                  <a:rPr lang="en-PH">
                    <a:noFill/>
                  </a:rPr>
                  <a:t> </a:t>
                </a:r>
              </a:p>
            </p:txBody>
          </p:sp>
        </mc:Fallback>
      </mc:AlternateContent>
      <p:sp>
        <p:nvSpPr>
          <p:cNvPr id="8" name="Rectangle: Rounded Corners 2">
            <a:extLst>
              <a:ext uri="{FF2B5EF4-FFF2-40B4-BE49-F238E27FC236}">
                <a16:creationId xmlns:a16="http://schemas.microsoft.com/office/drawing/2014/main" id="{3B5B9598-E440-DD42-AD09-7935EC4F3DB4}"/>
              </a:ext>
            </a:extLst>
          </p:cNvPr>
          <p:cNvSpPr/>
          <p:nvPr/>
        </p:nvSpPr>
        <p:spPr>
          <a:xfrm>
            <a:off x="5361506" y="4617500"/>
            <a:ext cx="4572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Rounded Corners 2">
            <a:extLst>
              <a:ext uri="{FF2B5EF4-FFF2-40B4-BE49-F238E27FC236}">
                <a16:creationId xmlns:a16="http://schemas.microsoft.com/office/drawing/2014/main" id="{366F3F8D-734D-484F-8F47-F672796BA22D}"/>
              </a:ext>
            </a:extLst>
          </p:cNvPr>
          <p:cNvSpPr/>
          <p:nvPr/>
        </p:nvSpPr>
        <p:spPr>
          <a:xfrm>
            <a:off x="7123071" y="4940230"/>
            <a:ext cx="4572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193</a:t>
            </a:r>
            <a:endParaRPr i="1" dirty="0">
              <a:latin typeface="Calibri"/>
              <a:ea typeface="Calibri"/>
              <a:cs typeface="Calibri"/>
              <a:sym typeface="Calibri"/>
            </a:endParaRPr>
          </a:p>
        </p:txBody>
      </p:sp>
    </p:spTree>
    <p:extLst>
      <p:ext uri="{BB962C8B-B14F-4D97-AF65-F5344CB8AC3E}">
        <p14:creationId xmlns:p14="http://schemas.microsoft.com/office/powerpoint/2010/main" val="194204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532661" y="385961"/>
                <a:ext cx="10515600" cy="37856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Ashley estimates that if the new hero has the ability to fly, at least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will continue to read and purchase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She estimates that this will lead to each of those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purchasing at least one comic. She also thinks it’s likely that readers who did not want the new hero to have the ability to fly may still buy issues in the next five years. Because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greater than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3,600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they need to sell to stay in business, Ashley decides to give the next hero the ability to fly.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5"/>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why you agree or disagree with Ashley’s decision.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532661" y="385961"/>
                <a:ext cx="10515600" cy="3785652"/>
              </a:xfrm>
              <a:prstGeom prst="rect">
                <a:avLst/>
              </a:prstGeom>
              <a:blipFill rotWithShape="1">
                <a:blip r:embed="rId3"/>
                <a:stretch>
                  <a:fillRect l="-870" t="-1288" r="-1565" b="-27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193</a:t>
            </a:r>
            <a:endParaRPr i="1" dirty="0">
              <a:latin typeface="Calibri"/>
              <a:ea typeface="Calibri"/>
              <a:cs typeface="Calibri"/>
              <a:sym typeface="Calibri"/>
            </a:endParaRPr>
          </a:p>
        </p:txBody>
      </p:sp>
    </p:spTree>
    <p:extLst>
      <p:ext uri="{BB962C8B-B14F-4D97-AF65-F5344CB8AC3E}">
        <p14:creationId xmlns:p14="http://schemas.microsoft.com/office/powerpoint/2010/main" val="88302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194</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12"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04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82482"/>
            <a:ext cx="105156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5.3.3 Exploration: Reaction Times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41538" y="1103850"/>
                <a:ext cx="10800000" cy="3046988"/>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The track coach at a Yulee High School in Nassau County, FL needs a student whose reaction time is less than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0.4</m:t>
                    </m:r>
                  </m:oMath>
                </a14:m>
                <a:r>
                  <a:rPr lang="en-US" sz="2400" dirty="0">
                    <a:latin typeface="Verdana" panose="020B0604030504040204" pitchFamily="34" charset="0"/>
                    <a:ea typeface="Verdana" panose="020B0604030504040204" pitchFamily="34" charset="0"/>
                    <a:cs typeface="Verdana" panose="020B0604030504040204" pitchFamily="34" charset="0"/>
                  </a:rPr>
                  <a:t> seconds to help out with timers at track meets. All the twelfth graders in the school measured their reaction times.</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32</m:t>
                    </m:r>
                  </m:oMath>
                </a14:m>
                <a:r>
                  <a:rPr lang="en-US" sz="2400" dirty="0">
                    <a:latin typeface="Verdana" panose="020B0604030504040204" pitchFamily="34" charset="0"/>
                    <a:ea typeface="Verdana" panose="020B0604030504040204" pitchFamily="34" charset="0"/>
                    <a:cs typeface="Verdana" panose="020B0604030504040204" pitchFamily="34" charset="0"/>
                  </a:rPr>
                  <a:t> students’ reaction times has been recorded in the table.</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41538" y="1103850"/>
                <a:ext cx="10800000" cy="3046988"/>
              </a:xfrm>
              <a:prstGeom prst="rect">
                <a:avLst/>
              </a:prstGeom>
              <a:blipFill rotWithShape="1">
                <a:blip r:embed="rId3"/>
                <a:stretch>
                  <a:fillRect l="-903" t="-1600"/>
                </a:stretch>
              </a:blipFill>
            </p:spPr>
            <p:txBody>
              <a:bodyPr/>
              <a:lstStyle/>
              <a:p>
                <a:r>
                  <a:rPr lang="en-PH">
                    <a:noFill/>
                  </a:rPr>
                  <a:t> </a:t>
                </a:r>
              </a:p>
            </p:txBody>
          </p:sp>
        </mc:Fallback>
      </mc:AlternateContent>
      <p:pic>
        <p:nvPicPr>
          <p:cNvPr id="23" name="image8.png" descr="Icon&#10;&#10;Description automatically generated">
            <a:extLst>
              <a:ext uri="{FF2B5EF4-FFF2-40B4-BE49-F238E27FC236}">
                <a16:creationId xmlns:a16="http://schemas.microsoft.com/office/drawing/2014/main" id="{BB23145B-E454-1E4E-8BFC-AE8BF7469E7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3520" cy="753520"/>
          </a:xfrm>
          <a:prstGeom prst="rect">
            <a:avLst/>
          </a:prstGeom>
          <a:ln/>
          <a:effectLst>
            <a:outerShdw blurRad="50800" dist="38100" dir="2700000" algn="tl" rotWithShape="0">
              <a:prstClr val="black">
                <a:alpha val="40000"/>
              </a:prstClr>
            </a:outerShdw>
          </a:effectLst>
        </p:spPr>
      </p:pic>
      <p:graphicFrame>
        <p:nvGraphicFramePr>
          <p:cNvPr id="3" name="Table 2">
            <a:extLst>
              <a:ext uri="{FF2B5EF4-FFF2-40B4-BE49-F238E27FC236}">
                <a16:creationId xmlns:a16="http://schemas.microsoft.com/office/drawing/2014/main" id="{35D037AA-60F4-EE4A-BB1F-80D8EA27D4A1}"/>
              </a:ext>
            </a:extLst>
          </p:cNvPr>
          <p:cNvGraphicFramePr>
            <a:graphicFrameLocks noGrp="1"/>
          </p:cNvGraphicFramePr>
          <p:nvPr>
            <p:extLst>
              <p:ext uri="{D42A27DB-BD31-4B8C-83A1-F6EECF244321}">
                <p14:modId xmlns:p14="http://schemas.microsoft.com/office/powerpoint/2010/main" val="915413420"/>
              </p:ext>
            </p:extLst>
          </p:nvPr>
        </p:nvGraphicFramePr>
        <p:xfrm>
          <a:off x="2735656" y="4037633"/>
          <a:ext cx="7200000" cy="1224280"/>
        </p:xfrm>
        <a:graphic>
          <a:graphicData uri="http://schemas.openxmlformats.org/drawingml/2006/table">
            <a:tbl>
              <a:tblPr firstRow="1" firstCol="1" bandRow="1"/>
              <a:tblGrid>
                <a:gridCol w="3600000">
                  <a:extLst>
                    <a:ext uri="{9D8B030D-6E8A-4147-A177-3AD203B41FA5}">
                      <a16:colId xmlns:a16="http://schemas.microsoft.com/office/drawing/2014/main" val="971241690"/>
                    </a:ext>
                  </a:extLst>
                </a:gridCol>
                <a:gridCol w="3600000">
                  <a:extLst>
                    <a:ext uri="{9D8B030D-6E8A-4147-A177-3AD203B41FA5}">
                      <a16:colId xmlns:a16="http://schemas.microsoft.com/office/drawing/2014/main" val="3424364214"/>
                    </a:ext>
                  </a:extLst>
                </a:gridCol>
              </a:tblGrid>
              <a:tr h="61214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Reaction </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Times of Less Than </a:t>
                      </a:r>
                      <a:r>
                        <a:rPr lang="en-US" sz="2000" b="1" dirty="0">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0.4</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Seconds</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Reaction Times of </a:t>
                      </a:r>
                      <a:r>
                        <a:rPr lang="en-US" sz="2000" b="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0.4</a:t>
                      </a: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Seconds or More</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350394245"/>
                  </a:ext>
                </a:extLst>
              </a:tr>
              <a:tr h="612140">
                <a:tc>
                  <a:txBody>
                    <a:bodyPr/>
                    <a:lstStyle/>
                    <a:p>
                      <a:pPr marL="0" marR="0" algn="ctr">
                        <a:spcBef>
                          <a:spcPts val="0"/>
                        </a:spcBef>
                        <a:spcAft>
                          <a:spcPts val="0"/>
                        </a:spcAft>
                      </a:pPr>
                      <a:r>
                        <a:rPr lang="en-US" sz="2000">
                          <a:effectLst/>
                          <a:latin typeface="Cambria Math" panose="02040503050406030204" pitchFamily="18" charset="0"/>
                          <a:ea typeface="Times New Roman" panose="02020603050405020304" pitchFamily="18" charset="0"/>
                          <a:cs typeface="Cambria" panose="02040503050406030204" pitchFamily="18" charset="0"/>
                        </a:rPr>
                        <a:t>22</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Times New Roman" panose="02020603050405020304" pitchFamily="18" charset="0"/>
                          <a:cs typeface="Cambria" panose="02040503050406030204" pitchFamily="18" charset="0"/>
                        </a:rPr>
                        <a:t>10</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0804459"/>
                  </a:ext>
                </a:extLst>
              </a:tr>
            </a:tbl>
          </a:graphicData>
        </a:graphic>
      </p:graphicFrame>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194</a:t>
            </a:r>
            <a:endParaRPr i="1" dirty="0">
              <a:latin typeface="Calibri"/>
              <a:ea typeface="Calibri"/>
              <a:cs typeface="Calibri"/>
              <a:sym typeface="Calibri"/>
            </a:endParaRPr>
          </a:p>
        </p:txBody>
      </p:sp>
    </p:spTree>
    <p:extLst>
      <p:ext uri="{BB962C8B-B14F-4D97-AF65-F5344CB8AC3E}">
        <p14:creationId xmlns:p14="http://schemas.microsoft.com/office/powerpoint/2010/main" val="3791997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532660" y="384515"/>
                <a:ext cx="10800000" cy="415498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fraction of the students in the random sample have a reaction time less than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seconds?</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or show how to estimate the probability that a randomly selected twelfth grader from this school has a reaction time of less than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seconds. </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532660" y="384515"/>
                <a:ext cx="10800000" cy="4154984"/>
              </a:xfrm>
              <a:prstGeom prst="rect">
                <a:avLst/>
              </a:prstGeom>
              <a:blipFill rotWithShape="1">
                <a:blip r:embed="rId3"/>
                <a:stretch>
                  <a:fillRect l="-847" t="-1173"/>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194</a:t>
            </a:r>
            <a:endParaRPr i="1" dirty="0">
              <a:latin typeface="Calibri"/>
              <a:ea typeface="Calibri"/>
              <a:cs typeface="Calibri"/>
              <a:sym typeface="Calibri"/>
            </a:endParaRPr>
          </a:p>
        </p:txBody>
      </p:sp>
    </p:spTree>
    <p:extLst>
      <p:ext uri="{BB962C8B-B14F-4D97-AF65-F5344CB8AC3E}">
        <p14:creationId xmlns:p14="http://schemas.microsoft.com/office/powerpoint/2010/main" val="369839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532662" y="378301"/>
                <a:ext cx="10800000" cy="5016758"/>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twelfth graders at this school. How many of the twelfth graders are expected to have a reaction time of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Suppose another group in your class comes up with a different estimate than yours for the previous question. What is another estimate that would be </a:t>
                </a:r>
                <a:r>
                  <a:rPr lang="en-US" sz="2000" b="1" dirty="0">
                    <a:latin typeface="Verdana" panose="020B0604030504040204" pitchFamily="34" charset="0"/>
                    <a:ea typeface="Times New Roman" panose="02020603050405020304" pitchFamily="18" charset="0"/>
                    <a:cs typeface="Times New Roman" panose="02020603050405020304" pitchFamily="18" charset="0"/>
                  </a:rPr>
                  <a:t>reasonable</a:t>
                </a:r>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what kind of an estimate would be considered </a:t>
                </a:r>
                <a:r>
                  <a:rPr lang="en-US" sz="2000" b="1" dirty="0">
                    <a:latin typeface="Verdana" panose="020B0604030504040204" pitchFamily="34" charset="0"/>
                    <a:ea typeface="Times New Roman" panose="02020603050405020304" pitchFamily="18" charset="0"/>
                    <a:cs typeface="Times New Roman" panose="02020603050405020304" pitchFamily="18" charset="0"/>
                  </a:rPr>
                  <a:t>unreasonable.</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532662" y="378301"/>
                <a:ext cx="10800000" cy="5016758"/>
              </a:xfrm>
              <a:prstGeom prst="rect">
                <a:avLst/>
              </a:prstGeom>
              <a:blipFill rotWithShape="1">
                <a:blip r:embed="rId3"/>
                <a:stretch>
                  <a:fillRect l="-564" t="-729"/>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194</a:t>
            </a:r>
            <a:endParaRPr i="1" dirty="0">
              <a:latin typeface="Calibri"/>
              <a:ea typeface="Calibri"/>
              <a:cs typeface="Calibri"/>
              <a:sym typeface="Calibri"/>
            </a:endParaRPr>
          </a:p>
        </p:txBody>
      </p:sp>
    </p:spTree>
    <p:extLst>
      <p:ext uri="{BB962C8B-B14F-4D97-AF65-F5344CB8AC3E}">
        <p14:creationId xmlns:p14="http://schemas.microsoft.com/office/powerpoint/2010/main" val="4167052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
        <p:nvSpPr>
          <p:cNvPr id="12"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3"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83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26B7D4"/>
                </a:solidFill>
                <a:latin typeface="Verdana"/>
                <a:ea typeface="Verdana"/>
                <a:cs typeface="Verdana"/>
                <a:sym typeface="Verdana"/>
              </a:rPr>
              <a:t>5.3.4 Guided Practice: Making Population Predictions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32661" y="1466433"/>
                <a:ext cx="10515600"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Taylor attends Murdock Middle School in Port Charlotte, Florida. She wonders how many students at her school would dye their hair blue if their parents would let them. She surveyed 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at her school,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of them said they would. Kiran didn’t think Taylor’s estimate was very accurate, so he surveyed 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17</m:t>
                    </m:r>
                  </m:oMath>
                </a14:m>
                <a:r>
                  <a:rPr lang="en-US" sz="2400" dirty="0">
                    <a:latin typeface="Verdana" panose="020B0604030504040204" pitchFamily="34" charset="0"/>
                    <a:ea typeface="Verdana" panose="020B0604030504040204" pitchFamily="34" charset="0"/>
                    <a:cs typeface="Verdana" panose="020B0604030504040204" pitchFamily="34" charset="0"/>
                  </a:rPr>
                  <a:t> of them said they would.</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61" y="1466433"/>
                <a:ext cx="10515600" cy="3416320"/>
              </a:xfrm>
              <a:prstGeom prst="rect">
                <a:avLst/>
              </a:prstGeom>
              <a:blipFill rotWithShape="1">
                <a:blip r:embed="rId3"/>
                <a:stretch>
                  <a:fillRect l="-870" t="-1429" r="-1855"/>
                </a:stretch>
              </a:blipFill>
            </p:spPr>
            <p:txBody>
              <a:bodyPr/>
              <a:lstStyle/>
              <a:p>
                <a:r>
                  <a:rPr lang="en-PH">
                    <a:noFill/>
                  </a:rPr>
                  <a:t> </a:t>
                </a:r>
              </a:p>
            </p:txBody>
          </p:sp>
        </mc:Fallback>
      </mc:AlternateContent>
      <p:pic>
        <p:nvPicPr>
          <p:cNvPr id="9" name="image12.png" descr="Icon&#10;&#10;Description automatically generated">
            <a:extLst>
              <a:ext uri="{FF2B5EF4-FFF2-40B4-BE49-F238E27FC236}">
                <a16:creationId xmlns:a16="http://schemas.microsoft.com/office/drawing/2014/main" id="{18CEC9FF-8A04-2B47-8B2F-0CEB50F420E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3529" cy="753529"/>
          </a:xfrm>
          <a:prstGeom prst="rect">
            <a:avLst/>
          </a:prstGeom>
          <a:ln/>
          <a:effectLst>
            <a:outerShdw blurRad="50800" dist="38100" dir="2700000" algn="tl" rotWithShape="0">
              <a:prstClr val="black">
                <a:alpha val="40000"/>
              </a:prstClr>
            </a:outerShdw>
          </a:effectLst>
        </p:spPr>
      </p:pic>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1" y="390467"/>
            <a:ext cx="10800000" cy="1200329"/>
          </a:xfrm>
          <a:prstGeom prst="rect">
            <a:avLst/>
          </a:prstGeom>
        </p:spPr>
        <p:txBody>
          <a:bodyPr wrap="square">
            <a:spAutoFit/>
          </a:bodyPr>
          <a:lstStyle/>
          <a:p>
            <a:pPr marL="9001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below to compare the accuracy of Taylor and Kiran’s random samples. Be sure to show your work or explain your thinking. </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3126076-6830-3940-84D9-517700EBE86B}"/>
                  </a:ext>
                </a:extLst>
              </p:cNvPr>
              <p:cNvGraphicFramePr>
                <a:graphicFrameLocks noGrp="1"/>
              </p:cNvGraphicFramePr>
              <p:nvPr>
                <p:extLst>
                  <p:ext uri="{D42A27DB-BD31-4B8C-83A1-F6EECF244321}">
                    <p14:modId xmlns:p14="http://schemas.microsoft.com/office/powerpoint/2010/main" val="2531868385"/>
                  </p:ext>
                </p:extLst>
              </p:nvPr>
            </p:nvGraphicFramePr>
            <p:xfrm>
              <a:off x="2611543" y="1852176"/>
              <a:ext cx="6915648" cy="4179570"/>
            </p:xfrm>
            <a:graphic>
              <a:graphicData uri="http://schemas.openxmlformats.org/drawingml/2006/table">
                <a:tbl>
                  <a:tblPr firstRow="1" firstCol="1" bandRow="1"/>
                  <a:tblGrid>
                    <a:gridCol w="93980">
                      <a:extLst>
                        <a:ext uri="{9D8B030D-6E8A-4147-A177-3AD203B41FA5}">
                          <a16:colId xmlns:a16="http://schemas.microsoft.com/office/drawing/2014/main" val="1678081939"/>
                        </a:ext>
                      </a:extLst>
                    </a:gridCol>
                    <a:gridCol w="3581376">
                      <a:extLst>
                        <a:ext uri="{9D8B030D-6E8A-4147-A177-3AD203B41FA5}">
                          <a16:colId xmlns:a16="http://schemas.microsoft.com/office/drawing/2014/main" val="2026288602"/>
                        </a:ext>
                      </a:extLst>
                    </a:gridCol>
                    <a:gridCol w="1646675">
                      <a:extLst>
                        <a:ext uri="{9D8B030D-6E8A-4147-A177-3AD203B41FA5}">
                          <a16:colId xmlns:a16="http://schemas.microsoft.com/office/drawing/2014/main" val="4168994142"/>
                        </a:ext>
                      </a:extLst>
                    </a:gridCol>
                    <a:gridCol w="1593617">
                      <a:extLst>
                        <a:ext uri="{9D8B030D-6E8A-4147-A177-3AD203B41FA5}">
                          <a16:colId xmlns:a16="http://schemas.microsoft.com/office/drawing/2014/main" val="1079090672"/>
                        </a:ext>
                      </a:extLst>
                    </a:gridCol>
                  </a:tblGrid>
                  <a:tr h="457200">
                    <a:tc gridSpan="2">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w="19050" cap="flat" cmpd="sng" algn="ctr">
                          <a:solidFill>
                            <a:schemeClr val="tx1"/>
                          </a:solidFill>
                          <a:prstDash val="solid"/>
                          <a:round/>
                          <a:headEnd type="none" w="med" len="med"/>
                          <a:tailEnd type="none" w="med" len="med"/>
                        </a:lnR>
                        <a:lnT>
                          <a:noFill/>
                        </a:lnT>
                        <a:lnB>
                          <a:noFill/>
                        </a:lnB>
                      </a:tcPr>
                    </a:tc>
                    <a:tc hMerge="1">
                      <a:txBody>
                        <a:bodyPr/>
                        <a:lstStyle/>
                        <a:p>
                          <a:endParaRPr lang="x-none"/>
                        </a:p>
                      </a:txBody>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Taylor</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Kiran</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514467928"/>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2000" b="1" u="sng"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Fraction</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8405972"/>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2000" b="1" u="sng"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Percentage</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368440"/>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20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Predicted number</a:t>
                          </a: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the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𝟓𝟎𝟎</m:t>
                              </m:r>
                            </m:oMath>
                          </a14:m>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students in the school who would dye their hair blue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9919608"/>
                      </a:ext>
                    </a:extLst>
                  </a:tr>
                </a:tbl>
              </a:graphicData>
            </a:graphic>
          </p:graphicFrame>
        </mc:Choice>
        <mc:Fallback xmlns="">
          <p:graphicFrame>
            <p:nvGraphicFramePr>
              <p:cNvPr id="5" name="Table 4">
                <a:extLst>
                  <a:ext uri="{FF2B5EF4-FFF2-40B4-BE49-F238E27FC236}">
                    <a16:creationId xmlns="" xmlns:a16="http://schemas.microsoft.com/office/drawing/2014/main" xmlns:a14="http://schemas.microsoft.com/office/drawing/2010/main" id="{93126076-6830-3940-84D9-517700EBE86B}"/>
                  </a:ext>
                </a:extLst>
              </p:cNvPr>
              <p:cNvGraphicFramePr>
                <a:graphicFrameLocks noGrp="1"/>
              </p:cNvGraphicFramePr>
              <p:nvPr>
                <p:extLst>
                  <p:ext uri="{D42A27DB-BD31-4B8C-83A1-F6EECF244321}">
                    <p14:modId xmlns:p14="http://schemas.microsoft.com/office/powerpoint/2010/main" val="2531868385"/>
                  </p:ext>
                </p:extLst>
              </p:nvPr>
            </p:nvGraphicFramePr>
            <p:xfrm>
              <a:off x="2611543" y="1852176"/>
              <a:ext cx="6915648" cy="4179570"/>
            </p:xfrm>
            <a:graphic>
              <a:graphicData uri="http://schemas.openxmlformats.org/drawingml/2006/table">
                <a:tbl>
                  <a:tblPr firstRow="1" firstCol="1" bandRow="1"/>
                  <a:tblGrid>
                    <a:gridCol w="93980">
                      <a:extLst>
                        <a:ext uri="{9D8B030D-6E8A-4147-A177-3AD203B41FA5}">
                          <a16:colId xmlns="" xmlns:a16="http://schemas.microsoft.com/office/drawing/2014/main" xmlns:a14="http://schemas.microsoft.com/office/drawing/2010/main" val="1678081939"/>
                        </a:ext>
                      </a:extLst>
                    </a:gridCol>
                    <a:gridCol w="3581376">
                      <a:extLst>
                        <a:ext uri="{9D8B030D-6E8A-4147-A177-3AD203B41FA5}">
                          <a16:colId xmlns="" xmlns:a16="http://schemas.microsoft.com/office/drawing/2014/main" xmlns:a14="http://schemas.microsoft.com/office/drawing/2010/main" val="2026288602"/>
                        </a:ext>
                      </a:extLst>
                    </a:gridCol>
                    <a:gridCol w="1646675">
                      <a:extLst>
                        <a:ext uri="{9D8B030D-6E8A-4147-A177-3AD203B41FA5}">
                          <a16:colId xmlns="" xmlns:a16="http://schemas.microsoft.com/office/drawing/2014/main" xmlns:a14="http://schemas.microsoft.com/office/drawing/2010/main" val="4168994142"/>
                        </a:ext>
                      </a:extLst>
                    </a:gridCol>
                    <a:gridCol w="1593617">
                      <a:extLst>
                        <a:ext uri="{9D8B030D-6E8A-4147-A177-3AD203B41FA5}">
                          <a16:colId xmlns="" xmlns:a16="http://schemas.microsoft.com/office/drawing/2014/main" xmlns:a14="http://schemas.microsoft.com/office/drawing/2010/main" val="1079090672"/>
                        </a:ext>
                      </a:extLst>
                    </a:gridCol>
                  </a:tblGrid>
                  <a:tr h="457200">
                    <a:tc gridSpan="2">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w="19050" cap="flat" cmpd="sng" algn="ctr">
                          <a:solidFill>
                            <a:schemeClr val="tx1"/>
                          </a:solidFill>
                          <a:prstDash val="solid"/>
                          <a:round/>
                          <a:headEnd type="none" w="med" len="med"/>
                          <a:tailEnd type="none" w="med" len="med"/>
                        </a:lnR>
                        <a:lnT>
                          <a:noFill/>
                        </a:lnT>
                        <a:lnB>
                          <a:noFill/>
                        </a:lnB>
                      </a:tcPr>
                    </a:tc>
                    <a:tc hMerge="1">
                      <a:txBody>
                        <a:bodyPr/>
                        <a:lstStyle/>
                        <a:p>
                          <a:endParaRPr lang="x-none"/>
                        </a:p>
                      </a:txBody>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Taylor</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Kiran</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xmlns:a14="http://schemas.microsoft.com/office/drawing/2010/main" val="514467928"/>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2000" b="1" u="sng"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Fraction</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898405972"/>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2000" b="1" u="sng"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Percentage</a:t>
                          </a:r>
                          <a:r>
                            <a:rPr lang="en-US" sz="2000" b="1"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4197368440"/>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9050" cap="flat" cmpd="sng" algn="ctr">
                          <a:solidFill>
                            <a:schemeClr val="tx1"/>
                          </a:solidFill>
                          <a:prstDash val="solid"/>
                          <a:round/>
                          <a:headEnd type="none" w="med" len="med"/>
                          <a:tailEnd type="none" w="med" len="med"/>
                        </a:lnR>
                        <a:lnT>
                          <a:noFill/>
                        </a:lnT>
                        <a:lnB>
                          <a:noFill/>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551" t="-237931" r="-90476" b="-11823"/>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079919608"/>
                      </a:ext>
                    </a:extLst>
                  </a:tr>
                </a:tbl>
              </a:graphicData>
            </a:graphic>
          </p:graphicFrame>
        </mc:Fallback>
      </mc:AlternateContent>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1" y="386711"/>
            <a:ext cx="10800000" cy="830997"/>
          </a:xfrm>
          <a:prstGeom prst="rect">
            <a:avLst/>
          </a:prstGeom>
        </p:spPr>
        <p:txBody>
          <a:bodyPr wrap="square">
            <a:spAutoFit/>
          </a:bodyPr>
          <a:lstStyle/>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whose random sample likely produced the most accurate estimate.</a:t>
            </a: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Tree>
    <p:extLst>
      <p:ext uri="{BB962C8B-B14F-4D97-AF65-F5344CB8AC3E}">
        <p14:creationId xmlns:p14="http://schemas.microsoft.com/office/powerpoint/2010/main" val="238155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1" y="380164"/>
            <a:ext cx="10800000" cy="2554545"/>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Ms. Jeffrey teaches seventh grade in Miami, Florida. She noticed many of her students talked about social media and wondered about what her students considered to be the impact of all their online activity. She conducted a random survey of 30 seventh-grade students asking them how they describe the effect of social media use on people their own age. The results are shown in the line plot below.   </a:t>
            </a:r>
          </a:p>
        </p:txBody>
      </p:sp>
      <p:pic>
        <p:nvPicPr>
          <p:cNvPr id="4" name="Picture 3" descr="A picture containing text, opener&#10;&#10;Description automatically generated">
            <a:extLst>
              <a:ext uri="{FF2B5EF4-FFF2-40B4-BE49-F238E27FC236}">
                <a16:creationId xmlns:a16="http://schemas.microsoft.com/office/drawing/2014/main" id="{4A487BDC-C8EC-A24E-A3C5-F10A31995B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42692" y="2407766"/>
            <a:ext cx="4668648" cy="4121472"/>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Tree>
    <p:extLst>
      <p:ext uri="{BB962C8B-B14F-4D97-AF65-F5344CB8AC3E}">
        <p14:creationId xmlns:p14="http://schemas.microsoft.com/office/powerpoint/2010/main" val="204278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532661" y="393610"/>
                <a:ext cx="10800000"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According to a 2018 Pew Research Center study of American teenagers, </a:t>
                </a:r>
                <a14:m>
                  <m:oMath xmlns:m="http://schemas.openxmlformats.org/officeDocument/2006/math">
                    <m:r>
                      <a:rPr lang="en-US" sz="2400" i="1" dirty="0" smtClean="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teen respondents said they believed social media has a mostly negative effect on people their own age.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001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this compares to the percentage of  Ms. Jeffrey’s seventh-grade students who described social media as having a mostly negative effect.  </a:t>
                </a: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532661" y="393610"/>
                <a:ext cx="10800000" cy="2677656"/>
              </a:xfrm>
              <a:prstGeom prst="rect">
                <a:avLst/>
              </a:prstGeom>
              <a:blipFill>
                <a:blip r:embed="rId3"/>
                <a:stretch>
                  <a:fillRect l="-847" t="-1822" r="-339" b="-4328"/>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spTree>
    <p:extLst>
      <p:ext uri="{BB962C8B-B14F-4D97-AF65-F5344CB8AC3E}">
        <p14:creationId xmlns:p14="http://schemas.microsoft.com/office/powerpoint/2010/main" val="325290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541538" y="393611"/>
                <a:ext cx="10800000" cy="452431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There were about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1,546,397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teenagers living in the state of Florida in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2018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Predict the number of teenagers in the state of Florida who considered the effect of social media as mostly positive based on the data Ms. Jeffrey collected.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Predict the number of teenagers in the state of Florida who considered the effect of social media as neither positive nor negative based on the data Ms. Jeffrey collected. </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541538" y="393611"/>
                <a:ext cx="10800000" cy="4524315"/>
              </a:xfrm>
              <a:prstGeom prst="rect">
                <a:avLst/>
              </a:prstGeom>
              <a:blipFill rotWithShape="1">
                <a:blip r:embed="rId3"/>
                <a:stretch>
                  <a:fillRect l="-903" t="-1213" r="-395" b="-2156"/>
                </a:stretch>
              </a:blipFill>
            </p:spPr>
            <p:txBody>
              <a:bodyPr/>
              <a:lstStyle/>
              <a:p>
                <a:r>
                  <a:rPr lang="en-PH">
                    <a:noFill/>
                  </a:rPr>
                  <a:t> </a:t>
                </a:r>
              </a:p>
            </p:txBody>
          </p:sp>
        </mc:Fallback>
      </mc:AlternateContent>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spTree>
    <p:extLst>
      <p:ext uri="{BB962C8B-B14F-4D97-AF65-F5344CB8AC3E}">
        <p14:creationId xmlns:p14="http://schemas.microsoft.com/office/powerpoint/2010/main" val="1939889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0" y="375854"/>
            <a:ext cx="10800000" cy="1569660"/>
          </a:xfrm>
          <a:prstGeom prst="rect">
            <a:avLst/>
          </a:prstGeom>
        </p:spPr>
        <p:txBody>
          <a:bodyPr wrap="square">
            <a:spAutoFit/>
          </a:bodyPr>
          <a:lstStyle/>
          <a:p>
            <a:pPr marL="900113"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at least two factors that could account for differences in these estimates from the actual number of students who would have described the effect of social media in these ways. </a:t>
            </a:r>
          </a:p>
        </p:txBody>
      </p:sp>
      <p:graphicFrame>
        <p:nvGraphicFramePr>
          <p:cNvPr id="4" name="Table 3">
            <a:extLst>
              <a:ext uri="{FF2B5EF4-FFF2-40B4-BE49-F238E27FC236}">
                <a16:creationId xmlns:a16="http://schemas.microsoft.com/office/drawing/2014/main" id="{1B51CE44-2EA9-6442-9154-0B46A21B3B28}"/>
              </a:ext>
            </a:extLst>
          </p:cNvPr>
          <p:cNvGraphicFramePr>
            <a:graphicFrameLocks noGrp="1"/>
          </p:cNvGraphicFramePr>
          <p:nvPr>
            <p:extLst>
              <p:ext uri="{D42A27DB-BD31-4B8C-83A1-F6EECF244321}">
                <p14:modId xmlns:p14="http://schemas.microsoft.com/office/powerpoint/2010/main" val="622834052"/>
              </p:ext>
            </p:extLst>
          </p:nvPr>
        </p:nvGraphicFramePr>
        <p:xfrm>
          <a:off x="3455185" y="1945514"/>
          <a:ext cx="5281631" cy="3872136"/>
        </p:xfrm>
        <a:graphic>
          <a:graphicData uri="http://schemas.openxmlformats.org/drawingml/2006/table">
            <a:tbl>
              <a:tblPr firstRow="1" firstCol="1" bandRow="1"/>
              <a:tblGrid>
                <a:gridCol w="5281631">
                  <a:extLst>
                    <a:ext uri="{9D8B030D-6E8A-4147-A177-3AD203B41FA5}">
                      <a16:colId xmlns:a16="http://schemas.microsoft.com/office/drawing/2014/main" val="506219168"/>
                    </a:ext>
                  </a:extLst>
                </a:gridCol>
              </a:tblGrid>
              <a:tr h="494798">
                <a:tc>
                  <a:txBody>
                    <a:bodyPr/>
                    <a:lstStyle/>
                    <a:p>
                      <a:pPr marL="22860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Why are they different?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1282" marR="6128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998756832"/>
                  </a:ext>
                </a:extLst>
              </a:tr>
              <a:tr h="1683562">
                <a:tc>
                  <a:txBody>
                    <a:bodyPr/>
                    <a:lstStyle/>
                    <a:p>
                      <a:pPr marL="342900" marR="0" lvl="0" indent="-342900" algn="l">
                        <a:spcBef>
                          <a:spcPts val="0"/>
                        </a:spcBef>
                        <a:spcAft>
                          <a:spcPts val="0"/>
                        </a:spcAft>
                        <a:buFont typeface="+mj-lt"/>
                        <a:buAutoNum type="arabicPeriod"/>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108000" marR="61282" marT="72000" marB="7200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1259475"/>
                  </a:ext>
                </a:extLst>
              </a:tr>
              <a:tr h="1693776">
                <a:tc>
                  <a:txBody>
                    <a:bodyPr/>
                    <a:lstStyle/>
                    <a:p>
                      <a:pPr marL="342900" marR="0" lvl="0" indent="-342900" algn="l">
                        <a:spcBef>
                          <a:spcPts val="0"/>
                        </a:spcBef>
                        <a:spcAft>
                          <a:spcPts val="0"/>
                        </a:spcAft>
                        <a:buFont typeface="+mj-lt"/>
                        <a:buAutoNum type="arabicPeriod" startAt="2"/>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108000" marR="61282" marT="72000" marB="7200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564855"/>
                  </a:ext>
                </a:extLst>
              </a:tr>
            </a:tbl>
          </a:graphicData>
        </a:graphic>
      </p:graphicFrame>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spTree>
    <p:extLst>
      <p:ext uri="{BB962C8B-B14F-4D97-AF65-F5344CB8AC3E}">
        <p14:creationId xmlns:p14="http://schemas.microsoft.com/office/powerpoint/2010/main" val="4058919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32661" y="393611"/>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results of the 2018 Pew Research Study are shown in the circle graph.</a:t>
            </a:r>
          </a:p>
        </p:txBody>
      </p:sp>
      <p:graphicFrame>
        <p:nvGraphicFramePr>
          <p:cNvPr id="7" name="Chart 6">
            <a:extLst>
              <a:ext uri="{FF2B5EF4-FFF2-40B4-BE49-F238E27FC236}">
                <a16:creationId xmlns:a16="http://schemas.microsoft.com/office/drawing/2014/main" id="{BACC9F4C-551B-2048-AB74-1A9DAB687D84}"/>
              </a:ext>
            </a:extLst>
          </p:cNvPr>
          <p:cNvGraphicFramePr/>
          <p:nvPr>
            <p:extLst>
              <p:ext uri="{D42A27DB-BD31-4B8C-83A1-F6EECF244321}">
                <p14:modId xmlns:p14="http://schemas.microsoft.com/office/powerpoint/2010/main" val="3488799887"/>
              </p:ext>
            </p:extLst>
          </p:nvPr>
        </p:nvGraphicFramePr>
        <p:xfrm>
          <a:off x="2933700" y="1538206"/>
          <a:ext cx="6324600" cy="44577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Box 6">
            <a:extLst>
              <a:ext uri="{FF2B5EF4-FFF2-40B4-BE49-F238E27FC236}">
                <a16:creationId xmlns:a16="http://schemas.microsoft.com/office/drawing/2014/main" id="{D2D46DE7-8820-A449-AE79-B30BD28508FD}"/>
              </a:ext>
            </a:extLst>
          </p:cNvPr>
          <p:cNvSpPr txBox="1"/>
          <p:nvPr/>
        </p:nvSpPr>
        <p:spPr>
          <a:xfrm>
            <a:off x="2561845" y="5031465"/>
            <a:ext cx="1993900" cy="889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neither positive nor negative effect</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9" name="Text Box 8">
            <a:extLst>
              <a:ext uri="{FF2B5EF4-FFF2-40B4-BE49-F238E27FC236}">
                <a16:creationId xmlns:a16="http://schemas.microsoft.com/office/drawing/2014/main" id="{BE6050C4-D522-8842-A61F-7B8FC82C36CE}"/>
              </a:ext>
            </a:extLst>
          </p:cNvPr>
          <p:cNvSpPr txBox="1"/>
          <p:nvPr/>
        </p:nvSpPr>
        <p:spPr>
          <a:xfrm>
            <a:off x="7686668" y="2339065"/>
            <a:ext cx="1104900" cy="9652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mostly positive effect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spTree>
    <p:extLst>
      <p:ext uri="{BB962C8B-B14F-4D97-AF65-F5344CB8AC3E}">
        <p14:creationId xmlns:p14="http://schemas.microsoft.com/office/powerpoint/2010/main" val="3040797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41538" y="393611"/>
            <a:ext cx="10800000" cy="3785652"/>
          </a:xfrm>
          <a:prstGeom prst="rect">
            <a:avLst/>
          </a:prstGeom>
        </p:spPr>
        <p:txBody>
          <a:bodyPr wrap="square">
            <a:spAutoFit/>
          </a:bodyPr>
          <a:lstStyle/>
          <a:p>
            <a:pPr marL="896938" indent="-442913">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The percentage of teens who describe social media as having </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a positive effect on people their age is                    the </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percent of students who responded the same in Ms. Jeffrey’s </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survey. Write an explanation of why this may have happened.</a:t>
            </a:r>
          </a:p>
        </p:txBody>
      </p:sp>
      <p:pic>
        <p:nvPicPr>
          <p:cNvPr id="4" name="Picture 3" descr="Text&#10;&#10;Description automatically generated with medium confidence">
            <a:extLst>
              <a:ext uri="{FF2B5EF4-FFF2-40B4-BE49-F238E27FC236}">
                <a16:creationId xmlns:a16="http://schemas.microsoft.com/office/drawing/2014/main" id="{047FDA8F-481D-5046-901E-BFFA0FC801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06413" y="1235125"/>
            <a:ext cx="1954679" cy="1098307"/>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spTree>
    <p:extLst>
      <p:ext uri="{BB962C8B-B14F-4D97-AF65-F5344CB8AC3E}">
        <p14:creationId xmlns:p14="http://schemas.microsoft.com/office/powerpoint/2010/main" val="1952238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sp>
        <p:nvSpPr>
          <p:cNvPr id="10"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1"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ABC5E"/>
          </a:solidFill>
          <a:ln w="9525" cap="flat" cmpd="sng">
            <a:solidFill>
              <a:srgbClr val="6ABC5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3015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5.3.5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532661" y="1346520"/>
            <a:ext cx="10515600" cy="378565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following sentences based on today’s learning target: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60363"/>
            <a:r>
              <a:rPr lang="en-US" sz="2000" dirty="0">
                <a:latin typeface="Verdana" panose="020B0604030504040204" pitchFamily="34" charset="0"/>
                <a:ea typeface="Times New Roman" panose="02020603050405020304" pitchFamily="18" charset="0"/>
                <a:cs typeface="Times New Roman" panose="02020603050405020304" pitchFamily="18" charset="0"/>
              </a:rPr>
              <a:t>I can use proportional relationships to make predictions about a population.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barrier to my learning today was …</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 will try to overcome this by …</a:t>
            </a: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3ECD2D46-55D5-C547-91DD-0801CE9D6AD7}"/>
              </a:ext>
            </a:extLst>
          </p:cNvPr>
          <p:cNvSpPr txBox="1"/>
          <p:nvPr/>
        </p:nvSpPr>
        <p:spPr>
          <a:xfrm>
            <a:off x="8897112" y="6510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C3C1A8-2B4B-4CD9-8DD2-447FC8DBA9A3}">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6CD26883-80DC-4AA1-B442-634B91337BC2}">
  <ds:schemaRefs>
    <ds:schemaRef ds:uri="http://schemas.microsoft.com/sharepoint/v3/contenttype/forms"/>
  </ds:schemaRefs>
</ds:datastoreItem>
</file>

<file path=customXml/itemProps3.xml><?xml version="1.0" encoding="utf-8"?>
<ds:datastoreItem xmlns:ds="http://schemas.openxmlformats.org/officeDocument/2006/customXml" ds:itemID="{541E43F4-70BA-4816-BD6D-5C355E293B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3199</TotalTime>
  <Words>1792</Words>
  <Application>Microsoft Office PowerPoint</Application>
  <PresentationFormat>Widescreen</PresentationFormat>
  <Paragraphs>252</Paragraphs>
  <Slides>30</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Cambria Math</vt:lpstr>
      <vt:lpstr>Arial Black</vt:lpstr>
      <vt:lpstr>Verdana</vt:lpstr>
      <vt:lpstr>Cambria</vt:lpstr>
      <vt:lpstr>Wingdings</vt:lpstr>
      <vt:lpstr>Calibri</vt:lpstr>
      <vt:lpstr>Arial</vt:lpstr>
      <vt:lpstr>Century Gothic</vt:lpstr>
      <vt:lpstr>1_Office Theme</vt:lpstr>
      <vt:lpstr>7th Grade Math  Unit 5, Lesson 3  Making Population Predictions –  Part 1  Volume 1, pg. 191  </vt:lpstr>
      <vt:lpstr>Benchmark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36</cp:revision>
  <dcterms:created xsi:type="dcterms:W3CDTF">2015-03-17T18:51:18Z</dcterms:created>
  <dcterms:modified xsi:type="dcterms:W3CDTF">2023-06-30T04:38:31Z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