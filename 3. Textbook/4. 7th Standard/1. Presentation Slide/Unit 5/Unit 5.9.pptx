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345" r:id="rId4"/>
    <p:sldId id="286" r:id="rId5"/>
    <p:sldId id="261" r:id="rId6"/>
    <p:sldId id="287" r:id="rId7"/>
    <p:sldId id="383" r:id="rId8"/>
    <p:sldId id="289" r:id="rId9"/>
    <p:sldId id="290" r:id="rId10"/>
    <p:sldId id="389" r:id="rId11"/>
    <p:sldId id="390" r:id="rId12"/>
    <p:sldId id="391" r:id="rId13"/>
    <p:sldId id="392" r:id="rId14"/>
    <p:sldId id="387" r:id="rId15"/>
    <p:sldId id="388" r:id="rId16"/>
    <p:sldId id="395" r:id="rId17"/>
    <p:sldId id="396" r:id="rId18"/>
    <p:sldId id="398" r:id="rId19"/>
    <p:sldId id="306" r:id="rId20"/>
    <p:sldId id="307" r:id="rId21"/>
  </p:sldIdLst>
  <p:sldSz cx="12192000" cy="6858000"/>
  <p:notesSz cx="6858000" cy="9144000"/>
  <p:embeddedFontLst>
    <p:embeddedFont>
      <p:font typeface="Calibri" pitchFamily="34" charset="0"/>
      <p:regular r:id="rId23"/>
      <p:bold r:id="rId24"/>
      <p:italic r:id="rId25"/>
      <p:boldItalic r:id="rId26"/>
    </p:embeddedFont>
    <p:embeddedFont>
      <p:font typeface="Century Gothic" pitchFamily="34" charset="0"/>
      <p:regular r:id="rId27"/>
      <p:bold r:id="rId28"/>
      <p:italic r:id="rId29"/>
      <p:boldItalic r:id="rId30"/>
    </p:embeddedFont>
    <p:embeddedFont>
      <p:font typeface="Cambria Math" pitchFamily="18" charset="0"/>
      <p:regular r:id="rId31"/>
    </p:embeddedFont>
    <p:embeddedFont>
      <p:font typeface="Cambria" pitchFamily="18" charset="0"/>
      <p:regular r:id="rId32"/>
      <p:bold r:id="rId33"/>
      <p:italic r:id="rId34"/>
      <p:boldItalic r:id="rId35"/>
    </p:embeddedFont>
    <p:embeddedFont>
      <p:font typeface="Arial Black" pitchFamily="34" charset="0"/>
      <p:bold r:id="rId36"/>
    </p:embeddedFont>
    <p:embeddedFont>
      <p:font typeface="Verdana"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E5F"/>
    <a:srgbClr val="6ABC5E"/>
    <a:srgbClr val="BFBFBF"/>
    <a:srgbClr val="C9DF6F"/>
    <a:srgbClr val="417DBF"/>
    <a:srgbClr val="3F2A67"/>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4600"/>
  </p:normalViewPr>
  <p:slideViewPr>
    <p:cSldViewPr snapToGrid="0">
      <p:cViewPr>
        <p:scale>
          <a:sx n="80" d="100"/>
          <a:sy n="80" d="100"/>
        </p:scale>
        <p:origin x="-643"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63"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59"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4926666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541589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3538175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06843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28103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648637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8685309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694300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24832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4141300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5962420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0.png"/><Relationship Id="rId12"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8.xml"/><Relationship Id="rId11" Type="http://schemas.openxmlformats.org/officeDocument/2006/relationships/image" Target="../media/image24.png"/><Relationship Id="rId10" Type="http://schemas.openxmlformats.org/officeDocument/2006/relationships/image" Target="../media/image23.png"/><Relationship Id="rId4" Type="http://schemas.microsoft.com/office/2007/relationships/hdphoto" Target="../media/hdphoto1.wdp"/><Relationship Id="rId9"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7"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0.png"/></Relationships>
</file>

<file path=ppt/slides/_rels/slide1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7.png"/><Relationship Id="rId9"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8" name="Google Shape;115;g104476d1465_0_0"/>
          <p:cNvSpPr/>
          <p:nvPr/>
        </p:nvSpPr>
        <p:spPr>
          <a:xfrm>
            <a:off x="-14875" y="-9144"/>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9" name="Picture 8"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
        <p:nvSpPr>
          <p:cNvPr id="10"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9</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Solving Problems Involving Dimensions and Areas of Geometric Figures</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223</a:t>
            </a:r>
          </a:p>
          <a:p>
            <a:pPr algn="ctr">
              <a:lnSpc>
                <a:spcPct val="100000"/>
              </a:lnSpc>
              <a:buClr>
                <a:srgbClr val="000000"/>
              </a:buClr>
            </a:pPr>
            <a:endParaRPr lang="en-US" sz="3400" b="1" dirty="0">
              <a:solidFill>
                <a:srgbClr val="417DB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122;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2" name="Google Shape;279;g104476d1465_1_17"/>
          <p:cNvSpPr txBox="1">
            <a:spLocks/>
          </p:cNvSpPr>
          <p:nvPr/>
        </p:nvSpPr>
        <p:spPr>
          <a:xfrm>
            <a:off x="1151917"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buFont typeface="Century Gothic"/>
              <a:buNone/>
            </a:pPr>
            <a:r>
              <a:rPr lang="en-US" sz="4700" b="1" dirty="0"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3" name="Google Shape;281;g104476d1465_1_17"/>
          <p:cNvPicPr preferRelativeResize="0"/>
          <p:nvPr/>
        </p:nvPicPr>
        <p:blipFill>
          <a:blip r:embed="rId4">
            <a:alphaModFix/>
          </a:blip>
          <a:stretch>
            <a:fillRect/>
          </a:stretch>
        </p:blipFill>
        <p:spPr>
          <a:xfrm>
            <a:off x="328417"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444683" y="1600200"/>
            <a:ext cx="1032675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3600" dirty="0">
                <a:latin typeface="Verdana" panose="020B0604030504040204" pitchFamily="34" charset="0"/>
                <a:ea typeface="Verdana" panose="020B0604030504040204" pitchFamily="34" charset="0"/>
                <a:cs typeface="Verdana" panose="020B0604030504040204" pitchFamily="34" charset="0"/>
              </a:rPr>
              <a:t>MA.7.GR.1.5</a:t>
            </a:r>
          </a:p>
          <a:p>
            <a:pPr marL="552450" lvl="1" indent="0">
              <a:buNone/>
            </a:pPr>
            <a:r>
              <a:rPr lang="en-US" sz="36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dimensions and areas of geometric figures, including scale drawings and scale factors. </a:t>
            </a:r>
            <a:endParaRPr lang="en-US" sz="3600"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281;g104476d1465_1_17"/>
          <p:cNvPicPr preferRelativeResize="0"/>
          <p:nvPr/>
        </p:nvPicPr>
        <p:blipFill>
          <a:blip r:embed="rId2">
            <a:alphaModFix/>
          </a:blip>
          <a:stretch>
            <a:fillRect/>
          </a:stretch>
        </p:blipFill>
        <p:spPr>
          <a:xfrm>
            <a:off x="329567" y="372300"/>
            <a:ext cx="747300" cy="747300"/>
          </a:xfrm>
          <a:prstGeom prst="rect">
            <a:avLst/>
          </a:prstGeom>
          <a:noFill/>
          <a:ln>
            <a:noFill/>
          </a:ln>
          <a:effectLst>
            <a:outerShdw blurRad="57150" dist="19050" dir="5400000" algn="bl" rotWithShape="0">
              <a:srgbClr val="000000">
                <a:alpha val="50000"/>
              </a:srgbClr>
            </a:outerShdw>
          </a:effectLst>
        </p:spPr>
      </p:pic>
      <p:sp>
        <p:nvSpPr>
          <p:cNvPr id="9"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133;p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1154216" y="1596390"/>
            <a:ext cx="10376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12"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223</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8371"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9"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3">
            <a:alphaModFix/>
          </a:blip>
          <a:stretch>
            <a:fillRect/>
          </a:stretch>
        </p:blipFill>
        <p:spPr>
          <a:xfrm>
            <a:off x="326209" y="319860"/>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144;p2"/>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5"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444682" y="1600200"/>
            <a:ext cx="108000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600" dirty="0">
                <a:latin typeface="Verdana" panose="020B0604030504040204" pitchFamily="34" charset="0"/>
                <a:ea typeface="Verdana" panose="020B0604030504040204" pitchFamily="34" charset="0"/>
                <a:cs typeface="Verdana" panose="020B0604030504040204" pitchFamily="34" charset="0"/>
              </a:rPr>
              <a:t>I can solve mathematical and real-world problems involving dimensions and perimeters of geometric figures. </a:t>
            </a:r>
          </a:p>
        </p:txBody>
      </p:sp>
      <p:sp>
        <p:nvSpPr>
          <p:cNvPr id="1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223</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8"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pic>
        <p:nvPicPr>
          <p:cNvPr id="10"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11" name="Google Shape;313;g104476d1465_1_39"/>
          <p:cNvSpPr txBox="1">
            <a:spLocks/>
          </p:cNvSpPr>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Warm-Up</a:t>
            </a:r>
            <a:endParaRPr lang="en-US" sz="5100" b="1" dirty="0">
              <a:solidFill>
                <a:srgbClr val="3F2A67"/>
              </a:solidFill>
              <a:latin typeface="Verdana"/>
              <a:ea typeface="Verdana"/>
              <a:cs typeface="Verdana"/>
              <a:sym typeface="Verdana"/>
            </a:endParaRPr>
          </a:p>
        </p:txBody>
      </p:sp>
      <p:sp>
        <p:nvSpPr>
          <p:cNvPr id="12" name="Google Shape;155;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12" name="Group 11">
            <a:extLst>
              <a:ext uri="{FF2B5EF4-FFF2-40B4-BE49-F238E27FC236}">
                <a16:creationId xmlns:a16="http://schemas.microsoft.com/office/drawing/2014/main" xmlns="" id="{0B902ED8-D585-EC45-8D16-D460E41A8486}"/>
              </a:ext>
            </a:extLst>
          </p:cNvPr>
          <p:cNvGrpSpPr/>
          <p:nvPr/>
        </p:nvGrpSpPr>
        <p:grpSpPr>
          <a:xfrm>
            <a:off x="2703872" y="3307230"/>
            <a:ext cx="3648075" cy="2990850"/>
            <a:chOff x="762150" y="463225"/>
            <a:chExt cx="3629025" cy="2417323"/>
          </a:xfrm>
        </p:grpSpPr>
        <p:pic>
          <p:nvPicPr>
            <p:cNvPr id="14" name="Shape 4">
              <a:extLst>
                <a:ext uri="{FF2B5EF4-FFF2-40B4-BE49-F238E27FC236}">
                  <a16:creationId xmlns:a16="http://schemas.microsoft.com/office/drawing/2014/main" xmlns="" id="{A9F8EBD7-451D-1D4A-BF08-831AD16F912F}"/>
                </a:ext>
              </a:extLst>
            </p:cNvPr>
            <p:cNvPicPr preferRelativeResize="0"/>
            <p:nvPr/>
          </p:nvPicPr>
          <p:blipFill>
            <a:blip r:embed="rId3">
              <a:extLst>
                <a:ext uri="{28A0092B-C50C-407E-A947-70E740481C1C}">
                  <a14:useLocalDpi xmlns:a14="http://schemas.microsoft.com/office/drawing/2010/main"/>
                </a:ext>
              </a:extLst>
            </a:blip>
            <a:srcRect/>
            <a:stretch/>
          </p:blipFill>
          <p:spPr>
            <a:xfrm>
              <a:off x="762150" y="463225"/>
              <a:ext cx="3629025" cy="2417323"/>
            </a:xfrm>
            <a:prstGeom prst="rect">
              <a:avLst/>
            </a:prstGeom>
            <a:noFill/>
            <a:ln>
              <a:noFill/>
            </a:ln>
          </p:spPr>
        </p:pic>
      </p:grpSp>
      <p:pic>
        <p:nvPicPr>
          <p:cNvPr id="16" name="Picture 15" descr="Chart, radar chart&#10;&#10;Description automatically generated">
            <a:extLst>
              <a:ext uri="{FF2B5EF4-FFF2-40B4-BE49-F238E27FC236}">
                <a16:creationId xmlns:a16="http://schemas.microsoft.com/office/drawing/2014/main" xmlns="" id="{4B029180-CC71-8A48-8013-11558EE8A2CB}"/>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24539" t="16586" r="9203" b="7317"/>
          <a:stretch/>
        </p:blipFill>
        <p:spPr bwMode="auto">
          <a:xfrm rot="4199683">
            <a:off x="6955451" y="3555873"/>
            <a:ext cx="2664460" cy="2565400"/>
          </a:xfrm>
          <a:prstGeom prst="rect">
            <a:avLst/>
          </a:prstGeom>
          <a:ln>
            <a:noFill/>
          </a:ln>
          <a:extLst>
            <a:ext uri="{53640926-AAD7-44D8-BBD7-CCE9431645EC}">
              <a14:shadowObscured xmlns:a14="http://schemas.microsoft.com/office/drawing/2010/main"/>
            </a:ext>
          </a:extLst>
        </p:spPr>
      </p:pic>
      <p:sp>
        <p:nvSpPr>
          <p:cNvPr id="17" name="Google Shape;167;p4"/>
          <p:cNvSpPr txBox="1"/>
          <p:nvPr/>
        </p:nvSpPr>
        <p:spPr>
          <a:xfrm>
            <a:off x="1143000" y="182113"/>
            <a:ext cx="10515600" cy="1089489"/>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5.9.1 Warm-Up: </a:t>
            </a:r>
            <a:r>
              <a:rPr lang="en-US" sz="3600" b="1" dirty="0" smtClean="0">
                <a:solidFill>
                  <a:srgbClr val="3F2A67"/>
                </a:solidFill>
                <a:latin typeface="Verdana"/>
                <a:ea typeface="Verdana"/>
                <a:cs typeface="Verdana"/>
                <a:sym typeface="Verdana"/>
              </a:rPr>
              <a:t/>
            </a:r>
            <a:br>
              <a:rPr lang="en-US" sz="3600" b="1" dirty="0" smtClean="0">
                <a:solidFill>
                  <a:srgbClr val="3F2A67"/>
                </a:solidFill>
                <a:latin typeface="Verdana"/>
                <a:ea typeface="Verdana"/>
                <a:cs typeface="Verdana"/>
                <a:sym typeface="Verdana"/>
              </a:rPr>
            </a:br>
            <a:r>
              <a:rPr lang="en-US" sz="3600" b="1" dirty="0" smtClean="0">
                <a:solidFill>
                  <a:srgbClr val="3F2A67"/>
                </a:solidFill>
                <a:latin typeface="Verdana"/>
                <a:ea typeface="Verdana"/>
                <a:cs typeface="Verdana"/>
                <a:sym typeface="Verdana"/>
              </a:rPr>
              <a:t>Between </a:t>
            </a:r>
            <a:r>
              <a:rPr lang="en-US" sz="3600" b="1" dirty="0">
                <a:solidFill>
                  <a:srgbClr val="3F2A67"/>
                </a:solidFill>
                <a:latin typeface="Verdana"/>
                <a:ea typeface="Verdana"/>
                <a:cs typeface="Verdana"/>
                <a:sym typeface="Verdana"/>
              </a:rPr>
              <a:t>Two Numbers</a:t>
            </a:r>
            <a:endParaRPr lang="en-US" sz="3600" b="1" dirty="0">
              <a:solidFill>
                <a:srgbClr val="3F2A67"/>
              </a:solidFill>
              <a:latin typeface="Verdana"/>
              <a:ea typeface="Verdana"/>
              <a:cs typeface="Verdana"/>
              <a:sym typeface="Verdana"/>
            </a:endParaRPr>
          </a:p>
        </p:txBody>
      </p:sp>
      <p:pic>
        <p:nvPicPr>
          <p:cNvPr id="18" name="Google Shape;168;p4"/>
          <p:cNvPicPr preferRelativeResize="0"/>
          <p:nvPr/>
        </p:nvPicPr>
        <p:blipFill rotWithShape="1">
          <a:blip r:embed="rId5">
            <a:alphaModFix/>
          </a:blip>
          <a:srcRect/>
          <a:stretch/>
        </p:blipFill>
        <p:spPr>
          <a:xfrm>
            <a:off x="356616" y="353207"/>
            <a:ext cx="747300" cy="747300"/>
          </a:xfrm>
          <a:prstGeom prst="rect">
            <a:avLst/>
          </a:prstGeom>
          <a:noFill/>
          <a:ln>
            <a:noFill/>
          </a:ln>
          <a:effectLst>
            <a:outerShdw blurRad="50800" dist="38100" dir="2700000" algn="tl" rotWithShape="0">
              <a:srgbClr val="000000">
                <a:alpha val="40000"/>
              </a:srgbClr>
            </a:outerShdw>
          </a:effectLst>
        </p:spPr>
      </p:pic>
      <p:sp>
        <p:nvSpPr>
          <p:cNvPr id="23" name="Google Shape;176;p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24" name="Google Shape;170;p4"/>
              <p:cNvSpPr txBox="1"/>
              <p:nvPr/>
            </p:nvSpPr>
            <p:spPr>
              <a:xfrm>
                <a:off x="914400" y="1386025"/>
                <a:ext cx="10353675" cy="1569620"/>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Great Pyramid of Giza, the oldest of the Seven Wonders of the Ancient World, took about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27</m:t>
                    </m:r>
                  </m:oMath>
                </a14:m>
                <a:r>
                  <a:rPr lang="en-US" sz="2400" dirty="0">
                    <a:latin typeface="Verdana" panose="020B0604030504040204" pitchFamily="34" charset="0"/>
                    <a:ea typeface="Verdana" panose="020B0604030504040204" pitchFamily="34" charset="0"/>
                    <a:cs typeface="Verdana" panose="020B0604030504040204" pitchFamily="34" charset="0"/>
                  </a:rPr>
                  <a:t> years to build and was completed around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2560</m:t>
                    </m:r>
                  </m:oMath>
                </a14:m>
                <a:r>
                  <a:rPr lang="en-US" sz="2400" dirty="0">
                    <a:latin typeface="Verdana" panose="020B0604030504040204" pitchFamily="34" charset="0"/>
                    <a:ea typeface="Verdana" panose="020B0604030504040204" pitchFamily="34" charset="0"/>
                    <a:cs typeface="Verdana" panose="020B0604030504040204" pitchFamily="34" charset="0"/>
                  </a:rPr>
                  <a:t> B.C. It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146.7</m:t>
                    </m:r>
                  </m:oMath>
                </a14:m>
                <a:r>
                  <a:rPr lang="en-US" sz="2400" dirty="0">
                    <a:latin typeface="Verdana" panose="020B0604030504040204" pitchFamily="34" charset="0"/>
                    <a:ea typeface="Verdana" panose="020B0604030504040204" pitchFamily="34" charset="0"/>
                    <a:cs typeface="Verdana" panose="020B0604030504040204" pitchFamily="34" charset="0"/>
                  </a:rPr>
                  <a:t> meters (m) tall and has a volume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2,583,283</m:t>
                    </m:r>
                  </m:oMath>
                </a14:m>
                <a:r>
                  <a:rPr lang="en-US" sz="2400" dirty="0">
                    <a:latin typeface="Verdana" panose="020B0604030504040204" pitchFamily="34" charset="0"/>
                    <a:ea typeface="Verdana" panose="020B0604030504040204" pitchFamily="34" charset="0"/>
                    <a:cs typeface="Verdana" panose="020B0604030504040204" pitchFamily="34" charset="0"/>
                  </a:rPr>
                  <a:t> cubic meters (m</a:t>
                </a:r>
                <a:r>
                  <a:rPr lang="en-US" sz="2400" baseline="30000" dirty="0">
                    <a:latin typeface="Verdana" panose="020B0604030504040204" pitchFamily="34" charset="0"/>
                    <a:ea typeface="Verdana" panose="020B0604030504040204" pitchFamily="34" charset="0"/>
                    <a:cs typeface="Verdana" panose="020B0604030504040204" pitchFamily="34" charset="0"/>
                  </a:rPr>
                  <a:t>3</a:t>
                </a:r>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24" name="Google Shape;170;p4"/>
              <p:cNvSpPr txBox="1">
                <a:spLocks noRot="1" noChangeAspect="1" noMove="1" noResize="1" noEditPoints="1" noAdjustHandles="1" noChangeArrowheads="1" noChangeShapeType="1" noTextEdit="1"/>
              </p:cNvSpPr>
              <p:nvPr/>
            </p:nvSpPr>
            <p:spPr>
              <a:xfrm>
                <a:off x="914400" y="1386025"/>
                <a:ext cx="10353675" cy="1569620"/>
              </a:xfrm>
              <a:prstGeom prst="rect">
                <a:avLst/>
              </a:prstGeom>
              <a:blipFill rotWithShape="1">
                <a:blip r:embed="rId6"/>
                <a:stretch>
                  <a:fillRect l="-942" t="-3101" b="-7364"/>
                </a:stretch>
              </a:blipFill>
              <a:ln>
                <a:noFill/>
              </a:ln>
            </p:spPr>
            <p:txBody>
              <a:bodyPr/>
              <a:lstStyle/>
              <a:p>
                <a:r>
                  <a:rPr lang="en-US">
                    <a:noFill/>
                  </a:rPr>
                  <a:t> </a:t>
                </a:r>
              </a:p>
            </p:txBody>
          </p:sp>
        </mc:Fallback>
      </mc:AlternateContent>
      <p:sp>
        <p:nvSpPr>
          <p:cNvPr id="25"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26"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9" name="Rectangle 13">
            <a:extLst>
              <a:ext uri="{FF2B5EF4-FFF2-40B4-BE49-F238E27FC236}">
                <a16:creationId xmlns:a16="http://schemas.microsoft.com/office/drawing/2014/main" xmlns=""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xmlns=""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xmlns=""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xmlns=""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3" name="Group 2"/>
          <p:cNvGrpSpPr/>
          <p:nvPr/>
        </p:nvGrpSpPr>
        <p:grpSpPr>
          <a:xfrm>
            <a:off x="2754630" y="3962401"/>
            <a:ext cx="6835140" cy="1616674"/>
            <a:chOff x="2678430" y="4437511"/>
            <a:chExt cx="6835140" cy="1616674"/>
          </a:xfrm>
        </p:grpSpPr>
        <p:pic>
          <p:nvPicPr>
            <p:cNvPr id="10" name="image4.png" descr="Chart&#10;&#10;Description automatically generated">
              <a:extLst>
                <a:ext uri="{FF2B5EF4-FFF2-40B4-BE49-F238E27FC236}">
                  <a16:creationId xmlns:a16="http://schemas.microsoft.com/office/drawing/2014/main" xmlns="" id="{2E41462C-EFE0-8047-9DA6-FD84E98333A1}"/>
                </a:ext>
              </a:extLst>
            </p:cNvPr>
            <p:cNvPicPr/>
            <p:nvPr/>
          </p:nvPicPr>
          <p:blipFill>
            <a:blip r:embed="rId3" cstate="screen">
              <a:extLst>
                <a:ext uri="{28A0092B-C50C-407E-A947-70E740481C1C}">
                  <a14:useLocalDpi xmlns:a14="http://schemas.microsoft.com/office/drawing/2010/main"/>
                </a:ext>
              </a:extLst>
            </a:blip>
            <a:srcRect t="46060" b="42611"/>
            <a:stretch>
              <a:fillRect/>
            </a:stretch>
          </p:blipFill>
          <p:spPr>
            <a:xfrm>
              <a:off x="2678430" y="5547455"/>
              <a:ext cx="6835140" cy="506730"/>
            </a:xfrm>
            <a:prstGeom prst="rect">
              <a:avLst/>
            </a:prstGeom>
            <a:ln/>
          </p:spPr>
        </p:pic>
        <p:pic>
          <p:nvPicPr>
            <p:cNvPr id="4" name="Picture 3" descr="A group of yellow smiley faces&#10;&#10;Description automatically generated with medium confidence">
              <a:extLst>
                <a:ext uri="{FF2B5EF4-FFF2-40B4-BE49-F238E27FC236}">
                  <a16:creationId xmlns:a16="http://schemas.microsoft.com/office/drawing/2014/main" xmlns="" id="{2A8B9139-D30A-C349-B204-CDD4D2EF3D8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78430" y="4437511"/>
              <a:ext cx="6835140" cy="1023766"/>
            </a:xfrm>
            <a:prstGeom prst="rect">
              <a:avLst/>
            </a:prstGeom>
          </p:spPr>
        </p:pic>
      </p:grpSp>
      <mc:AlternateContent xmlns:mc="http://schemas.openxmlformats.org/markup-compatibility/2006">
        <mc:Choice xmlns:a14="http://schemas.microsoft.com/office/drawing/2010/main" Requires="a14">
          <p:sp>
            <p:nvSpPr>
              <p:cNvPr id="13" name="Google Shape;179;p5"/>
              <p:cNvSpPr txBox="1"/>
              <p:nvPr/>
            </p:nvSpPr>
            <p:spPr>
              <a:xfrm>
                <a:off x="914400" y="487736"/>
                <a:ext cx="10515600" cy="304694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To build a scale model of the Great Pyramid that is </a:t>
                </a:r>
                <a14:m>
                  <m:oMath xmlns:m="http://schemas.openxmlformats.org/officeDocument/2006/math">
                    <m:r>
                      <a:rPr lang="en-US" sz="2400" i="1" dirty="0" smtClean="0">
                        <a:latin typeface="Cambria Math"/>
                        <a:ea typeface="Verdana" panose="020B0604030504040204" pitchFamily="34" charset="0"/>
                        <a:cs typeface="Verdana" panose="020B0604030504040204" pitchFamily="34" charset="0"/>
                      </a:rPr>
                      <m:t>3000</m:t>
                    </m:r>
                  </m:oMath>
                </a14:m>
                <a:r>
                  <a:rPr lang="en-US" sz="2400" dirty="0">
                    <a:latin typeface="Verdana" panose="020B0604030504040204" pitchFamily="34" charset="0"/>
                    <a:ea typeface="Verdana" panose="020B0604030504040204" pitchFamily="34" charset="0"/>
                    <a:cs typeface="Verdana" panose="020B0604030504040204" pitchFamily="34" charset="0"/>
                  </a:rPr>
                  <a:t> times smaller than the original using regular </a:t>
                </a:r>
                <a14:m>
                  <m:oMath xmlns:m="http://schemas.openxmlformats.org/officeDocument/2006/math">
                    <m:r>
                      <a:rPr lang="en-US" sz="2400" i="1" dirty="0" smtClean="0">
                        <a:latin typeface="Cambria Math"/>
                        <a:ea typeface="Verdana" panose="020B0604030504040204" pitchFamily="34" charset="0"/>
                        <a:cs typeface="Verdana" panose="020B0604030504040204" pitchFamily="34" charset="0"/>
                      </a:rPr>
                      <m:t>8.5</m:t>
                    </m:r>
                  </m:oMath>
                </a14:m>
                <a:r>
                  <a:rPr lang="en-US" sz="2400" dirty="0">
                    <a:latin typeface="Verdana" panose="020B0604030504040204" pitchFamily="34" charset="0"/>
                    <a:ea typeface="Verdana" panose="020B0604030504040204" pitchFamily="34" charset="0"/>
                    <a:cs typeface="Verdana" panose="020B0604030504040204" pitchFamily="34" charset="0"/>
                  </a:rPr>
                  <a:t> by </a:t>
                </a:r>
                <a14:m>
                  <m:oMath xmlns:m="http://schemas.openxmlformats.org/officeDocument/2006/math">
                    <m:r>
                      <a:rPr lang="en-US" sz="2400" i="1" dirty="0" smtClean="0">
                        <a:latin typeface="Cambria Math"/>
                        <a:ea typeface="Verdana" panose="020B0604030504040204" pitchFamily="34" charset="0"/>
                        <a:cs typeface="Verdana" panose="020B0604030504040204" pitchFamily="34" charset="0"/>
                      </a:rPr>
                      <m:t>11</m:t>
                    </m:r>
                  </m:oMath>
                </a14:m>
                <a:r>
                  <a:rPr lang="en-US" sz="2400" dirty="0">
                    <a:latin typeface="Verdana" panose="020B0604030504040204" pitchFamily="34" charset="0"/>
                    <a:ea typeface="Verdana" panose="020B0604030504040204" pitchFamily="34" charset="0"/>
                    <a:cs typeface="Verdana" panose="020B0604030504040204" pitchFamily="34" charset="0"/>
                  </a:rPr>
                  <a:t> inches (in.) paper, what is a reasonable scale that could be used?</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Circle the number that best describes your confidence in your estimate.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3" name="Google Shape;179;p5"/>
              <p:cNvSpPr txBox="1">
                <a:spLocks noRot="1" noChangeAspect="1" noMove="1" noResize="1" noEditPoints="1" noAdjustHandles="1" noChangeArrowheads="1" noChangeShapeType="1" noTextEdit="1"/>
              </p:cNvSpPr>
              <p:nvPr/>
            </p:nvSpPr>
            <p:spPr>
              <a:xfrm>
                <a:off x="914400" y="487736"/>
                <a:ext cx="10515600" cy="3046948"/>
              </a:xfrm>
              <a:prstGeom prst="rect">
                <a:avLst/>
              </a:prstGeom>
              <a:blipFill rotWithShape="1">
                <a:blip r:embed="rId5"/>
                <a:stretch>
                  <a:fillRect l="-928" t="-1800" b="-3600"/>
                </a:stretch>
              </a:blipFill>
              <a:ln>
                <a:noFill/>
              </a:ln>
            </p:spPr>
            <p:txBody>
              <a:bodyPr/>
              <a:lstStyle/>
              <a:p>
                <a:r>
                  <a:rPr lang="en-US">
                    <a:noFill/>
                  </a:rPr>
                  <a:t> </a:t>
                </a:r>
              </a:p>
            </p:txBody>
          </p:sp>
        </mc:Fallback>
      </mc:AlternateContent>
      <p:sp>
        <p:nvSpPr>
          <p:cNvPr id="14" name="Google Shape;176;p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5091781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10" name="Google Shape;313;g104476d1465_1_39"/>
          <p:cNvSpPr txBox="1">
            <a:spLocks/>
          </p:cNvSpPr>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lnSpcReduction="100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54B5D1"/>
                </a:solidFill>
                <a:latin typeface="Verdana"/>
                <a:ea typeface="Verdana"/>
                <a:cs typeface="Verdana"/>
                <a:sym typeface="Verdana"/>
              </a:rPr>
              <a:t>Guided Practice</a:t>
            </a:r>
            <a:endParaRPr lang="en-US" sz="5100" b="1" dirty="0">
              <a:solidFill>
                <a:srgbClr val="54B5D1"/>
              </a:solidFill>
              <a:latin typeface="Verdana"/>
              <a:ea typeface="Verdana"/>
              <a:cs typeface="Verdana"/>
              <a:sym typeface="Verdana"/>
            </a:endParaRPr>
          </a:p>
        </p:txBody>
      </p:sp>
      <p:pic>
        <p:nvPicPr>
          <p:cNvPr id="11" name="Picture 2" descr="Icon&#10;&#10;Description automatically generated">
            <a:extLst>
              <a:ext uri="{FF2B5EF4-FFF2-40B4-BE49-F238E27FC236}">
                <a16:creationId xmlns="" xmlns:a16="http://schemas.microsoft.com/office/drawing/2014/main" id="{B02E8C6A-53AD-AA4E-A4ED-406F3B0E370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2" name="Google Shape;305;p18"/>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3"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2" name="Group 1"/>
          <p:cNvGrpSpPr/>
          <p:nvPr/>
        </p:nvGrpSpPr>
        <p:grpSpPr>
          <a:xfrm>
            <a:off x="3628029" y="3076017"/>
            <a:ext cx="5545542" cy="3425243"/>
            <a:chOff x="4002578" y="3032433"/>
            <a:chExt cx="5545542" cy="3425243"/>
          </a:xfrm>
        </p:grpSpPr>
        <p:pic>
          <p:nvPicPr>
            <p:cNvPr id="9" name="Picture 8" descr="Diagram&#10;&#10;Description automatically generated">
              <a:extLst>
                <a:ext uri="{FF2B5EF4-FFF2-40B4-BE49-F238E27FC236}">
                  <a16:creationId xmlns:a16="http://schemas.microsoft.com/office/drawing/2014/main" xmlns="" id="{3184451B-74F8-9641-BE33-913DD283DA87}"/>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a:ext>
              </a:extLst>
            </a:blip>
            <a:srcRect t="13964" r="10025" b="19445"/>
            <a:stretch/>
          </p:blipFill>
          <p:spPr bwMode="auto">
            <a:xfrm>
              <a:off x="4002578" y="3032433"/>
              <a:ext cx="4203700" cy="2764790"/>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Text Box 16">
                  <a:extLst>
                    <a:ext uri="{FF2B5EF4-FFF2-40B4-BE49-F238E27FC236}">
                      <a16:creationId xmlns:a16="http://schemas.microsoft.com/office/drawing/2014/main" xmlns="" id="{DE892D2D-B1BA-274C-B526-86BB44CE69AA}"/>
                    </a:ext>
                  </a:extLst>
                </p:cNvPr>
                <p:cNvSpPr txBox="1"/>
                <p:nvPr/>
              </p:nvSpPr>
              <p:spPr>
                <a:xfrm>
                  <a:off x="8310505" y="4051661"/>
                  <a:ext cx="1237615" cy="6242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m:t>
                      </m:r>
                      <m:f>
                        <m:fPr>
                          <m:ctrlPr>
                            <a:rPr lang="x-none" sz="1800" i="1">
                              <a:latin typeface="Cambria Math"/>
                              <a:ea typeface="Times New Roman" panose="02020603050405020304" pitchFamily="18" charset="0"/>
                              <a:cs typeface="Cambria" panose="02040503050406030204" pitchFamily="18" charset="0"/>
                            </a:rPr>
                          </m:ctrlPr>
                        </m:fPr>
                        <m:num>
                          <m:r>
                            <a:rPr lang="en-US" sz="1800" i="1">
                              <a:latin typeface="Cambria Math" panose="02040503050406030204" pitchFamily="18" charset="0"/>
                              <a:ea typeface="Times New Roman" panose="02020603050405020304" pitchFamily="18" charset="0"/>
                              <a:cs typeface="Cambria" panose="02040503050406030204" pitchFamily="18" charset="0"/>
                            </a:rPr>
                            <m:t>2</m:t>
                          </m:r>
                        </m:num>
                        <m:den>
                          <m:r>
                            <a:rPr lang="en-US" sz="1800" i="1">
                              <a:latin typeface="Cambria Math" panose="02040503050406030204" pitchFamily="18" charset="0"/>
                              <a:ea typeface="Times New Roman" panose="02020603050405020304" pitchFamily="18" charset="0"/>
                              <a:cs typeface="Cambria" panose="02040503050406030204" pitchFamily="18" charset="0"/>
                            </a:rPr>
                            <m:t>3</m:t>
                          </m:r>
                        </m:den>
                      </m:f>
                    </m:oMath>
                  </a14:m>
                  <a:r>
                    <a:rPr lang="en-US" sz="1800">
                      <a:latin typeface="Cambria" panose="02040503050406030204" pitchFamily="18" charset="0"/>
                      <a:ea typeface="Times New Roman" panose="02020603050405020304" pitchFamily="18" charset="0"/>
                      <a:cs typeface="Cambria" panose="02040503050406030204" pitchFamily="18" charset="0"/>
                    </a:rPr>
                    <a:t> inches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0" name="Text Box 16">
                  <a:extLst>
                    <a:ext uri="{FF2B5EF4-FFF2-40B4-BE49-F238E27FC236}">
                      <a16:creationId xmlns:a16="http://schemas.microsoft.com/office/drawing/2014/main" id="{DE892D2D-B1BA-274C-B526-86BB44CE69AA}"/>
                    </a:ext>
                  </a:extLst>
                </p:cNvPr>
                <p:cNvSpPr txBox="1">
                  <a:spLocks noRot="1" noChangeAspect="1" noMove="1" noResize="1" noEditPoints="1" noAdjustHandles="1" noChangeArrowheads="1" noChangeShapeType="1" noTextEdit="1"/>
                </p:cNvSpPr>
                <p:nvPr/>
              </p:nvSpPr>
              <p:spPr>
                <a:xfrm>
                  <a:off x="8310505" y="4051661"/>
                  <a:ext cx="1237615" cy="624205"/>
                </a:xfrm>
                <a:prstGeom prst="rect">
                  <a:avLst/>
                </a:prstGeom>
                <a:blipFill>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 Box 17">
                  <a:extLst>
                    <a:ext uri="{FF2B5EF4-FFF2-40B4-BE49-F238E27FC236}">
                      <a16:creationId xmlns:a16="http://schemas.microsoft.com/office/drawing/2014/main" xmlns="" id="{664F2805-C7EC-DD4D-9C85-0812AA2862A0}"/>
                    </a:ext>
                  </a:extLst>
                </p:cNvPr>
                <p:cNvSpPr txBox="1"/>
                <p:nvPr/>
              </p:nvSpPr>
              <p:spPr>
                <a:xfrm>
                  <a:off x="5511425" y="5833471"/>
                  <a:ext cx="1237615" cy="62420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m:t>
                      </m:r>
                    </m:oMath>
                  </a14:m>
                  <a:r>
                    <a:rPr lang="en-US" sz="1800">
                      <a:latin typeface="Cambria" panose="02040503050406030204" pitchFamily="18" charset="0"/>
                      <a:ea typeface="Times New Roman" panose="02020603050405020304" pitchFamily="18" charset="0"/>
                      <a:cs typeface="Cambria" panose="02040503050406030204" pitchFamily="18" charset="0"/>
                    </a:rPr>
                    <a:t> inches</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13" name="Text Box 17">
                  <a:extLst>
                    <a:ext uri="{FF2B5EF4-FFF2-40B4-BE49-F238E27FC236}">
                      <a16:creationId xmlns:a16="http://schemas.microsoft.com/office/drawing/2014/main" id="{664F2805-C7EC-DD4D-9C85-0812AA2862A0}"/>
                    </a:ext>
                  </a:extLst>
                </p:cNvPr>
                <p:cNvSpPr txBox="1">
                  <a:spLocks noRot="1" noChangeAspect="1" noMove="1" noResize="1" noEditPoints="1" noAdjustHandles="1" noChangeArrowheads="1" noChangeShapeType="1" noTextEdit="1"/>
                </p:cNvSpPr>
                <p:nvPr/>
              </p:nvSpPr>
              <p:spPr>
                <a:xfrm>
                  <a:off x="5511425" y="5833471"/>
                  <a:ext cx="1237615" cy="624205"/>
                </a:xfrm>
                <a:prstGeom prst="rect">
                  <a:avLst/>
                </a:prstGeom>
                <a:blipFill>
                  <a:blip r:embed="rId9"/>
                  <a:stretch>
                    <a:fillRect t="-6000"/>
                  </a:stretch>
                </a:blipFill>
                <a:ln w="6350">
                  <a:noFill/>
                </a:ln>
              </p:spPr>
              <p:txBody>
                <a:bodyPr/>
                <a:lstStyle/>
                <a:p>
                  <a:r>
                    <a:rPr lang="en-US">
                      <a:noFill/>
                    </a:rPr>
                    <a:t> </a:t>
                  </a:r>
                </a:p>
              </p:txBody>
            </p:sp>
          </mc:Fallback>
        </mc:AlternateContent>
      </p:grpSp>
      <p:sp>
        <p:nvSpPr>
          <p:cNvPr id="11" name="Google Shape;343;g103996e1364_0_321">
            <a:extLst>
              <a:ext uri="{FF2B5EF4-FFF2-40B4-BE49-F238E27FC236}">
                <a16:creationId xmlns="" xmlns:a16="http://schemas.microsoft.com/office/drawing/2014/main" id="{21B1DF8E-16A0-FA4E-8CEB-434668DFA68D}"/>
              </a:ext>
            </a:extLst>
          </p:cNvPr>
          <p:cNvSpPr txBox="1">
            <a:spLocks/>
          </p:cNvSpPr>
          <p:nvPr/>
        </p:nvSpPr>
        <p:spPr>
          <a:xfrm>
            <a:off x="1143000" y="307070"/>
            <a:ext cx="105156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5.9.2 Guided Practice: </a:t>
            </a:r>
            <a:r>
              <a:rPr lang="en-US" sz="3200" b="1" dirty="0" smtClean="0">
                <a:solidFill>
                  <a:srgbClr val="54B5D1"/>
                </a:solidFill>
                <a:latin typeface="Verdana"/>
                <a:ea typeface="Verdana"/>
                <a:cs typeface="Verdana"/>
                <a:sym typeface="Verdana"/>
              </a:rPr>
              <a:t>Scales </a:t>
            </a:r>
            <a:r>
              <a:rPr lang="en-US" sz="3200" b="1" dirty="0">
                <a:solidFill>
                  <a:srgbClr val="54B5D1"/>
                </a:solidFill>
                <a:latin typeface="Verdana"/>
                <a:ea typeface="Verdana"/>
                <a:cs typeface="Verdana"/>
                <a:sym typeface="Verdana"/>
              </a:rPr>
              <a:t>and Area</a:t>
            </a:r>
            <a:endParaRPr lang="en-US" sz="3200" b="1" dirty="0">
              <a:solidFill>
                <a:srgbClr val="54B5D1"/>
              </a:solidFill>
              <a:latin typeface="Verdana"/>
              <a:ea typeface="Verdana"/>
              <a:cs typeface="Verdana"/>
              <a:sym typeface="Verdana"/>
            </a:endParaRPr>
          </a:p>
        </p:txBody>
      </p:sp>
      <p:pic>
        <p:nvPicPr>
          <p:cNvPr id="14" name="image12.png" descr="Icon&#10;&#10;Description automatically generated">
            <a:extLst>
              <a:ext uri="{FF2B5EF4-FFF2-40B4-BE49-F238E27FC236}">
                <a16:creationId xmlns="" xmlns:a16="http://schemas.microsoft.com/office/drawing/2014/main" id="{C1A623A4-375D-1245-AB19-099EA111153D}"/>
              </a:ext>
            </a:extLst>
          </p:cNvPr>
          <p:cNvPicPr/>
          <p:nvPr/>
        </p:nvPicPr>
        <p:blipFill>
          <a:blip r:embed="rId10" cstate="screen">
            <a:extLst>
              <a:ext uri="{28A0092B-C50C-407E-A947-70E740481C1C}">
                <a14:useLocalDpi xmlns:a14="http://schemas.microsoft.com/office/drawing/2010/main"/>
              </a:ext>
            </a:extLst>
          </a:blip>
          <a:srcRect/>
          <a:stretch>
            <a:fillRect/>
          </a:stretch>
        </p:blipFill>
        <p:spPr>
          <a:xfrm>
            <a:off x="356616" y="201168"/>
            <a:ext cx="747299" cy="747299"/>
          </a:xfrm>
          <a:prstGeom prst="rect">
            <a:avLst/>
          </a:prstGeom>
          <a:ln/>
          <a:effectLst>
            <a:outerShdw blurRad="50800" dist="38100" dir="2700000" algn="tl" rotWithShape="0">
              <a:prstClr val="black">
                <a:alpha val="40000"/>
              </a:prstClr>
            </a:outerShdw>
          </a:effectLst>
        </p:spPr>
      </p:pic>
      <p:sp>
        <p:nvSpPr>
          <p:cNvPr id="15"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16" name="Google Shape;320;p19"/>
              <p:cNvSpPr txBox="1"/>
              <p:nvPr/>
            </p:nvSpPr>
            <p:spPr>
              <a:xfrm>
                <a:off x="914400" y="1244512"/>
                <a:ext cx="9867900" cy="1355139"/>
              </a:xfrm>
              <a:prstGeom prst="rect">
                <a:avLst/>
              </a:prstGeom>
              <a:noFill/>
              <a:ln>
                <a:noFill/>
              </a:ln>
            </p:spPr>
            <p:txBody>
              <a:bodyPr spcFirstLastPara="1" wrap="square" lIns="91425" tIns="45700" rIns="91425" bIns="45700" anchor="t" anchorCtr="0">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Vincent’s scale drawing of the basketball half-court he proposed to City Council is shown. The width is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f>
                      <m:fPr>
                        <m:ctrlPr>
                          <a:rPr lang="en-US" altLang="en-US" sz="2400" i="1" dirty="0">
                            <a:solidFill>
                              <a:schemeClr val="tx1"/>
                            </a:solidFill>
                            <a:latin typeface="Cambria Math"/>
                            <a:cs typeface="Times New Roman" panose="02020603050405020304" pitchFamily="18" charset="0"/>
                          </a:rPr>
                        </m:ctrlPr>
                      </m:fPr>
                      <m:num>
                        <m:r>
                          <a:rPr lang="es-ES" altLang="en-US" sz="2400" i="1" dirty="0">
                            <a:solidFill>
                              <a:schemeClr val="tx1"/>
                            </a:solidFill>
                            <a:latin typeface="Cambria Math" panose="02040503050406030204" pitchFamily="18" charset="0"/>
                            <a:cs typeface="Times New Roman" panose="02020603050405020304" pitchFamily="18" charset="0"/>
                          </a:rPr>
                          <m:t>2</m:t>
                        </m:r>
                      </m:num>
                      <m:den>
                        <m:r>
                          <a:rPr lang="es-ES" altLang="en-US" sz="2400" i="1" dirty="0">
                            <a:solidFill>
                              <a:schemeClr val="tx1"/>
                            </a:solidFill>
                            <a:latin typeface="Cambria Math" panose="02040503050406030204" pitchFamily="18" charset="0"/>
                            <a:cs typeface="Times New Roman" panose="02020603050405020304" pitchFamily="18" charset="0"/>
                          </a:rPr>
                          <m:t>3</m:t>
                        </m:r>
                      </m:den>
                    </m:f>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in. and the length is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in.</a:t>
                </a:r>
              </a:p>
            </p:txBody>
          </p:sp>
        </mc:Choice>
        <mc:Fallback>
          <p:sp>
            <p:nvSpPr>
              <p:cNvPr id="16" name="Google Shape;320;p19"/>
              <p:cNvSpPr txBox="1">
                <a:spLocks noRot="1" noChangeAspect="1" noMove="1" noResize="1" noEditPoints="1" noAdjustHandles="1" noChangeArrowheads="1" noChangeShapeType="1" noTextEdit="1"/>
              </p:cNvSpPr>
              <p:nvPr/>
            </p:nvSpPr>
            <p:spPr>
              <a:xfrm>
                <a:off x="914400" y="1244512"/>
                <a:ext cx="9867900" cy="1355139"/>
              </a:xfrm>
              <a:prstGeom prst="rect">
                <a:avLst/>
              </a:prstGeom>
              <a:blipFill rotWithShape="1">
                <a:blip r:embed="rId11"/>
                <a:stretch>
                  <a:fillRect l="-988" t="-3604" b="-9009"/>
                </a:stretch>
              </a:blipFill>
              <a:ln>
                <a:noFill/>
              </a:ln>
            </p:spPr>
            <p:txBody>
              <a:bodyPr/>
              <a:lstStyle/>
              <a:p>
                <a:r>
                  <a:rPr lang="en-US">
                    <a:noFill/>
                  </a:rPr>
                  <a:t> </a:t>
                </a:r>
              </a:p>
            </p:txBody>
          </p:sp>
        </mc:Fallback>
      </mc:AlternateContent>
      <p:sp>
        <p:nvSpPr>
          <p:cNvPr id="1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12"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224</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8"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9" name="Google Shape;179;p5"/>
              <p:cNvSpPr txBox="1"/>
              <p:nvPr/>
            </p:nvSpPr>
            <p:spPr>
              <a:xfrm>
                <a:off x="914400" y="487736"/>
                <a:ext cx="10515600" cy="2849458"/>
              </a:xfrm>
              <a:prstGeom prst="rect">
                <a:avLst/>
              </a:prstGeom>
              <a:noFill/>
              <a:ln>
                <a:noFill/>
              </a:ln>
            </p:spPr>
            <p:txBody>
              <a:bodyPr spcFirstLastPara="1" wrap="square" lIns="91425" tIns="45700" rIns="91425" bIns="45700" anchor="t" anchorCtr="0">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After reviewing Vincent’s work, the council agreed that using a scale of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15</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feet (ft) to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in. would be acceptable. The council will use the area of the court to calculate the cost of materials in square feet.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Use the scale </a:t>
                </a:r>
                <a14:m>
                  <m:oMath xmlns:m="http://schemas.openxmlformats.org/officeDocument/2006/math">
                    <m:f>
                      <m:fPr>
                        <m:ctrlPr>
                          <a:rPr lang="en-US" altLang="en-US" sz="2400" i="1">
                            <a:solidFill>
                              <a:schemeClr val="tx1"/>
                            </a:solidFill>
                            <a:latin typeface="Cambria Math"/>
                            <a:cs typeface="Times New Roman" panose="02020603050405020304" pitchFamily="18" charset="0"/>
                          </a:rPr>
                        </m:ctrlPr>
                      </m:fPr>
                      <m:num>
                        <m:r>
                          <a:rPr lang="es-ES" altLang="en-US" sz="2400">
                            <a:solidFill>
                              <a:schemeClr val="tx1"/>
                            </a:solidFill>
                            <a:latin typeface="Cambria Math" panose="02040503050406030204" pitchFamily="18" charset="0"/>
                            <a:cs typeface="Times New Roman" panose="02020603050405020304" pitchFamily="18" charset="0"/>
                          </a:rPr>
                          <m:t>15 </m:t>
                        </m:r>
                        <m:r>
                          <m:rPr>
                            <m:sty m:val="p"/>
                          </m:rPr>
                          <a:rPr lang="es-ES" altLang="en-US" sz="2400">
                            <a:solidFill>
                              <a:schemeClr val="tx1"/>
                            </a:solidFill>
                            <a:latin typeface="Cambria Math" panose="02040503050406030204" pitchFamily="18" charset="0"/>
                            <a:cs typeface="Times New Roman" panose="02020603050405020304" pitchFamily="18" charset="0"/>
                          </a:rPr>
                          <m:t>ft</m:t>
                        </m:r>
                      </m:num>
                      <m:den>
                        <m:r>
                          <a:rPr lang="es-ES" altLang="en-US" sz="2400">
                            <a:solidFill>
                              <a:schemeClr val="tx1"/>
                            </a:solidFill>
                            <a:latin typeface="Cambria Math" panose="02040503050406030204" pitchFamily="18" charset="0"/>
                            <a:cs typeface="Times New Roman" panose="02020603050405020304" pitchFamily="18" charset="0"/>
                          </a:rPr>
                          <m:t>1 </m:t>
                        </m:r>
                        <m:r>
                          <m:rPr>
                            <m:sty m:val="p"/>
                          </m:rPr>
                          <a:rPr lang="es-ES" altLang="en-US" sz="2400">
                            <a:solidFill>
                              <a:schemeClr val="tx1"/>
                            </a:solidFill>
                            <a:latin typeface="Cambria Math" panose="02040503050406030204" pitchFamily="18" charset="0"/>
                            <a:cs typeface="Times New Roman" panose="02020603050405020304" pitchFamily="18" charset="0"/>
                          </a:rPr>
                          <m:t>in</m:t>
                        </m:r>
                        <m:r>
                          <a:rPr lang="es-ES" altLang="en-US" sz="2400">
                            <a:solidFill>
                              <a:schemeClr val="tx1"/>
                            </a:solidFill>
                            <a:latin typeface="Cambria Math" panose="02040503050406030204" pitchFamily="18" charset="0"/>
                            <a:cs typeface="Times New Roman" panose="02020603050405020304" pitchFamily="18" charset="0"/>
                          </a:rPr>
                          <m:t>.</m:t>
                        </m:r>
                      </m:den>
                    </m:f>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and the drawing to determine the area of the actual basketball court. </a:t>
                </a:r>
              </a:p>
            </p:txBody>
          </p:sp>
        </mc:Choice>
        <mc:Fallback>
          <p:sp>
            <p:nvSpPr>
              <p:cNvPr id="9" name="Google Shape;179;p5"/>
              <p:cNvSpPr txBox="1">
                <a:spLocks noRot="1" noChangeAspect="1" noMove="1" noResize="1" noEditPoints="1" noAdjustHandles="1" noChangeArrowheads="1" noChangeShapeType="1" noTextEdit="1"/>
              </p:cNvSpPr>
              <p:nvPr/>
            </p:nvSpPr>
            <p:spPr>
              <a:xfrm>
                <a:off x="914400" y="487736"/>
                <a:ext cx="10515600" cy="2849458"/>
              </a:xfrm>
              <a:prstGeom prst="rect">
                <a:avLst/>
              </a:prstGeom>
              <a:blipFill rotWithShape="1">
                <a:blip r:embed="rId4"/>
                <a:stretch>
                  <a:fillRect l="-928" t="-1713" b="-4069"/>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212686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0D71B721-B5EA-0548-B683-4828A591B209}"/>
                  </a:ext>
                </a:extLst>
              </p:cNvPr>
              <p:cNvGraphicFramePr>
                <a:graphicFrameLocks noGrp="1"/>
              </p:cNvGraphicFramePr>
              <p:nvPr>
                <p:extLst>
                  <p:ext uri="{D42A27DB-BD31-4B8C-83A1-F6EECF244321}">
                    <p14:modId xmlns:p14="http://schemas.microsoft.com/office/powerpoint/2010/main" val="311878771"/>
                  </p:ext>
                </p:extLst>
              </p:nvPr>
            </p:nvGraphicFramePr>
            <p:xfrm>
              <a:off x="2939657" y="1822399"/>
              <a:ext cx="6312686" cy="4494953"/>
            </p:xfrm>
            <a:graphic>
              <a:graphicData uri="http://schemas.openxmlformats.org/drawingml/2006/table">
                <a:tbl>
                  <a:tblPr firstRow="1" firstCol="1" bandRow="1"/>
                  <a:tblGrid>
                    <a:gridCol w="3506333">
                      <a:extLst>
                        <a:ext uri="{9D8B030D-6E8A-4147-A177-3AD203B41FA5}">
                          <a16:colId xmlns:a16="http://schemas.microsoft.com/office/drawing/2014/main" xmlns="" val="140544753"/>
                        </a:ext>
                      </a:extLst>
                    </a:gridCol>
                    <a:gridCol w="2806353">
                      <a:extLst>
                        <a:ext uri="{9D8B030D-6E8A-4147-A177-3AD203B41FA5}">
                          <a16:colId xmlns:a16="http://schemas.microsoft.com/office/drawing/2014/main" xmlns="" val="1960648716"/>
                        </a:ext>
                      </a:extLst>
                    </a:gridCol>
                  </a:tblGrid>
                  <a:tr h="252624">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Suburban Apartment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City Apartment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655099719"/>
                      </a:ext>
                    </a:extLst>
                  </a:tr>
                  <a:tr h="588872">
                    <a:tc>
                      <a:txBody>
                        <a:bodyPr/>
                        <a:lstStyle/>
                        <a:p>
                          <a:pPr marL="342900" marR="0" indent="-34290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Scale: </a:t>
                          </a:r>
                          <a14:m>
                            <m:oMath xmlns:m="http://schemas.openxmlformats.org/officeDocument/2006/math">
                              <m:f>
                                <m:fPr>
                                  <m:ctrlPr>
                                    <a:rPr lang="x-none" sz="2000" b="1" i="1">
                                      <a:effectLst/>
                                      <a:latin typeface="Cambria Math"/>
                                      <a:ea typeface="Times New Roman" panose="02020603050405020304" pitchFamily="18" charset="0"/>
                                      <a:cs typeface="Cambria" panose="02040503050406030204" pitchFamily="18" charset="0"/>
                                    </a:rPr>
                                  </m:ctrlPr>
                                </m:fPr>
                                <m:num>
                                  <m:r>
                                    <a:rPr lang="en-US" sz="2000" b="1" i="1">
                                      <a:effectLst/>
                                      <a:latin typeface="Cambria Math" panose="02040503050406030204" pitchFamily="18" charset="0"/>
                                      <a:ea typeface="Times New Roman" panose="02020603050405020304" pitchFamily="18" charset="0"/>
                                      <a:cs typeface="Cambria" panose="02040503050406030204" pitchFamily="18" charset="0"/>
                                    </a:rPr>
                                    <m:t>𝟓</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𝟓</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 </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𝐟𝐞𝐞𝐭</m:t>
                                  </m:r>
                                </m:num>
                                <m:den>
                                  <m:r>
                                    <a:rPr lang="en-US" sz="2000" b="1" i="1">
                                      <a:effectLst/>
                                      <a:latin typeface="Cambria Math" panose="02040503050406030204" pitchFamily="18" charset="0"/>
                                      <a:ea typeface="Times New Roman" panose="02020603050405020304" pitchFamily="18" charset="0"/>
                                      <a:cs typeface="Cambria" panose="02040503050406030204" pitchFamily="18" charset="0"/>
                                    </a:rPr>
                                    <m:t>𝟏</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 </m:t>
                                  </m:r>
                                  <m:r>
                                    <m:rPr>
                                      <m:sty m:val="p"/>
                                    </m:rPr>
                                    <a:rPr lang="en-US" sz="2000">
                                      <a:effectLst/>
                                      <a:latin typeface="Cambria Math" panose="02040503050406030204" pitchFamily="18" charset="0"/>
                                      <a:ea typeface="Times New Roman" panose="02020603050405020304" pitchFamily="18" charset="0"/>
                                      <a:cs typeface="Cambria" panose="02040503050406030204" pitchFamily="18" charset="0"/>
                                    </a:rPr>
                                    <m:t>centimeter</m:t>
                                  </m:r>
                                </m:den>
                              </m:f>
                            </m:oMath>
                          </a14:m>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indent="-342900" algn="ctr">
                            <a:spcBef>
                              <a:spcPts val="0"/>
                            </a:spcBef>
                            <a:spcAft>
                              <a:spcPts val="0"/>
                            </a:spcAft>
                          </a:pPr>
                          <a:r>
                            <a:rPr lang="en-US" sz="2000" b="1">
                              <a:effectLst/>
                              <a:latin typeface="Verdana" panose="020B0604030504040204" pitchFamily="34" charset="0"/>
                              <a:ea typeface="Times New Roman" panose="02020603050405020304" pitchFamily="18" charset="0"/>
                              <a:cs typeface="Cambria" panose="02040503050406030204" pitchFamily="18" charset="0"/>
                            </a:rPr>
                            <a:t>Scale:</a:t>
                          </a:r>
                          <a:r>
                            <a:rPr lang="en-US" sz="2000" b="1">
                              <a:effectLst/>
                              <a:latin typeface="Cambria" panose="02040503050406030204" pitchFamily="18" charset="0"/>
                              <a:ea typeface="Times New Roman" panose="02020603050405020304" pitchFamily="18" charset="0"/>
                              <a:cs typeface="Cambria" panose="02040503050406030204" pitchFamily="18" charset="0"/>
                            </a:rPr>
                            <a:t>  </a:t>
                          </a:r>
                          <a14:m>
                            <m:oMath xmlns:m="http://schemas.openxmlformats.org/officeDocument/2006/math">
                              <m:f>
                                <m:fPr>
                                  <m:ctrlPr>
                                    <a:rPr lang="x-none" sz="2000" b="1" i="1">
                                      <a:effectLst/>
                                      <a:latin typeface="Cambria Math"/>
                                      <a:ea typeface="Times New Roman" panose="02020603050405020304" pitchFamily="18" charset="0"/>
                                      <a:cs typeface="Cambria" panose="02040503050406030204" pitchFamily="18" charset="0"/>
                                    </a:rPr>
                                  </m:ctrlPr>
                                </m:fPr>
                                <m:num>
                                  <m:r>
                                    <a:rPr lang="en-US" sz="2000" b="1" i="1">
                                      <a:effectLst/>
                                      <a:latin typeface="Cambria Math" panose="02040503050406030204" pitchFamily="18" charset="0"/>
                                      <a:ea typeface="Times New Roman" panose="02020603050405020304" pitchFamily="18" charset="0"/>
                                      <a:cs typeface="Cambria" panose="02040503050406030204" pitchFamily="18" charset="0"/>
                                    </a:rPr>
                                    <m:t>𝟒</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 </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𝐟𝐞𝐞𝐭</m:t>
                                  </m:r>
                                </m:num>
                                <m:den>
                                  <m:r>
                                    <a:rPr lang="en-US" sz="2000" b="1" i="1">
                                      <a:effectLst/>
                                      <a:latin typeface="Cambria Math" panose="02040503050406030204" pitchFamily="18" charset="0"/>
                                      <a:ea typeface="Times New Roman" panose="02020603050405020304" pitchFamily="18" charset="0"/>
                                      <a:cs typeface="Cambria" panose="02040503050406030204" pitchFamily="18" charset="0"/>
                                    </a:rPr>
                                    <m:t>𝟏</m:t>
                                  </m:r>
                                  <m:r>
                                    <a:rPr lang="en-US" sz="2000" b="1" i="1">
                                      <a:effectLst/>
                                      <a:latin typeface="Cambria Math" panose="02040503050406030204" pitchFamily="18" charset="0"/>
                                      <a:ea typeface="Times New Roman" panose="02020603050405020304" pitchFamily="18" charset="0"/>
                                      <a:cs typeface="Cambria" panose="02040503050406030204" pitchFamily="18" charset="0"/>
                                    </a:rPr>
                                    <m:t> </m:t>
                                  </m:r>
                                  <m:r>
                                    <m:rPr>
                                      <m:sty m:val="p"/>
                                    </m:rPr>
                                    <a:rPr lang="en-US" sz="2000">
                                      <a:effectLst/>
                                      <a:latin typeface="Cambria Math" panose="02040503050406030204" pitchFamily="18" charset="0"/>
                                      <a:ea typeface="Times New Roman" panose="02020603050405020304" pitchFamily="18" charset="0"/>
                                      <a:cs typeface="Cambria" panose="02040503050406030204" pitchFamily="18" charset="0"/>
                                    </a:rPr>
                                    <m:t>centimeter</m:t>
                                  </m:r>
                                </m:den>
                              </m:f>
                            </m:oMath>
                          </a14:m>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0081176"/>
                      </a:ext>
                    </a:extLst>
                  </a:tr>
                  <a:tr h="3509841">
                    <a:tc>
                      <a:txBody>
                        <a:bodyPr/>
                        <a:lstStyle/>
                        <a:p>
                          <a:pPr marL="342900" marR="0" indent="-34290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indent="-34290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 </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517593989"/>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0D71B721-B5EA-0548-B683-4828A591B209}"/>
                  </a:ext>
                </a:extLst>
              </p:cNvPr>
              <p:cNvGraphicFramePr>
                <a:graphicFrameLocks noGrp="1"/>
              </p:cNvGraphicFramePr>
              <p:nvPr>
                <p:extLst>
                  <p:ext uri="{D42A27DB-BD31-4B8C-83A1-F6EECF244321}">
                    <p14:modId xmlns:p14="http://schemas.microsoft.com/office/powerpoint/2010/main" val="311878771"/>
                  </p:ext>
                </p:extLst>
              </p:nvPr>
            </p:nvGraphicFramePr>
            <p:xfrm>
              <a:off x="2939657" y="1822399"/>
              <a:ext cx="6312686" cy="4494953"/>
            </p:xfrm>
            <a:graphic>
              <a:graphicData uri="http://schemas.openxmlformats.org/drawingml/2006/table">
                <a:tbl>
                  <a:tblPr firstRow="1" firstCol="1" bandRow="1"/>
                  <a:tblGrid>
                    <a:gridCol w="3506333">
                      <a:extLst>
                        <a:ext uri="{9D8B030D-6E8A-4147-A177-3AD203B41FA5}">
                          <a16:colId xmlns:a16="http://schemas.microsoft.com/office/drawing/2014/main" xmlns:a14="http://schemas.microsoft.com/office/drawing/2010/main" xmlns="" val="140544753"/>
                        </a:ext>
                      </a:extLst>
                    </a:gridCol>
                    <a:gridCol w="2806353">
                      <a:extLst>
                        <a:ext uri="{9D8B030D-6E8A-4147-A177-3AD203B41FA5}">
                          <a16:colId xmlns:a16="http://schemas.microsoft.com/office/drawing/2014/main" xmlns:a14="http://schemas.microsoft.com/office/drawing/2010/main" xmlns="" val="1960648716"/>
                        </a:ext>
                      </a:extLst>
                    </a:gridCol>
                  </a:tblGrid>
                  <a:tr h="396240">
                    <a:tc>
                      <a:txBody>
                        <a:bodyPr/>
                        <a:lstStyle/>
                        <a:p>
                          <a:pPr marL="0" marR="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Suburban Apartment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City Apartment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655099719"/>
                      </a:ext>
                    </a:extLst>
                  </a:tr>
                  <a:tr h="588872">
                    <a:tc>
                      <a:txBody>
                        <a:bodyPr/>
                        <a:lstStyle/>
                        <a:p>
                          <a:endParaRPr lang="en-US"/>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72165" r="-80174" b="-593814"/>
                          </a:stretch>
                        </a:blipFill>
                      </a:tcPr>
                    </a:tc>
                    <a:tc>
                      <a:txBody>
                        <a:bodyPr/>
                        <a:lstStyle/>
                        <a:p>
                          <a:endParaRPr lang="en-US"/>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4729" t="-72165" b="-593814"/>
                          </a:stretch>
                        </a:blipFill>
                      </a:tcPr>
                    </a:tc>
                    <a:extLst>
                      <a:ext uri="{0D108BD9-81ED-4DB2-BD59-A6C34878D82A}">
                        <a16:rowId xmlns:a16="http://schemas.microsoft.com/office/drawing/2014/main" xmlns:a14="http://schemas.microsoft.com/office/drawing/2010/main" xmlns="" val="220081176"/>
                      </a:ext>
                    </a:extLst>
                  </a:tr>
                  <a:tr h="3509841">
                    <a:tc>
                      <a:txBody>
                        <a:bodyPr/>
                        <a:lstStyle/>
                        <a:p>
                          <a:pPr marL="342900" marR="0" indent="-34290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342900" marR="0" indent="-342900" algn="ctr">
                            <a:spcBef>
                              <a:spcPts val="0"/>
                            </a:spcBef>
                            <a:spcAft>
                              <a:spcPts val="0"/>
                            </a:spcAft>
                          </a:pPr>
                          <a:r>
                            <a:rPr lang="en-US" sz="2000" b="1" dirty="0">
                              <a:effectLst/>
                              <a:latin typeface="Verdana" panose="020B0604030504040204" pitchFamily="34" charset="0"/>
                              <a:ea typeface="Times New Roman" panose="02020603050405020304" pitchFamily="18" charset="0"/>
                              <a:cs typeface="Cambria" panose="02040503050406030204" pitchFamily="18" charset="0"/>
                            </a:rPr>
                            <a:t> </a:t>
                          </a:r>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63156" marR="63156"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2517593989"/>
                      </a:ext>
                    </a:extLst>
                  </a:tr>
                </a:tbl>
              </a:graphicData>
            </a:graphic>
          </p:graphicFrame>
        </mc:Fallback>
      </mc:AlternateContent>
      <p:pic>
        <p:nvPicPr>
          <p:cNvPr id="8" name="Picture 7" descr="A picture containing text, crossword puzzle, receipt&#10;&#10;Description automatically generated">
            <a:extLst>
              <a:ext uri="{FF2B5EF4-FFF2-40B4-BE49-F238E27FC236}">
                <a16:creationId xmlns:a16="http://schemas.microsoft.com/office/drawing/2014/main" xmlns="" id="{FF59CEE1-2B0B-D34D-B2EB-FA133750B06F}"/>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21544" y="3016155"/>
            <a:ext cx="3354655" cy="2835067"/>
          </a:xfrm>
          <a:prstGeom prst="rect">
            <a:avLst/>
          </a:prstGeom>
        </p:spPr>
      </p:pic>
      <p:pic>
        <p:nvPicPr>
          <p:cNvPr id="9" name="Picture 8" descr="Chart&#10;&#10;Description automatically generated with medium confidence">
            <a:extLst>
              <a:ext uri="{FF2B5EF4-FFF2-40B4-BE49-F238E27FC236}">
                <a16:creationId xmlns:a16="http://schemas.microsoft.com/office/drawing/2014/main" xmlns="" id="{C9EDE4A7-301E-5C4E-BF65-794EF462540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534573" y="2971917"/>
            <a:ext cx="2635885" cy="3228340"/>
          </a:xfrm>
          <a:prstGeom prst="rect">
            <a:avLst/>
          </a:prstGeom>
        </p:spPr>
      </p:pic>
      <mc:AlternateContent xmlns:mc="http://schemas.openxmlformats.org/markup-compatibility/2006">
        <mc:Choice xmlns:a14="http://schemas.microsoft.com/office/drawing/2010/main" Requires="a14">
          <p:sp>
            <p:nvSpPr>
              <p:cNvPr id="10" name="Google Shape;179;p5"/>
              <p:cNvSpPr txBox="1"/>
              <p:nvPr/>
            </p:nvSpPr>
            <p:spPr>
              <a:xfrm>
                <a:off x="914400" y="487736"/>
                <a:ext cx="10515600" cy="830956"/>
              </a:xfrm>
              <a:prstGeom prst="rect">
                <a:avLst/>
              </a:prstGeom>
              <a:noFill/>
              <a:ln>
                <a:noFill/>
              </a:ln>
            </p:spPr>
            <p:txBody>
              <a:bodyPr spcFirstLastPara="1" wrap="square" lIns="91425" tIns="45700" rIns="91425" bIns="45700" anchor="t" anchorCtr="0">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 models of two apartments are shown with the scales used to create them. Each gridline represents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centimeter (cm). </a:t>
                </a:r>
              </a:p>
            </p:txBody>
          </p:sp>
        </mc:Choice>
        <mc:Fallback>
          <p:sp>
            <p:nvSpPr>
              <p:cNvPr id="10" name="Google Shape;179;p5"/>
              <p:cNvSpPr txBox="1">
                <a:spLocks noRot="1" noChangeAspect="1" noMove="1" noResize="1" noEditPoints="1" noAdjustHandles="1" noChangeArrowheads="1" noChangeShapeType="1" noTextEdit="1"/>
              </p:cNvSpPr>
              <p:nvPr/>
            </p:nvSpPr>
            <p:spPr>
              <a:xfrm>
                <a:off x="914400" y="487736"/>
                <a:ext cx="10515600" cy="830956"/>
              </a:xfrm>
              <a:prstGeom prst="rect">
                <a:avLst/>
              </a:prstGeom>
              <a:blipFill rotWithShape="1">
                <a:blip r:embed="rId6"/>
                <a:stretch>
                  <a:fillRect l="-928" t="-5882" b="-15441"/>
                </a:stretch>
              </a:blipFill>
              <a:ln>
                <a:noFill/>
              </a:ln>
            </p:spPr>
            <p:txBody>
              <a:bodyPr/>
              <a:lstStyle/>
              <a:p>
                <a:r>
                  <a:rPr lang="en-US">
                    <a:noFill/>
                  </a:rPr>
                  <a:t> </a:t>
                </a:r>
              </a:p>
            </p:txBody>
          </p:sp>
        </mc:Fallback>
      </mc:AlternateContent>
      <p:sp>
        <p:nvSpPr>
          <p:cNvPr id="11"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3"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839402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xmlns="" id="{A51CDD0C-EED8-6444-8D89-EEAF30FAA867}"/>
                  </a:ext>
                </a:extLst>
              </p:cNvPr>
              <p:cNvGraphicFramePr>
                <a:graphicFrameLocks noGrp="1"/>
              </p:cNvGraphicFramePr>
              <p:nvPr>
                <p:extLst>
                  <p:ext uri="{D42A27DB-BD31-4B8C-83A1-F6EECF244321}">
                    <p14:modId xmlns:p14="http://schemas.microsoft.com/office/powerpoint/2010/main" val="604357946"/>
                  </p:ext>
                </p:extLst>
              </p:nvPr>
            </p:nvGraphicFramePr>
            <p:xfrm>
              <a:off x="3352800" y="1596886"/>
              <a:ext cx="5486400" cy="2286000"/>
            </p:xfrm>
            <a:graphic>
              <a:graphicData uri="http://schemas.openxmlformats.org/drawingml/2006/table">
                <a:tbl>
                  <a:tblPr firstRow="1" firstCol="1" bandRow="1"/>
                  <a:tblGrid>
                    <a:gridCol w="1371600">
                      <a:extLst>
                        <a:ext uri="{9D8B030D-6E8A-4147-A177-3AD203B41FA5}">
                          <a16:colId xmlns:a16="http://schemas.microsoft.com/office/drawing/2014/main" xmlns="" val="1045041558"/>
                        </a:ext>
                      </a:extLst>
                    </a:gridCol>
                    <a:gridCol w="1371600">
                      <a:extLst>
                        <a:ext uri="{9D8B030D-6E8A-4147-A177-3AD203B41FA5}">
                          <a16:colId xmlns:a16="http://schemas.microsoft.com/office/drawing/2014/main" xmlns="" val="3461999926"/>
                        </a:ext>
                      </a:extLst>
                    </a:gridCol>
                    <a:gridCol w="1371600">
                      <a:extLst>
                        <a:ext uri="{9D8B030D-6E8A-4147-A177-3AD203B41FA5}">
                          <a16:colId xmlns:a16="http://schemas.microsoft.com/office/drawing/2014/main" xmlns="" val="2154444079"/>
                        </a:ext>
                      </a:extLst>
                    </a:gridCol>
                    <a:gridCol w="1371600">
                      <a:extLst>
                        <a:ext uri="{9D8B030D-6E8A-4147-A177-3AD203B41FA5}">
                          <a16:colId xmlns:a16="http://schemas.microsoft.com/office/drawing/2014/main" xmlns="" val="2145457834"/>
                        </a:ext>
                      </a:extLst>
                    </a:gridCol>
                  </a:tblGrid>
                  <a:tr h="457200">
                    <a:tc gridSpan="4">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Suburban Apartment</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 val="3765529791"/>
                      </a:ext>
                    </a:extLst>
                  </a:tr>
                  <a:tr h="457200">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Scale</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Length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indent="0" algn="ctr">
                            <a:lnSpc>
                              <a:spcPct val="105000"/>
                            </a:lnSpc>
                            <a:spcBef>
                              <a:spcPts val="0"/>
                            </a:spcBef>
                            <a:spcAft>
                              <a:spcPts val="0"/>
                            </a:spcAft>
                            <a:tabLst>
                              <a:tab pos="255905" algn="l"/>
                              <a:tab pos="457200" algn="l"/>
                            </a:tabLst>
                          </a:pPr>
                          <a:r>
                            <a:rPr lang="en-US" sz="2000" b="1">
                              <a:solidFill>
                                <a:srgbClr val="231F20"/>
                              </a:solidFill>
                              <a:effectLst/>
                              <a:latin typeface="Verdana" panose="020B0604030504040204" pitchFamily="34" charset="0"/>
                              <a:ea typeface="Myriad Pro"/>
                              <a:cs typeface="Myriad Pro"/>
                            </a:rPr>
                            <a:t>Width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indent="0" algn="ctr">
                            <a:lnSpc>
                              <a:spcPct val="105000"/>
                            </a:lnSpc>
                            <a:spcBef>
                              <a:spcPts val="0"/>
                            </a:spcBef>
                            <a:spcAft>
                              <a:spcPts val="0"/>
                            </a:spcAft>
                            <a:tabLst>
                              <a:tab pos="255905" algn="l"/>
                              <a:tab pos="457200" algn="l"/>
                            </a:tabLst>
                          </a:pPr>
                          <a:r>
                            <a:rPr lang="en-US" sz="2000" b="1">
                              <a:solidFill>
                                <a:srgbClr val="231F20"/>
                              </a:solidFill>
                              <a:effectLst/>
                              <a:latin typeface="Verdana" panose="020B0604030504040204" pitchFamily="34" charset="0"/>
                              <a:ea typeface="Myriad Pro"/>
                              <a:cs typeface="Myriad Pro"/>
                            </a:rPr>
                            <a:t>Area</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444109576"/>
                      </a:ext>
                    </a:extLst>
                  </a:tr>
                  <a:tr h="457200">
                    <a:tc>
                      <a:txBody>
                        <a:bodyPr/>
                        <a:lstStyle/>
                        <a:p>
                          <a:pPr marL="0" marR="0" indent="0" algn="ctr">
                            <a:lnSpc>
                              <a:spcPct val="105000"/>
                            </a:lnSpc>
                            <a:spcBef>
                              <a:spcPts val="0"/>
                            </a:spcBef>
                            <a:spcAft>
                              <a:spcPts val="0"/>
                            </a:spcAft>
                            <a:tabLst>
                              <a:tab pos="255905" algn="l"/>
                              <a:tab pos="457200" algn="l"/>
                            </a:tabLst>
                          </a:pPr>
                          <a:r>
                            <a:rPr lang="en-US" sz="2000">
                              <a:solidFill>
                                <a:srgbClr val="231F20"/>
                              </a:solidFill>
                              <a:effectLst/>
                              <a:latin typeface="Cambria Math" panose="02040503050406030204" pitchFamily="18" charset="0"/>
                              <a:ea typeface="Myriad Pro"/>
                              <a:cs typeface="Myriad Pro"/>
                            </a:rPr>
                            <a:t>1</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a:solidFill>
                                <a:srgbClr val="231F20"/>
                              </a:solidFill>
                              <a:effectLst/>
                              <a:latin typeface="Cambria Math" panose="02040503050406030204" pitchFamily="18" charset="0"/>
                              <a:ea typeface="Myriad Pro"/>
                              <a:cs typeface="Myriad Pro"/>
                            </a:rPr>
                            <a:t>9 </a:t>
                          </a:r>
                          <a:r>
                            <a:rPr lang="en-US" sz="2000">
                              <a:solidFill>
                                <a:srgbClr val="231F20"/>
                              </a:solidFill>
                              <a:effectLst/>
                              <a:latin typeface="Verdana" panose="020B0604030504040204" pitchFamily="34" charset="0"/>
                              <a:ea typeface="Myriad Pro"/>
                              <a:cs typeface="Myriad Pro"/>
                            </a:rPr>
                            <a:t>cm</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cm</a:t>
                          </a:r>
                          <a:r>
                            <a:rPr lang="en-US" sz="2000" baseline="30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148334684"/>
                      </a:ext>
                    </a:extLst>
                  </a:tr>
                  <a:tr h="914400">
                    <a:tc>
                      <a:txBody>
                        <a:bodyPr/>
                        <a:lstStyle/>
                        <a:p>
                          <a:pPr marL="0" marR="0" indent="0" algn="ctr">
                            <a:lnSpc>
                              <a:spcPct val="105000"/>
                            </a:lnSpc>
                            <a:spcBef>
                              <a:spcPts val="0"/>
                            </a:spcBef>
                            <a:spcAft>
                              <a:spcPts val="0"/>
                            </a:spcAft>
                            <a:tabLst>
                              <a:tab pos="255905" algn="l"/>
                              <a:tab pos="457200" algn="l"/>
                            </a:tabLst>
                          </a:pPr>
                          <a14:m>
                            <m:oMathPara xmlns:m="http://schemas.openxmlformats.org/officeDocument/2006/math">
                              <m:oMathParaPr>
                                <m:jc m:val="centerGroup"/>
                              </m:oMathParaPr>
                              <m:oMath xmlns:m="http://schemas.openxmlformats.org/officeDocument/2006/math">
                                <m:f>
                                  <m:fPr>
                                    <m:ctrlPr>
                                      <a:rPr lang="x-none" sz="2000" i="1">
                                        <a:solidFill>
                                          <a:srgbClr val="231F20"/>
                                        </a:solidFill>
                                        <a:effectLst/>
                                        <a:latin typeface="Cambria Math"/>
                                        <a:ea typeface="Times New Roman" panose="02020603050405020304" pitchFamily="18" charset="0"/>
                                        <a:cs typeface="Cambria" panose="02040503050406030204" pitchFamily="18" charset="0"/>
                                      </a:rPr>
                                    </m:ctrlPr>
                                  </m:fPr>
                                  <m:num>
                                    <m:r>
                                      <a:rPr lang="en-US" sz="2000">
                                        <a:solidFill>
                                          <a:srgbClr val="231F20"/>
                                        </a:solidFill>
                                        <a:effectLst/>
                                        <a:latin typeface="Cambria Math" panose="02040503050406030204" pitchFamily="18" charset="0"/>
                                        <a:ea typeface="Myriad Pro"/>
                                        <a:cs typeface="Myriad Pro"/>
                                      </a:rPr>
                                      <m:t>5.5 </m:t>
                                    </m:r>
                                    <m:r>
                                      <m:rPr>
                                        <m:sty m:val="p"/>
                                      </m:rPr>
                                      <a:rPr lang="en-US" sz="2000">
                                        <a:solidFill>
                                          <a:srgbClr val="231F20"/>
                                        </a:solidFill>
                                        <a:effectLst/>
                                        <a:latin typeface="Cambria Math" panose="02040503050406030204" pitchFamily="18" charset="0"/>
                                        <a:ea typeface="Myriad Pro"/>
                                        <a:cs typeface="Myriad Pro"/>
                                      </a:rPr>
                                      <m:t>ft</m:t>
                                    </m:r>
                                  </m:num>
                                  <m:den>
                                    <m:r>
                                      <a:rPr lang="en-US" sz="2000">
                                        <a:solidFill>
                                          <a:srgbClr val="231F20"/>
                                        </a:solidFill>
                                        <a:effectLst/>
                                        <a:latin typeface="Cambria Math" panose="02040503050406030204" pitchFamily="18" charset="0"/>
                                        <a:ea typeface="Myriad Pro"/>
                                        <a:cs typeface="Myriad Pro"/>
                                      </a:rPr>
                                      <m:t>1 </m:t>
                                    </m:r>
                                    <m:r>
                                      <m:rPr>
                                        <m:sty m:val="p"/>
                                      </m:rPr>
                                      <a:rPr lang="en-US" sz="2000">
                                        <a:solidFill>
                                          <a:srgbClr val="231F20"/>
                                        </a:solidFill>
                                        <a:effectLst/>
                                        <a:latin typeface="Cambria Math" panose="02040503050406030204" pitchFamily="18" charset="0"/>
                                        <a:ea typeface="Myriad Pro"/>
                                        <a:cs typeface="Myriad Pro"/>
                                      </a:rPr>
                                      <m:t>cm</m:t>
                                    </m:r>
                                  </m:den>
                                </m:f>
                              </m:oMath>
                            </m:oMathPara>
                          </a14:m>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ft</a:t>
                          </a:r>
                          <a:r>
                            <a:rPr lang="en-US" sz="2000" baseline="30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dirty="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603448151"/>
                      </a:ext>
                    </a:extLst>
                  </a:tr>
                </a:tbl>
              </a:graphicData>
            </a:graphic>
          </p:graphicFrame>
        </mc:Choice>
        <mc:Fallback>
          <p:graphicFrame>
            <p:nvGraphicFramePr>
              <p:cNvPr id="3" name="Table 2">
                <a:extLst>
                  <a:ext uri="{FF2B5EF4-FFF2-40B4-BE49-F238E27FC236}">
                    <a16:creationId xmlns:a16="http://schemas.microsoft.com/office/drawing/2014/main" xmlns:a14="http://schemas.microsoft.com/office/drawing/2010/main" xmlns="" id="{A51CDD0C-EED8-6444-8D89-EEAF30FAA867}"/>
                  </a:ext>
                </a:extLst>
              </p:cNvPr>
              <p:cNvGraphicFramePr>
                <a:graphicFrameLocks noGrp="1"/>
              </p:cNvGraphicFramePr>
              <p:nvPr>
                <p:extLst>
                  <p:ext uri="{D42A27DB-BD31-4B8C-83A1-F6EECF244321}">
                    <p14:modId xmlns:p14="http://schemas.microsoft.com/office/powerpoint/2010/main" val="604357946"/>
                  </p:ext>
                </p:extLst>
              </p:nvPr>
            </p:nvGraphicFramePr>
            <p:xfrm>
              <a:off x="3352800" y="1596886"/>
              <a:ext cx="5486400" cy="2286000"/>
            </p:xfrm>
            <a:graphic>
              <a:graphicData uri="http://schemas.openxmlformats.org/drawingml/2006/table">
                <a:tbl>
                  <a:tblPr firstRow="1" firstCol="1" bandRow="1"/>
                  <a:tblGrid>
                    <a:gridCol w="1371600">
                      <a:extLst>
                        <a:ext uri="{9D8B030D-6E8A-4147-A177-3AD203B41FA5}">
                          <a16:colId xmlns:a16="http://schemas.microsoft.com/office/drawing/2014/main" xmlns:a14="http://schemas.microsoft.com/office/drawing/2010/main" xmlns="" val="1045041558"/>
                        </a:ext>
                      </a:extLst>
                    </a:gridCol>
                    <a:gridCol w="1371600">
                      <a:extLst>
                        <a:ext uri="{9D8B030D-6E8A-4147-A177-3AD203B41FA5}">
                          <a16:colId xmlns:a16="http://schemas.microsoft.com/office/drawing/2014/main" xmlns:a14="http://schemas.microsoft.com/office/drawing/2010/main" xmlns="" val="3461999926"/>
                        </a:ext>
                      </a:extLst>
                    </a:gridCol>
                    <a:gridCol w="1371600">
                      <a:extLst>
                        <a:ext uri="{9D8B030D-6E8A-4147-A177-3AD203B41FA5}">
                          <a16:colId xmlns:a16="http://schemas.microsoft.com/office/drawing/2014/main" xmlns:a14="http://schemas.microsoft.com/office/drawing/2010/main" xmlns="" val="2154444079"/>
                        </a:ext>
                      </a:extLst>
                    </a:gridCol>
                    <a:gridCol w="1371600">
                      <a:extLst>
                        <a:ext uri="{9D8B030D-6E8A-4147-A177-3AD203B41FA5}">
                          <a16:colId xmlns:a16="http://schemas.microsoft.com/office/drawing/2014/main" xmlns:a14="http://schemas.microsoft.com/office/drawing/2010/main" xmlns="" val="2145457834"/>
                        </a:ext>
                      </a:extLst>
                    </a:gridCol>
                  </a:tblGrid>
                  <a:tr h="457200">
                    <a:tc gridSpan="4">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Suburban Apartment</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a14="http://schemas.microsoft.com/office/drawing/2010/main" xmlns="" val="3765529791"/>
                      </a:ext>
                    </a:extLst>
                  </a:tr>
                  <a:tr h="457200">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Scale</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Length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indent="0" algn="ctr">
                            <a:lnSpc>
                              <a:spcPct val="105000"/>
                            </a:lnSpc>
                            <a:spcBef>
                              <a:spcPts val="0"/>
                            </a:spcBef>
                            <a:spcAft>
                              <a:spcPts val="0"/>
                            </a:spcAft>
                            <a:tabLst>
                              <a:tab pos="255905" algn="l"/>
                              <a:tab pos="457200" algn="l"/>
                            </a:tabLst>
                          </a:pPr>
                          <a:r>
                            <a:rPr lang="en-US" sz="2000" b="1">
                              <a:solidFill>
                                <a:srgbClr val="231F20"/>
                              </a:solidFill>
                              <a:effectLst/>
                              <a:latin typeface="Verdana" panose="020B0604030504040204" pitchFamily="34" charset="0"/>
                              <a:ea typeface="Myriad Pro"/>
                              <a:cs typeface="Myriad Pro"/>
                            </a:rPr>
                            <a:t>Width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indent="0" algn="ctr">
                            <a:lnSpc>
                              <a:spcPct val="105000"/>
                            </a:lnSpc>
                            <a:spcBef>
                              <a:spcPts val="0"/>
                            </a:spcBef>
                            <a:spcAft>
                              <a:spcPts val="0"/>
                            </a:spcAft>
                            <a:tabLst>
                              <a:tab pos="255905" algn="l"/>
                              <a:tab pos="457200" algn="l"/>
                            </a:tabLst>
                          </a:pPr>
                          <a:r>
                            <a:rPr lang="en-US" sz="2000" b="1">
                              <a:solidFill>
                                <a:srgbClr val="231F20"/>
                              </a:solidFill>
                              <a:effectLst/>
                              <a:latin typeface="Verdana" panose="020B0604030504040204" pitchFamily="34" charset="0"/>
                              <a:ea typeface="Myriad Pro"/>
                              <a:cs typeface="Myriad Pro"/>
                            </a:rPr>
                            <a:t>Area</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444109576"/>
                      </a:ext>
                    </a:extLst>
                  </a:tr>
                  <a:tr h="457200">
                    <a:tc>
                      <a:txBody>
                        <a:bodyPr/>
                        <a:lstStyle/>
                        <a:p>
                          <a:pPr marL="0" marR="0" indent="0" algn="ctr">
                            <a:lnSpc>
                              <a:spcPct val="105000"/>
                            </a:lnSpc>
                            <a:spcBef>
                              <a:spcPts val="0"/>
                            </a:spcBef>
                            <a:spcAft>
                              <a:spcPts val="0"/>
                            </a:spcAft>
                            <a:tabLst>
                              <a:tab pos="255905" algn="l"/>
                              <a:tab pos="457200" algn="l"/>
                            </a:tabLst>
                          </a:pPr>
                          <a:r>
                            <a:rPr lang="en-US" sz="2000">
                              <a:solidFill>
                                <a:srgbClr val="231F20"/>
                              </a:solidFill>
                              <a:effectLst/>
                              <a:latin typeface="Cambria Math" panose="02040503050406030204" pitchFamily="18" charset="0"/>
                              <a:ea typeface="Myriad Pro"/>
                              <a:cs typeface="Myriad Pro"/>
                            </a:rPr>
                            <a:t>1</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a:solidFill>
                                <a:srgbClr val="231F20"/>
                              </a:solidFill>
                              <a:effectLst/>
                              <a:latin typeface="Cambria Math" panose="02040503050406030204" pitchFamily="18" charset="0"/>
                              <a:ea typeface="Myriad Pro"/>
                              <a:cs typeface="Myriad Pro"/>
                            </a:rPr>
                            <a:t>9 </a:t>
                          </a:r>
                          <a:r>
                            <a:rPr lang="en-US" sz="2000">
                              <a:solidFill>
                                <a:srgbClr val="231F20"/>
                              </a:solidFill>
                              <a:effectLst/>
                              <a:latin typeface="Verdana" panose="020B0604030504040204" pitchFamily="34" charset="0"/>
                              <a:ea typeface="Myriad Pro"/>
                              <a:cs typeface="Myriad Pro"/>
                            </a:rPr>
                            <a:t>cm</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cm</a:t>
                          </a:r>
                          <a:r>
                            <a:rPr lang="en-US" sz="2000" baseline="30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148334684"/>
                      </a:ext>
                    </a:extLst>
                  </a:tr>
                  <a:tr h="9144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t="-151333" r="-300000"/>
                          </a:stretch>
                        </a:blip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indent="0" algn="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ft</a:t>
                          </a:r>
                          <a:r>
                            <a:rPr lang="en-US" sz="2000" baseline="30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dirty="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160344815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xmlns="" id="{67103CAB-D299-2847-9238-2D9769E3F8D3}"/>
                  </a:ext>
                </a:extLst>
              </p:cNvPr>
              <p:cNvGraphicFramePr>
                <a:graphicFrameLocks noGrp="1"/>
              </p:cNvGraphicFramePr>
              <p:nvPr>
                <p:extLst>
                  <p:ext uri="{D42A27DB-BD31-4B8C-83A1-F6EECF244321}">
                    <p14:modId xmlns:p14="http://schemas.microsoft.com/office/powerpoint/2010/main" val="3797855261"/>
                  </p:ext>
                </p:extLst>
              </p:nvPr>
            </p:nvGraphicFramePr>
            <p:xfrm>
              <a:off x="3348219" y="4167038"/>
              <a:ext cx="5486400" cy="2286000"/>
            </p:xfrm>
            <a:graphic>
              <a:graphicData uri="http://schemas.openxmlformats.org/drawingml/2006/table">
                <a:tbl>
                  <a:tblPr firstRow="1" firstCol="1" bandRow="1"/>
                  <a:tblGrid>
                    <a:gridCol w="1371600">
                      <a:extLst>
                        <a:ext uri="{9D8B030D-6E8A-4147-A177-3AD203B41FA5}">
                          <a16:colId xmlns:a16="http://schemas.microsoft.com/office/drawing/2014/main" xmlns="" val="3265465471"/>
                        </a:ext>
                      </a:extLst>
                    </a:gridCol>
                    <a:gridCol w="1371600">
                      <a:extLst>
                        <a:ext uri="{9D8B030D-6E8A-4147-A177-3AD203B41FA5}">
                          <a16:colId xmlns:a16="http://schemas.microsoft.com/office/drawing/2014/main" xmlns="" val="804282424"/>
                        </a:ext>
                      </a:extLst>
                    </a:gridCol>
                    <a:gridCol w="1371600">
                      <a:extLst>
                        <a:ext uri="{9D8B030D-6E8A-4147-A177-3AD203B41FA5}">
                          <a16:colId xmlns:a16="http://schemas.microsoft.com/office/drawing/2014/main" xmlns="" val="2298822363"/>
                        </a:ext>
                      </a:extLst>
                    </a:gridCol>
                    <a:gridCol w="1371600">
                      <a:extLst>
                        <a:ext uri="{9D8B030D-6E8A-4147-A177-3AD203B41FA5}">
                          <a16:colId xmlns:a16="http://schemas.microsoft.com/office/drawing/2014/main" xmlns="" val="1624403603"/>
                        </a:ext>
                      </a:extLst>
                    </a:gridCol>
                  </a:tblGrid>
                  <a:tr h="457200">
                    <a:tc gridSpan="4">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City Apartment</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 val="3306206311"/>
                      </a:ext>
                    </a:extLst>
                  </a:tr>
                  <a:tr h="457200">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Scale</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Length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Width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a:txBody>
                        <a:bodyPr/>
                        <a:lstStyle/>
                        <a:p>
                          <a:pPr marL="0" marR="0" indent="0" algn="ctr">
                            <a:lnSpc>
                              <a:spcPct val="105000"/>
                            </a:lnSpc>
                            <a:spcBef>
                              <a:spcPts val="0"/>
                            </a:spcBef>
                            <a:spcAft>
                              <a:spcPts val="0"/>
                            </a:spcAft>
                            <a:tabLst>
                              <a:tab pos="255905" algn="l"/>
                              <a:tab pos="457200" algn="l"/>
                            </a:tabLst>
                          </a:pPr>
                          <a:r>
                            <a:rPr lang="en-US" sz="2000" b="1">
                              <a:solidFill>
                                <a:srgbClr val="231F20"/>
                              </a:solidFill>
                              <a:effectLst/>
                              <a:latin typeface="Verdana" panose="020B0604030504040204" pitchFamily="34" charset="0"/>
                              <a:ea typeface="Myriad Pro"/>
                              <a:cs typeface="Myriad Pro"/>
                            </a:rPr>
                            <a:t>Area</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extLst>
                      <a:ext uri="{0D108BD9-81ED-4DB2-BD59-A6C34878D82A}">
                        <a16:rowId xmlns:a16="http://schemas.microsoft.com/office/drawing/2014/main" xmlns="" val="1576335263"/>
                      </a:ext>
                    </a:extLst>
                  </a:tr>
                  <a:tr h="457200">
                    <a:tc>
                      <a:txBody>
                        <a:bodyPr/>
                        <a:lstStyle/>
                        <a:p>
                          <a:pPr marL="0" marR="0" indent="0" algn="ctr">
                            <a:lnSpc>
                              <a:spcPct val="105000"/>
                            </a:lnSpc>
                            <a:spcBef>
                              <a:spcPts val="0"/>
                            </a:spcBef>
                            <a:spcAft>
                              <a:spcPts val="0"/>
                            </a:spcAft>
                            <a:tabLst>
                              <a:tab pos="255905" algn="l"/>
                              <a:tab pos="457200" algn="l"/>
                            </a:tabLst>
                          </a:pPr>
                          <a:r>
                            <a:rPr lang="en-US" sz="2000">
                              <a:solidFill>
                                <a:srgbClr val="231F20"/>
                              </a:solidFill>
                              <a:effectLst/>
                              <a:latin typeface="Cambria Math" panose="02040503050406030204" pitchFamily="18" charset="0"/>
                              <a:ea typeface="Myriad Pro"/>
                              <a:cs typeface="Myriad Pro"/>
                            </a:rPr>
                            <a:t>1</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Cambria Math" panose="02040503050406030204" pitchFamily="18" charset="0"/>
                              <a:ea typeface="Myriad Pro"/>
                              <a:cs typeface="Myriad Pro"/>
                            </a:rPr>
                            <a:t>8</a:t>
                          </a:r>
                          <a:r>
                            <a:rPr lang="en-US" sz="2000" dirty="0">
                              <a:solidFill>
                                <a:srgbClr val="231F20"/>
                              </a:solidFill>
                              <a:effectLst/>
                              <a:latin typeface="Verdana" panose="020B0604030504040204" pitchFamily="34" charset="0"/>
                              <a:ea typeface="Myriad Pro"/>
                              <a:cs typeface="Myriad Pro"/>
                            </a:rPr>
                            <a:t> cm</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r">
                            <a:lnSpc>
                              <a:spcPct val="105000"/>
                            </a:lnSpc>
                            <a:spcBef>
                              <a:spcPts val="0"/>
                            </a:spcBef>
                            <a:spcAft>
                              <a:spcPts val="0"/>
                            </a:spcAft>
                            <a:tabLst>
                              <a:tab pos="255905" algn="l"/>
                              <a:tab pos="457200" algn="l"/>
                            </a:tabLst>
                          </a:pPr>
                          <a:r>
                            <a:rPr lang="en-US" sz="200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cm</a:t>
                          </a:r>
                          <a:r>
                            <a:rPr lang="en-US" sz="2000" baseline="3000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2494601545"/>
                      </a:ext>
                    </a:extLst>
                  </a:tr>
                  <a:tr h="914400">
                    <a:tc>
                      <a:txBody>
                        <a:bodyPr/>
                        <a:lstStyle/>
                        <a:p>
                          <a:pPr marL="0" marR="0" indent="0" algn="ctr">
                            <a:lnSpc>
                              <a:spcPct val="105000"/>
                            </a:lnSpc>
                            <a:spcBef>
                              <a:spcPts val="0"/>
                            </a:spcBef>
                            <a:spcAft>
                              <a:spcPts val="0"/>
                            </a:spcAft>
                            <a:tabLst>
                              <a:tab pos="255905" algn="l"/>
                              <a:tab pos="457200" algn="l"/>
                            </a:tabLst>
                          </a:pPr>
                          <a14:m>
                            <m:oMathPara xmlns:m="http://schemas.openxmlformats.org/officeDocument/2006/math">
                              <m:oMathParaPr>
                                <m:jc m:val="centerGroup"/>
                              </m:oMathParaPr>
                              <m:oMath xmlns:m="http://schemas.openxmlformats.org/officeDocument/2006/math">
                                <m:f>
                                  <m:fPr>
                                    <m:ctrlPr>
                                      <a:rPr lang="x-none" sz="2000" i="1">
                                        <a:solidFill>
                                          <a:srgbClr val="231F20"/>
                                        </a:solidFill>
                                        <a:effectLst/>
                                        <a:latin typeface="Cambria Math"/>
                                        <a:ea typeface="Times New Roman" panose="02020603050405020304" pitchFamily="18" charset="0"/>
                                        <a:cs typeface="Cambria" panose="02040503050406030204" pitchFamily="18" charset="0"/>
                                      </a:rPr>
                                    </m:ctrlPr>
                                  </m:fPr>
                                  <m:num>
                                    <m:r>
                                      <a:rPr lang="en-US" sz="2000">
                                        <a:solidFill>
                                          <a:srgbClr val="231F20"/>
                                        </a:solidFill>
                                        <a:effectLst/>
                                        <a:latin typeface="Cambria Math" panose="02040503050406030204" pitchFamily="18" charset="0"/>
                                        <a:ea typeface="Myriad Pro"/>
                                        <a:cs typeface="Myriad Pro"/>
                                      </a:rPr>
                                      <m:t>4 </m:t>
                                    </m:r>
                                    <m:r>
                                      <m:rPr>
                                        <m:sty m:val="p"/>
                                      </m:rPr>
                                      <a:rPr lang="en-US" sz="2000">
                                        <a:solidFill>
                                          <a:srgbClr val="231F20"/>
                                        </a:solidFill>
                                        <a:effectLst/>
                                        <a:latin typeface="Cambria Math" panose="02040503050406030204" pitchFamily="18" charset="0"/>
                                        <a:ea typeface="Myriad Pro"/>
                                        <a:cs typeface="Myriad Pro"/>
                                      </a:rPr>
                                      <m:t>ft</m:t>
                                    </m:r>
                                  </m:num>
                                  <m:den>
                                    <m:r>
                                      <a:rPr lang="en-US" sz="2000">
                                        <a:solidFill>
                                          <a:srgbClr val="231F20"/>
                                        </a:solidFill>
                                        <a:effectLst/>
                                        <a:latin typeface="Cambria Math" panose="02040503050406030204" pitchFamily="18" charset="0"/>
                                        <a:ea typeface="Myriad Pro"/>
                                        <a:cs typeface="Myriad Pro"/>
                                      </a:rPr>
                                      <m:t>1 </m:t>
                                    </m:r>
                                    <m:r>
                                      <m:rPr>
                                        <m:sty m:val="p"/>
                                      </m:rPr>
                                      <a:rPr lang="en-US" sz="2000">
                                        <a:solidFill>
                                          <a:srgbClr val="231F20"/>
                                        </a:solidFill>
                                        <a:effectLst/>
                                        <a:latin typeface="Cambria Math" panose="02040503050406030204" pitchFamily="18" charset="0"/>
                                        <a:ea typeface="Myriad Pro"/>
                                        <a:cs typeface="Myriad Pro"/>
                                      </a:rPr>
                                      <m:t>cm</m:t>
                                    </m:r>
                                  </m:den>
                                </m:f>
                              </m:oMath>
                            </m:oMathPara>
                          </a14:m>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ft</a:t>
                          </a:r>
                          <a:r>
                            <a:rPr lang="en-US" sz="2000" baseline="30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dirty="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 val="1402431508"/>
                      </a:ext>
                    </a:extLst>
                  </a:tr>
                </a:tbl>
              </a:graphicData>
            </a:graphic>
          </p:graphicFrame>
        </mc:Choice>
        <mc:Fallback>
          <p:graphicFrame>
            <p:nvGraphicFramePr>
              <p:cNvPr id="5" name="Table 4">
                <a:extLst>
                  <a:ext uri="{FF2B5EF4-FFF2-40B4-BE49-F238E27FC236}">
                    <a16:creationId xmlns:a16="http://schemas.microsoft.com/office/drawing/2014/main" xmlns:a14="http://schemas.microsoft.com/office/drawing/2010/main" xmlns="" id="{67103CAB-D299-2847-9238-2D9769E3F8D3}"/>
                  </a:ext>
                </a:extLst>
              </p:cNvPr>
              <p:cNvGraphicFramePr>
                <a:graphicFrameLocks noGrp="1"/>
              </p:cNvGraphicFramePr>
              <p:nvPr>
                <p:extLst>
                  <p:ext uri="{D42A27DB-BD31-4B8C-83A1-F6EECF244321}">
                    <p14:modId xmlns:p14="http://schemas.microsoft.com/office/powerpoint/2010/main" val="3797855261"/>
                  </p:ext>
                </p:extLst>
              </p:nvPr>
            </p:nvGraphicFramePr>
            <p:xfrm>
              <a:off x="3348219" y="4167038"/>
              <a:ext cx="5486400" cy="2286000"/>
            </p:xfrm>
            <a:graphic>
              <a:graphicData uri="http://schemas.openxmlformats.org/drawingml/2006/table">
                <a:tbl>
                  <a:tblPr firstRow="1" firstCol="1" bandRow="1"/>
                  <a:tblGrid>
                    <a:gridCol w="1371600">
                      <a:extLst>
                        <a:ext uri="{9D8B030D-6E8A-4147-A177-3AD203B41FA5}">
                          <a16:colId xmlns:a16="http://schemas.microsoft.com/office/drawing/2014/main" xmlns:a14="http://schemas.microsoft.com/office/drawing/2010/main" xmlns="" val="3265465471"/>
                        </a:ext>
                      </a:extLst>
                    </a:gridCol>
                    <a:gridCol w="1371600">
                      <a:extLst>
                        <a:ext uri="{9D8B030D-6E8A-4147-A177-3AD203B41FA5}">
                          <a16:colId xmlns:a16="http://schemas.microsoft.com/office/drawing/2014/main" xmlns:a14="http://schemas.microsoft.com/office/drawing/2010/main" xmlns="" val="804282424"/>
                        </a:ext>
                      </a:extLst>
                    </a:gridCol>
                    <a:gridCol w="1371600">
                      <a:extLst>
                        <a:ext uri="{9D8B030D-6E8A-4147-A177-3AD203B41FA5}">
                          <a16:colId xmlns:a16="http://schemas.microsoft.com/office/drawing/2014/main" xmlns:a14="http://schemas.microsoft.com/office/drawing/2010/main" xmlns="" val="2298822363"/>
                        </a:ext>
                      </a:extLst>
                    </a:gridCol>
                    <a:gridCol w="1371600">
                      <a:extLst>
                        <a:ext uri="{9D8B030D-6E8A-4147-A177-3AD203B41FA5}">
                          <a16:colId xmlns:a16="http://schemas.microsoft.com/office/drawing/2014/main" xmlns:a14="http://schemas.microsoft.com/office/drawing/2010/main" xmlns="" val="1624403603"/>
                        </a:ext>
                      </a:extLst>
                    </a:gridCol>
                  </a:tblGrid>
                  <a:tr h="457200">
                    <a:tc gridSpan="4">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City Apartment</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xmlns:a14="http://schemas.microsoft.com/office/drawing/2010/main" xmlns="" val="3306206311"/>
                      </a:ext>
                    </a:extLst>
                  </a:tr>
                  <a:tr h="457200">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Scale</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Length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a:txBody>
                        <a:bodyPr/>
                        <a:lstStyle/>
                        <a:p>
                          <a:pPr marL="0" marR="0" indent="0" algn="ctr">
                            <a:lnSpc>
                              <a:spcPct val="105000"/>
                            </a:lnSpc>
                            <a:spcBef>
                              <a:spcPts val="0"/>
                            </a:spcBef>
                            <a:spcAft>
                              <a:spcPts val="0"/>
                            </a:spcAft>
                            <a:tabLst>
                              <a:tab pos="255905" algn="l"/>
                              <a:tab pos="457200" algn="l"/>
                            </a:tabLst>
                          </a:pPr>
                          <a:r>
                            <a:rPr lang="en-US" sz="2000" b="1" dirty="0">
                              <a:solidFill>
                                <a:srgbClr val="231F20"/>
                              </a:solidFill>
                              <a:effectLst/>
                              <a:latin typeface="Verdana" panose="020B0604030504040204" pitchFamily="34" charset="0"/>
                              <a:ea typeface="Myriad Pro"/>
                              <a:cs typeface="Myriad Pro"/>
                            </a:rPr>
                            <a:t>Width</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tc>
                      <a:txBody>
                        <a:bodyPr/>
                        <a:lstStyle/>
                        <a:p>
                          <a:pPr marL="0" marR="0" indent="0" algn="ctr">
                            <a:lnSpc>
                              <a:spcPct val="105000"/>
                            </a:lnSpc>
                            <a:spcBef>
                              <a:spcPts val="0"/>
                            </a:spcBef>
                            <a:spcAft>
                              <a:spcPts val="0"/>
                            </a:spcAft>
                            <a:tabLst>
                              <a:tab pos="255905" algn="l"/>
                              <a:tab pos="457200" algn="l"/>
                            </a:tabLst>
                          </a:pPr>
                          <a:r>
                            <a:rPr lang="en-US" sz="2000" b="1">
                              <a:solidFill>
                                <a:srgbClr val="231F20"/>
                              </a:solidFill>
                              <a:effectLst/>
                              <a:latin typeface="Verdana" panose="020B0604030504040204" pitchFamily="34" charset="0"/>
                              <a:ea typeface="Myriad Pro"/>
                              <a:cs typeface="Myriad Pro"/>
                            </a:rPr>
                            <a:t>Area</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EC0C0"/>
                        </a:solidFill>
                      </a:tcPr>
                    </a:tc>
                    <a:extLst>
                      <a:ext uri="{0D108BD9-81ED-4DB2-BD59-A6C34878D82A}">
                        <a16:rowId xmlns:a16="http://schemas.microsoft.com/office/drawing/2014/main" xmlns:a14="http://schemas.microsoft.com/office/drawing/2010/main" xmlns="" val="1576335263"/>
                      </a:ext>
                    </a:extLst>
                  </a:tr>
                  <a:tr h="457200">
                    <a:tc>
                      <a:txBody>
                        <a:bodyPr/>
                        <a:lstStyle/>
                        <a:p>
                          <a:pPr marL="0" marR="0" indent="0" algn="ctr">
                            <a:lnSpc>
                              <a:spcPct val="105000"/>
                            </a:lnSpc>
                            <a:spcBef>
                              <a:spcPts val="0"/>
                            </a:spcBef>
                            <a:spcAft>
                              <a:spcPts val="0"/>
                            </a:spcAft>
                            <a:tabLst>
                              <a:tab pos="255905" algn="l"/>
                              <a:tab pos="457200" algn="l"/>
                            </a:tabLst>
                          </a:pPr>
                          <a:r>
                            <a:rPr lang="en-US" sz="2000">
                              <a:solidFill>
                                <a:srgbClr val="231F20"/>
                              </a:solidFill>
                              <a:effectLst/>
                              <a:latin typeface="Cambria Math" panose="02040503050406030204" pitchFamily="18" charset="0"/>
                              <a:ea typeface="Myriad Pro"/>
                              <a:cs typeface="Myriad Pro"/>
                            </a:rPr>
                            <a:t>1</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Cambria Math" panose="02040503050406030204" pitchFamily="18" charset="0"/>
                              <a:ea typeface="Myriad Pro"/>
                              <a:cs typeface="Myriad Pro"/>
                            </a:rPr>
                            <a:t>8</a:t>
                          </a:r>
                          <a:r>
                            <a:rPr lang="en-US" sz="2000" dirty="0">
                              <a:solidFill>
                                <a:srgbClr val="231F20"/>
                              </a:solidFill>
                              <a:effectLst/>
                              <a:latin typeface="Verdana" panose="020B0604030504040204" pitchFamily="34" charset="0"/>
                              <a:ea typeface="Myriad Pro"/>
                              <a:cs typeface="Myriad Pro"/>
                            </a:rPr>
                            <a:t> cm</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r">
                            <a:lnSpc>
                              <a:spcPct val="105000"/>
                            </a:lnSpc>
                            <a:spcBef>
                              <a:spcPts val="0"/>
                            </a:spcBef>
                            <a:spcAft>
                              <a:spcPts val="0"/>
                            </a:spcAft>
                            <a:tabLst>
                              <a:tab pos="255905" algn="l"/>
                              <a:tab pos="457200" algn="l"/>
                            </a:tabLst>
                          </a:pPr>
                          <a:r>
                            <a:rPr lang="en-US" sz="200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cm</a:t>
                          </a:r>
                          <a:r>
                            <a:rPr lang="en-US" sz="2000" baseline="3000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a14="http://schemas.microsoft.com/office/drawing/2010/main" xmlns="" val="2494601545"/>
                      </a:ext>
                    </a:extLst>
                  </a:tr>
                  <a:tr h="914400">
                    <a:tc>
                      <a:txBody>
                        <a:bodyPr/>
                        <a:lstStyle/>
                        <a:p>
                          <a:endParaRPr lang="en-US"/>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4"/>
                          <a:stretch>
                            <a:fillRect t="-151333" r="-300444"/>
                          </a:stretch>
                        </a:blip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ct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Myriad Pro"/>
                              <a:cs typeface="Myriad Pro"/>
                            </a:rPr>
                            <a:t> </a:t>
                          </a:r>
                          <a:endParaRPr lang="x-none" sz="200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tc>
                      <a:txBody>
                        <a:bodyPr/>
                        <a:lstStyle/>
                        <a:p>
                          <a:pPr marL="0" marR="0" indent="0" algn="r">
                            <a:lnSpc>
                              <a:spcPct val="105000"/>
                            </a:lnSpc>
                            <a:spcBef>
                              <a:spcPts val="0"/>
                            </a:spcBef>
                            <a:spcAft>
                              <a:spcPts val="0"/>
                            </a:spcAft>
                            <a:tabLst>
                              <a:tab pos="255905" algn="l"/>
                              <a:tab pos="457200" algn="l"/>
                            </a:tabLst>
                          </a:pPr>
                          <a:r>
                            <a:rPr lang="en-US" sz="2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ft</a:t>
                          </a:r>
                          <a:r>
                            <a:rPr lang="en-US" sz="2000" baseline="30000" dirty="0">
                              <a:solidFill>
                                <a:srgbClr val="231F20"/>
                              </a:solidFill>
                              <a:effectLst/>
                              <a:latin typeface="Verdana" panose="020B0604030504040204" pitchFamily="34" charset="0"/>
                              <a:ea typeface="Century Gothic" panose="020B0502020202020204" pitchFamily="34" charset="0"/>
                              <a:cs typeface="Century Gothic" panose="020B0502020202020204" pitchFamily="34" charset="0"/>
                            </a:rPr>
                            <a:t>2</a:t>
                          </a:r>
                          <a:endParaRPr lang="x-none" sz="2000" dirty="0">
                            <a:solidFill>
                              <a:srgbClr val="231F20"/>
                            </a:solidFill>
                            <a:effectLst/>
                            <a:latin typeface="Calibri" panose="020F0502020204030204" pitchFamily="34" charset="0"/>
                            <a:ea typeface="Myriad Pro"/>
                            <a:cs typeface="Myriad Pro"/>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xmlns:a14="http://schemas.microsoft.com/office/drawing/2010/main" xmlns="" val="1402431508"/>
                      </a:ext>
                    </a:extLst>
                  </a:tr>
                </a:tbl>
              </a:graphicData>
            </a:graphic>
          </p:graphicFrame>
        </mc:Fallback>
      </mc:AlternateContent>
      <p:sp>
        <p:nvSpPr>
          <p:cNvPr id="8"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1" name="Google Shape;179;p5"/>
          <p:cNvSpPr txBox="1"/>
          <p:nvPr/>
        </p:nvSpPr>
        <p:spPr>
          <a:xfrm>
            <a:off x="914400" y="487736"/>
            <a:ext cx="10515600" cy="830956"/>
          </a:xfrm>
          <a:prstGeom prst="rect">
            <a:avLst/>
          </a:prstGeom>
          <a:noFill/>
          <a:ln>
            <a:noFill/>
          </a:ln>
        </p:spPr>
        <p:txBody>
          <a:bodyPr spcFirstLastPara="1" wrap="square" lIns="91425" tIns="45700" rIns="91425" bIns="45700" anchor="t" anchorCtr="0">
            <a:spAutoFit/>
          </a:bodyPr>
          <a:lstStyle/>
          <a:p>
            <a:pPr marL="914400" indent="-457200"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Complete the tables to find the dimensions and areas of both apartments.</a:t>
            </a: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39280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315;p19"/>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225</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179;p5"/>
          <p:cNvSpPr txBox="1"/>
          <p:nvPr/>
        </p:nvSpPr>
        <p:spPr>
          <a:xfrm>
            <a:off x="914400" y="487736"/>
            <a:ext cx="10515600" cy="3416279"/>
          </a:xfrm>
          <a:prstGeom prst="rect">
            <a:avLst/>
          </a:prstGeom>
          <a:noFill/>
          <a:ln>
            <a:noFill/>
          </a:ln>
        </p:spPr>
        <p:txBody>
          <a:bodyPr spcFirstLastPara="1" wrap="square" lIns="91425" tIns="45700" rIns="91425" bIns="45700" anchor="t" anchorCtr="0">
            <a:spAutoFit/>
          </a:bodyPr>
          <a:lstStyle/>
          <a:p>
            <a:pPr marL="9144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Which apartment is larger?</a:t>
            </a: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9144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Immanuel is looking for an apartment with as much closet space as possible. Explain which apartment you would recommend for him. </a:t>
            </a: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04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7" name="Google Shape;425;p30"/>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9" name="Google Shape;426;p3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0" name="Google Shape;429;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sp>
        <p:nvSpPr>
          <p:cNvPr id="11" name="Google Shape;313;g104476d1465_1_39"/>
          <p:cNvSpPr txBox="1">
            <a:spLocks/>
          </p:cNvSpPr>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E24E5F"/>
                </a:solidFill>
                <a:latin typeface="Verdana"/>
                <a:ea typeface="Verdana"/>
                <a:cs typeface="Verdana"/>
                <a:sym typeface="Verdana"/>
              </a:rPr>
              <a:t>Your Turn</a:t>
            </a:r>
            <a:endParaRPr lang="en-US" sz="5100" b="1" dirty="0">
              <a:solidFill>
                <a:srgbClr val="E24E5F"/>
              </a:solidFill>
              <a:latin typeface="Verdana"/>
              <a:ea typeface="Verdana"/>
              <a:cs typeface="Verdana"/>
              <a:sym typeface="Verdana"/>
            </a:endParaRPr>
          </a:p>
        </p:txBody>
      </p:sp>
      <p:pic>
        <p:nvPicPr>
          <p:cNvPr id="12" name="Google Shape;423;g103996e1364_0_416">
            <a:extLst>
              <a:ext uri="{FF2B5EF4-FFF2-40B4-BE49-F238E27FC236}">
                <a16:creationId xmlns=""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75598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435;p31"/>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437;p31"/>
          <p:cNvSpPr txBox="1"/>
          <p:nvPr/>
        </p:nvSpPr>
        <p:spPr>
          <a:xfrm>
            <a:off x="1143000" y="219103"/>
            <a:ext cx="8019300" cy="701690"/>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5.9.3 Your Turn!</a:t>
            </a:r>
            <a:endParaRPr lang="en-US" sz="4400" b="1" dirty="0">
              <a:solidFill>
                <a:srgbClr val="E24E5F"/>
              </a:solidFill>
              <a:latin typeface="Verdana"/>
              <a:ea typeface="Verdana"/>
              <a:cs typeface="Verdana"/>
              <a:sym typeface="Verdana"/>
            </a:endParaRPr>
          </a:p>
        </p:txBody>
      </p:sp>
      <p:pic>
        <p:nvPicPr>
          <p:cNvPr id="11" name="Google Shape;438;p31"/>
          <p:cNvPicPr preferRelativeResize="0"/>
          <p:nvPr/>
        </p:nvPicPr>
        <p:blipFill rotWithShape="1">
          <a:blip r:embed="rId3">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12" name="Google Shape;440;p31"/>
              <p:cNvSpPr txBox="1"/>
              <p:nvPr/>
            </p:nvSpPr>
            <p:spPr>
              <a:xfrm>
                <a:off x="914400" y="1386026"/>
                <a:ext cx="10027920" cy="4154943"/>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On a map with a scale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inch (in.) to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feet (ft), the area of a restaurant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square inches (in</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r>
                  <a:rPr lang="en-US" sz="2400" dirty="0">
                    <a:latin typeface="Verdana" panose="020B0604030504040204" pitchFamily="34" charset="0"/>
                    <a:ea typeface="Times New Roman" panose="02020603050405020304" pitchFamily="18" charset="0"/>
                    <a:cs typeface="Times New Roman" panose="02020603050405020304" pitchFamily="18" charset="0"/>
                  </a:rPr>
                  <a:t>). Shea says that the actual area of the restaurant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720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square feet (ft</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r>
                  <a:rPr lang="en-US" sz="2400" dirty="0">
                    <a:latin typeface="Verdana" panose="020B0604030504040204" pitchFamily="34" charset="0"/>
                    <a:ea typeface="Times New Roman" panose="02020603050405020304" pitchFamily="18" charset="0"/>
                    <a:cs typeface="Times New Roman" panose="02020603050405020304" pitchFamily="18" charset="0"/>
                  </a:rPr>
                  <a:t>). Explain why you agree or disagree with Shea. </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Hunter finds that the area of a house on a scale drawing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r>
                  <a:rPr lang="en-US" sz="2400" dirty="0">
                    <a:latin typeface="Verdana" panose="020B0604030504040204" pitchFamily="34" charset="0"/>
                    <a:ea typeface="Times New Roman" panose="02020603050405020304" pitchFamily="18" charset="0"/>
                    <a:cs typeface="Times New Roman" panose="02020603050405020304" pitchFamily="18" charset="0"/>
                  </a:rPr>
                  <a:t>. The actual area of the house is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2,025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ft</a:t>
                </a:r>
                <a:r>
                  <a:rPr lang="en-US" sz="2400" baseline="30000" dirty="0">
                    <a:latin typeface="Verdana" panose="020B0604030504040204" pitchFamily="34" charset="0"/>
                    <a:ea typeface="Times New Roman" panose="02020603050405020304" pitchFamily="18" charset="0"/>
                    <a:cs typeface="Times New Roman" panose="02020603050405020304" pitchFamily="18" charset="0"/>
                  </a:rPr>
                  <a:t>2</a:t>
                </a:r>
                <a:r>
                  <a:rPr lang="en-US" sz="2400" dirty="0">
                    <a:latin typeface="Verdana" panose="020B0604030504040204" pitchFamily="34" charset="0"/>
                    <a:ea typeface="Times New Roman" panose="02020603050405020304" pitchFamily="18" charset="0"/>
                    <a:cs typeface="Times New Roman" panose="02020603050405020304" pitchFamily="18" charset="0"/>
                  </a:rPr>
                  <a:t>. What is the scale of the drawing?</a:t>
                </a:r>
              </a:p>
            </p:txBody>
          </p:sp>
        </mc:Choice>
        <mc:Fallback>
          <p:sp>
            <p:nvSpPr>
              <p:cNvPr id="12" name="Google Shape;440;p31"/>
              <p:cNvSpPr txBox="1">
                <a:spLocks noRot="1" noChangeAspect="1" noMove="1" noResize="1" noEditPoints="1" noAdjustHandles="1" noChangeArrowheads="1" noChangeShapeType="1" noTextEdit="1"/>
              </p:cNvSpPr>
              <p:nvPr/>
            </p:nvSpPr>
            <p:spPr>
              <a:xfrm>
                <a:off x="914400" y="1386026"/>
                <a:ext cx="10027920" cy="4154943"/>
              </a:xfrm>
              <a:prstGeom prst="rect">
                <a:avLst/>
              </a:prstGeom>
              <a:blipFill rotWithShape="1">
                <a:blip r:embed="rId4"/>
                <a:stretch>
                  <a:fillRect l="-973" t="-1320" r="-1033" b="-2346"/>
                </a:stretch>
              </a:blipFill>
              <a:ln>
                <a:noFill/>
              </a:ln>
            </p:spPr>
            <p:txBody>
              <a:bodyPr/>
              <a:lstStyle/>
              <a:p>
                <a:r>
                  <a:rPr lang="en-US">
                    <a:noFill/>
                  </a:rPr>
                  <a:t> </a:t>
                </a:r>
              </a:p>
            </p:txBody>
          </p:sp>
        </mc:Fallback>
      </mc:AlternateContent>
      <p:pic>
        <p:nvPicPr>
          <p:cNvPr id="13" name="Google Shape;426;p30"/>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 name="Google Shape;429;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spTree>
    <p:extLst>
      <p:ext uri="{BB962C8B-B14F-4D97-AF65-F5344CB8AC3E}">
        <p14:creationId xmlns:p14="http://schemas.microsoft.com/office/powerpoint/2010/main" val="3497806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6" name="Group 5">
            <a:extLst>
              <a:ext uri="{FF2B5EF4-FFF2-40B4-BE49-F238E27FC236}">
                <a16:creationId xmlns:a16="http://schemas.microsoft.com/office/drawing/2014/main" xmlns="" id="{F4C81846-CD2D-6E4A-9784-2655766126A1}"/>
              </a:ext>
            </a:extLst>
          </p:cNvPr>
          <p:cNvGrpSpPr/>
          <p:nvPr/>
        </p:nvGrpSpPr>
        <p:grpSpPr>
          <a:xfrm>
            <a:off x="4260532" y="2407618"/>
            <a:ext cx="2407920" cy="1634490"/>
            <a:chOff x="0" y="0"/>
            <a:chExt cx="2407920" cy="1634490"/>
          </a:xfrm>
        </p:grpSpPr>
        <mc:AlternateContent xmlns:mc="http://schemas.openxmlformats.org/markup-compatibility/2006" xmlns:a14="http://schemas.microsoft.com/office/drawing/2010/main">
          <mc:Choice Requires="a14">
            <p:sp>
              <p:nvSpPr>
                <p:cNvPr id="7" name="Text Box 11">
                  <a:extLst>
                    <a:ext uri="{FF2B5EF4-FFF2-40B4-BE49-F238E27FC236}">
                      <a16:creationId xmlns:a16="http://schemas.microsoft.com/office/drawing/2014/main" xmlns="" id="{695A4289-796B-6E46-86C8-30E179953A1D}"/>
                    </a:ext>
                  </a:extLst>
                </p:cNvPr>
                <p:cNvSpPr txBox="1"/>
                <p:nvPr/>
              </p:nvSpPr>
              <p:spPr>
                <a:xfrm>
                  <a:off x="1295400" y="1082040"/>
                  <a:ext cx="809625" cy="55245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2</m:t>
                      </m:r>
                      <m:f>
                        <m:fPr>
                          <m:ctrlPr>
                            <a:rPr lang="x-none" sz="1800" i="1">
                              <a:latin typeface="Cambria Math"/>
                              <a:ea typeface="Times New Roman" panose="02020603050405020304" pitchFamily="18" charset="0"/>
                              <a:cs typeface="Cambria" panose="02040503050406030204" pitchFamily="18" charset="0"/>
                            </a:rPr>
                          </m:ctrlPr>
                        </m:fPr>
                        <m:num>
                          <m:r>
                            <a:rPr lang="en-US" sz="1800" i="1">
                              <a:latin typeface="Cambria Math" panose="02040503050406030204" pitchFamily="18" charset="0"/>
                              <a:ea typeface="Times New Roman" panose="02020603050405020304" pitchFamily="18" charset="0"/>
                              <a:cs typeface="Cambria" panose="02040503050406030204" pitchFamily="18" charset="0"/>
                            </a:rPr>
                            <m:t>1</m:t>
                          </m:r>
                        </m:num>
                        <m:den>
                          <m:r>
                            <a:rPr lang="en-US" sz="1800" i="1">
                              <a:latin typeface="Cambria Math" panose="02040503050406030204" pitchFamily="18" charset="0"/>
                              <a:ea typeface="Times New Roman" panose="02020603050405020304" pitchFamily="18" charset="0"/>
                              <a:cs typeface="Cambria" panose="02040503050406030204" pitchFamily="18" charset="0"/>
                            </a:rPr>
                            <m:t>2</m:t>
                          </m:r>
                        </m:den>
                      </m:f>
                    </m:oMath>
                  </a14:m>
                  <a:r>
                    <a:rPr lang="en-US" sz="1800">
                      <a:latin typeface="Cambria" panose="02040503050406030204" pitchFamily="18" charset="0"/>
                      <a:ea typeface="Times New Roman" panose="02020603050405020304" pitchFamily="18" charset="0"/>
                      <a:cs typeface="Cambria" panose="02040503050406030204" pitchFamily="18" charset="0"/>
                    </a:rPr>
                    <a:t> </a:t>
                  </a:r>
                  <a:r>
                    <a:rPr lang="en-US" sz="1800">
                      <a:latin typeface="Verdana" panose="020B0604030504040204" pitchFamily="34" charset="0"/>
                      <a:ea typeface="Times New Roman" panose="02020603050405020304" pitchFamily="18" charset="0"/>
                      <a:cs typeface="Cambria" panose="02040503050406030204" pitchFamily="18" charset="0"/>
                    </a:rPr>
                    <a:t>in.</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Text Box 11">
                  <a:extLst>
                    <a:ext uri="{FF2B5EF4-FFF2-40B4-BE49-F238E27FC236}">
                      <a16:creationId xmlns:a16="http://schemas.microsoft.com/office/drawing/2014/main" id="{695A4289-796B-6E46-86C8-30E179953A1D}"/>
                    </a:ext>
                  </a:extLst>
                </p:cNvPr>
                <p:cNvSpPr txBox="1">
                  <a:spLocks noRot="1" noChangeAspect="1" noMove="1" noResize="1" noEditPoints="1" noAdjustHandles="1" noChangeArrowheads="1" noChangeShapeType="1" noTextEdit="1"/>
                </p:cNvSpPr>
                <p:nvPr/>
              </p:nvSpPr>
              <p:spPr>
                <a:xfrm>
                  <a:off x="1295400" y="1082040"/>
                  <a:ext cx="809625" cy="552450"/>
                </a:xfrm>
                <a:prstGeom prst="rect">
                  <a:avLst/>
                </a:prstGeom>
                <a:blipFill>
                  <a:blip r:embed="rId5"/>
                  <a:stretch>
                    <a:fillRect r="-4688"/>
                  </a:stretch>
                </a:blipFill>
                <a:ln w="6350">
                  <a:noFill/>
                </a:ln>
              </p:spPr>
              <p:txBody>
                <a:bodyPr/>
                <a:lstStyle/>
                <a:p>
                  <a:r>
                    <a:rPr lang="en-CO">
                      <a:noFill/>
                    </a:rPr>
                    <a:t> </a:t>
                  </a:r>
                </a:p>
              </p:txBody>
            </p:sp>
          </mc:Fallback>
        </mc:AlternateContent>
        <mc:AlternateContent xmlns:mc="http://schemas.openxmlformats.org/markup-compatibility/2006" xmlns:a14="http://schemas.microsoft.com/office/drawing/2010/main">
          <mc:Choice Requires="a14">
            <p:sp>
              <p:nvSpPr>
                <p:cNvPr id="8" name="Text Box 8">
                  <a:extLst>
                    <a:ext uri="{FF2B5EF4-FFF2-40B4-BE49-F238E27FC236}">
                      <a16:creationId xmlns:a16="http://schemas.microsoft.com/office/drawing/2014/main" xmlns="" id="{C77FC236-80DE-E346-B33D-82C4DBAD6F24}"/>
                    </a:ext>
                  </a:extLst>
                </p:cNvPr>
                <p:cNvSpPr txBox="1"/>
                <p:nvPr/>
              </p:nvSpPr>
              <p:spPr>
                <a:xfrm>
                  <a:off x="0" y="289560"/>
                  <a:ext cx="809625" cy="552450"/>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14:m>
                    <m:oMath xmlns:m="http://schemas.openxmlformats.org/officeDocument/2006/math">
                      <m:r>
                        <a:rPr lang="en-US" sz="1800" i="1">
                          <a:latin typeface="Cambria Math" panose="02040503050406030204" pitchFamily="18" charset="0"/>
                          <a:ea typeface="Times New Roman" panose="02020603050405020304" pitchFamily="18" charset="0"/>
                          <a:cs typeface="Cambria" panose="02040503050406030204" pitchFamily="18" charset="0"/>
                        </a:rPr>
                        <m:t>1</m:t>
                      </m:r>
                      <m:f>
                        <m:fPr>
                          <m:ctrlPr>
                            <a:rPr lang="x-none" sz="1800" i="1">
                              <a:latin typeface="Cambria Math"/>
                              <a:ea typeface="Times New Roman" panose="02020603050405020304" pitchFamily="18" charset="0"/>
                              <a:cs typeface="Cambria" panose="02040503050406030204" pitchFamily="18" charset="0"/>
                            </a:rPr>
                          </m:ctrlPr>
                        </m:fPr>
                        <m:num>
                          <m:r>
                            <a:rPr lang="en-US" sz="1800" i="1">
                              <a:latin typeface="Cambria Math" panose="02040503050406030204" pitchFamily="18" charset="0"/>
                              <a:ea typeface="Times New Roman" panose="02020603050405020304" pitchFamily="18" charset="0"/>
                              <a:cs typeface="Cambria" panose="02040503050406030204" pitchFamily="18" charset="0"/>
                            </a:rPr>
                            <m:t>7</m:t>
                          </m:r>
                        </m:num>
                        <m:den>
                          <m:r>
                            <a:rPr lang="en-US" sz="1800" i="1">
                              <a:latin typeface="Cambria Math" panose="02040503050406030204" pitchFamily="18" charset="0"/>
                              <a:ea typeface="Times New Roman" panose="02020603050405020304" pitchFamily="18" charset="0"/>
                              <a:cs typeface="Cambria" panose="02040503050406030204" pitchFamily="18" charset="0"/>
                            </a:rPr>
                            <m:t>8</m:t>
                          </m:r>
                        </m:den>
                      </m:f>
                    </m:oMath>
                  </a14:m>
                  <a:r>
                    <a:rPr lang="en-US" sz="1800" dirty="0">
                      <a:latin typeface="Cambria" panose="02040503050406030204" pitchFamily="18" charset="0"/>
                      <a:ea typeface="Times New Roman" panose="02020603050405020304" pitchFamily="18" charset="0"/>
                      <a:cs typeface="Cambria" panose="02040503050406030204" pitchFamily="18" charset="0"/>
                    </a:rPr>
                    <a:t> </a:t>
                  </a:r>
                  <a:r>
                    <a:rPr lang="en-US" sz="1800" dirty="0">
                      <a:latin typeface="Verdana" panose="020B0604030504040204" pitchFamily="34" charset="0"/>
                      <a:ea typeface="Times New Roman" panose="02020603050405020304" pitchFamily="18" charset="0"/>
                      <a:cs typeface="Cambria" panose="02040503050406030204" pitchFamily="18" charset="0"/>
                    </a:rPr>
                    <a:t>in.</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Text Box 8">
                  <a:extLst>
                    <a:ext uri="{FF2B5EF4-FFF2-40B4-BE49-F238E27FC236}">
                      <a16:creationId xmlns:a16="http://schemas.microsoft.com/office/drawing/2014/main" id="{C77FC236-80DE-E346-B33D-82C4DBAD6F24}"/>
                    </a:ext>
                  </a:extLst>
                </p:cNvPr>
                <p:cNvSpPr txBox="1">
                  <a:spLocks noRot="1" noChangeAspect="1" noMove="1" noResize="1" noEditPoints="1" noAdjustHandles="1" noChangeArrowheads="1" noChangeShapeType="1" noTextEdit="1"/>
                </p:cNvSpPr>
                <p:nvPr/>
              </p:nvSpPr>
              <p:spPr>
                <a:xfrm>
                  <a:off x="0" y="289560"/>
                  <a:ext cx="809625" cy="552450"/>
                </a:xfrm>
                <a:prstGeom prst="rect">
                  <a:avLst/>
                </a:prstGeom>
                <a:blipFill>
                  <a:blip r:embed="rId6"/>
                  <a:stretch>
                    <a:fillRect r="-3077"/>
                  </a:stretch>
                </a:blipFill>
                <a:ln w="6350">
                  <a:noFill/>
                </a:ln>
              </p:spPr>
              <p:txBody>
                <a:bodyPr/>
                <a:lstStyle/>
                <a:p>
                  <a:r>
                    <a:rPr lang="en-CO">
                      <a:noFill/>
                    </a:rPr>
                    <a:t> </a:t>
                  </a:r>
                </a:p>
              </p:txBody>
            </p:sp>
          </mc:Fallback>
        </mc:AlternateContent>
        <p:sp>
          <p:nvSpPr>
            <p:cNvPr id="9" name="Rectangle 8">
              <a:extLst>
                <a:ext uri="{FF2B5EF4-FFF2-40B4-BE49-F238E27FC236}">
                  <a16:creationId xmlns:a16="http://schemas.microsoft.com/office/drawing/2014/main" xmlns="" id="{3DEE50C5-5D30-4242-99BE-AD54E58CCD04}"/>
                </a:ext>
              </a:extLst>
            </p:cNvPr>
            <p:cNvSpPr/>
            <p:nvPr/>
          </p:nvSpPr>
          <p:spPr>
            <a:xfrm>
              <a:off x="807720" y="0"/>
              <a:ext cx="1600200" cy="100965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r>
                <a:rPr lang="en-US" sz="1200">
                  <a:latin typeface="Cambria" panose="02040503050406030204" pitchFamily="18" charset="0"/>
                  <a:ea typeface="Times New Roman" panose="02020603050405020304" pitchFamily="18" charset="0"/>
                  <a:cs typeface="Cambria" panose="02040503050406030204" pitchFamily="18" charset="0"/>
                </a:rPr>
                <a:t>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grpSp>
      <p:sp>
        <p:nvSpPr>
          <p:cNvPr id="10" name="Google Shape;176;p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11" name="Google Shape;179;p5"/>
              <p:cNvSpPr txBox="1"/>
              <p:nvPr/>
            </p:nvSpPr>
            <p:spPr>
              <a:xfrm>
                <a:off x="914400" y="487736"/>
                <a:ext cx="10515600" cy="1372130"/>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cs typeface="Times New Roman" panose="02020603050405020304" pitchFamily="18" charset="0"/>
                  </a:rPr>
                  <a:t>A scale drawing of the floor plan of Mariko’s workshop is shown. If the scale is </a:t>
                </a:r>
                <a14:m>
                  <m:oMath xmlns:m="http://schemas.openxmlformats.org/officeDocument/2006/math">
                    <m:f>
                      <m:fPr>
                        <m:ctrlPr>
                          <a:rPr lang="en-US" altLang="en-US" sz="2400" i="1">
                            <a:solidFill>
                              <a:schemeClr val="tx1"/>
                            </a:solidFill>
                            <a:latin typeface="Cambria Math"/>
                            <a:cs typeface="Times New Roman" panose="02020603050405020304" pitchFamily="18" charset="0"/>
                          </a:rPr>
                        </m:ctrlPr>
                      </m:fPr>
                      <m:num>
                        <m:r>
                          <a:rPr lang="es-ES" altLang="en-US" sz="2400">
                            <a:solidFill>
                              <a:schemeClr val="tx1"/>
                            </a:solidFill>
                            <a:latin typeface="Cambria Math" panose="02040503050406030204" pitchFamily="18" charset="0"/>
                            <a:cs typeface="Times New Roman" panose="02020603050405020304" pitchFamily="18" charset="0"/>
                          </a:rPr>
                          <m:t>40 </m:t>
                        </m:r>
                        <m:r>
                          <m:rPr>
                            <m:sty m:val="p"/>
                          </m:rPr>
                          <a:rPr lang="es-ES" altLang="en-US" sz="2400">
                            <a:solidFill>
                              <a:schemeClr val="tx1"/>
                            </a:solidFill>
                            <a:latin typeface="Cambria Math" panose="02040503050406030204" pitchFamily="18" charset="0"/>
                            <a:cs typeface="Times New Roman" panose="02020603050405020304" pitchFamily="18" charset="0"/>
                          </a:rPr>
                          <m:t>ft</m:t>
                        </m:r>
                      </m:num>
                      <m:den>
                        <m:r>
                          <a:rPr lang="es-ES" altLang="en-US" sz="2400">
                            <a:solidFill>
                              <a:schemeClr val="tx1"/>
                            </a:solidFill>
                            <a:latin typeface="Cambria Math" panose="02040503050406030204" pitchFamily="18" charset="0"/>
                            <a:cs typeface="Times New Roman" panose="02020603050405020304" pitchFamily="18" charset="0"/>
                          </a:rPr>
                          <m:t>1 </m:t>
                        </m:r>
                        <m:r>
                          <m:rPr>
                            <m:sty m:val="p"/>
                          </m:rPr>
                          <a:rPr lang="es-ES" altLang="en-US" sz="2400">
                            <a:solidFill>
                              <a:schemeClr val="tx1"/>
                            </a:solidFill>
                            <a:latin typeface="Cambria Math" panose="02040503050406030204" pitchFamily="18" charset="0"/>
                            <a:cs typeface="Times New Roman" panose="02020603050405020304" pitchFamily="18" charset="0"/>
                          </a:rPr>
                          <m:t>in</m:t>
                        </m:r>
                        <m:r>
                          <a:rPr lang="es-ES" altLang="en-US" sz="2400">
                            <a:solidFill>
                              <a:schemeClr val="tx1"/>
                            </a:solidFill>
                            <a:latin typeface="Cambria Math" panose="02040503050406030204" pitchFamily="18" charset="0"/>
                            <a:cs typeface="Times New Roman" panose="02020603050405020304" pitchFamily="18" charset="0"/>
                          </a:rPr>
                          <m:t>.</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find the area, in square feet, of Mariko’s actual workshop.</a:t>
                </a:r>
              </a:p>
            </p:txBody>
          </p:sp>
        </mc:Choice>
        <mc:Fallback>
          <p:sp>
            <p:nvSpPr>
              <p:cNvPr id="11" name="Google Shape;179;p5"/>
              <p:cNvSpPr txBox="1">
                <a:spLocks noRot="1" noChangeAspect="1" noMove="1" noResize="1" noEditPoints="1" noAdjustHandles="1" noChangeArrowheads="1" noChangeShapeType="1" noTextEdit="1"/>
              </p:cNvSpPr>
              <p:nvPr/>
            </p:nvSpPr>
            <p:spPr>
              <a:xfrm>
                <a:off x="914400" y="487736"/>
                <a:ext cx="10515600" cy="1372130"/>
              </a:xfrm>
              <a:prstGeom prst="rect">
                <a:avLst/>
              </a:prstGeom>
              <a:blipFill rotWithShape="1">
                <a:blip r:embed="rId7"/>
                <a:stretch>
                  <a:fillRect l="-928" t="-3556" b="-9333"/>
                </a:stretch>
              </a:blipFill>
              <a:ln>
                <a:noFill/>
              </a:ln>
            </p:spPr>
            <p:txBody>
              <a:bodyPr/>
              <a:lstStyle/>
              <a:p>
                <a:r>
                  <a:rPr lang="en-US">
                    <a:noFill/>
                  </a:rPr>
                  <a:t> </a:t>
                </a:r>
              </a:p>
            </p:txBody>
          </p:sp>
        </mc:Fallback>
      </mc:AlternateContent>
      <p:pic>
        <p:nvPicPr>
          <p:cNvPr id="12" name="Google Shape;426;p30"/>
          <p:cNvPicPr preferRelativeResize="0"/>
          <p:nvPr/>
        </p:nvPicPr>
        <p:blipFill rotWithShape="1">
          <a:blip r:embed="rId8"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3" name="Google Shape;429;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spTree>
    <p:extLst>
      <p:ext uri="{BB962C8B-B14F-4D97-AF65-F5344CB8AC3E}">
        <p14:creationId xmlns:p14="http://schemas.microsoft.com/office/powerpoint/2010/main" val="1364807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grpSp>
        <p:nvGrpSpPr>
          <p:cNvPr id="3" name="Group 2"/>
          <p:cNvGrpSpPr/>
          <p:nvPr/>
        </p:nvGrpSpPr>
        <p:grpSpPr>
          <a:xfrm>
            <a:off x="3970335" y="3765237"/>
            <a:ext cx="5583176" cy="2932133"/>
            <a:chOff x="3970335" y="3765237"/>
            <a:chExt cx="5583176" cy="2932133"/>
          </a:xfrm>
        </p:grpSpPr>
        <p:pic>
          <p:nvPicPr>
            <p:cNvPr id="6" name="Picture 5">
              <a:extLst>
                <a:ext uri="{FF2B5EF4-FFF2-40B4-BE49-F238E27FC236}">
                  <a16:creationId xmlns:a16="http://schemas.microsoft.com/office/drawing/2014/main" xmlns="" id="{1ED7A191-05FE-2847-BFFA-EF0A2E381D9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970335" y="3765237"/>
              <a:ext cx="4251330" cy="2747047"/>
            </a:xfrm>
            <a:prstGeom prst="rect">
              <a:avLst/>
            </a:prstGeom>
          </p:spPr>
        </p:pic>
        <mc:AlternateContent xmlns:mc="http://schemas.openxmlformats.org/markup-compatibility/2006" xmlns:a14="http://schemas.microsoft.com/office/drawing/2010/main">
          <mc:Choice Requires="a14">
            <p:sp>
              <p:nvSpPr>
                <p:cNvPr id="7" name="Text Box 48">
                  <a:extLst>
                    <a:ext uri="{FF2B5EF4-FFF2-40B4-BE49-F238E27FC236}">
                      <a16:creationId xmlns:a16="http://schemas.microsoft.com/office/drawing/2014/main" xmlns="" id="{7633D9FB-E3DB-4C48-B33B-EA4D5C8077C3}"/>
                    </a:ext>
                  </a:extLst>
                </p:cNvPr>
                <p:cNvSpPr txBox="1"/>
                <p:nvPr/>
              </p:nvSpPr>
              <p:spPr>
                <a:xfrm>
                  <a:off x="8193341" y="4997334"/>
                  <a:ext cx="1360170" cy="55753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600" b="1" dirty="0">
                      <a:latin typeface="Verdana" panose="020B0604030504040204" pitchFamily="34" charset="0"/>
                      <a:ea typeface="Times New Roman" panose="02020603050405020304" pitchFamily="18" charset="0"/>
                      <a:cs typeface="Cambria" panose="02040503050406030204" pitchFamily="18" charset="0"/>
                    </a:rPr>
                    <a:t>W = </a:t>
                  </a:r>
                  <a14:m>
                    <m:oMath xmlns:m="http://schemas.openxmlformats.org/officeDocument/2006/math">
                      <m:r>
                        <a:rPr lang="en-US" sz="1600" b="1" i="1">
                          <a:latin typeface="Cambria Math" panose="02040503050406030204" pitchFamily="18" charset="0"/>
                          <a:ea typeface="Times New Roman" panose="02020603050405020304" pitchFamily="18" charset="0"/>
                          <a:cs typeface="Cambria" panose="02040503050406030204" pitchFamily="18" charset="0"/>
                        </a:rPr>
                        <m:t>𝟔</m:t>
                      </m:r>
                    </m:oMath>
                  </a14:m>
                  <a:r>
                    <a:rPr lang="en-US" sz="1600" b="1" dirty="0">
                      <a:latin typeface="Verdana" panose="020B0604030504040204" pitchFamily="34" charset="0"/>
                      <a:ea typeface="Times New Roman" panose="02020603050405020304" pitchFamily="18" charset="0"/>
                      <a:cs typeface="Cambria" panose="02040503050406030204" pitchFamily="18" charset="0"/>
                    </a:rPr>
                    <a:t> in.</a:t>
                  </a:r>
                  <a:endParaRPr lang="x-none" sz="1100" dirty="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7" name="Text Box 48">
                  <a:extLst>
                    <a:ext uri="{FF2B5EF4-FFF2-40B4-BE49-F238E27FC236}">
                      <a16:creationId xmlns:a16="http://schemas.microsoft.com/office/drawing/2014/main" id="{7633D9FB-E3DB-4C48-B33B-EA4D5C8077C3}"/>
                    </a:ext>
                  </a:extLst>
                </p:cNvPr>
                <p:cNvSpPr txBox="1">
                  <a:spLocks noRot="1" noChangeAspect="1" noMove="1" noResize="1" noEditPoints="1" noAdjustHandles="1" noChangeArrowheads="1" noChangeShapeType="1" noTextEdit="1"/>
                </p:cNvSpPr>
                <p:nvPr/>
              </p:nvSpPr>
              <p:spPr>
                <a:xfrm>
                  <a:off x="8193341" y="4997334"/>
                  <a:ext cx="1360170" cy="557530"/>
                </a:xfrm>
                <a:prstGeom prst="rect">
                  <a:avLst/>
                </a:prstGeom>
                <a:blipFill>
                  <a:blip r:embed="rId6"/>
                  <a:stretch>
                    <a:fillRect l="-2778" t="-2222"/>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2">
                  <a:extLst>
                    <a:ext uri="{FF2B5EF4-FFF2-40B4-BE49-F238E27FC236}">
                      <a16:creationId xmlns:a16="http://schemas.microsoft.com/office/drawing/2014/main" xmlns="" id="{DFB18967-75EE-8C49-89E2-42C62229A587}"/>
                    </a:ext>
                  </a:extLst>
                </p:cNvPr>
                <p:cNvSpPr txBox="1"/>
                <p:nvPr/>
              </p:nvSpPr>
              <p:spPr>
                <a:xfrm>
                  <a:off x="5454937" y="6282715"/>
                  <a:ext cx="1428750" cy="4146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sz="1600" b="1" dirty="0">
                      <a:latin typeface="Verdana" panose="020B0604030504040204" pitchFamily="34" charset="0"/>
                      <a:ea typeface="Times New Roman" panose="02020603050405020304" pitchFamily="18" charset="0"/>
                      <a:cs typeface="Cambria" panose="02040503050406030204" pitchFamily="18" charset="0"/>
                    </a:rPr>
                    <a:t>L = </a:t>
                  </a:r>
                  <a14:m>
                    <m:oMath xmlns:m="http://schemas.openxmlformats.org/officeDocument/2006/math">
                      <m:r>
                        <a:rPr lang="en-US" sz="1600" b="1" i="1">
                          <a:latin typeface="Cambria Math" panose="02040503050406030204" pitchFamily="18" charset="0"/>
                          <a:ea typeface="Times New Roman" panose="02020603050405020304" pitchFamily="18" charset="0"/>
                          <a:cs typeface="Cambria" panose="02040503050406030204" pitchFamily="18" charset="0"/>
                        </a:rPr>
                        <m:t>𝟏𝟎</m:t>
                      </m:r>
                    </m:oMath>
                  </a14:m>
                  <a:r>
                    <a:rPr lang="en-US" sz="1600" b="1" dirty="0">
                      <a:latin typeface="Verdana" panose="020B0604030504040204" pitchFamily="34" charset="0"/>
                      <a:ea typeface="Times New Roman" panose="02020603050405020304" pitchFamily="18" charset="0"/>
                      <a:cs typeface="Cambria" panose="02040503050406030204" pitchFamily="18" charset="0"/>
                    </a:rPr>
                    <a:t> in.</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mc:Choice>
          <mc:Fallback xmlns="">
            <p:sp>
              <p:nvSpPr>
                <p:cNvPr id="8" name="Text Box 2">
                  <a:extLst>
                    <a:ext uri="{FF2B5EF4-FFF2-40B4-BE49-F238E27FC236}">
                      <a16:creationId xmlns:a16="http://schemas.microsoft.com/office/drawing/2014/main" id="{DFB18967-75EE-8C49-89E2-42C62229A587}"/>
                    </a:ext>
                  </a:extLst>
                </p:cNvPr>
                <p:cNvSpPr txBox="1">
                  <a:spLocks noRot="1" noChangeAspect="1" noMove="1" noResize="1" noEditPoints="1" noAdjustHandles="1" noChangeArrowheads="1" noChangeShapeType="1" noTextEdit="1"/>
                </p:cNvSpPr>
                <p:nvPr/>
              </p:nvSpPr>
              <p:spPr>
                <a:xfrm>
                  <a:off x="5454937" y="6282715"/>
                  <a:ext cx="1428750" cy="414655"/>
                </a:xfrm>
                <a:prstGeom prst="rect">
                  <a:avLst/>
                </a:prstGeom>
                <a:blipFill>
                  <a:blip r:embed="rId7"/>
                  <a:stretch>
                    <a:fillRect l="-1770" t="-2941"/>
                  </a:stretch>
                </a:blipFill>
                <a:ln w="6350">
                  <a:noFill/>
                </a:ln>
              </p:spPr>
              <p:txBody>
                <a:bodyPr/>
                <a:lstStyle/>
                <a:p>
                  <a:r>
                    <a:rPr lang="en-US">
                      <a:noFill/>
                    </a:rPr>
                    <a:t> </a:t>
                  </a:r>
                </a:p>
              </p:txBody>
            </p:sp>
          </mc:Fallback>
        </mc:AlternateContent>
      </p:grpSp>
      <p:sp>
        <p:nvSpPr>
          <p:cNvPr id="9" name="Text Box 46">
            <a:extLst>
              <a:ext uri="{FF2B5EF4-FFF2-40B4-BE49-F238E27FC236}">
                <a16:creationId xmlns:a16="http://schemas.microsoft.com/office/drawing/2014/main" xmlns="" id="{2F0F2627-594D-E14C-A46A-5488C6888675}"/>
              </a:ext>
            </a:extLst>
          </p:cNvPr>
          <p:cNvSpPr txBox="1"/>
          <p:nvPr/>
        </p:nvSpPr>
        <p:spPr>
          <a:xfrm>
            <a:off x="5363101" y="3823219"/>
            <a:ext cx="1752600" cy="43815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r>
              <a:rPr lang="en-US" b="1">
                <a:latin typeface="Verdana" panose="020B0604030504040204" pitchFamily="34" charset="0"/>
                <a:ea typeface="Times New Roman" panose="02020603050405020304" pitchFamily="18" charset="0"/>
                <a:cs typeface="Cambria" panose="02040503050406030204" pitchFamily="18" charset="0"/>
              </a:rPr>
              <a:t>School Lawn</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10" name="Google Shape;176;p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11" name="Google Shape;179;p5"/>
              <p:cNvSpPr txBox="1"/>
              <p:nvPr/>
            </p:nvSpPr>
            <p:spPr>
              <a:xfrm>
                <a:off x="914400" y="487736"/>
                <a:ext cx="10515600" cy="304694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The greenhouse club needs to determine how much seed to buy to cover the lawn in the school courtyard. Anthony suggests they use his school map to calculate the area that will need to be covered in seed. </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44500"/>
                <a:r>
                  <a:rPr lang="en-US" sz="2400" dirty="0">
                    <a:latin typeface="Verdana" panose="020B0604030504040204" pitchFamily="34" charset="0"/>
                    <a:ea typeface="Times New Roman" panose="02020603050405020304" pitchFamily="18" charset="0"/>
                    <a:cs typeface="Times New Roman" panose="02020603050405020304" pitchFamily="18" charset="0"/>
                  </a:rPr>
                  <a:t>Each grid on the map represents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Anthony measures the rectangular area on the map and finds the length (L) to be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
                </a:r>
                <a:br>
                  <a:rPr lang="en-US" sz="2400" dirty="0" smtClean="0">
                    <a:latin typeface="Verdana" panose="020B0604030504040204" pitchFamily="34" charset="0"/>
                    <a:ea typeface="Times New Roman" panose="02020603050405020304" pitchFamily="18" charset="0"/>
                    <a:cs typeface="Times New Roman" panose="02020603050405020304" pitchFamily="18" charset="0"/>
                  </a:rPr>
                </a:b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and the width (W) to be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in. </a:t>
                </a:r>
              </a:p>
            </p:txBody>
          </p:sp>
        </mc:Choice>
        <mc:Fallback>
          <p:sp>
            <p:nvSpPr>
              <p:cNvPr id="11" name="Google Shape;179;p5"/>
              <p:cNvSpPr txBox="1">
                <a:spLocks noRot="1" noChangeAspect="1" noMove="1" noResize="1" noEditPoints="1" noAdjustHandles="1" noChangeArrowheads="1" noChangeShapeType="1" noTextEdit="1"/>
              </p:cNvSpPr>
              <p:nvPr/>
            </p:nvSpPr>
            <p:spPr>
              <a:xfrm>
                <a:off x="914400" y="487736"/>
                <a:ext cx="10515600" cy="3046948"/>
              </a:xfrm>
              <a:prstGeom prst="rect">
                <a:avLst/>
              </a:prstGeom>
              <a:blipFill rotWithShape="1">
                <a:blip r:embed="rId8"/>
                <a:stretch>
                  <a:fillRect l="-928" t="-1600" r="-870" b="-3400"/>
                </a:stretch>
              </a:blipFill>
              <a:ln>
                <a:noFill/>
              </a:ln>
            </p:spPr>
            <p:txBody>
              <a:bodyPr/>
              <a:lstStyle/>
              <a:p>
                <a:r>
                  <a:rPr lang="en-US">
                    <a:noFill/>
                  </a:rPr>
                  <a:t> </a:t>
                </a:r>
              </a:p>
            </p:txBody>
          </p:sp>
        </mc:Fallback>
      </mc:AlternateContent>
      <p:pic>
        <p:nvPicPr>
          <p:cNvPr id="13" name="Google Shape;426;p30"/>
          <p:cNvPicPr preferRelativeResize="0"/>
          <p:nvPr/>
        </p:nvPicPr>
        <p:blipFill rotWithShape="1">
          <a:blip r:embed="rId9"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4" name="Google Shape;429;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spTree>
    <p:extLst>
      <p:ext uri="{BB962C8B-B14F-4D97-AF65-F5344CB8AC3E}">
        <p14:creationId xmlns:p14="http://schemas.microsoft.com/office/powerpoint/2010/main" val="29293587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176;p5"/>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mc:Choice xmlns:a14="http://schemas.microsoft.com/office/drawing/2010/main" Requires="a14">
          <p:sp>
            <p:nvSpPr>
              <p:cNvPr id="7" name="Google Shape;179;p5"/>
              <p:cNvSpPr txBox="1"/>
              <p:nvPr/>
            </p:nvSpPr>
            <p:spPr>
              <a:xfrm>
                <a:off x="914400" y="487736"/>
                <a:ext cx="10515600" cy="1372130"/>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scale of the map is </a:t>
                </a:r>
                <a14:m>
                  <m:oMath xmlns:m="http://schemas.openxmlformats.org/officeDocument/2006/math">
                    <m:f>
                      <m:fPr>
                        <m:ctrlPr>
                          <a:rPr lang="en-US" altLang="en-US" sz="2400" i="1">
                            <a:solidFill>
                              <a:schemeClr val="tx1"/>
                            </a:solidFill>
                            <a:latin typeface="Cambria Math"/>
                            <a:cs typeface="Times New Roman" panose="02020603050405020304" pitchFamily="18" charset="0"/>
                          </a:rPr>
                        </m:ctrlPr>
                      </m:fPr>
                      <m:num>
                        <m:r>
                          <a:rPr lang="es-ES" altLang="en-US" sz="2400">
                            <a:solidFill>
                              <a:schemeClr val="tx1"/>
                            </a:solidFill>
                            <a:latin typeface="Cambria Math" panose="02040503050406030204" pitchFamily="18" charset="0"/>
                            <a:cs typeface="Times New Roman" panose="02020603050405020304" pitchFamily="18" charset="0"/>
                          </a:rPr>
                          <m:t>7 </m:t>
                        </m:r>
                        <m:r>
                          <m:rPr>
                            <m:sty m:val="p"/>
                          </m:rPr>
                          <a:rPr lang="es-ES" altLang="en-US" sz="2400">
                            <a:solidFill>
                              <a:schemeClr val="tx1"/>
                            </a:solidFill>
                            <a:latin typeface="Cambria Math" panose="02040503050406030204" pitchFamily="18" charset="0"/>
                            <a:cs typeface="Times New Roman" panose="02020603050405020304" pitchFamily="18" charset="0"/>
                          </a:rPr>
                          <m:t>ft</m:t>
                        </m:r>
                      </m:num>
                      <m:den>
                        <m:r>
                          <a:rPr lang="es-ES" altLang="en-US" sz="2400">
                            <a:solidFill>
                              <a:schemeClr val="tx1"/>
                            </a:solidFill>
                            <a:latin typeface="Cambria Math" panose="02040503050406030204" pitchFamily="18" charset="0"/>
                            <a:cs typeface="Times New Roman" panose="02020603050405020304" pitchFamily="18" charset="0"/>
                          </a:rPr>
                          <m:t>1 </m:t>
                        </m:r>
                        <m:r>
                          <m:rPr>
                            <m:sty m:val="p"/>
                          </m:rPr>
                          <a:rPr lang="es-ES" altLang="en-US" sz="2400">
                            <a:solidFill>
                              <a:schemeClr val="tx1"/>
                            </a:solidFill>
                            <a:latin typeface="Cambria Math" panose="02040503050406030204" pitchFamily="18" charset="0"/>
                            <a:cs typeface="Times New Roman" panose="02020603050405020304" pitchFamily="18" charset="0"/>
                          </a:rPr>
                          <m:t>in</m:t>
                        </m:r>
                        <m:r>
                          <a:rPr lang="es-ES" altLang="en-US" sz="2400">
                            <a:solidFill>
                              <a:schemeClr val="tx1"/>
                            </a:solidFill>
                            <a:latin typeface="Cambria Math" panose="02040503050406030204" pitchFamily="18" charset="0"/>
                            <a:cs typeface="Times New Roman" panose="02020603050405020304" pitchFamily="18" charset="0"/>
                          </a:rPr>
                          <m:t>.</m:t>
                        </m:r>
                      </m:den>
                    </m:f>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r>
                  <a:rPr lang="en-US" sz="2400" dirty="0">
                    <a:latin typeface="Verdana" panose="020B0604030504040204" pitchFamily="34" charset="0"/>
                    <a:ea typeface="Times New Roman" panose="02020603050405020304" pitchFamily="18" charset="0"/>
                    <a:cs typeface="Times New Roman" panose="02020603050405020304" pitchFamily="18" charset="0"/>
                  </a:rPr>
                  <a:t>What is the actual area in square feet? </a:t>
                </a:r>
              </a:p>
            </p:txBody>
          </p:sp>
        </mc:Choice>
        <mc:Fallback>
          <p:sp>
            <p:nvSpPr>
              <p:cNvPr id="7" name="Google Shape;179;p5"/>
              <p:cNvSpPr txBox="1">
                <a:spLocks noRot="1" noChangeAspect="1" noMove="1" noResize="1" noEditPoints="1" noAdjustHandles="1" noChangeArrowheads="1" noChangeShapeType="1" noTextEdit="1"/>
              </p:cNvSpPr>
              <p:nvPr/>
            </p:nvSpPr>
            <p:spPr>
              <a:xfrm>
                <a:off x="914400" y="487736"/>
                <a:ext cx="10515600" cy="1372130"/>
              </a:xfrm>
              <a:prstGeom prst="rect">
                <a:avLst/>
              </a:prstGeom>
              <a:blipFill rotWithShape="1">
                <a:blip r:embed="rId3"/>
                <a:stretch>
                  <a:fillRect l="-928" b="-9333"/>
                </a:stretch>
              </a:blipFill>
              <a:ln>
                <a:noFill/>
              </a:ln>
            </p:spPr>
            <p:txBody>
              <a:bodyPr/>
              <a:lstStyle/>
              <a:p>
                <a:r>
                  <a:rPr lang="en-US">
                    <a:noFill/>
                  </a:rPr>
                  <a:t> </a:t>
                </a:r>
              </a:p>
            </p:txBody>
          </p:sp>
        </mc:Fallback>
      </mc:AlternateContent>
      <p:pic>
        <p:nvPicPr>
          <p:cNvPr id="8" name="Google Shape;426;p30"/>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9" name="Google Shape;429;p30"/>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226</a:t>
            </a:r>
            <a:endParaRPr i="1" dirty="0">
              <a:latin typeface="Calibri"/>
              <a:ea typeface="Calibri"/>
              <a:cs typeface="Calibri"/>
              <a:sym typeface="Calibri"/>
            </a:endParaRPr>
          </a:p>
        </p:txBody>
      </p:sp>
    </p:spTree>
    <p:extLst>
      <p:ext uri="{BB962C8B-B14F-4D97-AF65-F5344CB8AC3E}">
        <p14:creationId xmlns:p14="http://schemas.microsoft.com/office/powerpoint/2010/main" val="21056408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10" name="Google Shape;455;p33"/>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 name="Google Shape;313;g104476d1465_1_39"/>
          <p:cNvSpPr txBox="1">
            <a:spLocks/>
          </p:cNvSpPr>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Clr>
                <a:schemeClr val="lt1"/>
              </a:buClr>
              <a:buSzPts val="4800"/>
            </a:pPr>
            <a:r>
              <a:rPr lang="en-US" sz="5500" b="1" smtClean="0">
                <a:solidFill>
                  <a:srgbClr val="3F2A67"/>
                </a:solidFill>
                <a:latin typeface="Verdana"/>
                <a:ea typeface="Verdana"/>
                <a:cs typeface="Verdana"/>
                <a:sym typeface="Verdana"/>
              </a:rPr>
              <a:t>Wrap-Up</a:t>
            </a:r>
            <a:endParaRPr lang="en-US" sz="5100" b="1" dirty="0">
              <a:solidFill>
                <a:srgbClr val="3F2A67"/>
              </a:solidFill>
              <a:latin typeface="Verdana"/>
              <a:ea typeface="Verdana"/>
              <a:cs typeface="Verdana"/>
              <a:sym typeface="Verdana"/>
            </a:endParaRPr>
          </a:p>
        </p:txBody>
      </p:sp>
      <p:pic>
        <p:nvPicPr>
          <p:cNvPr id="12"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13"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227</a:t>
            </a:r>
            <a:endParaRPr i="1" dirty="0">
              <a:latin typeface="Calibri"/>
              <a:ea typeface="Calibri"/>
              <a:cs typeface="Calibri"/>
              <a:sym typeface="Calibri"/>
            </a:endParaRPr>
          </a:p>
        </p:txBody>
      </p:sp>
      <p:pic>
        <p:nvPicPr>
          <p:cNvPr id="14"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6769087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xmlns="" id="{0ACF48FA-D292-6F47-A26F-90A85F0DC1CC}"/>
                  </a:ext>
                </a:extLst>
              </p:cNvPr>
              <p:cNvGraphicFramePr>
                <a:graphicFrameLocks noGrp="1"/>
              </p:cNvGraphicFramePr>
              <p:nvPr>
                <p:extLst>
                  <p:ext uri="{D42A27DB-BD31-4B8C-83A1-F6EECF244321}">
                    <p14:modId xmlns:p14="http://schemas.microsoft.com/office/powerpoint/2010/main" val="365958595"/>
                  </p:ext>
                </p:extLst>
              </p:nvPr>
            </p:nvGraphicFramePr>
            <p:xfrm>
              <a:off x="4083675" y="3290175"/>
              <a:ext cx="3840480" cy="2743200"/>
            </p:xfrm>
            <a:graphic>
              <a:graphicData uri="http://schemas.openxmlformats.org/drawingml/2006/table">
                <a:tbl>
                  <a:tblPr firstRow="1" firstCol="1" bandRow="1"/>
                  <a:tblGrid>
                    <a:gridCol w="2011680">
                      <a:extLst>
                        <a:ext uri="{9D8B030D-6E8A-4147-A177-3AD203B41FA5}">
                          <a16:colId xmlns:a16="http://schemas.microsoft.com/office/drawing/2014/main" xmlns="" val="1261386669"/>
                        </a:ext>
                      </a:extLst>
                    </a:gridCol>
                    <a:gridCol w="1828800">
                      <a:extLst>
                        <a:ext uri="{9D8B030D-6E8A-4147-A177-3AD203B41FA5}">
                          <a16:colId xmlns:a16="http://schemas.microsoft.com/office/drawing/2014/main" xmlns="" val="409095290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Century Gothic" panose="020B0502020202020204" pitchFamily="34" charset="0"/>
                              <a:cs typeface="Century Gothic" panose="020B0502020202020204" pitchFamily="34" charset="0"/>
                            </a:rPr>
                            <a:t>Scale Factor</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smtClean="0">
                              <a:solidFill>
                                <a:srgbClr val="000000"/>
                              </a:solidFill>
                              <a:effectLst/>
                              <a:latin typeface="Verdana" panose="020B0604030504040204" pitchFamily="34" charset="0"/>
                              <a:ea typeface="Century Gothic" panose="020B0502020202020204" pitchFamily="34" charset="0"/>
                              <a:cs typeface="Century Gothic" panose="020B0502020202020204" pitchFamily="34" charset="0"/>
                            </a:rPr>
                            <a:t>Area (unit</a:t>
                          </a:r>
                          <a:r>
                            <a:rPr lang="en-US" sz="2000" b="1" baseline="30000" dirty="0" smtClean="0">
                              <a:solidFill>
                                <a:srgbClr val="000000"/>
                              </a:solidFill>
                              <a:effectLst/>
                              <a:latin typeface="Verdana" panose="020B0604030504040204" pitchFamily="34" charset="0"/>
                              <a:ea typeface="Century Gothic" panose="020B0502020202020204" pitchFamily="34" charset="0"/>
                              <a:cs typeface="Century Gothic" panose="020B0502020202020204" pitchFamily="34" charset="0"/>
                            </a:rPr>
                            <a:t>2</a:t>
                          </a:r>
                          <a:r>
                            <a:rPr lang="en-US" sz="2000" b="1" dirty="0">
                              <a:solidFill>
                                <a:srgbClr val="000000"/>
                              </a:solidFill>
                              <a:effectLst/>
                              <a:latin typeface="Verdana" panose="020B0604030504040204" pitchFamily="34" charset="0"/>
                              <a:ea typeface="Century Gothic" panose="020B0502020202020204" pitchFamily="34" charset="0"/>
                              <a:cs typeface="Century Gothic" panose="020B0502020202020204" pitchFamily="34" charset="0"/>
                            </a:rPr>
                            <a: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2281022786"/>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entury Gothic" panose="020B0502020202020204" pitchFamily="34" charset="0"/>
                                    <a:cs typeface="Century Gothic" panose="020B0502020202020204" pitchFamily="34" charset="0"/>
                                  </a:rPr>
                                  <m:t>1</m:t>
                                </m:r>
                              </m:oMath>
                            </m:oMathPara>
                          </a14:m>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entury Gothic" panose="020B0502020202020204" pitchFamily="34" charset="0"/>
                                    <a:cs typeface="Century Gothic" panose="020B0502020202020204" pitchFamily="34" charset="0"/>
                                  </a:rPr>
                                  <m:t>56</m:t>
                                </m:r>
                              </m:oMath>
                            </m:oMathPara>
                          </a14:m>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4976433"/>
                      </a:ext>
                    </a:extLst>
                  </a:tr>
                  <a:tr h="685800">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Century Gothic" panose="020B0502020202020204" pitchFamily="34" charset="0"/>
                                      <a:cs typeface="Century Gothic" panose="020B0502020202020204" pitchFamily="34" charset="0"/>
                                    </a:rPr>
                                  </m:ctrlPr>
                                </m:fPr>
                                <m:num>
                                  <m:r>
                                    <a:rPr lang="en-US" sz="2000" i="1">
                                      <a:effectLst/>
                                      <a:latin typeface="Cambria Math" panose="02040503050406030204" pitchFamily="18" charset="0"/>
                                      <a:ea typeface="Century Gothic" panose="020B0502020202020204" pitchFamily="34" charset="0"/>
                                      <a:cs typeface="Century Gothic" panose="020B0502020202020204" pitchFamily="34" charset="0"/>
                                    </a:rPr>
                                    <m:t>1</m:t>
                                  </m:r>
                                </m:num>
                                <m:den>
                                  <m:r>
                                    <a:rPr lang="en-US" sz="2000" i="1">
                                      <a:effectLst/>
                                      <a:latin typeface="Cambria Math" panose="02040503050406030204" pitchFamily="18" charset="0"/>
                                      <a:ea typeface="Century Gothic" panose="020B0502020202020204" pitchFamily="34" charset="0"/>
                                      <a:cs typeface="Century Gothic" panose="020B0502020202020204" pitchFamily="34" charset="0"/>
                                    </a:rPr>
                                    <m:t>5</m:t>
                                  </m:r>
                                </m:den>
                              </m:f>
                            </m:oMath>
                          </a14:m>
                          <a:r>
                            <a:rPr lang="en-US" sz="2000" dirty="0" smtClean="0">
                              <a:effectLst/>
                              <a:latin typeface="Cambria" panose="02040503050406030204" pitchFamily="18" charset="0"/>
                              <a:ea typeface="Times New Roman" panose="02020603050405020304" pitchFamily="18" charset="0"/>
                              <a:cs typeface="Cambria" panose="02040503050406030204" pitchFamily="18"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Century Gothic" panose="020B0502020202020204" pitchFamily="34" charset="0"/>
                              <a:cs typeface="Century Gothic" panose="020B050202020202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458236750"/>
                      </a:ext>
                    </a:extLst>
                  </a:tr>
                  <a:tr h="685800">
                    <a:tc>
                      <a:txBody>
                        <a:bodyPr/>
                        <a:lstStyle/>
                        <a:p>
                          <a:pPr marL="0" marR="0" algn="ctr">
                            <a:spcBef>
                              <a:spcPts val="0"/>
                            </a:spcBef>
                            <a:spcAft>
                              <a:spcPts val="0"/>
                            </a:spcAft>
                          </a:pPr>
                          <a14:m>
                            <m:oMath xmlns:m="http://schemas.openxmlformats.org/officeDocument/2006/math">
                              <m:f>
                                <m:fPr>
                                  <m:ctrlPr>
                                    <a:rPr lang="x-none" sz="2000" i="1">
                                      <a:effectLst/>
                                      <a:latin typeface="Cambria Math"/>
                                      <a:ea typeface="Century Gothic" panose="020B0502020202020204" pitchFamily="34" charset="0"/>
                                      <a:cs typeface="Century Gothic" panose="020B0502020202020204" pitchFamily="34" charset="0"/>
                                    </a:rPr>
                                  </m:ctrlPr>
                                </m:fPr>
                                <m:num>
                                  <m:r>
                                    <a:rPr lang="en-US" sz="2000" i="1">
                                      <a:effectLst/>
                                      <a:latin typeface="Cambria Math" panose="02040503050406030204" pitchFamily="18" charset="0"/>
                                      <a:ea typeface="Century Gothic" panose="020B0502020202020204" pitchFamily="34" charset="0"/>
                                      <a:cs typeface="Century Gothic" panose="020B0502020202020204" pitchFamily="34" charset="0"/>
                                    </a:rPr>
                                    <m:t>1</m:t>
                                  </m:r>
                                </m:num>
                                <m:den>
                                  <m:r>
                                    <a:rPr lang="en-US" sz="2000" i="1">
                                      <a:effectLst/>
                                      <a:latin typeface="Cambria Math" panose="02040503050406030204" pitchFamily="18" charset="0"/>
                                      <a:ea typeface="Century Gothic" panose="020B0502020202020204" pitchFamily="34" charset="0"/>
                                      <a:cs typeface="Century Gothic" panose="020B0502020202020204" pitchFamily="34" charset="0"/>
                                    </a:rPr>
                                    <m:t>4</m:t>
                                  </m:r>
                                </m:den>
                              </m:f>
                            </m:oMath>
                          </a14:m>
                          <a:r>
                            <a:rPr lang="en-US" sz="2000" dirty="0" smtClean="0">
                              <a:effectLst/>
                              <a:latin typeface="Cambria" panose="02040503050406030204" pitchFamily="18" charset="0"/>
                              <a:ea typeface="Times New Roman" panose="02020603050405020304" pitchFamily="18" charset="0"/>
                              <a:cs typeface="Cambria" panose="02040503050406030204" pitchFamily="18"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Century Gothic" panose="020B0502020202020204" pitchFamily="34" charset="0"/>
                              <a:cs typeface="Century Gothic" panose="020B050202020202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982851636"/>
                      </a:ext>
                    </a:extLst>
                  </a:tr>
                  <a:tr h="457200">
                    <a:tc>
                      <a:txBody>
                        <a:bodyPr/>
                        <a:lstStyle/>
                        <a:p>
                          <a:pPr marL="0" marR="0" algn="ctr">
                            <a:spcBef>
                              <a:spcPts val="0"/>
                            </a:spcBef>
                            <a:spcAft>
                              <a:spcPts val="0"/>
                            </a:spcAft>
                          </a:pPr>
                          <a:r>
                            <a:rPr lang="en-US" sz="2000" dirty="0">
                              <a:effectLst/>
                              <a:latin typeface="Verdana" panose="020B0604030504040204" pitchFamily="34" charset="0"/>
                              <a:ea typeface="Century Gothic" panose="020B0502020202020204" pitchFamily="34" charset="0"/>
                              <a:cs typeface="Century Gothic" panose="020B050202020202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Century Gothic" panose="020B0502020202020204" pitchFamily="34" charset="0"/>
                                    <a:cs typeface="Century Gothic" panose="020B0502020202020204" pitchFamily="34" charset="0"/>
                                  </a:rPr>
                                  <m:t>896</m:t>
                                </m:r>
                              </m:oMath>
                            </m:oMathPara>
                          </a14:m>
                          <a:endParaRPr lang="x-none" sz="2000" dirty="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614980843"/>
                      </a:ext>
                    </a:extLst>
                  </a:tr>
                </a:tbl>
              </a:graphicData>
            </a:graphic>
          </p:graphicFrame>
        </mc:Choice>
        <mc:Fallback>
          <p:graphicFrame>
            <p:nvGraphicFramePr>
              <p:cNvPr id="4" name="Table 3">
                <a:extLst>
                  <a:ext uri="{FF2B5EF4-FFF2-40B4-BE49-F238E27FC236}">
                    <a16:creationId xmlns:a16="http://schemas.microsoft.com/office/drawing/2014/main" xmlns:a14="http://schemas.microsoft.com/office/drawing/2010/main" xmlns="" id="{0ACF48FA-D292-6F47-A26F-90A85F0DC1CC}"/>
                  </a:ext>
                </a:extLst>
              </p:cNvPr>
              <p:cNvGraphicFramePr>
                <a:graphicFrameLocks noGrp="1"/>
              </p:cNvGraphicFramePr>
              <p:nvPr>
                <p:extLst>
                  <p:ext uri="{D42A27DB-BD31-4B8C-83A1-F6EECF244321}">
                    <p14:modId xmlns:p14="http://schemas.microsoft.com/office/powerpoint/2010/main" val="365958595"/>
                  </p:ext>
                </p:extLst>
              </p:nvPr>
            </p:nvGraphicFramePr>
            <p:xfrm>
              <a:off x="4083675" y="3290175"/>
              <a:ext cx="3840480" cy="2743200"/>
            </p:xfrm>
            <a:graphic>
              <a:graphicData uri="http://schemas.openxmlformats.org/drawingml/2006/table">
                <a:tbl>
                  <a:tblPr firstRow="1" firstCol="1" bandRow="1"/>
                  <a:tblGrid>
                    <a:gridCol w="2011680">
                      <a:extLst>
                        <a:ext uri="{9D8B030D-6E8A-4147-A177-3AD203B41FA5}">
                          <a16:colId xmlns:a16="http://schemas.microsoft.com/office/drawing/2014/main" xmlns:a14="http://schemas.microsoft.com/office/drawing/2010/main" xmlns="" val="1261386669"/>
                        </a:ext>
                      </a:extLst>
                    </a:gridCol>
                    <a:gridCol w="1828800">
                      <a:extLst>
                        <a:ext uri="{9D8B030D-6E8A-4147-A177-3AD203B41FA5}">
                          <a16:colId xmlns:a16="http://schemas.microsoft.com/office/drawing/2014/main" xmlns:a14="http://schemas.microsoft.com/office/drawing/2010/main" xmlns="" val="409095290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Century Gothic" panose="020B0502020202020204" pitchFamily="34" charset="0"/>
                              <a:cs typeface="Century Gothic" panose="020B0502020202020204" pitchFamily="34" charset="0"/>
                            </a:rPr>
                            <a:t>Scale Factor</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smtClean="0">
                              <a:solidFill>
                                <a:srgbClr val="000000"/>
                              </a:solidFill>
                              <a:effectLst/>
                              <a:latin typeface="Verdana" panose="020B0604030504040204" pitchFamily="34" charset="0"/>
                              <a:ea typeface="Century Gothic" panose="020B0502020202020204" pitchFamily="34" charset="0"/>
                              <a:cs typeface="Century Gothic" panose="020B0502020202020204" pitchFamily="34" charset="0"/>
                            </a:rPr>
                            <a:t>Area (unit</a:t>
                          </a:r>
                          <a:r>
                            <a:rPr lang="en-US" sz="2000" b="1" baseline="30000" dirty="0" smtClean="0">
                              <a:solidFill>
                                <a:srgbClr val="000000"/>
                              </a:solidFill>
                              <a:effectLst/>
                              <a:latin typeface="Verdana" panose="020B0604030504040204" pitchFamily="34" charset="0"/>
                              <a:ea typeface="Century Gothic" panose="020B0502020202020204" pitchFamily="34" charset="0"/>
                              <a:cs typeface="Century Gothic" panose="020B0502020202020204" pitchFamily="34" charset="0"/>
                            </a:rPr>
                            <a:t>2</a:t>
                          </a:r>
                          <a:r>
                            <a:rPr lang="en-US" sz="2000" b="1" dirty="0">
                              <a:solidFill>
                                <a:srgbClr val="000000"/>
                              </a:solidFill>
                              <a:effectLst/>
                              <a:latin typeface="Verdana" panose="020B0604030504040204" pitchFamily="34" charset="0"/>
                              <a:ea typeface="Century Gothic" panose="020B0502020202020204" pitchFamily="34" charset="0"/>
                              <a:cs typeface="Century Gothic" panose="020B0502020202020204" pitchFamily="34" charset="0"/>
                            </a:rPr>
                            <a:t>)</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a14="http://schemas.microsoft.com/office/drawing/2010/main" xmlns="" val="2281022786"/>
                      </a:ext>
                    </a:extLst>
                  </a:tr>
                  <a:tr h="457200">
                    <a:tc>
                      <a:txBody>
                        <a:bodyPr/>
                        <a:lstStyle/>
                        <a:p>
                          <a:endParaRPr lang="en-US"/>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3" t="-101333" r="-90909" b="-400000"/>
                          </a:stretch>
                        </a:blipFill>
                      </a:tcPr>
                    </a:tc>
                    <a:tc>
                      <a:txBody>
                        <a:bodyPr/>
                        <a:lstStyle/>
                        <a:p>
                          <a:endParaRPr lang="en-US"/>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333" t="-101333" b="-400000"/>
                          </a:stretch>
                        </a:blipFill>
                      </a:tcPr>
                    </a:tc>
                    <a:extLst>
                      <a:ext uri="{0D108BD9-81ED-4DB2-BD59-A6C34878D82A}">
                        <a16:rowId xmlns:a16="http://schemas.microsoft.com/office/drawing/2014/main" xmlns:a14="http://schemas.microsoft.com/office/drawing/2010/main" xmlns="" val="3544976433"/>
                      </a:ext>
                    </a:extLst>
                  </a:tr>
                  <a:tr h="685800">
                    <a:tc>
                      <a:txBody>
                        <a:bodyPr/>
                        <a:lstStyle/>
                        <a:p>
                          <a:endParaRPr lang="en-US"/>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3" t="-133628" r="-90909" b="-165487"/>
                          </a:stretch>
                        </a:blipFill>
                      </a:tcPr>
                    </a:tc>
                    <a:tc>
                      <a:txBody>
                        <a:bodyPr/>
                        <a:lstStyle/>
                        <a:p>
                          <a:pPr marL="0" marR="0" algn="ctr">
                            <a:spcBef>
                              <a:spcPts val="0"/>
                            </a:spcBef>
                            <a:spcAft>
                              <a:spcPts val="0"/>
                            </a:spcAft>
                          </a:pPr>
                          <a:r>
                            <a:rPr lang="en-US" sz="2000" dirty="0">
                              <a:effectLst/>
                              <a:latin typeface="Verdana" panose="020B0604030504040204" pitchFamily="34" charset="0"/>
                              <a:ea typeface="Century Gothic" panose="020B0502020202020204" pitchFamily="34" charset="0"/>
                              <a:cs typeface="Century Gothic" panose="020B050202020202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458236750"/>
                      </a:ext>
                    </a:extLst>
                  </a:tr>
                  <a:tr h="685800">
                    <a:tc>
                      <a:txBody>
                        <a:bodyPr/>
                        <a:lstStyle/>
                        <a:p>
                          <a:endParaRPr lang="en-US"/>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03" t="-235714" r="-90909" b="-66964"/>
                          </a:stretch>
                        </a:blipFill>
                      </a:tcPr>
                    </a:tc>
                    <a:tc>
                      <a:txBody>
                        <a:bodyPr/>
                        <a:lstStyle/>
                        <a:p>
                          <a:pPr marL="0" marR="0" algn="ctr">
                            <a:spcBef>
                              <a:spcPts val="0"/>
                            </a:spcBef>
                            <a:spcAft>
                              <a:spcPts val="0"/>
                            </a:spcAft>
                          </a:pPr>
                          <a:r>
                            <a:rPr lang="en-US" sz="2000" dirty="0">
                              <a:effectLst/>
                              <a:latin typeface="Verdana" panose="020B0604030504040204" pitchFamily="34" charset="0"/>
                              <a:ea typeface="Century Gothic" panose="020B0502020202020204" pitchFamily="34" charset="0"/>
                              <a:cs typeface="Century Gothic" panose="020B050202020202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a14="http://schemas.microsoft.com/office/drawing/2010/main" xmlns="" val="3982851636"/>
                      </a:ext>
                    </a:extLst>
                  </a:tr>
                  <a:tr h="457200">
                    <a:tc>
                      <a:txBody>
                        <a:bodyPr/>
                        <a:lstStyle/>
                        <a:p>
                          <a:pPr marL="0" marR="0" algn="ctr">
                            <a:spcBef>
                              <a:spcPts val="0"/>
                            </a:spcBef>
                            <a:spcAft>
                              <a:spcPts val="0"/>
                            </a:spcAft>
                          </a:pPr>
                          <a:r>
                            <a:rPr lang="en-US" sz="2000" dirty="0">
                              <a:effectLst/>
                              <a:latin typeface="Verdana" panose="020B0604030504040204" pitchFamily="34" charset="0"/>
                              <a:ea typeface="Century Gothic" panose="020B0502020202020204" pitchFamily="34" charset="0"/>
                              <a:cs typeface="Century Gothic" panose="020B0502020202020204" pitchFamily="34" charset="0"/>
                            </a:rPr>
                            <a:t> </a:t>
                          </a:r>
                          <a:endParaRPr lang="x-none" sz="2000">
                            <a:effectLst/>
                            <a:latin typeface="Cambria" panose="02040503050406030204" pitchFamily="18" charset="0"/>
                            <a:ea typeface="Times New Roman" panose="02020603050405020304" pitchFamily="18" charset="0"/>
                            <a:cs typeface="Cambria" panose="02040503050406030204" pitchFamily="18"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10333" t="-501333"/>
                          </a:stretch>
                        </a:blipFill>
                      </a:tcPr>
                    </a:tc>
                    <a:extLst>
                      <a:ext uri="{0D108BD9-81ED-4DB2-BD59-A6C34878D82A}">
                        <a16:rowId xmlns:a16="http://schemas.microsoft.com/office/drawing/2014/main" xmlns:a14="http://schemas.microsoft.com/office/drawing/2010/main" xmlns="" val="614980843"/>
                      </a:ext>
                    </a:extLst>
                  </a:tr>
                </a:tbl>
              </a:graphicData>
            </a:graphic>
          </p:graphicFrame>
        </mc:Fallback>
      </mc:AlternateContent>
      <p:sp>
        <p:nvSpPr>
          <p:cNvPr id="13" name="Google Shape;465;p34"/>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4" name="Google Shape;468;p34"/>
          <p:cNvSpPr txBox="1"/>
          <p:nvPr/>
        </p:nvSpPr>
        <p:spPr>
          <a:xfrm>
            <a:off x="1142999" y="284833"/>
            <a:ext cx="9401175"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5.9.4 Wrap-Up: Cool Down</a:t>
            </a:r>
            <a:endParaRPr lang="en-US" sz="3600" b="1" dirty="0">
              <a:solidFill>
                <a:srgbClr val="3F2A67"/>
              </a:solidFill>
              <a:latin typeface="Verdana"/>
              <a:ea typeface="Verdana"/>
              <a:cs typeface="Verdana"/>
              <a:sym typeface="Verdana"/>
            </a:endParaRPr>
          </a:p>
        </p:txBody>
      </p:sp>
      <p:pic>
        <p:nvPicPr>
          <p:cNvPr id="15"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6" name="Google Shape;125;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dirty="0" smtClean="0">
                <a:latin typeface="Calibri"/>
                <a:ea typeface="Calibri"/>
                <a:cs typeface="Calibri"/>
                <a:sym typeface="Calibri"/>
              </a:rPr>
              <a:t>227</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530584" y="6200600"/>
            <a:ext cx="563850" cy="657276"/>
          </a:xfrm>
          <a:prstGeom prst="rect">
            <a:avLst/>
          </a:prstGeom>
          <a:noFill/>
          <a:ln>
            <a:noFill/>
          </a:ln>
          <a:effectLst>
            <a:outerShdw blurRad="57150" dist="19050" dir="5400000" algn="bl" rotWithShape="0">
              <a:srgbClr val="000000">
                <a:alpha val="49803"/>
              </a:srgbClr>
            </a:outerShdw>
          </a:effectLst>
        </p:spPr>
      </p:pic>
      <p:sp>
        <p:nvSpPr>
          <p:cNvPr id="18" name="Google Shape;470;p34"/>
          <p:cNvSpPr txBox="1"/>
          <p:nvPr/>
        </p:nvSpPr>
        <p:spPr>
          <a:xfrm>
            <a:off x="914400" y="1386025"/>
            <a:ext cx="10515600" cy="163117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relationship between a model’s scale factor and area? </a:t>
            </a: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smtClean="0">
              <a:latin typeface="Verdana" panose="020B0604030504040204" pitchFamily="34" charset="0"/>
              <a:ea typeface="Times New Roman" panose="02020603050405020304" pitchFamily="18" charset="0"/>
              <a:cs typeface="Times New Roman" panose="02020603050405020304" pitchFamily="18" charset="0"/>
            </a:endParaRPr>
          </a:p>
          <a:p>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Use that relationship to complete the following table. </a:t>
            </a: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3128</TotalTime>
  <Words>852</Words>
  <Application>Microsoft Office PowerPoint</Application>
  <PresentationFormat>Custom</PresentationFormat>
  <Paragraphs>147</Paragraphs>
  <Slides>20</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20</vt:i4>
      </vt:variant>
    </vt:vector>
  </HeadingPairs>
  <TitlesOfParts>
    <vt:vector size="31" baseType="lpstr">
      <vt:lpstr>Arial</vt:lpstr>
      <vt:lpstr>Calibri</vt:lpstr>
      <vt:lpstr>Times New Roman</vt:lpstr>
      <vt:lpstr>Century Gothic</vt:lpstr>
      <vt:lpstr>Wingdings</vt:lpstr>
      <vt:lpstr>Cambria Math</vt:lpstr>
      <vt:lpstr>Cambria</vt:lpstr>
      <vt:lpstr>Arial Black</vt:lpstr>
      <vt:lpstr>Verdana</vt:lpstr>
      <vt:lpstr>Myriad Pro</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36</cp:revision>
  <dcterms:created xsi:type="dcterms:W3CDTF">2015-03-17T18:51:18Z</dcterms:created>
  <dcterms:modified xsi:type="dcterms:W3CDTF">2022-06-09T10:17:37Z</dcterms:modified>
</cp:coreProperties>
</file>