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345" r:id="rId4"/>
    <p:sldId id="286" r:id="rId5"/>
    <p:sldId id="261" r:id="rId6"/>
    <p:sldId id="287" r:id="rId7"/>
    <p:sldId id="383" r:id="rId8"/>
    <p:sldId id="289" r:id="rId9"/>
    <p:sldId id="290" r:id="rId10"/>
    <p:sldId id="389" r:id="rId11"/>
    <p:sldId id="390" r:id="rId12"/>
    <p:sldId id="391" r:id="rId13"/>
    <p:sldId id="392" r:id="rId14"/>
    <p:sldId id="393" r:id="rId15"/>
    <p:sldId id="394" r:id="rId16"/>
    <p:sldId id="398" r:id="rId17"/>
    <p:sldId id="371" r:id="rId18"/>
    <p:sldId id="372" r:id="rId19"/>
    <p:sldId id="373" r:id="rId20"/>
    <p:sldId id="374" r:id="rId21"/>
    <p:sldId id="375" r:id="rId22"/>
    <p:sldId id="376" r:id="rId23"/>
    <p:sldId id="399" r:id="rId24"/>
    <p:sldId id="400" r:id="rId25"/>
    <p:sldId id="306" r:id="rId26"/>
    <p:sldId id="307" r:id="rId27"/>
    <p:sldId id="397" r:id="rId28"/>
  </p:sldIdLst>
  <p:sldSz cx="12192000" cy="6858000"/>
  <p:notesSz cx="6858000" cy="9144000"/>
  <p:embeddedFontLst>
    <p:embeddedFont>
      <p:font typeface="Arial Black" panose="020B0604020202020204" pitchFamily="34" charset="0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" panose="02040503050406030204" pitchFamily="18" charset="0"/>
      <p:regular r:id="rId35"/>
      <p:bold r:id="rId36"/>
      <p:italic r:id="rId37"/>
      <p:boldItalic r:id="rId38"/>
    </p:embeddedFont>
    <p:embeddedFont>
      <p:font typeface="Cambria Math" panose="02040503050406030204" pitchFamily="18" charset="0"/>
      <p:regular r:id="rId39"/>
    </p:embeddedFont>
    <p:embeddedFont>
      <p:font typeface="Century Gothic" panose="020B0502020202020204" pitchFamily="34" charset="0"/>
      <p:regular r:id="rId40"/>
      <p:bold r:id="rId41"/>
      <p:italic r:id="rId42"/>
      <p:boldItalic r:id="rId43"/>
    </p:embeddedFont>
    <p:embeddedFont>
      <p:font typeface="Cutive" pitchFamily="2" charset="0"/>
      <p:regular r:id="rId44"/>
    </p:embeddedFont>
    <p:embeddedFont>
      <p:font typeface="Verdana" panose="020B060403050404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9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6ABC5E"/>
    <a:srgbClr val="BFBFBF"/>
    <a:srgbClr val="C9DF6F"/>
    <a:srgbClr val="417DBF"/>
    <a:srgbClr val="3F2A67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0397" autoAdjust="0"/>
    <p:restoredTop sz="92342"/>
  </p:normalViewPr>
  <p:slideViewPr>
    <p:cSldViewPr snapToGrid="0">
      <p:cViewPr varScale="1">
        <p:scale>
          <a:sx n="124" d="100"/>
          <a:sy n="124" d="100"/>
        </p:scale>
        <p:origin x="99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59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60473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4158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3817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843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8103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8637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1059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4064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3187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1316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5488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91853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38053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4597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76176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96709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26101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1741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25.tiff"/><Relationship Id="rId4" Type="http://schemas.openxmlformats.org/officeDocument/2006/relationships/image" Target="../media/image24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9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Scale Factors – Perimeter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203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2608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36890" y="1581732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MA.7.GR.1.5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dimensions and areas of geometric figures, including scale drawings and scale factors.  </a:t>
            </a: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79;g104476d1465_1_17"/>
          <p:cNvSpPr txBox="1">
            <a:spLocks/>
          </p:cNvSpPr>
          <p:nvPr/>
        </p:nvSpPr>
        <p:spPr>
          <a:xfrm>
            <a:off x="1162188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9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156716" y="83100"/>
            <a:ext cx="891997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1156716" y="1582536"/>
            <a:ext cx="10080000" cy="446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9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60349" y="8310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522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4924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9750" indent="-539750">
              <a:buFont typeface="Wingdings" pitchFamily="2" charset="2"/>
              <a:buChar char="q"/>
              <a:tabLst>
                <a:tab pos="539750" algn="l"/>
              </a:tabLst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relate the perimeters of rectangles to their scale factors. </a:t>
            </a: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63496" y="8310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5.5.1 Warm-Up: Scaled Copies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9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26968" y="1459000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rectangles are shown with their dimensions missing. 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DDC7E384-A0D7-7F4D-9905-FD75C18B192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9143" y="1954795"/>
            <a:ext cx="4826227" cy="4773191"/>
          </a:xfrm>
          <a:prstGeom prst="rect">
            <a:avLst/>
          </a:prstGeom>
        </p:spPr>
      </p:pic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27712" y="381000"/>
                <a:ext cx="10800000" cy="3118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lengths and widths of Rectangle A and Rectangle B </a:t>
                </a:r>
              </a:p>
              <a:p>
                <a:pPr marL="447675">
                  <a:lnSpc>
                    <a:spcPct val="20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that make the ratios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width</m:t>
                        </m:r>
                        <m: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of</m:t>
                        </m:r>
                        <m: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Rectangle</m:t>
                        </m:r>
                        <m: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width</m:t>
                        </m:r>
                        <m: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of</m:t>
                        </m:r>
                        <m: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Rectangle</m:t>
                        </m:r>
                        <m: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B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length</m:t>
                        </m:r>
                        <m: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of</m:t>
                        </m:r>
                        <m: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Rectangle</m:t>
                        </m:r>
                        <m: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length</m:t>
                        </m:r>
                        <m: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of</m:t>
                        </m:r>
                        <m: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Rectangle</m:t>
                        </m:r>
                        <m: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B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equal? Fill in the blue boxes using only the digits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0−9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so that each box has a different number inside.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12" y="381000"/>
                <a:ext cx="10800000" cy="3118931"/>
              </a:xfrm>
              <a:prstGeom prst="rect">
                <a:avLst/>
              </a:prstGeom>
              <a:blipFill rotWithShape="1">
                <a:blip r:embed="rId3"/>
                <a:stretch>
                  <a:fillRect l="-903" t="-1566" r="-141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9178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6.png" descr="Icon&#10;&#10;Description automatically generated">
            <a:extLst>
              <a:ext uri="{FF2B5EF4-FFF2-40B4-BE49-F238E27FC236}">
                <a16:creationId xmlns:a16="http://schemas.microsoft.com/office/drawing/2014/main" id="{893078A3-C5AD-EC41-8D1C-35C1FBA7238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01428" y="2829169"/>
            <a:ext cx="1148148" cy="1148148"/>
          </a:xfrm>
          <a:prstGeom prst="rect">
            <a:avLst/>
          </a:prstGeom>
          <a:ln/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64810" y="83100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5.5.2 Guided Instruction: Scale Drawings and Scale Factors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07" y="1461464"/>
            <a:ext cx="10800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warm-up, the ratio of the widths of rectangles 𝐴 and 𝐵 is equivalent to the ratio of the lengths of rectangles 𝐴 and 𝐵. Therefore, rectangle 𝐴 is a scale model of rectangle 𝐵. </a:t>
            </a:r>
          </a:p>
        </p:txBody>
      </p:sp>
      <p:pic>
        <p:nvPicPr>
          <p:cNvPr id="11" name="image6.png" descr="Icon&#10;&#10;Description automatically generated">
            <a:extLst>
              <a:ext uri="{FF2B5EF4-FFF2-40B4-BE49-F238E27FC236}">
                <a16:creationId xmlns:a16="http://schemas.microsoft.com/office/drawing/2014/main" id="{797A3092-3E73-EA40-89DD-C952113E9EA5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9950" y="372301"/>
            <a:ext cx="747299" cy="747299"/>
          </a:xfrm>
          <a:prstGeom prst="rect">
            <a:avLst/>
          </a:prstGeom>
          <a:ln/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E42C762-2BBF-1D49-A6FB-F7F08901145A}"/>
              </a:ext>
            </a:extLst>
          </p:cNvPr>
          <p:cNvGrpSpPr/>
          <p:nvPr/>
        </p:nvGrpSpPr>
        <p:grpSpPr>
          <a:xfrm>
            <a:off x="2781300" y="2906000"/>
            <a:ext cx="6629400" cy="1054100"/>
            <a:chOff x="2031300" y="3262288"/>
            <a:chExt cx="6629400" cy="103542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370559E-CC36-5343-A3BC-CC6FF8483938}"/>
                </a:ext>
              </a:extLst>
            </p:cNvPr>
            <p:cNvGrpSpPr/>
            <p:nvPr/>
          </p:nvGrpSpPr>
          <p:grpSpPr>
            <a:xfrm>
              <a:off x="2031300" y="3262288"/>
              <a:ext cx="6629400" cy="1035424"/>
              <a:chOff x="2031300" y="3373600"/>
              <a:chExt cx="6629400" cy="103542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75C9A7C-63F1-FA44-A090-C7F29E04E183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B124738-D8E1-E647-8220-C00FA5DBEC7D}"/>
                  </a:ext>
                </a:extLst>
              </p:cNvPr>
              <p:cNvGrpSpPr/>
              <p:nvPr/>
            </p:nvGrpSpPr>
            <p:grpSpPr>
              <a:xfrm>
                <a:off x="2031300" y="3373600"/>
                <a:ext cx="6629400" cy="1035424"/>
                <a:chOff x="2031300" y="3373600"/>
                <a:chExt cx="6629400" cy="1035424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C9F1D1B4-A63F-FD42-BDB6-6983958E679E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Cambria" panose="02040503050406030204" pitchFamily="18" charset="0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endParaRPr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B9C98D42-AA45-3C40-B269-8101F13294D0}"/>
                    </a:ext>
                  </a:extLst>
                </p:cNvPr>
                <p:cNvGrpSpPr/>
                <p:nvPr/>
              </p:nvGrpSpPr>
              <p:grpSpPr>
                <a:xfrm>
                  <a:off x="2031300" y="3373600"/>
                  <a:ext cx="6629400" cy="1035424"/>
                  <a:chOff x="0" y="0"/>
                  <a:chExt cx="6629400" cy="1035424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6A4BD2BB-E4D1-A246-B497-D1AE9E0B24E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Cambria" panose="02040503050406030204" pitchFamily="18" charset="0"/>
                      <a:cs typeface="Cambria" panose="02040503050406030204" pitchFamily="18" charset="0"/>
                    </a:endParaRPr>
                  </a:p>
                </p:txBody>
              </p:sp>
              <p:sp>
                <p:nvSpPr>
                  <p:cNvPr id="17" name="Rounded Rectangle 16">
                    <a:extLst>
                      <a:ext uri="{FF2B5EF4-FFF2-40B4-BE49-F238E27FC236}">
                        <a16:creationId xmlns:a16="http://schemas.microsoft.com/office/drawing/2014/main" id="{960046BF-C4E3-B041-ADBC-91E14DA16FC6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629400" cy="1035424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144000" rIns="91425" bIns="45700" anchor="ctr" anchorCtr="0">
                    <a:noAutofit/>
                  </a:bodyPr>
                  <a:lstStyle/>
                  <a:p>
                    <a:pPr marL="457200" indent="165100">
                      <a:spcAft>
                        <a:spcPts val="1000"/>
                      </a:spcAft>
                    </a:pPr>
                    <a:r>
                      <a:rPr lang="en-US" sz="18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A</a:t>
                    </a:r>
                    <a:r>
                      <a:rPr lang="en-US" sz="1800" b="1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scale model</a:t>
                    </a:r>
                    <a:r>
                      <a:rPr lang="en-US" sz="1800" b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</a:t>
                    </a:r>
                    <a:r>
                      <a:rPr lang="en-US" sz="18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is a model or drawing </a:t>
                    </a:r>
                    <a:br>
                      <a:rPr lang="en-US" sz="18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</a:br>
                    <a:r>
                      <a:rPr lang="en-US" sz="18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 based on a ratio of the dimensions for the </a:t>
                    </a:r>
                    <a:br>
                      <a:rPr lang="en-US" sz="18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</a:br>
                    <a:r>
                      <a:rPr lang="en-US" sz="18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 model and the actual object it represents.</a:t>
                    </a:r>
                    <a:r>
                      <a: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rPr>
                      <a:t> </a:t>
                    </a:r>
                    <a:endParaRPr lang="x-none" sz="1200" dirty="0">
                      <a:latin typeface="Cambria" panose="02040503050406030204" pitchFamily="18" charset="0"/>
                      <a:ea typeface="Cambria" panose="02040503050406030204" pitchFamily="18" charset="0"/>
                      <a:cs typeface="Cambria" panose="02040503050406030204" pitchFamily="18" charset="0"/>
                    </a:endParaRPr>
                  </a:p>
                </p:txBody>
              </p:sp>
              <p:pic>
                <p:nvPicPr>
                  <p:cNvPr id="18" name="Shape 9" descr="Icon&#10;&#10;Description automatically generated">
                    <a:extLst>
                      <a:ext uri="{FF2B5EF4-FFF2-40B4-BE49-F238E27FC236}">
                        <a16:creationId xmlns:a16="http://schemas.microsoft.com/office/drawing/2014/main" id="{C4E572E2-7C42-9A43-9B35-3F13BF7195CA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4" cstate="screen">
                    <a:alphaModFix/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>
                  <a:xfrm>
                    <a:off x="138545" y="92367"/>
                    <a:ext cx="539750" cy="5397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</p:grpSp>
          </p:grpSp>
        </p:grpSp>
      </p:grpSp>
      <p:pic>
        <p:nvPicPr>
          <p:cNvPr id="1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0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330F31-6BC7-B146-B595-34E70253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250" y="377837"/>
            <a:ext cx="753675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keychain shown of the Eiffel Tower is a scale model of the real Eiffel Tower in Paris.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0" indent="-4445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Sketch a drawing of the Eiffel Tower that is not a scale model.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B898AF-74F7-194E-A6C9-ECFAAEA6059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40618" y="377837"/>
            <a:ext cx="2587632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7A1CFAB-C323-3C4D-B40F-2D3C6339A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821" y="3908742"/>
            <a:ext cx="10800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889000" indent="-4445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why your drawing is not a scale model. Write a summary of your discussion.</a:t>
            </a: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2686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D330F31-6BC7-B146-B595-34E702536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249" y="381032"/>
                <a:ext cx="10800000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Celeste drew an outline of a building for a diagram, and then drew a second model slightly smaller than her original drawing. Each gridline represents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centimeter (cm).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D330F31-6BC7-B146-B595-34E7025365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8249" y="381032"/>
                <a:ext cx="10800000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903" t="-4082" b="-107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66DEE91-0F78-6549-8E93-AD696CF5989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7420" y="2030532"/>
            <a:ext cx="5217160" cy="315277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618AB51-008C-8A42-BD4D-0808022AA99A}"/>
              </a:ext>
            </a:extLst>
          </p:cNvPr>
          <p:cNvGrpSpPr/>
          <p:nvPr/>
        </p:nvGrpSpPr>
        <p:grpSpPr>
          <a:xfrm>
            <a:off x="4351380" y="1831142"/>
            <a:ext cx="3780789" cy="3551553"/>
            <a:chOff x="0" y="0"/>
            <a:chExt cx="3780822" cy="3551740"/>
          </a:xfrm>
        </p:grpSpPr>
        <p:sp>
          <p:nvSpPr>
            <p:cNvPr id="8" name="Text Box 39">
              <a:extLst>
                <a:ext uri="{FF2B5EF4-FFF2-40B4-BE49-F238E27FC236}">
                  <a16:creationId xmlns:a16="http://schemas.microsoft.com/office/drawing/2014/main" id="{1999A2A7-A699-8443-B600-9F3B8801472C}"/>
                </a:ext>
              </a:extLst>
            </p:cNvPr>
            <p:cNvSpPr txBox="1"/>
            <p:nvPr/>
          </p:nvSpPr>
          <p:spPr>
            <a:xfrm>
              <a:off x="613458" y="0"/>
              <a:ext cx="1143000" cy="4381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600" b="1" dirty="0">
                  <a:latin typeface="Verdana" panose="020B0604030504040204" pitchFamily="34" charset="0"/>
                  <a:ea typeface="Cambria" panose="02040503050406030204" pitchFamily="18" charset="0"/>
                  <a:cs typeface="Cambria" panose="02040503050406030204" pitchFamily="18" charset="0"/>
                </a:rPr>
                <a:t>Figure A</a:t>
              </a:r>
              <a:endParaRPr lang="x-none" sz="120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endParaRPr>
            </a:p>
          </p:txBody>
        </p:sp>
        <p:sp>
          <p:nvSpPr>
            <p:cNvPr id="9" name="Text Box 40">
              <a:extLst>
                <a:ext uri="{FF2B5EF4-FFF2-40B4-BE49-F238E27FC236}">
                  <a16:creationId xmlns:a16="http://schemas.microsoft.com/office/drawing/2014/main" id="{B0ACE77F-89FD-0840-8D04-1CDE48F69375}"/>
                </a:ext>
              </a:extLst>
            </p:cNvPr>
            <p:cNvSpPr txBox="1"/>
            <p:nvPr/>
          </p:nvSpPr>
          <p:spPr>
            <a:xfrm>
              <a:off x="1990845" y="1423686"/>
              <a:ext cx="1143000" cy="4381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600" b="1">
                  <a:latin typeface="Verdana" panose="020B0604030504040204" pitchFamily="34" charset="0"/>
                  <a:ea typeface="Cambria" panose="02040503050406030204" pitchFamily="18" charset="0"/>
                  <a:cs typeface="Cambria" panose="02040503050406030204" pitchFamily="18" charset="0"/>
                </a:rPr>
                <a:t>Figure B</a:t>
              </a:r>
              <a:endParaRPr lang="x-none" sz="120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endParaRPr>
            </a:p>
          </p:txBody>
        </p:sp>
        <p:sp>
          <p:nvSpPr>
            <p:cNvPr id="10" name="Text Box 41">
              <a:extLst>
                <a:ext uri="{FF2B5EF4-FFF2-40B4-BE49-F238E27FC236}">
                  <a16:creationId xmlns:a16="http://schemas.microsoft.com/office/drawing/2014/main" id="{D24243DA-52DD-DE49-B119-255BE121CC02}"/>
                </a:ext>
              </a:extLst>
            </p:cNvPr>
            <p:cNvSpPr txBox="1"/>
            <p:nvPr/>
          </p:nvSpPr>
          <p:spPr>
            <a:xfrm>
              <a:off x="0" y="1516284"/>
              <a:ext cx="933450" cy="4381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 b="1">
                  <a:latin typeface="Verdana" panose="020B0604030504040204" pitchFamily="34" charset="0"/>
                  <a:ea typeface="Cambria" panose="02040503050406030204" pitchFamily="18" charset="0"/>
                  <a:cs typeface="Cambria" panose="02040503050406030204" pitchFamily="18" charset="0"/>
                </a:rPr>
                <a:t>width</a:t>
              </a:r>
              <a:endParaRPr lang="x-none" sz="120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endParaRPr>
            </a:p>
          </p:txBody>
        </p:sp>
        <p:sp>
          <p:nvSpPr>
            <p:cNvPr id="11" name="Text Box 42">
              <a:extLst>
                <a:ext uri="{FF2B5EF4-FFF2-40B4-BE49-F238E27FC236}">
                  <a16:creationId xmlns:a16="http://schemas.microsoft.com/office/drawing/2014/main" id="{4AAACE81-C464-D144-9E56-21F67C7FF9DC}"/>
                </a:ext>
              </a:extLst>
            </p:cNvPr>
            <p:cNvSpPr txBox="1"/>
            <p:nvPr/>
          </p:nvSpPr>
          <p:spPr>
            <a:xfrm>
              <a:off x="821801" y="3113590"/>
              <a:ext cx="1143000" cy="4381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 b="1">
                  <a:latin typeface="Verdana" panose="020B0604030504040204" pitchFamily="34" charset="0"/>
                  <a:ea typeface="Cambria" panose="02040503050406030204" pitchFamily="18" charset="0"/>
                  <a:cs typeface="Cambria" panose="02040503050406030204" pitchFamily="18" charset="0"/>
                </a:rPr>
                <a:t>length</a:t>
              </a:r>
              <a:endParaRPr lang="x-none" sz="120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endParaRPr>
            </a:p>
          </p:txBody>
        </p:sp>
        <p:sp>
          <p:nvSpPr>
            <p:cNvPr id="13" name="Text Box 43">
              <a:extLst>
                <a:ext uri="{FF2B5EF4-FFF2-40B4-BE49-F238E27FC236}">
                  <a16:creationId xmlns:a16="http://schemas.microsoft.com/office/drawing/2014/main" id="{AFD8F2DB-8B4B-8245-B55E-DC2DC1EE6AFD}"/>
                </a:ext>
              </a:extLst>
            </p:cNvPr>
            <p:cNvSpPr txBox="1"/>
            <p:nvPr/>
          </p:nvSpPr>
          <p:spPr>
            <a:xfrm>
              <a:off x="2847372" y="2245489"/>
              <a:ext cx="933450" cy="4381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 b="1">
                  <a:latin typeface="Verdana" panose="020B0604030504040204" pitchFamily="34" charset="0"/>
                  <a:ea typeface="Cambria" panose="02040503050406030204" pitchFamily="18" charset="0"/>
                  <a:cs typeface="Cambria" panose="02040503050406030204" pitchFamily="18" charset="0"/>
                </a:rPr>
                <a:t>width</a:t>
              </a:r>
              <a:endParaRPr lang="x-none" sz="120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endParaRPr>
            </a:p>
          </p:txBody>
        </p:sp>
        <p:sp>
          <p:nvSpPr>
            <p:cNvPr id="14" name="Text Box 44">
              <a:extLst>
                <a:ext uri="{FF2B5EF4-FFF2-40B4-BE49-F238E27FC236}">
                  <a16:creationId xmlns:a16="http://schemas.microsoft.com/office/drawing/2014/main" id="{F1E43FF2-DC18-3143-86AA-BE9F4D6DC358}"/>
                </a:ext>
              </a:extLst>
            </p:cNvPr>
            <p:cNvSpPr txBox="1"/>
            <p:nvPr/>
          </p:nvSpPr>
          <p:spPr>
            <a:xfrm>
              <a:off x="2233914" y="3113590"/>
              <a:ext cx="1143000" cy="4381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 b="1">
                  <a:latin typeface="Verdana" panose="020B0604030504040204" pitchFamily="34" charset="0"/>
                  <a:ea typeface="Cambria" panose="02040503050406030204" pitchFamily="18" charset="0"/>
                  <a:cs typeface="Cambria" panose="02040503050406030204" pitchFamily="18" charset="0"/>
                </a:rPr>
                <a:t>length</a:t>
              </a:r>
              <a:endParaRPr lang="x-none" sz="120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endParaRPr>
            </a:p>
          </p:txBody>
        </p:sp>
      </p:grpSp>
      <p:pic>
        <p:nvPicPr>
          <p:cNvPr id="15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9402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330F31-6BC7-B146-B595-34E70253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07" y="382939"/>
            <a:ext cx="10800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length of Figure A and the length of Figure B can be written as a ratio because they are corresponding parts. This is also true for the widths of the figures.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45FBD36-6091-1C44-958B-A40B9461C6EE}"/>
              </a:ext>
            </a:extLst>
          </p:cNvPr>
          <p:cNvGrpSpPr/>
          <p:nvPr/>
        </p:nvGrpSpPr>
        <p:grpSpPr>
          <a:xfrm>
            <a:off x="2772870" y="1983619"/>
            <a:ext cx="6629400" cy="1284095"/>
            <a:chOff x="2031300" y="3260639"/>
            <a:chExt cx="6629400" cy="126134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018EE8-F78C-C346-BB32-677DDA31BA77}"/>
                </a:ext>
              </a:extLst>
            </p:cNvPr>
            <p:cNvSpPr/>
            <p:nvPr/>
          </p:nvSpPr>
          <p:spPr>
            <a:xfrm>
              <a:off x="2031300" y="3373600"/>
              <a:ext cx="6629400" cy="10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rPr>
                <a:t> </a:t>
              </a:r>
              <a:endParaRPr lang="x-none" sz="120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D86A0FF-E05A-E743-9EF4-E90EC7660627}"/>
                </a:ext>
              </a:extLst>
            </p:cNvPr>
            <p:cNvGrpSpPr/>
            <p:nvPr/>
          </p:nvGrpSpPr>
          <p:grpSpPr>
            <a:xfrm>
              <a:off x="2031300" y="3260639"/>
              <a:ext cx="6629400" cy="1261343"/>
              <a:chOff x="2031300" y="3260639"/>
              <a:chExt cx="6629400" cy="1261343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F5EB1F2-A56B-004B-8BB3-6A2AD33B5FDE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endParaRP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DBC79BC-4B64-964B-861E-BC51FDB4F73B}"/>
                  </a:ext>
                </a:extLst>
              </p:cNvPr>
              <p:cNvGrpSpPr/>
              <p:nvPr/>
            </p:nvGrpSpPr>
            <p:grpSpPr>
              <a:xfrm>
                <a:off x="2031300" y="3260639"/>
                <a:ext cx="6629400" cy="1261343"/>
                <a:chOff x="0" y="-112961"/>
                <a:chExt cx="6629400" cy="1261343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DEBE0BED-527C-A846-8BEE-E70FF98C589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Cambria" panose="02040503050406030204" pitchFamily="18" charset="0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endParaRPr>
                </a:p>
              </p:txBody>
            </p:sp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3D5696CA-09FD-E449-B7AF-7E858EBF3CE4}"/>
                    </a:ext>
                  </a:extLst>
                </p:cNvPr>
                <p:cNvSpPr/>
                <p:nvPr/>
              </p:nvSpPr>
              <p:spPr>
                <a:xfrm>
                  <a:off x="0" y="-112961"/>
                  <a:ext cx="6629400" cy="1261343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</p:spPr>
              <p:txBody>
                <a:bodyPr spcFirstLastPara="1" wrap="square" lIns="91425" tIns="108000" rIns="91425" bIns="0" anchor="ctr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Corresponding parts</a:t>
                  </a:r>
                  <a:r>
                    <a:rPr lang="en-US" sz="2000" b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are parts of each figure that are in the same position in relation to the rest of each figure.</a:t>
                  </a:r>
                  <a:endParaRPr lang="x-none" sz="2000" dirty="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endParaRPr>
                </a:p>
              </p:txBody>
            </p:sp>
          </p:grpSp>
        </p:grpSp>
      </p:grp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3928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D330F31-6BC7-B146-B595-34E702536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249" y="384019"/>
                <a:ext cx="10800000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3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table for Figures A and B. Each gridline represents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cm.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D330F31-6BC7-B146-B595-34E7025365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8249" y="384019"/>
                <a:ext cx="10800000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903" t="-5147" b="-161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7C372C9-60FD-DD4D-B789-F72A1390FD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5289939"/>
                  </p:ext>
                </p:extLst>
              </p:nvPr>
            </p:nvGraphicFramePr>
            <p:xfrm>
              <a:off x="2748725" y="1410793"/>
              <a:ext cx="6657975" cy="2313496"/>
            </p:xfrm>
            <a:graphic>
              <a:graphicData uri="http://schemas.openxmlformats.org/drawingml/2006/table">
                <a:tbl>
                  <a:tblPr/>
                  <a:tblGrid>
                    <a:gridCol w="2952750">
                      <a:extLst>
                        <a:ext uri="{9D8B030D-6E8A-4147-A177-3AD203B41FA5}">
                          <a16:colId xmlns:a16="http://schemas.microsoft.com/office/drawing/2014/main" val="1383611618"/>
                        </a:ext>
                      </a:extLst>
                    </a:gridCol>
                    <a:gridCol w="1866900">
                      <a:extLst>
                        <a:ext uri="{9D8B030D-6E8A-4147-A177-3AD203B41FA5}">
                          <a16:colId xmlns:a16="http://schemas.microsoft.com/office/drawing/2014/main" val="3359286645"/>
                        </a:ext>
                      </a:extLst>
                    </a:gridCol>
                    <a:gridCol w="1838325">
                      <a:extLst>
                        <a:ext uri="{9D8B030D-6E8A-4147-A177-3AD203B41FA5}">
                          <a16:colId xmlns:a16="http://schemas.microsoft.com/office/drawing/2014/main" val="314275683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Length (cm)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Width (cm)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99116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Figure A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1646668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Figure B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33372764"/>
                      </a:ext>
                    </a:extLst>
                  </a:tr>
                  <a:tr h="7810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 of Corresponding Parts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Figure</m:t>
                                  </m:r>
                                  <m: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A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Figure</m:t>
                                  </m:r>
                                  <m: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B</m:t>
                                  </m:r>
                                </m:den>
                              </m:f>
                            </m:oMath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16192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7C372C9-60FD-DD4D-B789-F72A1390FD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5289939"/>
                  </p:ext>
                </p:extLst>
              </p:nvPr>
            </p:nvGraphicFramePr>
            <p:xfrm>
              <a:off x="2748725" y="1410793"/>
              <a:ext cx="6657975" cy="2313496"/>
            </p:xfrm>
            <a:graphic>
              <a:graphicData uri="http://schemas.openxmlformats.org/drawingml/2006/table">
                <a:tbl>
                  <a:tblPr/>
                  <a:tblGrid>
                    <a:gridCol w="295275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383611618"/>
                        </a:ext>
                      </a:extLst>
                    </a:gridCol>
                    <a:gridCol w="18669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359286645"/>
                        </a:ext>
                      </a:extLst>
                    </a:gridCol>
                    <a:gridCol w="183832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142756837"/>
                        </a:ext>
                      </a:extLst>
                    </a:gridCol>
                  </a:tblGrid>
                  <a:tr h="40132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Length (cm)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Width (cm)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549911680"/>
                      </a:ext>
                    </a:extLst>
                  </a:tr>
                  <a:tr h="401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Figure A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716466688"/>
                      </a:ext>
                    </a:extLst>
                  </a:tr>
                  <a:tr h="4013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Figure B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933372764"/>
                      </a:ext>
                    </a:extLst>
                  </a:tr>
                  <a:tr h="11095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207" t="-109890" r="-125826" b="-16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3500" marR="63500" marT="63500" marB="6350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61619276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2041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330F31-6BC7-B146-B595-34E70253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93" y="384200"/>
            <a:ext cx="10800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model is a scale model if the ratios of the corresponding parts of the figures are equivalent. These ratios can be used to determine the scale factor that relates the figures.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F8A7DF6-2C70-7843-8785-9756AFC95A83}"/>
              </a:ext>
            </a:extLst>
          </p:cNvPr>
          <p:cNvGrpSpPr/>
          <p:nvPr/>
        </p:nvGrpSpPr>
        <p:grpSpPr>
          <a:xfrm>
            <a:off x="2781300" y="1843984"/>
            <a:ext cx="6629400" cy="1544177"/>
            <a:chOff x="2031300" y="3150060"/>
            <a:chExt cx="6629400" cy="151714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776E9F-93D3-DD4D-86E1-5A607DF1C96D}"/>
                </a:ext>
              </a:extLst>
            </p:cNvPr>
            <p:cNvGrpSpPr/>
            <p:nvPr/>
          </p:nvGrpSpPr>
          <p:grpSpPr>
            <a:xfrm>
              <a:off x="2031300" y="3150060"/>
              <a:ext cx="6629400" cy="1517140"/>
              <a:chOff x="2031300" y="3261372"/>
              <a:chExt cx="6629400" cy="151714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871125A-33C4-134F-A936-CEE345C44595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946EE37-8450-6143-8BB4-13EE274892E2}"/>
                  </a:ext>
                </a:extLst>
              </p:cNvPr>
              <p:cNvGrpSpPr/>
              <p:nvPr/>
            </p:nvGrpSpPr>
            <p:grpSpPr>
              <a:xfrm>
                <a:off x="2031300" y="3261372"/>
                <a:ext cx="6629400" cy="1517140"/>
                <a:chOff x="2031300" y="3261372"/>
                <a:chExt cx="6629400" cy="1517140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6DC5867-A411-CF4A-A859-303934BD8A8F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Cambria" panose="02040503050406030204" pitchFamily="18" charset="0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endParaRPr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E1899372-2452-B842-A592-584506F678B4}"/>
                    </a:ext>
                  </a:extLst>
                </p:cNvPr>
                <p:cNvGrpSpPr/>
                <p:nvPr/>
              </p:nvGrpSpPr>
              <p:grpSpPr>
                <a:xfrm>
                  <a:off x="2031300" y="3261372"/>
                  <a:ext cx="6629400" cy="1517140"/>
                  <a:chOff x="0" y="-112228"/>
                  <a:chExt cx="6629400" cy="1517140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A20767B8-9C9F-9F4F-B661-9855A558375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rPr>
                      <a:t> </a:t>
                    </a:r>
                    <a:endParaRPr lang="x-none" sz="1200">
                      <a:latin typeface="Cambria" panose="02040503050406030204" pitchFamily="18" charset="0"/>
                      <a:ea typeface="Cambria" panose="02040503050406030204" pitchFamily="18" charset="0"/>
                      <a:cs typeface="Cambria" panose="02040503050406030204" pitchFamily="18" charset="0"/>
                    </a:endParaRPr>
                  </a:p>
                </p:txBody>
              </p:sp>
              <p:sp>
                <p:nvSpPr>
                  <p:cNvPr id="14" name="Rounded Rectangle 13">
                    <a:extLst>
                      <a:ext uri="{FF2B5EF4-FFF2-40B4-BE49-F238E27FC236}">
                        <a16:creationId xmlns:a16="http://schemas.microsoft.com/office/drawing/2014/main" id="{9AF833FC-DB4B-F54F-B503-49BF74A17AC7}"/>
                      </a:ext>
                    </a:extLst>
                  </p:cNvPr>
                  <p:cNvSpPr/>
                  <p:nvPr/>
                </p:nvSpPr>
                <p:spPr>
                  <a:xfrm>
                    <a:off x="0" y="-112228"/>
                    <a:ext cx="6629400" cy="15171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36000" rIns="91425" bIns="0" anchor="ctr" anchorCtr="0">
                    <a:spAutoFit/>
                  </a:bodyPr>
                  <a:lstStyle/>
                  <a:p>
                    <a:pPr marL="685800">
                      <a:spcAft>
                        <a:spcPts val="1000"/>
                      </a:spcAft>
                    </a:pPr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A </a:t>
                    </a:r>
                    <a:r>
                      <a:rPr lang="en-US" sz="2000" b="1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scale factor </a:t>
                    </a:r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is the constant that is multiplied by the length of each side of a figure to produce an image that is the same shape as the original figure.</a:t>
                    </a:r>
                    <a:r>
                      <a:rPr lang="en-US" sz="20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rPr>
                      <a:t> </a:t>
                    </a:r>
                    <a:endParaRPr lang="x-none" sz="2000" dirty="0">
                      <a:latin typeface="Cambria" panose="02040503050406030204" pitchFamily="18" charset="0"/>
                      <a:ea typeface="Cambria" panose="02040503050406030204" pitchFamily="18" charset="0"/>
                      <a:cs typeface="Cambria" panose="02040503050406030204" pitchFamily="18" charset="0"/>
                    </a:endParaRPr>
                  </a:p>
                </p:txBody>
              </p:sp>
              <p:pic>
                <p:nvPicPr>
                  <p:cNvPr id="15" name="Shape 9" descr="Icon&#10;&#10;Description automatically generated">
                    <a:extLst>
                      <a:ext uri="{FF2B5EF4-FFF2-40B4-BE49-F238E27FC236}">
                        <a16:creationId xmlns:a16="http://schemas.microsoft.com/office/drawing/2014/main" id="{DABA481A-8995-BD47-A3AD-A91F16B48D6E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3" cstate="screen">
                    <a:alphaModFix/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/>
                  <a:stretch/>
                </p:blipFill>
                <p:spPr>
                  <a:xfrm>
                    <a:off x="138545" y="92367"/>
                    <a:ext cx="539750" cy="5397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</p:grpSp>
          </p:grp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723F25-7815-4D47-A6D9-420FCD955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393" y="3988153"/>
                <a:ext cx="10800000" cy="14152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4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what you notice about the scale factor that uses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s-ES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Figure</m:t>
                        </m:r>
                        <m:r>
                          <a:rPr lang="es-ES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s-ES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Figure</m:t>
                        </m:r>
                        <m:r>
                          <a:rPr lang="es-ES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den>
                    </m:f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the scale factor that uses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s-ES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Figure</m:t>
                        </m:r>
                        <m:r>
                          <a:rPr lang="es-ES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s-ES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Figure</m:t>
                        </m:r>
                        <m:r>
                          <a:rPr lang="es-ES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ES" alt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Write a summary of your discussion.</a:t>
                </a: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723F25-7815-4D47-A6D9-420FCD955B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393" y="3988153"/>
                <a:ext cx="10800000" cy="1415259"/>
              </a:xfrm>
              <a:prstGeom prst="rect">
                <a:avLst/>
              </a:prstGeom>
              <a:blipFill>
                <a:blip r:embed="rId4"/>
                <a:stretch>
                  <a:fillRect l="-940" t="-2655" b="-88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3028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416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330F31-6BC7-B146-B595-34E70253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250" y="387811"/>
            <a:ext cx="78970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Scale models can be scaled up or scaled down.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638D67-7904-A34F-8A90-E6B22E727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589391"/>
              </p:ext>
            </p:extLst>
          </p:nvPr>
        </p:nvGraphicFramePr>
        <p:xfrm>
          <a:off x="1580044" y="1181800"/>
          <a:ext cx="8640000" cy="2925355"/>
        </p:xfrm>
        <a:graphic>
          <a:graphicData uri="http://schemas.openxmlformats.org/drawingml/2006/table">
            <a:tbl>
              <a:tblPr firstRow="1" firstCol="1" bandRow="1"/>
              <a:tblGrid>
                <a:gridCol w="2880000">
                  <a:extLst>
                    <a:ext uri="{9D8B030D-6E8A-4147-A177-3AD203B41FA5}">
                      <a16:colId xmlns:a16="http://schemas.microsoft.com/office/drawing/2014/main" val="2121444179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242603085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735093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Scaled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Down From the Original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Original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Scaled Up From the Original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473715"/>
                  </a:ext>
                </a:extLst>
              </a:tr>
              <a:tr h="22053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9229963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95B29A1D-E10B-3840-B3B8-5AD03F0D25B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3008" y="2533587"/>
            <a:ext cx="1296035" cy="8629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147579-5083-6742-A233-F44547BEE04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2931" y="2375153"/>
            <a:ext cx="1771650" cy="11798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703F13D-80D0-5743-94AE-8093FCB7F35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8692" y="2121153"/>
            <a:ext cx="2533650" cy="1687830"/>
          </a:xfrm>
          <a:prstGeom prst="rect">
            <a:avLst/>
          </a:prstGeom>
        </p:spPr>
      </p:pic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5249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330F31-6BC7-B146-B595-34E70253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07" y="382682"/>
            <a:ext cx="108000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 startAt="5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statements about Figure A and Figure B.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445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scale factor that relates Figure A to Figure B is _______ because each side </a:t>
            </a:r>
            <a:b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length of Figure A is multiplied by this scale factor to get the side lengths of </a:t>
            </a:r>
            <a:b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B. </a:t>
            </a:r>
          </a:p>
          <a:p>
            <a:pPr marL="4445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is an example of scaling a figure                because the figure gets </a:t>
            </a:r>
          </a:p>
          <a:p>
            <a:pPr marL="4445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scale factor that relates Figure B to Figure A is _____, which is an example </a:t>
            </a:r>
            <a:b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scaling the figure                because the figure gets </a:t>
            </a:r>
          </a:p>
          <a:p>
            <a:pPr marL="4445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5C1AEC3F-F3AA-824E-BEB9-9A1D4038E73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38107" y="2827395"/>
            <a:ext cx="1210835" cy="873686"/>
          </a:xfrm>
          <a:prstGeom prst="rect">
            <a:avLst/>
          </a:prstGeom>
        </p:spPr>
      </p:pic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08C13D6D-2170-F74E-853A-1407A614329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2746" y="2776581"/>
            <a:ext cx="1551609" cy="873686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extLst>
              <a:ext uri="{FF2B5EF4-FFF2-40B4-BE49-F238E27FC236}">
                <a16:creationId xmlns:a16="http://schemas.microsoft.com/office/drawing/2014/main" id="{3D893A7C-B094-1C4D-BBA7-5772D1ACDB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5551" y="4703220"/>
            <a:ext cx="1210835" cy="873686"/>
          </a:xfrm>
          <a:prstGeom prst="rect">
            <a:avLst/>
          </a:prstGeom>
        </p:spPr>
      </p:pic>
      <p:pic>
        <p:nvPicPr>
          <p:cNvPr id="18" name="Picture 17" descr="A picture containing shape&#10;&#10;Description automatically generated">
            <a:extLst>
              <a:ext uri="{FF2B5EF4-FFF2-40B4-BE49-F238E27FC236}">
                <a16:creationId xmlns:a16="http://schemas.microsoft.com/office/drawing/2014/main" id="{13BB0282-B9F5-E54C-9E14-F98F2F67FC4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4888" y="4703220"/>
            <a:ext cx="1551609" cy="873686"/>
          </a:xfrm>
          <a:prstGeom prst="rect">
            <a:avLst/>
          </a:prstGeom>
        </p:spPr>
      </p:pic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3217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313;g104476d1465_1_39">
            <a:extLst>
              <a:ext uri="{FF2B5EF4-FFF2-40B4-BE49-F238E27FC236}">
                <a16:creationId xmlns:a16="http://schemas.microsoft.com/office/drawing/2014/main" id="{FBE81C39-C116-3E43-8FD2-10F6C7887F5E}"/>
              </a:ext>
            </a:extLst>
          </p:cNvPr>
          <p:cNvSpPr txBox="1">
            <a:spLocks/>
          </p:cNvSpPr>
          <p:nvPr/>
        </p:nvSpPr>
        <p:spPr>
          <a:xfrm>
            <a:off x="5597311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8.png" descr="Icon&#10;&#10;Description automatically generated">
            <a:extLst>
              <a:ext uri="{FF2B5EF4-FFF2-40B4-BE49-F238E27FC236}">
                <a16:creationId xmlns:a16="http://schemas.microsoft.com/office/drawing/2014/main" id="{B7CF1B7F-6D46-1F4D-AEAF-001F21A7F71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445163" y="2852920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9040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865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61918" y="79990"/>
            <a:ext cx="1051497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5.5.3 Exploration: Scale Factor and Perimeter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5356" y="1467226"/>
                <a:ext cx="108000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Paolo drew Figure X to represent a picture he’s putting in an advertisement he is designing. Paolo’s rectangle has a length (L)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units by a width (W)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units. Because he has several design options for his advertisement, he also drew a scale model, Figure Y, with a length (L)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units and a width (W) of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units.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56" y="1467226"/>
                <a:ext cx="10800000" cy="2246769"/>
              </a:xfrm>
              <a:prstGeom prst="rect">
                <a:avLst/>
              </a:prstGeom>
              <a:blipFill rotWithShape="1">
                <a:blip r:embed="rId3"/>
                <a:stretch>
                  <a:fillRect l="-621" t="-1359" r="-339" b="-407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8.png" descr="Icon&#10;&#10;Description automatically generated">
            <a:extLst>
              <a:ext uri="{FF2B5EF4-FFF2-40B4-BE49-F238E27FC236}">
                <a16:creationId xmlns:a16="http://schemas.microsoft.com/office/drawing/2014/main" id="{BB23145B-E454-1E4E-8BFC-AE8BF7469E7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9950" y="366080"/>
            <a:ext cx="753520" cy="753520"/>
          </a:xfrm>
          <a:prstGeom prst="rect">
            <a:avLst/>
          </a:prstGeom>
          <a:ln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1DA637-1A50-8B44-AE41-1D1CB39B686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1623" y="4168309"/>
            <a:ext cx="4551335" cy="178272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B458243-FC4D-BB44-BBF0-D52A9434D428}"/>
              </a:ext>
            </a:extLst>
          </p:cNvPr>
          <p:cNvGrpSpPr/>
          <p:nvPr/>
        </p:nvGrpSpPr>
        <p:grpSpPr>
          <a:xfrm>
            <a:off x="3513324" y="4020740"/>
            <a:ext cx="5165351" cy="2222139"/>
            <a:chOff x="0" y="0"/>
            <a:chExt cx="6403535" cy="2754794"/>
          </a:xfrm>
        </p:grpSpPr>
        <p:sp>
          <p:nvSpPr>
            <p:cNvPr id="12" name="Text Box 46">
              <a:extLst>
                <a:ext uri="{FF2B5EF4-FFF2-40B4-BE49-F238E27FC236}">
                  <a16:creationId xmlns:a16="http://schemas.microsoft.com/office/drawing/2014/main" id="{537236E0-0EA6-3B49-AFBD-B16BC8A6C442}"/>
                </a:ext>
              </a:extLst>
            </p:cNvPr>
            <p:cNvSpPr txBox="1"/>
            <p:nvPr/>
          </p:nvSpPr>
          <p:spPr>
            <a:xfrm>
              <a:off x="1414363" y="0"/>
              <a:ext cx="1943100" cy="60190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b="1" dirty="0">
                  <a:latin typeface="Verdana" panose="020B0604030504040204" pitchFamily="34" charset="0"/>
                  <a:ea typeface="Cambria" panose="02040503050406030204" pitchFamily="18" charset="0"/>
                  <a:cs typeface="Cambria" panose="02040503050406030204" pitchFamily="18" charset="0"/>
                </a:rPr>
                <a:t>Figure X</a:t>
              </a:r>
              <a:endParaRPr lang="x-none" sz="105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endParaRPr>
            </a:p>
          </p:txBody>
        </p:sp>
        <p:sp>
          <p:nvSpPr>
            <p:cNvPr id="13" name="Text Box 47">
              <a:extLst>
                <a:ext uri="{FF2B5EF4-FFF2-40B4-BE49-F238E27FC236}">
                  <a16:creationId xmlns:a16="http://schemas.microsoft.com/office/drawing/2014/main" id="{4ED0E024-1879-CD4C-85D6-84B4CB391EE7}"/>
                </a:ext>
              </a:extLst>
            </p:cNvPr>
            <p:cNvSpPr txBox="1"/>
            <p:nvPr/>
          </p:nvSpPr>
          <p:spPr>
            <a:xfrm>
              <a:off x="4460435" y="914401"/>
              <a:ext cx="1943100" cy="601903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b="1" dirty="0">
                  <a:latin typeface="Verdana" panose="020B0604030504040204" pitchFamily="34" charset="0"/>
                  <a:ea typeface="Cambria" panose="02040503050406030204" pitchFamily="18" charset="0"/>
                  <a:cs typeface="Cambria" panose="02040503050406030204" pitchFamily="18" charset="0"/>
                </a:rPr>
                <a:t>Figure Y</a:t>
              </a:r>
              <a:endParaRPr lang="x-none" sz="105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48">
                  <a:extLst>
                    <a:ext uri="{FF2B5EF4-FFF2-40B4-BE49-F238E27FC236}">
                      <a16:creationId xmlns:a16="http://schemas.microsoft.com/office/drawing/2014/main" id="{C570BB51-35D1-8E49-B357-569FE093FBC1}"/>
                    </a:ext>
                  </a:extLst>
                </p:cNvPr>
                <p:cNvSpPr txBox="1"/>
                <p:nvPr/>
              </p:nvSpPr>
              <p:spPr>
                <a:xfrm rot="16200000">
                  <a:off x="-431800" y="804440"/>
                  <a:ext cx="1295400" cy="43180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b="1" dirty="0">
                      <a:latin typeface="Verdana" panose="020B0604030504040204" pitchFamily="34" charset="0"/>
                      <a:ea typeface="Cambria" panose="02040503050406030204" pitchFamily="18" charset="0"/>
                      <a:cs typeface="Cambria" panose="02040503050406030204" pitchFamily="18" charset="0"/>
                    </a:rPr>
                    <a:t>W =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𝟔</m:t>
                      </m:r>
                    </m:oMath>
                  </a14:m>
                  <a:endParaRPr lang="x-none" sz="105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48">
                  <a:extLst>
                    <a:ext uri="{FF2B5EF4-FFF2-40B4-BE49-F238E27FC236}">
                      <a16:creationId xmlns:a16="http://schemas.microsoft.com/office/drawing/2014/main" id="{C570BB51-35D1-8E49-B357-569FE093F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431800" y="804440"/>
                  <a:ext cx="1295400" cy="431800"/>
                </a:xfrm>
                <a:prstGeom prst="rect">
                  <a:avLst/>
                </a:prstGeom>
                <a:blipFill>
                  <a:blip r:embed="rId7"/>
                  <a:stretch>
                    <a:fillRect l="-3448" r="-6897" b="-2410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49">
                  <a:extLst>
                    <a:ext uri="{FF2B5EF4-FFF2-40B4-BE49-F238E27FC236}">
                      <a16:creationId xmlns:a16="http://schemas.microsoft.com/office/drawing/2014/main" id="{51C46F85-119A-F84D-8CAA-DD22D418179A}"/>
                    </a:ext>
                  </a:extLst>
                </p:cNvPr>
                <p:cNvSpPr txBox="1"/>
                <p:nvPr/>
              </p:nvSpPr>
              <p:spPr>
                <a:xfrm rot="16200000">
                  <a:off x="3568385" y="1302151"/>
                  <a:ext cx="1219835" cy="601903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b="1" dirty="0">
                      <a:latin typeface="Verdana" panose="020B0604030504040204" pitchFamily="34" charset="0"/>
                      <a:ea typeface="Cambria" panose="02040503050406030204" pitchFamily="18" charset="0"/>
                      <a:cs typeface="Cambria" panose="02040503050406030204" pitchFamily="18" charset="0"/>
                    </a:rPr>
                    <a:t>W =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𝟑</m:t>
                      </m:r>
                    </m:oMath>
                  </a14:m>
                  <a:endParaRPr lang="x-none" sz="1050" dirty="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49">
                  <a:extLst>
                    <a:ext uri="{FF2B5EF4-FFF2-40B4-BE49-F238E27FC236}">
                      <a16:creationId xmlns:a16="http://schemas.microsoft.com/office/drawing/2014/main" id="{51C46F85-119A-F84D-8CAA-DD22D41817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568385" y="1302151"/>
                  <a:ext cx="1219835" cy="601903"/>
                </a:xfrm>
                <a:prstGeom prst="rect">
                  <a:avLst/>
                </a:prstGeom>
                <a:blipFill>
                  <a:blip r:embed="rId8"/>
                  <a:stretch>
                    <a:fillRect l="-2564" b="-1266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50">
                  <a:extLst>
                    <a:ext uri="{FF2B5EF4-FFF2-40B4-BE49-F238E27FC236}">
                      <a16:creationId xmlns:a16="http://schemas.microsoft.com/office/drawing/2014/main" id="{57AAD5DB-8279-424E-86D0-1B9153472FCA}"/>
                    </a:ext>
                  </a:extLst>
                </p:cNvPr>
                <p:cNvSpPr txBox="1"/>
                <p:nvPr/>
              </p:nvSpPr>
              <p:spPr>
                <a:xfrm>
                  <a:off x="1564833" y="2152891"/>
                  <a:ext cx="1273810" cy="601903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b="1">
                      <a:latin typeface="Verdana" panose="020B0604030504040204" pitchFamily="34" charset="0"/>
                      <a:ea typeface="Cambria" panose="02040503050406030204" pitchFamily="18" charset="0"/>
                      <a:cs typeface="Cambria" panose="02040503050406030204" pitchFamily="18" charset="0"/>
                    </a:rPr>
                    <a:t>L =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𝟏𝟐</m:t>
                      </m:r>
                    </m:oMath>
                  </a14:m>
                  <a:endParaRPr lang="x-none" sz="105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 Box 50">
                  <a:extLst>
                    <a:ext uri="{FF2B5EF4-FFF2-40B4-BE49-F238E27FC236}">
                      <a16:creationId xmlns:a16="http://schemas.microsoft.com/office/drawing/2014/main" id="{57AAD5DB-8279-424E-86D0-1B9153472F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4833" y="2152891"/>
                  <a:ext cx="1273810" cy="601903"/>
                </a:xfrm>
                <a:prstGeom prst="rect">
                  <a:avLst/>
                </a:prstGeom>
                <a:blipFill>
                  <a:blip r:embed="rId9"/>
                  <a:stretch>
                    <a:fillRect l="-2469" t="-2564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54">
                  <a:extLst>
                    <a:ext uri="{FF2B5EF4-FFF2-40B4-BE49-F238E27FC236}">
                      <a16:creationId xmlns:a16="http://schemas.microsoft.com/office/drawing/2014/main" id="{463674FF-AFD2-AF47-AF5D-25027D9F7065}"/>
                    </a:ext>
                  </a:extLst>
                </p:cNvPr>
                <p:cNvSpPr txBox="1"/>
                <p:nvPr/>
              </p:nvSpPr>
              <p:spPr>
                <a:xfrm>
                  <a:off x="4673767" y="2141315"/>
                  <a:ext cx="1143000" cy="4381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b="1">
                      <a:latin typeface="Verdana" panose="020B0604030504040204" pitchFamily="34" charset="0"/>
                      <a:ea typeface="Cambria" panose="02040503050406030204" pitchFamily="18" charset="0"/>
                      <a:cs typeface="Cambria" panose="02040503050406030204" pitchFamily="18" charset="0"/>
                    </a:rPr>
                    <a:t>L = </a:t>
                  </a:r>
                  <a14:m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𝟔</m:t>
                      </m:r>
                    </m:oMath>
                  </a14:m>
                  <a:endParaRPr lang="x-none" sz="105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54">
                  <a:extLst>
                    <a:ext uri="{FF2B5EF4-FFF2-40B4-BE49-F238E27FC236}">
                      <a16:creationId xmlns:a16="http://schemas.microsoft.com/office/drawing/2014/main" id="{463674FF-AFD2-AF47-AF5D-25027D9F7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767" y="2141315"/>
                  <a:ext cx="1143000" cy="438150"/>
                </a:xfrm>
                <a:prstGeom prst="rect">
                  <a:avLst/>
                </a:prstGeom>
                <a:blipFill>
                  <a:blip r:embed="rId10"/>
                  <a:stretch>
                    <a:fillRect l="-1370" t="-3448" b="-3448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9" name="Google Shape;283;g104476d1465_1_17"/>
          <p:cNvPicPr preferRelativeResize="0"/>
          <p:nvPr/>
        </p:nvPicPr>
        <p:blipFill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0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1997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535578" y="385428"/>
                <a:ext cx="10800000" cy="5045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9535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scale factor from Figure X to Figure 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   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perimeter of Figure X?</a:t>
                </a: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perimeter of Figure Y?</a:t>
                </a: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ratio of the perimeter of Figure Y to the perimeter of Figure X?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78" y="385428"/>
                <a:ext cx="10800000" cy="5045997"/>
              </a:xfrm>
              <a:prstGeom prst="rect">
                <a:avLst/>
              </a:prstGeom>
              <a:blipFill rotWithShape="1">
                <a:blip r:embed="rId3"/>
                <a:stretch>
                  <a:fillRect r="-282" b="-169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A9CAD3C-65E6-7946-B871-43B2888C6AD1}"/>
              </a:ext>
            </a:extLst>
          </p:cNvPr>
          <p:cNvSpPr/>
          <p:nvPr/>
        </p:nvSpPr>
        <p:spPr>
          <a:xfrm>
            <a:off x="8447377" y="817743"/>
            <a:ext cx="361950" cy="33337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839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527946" y="395569"/>
                <a:ext cx="108000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Paolo decided to change the scale factor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create Figure Z from Figure X. Figure Z has a length (L)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 by a width (W) of </a:t>
                </a:r>
                <a:b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46" y="395569"/>
                <a:ext cx="10800000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903" t="-4569" r="-1525" b="-1015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E9947C8-4515-D94C-B6C4-5B33BCF8260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43225" y="2035151"/>
            <a:ext cx="6305550" cy="331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E43A768-DA7C-CA47-9723-F5B7107805F9}"/>
              </a:ext>
            </a:extLst>
          </p:cNvPr>
          <p:cNvGrpSpPr/>
          <p:nvPr/>
        </p:nvGrpSpPr>
        <p:grpSpPr>
          <a:xfrm>
            <a:off x="2858320" y="1862914"/>
            <a:ext cx="4456430" cy="3606166"/>
            <a:chOff x="0" y="0"/>
            <a:chExt cx="4456651" cy="3606640"/>
          </a:xfrm>
        </p:grpSpPr>
        <p:sp>
          <p:nvSpPr>
            <p:cNvPr id="9" name="Text Box 56">
              <a:extLst>
                <a:ext uri="{FF2B5EF4-FFF2-40B4-BE49-F238E27FC236}">
                  <a16:creationId xmlns:a16="http://schemas.microsoft.com/office/drawing/2014/main" id="{A2B71505-1DDF-FA44-A11B-2FC4B5609218}"/>
                </a:ext>
              </a:extLst>
            </p:cNvPr>
            <p:cNvSpPr txBox="1"/>
            <p:nvPr/>
          </p:nvSpPr>
          <p:spPr>
            <a:xfrm>
              <a:off x="2638868" y="0"/>
              <a:ext cx="1817783" cy="65501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800" b="1">
                  <a:latin typeface="Verdana" panose="020B0604030504040204" pitchFamily="34" charset="0"/>
                  <a:ea typeface="Cambria" panose="02040503050406030204" pitchFamily="18" charset="0"/>
                  <a:cs typeface="Cambria" panose="02040503050406030204" pitchFamily="18" charset="0"/>
                </a:rPr>
                <a:t>Figure Z</a:t>
              </a:r>
              <a:endParaRPr lang="x-none" sz="120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57">
                  <a:extLst>
                    <a:ext uri="{FF2B5EF4-FFF2-40B4-BE49-F238E27FC236}">
                      <a16:creationId xmlns:a16="http://schemas.microsoft.com/office/drawing/2014/main" id="{8B07B26F-8A43-574B-8281-F48676DD333D}"/>
                    </a:ext>
                  </a:extLst>
                </p:cNvPr>
                <p:cNvSpPr txBox="1"/>
                <p:nvPr/>
              </p:nvSpPr>
              <p:spPr>
                <a:xfrm rot="16200000">
                  <a:off x="-393700" y="1250067"/>
                  <a:ext cx="1257300" cy="46990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800" b="1">
                      <a:latin typeface="Verdana" panose="020B0604030504040204" pitchFamily="34" charset="0"/>
                      <a:ea typeface="Cambria" panose="02040503050406030204" pitchFamily="18" charset="0"/>
                      <a:cs typeface="Cambria" panose="02040503050406030204" pitchFamily="18" charset="0"/>
                    </a:rPr>
                    <a:t>W = </a:t>
                  </a:r>
                  <a14:m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𝟏𝟐</m:t>
                      </m:r>
                    </m:oMath>
                  </a14:m>
                  <a:endParaRPr lang="x-none" sz="120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 Box 57">
                  <a:extLst>
                    <a:ext uri="{FF2B5EF4-FFF2-40B4-BE49-F238E27FC236}">
                      <a16:creationId xmlns:a16="http://schemas.microsoft.com/office/drawing/2014/main" id="{8B07B26F-8A43-574B-8281-F48676DD33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393700" y="1250067"/>
                  <a:ext cx="1257300" cy="469900"/>
                </a:xfrm>
                <a:prstGeom prst="rect">
                  <a:avLst/>
                </a:prstGeom>
                <a:blipFill>
                  <a:blip r:embed="rId6"/>
                  <a:stretch>
                    <a:fillRect l="-7895" b="-4000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58">
                  <a:extLst>
                    <a:ext uri="{FF2B5EF4-FFF2-40B4-BE49-F238E27FC236}">
                      <a16:creationId xmlns:a16="http://schemas.microsoft.com/office/drawing/2014/main" id="{89BC1CAD-72B9-C24C-A988-24ACD2A3290C}"/>
                    </a:ext>
                  </a:extLst>
                </p:cNvPr>
                <p:cNvSpPr txBox="1"/>
                <p:nvPr/>
              </p:nvSpPr>
              <p:spPr>
                <a:xfrm>
                  <a:off x="2430524" y="3136740"/>
                  <a:ext cx="1176510" cy="46990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800" b="1">
                      <a:latin typeface="Verdana" panose="020B0604030504040204" pitchFamily="34" charset="0"/>
                      <a:ea typeface="Cambria" panose="02040503050406030204" pitchFamily="18" charset="0"/>
                      <a:cs typeface="Cambria" panose="02040503050406030204" pitchFamily="18" charset="0"/>
                    </a:rPr>
                    <a:t>L = </a:t>
                  </a:r>
                  <a14:m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Cambria" panose="02040503050406030204" pitchFamily="18" charset="0"/>
                        </a:rPr>
                        <m:t>𝟐𝟒</m:t>
                      </m:r>
                    </m:oMath>
                  </a14:m>
                  <a:endParaRPr lang="x-none" sz="1200">
                    <a:latin typeface="Cambria" panose="02040503050406030204" pitchFamily="18" charset="0"/>
                    <a:ea typeface="Cambria" panose="02040503050406030204" pitchFamily="18" charset="0"/>
                    <a:cs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 Box 58">
                  <a:extLst>
                    <a:ext uri="{FF2B5EF4-FFF2-40B4-BE49-F238E27FC236}">
                      <a16:creationId xmlns:a16="http://schemas.microsoft.com/office/drawing/2014/main" id="{89BC1CAD-72B9-C24C-A988-24ACD2A32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0524" y="3136740"/>
                  <a:ext cx="1176510" cy="469900"/>
                </a:xfrm>
                <a:prstGeom prst="rect">
                  <a:avLst/>
                </a:prstGeom>
                <a:blipFill>
                  <a:blip r:embed="rId7"/>
                  <a:stretch>
                    <a:fillRect l="-4255" t="-5263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7052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527946" y="379632"/>
            <a:ext cx="10800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5350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perimeter of Figure Z?</a:t>
            </a:r>
          </a:p>
          <a:p>
            <a:pPr marL="89535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does that compare to the perimeter of Figure X?</a:t>
            </a:r>
          </a:p>
          <a:p>
            <a:pPr marL="89535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relationship, if any, is there between the scale factor and the ratio of the perimeters?</a:t>
            </a: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898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531174" y="388506"/>
                <a:ext cx="1080000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Figure M has a length (L)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 and a width (W)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units. Figure P is a scale model of Figure M. Figure P has a length (L)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units and a width (W)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unit.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74" y="388506"/>
                <a:ext cx="10800000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847" t="-3502" r="-95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162F691-D0B0-1F4E-8AD5-71AA6363386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03"/>
          <a:stretch/>
        </p:blipFill>
        <p:spPr bwMode="auto">
          <a:xfrm>
            <a:off x="3029114" y="1919749"/>
            <a:ext cx="6885940" cy="32600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 Box 60">
            <a:extLst>
              <a:ext uri="{FF2B5EF4-FFF2-40B4-BE49-F238E27FC236}">
                <a16:creationId xmlns:a16="http://schemas.microsoft.com/office/drawing/2014/main" id="{C3B037D3-F2DB-D744-85B6-D016A2F40B5F}"/>
              </a:ext>
            </a:extLst>
          </p:cNvPr>
          <p:cNvSpPr txBox="1"/>
          <p:nvPr/>
        </p:nvSpPr>
        <p:spPr>
          <a:xfrm>
            <a:off x="5483555" y="2164225"/>
            <a:ext cx="1924050" cy="69024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800" b="1" dirty="0">
                <a:latin typeface="Verdana" panose="020B060403050404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Figure M</a:t>
            </a:r>
            <a:endParaRPr lang="x-none" sz="12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8" name="Text Box 61">
            <a:extLst>
              <a:ext uri="{FF2B5EF4-FFF2-40B4-BE49-F238E27FC236}">
                <a16:creationId xmlns:a16="http://schemas.microsoft.com/office/drawing/2014/main" id="{149C105C-3B27-6545-A115-A05C01AF143B}"/>
              </a:ext>
            </a:extLst>
          </p:cNvPr>
          <p:cNvSpPr txBox="1"/>
          <p:nvPr/>
        </p:nvSpPr>
        <p:spPr>
          <a:xfrm>
            <a:off x="3403930" y="4000010"/>
            <a:ext cx="1832610" cy="69024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800" b="1">
                <a:latin typeface="Verdana" panose="020B060403050404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Figure P</a:t>
            </a:r>
            <a:endParaRPr lang="x-none" sz="120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62">
                <a:extLst>
                  <a:ext uri="{FF2B5EF4-FFF2-40B4-BE49-F238E27FC236}">
                    <a16:creationId xmlns:a16="http://schemas.microsoft.com/office/drawing/2014/main" id="{74BA5CD2-6C84-0145-9A33-823B30FFE178}"/>
                  </a:ext>
                </a:extLst>
              </p:cNvPr>
              <p:cNvSpPr txBox="1"/>
              <p:nvPr/>
            </p:nvSpPr>
            <p:spPr>
              <a:xfrm>
                <a:off x="5498161" y="3921904"/>
                <a:ext cx="1155065" cy="4953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Cambria" panose="02040503050406030204" pitchFamily="18" charset="0"/>
                    <a:cs typeface="Cambria" panose="02040503050406030204" pitchFamily="18" charset="0"/>
                  </a:rPr>
                  <a:t>L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rPr>
                      <m:t>𝟏𝟔</m:t>
                    </m:r>
                  </m:oMath>
                </a14:m>
                <a:endParaRPr lang="x-none" sz="1200"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 Box 6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4BA5CD2-6C84-0145-9A33-823B30FF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161" y="3921904"/>
                <a:ext cx="1155065" cy="495300"/>
              </a:xfrm>
              <a:prstGeom prst="rect">
                <a:avLst/>
              </a:prstGeom>
              <a:blipFill rotWithShape="1">
                <a:blip r:embed="rId5"/>
                <a:stretch>
                  <a:fillRect t="-6098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63">
                <a:extLst>
                  <a:ext uri="{FF2B5EF4-FFF2-40B4-BE49-F238E27FC236}">
                    <a16:creationId xmlns:a16="http://schemas.microsoft.com/office/drawing/2014/main" id="{E5316A37-4EC3-DC4F-93B1-E9A9CC7A97A8}"/>
                  </a:ext>
                </a:extLst>
              </p:cNvPr>
              <p:cNvSpPr txBox="1"/>
              <p:nvPr/>
            </p:nvSpPr>
            <p:spPr>
              <a:xfrm>
                <a:off x="3682061" y="4684539"/>
                <a:ext cx="1063625" cy="4953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Cambria" panose="02040503050406030204" pitchFamily="18" charset="0"/>
                    <a:cs typeface="Cambria" panose="02040503050406030204" pitchFamily="18" charset="0"/>
                  </a:rPr>
                  <a:t>L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rPr>
                      <m:t>𝟒</m:t>
                    </m:r>
                  </m:oMath>
                </a14:m>
                <a:endParaRPr lang="x-none" sz="1200"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 Box 6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5316A37-4EC3-DC4F-93B1-E9A9CC7A9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061" y="4684539"/>
                <a:ext cx="1063625" cy="495300"/>
              </a:xfrm>
              <a:prstGeom prst="rect">
                <a:avLst/>
              </a:prstGeom>
              <a:blipFill rotWithShape="1">
                <a:blip r:embed="rId6"/>
                <a:stretch>
                  <a:fillRect t="-6098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64">
                <a:extLst>
                  <a:ext uri="{FF2B5EF4-FFF2-40B4-BE49-F238E27FC236}">
                    <a16:creationId xmlns:a16="http://schemas.microsoft.com/office/drawing/2014/main" id="{9A2D2F9B-285B-2A41-923F-029EAE413FFF}"/>
                  </a:ext>
                </a:extLst>
              </p:cNvPr>
              <p:cNvSpPr txBox="1"/>
              <p:nvPr/>
            </p:nvSpPr>
            <p:spPr>
              <a:xfrm rot="16200000">
                <a:off x="2634310" y="2853199"/>
                <a:ext cx="1206500" cy="4953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 sz="1800" b="1" dirty="0">
                    <a:latin typeface="Verdana" panose="020B0604030504040204" pitchFamily="34" charset="0"/>
                    <a:ea typeface="Cambria" panose="02040503050406030204" pitchFamily="18" charset="0"/>
                    <a:cs typeface="Cambria" panose="02040503050406030204" pitchFamily="18" charset="0"/>
                  </a:rPr>
                  <a:t>W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rPr>
                      <m:t>𝟒</m:t>
                    </m:r>
                  </m:oMath>
                </a14:m>
                <a:endParaRPr lang="x-none" sz="1200"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 Box 6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A2D2F9B-285B-2A41-923F-029EAE413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34310" y="2853199"/>
                <a:ext cx="1206500" cy="495300"/>
              </a:xfrm>
              <a:prstGeom prst="rect">
                <a:avLst/>
              </a:prstGeom>
              <a:blipFill rotWithShape="1">
                <a:blip r:embed="rId7"/>
                <a:stretch>
                  <a:fillRect l="-6098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5">
                <a:extLst>
                  <a:ext uri="{FF2B5EF4-FFF2-40B4-BE49-F238E27FC236}">
                    <a16:creationId xmlns:a16="http://schemas.microsoft.com/office/drawing/2014/main" id="{B7AEFE6F-1549-4342-B0E1-53ED55119F98}"/>
                  </a:ext>
                </a:extLst>
              </p:cNvPr>
              <p:cNvSpPr txBox="1"/>
              <p:nvPr/>
            </p:nvSpPr>
            <p:spPr>
              <a:xfrm rot="16200000">
                <a:off x="2638438" y="4213052"/>
                <a:ext cx="1195705" cy="4953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 sz="1800" b="1">
                    <a:latin typeface="Verdana" panose="020B0604030504040204" pitchFamily="34" charset="0"/>
                    <a:ea typeface="Cambria" panose="02040503050406030204" pitchFamily="18" charset="0"/>
                    <a:cs typeface="Cambria" panose="02040503050406030204" pitchFamily="18" charset="0"/>
                  </a:rPr>
                  <a:t>W =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rPr>
                      <m:t>𝟏</m:t>
                    </m:r>
                  </m:oMath>
                </a14:m>
                <a:endParaRPr lang="x-none" sz="1200">
                  <a:latin typeface="Cambria" panose="02040503050406030204" pitchFamily="18" charset="0"/>
                  <a:ea typeface="Cambria" panose="020405030504060302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 Box 6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7AEFE6F-1549-4342-B0E1-53ED55119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38438" y="4213052"/>
                <a:ext cx="1195705" cy="495300"/>
              </a:xfrm>
              <a:prstGeom prst="rect">
                <a:avLst/>
              </a:prstGeom>
              <a:blipFill rotWithShape="1">
                <a:blip r:embed="rId8"/>
                <a:stretch>
                  <a:fillRect l="-6098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oogle Shape;283;g104476d1465_1_17"/>
          <p:cNvPicPr preferRelativeResize="0"/>
          <p:nvPr/>
        </p:nvPicPr>
        <p:blipFill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1405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539571" y="384592"/>
                <a:ext cx="10800000" cy="4676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9535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scale factor from Figure M to Figure P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    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perimeter of Figure M?</a:t>
                </a: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Without finding the sum of the sides, what do you expect the perimeter of Figure P to be?</a:t>
                </a: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Verify your answer by finding the sum of the sides of Figure P.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71" y="384592"/>
                <a:ext cx="10800000" cy="4676665"/>
              </a:xfrm>
              <a:prstGeom prst="rect">
                <a:avLst/>
              </a:prstGeom>
              <a:blipFill rotWithShape="1">
                <a:blip r:embed="rId3"/>
                <a:stretch>
                  <a:fillRect r="-113" b="-195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87F32CE9-DA4B-4F45-9D00-CB4D23C8830C}"/>
              </a:ext>
            </a:extLst>
          </p:cNvPr>
          <p:cNvSpPr/>
          <p:nvPr/>
        </p:nvSpPr>
        <p:spPr>
          <a:xfrm>
            <a:off x="8527974" y="785474"/>
            <a:ext cx="361950" cy="33337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5005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531174" y="385374"/>
            <a:ext cx="1080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write a rule that can be used to calculate the perimeter of a scale model if given only an original perimeter and a scale factor. </a:t>
            </a: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2393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62332" y="83100"/>
            <a:ext cx="1098394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5.5.4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170" y="372300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526854" y="1459516"/>
            <a:ext cx="1080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second H-shaped polygon, Figure Y, is a scaled copy of the first, Figure X.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1870C1-AF0F-F242-A40F-A996F3F746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2003" y="2571448"/>
            <a:ext cx="6986905" cy="3327400"/>
          </a:xfrm>
          <a:prstGeom prst="rect">
            <a:avLst/>
          </a:prstGeom>
        </p:spPr>
      </p:pic>
      <p:sp>
        <p:nvSpPr>
          <p:cNvPr id="10" name="Text Box 2">
            <a:extLst>
              <a:ext uri="{FF2B5EF4-FFF2-40B4-BE49-F238E27FC236}">
                <a16:creationId xmlns:a16="http://schemas.microsoft.com/office/drawing/2014/main" id="{DC9A60A2-2DED-1C48-807D-4D0245ADC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768" y="2933289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800" b="1" dirty="0">
                <a:latin typeface="Verdana" panose="020B060403050404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Figure X</a:t>
            </a:r>
            <a:endParaRPr lang="x-none" sz="12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C1C811BC-0052-8147-AED9-E9637003D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829" y="3453774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1800" b="1" dirty="0">
                <a:latin typeface="Verdana" panose="020B060403050404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Figure Y</a:t>
            </a:r>
            <a:endParaRPr lang="x-none" sz="12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ABC5E"/>
          </a:solidFill>
          <a:ln w="9525" cap="flat" cmpd="sng">
            <a:solidFill>
              <a:srgbClr val="6ABC5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533064" y="382244"/>
            <a:ext cx="10800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9535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 one pair of corresponding sides in the original polygon and its copy by drawing an arrow from Figure X to Figure Y.</a:t>
            </a:r>
          </a:p>
          <a:p>
            <a:pPr marL="89535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scale factor takes the original H-shaped polygon, </a:t>
            </a:r>
            <a:b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X, to its smaller copy, Figure Y?</a:t>
            </a:r>
          </a:p>
          <a:p>
            <a:pPr marL="89535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ratio of the perimeter of Figure Y to the perimeter of Figure X?</a:t>
            </a:r>
          </a:p>
        </p:txBody>
      </p:sp>
      <p:pic>
        <p:nvPicPr>
          <p:cNvPr id="6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2430" y="615194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5095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4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3370</TotalTime>
  <Words>1341</Words>
  <Application>Microsoft Macintosh PowerPoint</Application>
  <PresentationFormat>Widescreen</PresentationFormat>
  <Paragraphs>198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Calibri</vt:lpstr>
      <vt:lpstr>Arial Black</vt:lpstr>
      <vt:lpstr>Cambria Math</vt:lpstr>
      <vt:lpstr>Wingdings</vt:lpstr>
      <vt:lpstr>Cutive</vt:lpstr>
      <vt:lpstr>Verdana</vt:lpstr>
      <vt:lpstr>Arial</vt:lpstr>
      <vt:lpstr>Cambria</vt:lpstr>
      <vt:lpstr>Century Gothic</vt:lpstr>
      <vt:lpstr>1_Office Theme</vt:lpstr>
      <vt:lpstr>7th Grade Math  Unit 5, Lesson 5  Scale Factors – Perimeter  Volume 1, pg. 203  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42</cp:revision>
  <dcterms:created xsi:type="dcterms:W3CDTF">2015-03-17T18:51:18Z</dcterms:created>
  <dcterms:modified xsi:type="dcterms:W3CDTF">2023-01-27T17:52:26Z</dcterms:modified>
</cp:coreProperties>
</file>