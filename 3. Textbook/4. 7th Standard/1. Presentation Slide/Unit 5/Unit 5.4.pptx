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0"/>
  </p:notesMasterIdLst>
  <p:sldIdLst>
    <p:sldId id="256" r:id="rId5"/>
    <p:sldId id="257" r:id="rId6"/>
    <p:sldId id="345" r:id="rId7"/>
    <p:sldId id="286" r:id="rId8"/>
    <p:sldId id="261" r:id="rId9"/>
    <p:sldId id="287" r:id="rId10"/>
    <p:sldId id="289" r:id="rId11"/>
    <p:sldId id="290" r:id="rId12"/>
    <p:sldId id="389" r:id="rId13"/>
    <p:sldId id="390" r:id="rId14"/>
    <p:sldId id="391" r:id="rId15"/>
    <p:sldId id="392" r:id="rId16"/>
    <p:sldId id="393" r:id="rId17"/>
    <p:sldId id="394" r:id="rId18"/>
    <p:sldId id="314" r:id="rId19"/>
    <p:sldId id="315" r:id="rId20"/>
    <p:sldId id="316" r:id="rId21"/>
    <p:sldId id="339" r:id="rId22"/>
    <p:sldId id="387" r:id="rId23"/>
    <p:sldId id="388" r:id="rId24"/>
    <p:sldId id="395" r:id="rId25"/>
    <p:sldId id="396" r:id="rId26"/>
    <p:sldId id="306" r:id="rId27"/>
    <p:sldId id="307" r:id="rId28"/>
    <p:sldId id="397"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6ABC5E"/>
    <a:srgbClr val="BFBFBF"/>
    <a:srgbClr val="C9DF6F"/>
    <a:srgbClr val="417DBF"/>
    <a:srgbClr val="3F2A67"/>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p:restoredTop sz="94694"/>
  </p:normalViewPr>
  <p:slideViewPr>
    <p:cSldViewPr snapToGrid="0">
      <p:cViewPr>
        <p:scale>
          <a:sx n="66" d="100"/>
          <a:sy n="66" d="100"/>
        </p:scale>
        <p:origin x="-336"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1.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2AC9-1942-9E70-B65FB1B451A8}"/>
              </c:ext>
            </c:extLst>
          </c:dPt>
          <c:dPt>
            <c:idx val="1"/>
            <c:bubble3D val="0"/>
            <c:spPr>
              <a:solidFill>
                <a:schemeClr val="accent5"/>
              </a:solidFill>
              <a:ln>
                <a:noFill/>
              </a:ln>
              <a:effectLst/>
            </c:spPr>
            <c:extLst>
              <c:ext xmlns:c16="http://schemas.microsoft.com/office/drawing/2014/chart" uri="{C3380CC4-5D6E-409C-BE32-E72D297353CC}">
                <c16:uniqueId val="{00000003-2AC9-1942-9E70-B65FB1B451A8}"/>
              </c:ext>
            </c:extLst>
          </c:dPt>
          <c:dPt>
            <c:idx val="2"/>
            <c:bubble3D val="0"/>
            <c:spPr>
              <a:solidFill>
                <a:schemeClr val="accent4"/>
              </a:solidFill>
              <a:ln>
                <a:noFill/>
              </a:ln>
              <a:effectLst/>
            </c:spPr>
            <c:extLst>
              <c:ext xmlns:c16="http://schemas.microsoft.com/office/drawing/2014/chart" uri="{C3380CC4-5D6E-409C-BE32-E72D297353CC}">
                <c16:uniqueId val="{00000005-2AC9-1942-9E70-B65FB1B451A8}"/>
              </c:ext>
            </c:extLst>
          </c:dPt>
          <c:dPt>
            <c:idx val="3"/>
            <c:bubble3D val="0"/>
            <c:spPr>
              <a:solidFill>
                <a:schemeClr val="accent6">
                  <a:lumMod val="60000"/>
                </a:schemeClr>
              </a:solidFill>
              <a:ln>
                <a:noFill/>
              </a:ln>
              <a:effectLst/>
            </c:spPr>
            <c:extLst>
              <c:ext xmlns:c16="http://schemas.microsoft.com/office/drawing/2014/chart" uri="{C3380CC4-5D6E-409C-BE32-E72D297353CC}">
                <c16:uniqueId val="{00000007-2AC9-1942-9E70-B65FB1B451A8}"/>
              </c:ext>
            </c:extLst>
          </c:dPt>
          <c:dLbls>
            <c:dLbl>
              <c:idx val="0"/>
              <c:layout>
                <c:manualLayout>
                  <c:x val="0.12004723711716273"/>
                  <c:y val="4.0295214800464127E-3"/>
                </c:manualLayout>
              </c:layout>
              <c:tx>
                <c:rich>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r>
                      <a:rPr lang="en-US" sz="1800" baseline="0" dirty="0">
                        <a:solidFill>
                          <a:schemeClr val="tx1"/>
                        </a:solidFill>
                        <a:latin typeface="Cambria Math" panose="02040503050406030204" pitchFamily="18" charset="0"/>
                        <a:ea typeface="Cambria Math" panose="02040503050406030204" pitchFamily="18" charset="0"/>
                        <a:cs typeface="Verdana" panose="020B0604030504040204" pitchFamily="34" charset="0"/>
                      </a:rPr>
                      <a:t>11</a:t>
                    </a:r>
                    <a:r>
                      <a:rPr lang="en-US" sz="18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a:defRPr sz="1600">
                        <a:solidFill>
                          <a:schemeClr val="tx1"/>
                        </a:solidFill>
                        <a:latin typeface="Verdana" panose="020B0604030504040204" pitchFamily="34" charset="0"/>
                        <a:ea typeface="Verdana" panose="020B0604030504040204" pitchFamily="34" charset="0"/>
                        <a:cs typeface="Verdana" panose="020B0604030504040204" pitchFamily="34" charset="0"/>
                      </a:defRPr>
                    </a:pPr>
                    <a:r>
                      <a:rPr lang="en-US" sz="18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large prize</a:t>
                    </a:r>
                    <a:endParaRPr lang="en-US" sz="1800" dirty="0"/>
                  </a:p>
                </c:rich>
              </c:tx>
              <c:spPr>
                <a:noFill/>
                <a:ln>
                  <a:noFill/>
                </a:ln>
                <a:effectLst/>
              </c:spPr>
              <c:txPr>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15:showDataLabelsRange val="0"/>
                </c:ext>
                <c:ext xmlns:c16="http://schemas.microsoft.com/office/drawing/2014/chart" uri="{C3380CC4-5D6E-409C-BE32-E72D297353CC}">
                  <c16:uniqueId val="{00000001-2AC9-1942-9E70-B65FB1B451A8}"/>
                </c:ext>
              </c:extLst>
            </c:dLbl>
            <c:dLbl>
              <c:idx val="1"/>
              <c:layout>
                <c:manualLayout>
                  <c:x val="9.5817183831115177E-3"/>
                  <c:y val="6.8501865160789016E-2"/>
                </c:manualLayout>
              </c:layout>
              <c:tx>
                <c:rich>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r>
                      <a:rPr lang="en-US" sz="1800">
                        <a:latin typeface="Cambria Math" panose="02040503050406030204" pitchFamily="18" charset="0"/>
                        <a:ea typeface="Cambria Math" panose="02040503050406030204" pitchFamily="18" charset="0"/>
                      </a:rPr>
                      <a:t>40</a:t>
                    </a:r>
                    <a:r>
                      <a:rPr lang="en-US" sz="1800" baseline="0"/>
                      <a:t> %</a:t>
                    </a:r>
                  </a:p>
                  <a:p>
                    <a:pPr>
                      <a:defRPr sz="1600">
                        <a:solidFill>
                          <a:schemeClr val="tx1"/>
                        </a:solidFill>
                        <a:latin typeface="Verdana" panose="020B0604030504040204" pitchFamily="34" charset="0"/>
                        <a:ea typeface="Verdana" panose="020B0604030504040204" pitchFamily="34" charset="0"/>
                        <a:cs typeface="Verdana" panose="020B0604030504040204" pitchFamily="34" charset="0"/>
                      </a:defRPr>
                    </a:pPr>
                    <a:r>
                      <a:rPr lang="en-US" sz="1800" baseline="0"/>
                      <a:t>small prize</a:t>
                    </a:r>
                    <a:endParaRPr lang="en-US" sz="1800"/>
                  </a:p>
                </c:rich>
              </c:tx>
              <c:spPr>
                <a:noFill/>
                <a:ln>
                  <a:noFill/>
                </a:ln>
                <a:effectLst/>
              </c:spPr>
              <c:txPr>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4434251968503934"/>
                      <c:h val="0.20130389221157718"/>
                    </c:manualLayout>
                  </c15:layout>
                  <c15:showDataLabelsRange val="0"/>
                </c:ext>
                <c:ext xmlns:c16="http://schemas.microsoft.com/office/drawing/2014/chart" uri="{C3380CC4-5D6E-409C-BE32-E72D297353CC}">
                  <c16:uniqueId val="{00000003-2AC9-1942-9E70-B65FB1B451A8}"/>
                </c:ext>
              </c:extLst>
            </c:dLbl>
            <c:dLbl>
              <c:idx val="2"/>
              <c:layout>
                <c:manualLayout>
                  <c:x val="-3.3536014340890014E-2"/>
                  <c:y val="0.12894468736148521"/>
                </c:manualLayout>
              </c:layout>
              <c:tx>
                <c:rich>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r>
                      <a:rPr lang="en-US" sz="1800" baseline="0">
                        <a:solidFill>
                          <a:schemeClr val="tx1"/>
                        </a:solidFill>
                        <a:latin typeface="Cambria Math" panose="02040503050406030204" pitchFamily="18" charset="0"/>
                        <a:ea typeface="Cambria Math" panose="02040503050406030204" pitchFamily="18" charset="0"/>
                        <a:cs typeface="Verdana" panose="020B0604030504040204" pitchFamily="34" charset="0"/>
                      </a:rPr>
                      <a:t>49</a:t>
                    </a:r>
                    <a:r>
                      <a:rPr lang="en-US" sz="1800" baseline="0">
                        <a:solidFill>
                          <a:schemeClr val="tx1"/>
                        </a:solidFill>
                        <a:latin typeface="Verdana" panose="020B0604030504040204" pitchFamily="34" charset="0"/>
                        <a:ea typeface="Verdana" panose="020B0604030504040204" pitchFamily="34" charset="0"/>
                        <a:cs typeface="Verdana" panose="020B0604030504040204" pitchFamily="34" charset="0"/>
                      </a:rPr>
                      <a:t> % </a:t>
                    </a:r>
                    <a:br>
                      <a:rPr lang="en-US" sz="1800" baseline="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baseline="0">
                        <a:solidFill>
                          <a:schemeClr val="tx1"/>
                        </a:solidFill>
                        <a:latin typeface="Verdana" panose="020B0604030504040204" pitchFamily="34" charset="0"/>
                        <a:ea typeface="Verdana" panose="020B0604030504040204" pitchFamily="34" charset="0"/>
                        <a:cs typeface="Verdana" panose="020B0604030504040204" pitchFamily="34" charset="0"/>
                      </a:rPr>
                      <a:t>no prize</a:t>
                    </a:r>
                    <a:endParaRPr lang="en-US" sz="1800"/>
                  </a:p>
                </c:rich>
              </c:tx>
              <c:spPr>
                <a:noFill/>
                <a:ln>
                  <a:noFill/>
                </a:ln>
                <a:effectLst/>
              </c:spPr>
              <c:txPr>
                <a:bodyPr rot="0" spcFirstLastPara="1" vertOverflow="ellipsis" vert="horz" wrap="square" lIns="38100" tIns="19050" rIns="38100" bIns="19050" anchor="ctr" anchorCtr="1">
                  <a:no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6788441767359727"/>
                      <c:h val="0.235167890835351"/>
                    </c:manualLayout>
                  </c15:layout>
                  <c15:showDataLabelsRange val="0"/>
                </c:ext>
                <c:ext xmlns:c16="http://schemas.microsoft.com/office/drawing/2014/chart" uri="{C3380CC4-5D6E-409C-BE32-E72D297353CC}">
                  <c16:uniqueId val="{00000005-2AC9-1942-9E70-B65FB1B451A8}"/>
                </c:ext>
              </c:extLst>
            </c:dLbl>
            <c:dLbl>
              <c:idx val="3"/>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7-2AC9-1942-9E70-B65FB1B451A8}"/>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3"/>
                <c:pt idx="0">
                  <c:v>large prize</c:v>
                </c:pt>
                <c:pt idx="1">
                  <c:v>small prize </c:v>
                </c:pt>
                <c:pt idx="2">
                  <c:v>no prize</c:v>
                </c:pt>
              </c:strCache>
            </c:strRef>
          </c:cat>
          <c:val>
            <c:numRef>
              <c:f>Sheet1!$B$2:$B$5</c:f>
              <c:numCache>
                <c:formatCode>General</c:formatCode>
                <c:ptCount val="4"/>
                <c:pt idx="0">
                  <c:v>5</c:v>
                </c:pt>
                <c:pt idx="1">
                  <c:v>18</c:v>
                </c:pt>
                <c:pt idx="2">
                  <c:v>22</c:v>
                </c:pt>
              </c:numCache>
            </c:numRef>
          </c:val>
          <c:extLst>
            <c:ext xmlns:c16="http://schemas.microsoft.com/office/drawing/2014/chart" uri="{C3380CC4-5D6E-409C-BE32-E72D297353CC}">
              <c16:uniqueId val="{00000008-2AC9-1942-9E70-B65FB1B451A8}"/>
            </c:ext>
          </c:extLst>
        </c:ser>
        <c:dLbls>
          <c:dLblPos val="outEnd"/>
          <c:showLegendKey val="0"/>
          <c:showVal val="0"/>
          <c:showCatName val="0"/>
          <c:showSerName val="0"/>
          <c:showPercent val="1"/>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Mode of Transportation to School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943563120786372"/>
          <c:y val="0.11010525457423111"/>
          <c:w val="0.84056436879213625"/>
          <c:h val="0.81084249373896522"/>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Bus</c:v>
                </c:pt>
                <c:pt idx="1">
                  <c:v>Car</c:v>
                </c:pt>
                <c:pt idx="2">
                  <c:v>Bike</c:v>
                </c:pt>
                <c:pt idx="3">
                  <c:v>Walk</c:v>
                </c:pt>
              </c:strCache>
            </c:strRef>
          </c:cat>
          <c:val>
            <c:numRef>
              <c:f>Sheet1!$B$2:$B$5</c:f>
              <c:numCache>
                <c:formatCode>General</c:formatCode>
                <c:ptCount val="4"/>
                <c:pt idx="0">
                  <c:v>129</c:v>
                </c:pt>
                <c:pt idx="1">
                  <c:v>71</c:v>
                </c:pt>
                <c:pt idx="2">
                  <c:v>65</c:v>
                </c:pt>
                <c:pt idx="3">
                  <c:v>35</c:v>
                </c:pt>
              </c:numCache>
            </c:numRef>
          </c:val>
          <c:extLst>
            <c:ext xmlns:c16="http://schemas.microsoft.com/office/drawing/2014/chart" uri="{C3380CC4-5D6E-409C-BE32-E72D297353CC}">
              <c16:uniqueId val="{00000000-ABC0-B84B-B989-09A2F9022548}"/>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4"/>
                <c:pt idx="0">
                  <c:v>Bus</c:v>
                </c:pt>
                <c:pt idx="1">
                  <c:v>Car</c:v>
                </c:pt>
                <c:pt idx="2">
                  <c:v>Bike</c:v>
                </c:pt>
                <c:pt idx="3">
                  <c:v>Walk</c:v>
                </c:pt>
              </c:strCache>
            </c:strRef>
          </c:cat>
          <c:val>
            <c:numRef>
              <c:f>Sheet1!$C$2:$C$5</c:f>
              <c:numCache>
                <c:formatCode>General</c:formatCode>
                <c:ptCount val="4"/>
              </c:numCache>
            </c:numRef>
          </c:val>
          <c:extLst>
            <c:ext xmlns:c16="http://schemas.microsoft.com/office/drawing/2014/chart" uri="{C3380CC4-5D6E-409C-BE32-E72D297353CC}">
              <c16:uniqueId val="{00000001-ABC0-B84B-B989-09A2F9022548}"/>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4"/>
                <c:pt idx="0">
                  <c:v>Bus</c:v>
                </c:pt>
                <c:pt idx="1">
                  <c:v>Car</c:v>
                </c:pt>
                <c:pt idx="2">
                  <c:v>Bike</c:v>
                </c:pt>
                <c:pt idx="3">
                  <c:v>Walk</c:v>
                </c:pt>
              </c:strCache>
            </c:strRef>
          </c:cat>
          <c:val>
            <c:numRef>
              <c:f>Sheet1!$D$2:$D$5</c:f>
              <c:numCache>
                <c:formatCode>General</c:formatCode>
                <c:ptCount val="4"/>
              </c:numCache>
            </c:numRef>
          </c:val>
          <c:extLst>
            <c:ext xmlns:c16="http://schemas.microsoft.com/office/drawing/2014/chart" uri="{C3380CC4-5D6E-409C-BE32-E72D297353CC}">
              <c16:uniqueId val="{00000002-ABC0-B84B-B989-09A2F9022548}"/>
            </c:ext>
          </c:extLst>
        </c:ser>
        <c:dLbls>
          <c:showLegendKey val="0"/>
          <c:showVal val="0"/>
          <c:showCatName val="0"/>
          <c:showSerName val="0"/>
          <c:showPercent val="0"/>
          <c:showBubbleSize val="0"/>
        </c:dLbls>
        <c:gapWidth val="150"/>
        <c:overlap val="100"/>
        <c:axId val="128470016"/>
        <c:axId val="128504576"/>
      </c:barChart>
      <c:catAx>
        <c:axId val="12847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28504576"/>
        <c:crosses val="autoZero"/>
        <c:auto val="1"/>
        <c:lblAlgn val="ctr"/>
        <c:lblOffset val="10"/>
        <c:noMultiLvlLbl val="0"/>
      </c:catAx>
      <c:valAx>
        <c:axId val="128504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Cambria Math" pitchFamily="18" charset="0"/>
                <a:ea typeface="Cambria Math" pitchFamily="18" charset="0"/>
                <a:cs typeface="+mn-cs"/>
              </a:defRPr>
            </a:pPr>
            <a:endParaRPr lang="en-US"/>
          </a:p>
        </c:txPr>
        <c:crossAx val="128470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44945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881059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9406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868530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69430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24832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414130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131741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Making Population Predictions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35006" y="1609078"/>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MA.7.DP.1.3</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 </a:t>
            </a:r>
          </a:p>
        </p:txBody>
      </p:sp>
      <p:sp>
        <p:nvSpPr>
          <p:cNvPr id="9" name="Google Shape;279;g104476d1465_1_17"/>
          <p:cNvSpPr txBox="1">
            <a:spLocks/>
          </p:cNvSpPr>
          <p:nvPr/>
        </p:nvSpPr>
        <p:spPr>
          <a:xfrm>
            <a:off x="11434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19950" y="372300"/>
            <a:ext cx="747300" cy="7473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6725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pic>
        <p:nvPicPr>
          <p:cNvPr id="8" name="Google Shape;281;g104476d1465_1_17"/>
          <p:cNvPicPr preferRelativeResize="0"/>
          <p:nvPr/>
        </p:nvPicPr>
        <p:blipFill>
          <a:blip r:embed="rId3">
            <a:alphaModFix/>
          </a:blip>
          <a:stretch>
            <a:fillRect/>
          </a:stretch>
        </p:blipFill>
        <p:spPr>
          <a:xfrm>
            <a:off x="319950" y="37230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14607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19950" y="37230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43883"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41338">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proportional relationships to make predictions about a population.</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8036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8821" y="27937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5.4.1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2719"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532661" y="1229415"/>
            <a:ext cx="10515600"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Antonia and her aunt go fishing at Lake Okeechobee every Sunday. For the past four Sundays, Antonia has kept track of what kinds of fish they caught.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86AFCAD7-E0E5-E94C-B041-BFCCE7E6483F}"/>
              </a:ext>
            </a:extLst>
          </p:cNvPr>
          <p:cNvGraphicFramePr>
            <a:graphicFrameLocks noGrp="1"/>
          </p:cNvGraphicFramePr>
          <p:nvPr>
            <p:extLst>
              <p:ext uri="{D42A27DB-BD31-4B8C-83A1-F6EECF244321}">
                <p14:modId xmlns:p14="http://schemas.microsoft.com/office/powerpoint/2010/main" val="1550732734"/>
              </p:ext>
            </p:extLst>
          </p:nvPr>
        </p:nvGraphicFramePr>
        <p:xfrm>
          <a:off x="2215341" y="2096776"/>
          <a:ext cx="8216658" cy="2888640"/>
        </p:xfrm>
        <a:graphic>
          <a:graphicData uri="http://schemas.openxmlformats.org/drawingml/2006/table">
            <a:tbl>
              <a:tblPr firstRow="1" firstCol="1" bandRow="1"/>
              <a:tblGrid>
                <a:gridCol w="2160000">
                  <a:extLst>
                    <a:ext uri="{9D8B030D-6E8A-4147-A177-3AD203B41FA5}">
                      <a16:colId xmlns:a16="http://schemas.microsoft.com/office/drawing/2014/main" val="1221102430"/>
                    </a:ext>
                  </a:extLst>
                </a:gridCol>
                <a:gridCol w="1440000">
                  <a:extLst>
                    <a:ext uri="{9D8B030D-6E8A-4147-A177-3AD203B41FA5}">
                      <a16:colId xmlns:a16="http://schemas.microsoft.com/office/drawing/2014/main" val="729352809"/>
                    </a:ext>
                  </a:extLst>
                </a:gridCol>
                <a:gridCol w="1440000">
                  <a:extLst>
                    <a:ext uri="{9D8B030D-6E8A-4147-A177-3AD203B41FA5}">
                      <a16:colId xmlns:a16="http://schemas.microsoft.com/office/drawing/2014/main" val="2606684050"/>
                    </a:ext>
                  </a:extLst>
                </a:gridCol>
                <a:gridCol w="1440000">
                  <a:extLst>
                    <a:ext uri="{9D8B030D-6E8A-4147-A177-3AD203B41FA5}">
                      <a16:colId xmlns:a16="http://schemas.microsoft.com/office/drawing/2014/main" val="3843374125"/>
                    </a:ext>
                  </a:extLst>
                </a:gridCol>
                <a:gridCol w="1736658">
                  <a:extLst>
                    <a:ext uri="{9D8B030D-6E8A-4147-A177-3AD203B41FA5}">
                      <a16:colId xmlns:a16="http://schemas.microsoft.com/office/drawing/2014/main" val="1234967352"/>
                    </a:ext>
                  </a:extLst>
                </a:gridCol>
              </a:tblGrid>
              <a:tr h="540000">
                <a:tc>
                  <a:txBody>
                    <a:bodyPr/>
                    <a:lstStyle/>
                    <a:p>
                      <a:pPr marL="0" marR="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Bluegill</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Bream</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Crappie</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Largemouth Bass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013920978"/>
                  </a:ext>
                </a:extLst>
              </a:tr>
              <a:tr h="1080000">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of Fish Caught Last Month</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dirty="0">
                          <a:effectLst/>
                          <a:latin typeface="Cambria Math" panose="02040503050406030204" pitchFamily="18" charset="0"/>
                          <a:ea typeface="Times New Roman" panose="02020603050405020304" pitchFamily="18" charset="0"/>
                          <a:cs typeface="Cambria" panose="02040503050406030204" pitchFamily="18" charset="0"/>
                        </a:rPr>
                        <a:t>10</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12</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20</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8</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8444310"/>
                  </a:ext>
                </a:extLst>
              </a:tr>
              <a:tr h="1260000">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Expected Number of Fish to Be Caught Next Sunday</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8160819"/>
                  </a:ext>
                </a:extLst>
              </a:tr>
            </a:tbl>
          </a:graphicData>
        </a:graphic>
      </p:graphicFrame>
      <p:sp>
        <p:nvSpPr>
          <p:cNvPr id="14" name="TextBox 13">
            <a:extLst>
              <a:ext uri="{FF2B5EF4-FFF2-40B4-BE49-F238E27FC236}">
                <a16:creationId xmlns:a16="http://schemas.microsoft.com/office/drawing/2014/main" id="{CD34A9FE-268D-2E46-BE08-1D38DE22AF0E}"/>
              </a:ext>
            </a:extLst>
          </p:cNvPr>
          <p:cNvSpPr txBox="1"/>
          <p:nvPr/>
        </p:nvSpPr>
        <p:spPr>
          <a:xfrm>
            <a:off x="532661" y="5297833"/>
            <a:ext cx="10515600"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show what type and how many fish Antonia and her aunt are likely to catch next Sunday when they go fishing.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11" name="image12.png" descr="Icon&#10;&#10;Description automatically generated">
            <a:extLst>
              <a:ext uri="{FF2B5EF4-FFF2-40B4-BE49-F238E27FC236}">
                <a16:creationId xmlns:a16="http://schemas.microsoft.com/office/drawing/2014/main" id="{3501F1CE-D85A-CA4F-857E-3CE972828358}"/>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52519" y="-8803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5.4.2 Guided Practice: Making Population Predictions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532661" y="1464432"/>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 gathered data from a Rubber Duck Pool Game. The circle graph below shows the percentage of people who won a large prize, a small prize, and no prize. </a:t>
            </a:r>
          </a:p>
        </p:txBody>
      </p:sp>
      <p:graphicFrame>
        <p:nvGraphicFramePr>
          <p:cNvPr id="8" name="Chart 7">
            <a:extLst>
              <a:ext uri="{FF2B5EF4-FFF2-40B4-BE49-F238E27FC236}">
                <a16:creationId xmlns:a16="http://schemas.microsoft.com/office/drawing/2014/main" id="{4F4953A4-BFD5-144A-BCBE-9381853EC0ED}"/>
              </a:ext>
            </a:extLst>
          </p:cNvPr>
          <p:cNvGraphicFramePr/>
          <p:nvPr>
            <p:extLst>
              <p:ext uri="{D42A27DB-BD31-4B8C-83A1-F6EECF244321}">
                <p14:modId xmlns:p14="http://schemas.microsoft.com/office/powerpoint/2010/main" val="530988397"/>
              </p:ext>
            </p:extLst>
          </p:nvPr>
        </p:nvGraphicFramePr>
        <p:xfrm>
          <a:off x="3453547" y="3305937"/>
          <a:ext cx="5301763" cy="3151739"/>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9CB1B9EA-9C51-1F4B-BD63-C510BF03AC79}"/>
              </a:ext>
            </a:extLst>
          </p:cNvPr>
          <p:cNvSpPr txBox="1"/>
          <p:nvPr/>
        </p:nvSpPr>
        <p:spPr>
          <a:xfrm>
            <a:off x="3760304" y="2973527"/>
            <a:ext cx="4711148" cy="338554"/>
          </a:xfrm>
          <a:prstGeom prst="rect">
            <a:avLst/>
          </a:prstGeom>
          <a:noFill/>
        </p:spPr>
        <p:txBody>
          <a:bodyPr wrap="square">
            <a:spAutoFit/>
          </a:bodyPr>
          <a:lstStyle/>
          <a:p>
            <a:pPr marL="12700" algn="ctr"/>
            <a:r>
              <a:rPr lang="en-US" sz="1600" b="1" dirty="0">
                <a:latin typeface="Verdana" panose="020B0604030504040204" pitchFamily="34" charset="0"/>
                <a:ea typeface="Times New Roman" panose="02020603050405020304" pitchFamily="18" charset="0"/>
              </a:rPr>
              <a:t>Prizes Won in Rubber Duck Game</a:t>
            </a:r>
            <a:endParaRPr lang="x-none" sz="1100" dirty="0">
              <a:latin typeface="Times New Roman" panose="02020603050405020304" pitchFamily="18" charset="0"/>
              <a:ea typeface="Times New Roman" panose="02020603050405020304" pitchFamily="18" charset="0"/>
            </a:endParaRPr>
          </a:p>
        </p:txBody>
      </p:sp>
      <p:pic>
        <p:nvPicPr>
          <p:cNvPr id="13" name="image12.png" descr="Icon&#10;&#10;Description automatically generated">
            <a:extLst>
              <a:ext uri="{FF2B5EF4-FFF2-40B4-BE49-F238E27FC236}">
                <a16:creationId xmlns:a16="http://schemas.microsoft.com/office/drawing/2014/main" id="{D8EA4452-7FB2-1E4C-9871-F82DF9D0C2E6}"/>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2720" y="201168"/>
            <a:ext cx="747299" cy="747299"/>
          </a:xfrm>
          <a:prstGeom prst="rect">
            <a:avLst/>
          </a:prstGeom>
          <a:ln/>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2661" y="383594"/>
                <a:ext cx="10800000" cy="298543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180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rubber ducks floating in the pool. The person playing the game takes out one duck and looks for a mark on the bottom </a:t>
                </a:r>
                <a:b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of it.</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719138" indent="-315913" eaLnBrk="0" fontAlgn="base" hangingPunct="0">
                  <a:spcBef>
                    <a:spcPct val="0"/>
                  </a:spcBef>
                  <a:spcAft>
                    <a:spcPts val="120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a blue mark, the person wins a small prize.</a:t>
                </a:r>
              </a:p>
              <a:p>
                <a:pPr marL="719138" indent="-315913" eaLnBrk="0" fontAlgn="base" hangingPunct="0">
                  <a:spcBef>
                    <a:spcPct val="0"/>
                  </a:spcBef>
                  <a:spcAft>
                    <a:spcPts val="120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a green mark, the person wins a large prize.</a:t>
                </a:r>
              </a:p>
              <a:p>
                <a:pPr marL="719138" indent="-315913" eaLnBrk="0" fontAlgn="base" hangingPunct="0">
                  <a:spcBef>
                    <a:spcPct val="0"/>
                  </a:spcBef>
                  <a:spcAft>
                    <a:spcPts val="120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no mark, the person does not win a prize.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32661" y="383594"/>
                <a:ext cx="10800000" cy="2985433"/>
              </a:xfrm>
              <a:prstGeom prst="rect">
                <a:avLst/>
              </a:prstGeom>
              <a:blipFill rotWithShape="1">
                <a:blip r:embed="rId4"/>
                <a:stretch>
                  <a:fillRect l="-847" t="-1837" b="-36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spTree>
    <p:extLst>
      <p:ext uri="{BB962C8B-B14F-4D97-AF65-F5344CB8AC3E}">
        <p14:creationId xmlns:p14="http://schemas.microsoft.com/office/powerpoint/2010/main" val="121268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199</a:t>
            </a:r>
            <a:endParaRPr i="1" dirty="0">
              <a:latin typeface="Calibri"/>
              <a:ea typeface="Calibri"/>
              <a:cs typeface="Calibri"/>
              <a:sym typeface="Calibri"/>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2661" y="378691"/>
            <a:ext cx="10800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 uses her data to predict how many of each kind of duck are in the pool using three different strategies. Her work is shown.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E9E3344-A6F7-C542-9B09-3A91E1C00E67}"/>
                  </a:ext>
                </a:extLst>
              </p:cNvPr>
              <p:cNvGraphicFramePr>
                <a:graphicFrameLocks noGrp="1"/>
              </p:cNvGraphicFramePr>
              <p:nvPr>
                <p:extLst>
                  <p:ext uri="{D42A27DB-BD31-4B8C-83A1-F6EECF244321}">
                    <p14:modId xmlns:p14="http://schemas.microsoft.com/office/powerpoint/2010/main" val="2851419589"/>
                  </p:ext>
                </p:extLst>
              </p:nvPr>
            </p:nvGraphicFramePr>
            <p:xfrm>
              <a:off x="1574112" y="1415004"/>
              <a:ext cx="8640000" cy="3060000"/>
            </p:xfrm>
            <a:graphic>
              <a:graphicData uri="http://schemas.openxmlformats.org/drawingml/2006/table">
                <a:tbl>
                  <a:tblPr firstRow="1" firstCol="1" bandRow="1"/>
                  <a:tblGrid>
                    <a:gridCol w="2880000">
                      <a:extLst>
                        <a:ext uri="{9D8B030D-6E8A-4147-A177-3AD203B41FA5}">
                          <a16:colId xmlns:a16="http://schemas.microsoft.com/office/drawing/2014/main" val="1942433666"/>
                        </a:ext>
                      </a:extLst>
                    </a:gridCol>
                    <a:gridCol w="2880000">
                      <a:extLst>
                        <a:ext uri="{9D8B030D-6E8A-4147-A177-3AD203B41FA5}">
                          <a16:colId xmlns:a16="http://schemas.microsoft.com/office/drawing/2014/main" val="3486758550"/>
                        </a:ext>
                      </a:extLst>
                    </a:gridCol>
                    <a:gridCol w="2880000">
                      <a:extLst>
                        <a:ext uri="{9D8B030D-6E8A-4147-A177-3AD203B41FA5}">
                          <a16:colId xmlns:a16="http://schemas.microsoft.com/office/drawing/2014/main" val="4278295420"/>
                        </a:ext>
                      </a:extLst>
                    </a:gridCol>
                  </a:tblGrid>
                  <a:tr h="5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1</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3</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887710902"/>
                      </a:ext>
                    </a:extLst>
                  </a:tr>
                  <a:tr h="2520000">
                    <a:tc>
                      <a:txBody>
                        <a:bodyPr/>
                        <a:lstStyle/>
                        <a:p>
                          <a:pPr marL="0" marR="0" algn="ctr">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40%</m:t>
                              </m:r>
                            </m:oMath>
                          </a14:m>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m:t>
                                    </m:r>
                                  </m:den>
                                </m:f>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72</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180</m:t>
                                    </m:r>
                                  </m:den>
                                </m:f>
                              </m:oMath>
                            </m:oMathPara>
                          </a14:m>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r>
                            <a:rPr lang="en-US" sz="2000" dirty="0">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72</a:t>
                          </a: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a blue mark.</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11%</m:t>
                              </m:r>
                            </m:oMath>
                          </a14:m>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0.11 × 180 = 19.8</m:t>
                                </m:r>
                              </m:oMath>
                            </m:oMathPara>
                          </a14:m>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r>
                            <a:rPr lang="en-US" sz="2000" dirty="0">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20</a:t>
                          </a: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a green mark.</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49%</m:t>
                              </m:r>
                            </m:oMath>
                          </a14:m>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20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49</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0.56</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0.56</m:t>
                                    </m:r>
                                  </m:den>
                                </m:f>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27.44</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180</m:t>
                                    </m:r>
                                  </m:den>
                                </m:f>
                              </m:oMath>
                            </m:oMathPara>
                          </a14:m>
                          <a:endParaRPr lang="x-none" sz="20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20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27</m:t>
                              </m:r>
                            </m:oMath>
                          </a14:m>
                          <a:r>
                            <a:rPr lang="en-US" sz="20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no mark.</a:t>
                          </a:r>
                          <a:endParaRPr lang="x-none" sz="20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945743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DE9E3344-A6F7-C542-9B09-3A91E1C00E67}"/>
                  </a:ext>
                </a:extLst>
              </p:cNvPr>
              <p:cNvGraphicFramePr>
                <a:graphicFrameLocks noGrp="1"/>
              </p:cNvGraphicFramePr>
              <p:nvPr>
                <p:extLst>
                  <p:ext uri="{D42A27DB-BD31-4B8C-83A1-F6EECF244321}">
                    <p14:modId xmlns:p14="http://schemas.microsoft.com/office/powerpoint/2010/main" val="2851419589"/>
                  </p:ext>
                </p:extLst>
              </p:nvPr>
            </p:nvGraphicFramePr>
            <p:xfrm>
              <a:off x="1574112" y="1415004"/>
              <a:ext cx="8640000" cy="3060000"/>
            </p:xfrm>
            <a:graphic>
              <a:graphicData uri="http://schemas.openxmlformats.org/drawingml/2006/table">
                <a:tbl>
                  <a:tblPr firstRow="1" firstCol="1" bandRow="1"/>
                  <a:tblGrid>
                    <a:gridCol w="2880000">
                      <a:extLst>
                        <a:ext uri="{9D8B030D-6E8A-4147-A177-3AD203B41FA5}">
                          <a16:colId xmlns:a16="http://schemas.microsoft.com/office/drawing/2014/main" xmlns:a14="http://schemas.microsoft.com/office/drawing/2010/main" xmlns="" val="1942433666"/>
                        </a:ext>
                      </a:extLst>
                    </a:gridCol>
                    <a:gridCol w="2880000">
                      <a:extLst>
                        <a:ext uri="{9D8B030D-6E8A-4147-A177-3AD203B41FA5}">
                          <a16:colId xmlns:a16="http://schemas.microsoft.com/office/drawing/2014/main" xmlns:a14="http://schemas.microsoft.com/office/drawing/2010/main" xmlns="" val="3486758550"/>
                        </a:ext>
                      </a:extLst>
                    </a:gridCol>
                    <a:gridCol w="2880000">
                      <a:extLst>
                        <a:ext uri="{9D8B030D-6E8A-4147-A177-3AD203B41FA5}">
                          <a16:colId xmlns:a16="http://schemas.microsoft.com/office/drawing/2014/main" xmlns:a14="http://schemas.microsoft.com/office/drawing/2010/main" xmlns="" val="4278295420"/>
                        </a:ext>
                      </a:extLst>
                    </a:gridCol>
                  </a:tblGrid>
                  <a:tr h="5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1</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3</a:t>
                          </a:r>
                          <a:endParaRPr lang="x-none" sz="20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887710902"/>
                      </a:ext>
                    </a:extLst>
                  </a:tr>
                  <a:tr h="2520000">
                    <a:tc>
                      <a:txBody>
                        <a:bodyPr/>
                        <a:lstStyle/>
                        <a:p>
                          <a:endParaRPr lang="en-US"/>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1550" r="-199789" b="-242"/>
                          </a:stretch>
                        </a:blipFill>
                      </a:tcPr>
                    </a:tc>
                    <a:tc>
                      <a:txBody>
                        <a:bodyPr/>
                        <a:lstStyle/>
                        <a:p>
                          <a:endParaRPr lang="en-US"/>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21550" r="-100212" b="-242"/>
                          </a:stretch>
                        </a:blipFill>
                      </a:tcPr>
                    </a:tc>
                    <a:tc>
                      <a:txBody>
                        <a:bodyPr/>
                        <a:lstStyle/>
                        <a:p>
                          <a:endParaRPr lang="en-US"/>
                        </a:p>
                      </a:txBody>
                      <a:tcPr marL="68580" marR="68580" marT="108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789" t="-21550" b="-242"/>
                          </a:stretch>
                        </a:blipFill>
                      </a:tcPr>
                    </a:tc>
                    <a:extLst>
                      <a:ext uri="{0D108BD9-81ED-4DB2-BD59-A6C34878D82A}">
                        <a16:rowId xmlns:a16="http://schemas.microsoft.com/office/drawing/2014/main" xmlns:a14="http://schemas.microsoft.com/office/drawing/2010/main" xmlns="" val="2899457437"/>
                      </a:ext>
                    </a:extLst>
                  </a:tr>
                </a:tbl>
              </a:graphicData>
            </a:graphic>
          </p:graphicFrame>
        </mc:Fallback>
      </mc:AlternateContent>
    </p:spTree>
    <p:extLst>
      <p:ext uri="{BB962C8B-B14F-4D97-AF65-F5344CB8AC3E}">
        <p14:creationId xmlns:p14="http://schemas.microsoft.com/office/powerpoint/2010/main" val="839402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199</a:t>
            </a:r>
            <a:endParaRPr i="1" dirty="0">
              <a:latin typeface="Calibri"/>
              <a:ea typeface="Calibri"/>
              <a:cs typeface="Calibri"/>
              <a:sym typeface="Calibri"/>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5184" y="378363"/>
            <a:ext cx="1051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Ella’s solution              correct because </a:t>
            </a:r>
          </a:p>
        </p:txBody>
      </p:sp>
      <p:pic>
        <p:nvPicPr>
          <p:cNvPr id="3" name="Picture 2" descr="Shape, rectangle&#10;&#10;Description automatically generated">
            <a:extLst>
              <a:ext uri="{FF2B5EF4-FFF2-40B4-BE49-F238E27FC236}">
                <a16:creationId xmlns:a16="http://schemas.microsoft.com/office/drawing/2014/main" id="{805B8FCB-6A59-B349-80FC-5AE79E37C2C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45500" y="168008"/>
            <a:ext cx="1248844" cy="882374"/>
          </a:xfrm>
          <a:prstGeom prst="rect">
            <a:avLst/>
          </a:prstGeom>
        </p:spPr>
      </p:pic>
      <p:pic>
        <p:nvPicPr>
          <p:cNvPr id="5" name="Picture 4" descr="Text&#10;&#10;Description automatically generated">
            <a:extLst>
              <a:ext uri="{FF2B5EF4-FFF2-40B4-BE49-F238E27FC236}">
                <a16:creationId xmlns:a16="http://schemas.microsoft.com/office/drawing/2014/main" id="{FEC0C39F-F556-B84B-92B5-9895F8B2E2F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25340" y="1163503"/>
            <a:ext cx="6156070" cy="1622335"/>
          </a:xfrm>
          <a:prstGeom prst="rect">
            <a:avLst/>
          </a:prstGeom>
        </p:spPr>
      </p:pic>
      <p:sp>
        <p:nvSpPr>
          <p:cNvPr id="18" name="Rectangle 17">
            <a:extLst>
              <a:ext uri="{FF2B5EF4-FFF2-40B4-BE49-F238E27FC236}">
                <a16:creationId xmlns:a16="http://schemas.microsoft.com/office/drawing/2014/main" id="{C9D860CC-BF2F-2042-830E-8A0DF8320A75}"/>
              </a:ext>
            </a:extLst>
          </p:cNvPr>
          <p:cNvSpPr>
            <a:spLocks noChangeArrowheads="1"/>
          </p:cNvSpPr>
          <p:nvPr/>
        </p:nvSpPr>
        <p:spPr bwMode="auto">
          <a:xfrm>
            <a:off x="535184" y="3322316"/>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an explanation for why you agree or disagree with Ella’s solution. Use specific examples from Ella’s strategies to justify your opinion. </a:t>
            </a:r>
          </a:p>
        </p:txBody>
      </p:sp>
    </p:spTree>
    <p:extLst>
      <p:ext uri="{BB962C8B-B14F-4D97-AF65-F5344CB8AC3E}">
        <p14:creationId xmlns:p14="http://schemas.microsoft.com/office/powerpoint/2010/main" val="2103928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199</a:t>
            </a:r>
            <a:endParaRPr i="1" dirty="0">
              <a:latin typeface="Calibri"/>
              <a:ea typeface="Calibri"/>
              <a:cs typeface="Calibri"/>
              <a:sym typeface="Calibri"/>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29248" y="377870"/>
            <a:ext cx="10800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startAt="3"/>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Compare your explanation with your partner’s. Discuss any differences and make changes if necessary.</a:t>
            </a:r>
          </a:p>
          <a:p>
            <a:pPr marL="900113" indent="-457200" eaLnBrk="0" fontAlgn="base" hangingPunct="0">
              <a:spcBef>
                <a:spcPct val="0"/>
              </a:spcBef>
              <a:spcAft>
                <a:spcPct val="0"/>
              </a:spcAft>
              <a:buClrTx/>
              <a:buFont typeface="+mj-lt"/>
              <a:buAutoNum type="alphaL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3"/>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 used three different solution strategies. In the bottom of each column in Ella’s table, label each strategy with the correct name from the descriptions. </a:t>
            </a:r>
          </a:p>
        </p:txBody>
      </p:sp>
      <p:grpSp>
        <p:nvGrpSpPr>
          <p:cNvPr id="6" name="Group 5">
            <a:extLst>
              <a:ext uri="{FF2B5EF4-FFF2-40B4-BE49-F238E27FC236}">
                <a16:creationId xmlns:a16="http://schemas.microsoft.com/office/drawing/2014/main" id="{5A2A6D0A-B061-6A40-A2D3-883BDCFF88DB}"/>
              </a:ext>
            </a:extLst>
          </p:cNvPr>
          <p:cNvGrpSpPr/>
          <p:nvPr/>
        </p:nvGrpSpPr>
        <p:grpSpPr>
          <a:xfrm>
            <a:off x="1546753" y="2597151"/>
            <a:ext cx="9108585" cy="1346200"/>
            <a:chOff x="2031300" y="3198345"/>
            <a:chExt cx="9109050" cy="1346313"/>
          </a:xfrm>
        </p:grpSpPr>
        <p:grpSp>
          <p:nvGrpSpPr>
            <p:cNvPr id="24" name="Group 23">
              <a:extLst>
                <a:ext uri="{FF2B5EF4-FFF2-40B4-BE49-F238E27FC236}">
                  <a16:creationId xmlns:a16="http://schemas.microsoft.com/office/drawing/2014/main" id="{3A0D256C-D14E-C046-BC4E-E4AE62B0EF7F}"/>
                </a:ext>
              </a:extLst>
            </p:cNvPr>
            <p:cNvGrpSpPr/>
            <p:nvPr/>
          </p:nvGrpSpPr>
          <p:grpSpPr>
            <a:xfrm>
              <a:off x="2031300" y="3198345"/>
              <a:ext cx="9109050" cy="1346313"/>
              <a:chOff x="0" y="-77390"/>
              <a:chExt cx="9109050" cy="1346313"/>
            </a:xfrm>
          </p:grpSpPr>
          <p:sp>
            <p:nvSpPr>
              <p:cNvPr id="25" name="Rectangle 24">
                <a:extLst>
                  <a:ext uri="{FF2B5EF4-FFF2-40B4-BE49-F238E27FC236}">
                    <a16:creationId xmlns:a16="http://schemas.microsoft.com/office/drawing/2014/main" id="{2E7AEC89-3EB2-8443-9F26-8C52ECCD8CED}"/>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grpSp>
            <p:nvGrpSpPr>
              <p:cNvPr id="26" name="Group 25">
                <a:extLst>
                  <a:ext uri="{FF2B5EF4-FFF2-40B4-BE49-F238E27FC236}">
                    <a16:creationId xmlns:a16="http://schemas.microsoft.com/office/drawing/2014/main" id="{AC2AC4AD-73B7-974B-94FD-B9CBDEA42324}"/>
                  </a:ext>
                </a:extLst>
              </p:cNvPr>
              <p:cNvGrpSpPr/>
              <p:nvPr/>
            </p:nvGrpSpPr>
            <p:grpSpPr>
              <a:xfrm>
                <a:off x="0" y="-77390"/>
                <a:ext cx="9109050" cy="1346313"/>
                <a:chOff x="0" y="-77390"/>
                <a:chExt cx="9109050" cy="1346313"/>
              </a:xfrm>
            </p:grpSpPr>
            <p:sp>
              <p:nvSpPr>
                <p:cNvPr id="28" name="Rectangle 27">
                  <a:extLst>
                    <a:ext uri="{FF2B5EF4-FFF2-40B4-BE49-F238E27FC236}">
                      <a16:creationId xmlns:a16="http://schemas.microsoft.com/office/drawing/2014/main" id="{FA6CD2CE-23EE-7E43-AC6B-DF690597087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29" name="Rectangle 28">
                  <a:extLst>
                    <a:ext uri="{FF2B5EF4-FFF2-40B4-BE49-F238E27FC236}">
                      <a16:creationId xmlns:a16="http://schemas.microsoft.com/office/drawing/2014/main" id="{53D3EA32-89EF-2B49-84BD-F1D7862B694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30" name="Rounded Rectangle 29">
                  <a:extLst>
                    <a:ext uri="{FF2B5EF4-FFF2-40B4-BE49-F238E27FC236}">
                      <a16:creationId xmlns:a16="http://schemas.microsoft.com/office/drawing/2014/main" id="{B587C2A9-5D7B-924B-B627-C9C34707F279}"/>
                    </a:ext>
                  </a:extLst>
                </p:cNvPr>
                <p:cNvSpPr/>
                <p:nvPr/>
              </p:nvSpPr>
              <p:spPr>
                <a:xfrm>
                  <a:off x="108590" y="-77390"/>
                  <a:ext cx="9000460" cy="1346313"/>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144000" rIns="91425" bIns="45700" anchor="ctr" anchorCtr="0">
                  <a:noAutofit/>
                </a:bodyPr>
                <a:lstStyle/>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 </a:t>
                  </a:r>
                  <a:r>
                    <a:rPr lang="en-US" sz="20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scale factor,</a:t>
                  </a: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first divide the population by the sample to find the scale factor, then multiply the numerator and denominator of the sample fraction by the scale factor. </a:t>
                  </a:r>
                  <a:endParaRPr lang="x-none" sz="20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27" name="Shape 15" descr="Icon&#10;&#10;Description automatically generated">
                <a:extLst>
                  <a:ext uri="{FF2B5EF4-FFF2-40B4-BE49-F238E27FC236}">
                    <a16:creationId xmlns:a16="http://schemas.microsoft.com/office/drawing/2014/main" id="{B2C40B53-FA8D-274B-9ADA-2BB37448644F}"/>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89367" y="56017"/>
                <a:ext cx="539750" cy="539750"/>
              </a:xfrm>
              <a:prstGeom prst="rect">
                <a:avLst/>
              </a:prstGeom>
              <a:noFill/>
              <a:ln>
                <a:noFill/>
              </a:ln>
              <a:effectLst>
                <a:outerShdw blurRad="50800" dist="38100" dir="2700000" algn="tl" rotWithShape="0">
                  <a:prstClr val="black">
                    <a:alpha val="40000"/>
                  </a:prstClr>
                </a:outerShdw>
              </a:effectLst>
            </p:spPr>
          </p:pic>
        </p:grpSp>
      </p:grpSp>
      <p:grpSp>
        <p:nvGrpSpPr>
          <p:cNvPr id="7" name="Group 6">
            <a:extLst>
              <a:ext uri="{FF2B5EF4-FFF2-40B4-BE49-F238E27FC236}">
                <a16:creationId xmlns:a16="http://schemas.microsoft.com/office/drawing/2014/main" id="{1AC56B2B-6C92-0F47-A562-1229DCF2AFF0}"/>
              </a:ext>
            </a:extLst>
          </p:cNvPr>
          <p:cNvGrpSpPr/>
          <p:nvPr/>
        </p:nvGrpSpPr>
        <p:grpSpPr>
          <a:xfrm>
            <a:off x="1656481" y="4113360"/>
            <a:ext cx="9000000" cy="1321026"/>
            <a:chOff x="2031300" y="2963234"/>
            <a:chExt cx="9000000" cy="1321026"/>
          </a:xfrm>
          <a:effectLst>
            <a:outerShdw blurRad="50800" dist="38100" dir="2700000" algn="tl" rotWithShape="0">
              <a:prstClr val="black">
                <a:alpha val="40000"/>
              </a:prstClr>
            </a:outerShdw>
          </a:effectLst>
        </p:grpSpPr>
        <p:grpSp>
          <p:nvGrpSpPr>
            <p:cNvPr id="17" name="Group 16">
              <a:extLst>
                <a:ext uri="{FF2B5EF4-FFF2-40B4-BE49-F238E27FC236}">
                  <a16:creationId xmlns:a16="http://schemas.microsoft.com/office/drawing/2014/main" id="{1847242D-17AC-A646-9F83-F7B4D86481DE}"/>
                </a:ext>
              </a:extLst>
            </p:cNvPr>
            <p:cNvGrpSpPr/>
            <p:nvPr/>
          </p:nvGrpSpPr>
          <p:grpSpPr>
            <a:xfrm>
              <a:off x="2031300" y="2963234"/>
              <a:ext cx="9000000" cy="1321026"/>
              <a:chOff x="0" y="-312501"/>
              <a:chExt cx="9000000" cy="1321026"/>
            </a:xfrm>
          </p:grpSpPr>
          <p:sp>
            <p:nvSpPr>
              <p:cNvPr id="18" name="Rectangle 17">
                <a:extLst>
                  <a:ext uri="{FF2B5EF4-FFF2-40B4-BE49-F238E27FC236}">
                    <a16:creationId xmlns:a16="http://schemas.microsoft.com/office/drawing/2014/main" id="{29BABBED-88E5-304D-AF68-CC68C136E8E0}"/>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grpSp>
            <p:nvGrpSpPr>
              <p:cNvPr id="19" name="Group 18">
                <a:extLst>
                  <a:ext uri="{FF2B5EF4-FFF2-40B4-BE49-F238E27FC236}">
                    <a16:creationId xmlns:a16="http://schemas.microsoft.com/office/drawing/2014/main" id="{7481B848-5C38-B944-8409-721EE5C403A3}"/>
                  </a:ext>
                </a:extLst>
              </p:cNvPr>
              <p:cNvGrpSpPr/>
              <p:nvPr/>
            </p:nvGrpSpPr>
            <p:grpSpPr>
              <a:xfrm>
                <a:off x="0" y="-312501"/>
                <a:ext cx="9000000" cy="1098876"/>
                <a:chOff x="0" y="-312501"/>
                <a:chExt cx="9000000" cy="1098876"/>
              </a:xfrm>
            </p:grpSpPr>
            <p:sp>
              <p:nvSpPr>
                <p:cNvPr id="21" name="Rectangle 20">
                  <a:extLst>
                    <a:ext uri="{FF2B5EF4-FFF2-40B4-BE49-F238E27FC236}">
                      <a16:creationId xmlns:a16="http://schemas.microsoft.com/office/drawing/2014/main" id="{5BC65D7E-49BA-2145-9F9A-C2DD30DEDEF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22" name="Rectangle 21">
                  <a:extLst>
                    <a:ext uri="{FF2B5EF4-FFF2-40B4-BE49-F238E27FC236}">
                      <a16:creationId xmlns:a16="http://schemas.microsoft.com/office/drawing/2014/main" id="{3777A26E-B241-A640-AFAA-8D8C2C0675A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23" name="Rounded Rectangle 22">
                  <a:extLst>
                    <a:ext uri="{FF2B5EF4-FFF2-40B4-BE49-F238E27FC236}">
                      <a16:creationId xmlns:a16="http://schemas.microsoft.com/office/drawing/2014/main" id="{6CD0C540-B948-B847-A71A-FAE48F6F7626}"/>
                    </a:ext>
                  </a:extLst>
                </p:cNvPr>
                <p:cNvSpPr/>
                <p:nvPr/>
              </p:nvSpPr>
              <p:spPr>
                <a:xfrm>
                  <a:off x="0" y="-312501"/>
                  <a:ext cx="9000000" cy="1008525"/>
                </a:xfrm>
                <a:prstGeom prst="roundRect">
                  <a:avLst>
                    <a:gd name="adj" fmla="val 16667"/>
                  </a:avLst>
                </a:prstGeom>
                <a:solidFill>
                  <a:srgbClr val="B8E6F5"/>
                </a:solidFill>
                <a:ln>
                  <a:noFill/>
                </a:ln>
              </p:spPr>
              <p:txBody>
                <a:bodyPr spcFirstLastPara="1" wrap="square" lIns="91425" tIns="144000" rIns="91425" bIns="45700" anchor="ctr" anchorCtr="0">
                  <a:noAutofit/>
                </a:bodyPr>
                <a:lstStyle/>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an </a:t>
                  </a:r>
                  <a:r>
                    <a:rPr lang="en-US" sz="20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equivalent fraction,</a:t>
                  </a: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write  multiple fractions equal to the sample fraction until the denominator shows the total population.</a:t>
                  </a:r>
                  <a:endParaRPr lang="x-none" sz="20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20" name="Shape 15" descr="Icon&#10;&#10;Description automatically generated">
                <a:extLst>
                  <a:ext uri="{FF2B5EF4-FFF2-40B4-BE49-F238E27FC236}">
                    <a16:creationId xmlns:a16="http://schemas.microsoft.com/office/drawing/2014/main" id="{2AE3C881-B943-4842-8966-4363B9328077}"/>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3914" y="-201236"/>
                <a:ext cx="539750" cy="539750"/>
              </a:xfrm>
              <a:prstGeom prst="rect">
                <a:avLst/>
              </a:prstGeom>
              <a:noFill/>
              <a:ln>
                <a:noFill/>
              </a:ln>
              <a:effectLst>
                <a:outerShdw blurRad="50800" dist="38100" dir="2700000" algn="tl" rotWithShape="0">
                  <a:prstClr val="black">
                    <a:alpha val="40000"/>
                  </a:prstClr>
                </a:outerShdw>
              </a:effectLst>
            </p:spPr>
          </p:pic>
        </p:grpSp>
      </p:grpSp>
      <p:grpSp>
        <p:nvGrpSpPr>
          <p:cNvPr id="8" name="Group 7">
            <a:extLst>
              <a:ext uri="{FF2B5EF4-FFF2-40B4-BE49-F238E27FC236}">
                <a16:creationId xmlns:a16="http://schemas.microsoft.com/office/drawing/2014/main" id="{909B4802-F135-1946-9C71-6371FC6AC476}"/>
              </a:ext>
            </a:extLst>
          </p:cNvPr>
          <p:cNvGrpSpPr/>
          <p:nvPr/>
        </p:nvGrpSpPr>
        <p:grpSpPr>
          <a:xfrm>
            <a:off x="1546753" y="5273652"/>
            <a:ext cx="9109728" cy="1599644"/>
            <a:chOff x="2031300" y="2684616"/>
            <a:chExt cx="9109728" cy="1599644"/>
          </a:xfrm>
          <a:effectLst>
            <a:outerShdw blurRad="50800" dist="38100" dir="2700000" algn="tl" rotWithShape="0">
              <a:prstClr val="black">
                <a:alpha val="40000"/>
              </a:prstClr>
            </a:outerShdw>
          </a:effectLst>
        </p:grpSpPr>
        <p:grpSp>
          <p:nvGrpSpPr>
            <p:cNvPr id="9" name="Group 8">
              <a:extLst>
                <a:ext uri="{FF2B5EF4-FFF2-40B4-BE49-F238E27FC236}">
                  <a16:creationId xmlns:a16="http://schemas.microsoft.com/office/drawing/2014/main" id="{10FAD865-1EFB-7446-A353-675B2AD68302}"/>
                </a:ext>
              </a:extLst>
            </p:cNvPr>
            <p:cNvGrpSpPr/>
            <p:nvPr/>
          </p:nvGrpSpPr>
          <p:grpSpPr>
            <a:xfrm>
              <a:off x="2031300" y="2684616"/>
              <a:ext cx="9109728" cy="1599644"/>
              <a:chOff x="0" y="-591119"/>
              <a:chExt cx="9109728" cy="1599644"/>
            </a:xfrm>
          </p:grpSpPr>
          <p:sp>
            <p:nvSpPr>
              <p:cNvPr id="10" name="Rectangle 9">
                <a:extLst>
                  <a:ext uri="{FF2B5EF4-FFF2-40B4-BE49-F238E27FC236}">
                    <a16:creationId xmlns:a16="http://schemas.microsoft.com/office/drawing/2014/main" id="{CACB2525-AAEE-4C45-8E02-B492FDF80386}"/>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grpSp>
            <p:nvGrpSpPr>
              <p:cNvPr id="11" name="Group 10">
                <a:extLst>
                  <a:ext uri="{FF2B5EF4-FFF2-40B4-BE49-F238E27FC236}">
                    <a16:creationId xmlns:a16="http://schemas.microsoft.com/office/drawing/2014/main" id="{AD0EBA34-8907-4942-B5BE-4523ECFD6D4E}"/>
                  </a:ext>
                </a:extLst>
              </p:cNvPr>
              <p:cNvGrpSpPr/>
              <p:nvPr/>
            </p:nvGrpSpPr>
            <p:grpSpPr>
              <a:xfrm>
                <a:off x="0" y="-591119"/>
                <a:ext cx="9109728" cy="1377494"/>
                <a:chOff x="0" y="-591119"/>
                <a:chExt cx="9109728" cy="1377494"/>
              </a:xfrm>
            </p:grpSpPr>
            <p:sp>
              <p:nvSpPr>
                <p:cNvPr id="14" name="Rectangle 13">
                  <a:extLst>
                    <a:ext uri="{FF2B5EF4-FFF2-40B4-BE49-F238E27FC236}">
                      <a16:creationId xmlns:a16="http://schemas.microsoft.com/office/drawing/2014/main" id="{F1E084D1-AD47-DC40-859C-689FE9AF212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15" name="Rectangle 14">
                  <a:extLst>
                    <a:ext uri="{FF2B5EF4-FFF2-40B4-BE49-F238E27FC236}">
                      <a16:creationId xmlns:a16="http://schemas.microsoft.com/office/drawing/2014/main" id="{60D2E62F-39C8-644C-8D4B-A038C3DC7EF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Cambria" panose="02040503050406030204" pitchFamily="18" charset="0"/>
                    </a:rPr>
                    <a:t> </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p:sp>
              <p:nvSpPr>
                <p:cNvPr id="16" name="Rounded Rectangle 15">
                  <a:extLst>
                    <a:ext uri="{FF2B5EF4-FFF2-40B4-BE49-F238E27FC236}">
                      <a16:creationId xmlns:a16="http://schemas.microsoft.com/office/drawing/2014/main" id="{7D7FEA8B-E82B-6741-8710-2867EA7F8C4D}"/>
                    </a:ext>
                  </a:extLst>
                </p:cNvPr>
                <p:cNvSpPr/>
                <p:nvPr/>
              </p:nvSpPr>
              <p:spPr>
                <a:xfrm>
                  <a:off x="109728" y="-591119"/>
                  <a:ext cx="9000000" cy="949594"/>
                </a:xfrm>
                <a:prstGeom prst="roundRect">
                  <a:avLst>
                    <a:gd name="adj" fmla="val 16667"/>
                  </a:avLst>
                </a:prstGeom>
                <a:solidFill>
                  <a:srgbClr val="B8E6F5"/>
                </a:solidFill>
                <a:ln>
                  <a:noFill/>
                </a:ln>
              </p:spPr>
              <p:txBody>
                <a:bodyPr spcFirstLastPara="1" wrap="square" lIns="91425" tIns="72000" rIns="91425" bIns="45700" anchor="ctr" anchorCtr="0">
                  <a:spAutoFit/>
                </a:bodyPr>
                <a:lstStyle/>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a:t>
                  </a:r>
                  <a:r>
                    <a:rPr lang="en-US" sz="20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 percent,</a:t>
                  </a:r>
                  <a:r>
                    <a:rPr lang="en-US" sz="20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multiply the total population by the decimal or fraction form of the percent of the sample.</a:t>
                  </a:r>
                  <a:endParaRPr lang="x-none" sz="20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13" name="Shape 15" descr="Icon&#10;&#10;Description automatically generated">
                <a:extLst>
                  <a:ext uri="{FF2B5EF4-FFF2-40B4-BE49-F238E27FC236}">
                    <a16:creationId xmlns:a16="http://schemas.microsoft.com/office/drawing/2014/main" id="{BA72661F-AEDC-3D4A-A4B3-ACF8CE6A2D18}"/>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89324" y="-485553"/>
                <a:ext cx="539750" cy="539750"/>
              </a:xfrm>
              <a:prstGeom prst="rect">
                <a:avLst/>
              </a:prstGeom>
              <a:noFill/>
              <a:ln>
                <a:noFill/>
              </a:ln>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1942041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199</a:t>
            </a:r>
            <a:endParaRPr i="1" dirty="0">
              <a:latin typeface="Calibri"/>
              <a:ea typeface="Calibri"/>
              <a:cs typeface="Calibri"/>
              <a:sym typeface="Calibri"/>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2661" y="379159"/>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Bianca picks blocks out of a bag one at a time. She picks out a block, records the color, and puts the block back in the bag. She cannot see the blocks, but she knows there are </a:t>
            </a:r>
            <a:r>
              <a:rPr lang="en-US" altLang="en-US" sz="2400" dirty="0">
                <a:solidFill>
                  <a:schemeClr val="tx1"/>
                </a:solidFill>
                <a:latin typeface="Cambria Math" pitchFamily="18" charset="0"/>
                <a:ea typeface="Cambria Math" pitchFamily="18" charset="0"/>
                <a:cs typeface="Times New Roman" panose="02020603050405020304" pitchFamily="18" charset="0"/>
              </a:rPr>
              <a:t>6</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blocks in the bag. Of the </a:t>
            </a:r>
            <a:r>
              <a:rPr lang="en-US" altLang="en-US" sz="2400" dirty="0">
                <a:solidFill>
                  <a:schemeClr val="tx1"/>
                </a:solidFill>
                <a:latin typeface="Cambria Math" pitchFamily="18" charset="0"/>
                <a:ea typeface="Cambria Math" pitchFamily="18" charset="0"/>
                <a:cs typeface="Times New Roman" panose="02020603050405020304" pitchFamily="18" charset="0"/>
              </a:rPr>
              <a:t>50</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times she picked a block out of the bag, she picked a blue block </a:t>
            </a:r>
            <a:r>
              <a:rPr lang="en-US" altLang="en-US" sz="2400" dirty="0">
                <a:solidFill>
                  <a:schemeClr val="tx1"/>
                </a:solidFill>
                <a:latin typeface="Cambria Math" pitchFamily="18" charset="0"/>
                <a:ea typeface="Cambria Math" pitchFamily="18" charset="0"/>
                <a:cs typeface="Times New Roman" panose="02020603050405020304" pitchFamily="18" charset="0"/>
              </a:rPr>
              <a:t>29</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times, a red block </a:t>
            </a:r>
            <a:r>
              <a:rPr lang="en-US" altLang="en-US" sz="2400" dirty="0">
                <a:solidFill>
                  <a:schemeClr val="tx1"/>
                </a:solidFill>
                <a:latin typeface="Cambria Math" pitchFamily="18" charset="0"/>
                <a:ea typeface="Cambria Math" pitchFamily="18" charset="0"/>
                <a:cs typeface="Times New Roman" panose="02020603050405020304" pitchFamily="18" charset="0"/>
              </a:rPr>
              <a:t>10</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times, and a yellow block </a:t>
            </a:r>
            <a:r>
              <a:rPr lang="en-US" altLang="en-US" sz="2400" dirty="0">
                <a:solidFill>
                  <a:schemeClr val="tx1"/>
                </a:solidFill>
                <a:latin typeface="Cambria Math" pitchFamily="18" charset="0"/>
                <a:ea typeface="Cambria Math" pitchFamily="18" charset="0"/>
                <a:cs typeface="Times New Roman" panose="02020603050405020304" pitchFamily="18" charset="0"/>
              </a:rPr>
              <a:t>11</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times.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52438"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ratios to show the number of times Bianca picked a blue, red, and yellow block out of the bag.</a:t>
            </a:r>
          </a:p>
          <a:p>
            <a:pPr marL="850900" indent="-354013"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algn="ctr"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Blue _____		Red _____		Yellow ______</a:t>
            </a:r>
          </a:p>
        </p:txBody>
      </p:sp>
    </p:spTree>
    <p:extLst>
      <p:ext uri="{BB962C8B-B14F-4D97-AF65-F5344CB8AC3E}">
        <p14:creationId xmlns:p14="http://schemas.microsoft.com/office/powerpoint/2010/main" val="883028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2660" y="380037"/>
                <a:ext cx="10515600" cy="452431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0011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which strategy will work best to predict how many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blocks are blue, red, and yellow. </a:t>
                </a: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Using the strategy you selected, how many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blocks are blue, red, and yellow? Show your work.</a:t>
                </a: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011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whether the strategy you chose was the best strategy to use, or if another would have worked better.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32660" y="380037"/>
                <a:ext cx="10515600" cy="4524315"/>
              </a:xfrm>
              <a:prstGeom prst="rect">
                <a:avLst/>
              </a:prstGeom>
              <a:blipFill rotWithShape="1">
                <a:blip r:embed="rId4"/>
                <a:stretch>
                  <a:fillRect t="-1077" r="-1391" b="-201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spTree>
    <p:extLst>
      <p:ext uri="{BB962C8B-B14F-4D97-AF65-F5344CB8AC3E}">
        <p14:creationId xmlns:p14="http://schemas.microsoft.com/office/powerpoint/2010/main" val="106524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4056"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pic>
        <p:nvPicPr>
          <p:cNvPr id="8" name="image4.png">
            <a:extLst>
              <a:ext uri="{FF2B5EF4-FFF2-40B4-BE49-F238E27FC236}">
                <a16:creationId xmlns:a16="http://schemas.microsoft.com/office/drawing/2014/main" id="{195C22C1-EC6C-D340-912B-99FCAEED0E7F}"/>
              </a:ext>
            </a:extLst>
          </p:cNvPr>
          <p:cNvPicPr/>
          <p:nvPr/>
        </p:nvPicPr>
        <p:blipFill>
          <a:blip r:embed="rId4"/>
          <a:srcRect/>
          <a:stretch>
            <a:fillRect/>
          </a:stretch>
        </p:blipFill>
        <p:spPr>
          <a:xfrm>
            <a:off x="3054096" y="2852928"/>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2519" y="-183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500" b="1" dirty="0">
                <a:solidFill>
                  <a:srgbClr val="33BEA6"/>
                </a:solidFill>
                <a:latin typeface="Verdana"/>
                <a:ea typeface="Verdana"/>
                <a:cs typeface="Verdana"/>
                <a:sym typeface="Verdana"/>
              </a:rPr>
              <a:t>5.4.3 Collaboration: Stocking a </a:t>
            </a:r>
            <a:br>
              <a:rPr lang="en-US" sz="3500" b="1" dirty="0">
                <a:solidFill>
                  <a:srgbClr val="33BEA6"/>
                </a:solidFill>
                <a:latin typeface="Verdana"/>
                <a:ea typeface="Verdana"/>
                <a:cs typeface="Verdana"/>
                <a:sym typeface="Verdana"/>
              </a:rPr>
            </a:br>
            <a:r>
              <a:rPr lang="en-US" sz="3500" b="1" dirty="0">
                <a:solidFill>
                  <a:srgbClr val="33BEA6"/>
                </a:solidFill>
                <a:latin typeface="Verdana"/>
                <a:ea typeface="Verdana"/>
                <a:cs typeface="Verdana"/>
                <a:sym typeface="Verdana"/>
              </a:rPr>
              <a:t>Vending Machine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32661" y="1466433"/>
                <a:ext cx="10800000" cy="3046988"/>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Students at Sanford Middle School are upset the school vending machine is always sold out of their favorite items. The student council decides to survey students to find a better way to stock the vending machine. They randomly sample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Each student surveyed picked their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favorite items from the vending machine. The results are shown in the table.</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61" y="1466433"/>
                <a:ext cx="10800000" cy="3046988"/>
              </a:xfrm>
              <a:prstGeom prst="rect">
                <a:avLst/>
              </a:prstGeom>
              <a:blipFill rotWithShape="1">
                <a:blip r:embed="rId4"/>
                <a:stretch>
                  <a:fillRect l="-847" t="-1603"/>
                </a:stretch>
              </a:blipFill>
            </p:spPr>
            <p:txBody>
              <a:bodyPr/>
              <a:lstStyle/>
              <a:p>
                <a:r>
                  <a:rPr lang="en-PH">
                    <a:noFill/>
                  </a:rPr>
                  <a:t> </a:t>
                </a:r>
              </a:p>
            </p:txBody>
          </p:sp>
        </mc:Fallback>
      </mc:AlternateContent>
      <p:pic>
        <p:nvPicPr>
          <p:cNvPr id="27" name="image4.png">
            <a:extLst>
              <a:ext uri="{FF2B5EF4-FFF2-40B4-BE49-F238E27FC236}">
                <a16:creationId xmlns:a16="http://schemas.microsoft.com/office/drawing/2014/main" id="{354AA297-7339-884E-8C2A-ACD88DFD90D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2719" y="201168"/>
            <a:ext cx="753529" cy="753529"/>
          </a:xfrm>
          <a:prstGeom prst="rect">
            <a:avLst/>
          </a:prstGeom>
          <a:ln/>
        </p:spPr>
      </p:pic>
    </p:spTree>
    <p:extLst>
      <p:ext uri="{BB962C8B-B14F-4D97-AF65-F5344CB8AC3E}">
        <p14:creationId xmlns:p14="http://schemas.microsoft.com/office/powerpoint/2010/main" val="16744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graphicFrame>
        <p:nvGraphicFramePr>
          <p:cNvPr id="5" name="Table 4">
            <a:extLst>
              <a:ext uri="{FF2B5EF4-FFF2-40B4-BE49-F238E27FC236}">
                <a16:creationId xmlns:a16="http://schemas.microsoft.com/office/drawing/2014/main" id="{B3F1266D-2E71-864D-9319-1411DA49B612}"/>
              </a:ext>
            </a:extLst>
          </p:cNvPr>
          <p:cNvGraphicFramePr>
            <a:graphicFrameLocks noGrp="1"/>
          </p:cNvGraphicFramePr>
          <p:nvPr>
            <p:extLst>
              <p:ext uri="{D42A27DB-BD31-4B8C-83A1-F6EECF244321}">
                <p14:modId xmlns:p14="http://schemas.microsoft.com/office/powerpoint/2010/main" val="220237320"/>
              </p:ext>
            </p:extLst>
          </p:nvPr>
        </p:nvGraphicFramePr>
        <p:xfrm>
          <a:off x="2392200" y="377020"/>
          <a:ext cx="7560000" cy="4351336"/>
        </p:xfrm>
        <a:graphic>
          <a:graphicData uri="http://schemas.openxmlformats.org/drawingml/2006/table">
            <a:tbl>
              <a:tblPr firstRow="1" firstCol="1" bandRow="1"/>
              <a:tblGrid>
                <a:gridCol w="1800000">
                  <a:extLst>
                    <a:ext uri="{9D8B030D-6E8A-4147-A177-3AD203B41FA5}">
                      <a16:colId xmlns:a16="http://schemas.microsoft.com/office/drawing/2014/main" val="3869657508"/>
                    </a:ext>
                  </a:extLst>
                </a:gridCol>
                <a:gridCol w="2880000">
                  <a:extLst>
                    <a:ext uri="{9D8B030D-6E8A-4147-A177-3AD203B41FA5}">
                      <a16:colId xmlns:a16="http://schemas.microsoft.com/office/drawing/2014/main" val="525472321"/>
                    </a:ext>
                  </a:extLst>
                </a:gridCol>
                <a:gridCol w="2880000">
                  <a:extLst>
                    <a:ext uri="{9D8B030D-6E8A-4147-A177-3AD203B41FA5}">
                      <a16:colId xmlns:a16="http://schemas.microsoft.com/office/drawing/2014/main" val="2191064609"/>
                    </a:ext>
                  </a:extLst>
                </a:gridCol>
              </a:tblGrid>
              <a:tr h="729224">
                <a:tc>
                  <a:txBody>
                    <a:bodyPr/>
                    <a:lstStyle/>
                    <a:p>
                      <a:pPr marL="0" marR="3429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Cambria" panose="02040503050406030204" pitchFamily="18" charset="0"/>
                        </a:rPr>
                        <a:t>Item</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of Times Chosen in Survey</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that Should be Stocked</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12920125"/>
                  </a:ext>
                </a:extLst>
              </a:tr>
              <a:tr h="372380">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Reese’s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30</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505420"/>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Skittles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24</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944700"/>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Starburst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21</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7465737"/>
                  </a:ext>
                </a:extLst>
              </a:tr>
              <a:tr h="372380">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Snickers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42</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852832"/>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Pretzels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24</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047881"/>
                  </a:ext>
                </a:extLst>
              </a:tr>
              <a:tr h="372380">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Chips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30</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485758"/>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Takis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39</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388794"/>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Gum</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36</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9541801"/>
                  </a:ext>
                </a:extLst>
              </a:tr>
              <a:tr h="372380">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M&amp;Ms</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30</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927033"/>
                  </a:ext>
                </a:extLst>
              </a:tr>
              <a:tr h="355432">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Trail Mix</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dirty="0">
                          <a:effectLst/>
                          <a:latin typeface="Cambria Math" panose="02040503050406030204" pitchFamily="18" charset="0"/>
                          <a:ea typeface="Times New Roman" panose="02020603050405020304" pitchFamily="18" charset="0"/>
                          <a:cs typeface="Cambria" panose="02040503050406030204" pitchFamily="18" charset="0"/>
                        </a:rPr>
                        <a:t>24</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dirty="0">
                          <a:effectLst/>
                          <a:latin typeface="Cambria Math" panose="02040503050406030204" pitchFamily="18"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2152289"/>
                  </a:ext>
                </a:extLst>
              </a:tr>
            </a:tbl>
          </a:graphicData>
        </a:graphic>
      </p:graphicFrame>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391AF3F-96BF-534B-9E28-A80E84469C7C}"/>
                  </a:ext>
                </a:extLst>
              </p:cNvPr>
              <p:cNvSpPr/>
              <p:nvPr/>
            </p:nvSpPr>
            <p:spPr>
              <a:xfrm>
                <a:off x="532659" y="4888015"/>
                <a:ext cx="10892901"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vending machine at school has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different snack compartments, each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metal spirals for each snack. The vending machine can hold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450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total snacks. </a:t>
                </a:r>
              </a:p>
            </p:txBody>
          </p:sp>
        </mc:Choice>
        <mc:Fallback xmlns="">
          <p:sp>
            <p:nvSpPr>
              <p:cNvPr id="9" name="Rectangle 8">
                <a:extLst>
                  <a:ext uri="{FF2B5EF4-FFF2-40B4-BE49-F238E27FC236}">
                    <a16:creationId xmlns:a16="http://schemas.microsoft.com/office/drawing/2014/main" xmlns:a14="http://schemas.microsoft.com/office/drawing/2010/main" xmlns="" id="{E391AF3F-96BF-534B-9E28-A80E84469C7C}"/>
                  </a:ext>
                </a:extLst>
              </p:cNvPr>
              <p:cNvSpPr>
                <a:spLocks noRot="1" noChangeAspect="1" noMove="1" noResize="1" noEditPoints="1" noAdjustHandles="1" noChangeArrowheads="1" noChangeShapeType="1" noTextEdit="1"/>
              </p:cNvSpPr>
              <p:nvPr/>
            </p:nvSpPr>
            <p:spPr>
              <a:xfrm>
                <a:off x="532659" y="4888015"/>
                <a:ext cx="10892901" cy="1200329"/>
              </a:xfrm>
              <a:prstGeom prst="rect">
                <a:avLst/>
              </a:prstGeom>
              <a:blipFill rotWithShape="1">
                <a:blip r:embed="rId4"/>
                <a:stretch>
                  <a:fillRect l="-839" t="-4569" r="-1567" b="-10152"/>
                </a:stretch>
              </a:blipFill>
            </p:spPr>
            <p:txBody>
              <a:bodyPr/>
              <a:lstStyle/>
              <a:p>
                <a:r>
                  <a:rPr lang="en-PH">
                    <a:noFill/>
                  </a:rPr>
                  <a:t> </a:t>
                </a:r>
              </a:p>
            </p:txBody>
          </p:sp>
        </mc:Fallback>
      </mc:AlternateContent>
    </p:spTree>
    <p:extLst>
      <p:ext uri="{BB962C8B-B14F-4D97-AF65-F5344CB8AC3E}">
        <p14:creationId xmlns:p14="http://schemas.microsoft.com/office/powerpoint/2010/main" val="1251846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1" y="382677"/>
            <a:ext cx="10800000" cy="4801314"/>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Work with your partner to decide how many of each snack should be stocked in the vending machine. Complete the table with your decision.</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11213" indent="-366713"/>
            <a:r>
              <a:rPr lang="en-US" sz="2200" dirty="0">
                <a:latin typeface="Verdana" panose="020B0604030504040204" pitchFamily="34" charset="0"/>
                <a:ea typeface="Times New Roman" panose="02020603050405020304" pitchFamily="18" charset="0"/>
                <a:cs typeface="Times New Roman" panose="02020603050405020304" pitchFamily="18" charset="0"/>
              </a:rPr>
              <a:t>Your work will be assessed using these criteria.</a:t>
            </a:r>
          </a:p>
          <a:p>
            <a:pPr marL="811213" indent="-366713"/>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719138" lvl="1" indent="-274638">
              <a:spcAft>
                <a:spcPts val="1200"/>
              </a:spcAft>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Each of the strategies: scale factor, equivalent fraction, and percent are used. If one of the strategies is not used, there is an explanation for why the strategy was not used. </a:t>
            </a:r>
          </a:p>
          <a:p>
            <a:pPr marL="719138" lvl="1" indent="-274638">
              <a:spcAft>
                <a:spcPts val="1200"/>
              </a:spcAft>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It is clear, either from your work or a written explanation, why you have stocked the vending machine the way you did.  </a:t>
            </a:r>
          </a:p>
          <a:p>
            <a:pPr marL="719138" indent="-274638">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The number of each snack stocked in the vending machine is a direct reflection of the survey results. </a:t>
            </a:r>
          </a:p>
        </p:txBody>
      </p:sp>
    </p:spTree>
    <p:extLst>
      <p:ext uri="{BB962C8B-B14F-4D97-AF65-F5344CB8AC3E}">
        <p14:creationId xmlns:p14="http://schemas.microsoft.com/office/powerpoint/2010/main" val="2381553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image3.png" descr="Icon&#10;&#10;Description automatically generated">
            <a:extLst>
              <a:ext uri="{FF2B5EF4-FFF2-40B4-BE49-F238E27FC236}">
                <a16:creationId xmlns:a16="http://schemas.microsoft.com/office/drawing/2014/main" id="{A4D5EB06-DA35-D141-A559-7AC25258EF42}"/>
              </a:ext>
            </a:extLst>
          </p:cNvPr>
          <p:cNvPicPr/>
          <p:nvPr/>
        </p:nvPicPr>
        <p:blipFill>
          <a:blip r:embed="rId4"/>
          <a:srcRect/>
          <a:stretch>
            <a:fillRect/>
          </a:stretch>
        </p:blipFill>
        <p:spPr>
          <a:xfrm>
            <a:off x="3054096" y="2916936"/>
            <a:ext cx="1016513" cy="101651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75598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53297" y="-9852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5.4.4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532661" y="1461929"/>
                <a:ext cx="10800000" cy="378565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Suwannee County School District is studying changes that will need to be made to the transportation department when building new schools. To determine this, it is important to understand how students get to school. The school district has a population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5,959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students, so a random sample of approximately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the students in each school was conducted. The results of the survey are shown in the bar chart. </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532661" y="1461929"/>
                <a:ext cx="10800000" cy="3785652"/>
              </a:xfrm>
              <a:prstGeom prst="rect">
                <a:avLst/>
              </a:prstGeom>
              <a:blipFill rotWithShape="1">
                <a:blip r:embed="rId4"/>
                <a:stretch>
                  <a:fillRect l="-847" t="-1288" r="-1806"/>
                </a:stretch>
              </a:blipFill>
            </p:spPr>
            <p:txBody>
              <a:bodyPr/>
              <a:lstStyle/>
              <a:p>
                <a:r>
                  <a:rPr lang="en-PH">
                    <a:noFill/>
                  </a:rPr>
                  <a:t> </a:t>
                </a:r>
              </a:p>
            </p:txBody>
          </p:sp>
        </mc:Fallback>
      </mc:AlternateContent>
      <p:pic>
        <p:nvPicPr>
          <p:cNvPr id="10" name="image3.png" descr="Icon&#10;&#10;Description automatically generated">
            <a:extLst>
              <a:ext uri="{FF2B5EF4-FFF2-40B4-BE49-F238E27FC236}">
                <a16:creationId xmlns:a16="http://schemas.microsoft.com/office/drawing/2014/main" id="{8FB17DB4-5FBE-CC44-BC45-B0BA60AB96B6}"/>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2719" y="201168"/>
            <a:ext cx="751774" cy="751774"/>
          </a:xfrm>
          <a:prstGeom prst="rect">
            <a:avLst/>
          </a:prstGeom>
          <a:ln/>
        </p:spPr>
      </p:pic>
    </p:spTree>
    <p:extLst>
      <p:ext uri="{BB962C8B-B14F-4D97-AF65-F5344CB8AC3E}">
        <p14:creationId xmlns:p14="http://schemas.microsoft.com/office/powerpoint/2010/main" val="3497806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541538" y="5248816"/>
            <a:ext cx="10800000" cy="830997"/>
          </a:xfrm>
          <a:prstGeom prst="rect">
            <a:avLst/>
          </a:prstGeom>
        </p:spPr>
        <p:txBody>
          <a:bodyPr wrap="square">
            <a:spAutoFit/>
          </a:bodyPr>
          <a:lstStyle/>
          <a:p>
            <a:pPr marL="9001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Show how to predict the number of students in the district who take the bus to get to school. </a:t>
            </a:r>
          </a:p>
        </p:txBody>
      </p:sp>
      <p:graphicFrame>
        <p:nvGraphicFramePr>
          <p:cNvPr id="6" name="Chart 5">
            <a:extLst>
              <a:ext uri="{FF2B5EF4-FFF2-40B4-BE49-F238E27FC236}">
                <a16:creationId xmlns:a16="http://schemas.microsoft.com/office/drawing/2014/main" id="{99A6C578-448D-8042-A123-9B49181DA03B}"/>
              </a:ext>
            </a:extLst>
          </p:cNvPr>
          <p:cNvGraphicFramePr/>
          <p:nvPr>
            <p:extLst>
              <p:ext uri="{D42A27DB-BD31-4B8C-83A1-F6EECF244321}">
                <p14:modId xmlns:p14="http://schemas.microsoft.com/office/powerpoint/2010/main" val="3855808660"/>
              </p:ext>
            </p:extLst>
          </p:nvPr>
        </p:nvGraphicFramePr>
        <p:xfrm>
          <a:off x="2982898" y="331305"/>
          <a:ext cx="6226205" cy="4118689"/>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Box 9">
            <a:extLst>
              <a:ext uri="{FF2B5EF4-FFF2-40B4-BE49-F238E27FC236}">
                <a16:creationId xmlns:a16="http://schemas.microsoft.com/office/drawing/2014/main" id="{21D38735-A670-A04D-94FB-FA7E42299B6B}"/>
              </a:ext>
            </a:extLst>
          </p:cNvPr>
          <p:cNvSpPr txBox="1"/>
          <p:nvPr/>
        </p:nvSpPr>
        <p:spPr>
          <a:xfrm>
            <a:off x="4297205" y="4649861"/>
            <a:ext cx="4546600" cy="4908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Transportation Type</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8" name="Text Box 10">
            <a:extLst>
              <a:ext uri="{FF2B5EF4-FFF2-40B4-BE49-F238E27FC236}">
                <a16:creationId xmlns:a16="http://schemas.microsoft.com/office/drawing/2014/main" id="{0899D7BD-304E-774C-9072-17E0DD0967AE}"/>
              </a:ext>
            </a:extLst>
          </p:cNvPr>
          <p:cNvSpPr txBox="1"/>
          <p:nvPr/>
        </p:nvSpPr>
        <p:spPr>
          <a:xfrm rot="10800000">
            <a:off x="2899570" y="778189"/>
            <a:ext cx="609600" cy="3411855"/>
          </a:xfrm>
          <a:prstGeom prst="rect">
            <a:avLst/>
          </a:prstGeom>
          <a:noFill/>
          <a:ln w="6350">
            <a:noFill/>
          </a:ln>
        </p:spPr>
        <p:txBody>
          <a:bodyPr rot="0" spcFirstLastPara="0" vert="eaVert"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Number of Students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1364807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532660" y="377481"/>
            <a:ext cx="10800000" cy="4524315"/>
          </a:xfrm>
          <a:prstGeom prst="rect">
            <a:avLst/>
          </a:prstGeom>
        </p:spPr>
        <p:txBody>
          <a:bodyPr wrap="square">
            <a:spAutoFit/>
          </a:bodyPr>
          <a:lstStyle/>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Show how to predict the number of students in the district who ride their bike to school. </a:t>
            </a: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Whether or not a student can take the bus to school depends on how close they live to the school. Explain how this data set does not take this into consideration and what effect that might have on the district’s decision. </a:t>
            </a:r>
          </a:p>
        </p:txBody>
      </p:sp>
    </p:spTree>
    <p:extLst>
      <p:ext uri="{BB962C8B-B14F-4D97-AF65-F5344CB8AC3E}">
        <p14:creationId xmlns:p14="http://schemas.microsoft.com/office/powerpoint/2010/main" val="2929358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52519" y="-8803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5.4.5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32719" y="201168"/>
            <a:ext cx="747300" cy="747300"/>
          </a:xfrm>
          <a:prstGeom prst="rect">
            <a:avLst/>
          </a:prstGeom>
          <a:noFill/>
          <a:ln>
            <a:noFill/>
          </a:ln>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532661" y="1453053"/>
                <a:ext cx="10515600" cy="2123658"/>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Lin has one month before the seventh-grade class presidential election, and she wants to determine how likely she is to win. Since she can’t ask all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665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seventh graders who they are voting for, she conducts a random sample of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105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seventh-grade students. The results of the survey are in the table.</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532661" y="1453053"/>
                <a:ext cx="10515600" cy="2123658"/>
              </a:xfrm>
              <a:prstGeom prst="rect">
                <a:avLst/>
              </a:prstGeom>
              <a:blipFill rotWithShape="1">
                <a:blip r:embed="rId5"/>
                <a:stretch>
                  <a:fillRect l="-696" t="-1433" r="-406"/>
                </a:stretch>
              </a:blipFill>
            </p:spPr>
            <p:txBody>
              <a:bodyPr/>
              <a:lstStyle/>
              <a:p>
                <a:r>
                  <a:rPr lang="en-PH">
                    <a:noFill/>
                  </a:rPr>
                  <a:t> </a:t>
                </a:r>
              </a:p>
            </p:txBody>
          </p:sp>
        </mc:Fallback>
      </mc:AlternateContent>
      <p:graphicFrame>
        <p:nvGraphicFramePr>
          <p:cNvPr id="4" name="Table 3">
            <a:extLst>
              <a:ext uri="{FF2B5EF4-FFF2-40B4-BE49-F238E27FC236}">
                <a16:creationId xmlns:a16="http://schemas.microsoft.com/office/drawing/2014/main" id="{D4E7EB49-BF6A-8947-BE15-B3E9B1D14582}"/>
              </a:ext>
            </a:extLst>
          </p:cNvPr>
          <p:cNvGraphicFramePr>
            <a:graphicFrameLocks noGrp="1"/>
          </p:cNvGraphicFramePr>
          <p:nvPr>
            <p:extLst>
              <p:ext uri="{D42A27DB-BD31-4B8C-83A1-F6EECF244321}">
                <p14:modId xmlns:p14="http://schemas.microsoft.com/office/powerpoint/2010/main" val="3716305223"/>
              </p:ext>
            </p:extLst>
          </p:nvPr>
        </p:nvGraphicFramePr>
        <p:xfrm>
          <a:off x="2666048" y="3576711"/>
          <a:ext cx="7242995" cy="2442960"/>
        </p:xfrm>
        <a:graphic>
          <a:graphicData uri="http://schemas.openxmlformats.org/drawingml/2006/table">
            <a:tbl>
              <a:tblPr firstRow="1" firstCol="1" bandRow="1"/>
              <a:tblGrid>
                <a:gridCol w="3642995">
                  <a:extLst>
                    <a:ext uri="{9D8B030D-6E8A-4147-A177-3AD203B41FA5}">
                      <a16:colId xmlns:a16="http://schemas.microsoft.com/office/drawing/2014/main" val="222106180"/>
                    </a:ext>
                  </a:extLst>
                </a:gridCol>
                <a:gridCol w="3600000">
                  <a:extLst>
                    <a:ext uri="{9D8B030D-6E8A-4147-A177-3AD203B41FA5}">
                      <a16:colId xmlns:a16="http://schemas.microsoft.com/office/drawing/2014/main" val="3306291147"/>
                    </a:ext>
                  </a:extLst>
                </a:gridCol>
              </a:tblGrid>
              <a:tr h="0">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Candidate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People Planning to Vote for the Candidate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46648012"/>
                  </a:ext>
                </a:extLst>
              </a:tr>
              <a:tr h="540000">
                <a:tc>
                  <a:txBody>
                    <a:bodyPr/>
                    <a:lstStyle/>
                    <a:p>
                      <a:pPr marL="0" marR="0" algn="ctr">
                        <a:spcBef>
                          <a:spcPts val="0"/>
                        </a:spcBef>
                        <a:spcAft>
                          <a:spcPts val="0"/>
                        </a:spcAft>
                      </a:pPr>
                      <a:r>
                        <a:rPr lang="en-US"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Lin</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mbria Math" panose="02040503050406030204" pitchFamily="18" charset="0"/>
                          <a:ea typeface="Verdana" panose="020B0604030504040204" pitchFamily="34" charset="0"/>
                          <a:cs typeface="Verdana" panose="020B0604030504040204" pitchFamily="34" charset="0"/>
                        </a:rPr>
                        <a:t>42</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2479288"/>
                  </a:ext>
                </a:extLst>
              </a:tr>
              <a:tr h="540000">
                <a:tc>
                  <a:txBody>
                    <a:bodyPr/>
                    <a:lstStyle/>
                    <a:p>
                      <a:pPr marL="0" marR="0" algn="ctr">
                        <a:spcBef>
                          <a:spcPts val="0"/>
                        </a:spcBef>
                        <a:spcAft>
                          <a:spcPts val="0"/>
                        </a:spcAft>
                      </a:pPr>
                      <a:r>
                        <a:rPr lang="en-US" sz="18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Beslinda</a:t>
                      </a:r>
                      <a:r>
                        <a:rPr lang="en-US"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(Lin’s opponent)</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mbria Math" panose="02040503050406030204" pitchFamily="18" charset="0"/>
                          <a:ea typeface="Verdana" panose="020B0604030504040204" pitchFamily="34" charset="0"/>
                          <a:cs typeface="Verdana" panose="020B0604030504040204" pitchFamily="34" charset="0"/>
                        </a:rPr>
                        <a:t>30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8791016"/>
                  </a:ext>
                </a:extLst>
              </a:tr>
              <a:tr h="540000">
                <a:tc>
                  <a:txBody>
                    <a:bodyPr/>
                    <a:lstStyle/>
                    <a:p>
                      <a:pPr marL="0" marR="0" algn="ctr">
                        <a:spcBef>
                          <a:spcPts val="0"/>
                        </a:spcBef>
                        <a:spcAft>
                          <a:spcPts val="0"/>
                        </a:spcAft>
                      </a:pPr>
                      <a:r>
                        <a:rPr lang="en-US"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Undecided</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rgbClr val="000000"/>
                          </a:solidFill>
                          <a:effectLst/>
                          <a:latin typeface="Cambria Math" panose="02040503050406030204" pitchFamily="18" charset="0"/>
                          <a:ea typeface="Verdana" panose="020B0604030504040204" pitchFamily="34" charset="0"/>
                          <a:cs typeface="Verdana" panose="020B0604030504040204" pitchFamily="34" charset="0"/>
                        </a:rPr>
                        <a:t>33</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9697777"/>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532661" y="377839"/>
                <a:ext cx="10800000" cy="452431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either percent, scale factor, or equivalent fraction to predict how many of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665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total seventh-grade students currently plan on voting for Lin. Show your work.</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another strategy to predict how many of the total seventh-grade voters are still undecided. </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532661" y="377839"/>
                <a:ext cx="10800000" cy="4524315"/>
              </a:xfrm>
              <a:prstGeom prst="rect">
                <a:avLst/>
              </a:prstGeom>
              <a:blipFill rotWithShape="1">
                <a:blip r:embed="rId4"/>
                <a:stretch>
                  <a:fillRect l="-847" t="-1078" r="-451"/>
                </a:stretch>
              </a:blipFill>
            </p:spPr>
            <p:txBody>
              <a:bodyPr/>
              <a:lstStyle/>
              <a:p>
                <a:r>
                  <a:rPr lang="en-PH">
                    <a:noFill/>
                  </a:rPr>
                  <a:t> </a:t>
                </a:r>
              </a:p>
            </p:txBody>
          </p:sp>
        </mc:Fallback>
      </mc:AlternateContent>
    </p:spTree>
    <p:extLst>
      <p:ext uri="{BB962C8B-B14F-4D97-AF65-F5344CB8AC3E}">
        <p14:creationId xmlns:p14="http://schemas.microsoft.com/office/powerpoint/2010/main" val="884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FC4A3B-C0A6-4431-9AAF-BC83BEFED21E}">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6FED4897-11E2-408E-9592-279E743831B6}">
  <ds:schemaRefs>
    <ds:schemaRef ds:uri="http://schemas.microsoft.com/sharepoint/v3/contenttype/forms"/>
  </ds:schemaRefs>
</ds:datastoreItem>
</file>

<file path=customXml/itemProps3.xml><?xml version="1.0" encoding="utf-8"?>
<ds:datastoreItem xmlns:ds="http://schemas.openxmlformats.org/officeDocument/2006/customXml" ds:itemID="{902D15FD-15B4-4A43-8C59-034549054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3125</TotalTime>
  <Words>1548</Words>
  <Application>Microsoft Office PowerPoint</Application>
  <PresentationFormat>Widescreen</PresentationFormat>
  <Paragraphs>223</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Cambria Math</vt:lpstr>
      <vt:lpstr>Arial Black</vt:lpstr>
      <vt:lpstr>Verdana</vt:lpstr>
      <vt:lpstr>Cambria</vt:lpstr>
      <vt:lpstr>Wingdings</vt:lpstr>
      <vt:lpstr>Times New Roman</vt:lpstr>
      <vt:lpstr>Calibri</vt:lpstr>
      <vt:lpstr>Arial</vt:lpstr>
      <vt:lpstr>Century Gothic</vt:lpstr>
      <vt:lpstr>1_Office Theme</vt:lpstr>
      <vt:lpstr>7th Grade Math  Unit 5, Lesson 4  Making Population Predictions –  Part 2  Volume 1, pg. 197  </vt:lpstr>
      <vt:lpstr>PowerPoint Presentation</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34</cp:revision>
  <dcterms:created xsi:type="dcterms:W3CDTF">2015-03-17T18:51:18Z</dcterms:created>
  <dcterms:modified xsi:type="dcterms:W3CDTF">2023-06-30T05:09:52Z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