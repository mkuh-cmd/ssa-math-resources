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Arial Black"/>
      <p:regular r:id="rId21"/>
    </p:embeddedFont>
    <p:embeddedFont>
      <p:font typeface="Cambria Math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CambriaMath-regular.fntdata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104476d1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476d1465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104476d1465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104476d1465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476d1465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04476d1465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04476d1465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>
  <p:cSld name="Text Slide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sign, seat&#10;&#10;Description automatically generated" id="87" name="Google Shape;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Divider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5.jpg" id="90" name="Google Shape;9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">
  <p:cSld name="Divider 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6.jpg" id="95" name="Google Shape;9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Divider 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2.jpg" id="100" name="Google Shape;10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4">
  <p:cSld name="Divider 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_7.jpg" id="105" name="Google Shape;10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1.png"/><Relationship Id="rId6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0"/>
            <a:ext cx="40941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sign with white text&#10;&#10;Description automatically generated with medium confidence"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40" y="1745080"/>
            <a:ext cx="3270825" cy="381284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15" name="Google Shape;115;p19"/>
          <p:cNvSpPr txBox="1"/>
          <p:nvPr/>
        </p:nvSpPr>
        <p:spPr>
          <a:xfrm>
            <a:off x="5742834" y="2054277"/>
            <a:ext cx="4925100" cy="3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b="1" baseline="30000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1" i="0" sz="400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2</a:t>
            </a:r>
            <a:b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Sectors of a Circle</a:t>
            </a:r>
            <a:b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sz="40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2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299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</a:pPr>
            <a:r>
              <a:rPr b="1" i="0" lang="en-US" sz="47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b="1" i="0" sz="3700" u="none" cap="none" strike="noStrike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124" name="Google Shape;124;p20"/>
          <p:cNvSpPr txBox="1"/>
          <p:nvPr/>
        </p:nvSpPr>
        <p:spPr>
          <a:xfrm>
            <a:off x="444683" y="1600200"/>
            <a:ext cx="103269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MA.7.DP.1.4 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proportional reasoning to construct, display, and interpret data in circle graphs.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134" name="Google Shape;134;p21"/>
          <p:cNvSpPr txBox="1"/>
          <p:nvPr/>
        </p:nvSpPr>
        <p:spPr>
          <a:xfrm>
            <a:off x="1154217" y="129667"/>
            <a:ext cx="802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</a:pPr>
            <a:r>
              <a:rPr b="1" i="0" lang="en-US" sz="30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1154216" y="1596390"/>
            <a:ext cx="103764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b="0" i="0" sz="3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7537" lvl="0" marL="6238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b="0" i="0" lang="en-US" sz="3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find the percentage the area of a sector represents in a circle. </a:t>
            </a:r>
            <a:endParaRPr/>
          </a:p>
          <a:p>
            <a:pPr indent="-395287" lvl="0" marL="6238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617537" lvl="0" marL="6238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b="0" i="0" lang="en-US" sz="3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find the central angle measure of a sector given the percentage of the circle a sector represents. </a:t>
            </a:r>
            <a:endParaRPr b="0" i="0" sz="36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</a:pPr>
            <a:r>
              <a:rPr b="1" i="0" lang="en-US" sz="47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b="1" i="0" sz="4700" u="none" cap="none" strike="noStrike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47" name="Google Shape;147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56" name="Google Shape;156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58" name="Google Shape;158;p23"/>
          <p:cNvSpPr txBox="1"/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55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b="1" i="0" sz="5100" u="none" cap="none" strike="noStrike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7104" y="0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24"/>
          <p:cNvGrpSpPr/>
          <p:nvPr/>
        </p:nvGrpSpPr>
        <p:grpSpPr>
          <a:xfrm>
            <a:off x="6485966" y="1595576"/>
            <a:ext cx="4822291" cy="4460846"/>
            <a:chOff x="4192859" y="1386023"/>
            <a:chExt cx="4822291" cy="4460846"/>
          </a:xfrm>
        </p:grpSpPr>
        <p:pic>
          <p:nvPicPr>
            <p:cNvPr descr="Chart, pie chart&#10;&#10;Description automatically generated" id="166" name="Google Shape;166;p24"/>
            <p:cNvPicPr preferRelativeResize="0"/>
            <p:nvPr/>
          </p:nvPicPr>
          <p:blipFill rotWithShape="1">
            <a:blip r:embed="rId3">
              <a:alphaModFix/>
            </a:blip>
            <a:srcRect b="0" l="9503" r="4725" t="2524"/>
            <a:stretch/>
          </p:blipFill>
          <p:spPr>
            <a:xfrm>
              <a:off x="4588116" y="1386023"/>
              <a:ext cx="4427034" cy="4460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4"/>
            <p:cNvSpPr txBox="1"/>
            <p:nvPr/>
          </p:nvSpPr>
          <p:spPr>
            <a:xfrm>
              <a:off x="4192859" y="1386025"/>
              <a:ext cx="534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A.</a:t>
              </a:r>
              <a:endParaRPr/>
            </a:p>
          </p:txBody>
        </p:sp>
        <p:sp>
          <p:nvSpPr>
            <p:cNvPr id="168" name="Google Shape;168;p24"/>
            <p:cNvSpPr txBox="1"/>
            <p:nvPr/>
          </p:nvSpPr>
          <p:spPr>
            <a:xfrm>
              <a:off x="6742834" y="1386023"/>
              <a:ext cx="529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B.</a:t>
              </a:r>
              <a:endParaRPr/>
            </a:p>
          </p:txBody>
        </p:sp>
        <p:sp>
          <p:nvSpPr>
            <p:cNvPr id="169" name="Google Shape;169;p24"/>
            <p:cNvSpPr txBox="1"/>
            <p:nvPr/>
          </p:nvSpPr>
          <p:spPr>
            <a:xfrm>
              <a:off x="4192859" y="3832848"/>
              <a:ext cx="518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C.</a:t>
              </a:r>
              <a:endParaRPr/>
            </a:p>
          </p:txBody>
        </p:sp>
        <p:sp>
          <p:nvSpPr>
            <p:cNvPr id="170" name="Google Shape;170;p24"/>
            <p:cNvSpPr txBox="1"/>
            <p:nvPr/>
          </p:nvSpPr>
          <p:spPr>
            <a:xfrm>
              <a:off x="6742834" y="3832847"/>
              <a:ext cx="550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D.</a:t>
              </a:r>
              <a:endParaRPr/>
            </a:p>
          </p:txBody>
        </p:sp>
      </p:grpSp>
      <p:sp>
        <p:nvSpPr>
          <p:cNvPr id="171" name="Google Shape;171;p24"/>
          <p:cNvSpPr txBox="1"/>
          <p:nvPr/>
        </p:nvSpPr>
        <p:spPr>
          <a:xfrm>
            <a:off x="1143000" y="182113"/>
            <a:ext cx="10515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</a:pPr>
            <a:r>
              <a:rPr b="1" i="0" lang="en-US" sz="36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7.2.1 Warm-Up: </a:t>
            </a:r>
            <a:br>
              <a:rPr b="1" i="0" lang="en-US" sz="36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6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Which One Doesn’t Belong?</a:t>
            </a:r>
            <a:endParaRPr b="1" i="0" sz="3600" u="none" cap="none" strike="noStrike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73" name="Google Shape;173;p24"/>
          <p:cNvSpPr txBox="1"/>
          <p:nvPr/>
        </p:nvSpPr>
        <p:spPr>
          <a:xfrm>
            <a:off x="914400" y="1595576"/>
            <a:ext cx="517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With your partner, review the four circle graphs and determine which one doesn’t belong. Explain your choice.</a:t>
            </a:r>
            <a:endParaRPr b="0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75" name="Google Shape;175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5664867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6969"/>
              <a:buFont typeface="Calibri"/>
              <a:buNone/>
            </a:pPr>
            <a:r>
              <a:rPr b="1" i="0" lang="en-US" sz="55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b="1" i="0" sz="5100" u="none" cap="none" strike="noStrike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184" name="Google Shape;1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85" name="Google Shape;185;p2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6"/>
          <p:cNvGrpSpPr/>
          <p:nvPr/>
        </p:nvGrpSpPr>
        <p:grpSpPr>
          <a:xfrm>
            <a:off x="9143892" y="1234716"/>
            <a:ext cx="2609003" cy="2523091"/>
            <a:chOff x="6201898" y="1109514"/>
            <a:chExt cx="2609003" cy="2523091"/>
          </a:xfrm>
        </p:grpSpPr>
        <p:pic>
          <p:nvPicPr>
            <p:cNvPr id="192" name="Google Shape;192;p26"/>
            <p:cNvPicPr preferRelativeResize="0"/>
            <p:nvPr/>
          </p:nvPicPr>
          <p:blipFill rotWithShape="1">
            <a:blip r:embed="rId3">
              <a:alphaModFix/>
            </a:blip>
            <a:srcRect b="8784" l="0" r="6768" t="0"/>
            <a:stretch/>
          </p:blipFill>
          <p:spPr>
            <a:xfrm>
              <a:off x="6201898" y="1109514"/>
              <a:ext cx="2609003" cy="25230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6"/>
            <p:cNvSpPr txBox="1"/>
            <p:nvPr/>
          </p:nvSpPr>
          <p:spPr>
            <a:xfrm>
              <a:off x="7856842" y="2154856"/>
              <a:ext cx="37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A</a:t>
              </a:r>
              <a:endParaRPr/>
            </a:p>
          </p:txBody>
        </p:sp>
        <p:sp>
          <p:nvSpPr>
            <p:cNvPr id="194" name="Google Shape;194;p26"/>
            <p:cNvSpPr txBox="1"/>
            <p:nvPr/>
          </p:nvSpPr>
          <p:spPr>
            <a:xfrm>
              <a:off x="6938074" y="1539071"/>
              <a:ext cx="37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B</a:t>
              </a:r>
              <a:endParaRPr/>
            </a:p>
          </p:txBody>
        </p:sp>
        <p:sp>
          <p:nvSpPr>
            <p:cNvPr id="195" name="Google Shape;195;p26"/>
            <p:cNvSpPr txBox="1"/>
            <p:nvPr/>
          </p:nvSpPr>
          <p:spPr>
            <a:xfrm>
              <a:off x="6480874" y="2304379"/>
              <a:ext cx="354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</a:t>
              </a:r>
              <a:endParaRPr/>
            </a:p>
          </p:txBody>
        </p:sp>
        <p:sp>
          <p:nvSpPr>
            <p:cNvPr id="196" name="Google Shape;196;p26"/>
            <p:cNvSpPr txBox="1"/>
            <p:nvPr/>
          </p:nvSpPr>
          <p:spPr>
            <a:xfrm>
              <a:off x="6915229" y="2840686"/>
              <a:ext cx="384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D</a:t>
              </a:r>
              <a:endParaRPr/>
            </a:p>
          </p:txBody>
        </p:sp>
      </p:grpSp>
      <p:sp>
        <p:nvSpPr>
          <p:cNvPr id="197" name="Google Shape;197;p2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199" name="Google Shape;199;p2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1143000" y="140872"/>
            <a:ext cx="105156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</a:pPr>
            <a:r>
              <a:rPr b="1" i="0" lang="en-US" sz="28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7.2.2 Guided Instruction: </a:t>
            </a:r>
            <a:br>
              <a:rPr b="1" i="0" lang="en-US" sz="28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28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Central Angle Measures of Sectors</a:t>
            </a:r>
            <a:endParaRPr b="1" i="0" sz="2800" u="none" cap="none" strike="noStrike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02" name="Google Shape;202;p26"/>
          <p:cNvSpPr txBox="1"/>
          <p:nvPr/>
        </p:nvSpPr>
        <p:spPr>
          <a:xfrm>
            <a:off x="914400" y="1330237"/>
            <a:ext cx="9858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circle below is divided into sectors.</a:t>
            </a:r>
            <a:endParaRPr/>
          </a:p>
          <a:p>
            <a:pPr indent="-457200" lvl="0" marL="892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your protractor to measure the angle for 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each sector. Then, complete the table.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1448" y="2807301"/>
            <a:ext cx="7232451" cy="2447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/>
        </p:nvSpPr>
        <p:spPr>
          <a:xfrm>
            <a:off x="914400" y="487736"/>
            <a:ext cx="10515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892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Discuss with your partner how the central angle is related to the percentage of the circle. Summarize your discussion.</a:t>
            </a:r>
            <a:endParaRPr/>
          </a:p>
          <a:p>
            <a:pPr indent="-330200" lvl="0" marL="892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circle with three noncongruent sectors is shown.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8921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your protractor to measure the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angle for each sector. Then,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complete the table. Round your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answers to the nearest whole number.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10" name="Google Shape;210;p27"/>
          <p:cNvGrpSpPr/>
          <p:nvPr/>
        </p:nvGrpSpPr>
        <p:grpSpPr>
          <a:xfrm>
            <a:off x="8031146" y="1385811"/>
            <a:ext cx="2596223" cy="2695328"/>
            <a:chOff x="6496602" y="1201814"/>
            <a:chExt cx="2596223" cy="2695328"/>
          </a:xfrm>
        </p:grpSpPr>
        <p:pic>
          <p:nvPicPr>
            <p:cNvPr id="211" name="Google Shape;211;p27"/>
            <p:cNvPicPr preferRelativeResize="0"/>
            <p:nvPr/>
          </p:nvPicPr>
          <p:blipFill rotWithShape="1">
            <a:blip r:embed="rId3">
              <a:alphaModFix/>
            </a:blip>
            <a:srcRect b="0" l="0" r="7080" t="0"/>
            <a:stretch/>
          </p:blipFill>
          <p:spPr>
            <a:xfrm>
              <a:off x="6496602" y="1201814"/>
              <a:ext cx="2596223" cy="269532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" name="Google Shape;212;p27"/>
            <p:cNvGrpSpPr/>
            <p:nvPr/>
          </p:nvGrpSpPr>
          <p:grpSpPr>
            <a:xfrm>
              <a:off x="6784699" y="1967539"/>
              <a:ext cx="1644933" cy="1492175"/>
              <a:chOff x="6303582" y="2711420"/>
              <a:chExt cx="1644933" cy="1492175"/>
            </a:xfrm>
          </p:grpSpPr>
          <p:sp>
            <p:nvSpPr>
              <p:cNvPr id="213" name="Google Shape;213;p27"/>
              <p:cNvSpPr txBox="1"/>
              <p:nvPr/>
            </p:nvSpPr>
            <p:spPr>
              <a:xfrm>
                <a:off x="6303582" y="3082478"/>
                <a:ext cx="354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2400" u="none" cap="none" strike="noStrike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C</a:t>
                </a:r>
                <a:endParaRPr/>
              </a:p>
            </p:txBody>
          </p:sp>
          <p:sp>
            <p:nvSpPr>
              <p:cNvPr id="214" name="Google Shape;214;p27"/>
              <p:cNvSpPr txBox="1"/>
              <p:nvPr/>
            </p:nvSpPr>
            <p:spPr>
              <a:xfrm>
                <a:off x="6944585" y="3741895"/>
                <a:ext cx="369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2400" u="none" cap="none" strike="noStrike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B</a:t>
                </a:r>
                <a:endParaRPr/>
              </a:p>
            </p:txBody>
          </p:sp>
          <p:sp>
            <p:nvSpPr>
              <p:cNvPr id="215" name="Google Shape;215;p27"/>
              <p:cNvSpPr txBox="1"/>
              <p:nvPr/>
            </p:nvSpPr>
            <p:spPr>
              <a:xfrm>
                <a:off x="7571415" y="2711420"/>
                <a:ext cx="3771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2400" u="none" cap="none" strike="noStrike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A</a:t>
                </a:r>
                <a:endParaRPr/>
              </a:p>
            </p:txBody>
          </p:sp>
        </p:grpSp>
      </p:grpSp>
      <p:sp>
        <p:nvSpPr>
          <p:cNvPr id="216" name="Google Shape;216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218" name="Google Shape;218;p2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3750" y="3850995"/>
            <a:ext cx="6628242" cy="2349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914400" y="487736"/>
            <a:ext cx="10515600" cy="2400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559" l="-639" r="-458" t="-151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228" name="Google Shape;228;p2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9150" y="3129226"/>
            <a:ext cx="7751789" cy="344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5225955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33"/>
              <a:buFont typeface="Calibri"/>
              <a:buNone/>
            </a:pPr>
            <a:r>
              <a:rPr b="1" i="0" lang="en-US" sz="55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b="1" i="0" sz="5100" u="none" cap="none" strike="noStrike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con&#10;&#10;Description automatically generated" id="237" name="Google Shape;2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38" name="Google Shape;238;p2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30"/>
          <p:cNvGrpSpPr/>
          <p:nvPr/>
        </p:nvGrpSpPr>
        <p:grpSpPr>
          <a:xfrm>
            <a:off x="8366894" y="1101605"/>
            <a:ext cx="2699577" cy="2689225"/>
            <a:chOff x="3081337" y="2084387"/>
            <a:chExt cx="2699577" cy="2689225"/>
          </a:xfrm>
        </p:grpSpPr>
        <p:pic>
          <p:nvPicPr>
            <p:cNvPr id="247" name="Google Shape;247;p30"/>
            <p:cNvPicPr preferRelativeResize="0"/>
            <p:nvPr/>
          </p:nvPicPr>
          <p:blipFill rotWithShape="1">
            <a:blip r:embed="rId3">
              <a:alphaModFix/>
            </a:blip>
            <a:srcRect b="0" l="0" r="9453" t="0"/>
            <a:stretch/>
          </p:blipFill>
          <p:spPr>
            <a:xfrm>
              <a:off x="3081337" y="2084387"/>
              <a:ext cx="2699577" cy="26892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8" name="Google Shape;248;p30"/>
            <p:cNvGrpSpPr/>
            <p:nvPr/>
          </p:nvGrpSpPr>
          <p:grpSpPr>
            <a:xfrm>
              <a:off x="3365449" y="2755658"/>
              <a:ext cx="1622433" cy="1492175"/>
              <a:chOff x="6303582" y="2711420"/>
              <a:chExt cx="1622433" cy="1492175"/>
            </a:xfrm>
          </p:grpSpPr>
          <p:sp>
            <p:nvSpPr>
              <p:cNvPr id="249" name="Google Shape;249;p30"/>
              <p:cNvSpPr txBox="1"/>
              <p:nvPr/>
            </p:nvSpPr>
            <p:spPr>
              <a:xfrm>
                <a:off x="6303582" y="2860485"/>
                <a:ext cx="3771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2400" u="none" cap="none" strike="noStrike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A</a:t>
                </a:r>
                <a:endParaRPr/>
              </a:p>
            </p:txBody>
          </p:sp>
          <p:sp>
            <p:nvSpPr>
              <p:cNvPr id="250" name="Google Shape;250;p30"/>
              <p:cNvSpPr txBox="1"/>
              <p:nvPr/>
            </p:nvSpPr>
            <p:spPr>
              <a:xfrm>
                <a:off x="6944585" y="3741895"/>
                <a:ext cx="369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2400" u="none" cap="none" strike="noStrike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B</a:t>
                </a:r>
                <a:endParaRPr/>
              </a:p>
            </p:txBody>
          </p:sp>
          <p:sp>
            <p:nvSpPr>
              <p:cNvPr id="251" name="Google Shape;251;p30"/>
              <p:cNvSpPr txBox="1"/>
              <p:nvPr/>
            </p:nvSpPr>
            <p:spPr>
              <a:xfrm>
                <a:off x="7571415" y="2711420"/>
                <a:ext cx="354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2400" u="none" cap="none" strike="noStrike">
                    <a:solidFill>
                      <a:srgbClr val="000000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C</a:t>
                </a:r>
                <a:endParaRPr/>
              </a:p>
            </p:txBody>
          </p:sp>
        </p:grpSp>
      </p:grpSp>
      <p:sp>
        <p:nvSpPr>
          <p:cNvPr id="252" name="Google Shape;252;p30"/>
          <p:cNvSpPr txBox="1"/>
          <p:nvPr/>
        </p:nvSpPr>
        <p:spPr>
          <a:xfrm>
            <a:off x="1143000" y="85471"/>
            <a:ext cx="105156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</a:pPr>
            <a:r>
              <a:rPr b="1" i="0" lang="en-US" sz="32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7.2.3 Guided Practice: </a:t>
            </a:r>
            <a:br>
              <a:rPr b="1" i="0" lang="en-US" sz="32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2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Central Angle Measures </a:t>
            </a:r>
            <a:endParaRPr b="1" i="0" sz="3200" u="none" cap="none" strike="noStrike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con&#10;&#10;Description automatically generated" id="253" name="Google Shape;25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47299" cy="74729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54" name="Google Shape;254;p30"/>
          <p:cNvSpPr txBox="1"/>
          <p:nvPr/>
        </p:nvSpPr>
        <p:spPr>
          <a:xfrm>
            <a:off x="914400" y="1244512"/>
            <a:ext cx="9210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circle with three noncongruent sectors is shown.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your protractor to measure the angle for each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sector. Then, complete the table. Round your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answers to the nearest whole number.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pic>
        <p:nvPicPr>
          <p:cNvPr id="257" name="Google Shape;25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6650" y="3904246"/>
            <a:ext cx="8027724" cy="23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914400" y="487736"/>
            <a:ext cx="10515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table contains information for a circle with four different size sectors. Complete the table. Round your answers to the nearest whole number.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pic>
        <p:nvPicPr>
          <p:cNvPr id="267" name="Google Shape;267;p31" title="Screenshot 2025-05-28 1553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750" y="1794661"/>
            <a:ext cx="7048500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5250339" y="2779100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55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b="1" i="0" sz="5100" u="none" cap="none" strike="noStrike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5" name="Google Shape;2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76" name="Google Shape;276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cap="flat" cmpd="sng" w="9525">
            <a:solidFill>
              <a:srgbClr val="41BFA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3"/>
          <p:cNvSpPr txBox="1"/>
          <p:nvPr/>
        </p:nvSpPr>
        <p:spPr>
          <a:xfrm>
            <a:off x="1142999" y="284833"/>
            <a:ext cx="94011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</a:pPr>
            <a:r>
              <a:rPr b="1" i="0" lang="en-US" sz="36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7.2.4 Wrap-Up: Cool Down</a:t>
            </a:r>
            <a:endParaRPr b="1" i="0" sz="3600" u="none" cap="none" strike="noStrike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5" name="Google Shape;2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86" name="Google Shape;286;p33"/>
          <p:cNvSpPr txBox="1"/>
          <p:nvPr/>
        </p:nvSpPr>
        <p:spPr>
          <a:xfrm>
            <a:off x="914400" y="1386025"/>
            <a:ext cx="10134600" cy="3416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49" l="-959" r="-419" t="-14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7" name="Google Shape;287;p3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302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