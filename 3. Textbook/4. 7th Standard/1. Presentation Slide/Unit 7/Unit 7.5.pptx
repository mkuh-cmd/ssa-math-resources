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289" r:id="rId9"/>
    <p:sldId id="290" r:id="rId10"/>
    <p:sldId id="336" r:id="rId11"/>
    <p:sldId id="342" r:id="rId12"/>
    <p:sldId id="343" r:id="rId13"/>
    <p:sldId id="344" r:id="rId14"/>
    <p:sldId id="345" r:id="rId15"/>
    <p:sldId id="346" r:id="rId16"/>
    <p:sldId id="317" r:id="rId17"/>
    <p:sldId id="318" r:id="rId18"/>
    <p:sldId id="334" r:id="rId19"/>
    <p:sldId id="347" r:id="rId20"/>
    <p:sldId id="348" r:id="rId21"/>
    <p:sldId id="349" r:id="rId22"/>
    <p:sldId id="350" r:id="rId23"/>
    <p:sldId id="306" r:id="rId24"/>
    <p:sldId id="307" r:id="rId25"/>
  </p:sldIdLst>
  <p:sldSz cx="12192000" cy="6858000"/>
  <p:notesSz cx="6858000" cy="9144000"/>
  <p:embeddedFontLst>
    <p:embeddedFont>
      <p:font typeface="Century Gothic" pitchFamily="34" charset="0"/>
      <p:regular r:id="rId27"/>
      <p:bold r:id="rId28"/>
      <p:italic r:id="rId29"/>
      <p:boldItalic r:id="rId30"/>
    </p:embeddedFont>
    <p:embeddedFont>
      <p:font typeface="Cambria Math" pitchFamily="18" charset="0"/>
      <p:regular r:id="rId31"/>
    </p:embeddedFont>
    <p:embeddedFont>
      <p:font typeface="Cambria" pitchFamily="18" charset="0"/>
      <p:regular r:id="rId32"/>
      <p:bold r:id="rId33"/>
      <p:italic r:id="rId34"/>
      <p:boldItalic r:id="rId35"/>
    </p:embeddedFont>
    <p:embeddedFont>
      <p:font typeface="Arial Black" pitchFamily="34" charset="0"/>
      <p:bold r:id="rId36"/>
    </p:embeddedFont>
    <p:embeddedFont>
      <p:font typeface="Verdana" pitchFamily="34" charset="0"/>
      <p:regular r:id="rId37"/>
      <p:bold r:id="rId38"/>
      <p:italic r:id="rId39"/>
      <p:boldItalic r:id="rId40"/>
    </p:embeddedFont>
    <p:embeddedFont>
      <p:font typeface="Calibri"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BFAC"/>
    <a:srgbClr val="B399C8"/>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01" autoAdjust="0"/>
    <p:restoredTop sz="94694"/>
  </p:normalViewPr>
  <p:slideViewPr>
    <p:cSldViewPr snapToGrid="0">
      <p:cViewPr varScale="1">
        <p:scale>
          <a:sx n="85" d="100"/>
          <a:sy n="85" d="100"/>
        </p:scale>
        <p:origin x="-456" y="-72"/>
      </p:cViewPr>
      <p:guideLst>
        <p:guide orient="horz" pos="2160"/>
        <p:guide pos="3840"/>
      </p:guideLst>
    </p:cSldViewPr>
  </p:slideViewPr>
  <p:notesTextViewPr>
    <p:cViewPr>
      <p:scale>
        <a:sx n="1" d="1"/>
        <a:sy n="1" d="1"/>
      </p:scale>
      <p:origin x="0" y="0"/>
    </p:cViewPr>
  </p:notesTextViewPr>
  <p:sorterViewPr>
    <p:cViewPr>
      <p:scale>
        <a:sx n="150" d="100"/>
        <a:sy n="150" d="100"/>
      </p:scale>
      <p:origin x="0" y="1219"/>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480073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4937200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2396804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hyperlink" Target="http://www.vecteezy.com/spills-splatters/6375-splatter-pack-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8100"/>
            <a:ext cx="4094106"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7"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7</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lvl="0" algn="ctr">
              <a:lnSpc>
                <a:spcPct val="100000"/>
              </a:lnSpc>
              <a:buClr>
                <a:srgbClr val="000000"/>
              </a:buClr>
            </a:pPr>
            <a:r>
              <a:rPr lang="en-US" sz="4000" b="1" dirty="0">
                <a:solidFill>
                  <a:srgbClr val="417DBF"/>
                </a:solidFill>
                <a:latin typeface="Verdana"/>
                <a:ea typeface="Verdana"/>
                <a:cs typeface="Verdana"/>
                <a:sym typeface="Verdana"/>
              </a:rPr>
              <a:t>Unit 7, Lesson 5</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Discounts and Markups</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313</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1" name="Google Shape;281;g104476d1465_1_17"/>
          <p:cNvPicPr preferRelativeResize="0"/>
          <p:nvPr/>
        </p:nvPicPr>
        <p:blipFill>
          <a:blip r:embed="rId3">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latin typeface="Verdana"/>
                <a:ea typeface="Verdana"/>
                <a:cs typeface="Verdana"/>
              </a:rPr>
              <a:t>MA.7.AR.3.1</a:t>
            </a:r>
            <a:endParaRPr lang="en-US" sz="3600" dirty="0">
              <a:solidFill>
                <a:schemeClr val="tx1"/>
              </a:solidFill>
              <a:latin typeface="Verdana"/>
              <a:ea typeface="Verdana"/>
              <a:cs typeface="Verdana"/>
              <a:sym typeface="Verdana"/>
            </a:endParaRPr>
          </a:p>
          <a:p>
            <a:pPr indent="0">
              <a:buNone/>
            </a:pPr>
            <a:r>
              <a:rPr lang="en-US" sz="3600" dirty="0">
                <a:latin typeface="Verdana"/>
                <a:ea typeface="Verdana"/>
                <a:cs typeface="Verdana"/>
              </a:rPr>
              <a:t>Apply previous understanding of percentages and ratios to solve </a:t>
            </a:r>
            <a:r>
              <a:rPr lang="en-US" sz="3600" dirty="0" smtClean="0">
                <a:latin typeface="Verdana"/>
                <a:ea typeface="Verdana"/>
                <a:cs typeface="Verdana"/>
              </a:rPr>
              <a:t/>
            </a:r>
            <a:br>
              <a:rPr lang="en-US" sz="3600" dirty="0" smtClean="0">
                <a:latin typeface="Verdana"/>
                <a:ea typeface="Verdana"/>
                <a:cs typeface="Verdana"/>
              </a:rPr>
            </a:br>
            <a:r>
              <a:rPr lang="en-US" sz="3600" dirty="0" smtClean="0">
                <a:latin typeface="Verdana"/>
                <a:ea typeface="Verdana"/>
                <a:cs typeface="Verdana"/>
              </a:rPr>
              <a:t>multi-step</a:t>
            </a:r>
            <a:r>
              <a:rPr lang="en-US" sz="3600" dirty="0">
                <a:latin typeface="Verdana"/>
                <a:ea typeface="Verdana"/>
                <a:cs typeface="Verdana"/>
              </a:rPr>
              <a:t>, real-world percent problems.</a:t>
            </a:r>
            <a:endParaRPr lang="en-US" sz="3600" dirty="0">
              <a:solidFill>
                <a:schemeClr val="tx1"/>
              </a:solidFill>
              <a:latin typeface="Century Gothic"/>
              <a:ea typeface="Century Gothic"/>
              <a:cs typeface="Century Gothic"/>
              <a:sym typeface="Century Gothic"/>
            </a:endParaRPr>
          </a:p>
        </p:txBody>
      </p:sp>
      <p:sp>
        <p:nvSpPr>
          <p:cNvPr id="13"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Google Shape;281;g104476d1465_1_17"/>
          <p:cNvPicPr preferRelativeResize="0"/>
          <p:nvPr/>
        </p:nvPicPr>
        <p:blipFill>
          <a:blip r:embed="rId3">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3"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4"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pic>
        <p:nvPicPr>
          <p:cNvPr id="1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3" name="Google Shape;278;g104476d1465_1_17"/>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5"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444682" y="1600199"/>
            <a:ext cx="10800000" cy="30345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65150">
              <a:buClr>
                <a:srgbClr val="434343"/>
              </a:buClr>
              <a:buSzPts val="3500"/>
              <a:buFont typeface="Verdana"/>
              <a:buChar char="❏"/>
            </a:pPr>
            <a:r>
              <a:rPr lang="en-US" sz="3600" dirty="0">
                <a:latin typeface="Verdana"/>
                <a:ea typeface="Verdana"/>
                <a:cs typeface="Verdana"/>
              </a:rPr>
              <a:t>I can solve problems involving discounts and markups</a:t>
            </a:r>
            <a:r>
              <a:rPr lang="en-US" sz="3600" dirty="0">
                <a:latin typeface="Verdana"/>
                <a:ea typeface="Times New Roman"/>
                <a:cs typeface="Times New Roman"/>
              </a:rPr>
              <a:t>.</a:t>
            </a:r>
            <a:endParaRPr lang="en-US" sz="3600" dirty="0">
              <a:solidFill>
                <a:schemeClr val="tx1"/>
              </a:solidFill>
              <a:latin typeface="Verdana"/>
              <a:ea typeface="Verdana"/>
              <a:cs typeface="Verdana"/>
              <a:sym typeface="Verdana"/>
            </a:endParaRPr>
          </a:p>
        </p:txBody>
      </p:sp>
      <p:sp>
        <p:nvSpPr>
          <p:cNvPr id="16"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7"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pic>
        <p:nvPicPr>
          <p:cNvPr id="1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7"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9"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pic>
        <p:nvPicPr>
          <p:cNvPr id="11"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2"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 xmlns:a16="http://schemas.microsoft.com/office/drawing/2014/main" id="{F1992A8F-F621-054D-B71E-96605FF7377D}"/>
              </a:ext>
            </a:extLst>
          </p:cNvPr>
          <p:cNvSpPr/>
          <p:nvPr/>
        </p:nvSpPr>
        <p:spPr>
          <a:xfrm>
            <a:off x="7104"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2" name="Google Shape;167;p4"/>
          <p:cNvSpPr txBox="1"/>
          <p:nvPr/>
        </p:nvSpPr>
        <p:spPr>
          <a:xfrm>
            <a:off x="1143000" y="431412"/>
            <a:ext cx="1051560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7.5.1 Warm-Up: </a:t>
            </a:r>
            <a:r>
              <a:rPr lang="en-US" sz="3600" b="1" dirty="0" smtClean="0">
                <a:solidFill>
                  <a:srgbClr val="3F2A67"/>
                </a:solidFill>
                <a:latin typeface="Verdana"/>
                <a:ea typeface="Verdana"/>
                <a:cs typeface="Verdana"/>
                <a:sym typeface="Verdana"/>
              </a:rPr>
              <a:t>Civil </a:t>
            </a:r>
            <a:r>
              <a:rPr lang="en-US" sz="3600" b="1" dirty="0">
                <a:solidFill>
                  <a:srgbClr val="3F2A67"/>
                </a:solidFill>
                <a:latin typeface="Verdana"/>
                <a:ea typeface="Verdana"/>
                <a:cs typeface="Verdana"/>
                <a:sym typeface="Verdana"/>
              </a:rPr>
              <a:t>Engineer</a:t>
            </a:r>
            <a:endParaRPr lang="en-US" sz="3600" b="1" dirty="0">
              <a:solidFill>
                <a:srgbClr val="3F2A67"/>
              </a:solidFill>
              <a:latin typeface="Verdana"/>
              <a:ea typeface="Verdana"/>
              <a:cs typeface="Verdana"/>
              <a:sym typeface="Verdana"/>
            </a:endParaRPr>
          </a:p>
        </p:txBody>
      </p:sp>
      <p:pic>
        <p:nvPicPr>
          <p:cNvPr id="14" name="Google Shape;168;p4"/>
          <p:cNvPicPr preferRelativeResize="0"/>
          <p:nvPr/>
        </p:nvPicPr>
        <p:blipFill rotWithShape="1">
          <a:blip r:embed="rId3">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
        <p:nvSpPr>
          <p:cNvPr id="15" name="Google Shape;170;p4"/>
          <p:cNvSpPr txBox="1"/>
          <p:nvPr/>
        </p:nvSpPr>
        <p:spPr>
          <a:xfrm>
            <a:off x="914400" y="1595576"/>
            <a:ext cx="10479741" cy="2308284"/>
          </a:xfrm>
          <a:prstGeom prst="rect">
            <a:avLst/>
          </a:prstGeom>
          <a:noFill/>
          <a:ln>
            <a:noFill/>
          </a:ln>
        </p:spPr>
        <p:txBody>
          <a:bodyPr spcFirstLastPara="1" wrap="square" lIns="91425" tIns="45700" rIns="91425" bIns="45700" anchor="t" anchorCtr="0">
            <a:spAutoFit/>
          </a:bodyPr>
          <a:lstStyle/>
          <a:p>
            <a:r>
              <a:rPr lang="en-US" sz="2400" dirty="0" err="1">
                <a:latin typeface="Verdana"/>
                <a:ea typeface="Verdana"/>
                <a:cs typeface="Verdana"/>
              </a:rPr>
              <a:t>Alishia</a:t>
            </a:r>
            <a:r>
              <a:rPr lang="en-US" sz="2400" dirty="0">
                <a:latin typeface="Verdana"/>
                <a:ea typeface="Verdana"/>
                <a:cs typeface="Verdana"/>
              </a:rPr>
              <a:t> Ballard works as a civil engineer for San Francisco Public Works. Civil engineers work on the plans to create structures such as bridges, large buildings, etc. They also analyze whether or not structures are safe.</a:t>
            </a:r>
          </a:p>
          <a:p>
            <a:endParaRPr lang="en-US" sz="2400" dirty="0">
              <a:latin typeface="Verdana"/>
              <a:ea typeface="Verdana"/>
              <a:cs typeface="Verdana" panose="020B0604030504040204" pitchFamily="34" charset="0"/>
            </a:endParaRPr>
          </a:p>
          <a:p>
            <a:pPr marL="457200" indent="-457200">
              <a:buFont typeface="+mj-lt"/>
              <a:buAutoNum type="arabicPeriod"/>
            </a:pPr>
            <a:r>
              <a:rPr lang="en-US" sz="2400" dirty="0">
                <a:latin typeface="Verdana"/>
                <a:ea typeface="Verdana"/>
                <a:cs typeface="Verdana"/>
              </a:rPr>
              <a:t>How do you think civil engineers use math in their tasks?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6"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15F1D98C-071D-7E4F-AC26-9D72783C5693}"/>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Google Shape;179;p5"/>
          <p:cNvSpPr txBox="1"/>
          <p:nvPr/>
        </p:nvSpPr>
        <p:spPr>
          <a:xfrm>
            <a:off x="914400" y="487736"/>
            <a:ext cx="10515600" cy="2308284"/>
          </a:xfrm>
          <a:prstGeom prst="rect">
            <a:avLst/>
          </a:prstGeom>
          <a:noFill/>
          <a:ln>
            <a:noFill/>
          </a:ln>
        </p:spPr>
        <p:txBody>
          <a:bodyPr spcFirstLastPara="1" wrap="square" lIns="91425" tIns="45700" rIns="91425" bIns="45700" anchor="t" anchorCtr="0">
            <a:spAutoFit/>
          </a:bodyPr>
          <a:lstStyle/>
          <a:p>
            <a:r>
              <a:rPr lang="en-US" sz="2400" dirty="0" err="1">
                <a:latin typeface="Verdana"/>
                <a:ea typeface="Verdana"/>
                <a:cs typeface="Verdana"/>
              </a:rPr>
              <a:t>Alishia</a:t>
            </a:r>
            <a:r>
              <a:rPr lang="en-US" sz="2400" dirty="0">
                <a:latin typeface="Verdana"/>
                <a:ea typeface="Verdana"/>
                <a:cs typeface="Verdana"/>
              </a:rPr>
              <a:t> enjoys working at Public Works because it’s a way to give back to her community. Every structure plan she works on or structure she inspects is all for the people around her.</a:t>
            </a:r>
          </a:p>
          <a:p>
            <a:endParaRPr lang="en-US" sz="2400" dirty="0">
              <a:latin typeface="Verdana"/>
              <a:ea typeface="Verdana"/>
              <a:cs typeface="Verdana" panose="020B0604030504040204" pitchFamily="34" charset="0"/>
            </a:endParaRPr>
          </a:p>
          <a:p>
            <a:pPr marL="457200" indent="-457200">
              <a:buFont typeface="+mj-lt"/>
              <a:buAutoNum type="arabicPeriod" startAt="2"/>
            </a:pPr>
            <a:r>
              <a:rPr lang="en-US" sz="2400" dirty="0">
                <a:latin typeface="Verdana"/>
                <a:ea typeface="Verdana"/>
                <a:cs typeface="Verdana"/>
              </a:rPr>
              <a:t>What is something you have done that gives back to your community, your school, or your peers?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9"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313</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8"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Instruction</a:t>
            </a:r>
            <a:endParaRPr lang="en-US" sz="5100" b="1" dirty="0">
              <a:solidFill>
                <a:srgbClr val="54B5D1"/>
              </a:solidFill>
              <a:latin typeface="Verdana"/>
              <a:ea typeface="Verdana"/>
              <a:cs typeface="Verdana"/>
              <a:sym typeface="Verdana"/>
            </a:endParaRPr>
          </a:p>
        </p:txBody>
      </p:sp>
      <p:pic>
        <p:nvPicPr>
          <p:cNvPr id="11"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pic>
        <p:nvPicPr>
          <p:cNvPr id="12"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278;g104476d1465_1_17">
            <a:extLst>
              <a:ext uri="{FF2B5EF4-FFF2-40B4-BE49-F238E27FC236}">
                <a16:creationId xmlns:a16="http://schemas.microsoft.com/office/drawing/2014/main" xmlns="" id="{2B75021C-9817-6449-B54A-E1D9EB71417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1" name="Google Shape;317;p19"/>
          <p:cNvSpPr txBox="1"/>
          <p:nvPr/>
        </p:nvSpPr>
        <p:spPr>
          <a:xfrm>
            <a:off x="1143000" y="30073"/>
            <a:ext cx="10515600" cy="10894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7.5.2 Guided Instruction: </a:t>
            </a:r>
            <a:r>
              <a:rPr lang="en-US" sz="3600" b="1" dirty="0" smtClean="0">
                <a:solidFill>
                  <a:srgbClr val="54B5D1"/>
                </a:solidFill>
                <a:latin typeface="Verdana"/>
                <a:ea typeface="Verdana"/>
                <a:cs typeface="Verdana"/>
                <a:sym typeface="Verdana"/>
              </a:rPr>
              <a:t/>
            </a:r>
            <a:br>
              <a:rPr lang="en-US" sz="3600" b="1" dirty="0" smtClean="0">
                <a:solidFill>
                  <a:srgbClr val="54B5D1"/>
                </a:solidFill>
                <a:latin typeface="Verdana"/>
                <a:ea typeface="Verdana"/>
                <a:cs typeface="Verdana"/>
                <a:sym typeface="Verdana"/>
              </a:rPr>
            </a:br>
            <a:r>
              <a:rPr lang="en-US" sz="3600" b="1" dirty="0" smtClean="0">
                <a:solidFill>
                  <a:srgbClr val="54B5D1"/>
                </a:solidFill>
                <a:latin typeface="Verdana"/>
                <a:ea typeface="Verdana"/>
                <a:cs typeface="Verdana"/>
                <a:sym typeface="Verdana"/>
              </a:rPr>
              <a:t>Discounts </a:t>
            </a:r>
            <a:r>
              <a:rPr lang="en-US" sz="3600" b="1" dirty="0">
                <a:solidFill>
                  <a:srgbClr val="54B5D1"/>
                </a:solidFill>
                <a:latin typeface="Verdana"/>
                <a:ea typeface="Verdana"/>
                <a:cs typeface="Verdana"/>
                <a:sym typeface="Verdana"/>
              </a:rPr>
              <a:t>and Markup</a:t>
            </a:r>
            <a:endParaRPr lang="en-US" sz="3600" b="1" dirty="0">
              <a:solidFill>
                <a:srgbClr val="54B5D1"/>
              </a:solidFill>
              <a:latin typeface="Verdana"/>
              <a:ea typeface="Verdana"/>
              <a:cs typeface="Verdana"/>
              <a:sym typeface="Verdana"/>
            </a:endParaRPr>
          </a:p>
        </p:txBody>
      </p:sp>
      <p:pic>
        <p:nvPicPr>
          <p:cNvPr id="12" name="Google Shape;318;p19"/>
          <p:cNvPicPr preferRelativeResize="0"/>
          <p:nvPr/>
        </p:nvPicPr>
        <p:blipFill rotWithShape="1">
          <a:blip r:embed="rId3">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14" name="Google Shape;320;p19"/>
              <p:cNvSpPr txBox="1"/>
              <p:nvPr/>
            </p:nvSpPr>
            <p:spPr>
              <a:xfrm>
                <a:off x="914400" y="1330237"/>
                <a:ext cx="9858375" cy="4093388"/>
              </a:xfrm>
              <a:prstGeom prst="rect">
                <a:avLst/>
              </a:prstGeom>
              <a:noFill/>
              <a:ln>
                <a:noFill/>
              </a:ln>
            </p:spPr>
            <p:txBody>
              <a:bodyPr spcFirstLastPara="1" wrap="square" lIns="91425" tIns="45700" rIns="91425" bIns="45700" anchor="t" anchorCtr="0">
                <a:spAutoFit/>
              </a:bodyPr>
              <a:lstStyle/>
              <a:p>
                <a:r>
                  <a:rPr lang="en-US" sz="2000" dirty="0">
                    <a:latin typeface="Verdana"/>
                    <a:ea typeface="Times New Roman"/>
                    <a:cs typeface="Times New Roman"/>
                  </a:rPr>
                  <a:t>Percentages and ratios are often used to express or solve problems involving changes in the price of goods and services.</a:t>
                </a:r>
              </a:p>
              <a:p>
                <a:endParaRPr lang="en-US" sz="2000" dirty="0">
                  <a:latin typeface="Verdana"/>
                  <a:ea typeface="Verdana" panose="020B0604030504040204" pitchFamily="34" charset="0"/>
                  <a:cs typeface="Times New Roman"/>
                </a:endParaRPr>
              </a:p>
              <a:p>
                <a:pPr marL="457200" indent="-457200">
                  <a:spcAft>
                    <a:spcPts val="2400"/>
                  </a:spcAft>
                  <a:buFont typeface="+mj-lt"/>
                  <a:buAutoNum type="arabicPeriod"/>
                </a:pPr>
                <a:r>
                  <a:rPr lang="en-US" sz="2000" dirty="0">
                    <a:latin typeface="Verdana"/>
                    <a:ea typeface="Times New Roman"/>
                    <a:cs typeface="Times New Roman"/>
                  </a:rPr>
                  <a:t>The price of a shirt is </a:t>
                </a:r>
                <a14:m>
                  <m:oMath xmlns:m="http://schemas.openxmlformats.org/officeDocument/2006/math">
                    <m:r>
                      <a:rPr lang="en-US" sz="2000" i="1">
                        <a:latin typeface="Cambria Math"/>
                        <a:ea typeface="Times New Roman"/>
                        <a:cs typeface="Times New Roman"/>
                      </a:rPr>
                      <m:t>$18.50</m:t>
                    </m:r>
                  </m:oMath>
                </a14:m>
                <a:r>
                  <a:rPr lang="en-US" sz="2000" dirty="0">
                    <a:latin typeface="Verdana"/>
                    <a:ea typeface="Times New Roman"/>
                    <a:cs typeface="Times New Roman"/>
                  </a:rPr>
                  <a:t>. </a:t>
                </a:r>
                <a:r>
                  <a:rPr lang="en-US" sz="2000" dirty="0">
                    <a:latin typeface="Verdana"/>
                    <a:ea typeface="Times New Roman"/>
                    <a:cs typeface="Times New Roman"/>
                  </a:rPr>
                  <a:t>Natalie has a coupon that reads </a:t>
                </a:r>
                <a:r>
                  <a:rPr lang="en-US" sz="2000" dirty="0" smtClean="0">
                    <a:latin typeface="Verdana"/>
                    <a:ea typeface="Times New Roman"/>
                    <a:cs typeface="Times New Roman"/>
                  </a:rPr>
                  <a:t/>
                </a:r>
                <a:br>
                  <a:rPr lang="en-US" sz="2000" dirty="0" smtClean="0">
                    <a:latin typeface="Verdana"/>
                    <a:ea typeface="Times New Roman"/>
                    <a:cs typeface="Times New Roman"/>
                  </a:rPr>
                </a:br>
                <a:r>
                  <a:rPr lang="en-US" sz="2000" dirty="0" smtClean="0">
                    <a:latin typeface="Verdana"/>
                    <a:ea typeface="Times New Roman"/>
                    <a:cs typeface="Times New Roman"/>
                  </a:rPr>
                  <a:t>“</a:t>
                </a:r>
                <a:r>
                  <a:rPr lang="en-US" sz="2000" dirty="0">
                    <a:latin typeface="Verdana"/>
                    <a:ea typeface="Times New Roman"/>
                    <a:cs typeface="Times New Roman"/>
                  </a:rPr>
                  <a:t>discount </a:t>
                </a:r>
                <a14:m>
                  <m:oMath xmlns:m="http://schemas.openxmlformats.org/officeDocument/2006/math">
                    <m:r>
                      <a:rPr lang="en-US" sz="2000" i="1">
                        <a:latin typeface="Cambria Math"/>
                        <a:ea typeface="Times New Roman"/>
                        <a:cs typeface="Times New Roman"/>
                      </a:rPr>
                      <m:t>½</m:t>
                    </m:r>
                  </m:oMath>
                </a14:m>
                <a:r>
                  <a:rPr lang="en-US" sz="2000" dirty="0">
                    <a:latin typeface="Verdana"/>
                    <a:ea typeface="Times New Roman"/>
                    <a:cs typeface="Times New Roman"/>
                  </a:rPr>
                  <a:t> off.”</a:t>
                </a:r>
              </a:p>
              <a:p>
                <a:pPr marL="914400" indent="-457200">
                  <a:buFont typeface="+mj-lt"/>
                  <a:buAutoNum type="alphaLcPeriod"/>
                </a:pPr>
                <a:r>
                  <a:rPr lang="en-US" sz="2000" dirty="0">
                    <a:latin typeface="Verdana"/>
                    <a:ea typeface="Times New Roman"/>
                    <a:cs typeface="Times New Roman"/>
                  </a:rPr>
                  <a:t>With the coupon, will Natalie pay more or pay less than </a:t>
                </a:r>
                <a14:m>
                  <m:oMath xmlns:m="http://schemas.openxmlformats.org/officeDocument/2006/math">
                    <m:r>
                      <a:rPr lang="en-US" sz="2000" i="1">
                        <a:latin typeface="Cambria Math"/>
                        <a:ea typeface="Times New Roman"/>
                        <a:cs typeface="Times New Roman"/>
                      </a:rPr>
                      <m:t>$18.50</m:t>
                    </m:r>
                  </m:oMath>
                </a14:m>
                <a:r>
                  <a:rPr lang="en-US" sz="2000" dirty="0">
                    <a:latin typeface="Verdana"/>
                    <a:ea typeface="Times New Roman"/>
                    <a:cs typeface="Times New Roman"/>
                  </a:rPr>
                  <a:t> for the shirt?</a:t>
                </a: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endParaRPr lang="en-PH" sz="2000" dirty="0">
                  <a:latin typeface="Verdana"/>
                  <a:ea typeface="Times New Roman"/>
                  <a:cs typeface="Times New Roman"/>
                </a:endParaRPr>
              </a:p>
              <a:p>
                <a:pPr marL="914400" indent="-457200">
                  <a:buFont typeface="+mj-lt"/>
                  <a:buAutoNum type="alphaLcPeriod"/>
                </a:pPr>
                <a:r>
                  <a:rPr lang="en-US" sz="2000" dirty="0">
                    <a:latin typeface="Verdana"/>
                    <a:ea typeface="Times New Roman"/>
                    <a:cs typeface="Times New Roman"/>
                  </a:rPr>
                  <a:t>Discuss with your partner what “</a:t>
                </a:r>
                <a14:m>
                  <m:oMath xmlns:m="http://schemas.openxmlformats.org/officeDocument/2006/math">
                    <m:r>
                      <a:rPr lang="en-US" sz="2000" i="1">
                        <a:latin typeface="Cambria Math"/>
                        <a:ea typeface="Times New Roman"/>
                        <a:cs typeface="Times New Roman"/>
                      </a:rPr>
                      <m:t>½</m:t>
                    </m:r>
                  </m:oMath>
                </a14:m>
                <a:r>
                  <a:rPr lang="en-US" sz="2000" dirty="0">
                    <a:latin typeface="Verdana"/>
                    <a:ea typeface="Times New Roman"/>
                    <a:cs typeface="Times New Roman"/>
                  </a:rPr>
                  <a:t> off” means. Summarize your discussion.</a:t>
                </a:r>
              </a:p>
            </p:txBody>
          </p:sp>
        </mc:Choice>
        <mc:Fallback>
          <p:sp>
            <p:nvSpPr>
              <p:cNvPr id="14" name="Google Shape;320;p19"/>
              <p:cNvSpPr txBox="1">
                <a:spLocks noRot="1" noChangeAspect="1" noMove="1" noResize="1" noEditPoints="1" noAdjustHandles="1" noChangeArrowheads="1" noChangeShapeType="1" noTextEdit="1"/>
              </p:cNvSpPr>
              <p:nvPr/>
            </p:nvSpPr>
            <p:spPr>
              <a:xfrm>
                <a:off x="914400" y="1330237"/>
                <a:ext cx="9858375" cy="4093388"/>
              </a:xfrm>
              <a:prstGeom prst="rect">
                <a:avLst/>
              </a:prstGeom>
              <a:blipFill rotWithShape="1">
                <a:blip r:embed="rId4"/>
                <a:stretch>
                  <a:fillRect l="-680" t="-744" b="-1637"/>
                </a:stretch>
              </a:blipFill>
              <a:ln>
                <a:noFill/>
              </a:ln>
            </p:spPr>
            <p:txBody>
              <a:bodyPr/>
              <a:lstStyle/>
              <a:p>
                <a:r>
                  <a:rPr lang="en-US">
                    <a:noFill/>
                  </a:rPr>
                  <a:t> </a:t>
                </a:r>
              </a:p>
            </p:txBody>
          </p:sp>
        </mc:Fallback>
      </mc:AlternateContent>
      <p:pic>
        <p:nvPicPr>
          <p:cNvPr id="15"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6"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179;p5"/>
          <p:cNvSpPr txBox="1"/>
          <p:nvPr/>
        </p:nvSpPr>
        <p:spPr>
          <a:xfrm>
            <a:off x="914400" y="487736"/>
            <a:ext cx="10515600" cy="5016718"/>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3"/>
            </a:pPr>
            <a:endParaRPr lang="en-US" sz="2000" dirty="0" smtClean="0">
              <a:latin typeface="Verdana"/>
              <a:ea typeface="Times New Roman"/>
              <a:cs typeface="Times New Roman"/>
            </a:endParaRPr>
          </a:p>
          <a:p>
            <a:pPr marL="914400" indent="-457200">
              <a:buFont typeface="+mj-lt"/>
              <a:buAutoNum type="alphaLcPeriod" startAt="3"/>
            </a:pPr>
            <a:endParaRPr lang="en-US" sz="2000" dirty="0">
              <a:latin typeface="Verdana"/>
              <a:ea typeface="Times New Roman"/>
              <a:cs typeface="Times New Roman"/>
            </a:endParaRPr>
          </a:p>
          <a:p>
            <a:pPr marL="914400" indent="-457200">
              <a:buFont typeface="+mj-lt"/>
              <a:buAutoNum type="alphaLcPeriod" startAt="3"/>
            </a:pPr>
            <a:endParaRPr lang="en-US" sz="2000" dirty="0" smtClean="0">
              <a:latin typeface="Verdana"/>
              <a:ea typeface="Times New Roman"/>
              <a:cs typeface="Times New Roman"/>
            </a:endParaRPr>
          </a:p>
          <a:p>
            <a:pPr marL="914400" indent="-457200">
              <a:buFont typeface="+mj-lt"/>
              <a:buAutoNum type="alphaLcPeriod" startAt="3"/>
            </a:pPr>
            <a:r>
              <a:rPr lang="en-US" sz="2000" dirty="0" smtClean="0">
                <a:latin typeface="Verdana"/>
                <a:ea typeface="Times New Roman"/>
                <a:cs typeface="Times New Roman"/>
              </a:rPr>
              <a:t>By </a:t>
            </a:r>
            <a:r>
              <a:rPr lang="en-US" sz="2000" dirty="0">
                <a:latin typeface="Verdana"/>
                <a:ea typeface="Times New Roman"/>
                <a:cs typeface="Times New Roman"/>
              </a:rPr>
              <a:t>what percentage will the coupon reduce the price?</a:t>
            </a:r>
          </a:p>
          <a:p>
            <a:pPr marL="914400" indent="-457200">
              <a:buFont typeface="+mj-lt"/>
              <a:buAutoNum type="alphaLcPeriod" startAt="3"/>
            </a:pPr>
            <a:endParaRPr lang="en-US" sz="2000" dirty="0">
              <a:latin typeface="Verdana"/>
              <a:ea typeface="Verdana" panose="020B0604030504040204" pitchFamily="34" charset="0"/>
              <a:cs typeface="Times New Roman"/>
            </a:endParaRPr>
          </a:p>
          <a:p>
            <a:pPr marL="914400" indent="-457200">
              <a:buFont typeface="+mj-lt"/>
              <a:buAutoNum type="alphaLcPeriod" startAt="3"/>
            </a:pPr>
            <a:endParaRPr lang="en-PH" sz="2000" dirty="0">
              <a:latin typeface="Verdana"/>
              <a:ea typeface="Verdana" panose="020B0604030504040204" pitchFamily="34" charset="0"/>
              <a:cs typeface="Times New Roman"/>
            </a:endParaRPr>
          </a:p>
          <a:p>
            <a:pPr marL="914400" indent="-457200">
              <a:buFont typeface="+mj-lt"/>
              <a:buAutoNum type="alphaLcPeriod" startAt="3"/>
            </a:pPr>
            <a:endParaRPr lang="en-PH" sz="2000" dirty="0">
              <a:latin typeface="Verdana"/>
              <a:ea typeface="Verdana" panose="020B0604030504040204" pitchFamily="34" charset="0"/>
              <a:cs typeface="Times New Roman"/>
            </a:endParaRPr>
          </a:p>
          <a:p>
            <a:pPr marL="914400" indent="-457200">
              <a:buFont typeface="+mj-lt"/>
              <a:buAutoNum type="alphaLcPeriod" startAt="3"/>
            </a:pPr>
            <a:endParaRPr lang="en-PH" sz="2000" dirty="0">
              <a:latin typeface="Verdana"/>
              <a:ea typeface="Verdana" panose="020B0604030504040204" pitchFamily="34" charset="0"/>
              <a:cs typeface="Times New Roman"/>
            </a:endParaRPr>
          </a:p>
          <a:p>
            <a:pPr marL="914400" indent="-457200">
              <a:buFont typeface="+mj-lt"/>
              <a:buAutoNum type="alphaLcPeriod" startAt="3"/>
            </a:pPr>
            <a:endParaRPr lang="en-US" sz="2000" dirty="0">
              <a:latin typeface="Verdana"/>
              <a:ea typeface="Verdana" panose="020B0604030504040204" pitchFamily="34" charset="0"/>
              <a:cs typeface="Times New Roman"/>
            </a:endParaRPr>
          </a:p>
          <a:p>
            <a:pPr marL="914400" indent="-457200">
              <a:buFont typeface="+mj-lt"/>
              <a:buAutoNum type="alphaLcPeriod" startAt="3"/>
            </a:pPr>
            <a:r>
              <a:rPr lang="en-US" sz="2000" dirty="0">
                <a:latin typeface="Verdana"/>
                <a:ea typeface="Times New Roman"/>
                <a:cs typeface="Times New Roman"/>
              </a:rPr>
              <a:t>What is the discount amount, in dollars, taken off the shirt price?</a:t>
            </a:r>
          </a:p>
          <a:p>
            <a:pPr marL="914400" indent="-457200">
              <a:buFont typeface="+mj-lt"/>
              <a:buAutoNum type="alphaLcPeriod" startAt="3"/>
            </a:pPr>
            <a:endParaRPr lang="en-PH" sz="2000" dirty="0">
              <a:latin typeface="Verdana"/>
              <a:ea typeface="Times New Roman"/>
              <a:cs typeface="Times New Roman"/>
            </a:endParaRPr>
          </a:p>
          <a:p>
            <a:pPr marL="914400" indent="-457200">
              <a:buFont typeface="+mj-lt"/>
              <a:buAutoNum type="alphaLcPeriod" startAt="3"/>
            </a:pPr>
            <a:endParaRPr lang="en-PH" sz="2000" dirty="0">
              <a:latin typeface="Verdana"/>
              <a:ea typeface="Times New Roman"/>
              <a:cs typeface="Times New Roman"/>
            </a:endParaRPr>
          </a:p>
          <a:p>
            <a:pPr marL="914400" indent="-457200">
              <a:buFont typeface="+mj-lt"/>
              <a:buAutoNum type="alphaLcPeriod" startAt="3"/>
            </a:pPr>
            <a:endParaRPr lang="en-PH" sz="2000" dirty="0">
              <a:latin typeface="Verdana"/>
              <a:ea typeface="Times New Roman"/>
              <a:cs typeface="Times New Roman"/>
            </a:endParaRPr>
          </a:p>
          <a:p>
            <a:pPr marL="914400" indent="-457200">
              <a:buFont typeface="+mj-lt"/>
              <a:buAutoNum type="alphaLcPeriod" startAt="3"/>
            </a:pPr>
            <a:endParaRPr lang="en-US" sz="2000" dirty="0">
              <a:latin typeface="Verdana"/>
              <a:ea typeface="Times New Roman"/>
              <a:cs typeface="Times New Roman"/>
            </a:endParaRPr>
          </a:p>
          <a:p>
            <a:pPr marL="914400" indent="-457200">
              <a:buFont typeface="+mj-lt"/>
              <a:buAutoNum type="alphaLcPeriod" startAt="3"/>
            </a:pPr>
            <a:r>
              <a:rPr lang="en-US" sz="2000" dirty="0">
                <a:latin typeface="Verdana"/>
                <a:ea typeface="Times New Roman"/>
                <a:cs typeface="Times New Roman"/>
              </a:rPr>
              <a:t>What is the discounted price, in dollars, of the shirt after the coupon is applied?</a:t>
            </a:r>
            <a:endParaRPr lang="en-US" sz="2000" dirty="0">
              <a:latin typeface="Verdana"/>
              <a:ea typeface="Times New Roman"/>
              <a:cs typeface="Times New Roman"/>
            </a:endParaRPr>
          </a:p>
        </p:txBody>
      </p:sp>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7" name="Rounded Rectangle 16"/>
          <p:cNvSpPr/>
          <p:nvPr/>
        </p:nvSpPr>
        <p:spPr>
          <a:xfrm>
            <a:off x="1387960" y="487736"/>
            <a:ext cx="7953100" cy="635635"/>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137160" rIns="91425" bIns="0" anchor="ctr" anchorCtr="0">
            <a:spAutoFit/>
          </a:bodyPr>
          <a:lstStyle/>
          <a:p>
            <a:pPr marL="171450">
              <a:spcAft>
                <a:spcPts val="1000"/>
              </a:spcAft>
            </a:pPr>
            <a:r>
              <a:rPr lang="en-US" sz="2000" dirty="0">
                <a:solidFill>
                  <a:srgbClr val="6D983E"/>
                </a:solidFill>
                <a:latin typeface="Verdana"/>
                <a:ea typeface="Times New Roman"/>
                <a:cs typeface="Times New Roman"/>
              </a:rPr>
              <a:t>A</a:t>
            </a:r>
            <a:r>
              <a:rPr lang="en-US" sz="2000" b="1" i="1" dirty="0">
                <a:solidFill>
                  <a:srgbClr val="6D983E"/>
                </a:solidFill>
                <a:latin typeface="Verdana"/>
                <a:ea typeface="Times New Roman"/>
                <a:cs typeface="Times New Roman"/>
              </a:rPr>
              <a:t> discount</a:t>
            </a:r>
            <a:r>
              <a:rPr lang="en-US" sz="2000" b="1" dirty="0">
                <a:solidFill>
                  <a:srgbClr val="6D983E"/>
                </a:solidFill>
                <a:latin typeface="Verdana"/>
                <a:ea typeface="Times New Roman"/>
                <a:cs typeface="Times New Roman"/>
              </a:rPr>
              <a:t> </a:t>
            </a:r>
            <a:r>
              <a:rPr lang="en-US" sz="2000" dirty="0">
                <a:solidFill>
                  <a:srgbClr val="6D983E"/>
                </a:solidFill>
                <a:latin typeface="Verdana"/>
                <a:ea typeface="Times New Roman"/>
                <a:cs typeface="Times New Roman"/>
              </a:rPr>
              <a:t>is a reduction of a price for goods or services.</a:t>
            </a:r>
            <a:endParaRPr lang="en-US" sz="2000" dirty="0">
              <a:latin typeface="Cambria"/>
              <a:ea typeface="Times New Roman"/>
              <a:cs typeface="Times New Roman"/>
            </a:endParaRPr>
          </a:p>
        </p:txBody>
      </p:sp>
      <p:pic>
        <p:nvPicPr>
          <p:cNvPr id="8"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314</a:t>
            </a:r>
            <a:endParaRPr i="1" dirty="0">
              <a:latin typeface="Calibri"/>
              <a:ea typeface="Calibri"/>
              <a:cs typeface="Calibri"/>
              <a:sym typeface="Calibri"/>
            </a:endParaRPr>
          </a:p>
        </p:txBody>
      </p:sp>
    </p:spTree>
    <p:extLst>
      <p:ext uri="{BB962C8B-B14F-4D97-AF65-F5344CB8AC3E}">
        <p14:creationId xmlns:p14="http://schemas.microsoft.com/office/powerpoint/2010/main" val="1617750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sp>
            <p:nvSpPr>
              <p:cNvPr id="8" name="Google Shape;179;p5"/>
              <p:cNvSpPr txBox="1"/>
              <p:nvPr/>
            </p:nvSpPr>
            <p:spPr>
              <a:xfrm>
                <a:off x="914400" y="487736"/>
                <a:ext cx="10515600" cy="378561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a:ea typeface="Times New Roman"/>
                    <a:cs typeface="Times New Roman"/>
                  </a:rPr>
                  <a:t>Cassidy, a young inventor of Baby </a:t>
                </a:r>
                <a:r>
                  <a:rPr lang="en-US" sz="2000" dirty="0" err="1">
                    <a:latin typeface="Verdana"/>
                    <a:ea typeface="Times New Roman"/>
                    <a:cs typeface="Times New Roman"/>
                  </a:rPr>
                  <a:t>Toon</a:t>
                </a:r>
                <a:r>
                  <a:rPr lang="en-US" sz="2000" dirty="0">
                    <a:latin typeface="Verdana"/>
                    <a:ea typeface="Times New Roman"/>
                    <a:cs typeface="Times New Roman"/>
                  </a:rPr>
                  <a:t>, appeared on Shark Tank in 2019. Cassidy shared that it costs her </a:t>
                </a:r>
                <a14:m>
                  <m:oMath xmlns:m="http://schemas.openxmlformats.org/officeDocument/2006/math">
                    <m:r>
                      <a:rPr lang="en-US" sz="2000" i="1">
                        <a:latin typeface="Cambria Math"/>
                        <a:ea typeface="Times New Roman"/>
                        <a:cs typeface="Times New Roman"/>
                      </a:rPr>
                      <m:t>$6.60</m:t>
                    </m:r>
                  </m:oMath>
                </a14:m>
                <a:r>
                  <a:rPr lang="en-US" sz="2000" dirty="0">
                    <a:latin typeface="Verdana"/>
                    <a:ea typeface="Times New Roman"/>
                    <a:cs typeface="Times New Roman"/>
                  </a:rPr>
                  <a:t> to produce one of her baby spoons and that she sells them to customers marked up to </a:t>
                </a:r>
                <a14:m>
                  <m:oMath xmlns:m="http://schemas.openxmlformats.org/officeDocument/2006/math">
                    <m:r>
                      <a:rPr lang="en-US" sz="2000" i="1">
                        <a:latin typeface="Cambria Math"/>
                        <a:ea typeface="Times New Roman"/>
                        <a:cs typeface="Times New Roman"/>
                      </a:rPr>
                      <m:t>$15.00</m:t>
                    </m:r>
                  </m:oMath>
                </a14:m>
                <a:r>
                  <a:rPr lang="en-US" sz="2000" dirty="0">
                    <a:latin typeface="Verdana"/>
                    <a:ea typeface="Times New Roman"/>
                    <a:cs typeface="Times New Roman"/>
                  </a:rPr>
                  <a:t>.</a:t>
                </a:r>
              </a:p>
              <a:p>
                <a:pPr marL="457200" indent="-457200">
                  <a:buFont typeface="+mj-lt"/>
                  <a:buAutoNum type="arabicPeriod" startAt="2"/>
                </a:pPr>
                <a:endParaRPr lang="en-US" sz="2000" dirty="0">
                  <a:latin typeface="Verdana"/>
                  <a:ea typeface="Verdana" panose="020B0604030504040204" pitchFamily="34" charset="0"/>
                  <a:cs typeface="Times New Roman"/>
                </a:endParaRPr>
              </a:p>
              <a:p>
                <a:pPr marL="914400" indent="-457200">
                  <a:buFont typeface="+mj-lt"/>
                  <a:buAutoNum type="alphaLcPeriod"/>
                </a:pPr>
                <a:r>
                  <a:rPr lang="en-US" sz="2000" dirty="0">
                    <a:latin typeface="Verdana"/>
                    <a:ea typeface="Times New Roman"/>
                    <a:cs typeface="Times New Roman"/>
                  </a:rPr>
                  <a:t>Does a markup increase or decrease the original price?</a:t>
                </a:r>
              </a:p>
              <a:p>
                <a:pPr marL="914400" indent="-457200">
                  <a:buFont typeface="+mj-lt"/>
                  <a:buAutoNum type="alphaLcPeriod"/>
                </a:pPr>
                <a:endParaRPr lang="en-US" sz="2000" dirty="0">
                  <a:latin typeface="Verdana"/>
                  <a:ea typeface="Verdana" panose="020B0604030504040204" pitchFamily="34" charset="0"/>
                  <a:cs typeface="Times New Roman"/>
                </a:endParaRPr>
              </a:p>
              <a:p>
                <a:pPr marL="914400" indent="-457200">
                  <a:buFont typeface="+mj-lt"/>
                  <a:buAutoNum type="alphaLcPeriod"/>
                </a:pPr>
                <a:endParaRPr lang="en-US" sz="2000" dirty="0">
                  <a:latin typeface="Verdana"/>
                  <a:ea typeface="Verdana" panose="020B0604030504040204" pitchFamily="34" charset="0"/>
                  <a:cs typeface="Times New Roman"/>
                </a:endParaRPr>
              </a:p>
              <a:p>
                <a:pPr marL="914400" indent="-457200">
                  <a:buFont typeface="+mj-lt"/>
                  <a:buAutoNum type="alphaLcPeriod"/>
                </a:pPr>
                <a:endParaRPr lang="en-US" sz="2000" dirty="0">
                  <a:latin typeface="Verdana"/>
                  <a:ea typeface="Times New Roman"/>
                  <a:cs typeface="Times New Roman"/>
                </a:endParaRPr>
              </a:p>
              <a:p>
                <a:pPr marL="914400" indent="-457200">
                  <a:buFont typeface="+mj-lt"/>
                  <a:buAutoNum type="alphaLcPeriod"/>
                </a:pPr>
                <a:endParaRPr lang="en-US" sz="2000" dirty="0">
                  <a:latin typeface="Verdana"/>
                  <a:ea typeface="Times New Roman"/>
                  <a:cs typeface="Times New Roman"/>
                </a:endParaRPr>
              </a:p>
              <a:p>
                <a:pPr marL="914400" indent="-457200">
                  <a:buFont typeface="+mj-lt"/>
                  <a:buAutoNum type="alphaLcPeriod"/>
                </a:pPr>
                <a:endParaRPr lang="en-US" sz="2000" dirty="0">
                  <a:latin typeface="Verdana"/>
                  <a:ea typeface="Times New Roman"/>
                  <a:cs typeface="Times New Roman"/>
                </a:endParaRPr>
              </a:p>
              <a:p>
                <a:pPr marL="914400" indent="-457200">
                  <a:buFont typeface="+mj-lt"/>
                  <a:buAutoNum type="alphaLcPeriod"/>
                </a:pPr>
                <a:r>
                  <a:rPr lang="en-US" sz="2000" dirty="0">
                    <a:latin typeface="Verdana"/>
                    <a:ea typeface="Times New Roman"/>
                    <a:cs typeface="Times New Roman"/>
                  </a:rPr>
                  <a:t>Discuss with your partner what you think markup means. Summarize the discussion by writing a definition for markup.</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8" name="Google Shape;179;p5"/>
              <p:cNvSpPr txBox="1">
                <a:spLocks noRot="1" noChangeAspect="1" noMove="1" noResize="1" noEditPoints="1" noAdjustHandles="1" noChangeArrowheads="1" noChangeShapeType="1" noTextEdit="1"/>
              </p:cNvSpPr>
              <p:nvPr/>
            </p:nvSpPr>
            <p:spPr>
              <a:xfrm>
                <a:off x="914400" y="487736"/>
                <a:ext cx="10515600" cy="3785611"/>
              </a:xfrm>
              <a:prstGeom prst="rect">
                <a:avLst/>
              </a:prstGeom>
              <a:blipFill rotWithShape="1">
                <a:blip r:embed="rId3"/>
                <a:stretch>
                  <a:fillRect l="-638" t="-966" r="-1101" b="-1932"/>
                </a:stretch>
              </a:blipFill>
              <a:ln>
                <a:noFill/>
              </a:ln>
            </p:spPr>
            <p:txBody>
              <a:bodyPr/>
              <a:lstStyle/>
              <a:p>
                <a:r>
                  <a:rPr lang="en-US">
                    <a:noFill/>
                  </a:rPr>
                  <a:t> </a:t>
                </a:r>
              </a:p>
            </p:txBody>
          </p:sp>
        </mc:Fallback>
      </mc:AlternateContent>
      <p:pic>
        <p:nvPicPr>
          <p:cNvPr id="9"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314</a:t>
            </a:r>
            <a:endParaRPr i="1" dirty="0">
              <a:latin typeface="Calibri"/>
              <a:ea typeface="Calibri"/>
              <a:cs typeface="Calibri"/>
              <a:sym typeface="Calibri"/>
            </a:endParaRPr>
          </a:p>
        </p:txBody>
      </p:sp>
    </p:spTree>
    <p:extLst>
      <p:ext uri="{BB962C8B-B14F-4D97-AF65-F5344CB8AC3E}">
        <p14:creationId xmlns:p14="http://schemas.microsoft.com/office/powerpoint/2010/main" val="541413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Google Shape;179;p5"/>
              <p:cNvSpPr txBox="1"/>
              <p:nvPr/>
            </p:nvSpPr>
            <p:spPr>
              <a:xfrm>
                <a:off x="914400" y="487736"/>
                <a:ext cx="10515600" cy="4708941"/>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3"/>
                </a:pPr>
                <a:r>
                  <a:rPr lang="en-US" sz="2000" dirty="0">
                    <a:latin typeface="Verdana"/>
                    <a:ea typeface="Times New Roman"/>
                    <a:cs typeface="Times New Roman"/>
                  </a:rPr>
                  <a:t>Complete the statements.</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A markup is applied to goods or services so that the</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seller is able to make a  		The markup</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the price from the cost to the seller and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is usually determined using percentages.</a:t>
                </a:r>
              </a:p>
              <a:p>
                <a:pPr marL="914400" indent="-457200">
                  <a:buFont typeface="+mj-lt"/>
                  <a:buAutoNum type="alphaLcPeriod" startAt="3"/>
                </a:pPr>
                <a:endParaRPr lang="en-US" sz="2000" dirty="0">
                  <a:latin typeface="Verdana"/>
                  <a:ea typeface="Verdana" panose="020B0604030504040204" pitchFamily="34" charset="0"/>
                  <a:cs typeface="Times New Roman"/>
                </a:endParaRPr>
              </a:p>
              <a:p>
                <a:pPr marL="914400" indent="-457200">
                  <a:buFont typeface="+mj-lt"/>
                  <a:buAutoNum type="alphaLcPeriod" startAt="3"/>
                </a:pPr>
                <a:r>
                  <a:rPr lang="en-US" sz="2000" dirty="0">
                    <a:latin typeface="Verdana"/>
                    <a:ea typeface="Times New Roman"/>
                    <a:cs typeface="Times New Roman"/>
                  </a:rPr>
                  <a:t>If Cassidy placed a </a:t>
                </a:r>
                <a14:m>
                  <m:oMath xmlns:m="http://schemas.openxmlformats.org/officeDocument/2006/math">
                    <m:r>
                      <a:rPr lang="en-US" sz="2000" i="1">
                        <a:latin typeface="Cambria Math"/>
                        <a:ea typeface="Times New Roman"/>
                        <a:cs typeface="Times New Roman"/>
                      </a:rPr>
                      <m:t>100%</m:t>
                    </m:r>
                  </m:oMath>
                </a14:m>
                <a:r>
                  <a:rPr lang="en-US" sz="2000" dirty="0">
                    <a:latin typeface="Verdana"/>
                    <a:ea typeface="Times New Roman"/>
                    <a:cs typeface="Times New Roman"/>
                  </a:rPr>
                  <a:t> markup on her spoons that only cost </a:t>
                </a:r>
                <a14:m>
                  <m:oMath xmlns:m="http://schemas.openxmlformats.org/officeDocument/2006/math">
                    <m:r>
                      <a:rPr lang="en-US" sz="2000" i="1">
                        <a:latin typeface="Cambria Math"/>
                        <a:ea typeface="Times New Roman"/>
                        <a:cs typeface="Times New Roman"/>
                      </a:rPr>
                      <m:t>$6.60</m:t>
                    </m:r>
                  </m:oMath>
                </a14:m>
                <a:r>
                  <a:rPr lang="en-US" sz="2000" dirty="0">
                    <a:latin typeface="Verdana"/>
                    <a:ea typeface="Times New Roman"/>
                    <a:cs typeface="Times New Roman"/>
                  </a:rPr>
                  <a:t> to produce, what would the price of a spoon be for customers?</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1" name="Google Shape;179;p5"/>
              <p:cNvSpPr txBox="1">
                <a:spLocks noRot="1" noChangeAspect="1" noMove="1" noResize="1" noEditPoints="1" noAdjustHandles="1" noChangeArrowheads="1" noChangeShapeType="1" noTextEdit="1"/>
              </p:cNvSpPr>
              <p:nvPr/>
            </p:nvSpPr>
            <p:spPr>
              <a:xfrm>
                <a:off x="914400" y="487736"/>
                <a:ext cx="10515600" cy="4708941"/>
              </a:xfrm>
              <a:prstGeom prst="rect">
                <a:avLst/>
              </a:prstGeom>
              <a:blipFill rotWithShape="1">
                <a:blip r:embed="rId3"/>
                <a:stretch>
                  <a:fillRect t="-777" b="-1425"/>
                </a:stretch>
              </a:blipFill>
              <a:ln>
                <a:noFill/>
              </a:ln>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8" name="Rounded Rectangle 7"/>
          <p:cNvSpPr/>
          <p:nvPr/>
        </p:nvSpPr>
        <p:spPr>
          <a:xfrm>
            <a:off x="5007129" y="1842918"/>
            <a:ext cx="1371600"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ClrTx/>
              <a:buFont typeface="Courier New" pitchFamily="49" charset="0"/>
              <a:buChar char="o"/>
              <a:defRPr/>
            </a:pPr>
            <a:r>
              <a:rPr lang="en-US" sz="2000" dirty="0">
                <a:latin typeface="Verdana" pitchFamily="34" charset="0"/>
                <a:ea typeface="Verdana" pitchFamily="34" charset="0"/>
                <a:cs typeface="Times New Roman"/>
              </a:rPr>
              <a:t>loss.</a:t>
            </a:r>
            <a:endParaRPr lang="en-US" sz="2000" dirty="0">
              <a:solidFill>
                <a:sysClr val="window" lastClr="FFFFFF"/>
              </a:solidFill>
              <a:latin typeface="Verdana" pitchFamily="34" charset="0"/>
              <a:ea typeface="Verdana" pitchFamily="34" charset="0"/>
              <a:cs typeface="Times New Roman"/>
            </a:endParaRPr>
          </a:p>
          <a:p>
            <a:pPr marL="285750" indent="-285750">
              <a:buClrTx/>
              <a:buFont typeface="Courier New" pitchFamily="49" charset="0"/>
              <a:buChar char="o"/>
              <a:defRPr/>
            </a:pPr>
            <a:r>
              <a:rPr lang="en-US" sz="2000" dirty="0">
                <a:latin typeface="Verdana" pitchFamily="34" charset="0"/>
                <a:ea typeface="Verdana" pitchFamily="34" charset="0"/>
                <a:cs typeface="Times New Roman"/>
              </a:rPr>
              <a:t>profit.</a:t>
            </a:r>
            <a:endParaRPr lang="en-US" sz="2000" dirty="0">
              <a:solidFill>
                <a:sysClr val="window" lastClr="FFFFFF"/>
              </a:solidFill>
              <a:latin typeface="Verdana" pitchFamily="34" charset="0"/>
              <a:ea typeface="Verdana" pitchFamily="34" charset="0"/>
              <a:cs typeface="Times New Roman"/>
            </a:endParaRPr>
          </a:p>
        </p:txBody>
      </p:sp>
      <p:sp>
        <p:nvSpPr>
          <p:cNvPr id="9" name="Rounded Rectangle 8"/>
          <p:cNvSpPr/>
          <p:nvPr/>
        </p:nvSpPr>
        <p:spPr>
          <a:xfrm>
            <a:off x="1936158" y="2748779"/>
            <a:ext cx="1906651"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a:buChar char="o"/>
            </a:pPr>
            <a:r>
              <a:rPr lang="en-US" sz="2000" dirty="0">
                <a:latin typeface="Verdana"/>
                <a:ea typeface="Times New Roman"/>
                <a:cs typeface="Times New Roman"/>
              </a:rPr>
              <a:t>increases</a:t>
            </a:r>
          </a:p>
          <a:p>
            <a:pPr marL="285750" indent="-285750">
              <a:buFont typeface="Courier New"/>
              <a:buChar char="o"/>
            </a:pPr>
            <a:r>
              <a:rPr lang="en-US" sz="2000" dirty="0">
                <a:latin typeface="Verdana"/>
                <a:ea typeface="Times New Roman"/>
                <a:cs typeface="Times New Roman"/>
              </a:rPr>
              <a:t>decreases</a:t>
            </a:r>
            <a:endParaRPr lang="en-US" sz="2000" dirty="0">
              <a:latin typeface="Cambria"/>
              <a:ea typeface="Times New Roman"/>
              <a:cs typeface="Times New Roman"/>
            </a:endParaRPr>
          </a:p>
        </p:txBody>
      </p:sp>
      <p:pic>
        <p:nvPicPr>
          <p:cNvPr id="12"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315</a:t>
            </a:r>
            <a:endParaRPr i="1" dirty="0">
              <a:latin typeface="Calibri"/>
              <a:ea typeface="Calibri"/>
              <a:cs typeface="Calibri"/>
              <a:sym typeface="Calibri"/>
            </a:endParaRPr>
          </a:p>
        </p:txBody>
      </p:sp>
    </p:spTree>
    <p:extLst>
      <p:ext uri="{BB962C8B-B14F-4D97-AF65-F5344CB8AC3E}">
        <p14:creationId xmlns:p14="http://schemas.microsoft.com/office/powerpoint/2010/main" val="393388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839721" y="2664802"/>
            <a:ext cx="73723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7" name="Google Shape;179;p5"/>
              <p:cNvSpPr txBox="1"/>
              <p:nvPr/>
            </p:nvSpPr>
            <p:spPr>
              <a:xfrm>
                <a:off x="914400" y="487736"/>
                <a:ext cx="10515600" cy="1938952"/>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5"/>
                </a:pPr>
                <a:r>
                  <a:rPr lang="en-US" sz="2000" dirty="0">
                    <a:latin typeface="Verdana"/>
                    <a:ea typeface="Times New Roman"/>
                    <a:cs typeface="Times New Roman"/>
                  </a:rPr>
                  <a:t>Discuss with your partner how you determined a </a:t>
                </a:r>
                <a14:m>
                  <m:oMath xmlns:m="http://schemas.openxmlformats.org/officeDocument/2006/math">
                    <m:r>
                      <a:rPr lang="en-US" sz="2000" i="1">
                        <a:latin typeface="Cambria Math"/>
                        <a:ea typeface="Times New Roman"/>
                        <a:cs typeface="Times New Roman"/>
                      </a:rPr>
                      <m:t>100%</m:t>
                    </m:r>
                  </m:oMath>
                </a14:m>
                <a:r>
                  <a:rPr lang="en-US" sz="2000" dirty="0">
                    <a:latin typeface="Verdana"/>
                    <a:ea typeface="Times New Roman"/>
                    <a:cs typeface="Times New Roman"/>
                  </a:rPr>
                  <a:t> markup of $</a:t>
                </a:r>
                <a14:m>
                  <m:oMath xmlns:m="http://schemas.openxmlformats.org/officeDocument/2006/math">
                    <m:r>
                      <a:rPr lang="en-US" sz="2000" i="1">
                        <a:latin typeface="Cambria Math"/>
                        <a:ea typeface="Times New Roman"/>
                        <a:cs typeface="Times New Roman"/>
                      </a:rPr>
                      <m:t>6.60</m:t>
                    </m:r>
                  </m:oMath>
                </a14:m>
                <a:r>
                  <a:rPr lang="en-US" sz="2000" dirty="0">
                    <a:latin typeface="Verdana"/>
                    <a:ea typeface="Times New Roman"/>
                    <a:cs typeface="Times New Roman"/>
                  </a:rPr>
                  <a:t>. After your discussion, make any revisions to part b, if necessary.</a:t>
                </a:r>
              </a:p>
              <a:p>
                <a:pPr marL="914400" indent="-457200">
                  <a:buFont typeface="+mj-lt"/>
                  <a:buAutoNum type="alphaLcPeriod" startAt="5"/>
                </a:pPr>
                <a:endParaRPr lang="en-US" sz="2000" dirty="0">
                  <a:latin typeface="Verdana"/>
                  <a:ea typeface="Verdana" panose="020B0604030504040204" pitchFamily="34" charset="0"/>
                  <a:cs typeface="Times New Roman"/>
                </a:endParaRPr>
              </a:p>
              <a:p>
                <a:pPr marL="914400" indent="-457200">
                  <a:buFont typeface="+mj-lt"/>
                  <a:buAutoNum type="alphaLcPeriod" startAt="5"/>
                </a:pPr>
                <a:endParaRPr lang="en-US" sz="2000" dirty="0">
                  <a:latin typeface="Verdana"/>
                  <a:ea typeface="Verdana" panose="020B0604030504040204" pitchFamily="34" charset="0"/>
                  <a:cs typeface="Times New Roman"/>
                </a:endParaRPr>
              </a:p>
              <a:p>
                <a:pPr marL="914400" indent="-457200">
                  <a:buFont typeface="+mj-lt"/>
                  <a:buAutoNum type="alphaLcPeriod" startAt="5"/>
                </a:pPr>
                <a:r>
                  <a:rPr lang="en-US" sz="2000" dirty="0">
                    <a:latin typeface="Verdana"/>
                    <a:ea typeface="Times New Roman"/>
                    <a:cs typeface="Times New Roman"/>
                  </a:rPr>
                  <a:t>Jovi and Malik used two different methods to find the price of the spoon if the markup used is </a:t>
                </a:r>
                <a14:m>
                  <m:oMath xmlns:m="http://schemas.openxmlformats.org/officeDocument/2006/math">
                    <m:r>
                      <a:rPr lang="en-US" sz="2000" i="1">
                        <a:latin typeface="Cambria Math"/>
                        <a:ea typeface="Times New Roman"/>
                        <a:cs typeface="Times New Roman"/>
                      </a:rPr>
                      <m:t>61%</m:t>
                    </m:r>
                  </m:oMath>
                </a14:m>
                <a:r>
                  <a:rPr lang="en-US" sz="2000" dirty="0">
                    <a:latin typeface="Verdana"/>
                    <a:ea typeface="Times New Roman"/>
                    <a:cs typeface="Times New Roman"/>
                  </a:rPr>
                  <a:t>. </a:t>
                </a:r>
                <a:r>
                  <a:rPr lang="en-US" sz="2000" dirty="0">
                    <a:latin typeface="Verdana"/>
                    <a:ea typeface="Times New Roman"/>
                    <a:cs typeface="Times New Roman"/>
                  </a:rPr>
                  <a:t>Part of their work is shown</a:t>
                </a:r>
                <a:r>
                  <a:rPr lang="en-US" sz="2000" dirty="0" smtClean="0">
                    <a:latin typeface="Verdana"/>
                    <a:ea typeface="Times New Roman"/>
                    <a:cs typeface="Times New Roman"/>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7" name="Google Shape;179;p5"/>
              <p:cNvSpPr txBox="1">
                <a:spLocks noRot="1" noChangeAspect="1" noMove="1" noResize="1" noEditPoints="1" noAdjustHandles="1" noChangeArrowheads="1" noChangeShapeType="1" noTextEdit="1"/>
              </p:cNvSpPr>
              <p:nvPr/>
            </p:nvSpPr>
            <p:spPr>
              <a:xfrm>
                <a:off x="914400" y="487736"/>
                <a:ext cx="10515600" cy="1938952"/>
              </a:xfrm>
              <a:prstGeom prst="rect">
                <a:avLst/>
              </a:prstGeom>
              <a:blipFill rotWithShape="1">
                <a:blip r:embed="rId4"/>
                <a:stretch>
                  <a:fillRect t="-1887" b="-4717"/>
                </a:stretch>
              </a:blipFill>
              <a:ln>
                <a:noFill/>
              </a:ln>
            </p:spPr>
            <p:txBody>
              <a:bodyPr/>
              <a:lstStyle/>
              <a:p>
                <a:r>
                  <a:rPr lang="en-US">
                    <a:noFill/>
                  </a:rPr>
                  <a:t> </a:t>
                </a:r>
              </a:p>
            </p:txBody>
          </p:sp>
        </mc:Fallback>
      </mc:AlternateContent>
      <p:pic>
        <p:nvPicPr>
          <p:cNvPr id="8"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315</a:t>
            </a:r>
            <a:endParaRPr i="1" dirty="0">
              <a:latin typeface="Calibri"/>
              <a:ea typeface="Calibri"/>
              <a:cs typeface="Calibri"/>
              <a:sym typeface="Calibri"/>
            </a:endParaRPr>
          </a:p>
        </p:txBody>
      </p:sp>
    </p:spTree>
    <p:extLst>
      <p:ext uri="{BB962C8B-B14F-4D97-AF65-F5344CB8AC3E}">
        <p14:creationId xmlns:p14="http://schemas.microsoft.com/office/powerpoint/2010/main" val="18490083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Google Shape;179;p5"/>
              <p:cNvSpPr txBox="1"/>
              <p:nvPr/>
            </p:nvSpPr>
            <p:spPr>
              <a:xfrm>
                <a:off x="914400" y="487736"/>
                <a:ext cx="10515600" cy="4708941"/>
              </a:xfrm>
              <a:prstGeom prst="rect">
                <a:avLst/>
              </a:prstGeom>
              <a:noFill/>
              <a:ln>
                <a:noFill/>
              </a:ln>
            </p:spPr>
            <p:txBody>
              <a:bodyPr spcFirstLastPara="1" wrap="square" lIns="91425" tIns="45700" rIns="91425" bIns="45700" anchor="t" anchorCtr="0">
                <a:spAutoFit/>
              </a:bodyPr>
              <a:lstStyle/>
              <a:p>
                <a:pPr marL="914400"/>
                <a:r>
                  <a:rPr lang="en-US" sz="2000" dirty="0">
                    <a:latin typeface="Verdana"/>
                    <a:ea typeface="Times New Roman"/>
                    <a:cs typeface="Times New Roman"/>
                  </a:rPr>
                  <a:t>Complete the statements.</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Jovi used a percent    	            to find the value</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of </a:t>
                </a:r>
                <a14:m>
                  <m:oMath xmlns:m="http://schemas.openxmlformats.org/officeDocument/2006/math">
                    <m:r>
                      <a:rPr lang="en-US" sz="2000" i="1">
                        <a:latin typeface="Cambria Math"/>
                        <a:ea typeface="Times New Roman"/>
                        <a:cs typeface="Times New Roman"/>
                      </a:rPr>
                      <m:t>𝑚</m:t>
                    </m:r>
                  </m:oMath>
                </a14:m>
                <a:r>
                  <a:rPr lang="en-US" sz="2000" dirty="0">
                    <a:latin typeface="Verdana"/>
                    <a:ea typeface="Times New Roman"/>
                    <a:cs typeface="Times New Roman"/>
                  </a:rPr>
                  <a:t> while Malik used a percent</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Both methods resulted in the same value of </a:t>
                </a:r>
                <a14:m>
                  <m:oMath xmlns:m="http://schemas.openxmlformats.org/officeDocument/2006/math">
                    <m:r>
                      <a:rPr lang="en-US" sz="2000" i="1">
                        <a:latin typeface="Cambria Math"/>
                        <a:ea typeface="Times New Roman"/>
                        <a:cs typeface="Times New Roman"/>
                      </a:rPr>
                      <m:t>𝑚</m:t>
                    </m:r>
                  </m:oMath>
                </a14:m>
                <a:r>
                  <a:rPr lang="en-US" sz="2000" dirty="0">
                    <a:latin typeface="Verdana"/>
                    <a:ea typeface="Times New Roman"/>
                    <a:cs typeface="Times New Roman"/>
                  </a:rPr>
                  <a:t>, which</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represents the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
                </a:r>
                <a:br>
                  <a:rPr lang="en-US" sz="2000" dirty="0">
                    <a:latin typeface="Verdana"/>
                    <a:ea typeface="Times New Roman"/>
                    <a:cs typeface="Times New Roman"/>
                  </a:rPr>
                </a:br>
                <a:r>
                  <a:rPr lang="en-US" sz="2000" dirty="0">
                    <a:latin typeface="Verdana"/>
                    <a:ea typeface="Times New Roman"/>
                    <a:cs typeface="Times New Roman"/>
                  </a:rPr>
                  <a:t>At a </a:t>
                </a:r>
                <a14:m>
                  <m:oMath xmlns:m="http://schemas.openxmlformats.org/officeDocument/2006/math">
                    <m:r>
                      <a:rPr lang="en-US" sz="2000" i="1">
                        <a:latin typeface="Cambria Math"/>
                        <a:ea typeface="Times New Roman"/>
                        <a:cs typeface="Times New Roman"/>
                      </a:rPr>
                      <m:t>61%</m:t>
                    </m:r>
                  </m:oMath>
                </a14:m>
                <a:r>
                  <a:rPr lang="en-US" sz="2000" dirty="0">
                    <a:latin typeface="Verdana"/>
                    <a:ea typeface="Times New Roman"/>
                    <a:cs typeface="Times New Roman"/>
                  </a:rPr>
                  <a:t> markup, the spoon would sell for</a:t>
                </a:r>
              </a:p>
            </p:txBody>
          </p:sp>
        </mc:Choice>
        <mc:Fallback>
          <p:sp>
            <p:nvSpPr>
              <p:cNvPr id="11" name="Google Shape;179;p5"/>
              <p:cNvSpPr txBox="1">
                <a:spLocks noRot="1" noChangeAspect="1" noMove="1" noResize="1" noEditPoints="1" noAdjustHandles="1" noChangeArrowheads="1" noChangeShapeType="1" noTextEdit="1"/>
              </p:cNvSpPr>
              <p:nvPr/>
            </p:nvSpPr>
            <p:spPr>
              <a:xfrm>
                <a:off x="914400" y="487736"/>
                <a:ext cx="10515600" cy="4708941"/>
              </a:xfrm>
              <a:prstGeom prst="rect">
                <a:avLst/>
              </a:prstGeom>
              <a:blipFill rotWithShape="1">
                <a:blip r:embed="rId3"/>
                <a:stretch>
                  <a:fillRect t="-648" b="-1425"/>
                </a:stretch>
              </a:blipFill>
              <a:ln>
                <a:noFill/>
              </a:ln>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Rounded Rectangle 8"/>
          <p:cNvSpPr/>
          <p:nvPr/>
        </p:nvSpPr>
        <p:spPr>
          <a:xfrm>
            <a:off x="4556895" y="913450"/>
            <a:ext cx="1937250"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a:buChar char="o"/>
            </a:pPr>
            <a:r>
              <a:rPr lang="en-US" sz="2000" dirty="0">
                <a:latin typeface="Verdana"/>
                <a:ea typeface="Times New Roman"/>
                <a:cs typeface="Times New Roman"/>
              </a:rPr>
              <a:t>equation</a:t>
            </a:r>
          </a:p>
          <a:p>
            <a:pPr marL="285750" indent="-285750">
              <a:buFont typeface="Courier New"/>
              <a:buChar char="o"/>
            </a:pPr>
            <a:r>
              <a:rPr lang="en-US" sz="2000" dirty="0">
                <a:latin typeface="Verdana"/>
                <a:ea typeface="Times New Roman"/>
                <a:cs typeface="Times New Roman"/>
              </a:rPr>
              <a:t>proportion</a:t>
            </a:r>
            <a:endParaRPr lang="en-US" sz="2000" dirty="0">
              <a:latin typeface="Cambria"/>
              <a:ea typeface="Times New Roman"/>
              <a:cs typeface="Times New Roman"/>
            </a:endParaRPr>
          </a:p>
        </p:txBody>
      </p:sp>
      <p:sp>
        <p:nvSpPr>
          <p:cNvPr id="10" name="Rounded Rectangle 9"/>
          <p:cNvSpPr/>
          <p:nvPr/>
        </p:nvSpPr>
        <p:spPr>
          <a:xfrm>
            <a:off x="6082455" y="1840840"/>
            <a:ext cx="2004271"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a:buChar char="o"/>
            </a:pPr>
            <a:r>
              <a:rPr lang="en-US" sz="2000" dirty="0">
                <a:latin typeface="Verdana"/>
                <a:ea typeface="Times New Roman"/>
                <a:cs typeface="Times New Roman"/>
              </a:rPr>
              <a:t>equation.</a:t>
            </a:r>
          </a:p>
          <a:p>
            <a:pPr marL="285750" indent="-285750">
              <a:buFont typeface="Courier New"/>
              <a:buChar char="o"/>
            </a:pPr>
            <a:r>
              <a:rPr lang="en-US" sz="2000" dirty="0">
                <a:latin typeface="Verdana"/>
                <a:ea typeface="Times New Roman"/>
                <a:cs typeface="Times New Roman"/>
              </a:rPr>
              <a:t>proportion.</a:t>
            </a:r>
            <a:endParaRPr lang="en-US" sz="2000" dirty="0">
              <a:latin typeface="Cambria"/>
              <a:ea typeface="Times New Roman"/>
              <a:cs typeface="Times New Roman"/>
            </a:endParaRPr>
          </a:p>
        </p:txBody>
      </p:sp>
      <p:sp>
        <p:nvSpPr>
          <p:cNvPr id="13" name="Rounded Rectangle 12"/>
          <p:cNvSpPr/>
          <p:nvPr/>
        </p:nvSpPr>
        <p:spPr>
          <a:xfrm>
            <a:off x="3894514" y="3663972"/>
            <a:ext cx="4754186" cy="783193"/>
          </a:xfrm>
          <a:prstGeom prst="roundRect">
            <a:avLst/>
          </a:prstGeom>
          <a:noFill/>
          <a:ln w="19050" cap="flat" cmpd="sng" algn="ctr">
            <a:solidFill>
              <a:sysClr val="windowText" lastClr="000000"/>
            </a:solidFill>
            <a:prstDash val="solid"/>
          </a:ln>
          <a:effectLst/>
        </p:spPr>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ClrTx/>
              <a:buFont typeface="Courier New" pitchFamily="49" charset="0"/>
              <a:buChar char="o"/>
              <a:defRPr/>
            </a:pPr>
            <a:r>
              <a:rPr lang="en-US" sz="2000" dirty="0">
                <a:latin typeface="Verdana" pitchFamily="34" charset="0"/>
                <a:ea typeface="Verdana" pitchFamily="34" charset="0"/>
                <a:cs typeface="Times New Roman"/>
              </a:rPr>
              <a:t>dollar amount of the markup.</a:t>
            </a:r>
            <a:endParaRPr lang="en-US" sz="2000" dirty="0">
              <a:solidFill>
                <a:sysClr val="window" lastClr="FFFFFF"/>
              </a:solidFill>
              <a:latin typeface="Verdana" pitchFamily="34" charset="0"/>
              <a:ea typeface="Verdana" pitchFamily="34" charset="0"/>
              <a:cs typeface="Times New Roman"/>
            </a:endParaRPr>
          </a:p>
          <a:p>
            <a:pPr marL="285750" indent="-285750">
              <a:spcAft>
                <a:spcPts val="1000"/>
              </a:spcAft>
              <a:buClrTx/>
              <a:buFont typeface="Courier New" pitchFamily="49" charset="0"/>
              <a:buChar char="o"/>
              <a:defRPr/>
            </a:pPr>
            <a:r>
              <a:rPr lang="en-US" sz="2000" dirty="0">
                <a:latin typeface="Verdana" pitchFamily="34" charset="0"/>
                <a:ea typeface="Verdana" pitchFamily="34" charset="0"/>
                <a:cs typeface="Times New Roman"/>
              </a:rPr>
              <a:t>price of the spoon after markup.</a:t>
            </a:r>
            <a:endParaRPr lang="en-US" sz="2000" dirty="0">
              <a:solidFill>
                <a:sysClr val="window" lastClr="FFFFFF"/>
              </a:solidFill>
              <a:latin typeface="Verdana" pitchFamily="34" charset="0"/>
              <a:ea typeface="Verdana" pitchFamily="34" charset="0"/>
              <a:cs typeface="Times New Roman"/>
            </a:endParaRPr>
          </a:p>
        </p:txBody>
      </p:sp>
      <mc:AlternateContent xmlns:mc="http://schemas.openxmlformats.org/markup-compatibility/2006">
        <mc:Choice xmlns:a14="http://schemas.microsoft.com/office/drawing/2010/main" Requires="a14">
          <p:sp>
            <p:nvSpPr>
              <p:cNvPr id="15" name="Rounded Rectangle 14"/>
              <p:cNvSpPr/>
              <p:nvPr/>
            </p:nvSpPr>
            <p:spPr>
              <a:xfrm>
                <a:off x="7476228" y="4663052"/>
                <a:ext cx="1509949" cy="1464231"/>
              </a:xfrm>
              <a:prstGeom prst="roundRect">
                <a:avLst/>
              </a:prstGeom>
              <a:no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28600" indent="-285750">
                  <a:buFont typeface="Courier New" pitchFamily="49" charset="0"/>
                  <a:buChar char="o"/>
                </a:pPr>
                <a14:m>
                  <m:oMath xmlns:m="http://schemas.openxmlformats.org/officeDocument/2006/math">
                    <m:r>
                      <a:rPr lang="en-US" sz="2000" i="1">
                        <a:solidFill>
                          <a:srgbClr val="000000"/>
                        </a:solidFill>
                        <a:latin typeface="Cambria Math"/>
                        <a:ea typeface="Times New Roman"/>
                        <a:cs typeface="Times New Roman"/>
                      </a:rPr>
                      <m:t>$4.02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228600" indent="-285750">
                  <a:buFont typeface="Courier New" pitchFamily="49" charset="0"/>
                  <a:buChar char="o"/>
                </a:pPr>
                <a14:m>
                  <m:oMath xmlns:m="http://schemas.openxmlformats.org/officeDocument/2006/math">
                    <m:r>
                      <a:rPr lang="en-US" sz="2000" i="1">
                        <a:solidFill>
                          <a:srgbClr val="000000"/>
                        </a:solidFill>
                        <a:latin typeface="Cambria Math"/>
                        <a:ea typeface="Times New Roman"/>
                        <a:cs typeface="Times New Roman"/>
                      </a:rPr>
                      <m:t>$4.03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228600" indent="-285750">
                  <a:buFont typeface="Courier New" pitchFamily="49" charset="0"/>
                  <a:buChar char="o"/>
                </a:pPr>
                <a14:m>
                  <m:oMath xmlns:m="http://schemas.openxmlformats.org/officeDocument/2006/math">
                    <m:r>
                      <a:rPr lang="en-US" sz="2000" i="1">
                        <a:solidFill>
                          <a:srgbClr val="000000"/>
                        </a:solidFill>
                        <a:latin typeface="Cambria Math"/>
                        <a:ea typeface="Times New Roman"/>
                        <a:cs typeface="Times New Roman"/>
                      </a:rPr>
                      <m:t>$10.62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228600" indent="-285750">
                  <a:spcAft>
                    <a:spcPts val="1000"/>
                  </a:spcAft>
                  <a:buFont typeface="Courier New" pitchFamily="49" charset="0"/>
                  <a:buChar char="o"/>
                </a:pPr>
                <a14:m>
                  <m:oMath xmlns:m="http://schemas.openxmlformats.org/officeDocument/2006/math">
                    <m:r>
                      <a:rPr lang="en-US" sz="2000" i="1">
                        <a:solidFill>
                          <a:srgbClr val="000000"/>
                        </a:solidFill>
                        <a:latin typeface="Cambria Math"/>
                        <a:ea typeface="Times New Roman"/>
                        <a:cs typeface="Times New Roman"/>
                      </a:rPr>
                      <m:t>$10.63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p:txBody>
          </p:sp>
        </mc:Choice>
        <mc:Fallback>
          <p:sp>
            <p:nvSpPr>
              <p:cNvPr id="15" name="Rounded Rectangle 14"/>
              <p:cNvSpPr>
                <a:spLocks noRot="1" noChangeAspect="1" noMove="1" noResize="1" noEditPoints="1" noAdjustHandles="1" noChangeArrowheads="1" noChangeShapeType="1" noTextEdit="1"/>
              </p:cNvSpPr>
              <p:nvPr/>
            </p:nvSpPr>
            <p:spPr>
              <a:xfrm>
                <a:off x="7476228" y="4663052"/>
                <a:ext cx="1509949" cy="1464231"/>
              </a:xfrm>
              <a:prstGeom prst="roundRect">
                <a:avLst/>
              </a:prstGeom>
              <a:blipFill rotWithShape="1">
                <a:blip r:embed="rId4"/>
                <a:stretch>
                  <a:fillRect b="-2881"/>
                </a:stretch>
              </a:blipFill>
              <a:ln w="19050">
                <a:solidFill>
                  <a:schemeClr val="tx1"/>
                </a:solidFill>
              </a:ln>
              <a:effectLst/>
            </p:spPr>
            <p:txBody>
              <a:bodyPr/>
              <a:lstStyle/>
              <a:p>
                <a:r>
                  <a:rPr lang="en-US">
                    <a:noFill/>
                  </a:rPr>
                  <a:t> </a:t>
                </a:r>
              </a:p>
            </p:txBody>
          </p:sp>
        </mc:Fallback>
      </mc:AlternateContent>
      <p:pic>
        <p:nvPicPr>
          <p:cNvPr id="12"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315</a:t>
            </a:r>
            <a:endParaRPr i="1" dirty="0">
              <a:latin typeface="Calibri"/>
              <a:ea typeface="Calibri"/>
              <a:cs typeface="Calibri"/>
              <a:sym typeface="Calibri"/>
            </a:endParaRPr>
          </a:p>
        </p:txBody>
      </p:sp>
    </p:spTree>
    <p:extLst>
      <p:ext uri="{BB962C8B-B14F-4D97-AF65-F5344CB8AC3E}">
        <p14:creationId xmlns:p14="http://schemas.microsoft.com/office/powerpoint/2010/main" val="927180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D2AEBEA3-B321-FF43-939E-DBF04267F34A}"/>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sp>
            <p:nvSpPr>
              <p:cNvPr id="8" name="Google Shape;179;p5"/>
              <p:cNvSpPr txBox="1"/>
              <p:nvPr/>
            </p:nvSpPr>
            <p:spPr>
              <a:xfrm>
                <a:off x="914400" y="487736"/>
                <a:ext cx="10515600" cy="1938952"/>
              </a:xfrm>
              <a:prstGeom prst="rect">
                <a:avLst/>
              </a:prstGeom>
              <a:noFill/>
              <a:ln>
                <a:noFill/>
              </a:ln>
            </p:spPr>
            <p:txBody>
              <a:bodyPr spcFirstLastPara="1" wrap="square" lIns="91425" tIns="45700" rIns="91425" bIns="45700" anchor="t" anchorCtr="0">
                <a:spAutoFit/>
              </a:bodyPr>
              <a:lstStyle/>
              <a:p>
                <a:pPr marL="914400" indent="-457200">
                  <a:buFont typeface="+mj-lt"/>
                  <a:buAutoNum type="alphaLcPeriod" startAt="7"/>
                </a:pPr>
                <a:r>
                  <a:rPr lang="en-US" sz="2400" dirty="0">
                    <a:latin typeface="Verdana"/>
                    <a:ea typeface="Times New Roman"/>
                    <a:cs typeface="Times New Roman"/>
                  </a:rPr>
                  <a:t>Jovi and Malik both found the price of the spoon after a </a:t>
                </a:r>
                <a14:m>
                  <m:oMath xmlns:m="http://schemas.openxmlformats.org/officeDocument/2006/math">
                    <m:r>
                      <a:rPr lang="en-US" sz="2400" i="1">
                        <a:latin typeface="Cambria Math"/>
                        <a:ea typeface="Times New Roman"/>
                        <a:cs typeface="Times New Roman"/>
                      </a:rPr>
                      <m:t>61%</m:t>
                    </m:r>
                  </m:oMath>
                </a14:m>
                <a:r>
                  <a:rPr lang="en-US" sz="2400" dirty="0">
                    <a:latin typeface="Verdana"/>
                    <a:ea typeface="Times New Roman"/>
                    <a:cs typeface="Times New Roman"/>
                  </a:rPr>
                  <a:t> markup by calculating the amount of the markup and adding it to the cost of the spoon. What percentage could they have used if they wanted to calculate the price after markup in one step?</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8" name="Google Shape;179;p5"/>
              <p:cNvSpPr txBox="1">
                <a:spLocks noRot="1" noChangeAspect="1" noMove="1" noResize="1" noEditPoints="1" noAdjustHandles="1" noChangeArrowheads="1" noChangeShapeType="1" noTextEdit="1"/>
              </p:cNvSpPr>
              <p:nvPr/>
            </p:nvSpPr>
            <p:spPr>
              <a:xfrm>
                <a:off x="914400" y="487736"/>
                <a:ext cx="10515600" cy="1938952"/>
              </a:xfrm>
              <a:prstGeom prst="rect">
                <a:avLst/>
              </a:prstGeom>
              <a:blipFill rotWithShape="1">
                <a:blip r:embed="rId3"/>
                <a:stretch>
                  <a:fillRect t="-2830" r="-1565" b="-6289"/>
                </a:stretch>
              </a:blipFill>
              <a:ln>
                <a:noFill/>
              </a:ln>
            </p:spPr>
            <p:txBody>
              <a:bodyPr/>
              <a:lstStyle/>
              <a:p>
                <a:r>
                  <a:rPr lang="en-US">
                    <a:noFill/>
                  </a:rPr>
                  <a:t> </a:t>
                </a:r>
              </a:p>
            </p:txBody>
          </p:sp>
        </mc:Fallback>
      </mc:AlternateContent>
      <p:pic>
        <p:nvPicPr>
          <p:cNvPr id="9"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316</a:t>
            </a:r>
            <a:endParaRPr i="1" dirty="0">
              <a:latin typeface="Calibri"/>
              <a:ea typeface="Calibri"/>
              <a:cs typeface="Calibri"/>
              <a:sym typeface="Calibri"/>
            </a:endParaRPr>
          </a:p>
        </p:txBody>
      </p:sp>
    </p:spTree>
    <p:extLst>
      <p:ext uri="{BB962C8B-B14F-4D97-AF65-F5344CB8AC3E}">
        <p14:creationId xmlns:p14="http://schemas.microsoft.com/office/powerpoint/2010/main" val="4171332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316</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1" name="Google Shape;278;g104476d1465_1_17">
            <a:extLst>
              <a:ext uri="{FF2B5EF4-FFF2-40B4-BE49-F238E27FC236}">
                <a16:creationId xmlns:a16="http://schemas.microsoft.com/office/drawing/2014/main" xmlns="" id="{4E335EDC-9A7C-E240-A274-C7457343831F}"/>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465815830"/>
                  </p:ext>
                </p:extLst>
              </p:nvPr>
            </p:nvGraphicFramePr>
            <p:xfrm>
              <a:off x="2157833" y="2689599"/>
              <a:ext cx="7713429" cy="3501771"/>
            </p:xfrm>
            <a:graphic>
              <a:graphicData uri="http://schemas.openxmlformats.org/drawingml/2006/table">
                <a:tbl>
                  <a:tblPr firstRow="1" bandRow="1">
                    <a:tableStyleId>{A91F0D33-8C57-4600-99A7-42BC86742BE1}</a:tableStyleId>
                  </a:tblPr>
                  <a:tblGrid>
                    <a:gridCol w="7713429">
                      <a:extLst>
                        <a:ext uri="{9D8B030D-6E8A-4147-A177-3AD203B41FA5}">
                          <a16:colId xmlns:a16="http://schemas.microsoft.com/office/drawing/2014/main" xmlns="" val="20000"/>
                        </a:ext>
                      </a:extLst>
                    </a:gridCol>
                  </a:tblGrid>
                  <a:tr h="457200">
                    <a:tc>
                      <a:txBody>
                        <a:bodyPr/>
                        <a:lstStyle/>
                        <a:p>
                          <a:pPr algn="ctr"/>
                          <a:r>
                            <a:rPr lang="en-US" sz="2000" b="1" dirty="0">
                              <a:effectLst/>
                              <a:latin typeface="Verdana"/>
                              <a:ea typeface="Times New Roman"/>
                              <a:cs typeface="Times New Roman"/>
                            </a:rPr>
                            <a:t>Appetizers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457200">
                    <a:tc>
                      <a:txBody>
                        <a:bodyPr/>
                        <a:lstStyle/>
                        <a:p>
                          <a:r>
                            <a:rPr lang="en-US" sz="2000" dirty="0">
                              <a:effectLst/>
                              <a:latin typeface="Verdana"/>
                              <a:ea typeface="Times New Roman"/>
                              <a:cs typeface="Times New Roman"/>
                            </a:rPr>
                            <a:t>A1. A book has been discounted by</a:t>
                          </a:r>
                          <a:r>
                            <a:rPr lang="en-US" sz="2000" baseline="0" dirty="0">
                              <a:effectLst/>
                              <a:latin typeface="Verdana"/>
                              <a:ea typeface="Times New Roman"/>
                              <a:cs typeface="Times New Roman"/>
                            </a:rPr>
                            <a:t> </a:t>
                          </a:r>
                          <a14:m>
                            <m:oMath xmlns:m="http://schemas.openxmlformats.org/officeDocument/2006/math">
                              <m:f>
                                <m:fPr>
                                  <m:ctrlPr>
                                    <a:rPr lang="en-US" sz="2000" i="1" baseline="0" smtClean="0">
                                      <a:effectLst/>
                                      <a:latin typeface="Cambria Math"/>
                                      <a:cs typeface="Times New Roman"/>
                                    </a:rPr>
                                  </m:ctrlPr>
                                </m:fPr>
                                <m:num>
                                  <m:r>
                                    <a:rPr lang="en-US" sz="2000" b="0" i="1" baseline="0" smtClean="0">
                                      <a:effectLst/>
                                      <a:latin typeface="Cambria Math"/>
                                      <a:cs typeface="Times New Roman"/>
                                    </a:rPr>
                                    <m:t>3</m:t>
                                  </m:r>
                                </m:num>
                                <m:den>
                                  <m:r>
                                    <a:rPr lang="en-US" sz="2000" b="0" i="1" baseline="0" smtClean="0">
                                      <a:effectLst/>
                                      <a:latin typeface="Cambria Math"/>
                                      <a:cs typeface="Times New Roman"/>
                                    </a:rPr>
                                    <m:t>10</m:t>
                                  </m:r>
                                </m:den>
                              </m:f>
                            </m:oMath>
                          </a14:m>
                          <a:r>
                            <a:rPr lang="en-US" sz="2000" dirty="0">
                              <a:effectLst/>
                              <a:latin typeface="Verdana"/>
                              <a:ea typeface="Times New Roman"/>
                              <a:cs typeface="Times New Roman"/>
                            </a:rPr>
                            <a:t>. The original price of </a:t>
                          </a:r>
                        </a:p>
                        <a:p>
                          <a:pPr marL="514350" indent="0"/>
                          <a:r>
                            <a:rPr lang="en-US" sz="2000" dirty="0">
                              <a:effectLst/>
                              <a:latin typeface="Verdana"/>
                              <a:ea typeface="Times New Roman"/>
                              <a:cs typeface="Times New Roman"/>
                            </a:rPr>
                            <a:t>the book is </a:t>
                          </a:r>
                          <a14:m>
                            <m:oMath xmlns:m="http://schemas.openxmlformats.org/officeDocument/2006/math">
                              <m:r>
                                <a:rPr lang="en-US" sz="2000" i="1">
                                  <a:effectLst/>
                                  <a:latin typeface="Cambria Math"/>
                                  <a:ea typeface="Times New Roman"/>
                                  <a:cs typeface="Times New Roman"/>
                                </a:rPr>
                                <m:t>$34.99</m:t>
                              </m:r>
                            </m:oMath>
                          </a14:m>
                          <a:r>
                            <a:rPr lang="en-US" sz="2000" dirty="0">
                              <a:effectLst/>
                              <a:latin typeface="Verdana"/>
                              <a:ea typeface="Times New Roman"/>
                              <a:cs typeface="Times New Roman"/>
                            </a:rPr>
                            <a:t>. What is the amount being </a:t>
                          </a:r>
                        </a:p>
                        <a:p>
                          <a:pPr marL="514350" indent="0">
                            <a:spcBef>
                              <a:spcPts val="600"/>
                            </a:spcBef>
                          </a:pPr>
                          <a:r>
                            <a:rPr lang="en-US" sz="2000" dirty="0">
                              <a:effectLst/>
                              <a:latin typeface="Verdana"/>
                              <a:ea typeface="Times New Roman"/>
                              <a:cs typeface="Times New Roman"/>
                            </a:rPr>
                            <a:t>discounted from the book?</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r>
                            <a:rPr lang="en-US" sz="2000" dirty="0">
                              <a:effectLst/>
                              <a:latin typeface="Verdana"/>
                              <a:ea typeface="Times New Roman"/>
                              <a:cs typeface="Times New Roman"/>
                            </a:rPr>
                            <a:t>A2. Westside Skate Shop is having a storewide</a:t>
                          </a:r>
                          <a:r>
                            <a:rPr lang="en-US" sz="2000" baseline="0" dirty="0">
                              <a:effectLst/>
                              <a:latin typeface="Verdana"/>
                              <a:ea typeface="Times New Roman"/>
                              <a:cs typeface="Times New Roman"/>
                            </a:rPr>
                            <a:t> </a:t>
                          </a:r>
                          <a14:m>
                            <m:oMath xmlns:m="http://schemas.openxmlformats.org/officeDocument/2006/math">
                              <m:f>
                                <m:fPr>
                                  <m:ctrlPr>
                                    <a:rPr lang="en-US" sz="2000" i="1" baseline="0" smtClean="0">
                                      <a:effectLst/>
                                      <a:latin typeface="Cambria Math"/>
                                      <a:cs typeface="Times New Roman"/>
                                    </a:rPr>
                                  </m:ctrlPr>
                                </m:fPr>
                                <m:num>
                                  <m:r>
                                    <a:rPr lang="en-US" sz="2000" b="0" i="1" baseline="0" smtClean="0">
                                      <a:effectLst/>
                                      <a:latin typeface="Cambria Math"/>
                                      <a:cs typeface="Times New Roman"/>
                                    </a:rPr>
                                    <m:t>1</m:t>
                                  </m:r>
                                </m:num>
                                <m:den>
                                  <m:r>
                                    <a:rPr lang="en-US" sz="2000" b="0" i="1" baseline="0" smtClean="0">
                                      <a:effectLst/>
                                      <a:latin typeface="Cambria Math"/>
                                      <a:cs typeface="Times New Roman"/>
                                    </a:rPr>
                                    <m:t>5</m:t>
                                  </m:r>
                                </m:den>
                              </m:f>
                            </m:oMath>
                          </a14:m>
                          <a:r>
                            <a:rPr lang="en-US" sz="2000" baseline="0" dirty="0">
                              <a:effectLst/>
                              <a:latin typeface="Verdana"/>
                              <a:ea typeface="Times New Roman"/>
                              <a:cs typeface="Times New Roman"/>
                            </a:rPr>
                            <a:t> </a:t>
                          </a:r>
                          <a:r>
                            <a:rPr lang="en-US" sz="2000" dirty="0">
                              <a:effectLst/>
                              <a:latin typeface="Verdana"/>
                              <a:ea typeface="Times New Roman"/>
                              <a:cs typeface="Times New Roman"/>
                            </a:rPr>
                            <a:t>off sale.</a:t>
                          </a:r>
                        </a:p>
                        <a:p>
                          <a:pPr marL="514350" indent="0"/>
                          <a:r>
                            <a:rPr lang="en-US" sz="2000" dirty="0">
                              <a:effectLst/>
                              <a:latin typeface="Verdana"/>
                              <a:ea typeface="Times New Roman"/>
                              <a:cs typeface="Times New Roman"/>
                            </a:rPr>
                            <a:t>Find the amount saved on a </a:t>
                          </a:r>
                          <a14:m>
                            <m:oMath xmlns:m="http://schemas.openxmlformats.org/officeDocument/2006/math">
                              <m:r>
                                <a:rPr lang="en-US" sz="2000" i="1">
                                  <a:effectLst/>
                                  <a:latin typeface="Cambria Math"/>
                                  <a:ea typeface="Times New Roman"/>
                                  <a:cs typeface="Times New Roman"/>
                                </a:rPr>
                                <m:t>$66</m:t>
                              </m:r>
                            </m:oMath>
                          </a14:m>
                          <a:r>
                            <a:rPr lang="en-US" sz="2000" dirty="0">
                              <a:effectLst/>
                              <a:latin typeface="Verdana"/>
                              <a:ea typeface="Times New Roman"/>
                              <a:cs typeface="Times New Roman"/>
                            </a:rPr>
                            <a:t> skateboard.</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57200">
                    <a:tc>
                      <a:txBody>
                        <a:bodyPr/>
                        <a:lstStyle/>
                        <a:p>
                          <a:pPr marL="514350" indent="-514350"/>
                          <a:r>
                            <a:rPr lang="en-US" sz="2000" dirty="0">
                              <a:effectLst/>
                              <a:latin typeface="Verdana"/>
                              <a:ea typeface="Times New Roman"/>
                              <a:cs typeface="Times New Roman"/>
                            </a:rPr>
                            <a:t>A3. </a:t>
                          </a:r>
                          <a:r>
                            <a:rPr lang="en-US" sz="2000" dirty="0" err="1">
                              <a:effectLst/>
                              <a:latin typeface="Verdana"/>
                              <a:ea typeface="Times New Roman"/>
                              <a:cs typeface="Times New Roman"/>
                            </a:rPr>
                            <a:t>Jennea</a:t>
                          </a:r>
                          <a:r>
                            <a:rPr lang="en-US" sz="2000" dirty="0">
                              <a:effectLst/>
                              <a:latin typeface="Verdana"/>
                              <a:ea typeface="Times New Roman"/>
                              <a:cs typeface="Times New Roman"/>
                            </a:rPr>
                            <a:t> bought a scratched iPhone because it was</a:t>
                          </a:r>
                          <a:r>
                            <a:rPr lang="en-US" sz="2000" baseline="0" dirty="0">
                              <a:effectLst/>
                              <a:latin typeface="Verdana"/>
                              <a:ea typeface="Times New Roman"/>
                              <a:cs typeface="Times New Roman"/>
                            </a:rPr>
                            <a:t> </a:t>
                          </a:r>
                          <a:r>
                            <a:rPr lang="en-US" sz="2000" dirty="0">
                              <a:effectLst/>
                              <a:latin typeface="Verdana"/>
                              <a:ea typeface="Times New Roman"/>
                              <a:cs typeface="Times New Roman"/>
                            </a:rPr>
                            <a:t>discounted </a:t>
                          </a:r>
                          <a14:m>
                            <m:oMath xmlns:m="http://schemas.openxmlformats.org/officeDocument/2006/math">
                              <m:f>
                                <m:fPr>
                                  <m:type m:val="skw"/>
                                  <m:ctrlPr>
                                    <a:rPr lang="en-US" sz="2000" i="1">
                                      <a:effectLst/>
                                      <a:latin typeface="Cambria Math"/>
                                    </a:rPr>
                                  </m:ctrlPr>
                                </m:fPr>
                                <m:num>
                                  <m:r>
                                    <a:rPr lang="en-US" sz="2000" i="1">
                                      <a:effectLst/>
                                      <a:latin typeface="Cambria Math"/>
                                      <a:ea typeface="Times New Roman"/>
                                      <a:cs typeface="Times New Roman"/>
                                    </a:rPr>
                                    <m:t>9</m:t>
                                  </m:r>
                                </m:num>
                                <m:den>
                                  <m:r>
                                    <a:rPr lang="en-US" sz="2000" i="1">
                                      <a:effectLst/>
                                      <a:latin typeface="Cambria Math"/>
                                      <a:ea typeface="Times New Roman"/>
                                      <a:cs typeface="Times New Roman"/>
                                    </a:rPr>
                                    <m:t>20</m:t>
                                  </m:r>
                                </m:den>
                              </m:f>
                            </m:oMath>
                          </a14:m>
                          <a:r>
                            <a:rPr lang="en-US" sz="2000" dirty="0">
                              <a:effectLst/>
                              <a:latin typeface="Verdana"/>
                              <a:ea typeface="Times New Roman"/>
                              <a:cs typeface="Times New Roman"/>
                            </a:rPr>
                            <a:t> off the original price of </a:t>
                          </a:r>
                          <a14:m>
                            <m:oMath xmlns:m="http://schemas.openxmlformats.org/officeDocument/2006/math">
                              <m:r>
                                <a:rPr lang="en-US" sz="2000" i="1">
                                  <a:effectLst/>
                                  <a:latin typeface="Cambria Math"/>
                                  <a:ea typeface="Times New Roman"/>
                                  <a:cs typeface="Times New Roman"/>
                                </a:rPr>
                                <m:t>$795</m:t>
                              </m:r>
                            </m:oMath>
                          </a14:m>
                          <a:r>
                            <a:rPr lang="en-US" sz="2000" dirty="0">
                              <a:effectLst/>
                              <a:latin typeface="Verdana"/>
                              <a:ea typeface="Times New Roman"/>
                              <a:cs typeface="Times New Roman"/>
                            </a:rPr>
                            <a:t>. What was the reduced price, in dollars?</a:t>
                          </a: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465815830"/>
                  </p:ext>
                </p:extLst>
              </p:nvPr>
            </p:nvGraphicFramePr>
            <p:xfrm>
              <a:off x="2157833" y="2689599"/>
              <a:ext cx="7713429" cy="3501771"/>
            </p:xfrm>
            <a:graphic>
              <a:graphicData uri="http://schemas.openxmlformats.org/drawingml/2006/table">
                <a:tbl>
                  <a:tblPr firstRow="1" bandRow="1">
                    <a:tableStyleId>{A91F0D33-8C57-4600-99A7-42BC86742BE1}</a:tableStyleId>
                  </a:tblPr>
                  <a:tblGrid>
                    <a:gridCol w="7713429">
                      <a:extLst>
                        <a:ext uri="{9D8B030D-6E8A-4147-A177-3AD203B41FA5}">
                          <a16:colId xmlns:a16="http://schemas.microsoft.com/office/drawing/2014/main" xmlns:a14="http://schemas.microsoft.com/office/drawing/2010/main" xmlns="" val="20000"/>
                        </a:ext>
                      </a:extLst>
                    </a:gridCol>
                  </a:tblGrid>
                  <a:tr h="457200">
                    <a:tc>
                      <a:txBody>
                        <a:bodyPr/>
                        <a:lstStyle/>
                        <a:p>
                          <a:pPr algn="ctr"/>
                          <a:r>
                            <a:rPr lang="en-US" sz="2000" b="1" dirty="0">
                              <a:effectLst/>
                              <a:latin typeface="Verdana"/>
                              <a:ea typeface="Times New Roman"/>
                              <a:cs typeface="Times New Roman"/>
                            </a:rPr>
                            <a:t>Appetizers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a14="http://schemas.microsoft.com/office/drawing/2010/main" xmlns="" val="10000"/>
                      </a:ext>
                    </a:extLst>
                  </a:tr>
                  <a:tr h="1210183">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9" t="-37688" r="-79" b="-186432"/>
                          </a:stretch>
                        </a:blipFill>
                      </a:tcPr>
                    </a:tc>
                    <a:extLst>
                      <a:ext uri="{0D108BD9-81ED-4DB2-BD59-A6C34878D82A}">
                        <a16:rowId xmlns:a16="http://schemas.microsoft.com/office/drawing/2014/main" xmlns:a14="http://schemas.microsoft.com/office/drawing/2010/main" xmlns="" val="10001"/>
                      </a:ext>
                    </a:extLst>
                  </a:tr>
                  <a:tr h="828548">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9" t="-201471" r="-79" b="-172794"/>
                          </a:stretch>
                        </a:blipFill>
                      </a:tcPr>
                    </a:tc>
                    <a:extLst>
                      <a:ext uri="{0D108BD9-81ED-4DB2-BD59-A6C34878D82A}">
                        <a16:rowId xmlns:a16="http://schemas.microsoft.com/office/drawing/2014/main" xmlns:a14="http://schemas.microsoft.com/office/drawing/2010/main" xmlns="" val="10002"/>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79" t="-248485" r="-79" b="-42424"/>
                          </a:stretch>
                        </a:blipFill>
                      </a:tcPr>
                    </a:tc>
                    <a:extLst>
                      <a:ext uri="{0D108BD9-81ED-4DB2-BD59-A6C34878D82A}">
                        <a16:rowId xmlns:a16="http://schemas.microsoft.com/office/drawing/2014/main" xmlns:a14="http://schemas.microsoft.com/office/drawing/2010/main" xmlns="" val="10003"/>
                      </a:ext>
                    </a:extLst>
                  </a:tr>
                </a:tbl>
              </a:graphicData>
            </a:graphic>
          </p:graphicFrame>
        </mc:Fallback>
      </mc:AlternateContent>
      <p:sp>
        <p:nvSpPr>
          <p:cNvPr id="13"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6424" y="280626"/>
            <a:ext cx="8019647"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7.5.3 Activity: Math Menu</a:t>
            </a:r>
            <a:endParaRPr lang="en-US" sz="3600" b="1" dirty="0">
              <a:solidFill>
                <a:srgbClr val="33BEA6"/>
              </a:solidFill>
              <a:latin typeface="Verdana"/>
              <a:ea typeface="Verdana"/>
              <a:cs typeface="Verdana"/>
              <a:sym typeface="Verdana"/>
            </a:endParaRPr>
          </a:p>
        </p:txBody>
      </p:sp>
      <p:pic>
        <p:nvPicPr>
          <p:cNvPr id="14"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5" name="Google Shape;320;p19"/>
          <p:cNvSpPr txBox="1"/>
          <p:nvPr/>
        </p:nvSpPr>
        <p:spPr>
          <a:xfrm>
            <a:off x="914400" y="1330237"/>
            <a:ext cx="9858375" cy="1015622"/>
          </a:xfrm>
          <a:prstGeom prst="rect">
            <a:avLst/>
          </a:prstGeom>
          <a:noFill/>
          <a:ln>
            <a:noFill/>
          </a:ln>
        </p:spPr>
        <p:txBody>
          <a:bodyPr spcFirstLastPara="1" wrap="square" lIns="91425" tIns="45700" rIns="91425" bIns="45700" anchor="t" anchorCtr="0">
            <a:spAutoFit/>
          </a:bodyPr>
          <a:lstStyle/>
          <a:p>
            <a:r>
              <a:rPr lang="en-US" sz="2000" dirty="0">
                <a:latin typeface="Verdana"/>
                <a:ea typeface="Times New Roman"/>
                <a:cs typeface="Times New Roman"/>
              </a:rPr>
              <a:t>With your partner, choose your meal from the math menu shown. Select one appetizer, one main course, two side dishes, and one dessert. Put a * next to your selections. Then, solve each problem selected.</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6"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316</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307FF70B-9DD6-5740-B43B-698B43CC299B}"/>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2553781461"/>
                  </p:ext>
                </p:extLst>
              </p:nvPr>
            </p:nvGraphicFramePr>
            <p:xfrm>
              <a:off x="2237232" y="765720"/>
              <a:ext cx="7717536" cy="3779520"/>
            </p:xfrm>
            <a:graphic>
              <a:graphicData uri="http://schemas.openxmlformats.org/drawingml/2006/table">
                <a:tbl>
                  <a:tblPr firstRow="1" firstCol="1" bandRow="1"/>
                  <a:tblGrid>
                    <a:gridCol w="7717536">
                      <a:extLst>
                        <a:ext uri="{9D8B030D-6E8A-4147-A177-3AD203B41FA5}">
                          <a16:colId xmlns:a16="http://schemas.microsoft.com/office/drawing/2014/main" xmlns=""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Main Courses</a:t>
                          </a:r>
                          <a:endParaRPr lang="en-US" sz="14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736907">
                    <a:tc>
                      <a:txBody>
                        <a:bodyPr/>
                        <a:lstStyle/>
                        <a:p>
                          <a:pPr marL="571500" indent="-571500">
                            <a:spcBef>
                              <a:spcPts val="900"/>
                            </a:spcBef>
                            <a:spcAft>
                              <a:spcPts val="0"/>
                            </a:spcAft>
                            <a:tabLst/>
                          </a:pPr>
                          <a:r>
                            <a:rPr lang="en-US" sz="2000" dirty="0">
                              <a:effectLst/>
                              <a:latin typeface="Verdana"/>
                              <a:ea typeface="Times New Roman"/>
                              <a:cs typeface="Times New Roman"/>
                            </a:rPr>
                            <a:t>M1. </a:t>
                          </a:r>
                          <a:r>
                            <a:rPr lang="en-US" sz="2000" dirty="0" err="1">
                              <a:effectLst/>
                              <a:latin typeface="Verdana"/>
                              <a:ea typeface="Times New Roman"/>
                              <a:cs typeface="Times New Roman"/>
                            </a:rPr>
                            <a:t>Ramin’s</a:t>
                          </a:r>
                          <a:r>
                            <a:rPr lang="en-US" sz="2000" dirty="0">
                              <a:effectLst/>
                              <a:latin typeface="Verdana"/>
                              <a:ea typeface="Times New Roman"/>
                              <a:cs typeface="Times New Roman"/>
                            </a:rPr>
                            <a:t> Discount Automobiles buys a used car for </a:t>
                          </a:r>
                          <a14:m>
                            <m:oMath xmlns:m="http://schemas.openxmlformats.org/officeDocument/2006/math">
                              <m:r>
                                <a:rPr lang="en-US" sz="2000" i="1">
                                  <a:effectLst/>
                                  <a:latin typeface="Cambria Math"/>
                                  <a:ea typeface="Times New Roman"/>
                                  <a:cs typeface="Times New Roman"/>
                                </a:rPr>
                                <m:t>$3,000</m:t>
                              </m:r>
                            </m:oMath>
                          </a14:m>
                          <a:r>
                            <a:rPr lang="en-US" sz="2000" dirty="0">
                              <a:effectLst/>
                              <a:latin typeface="Verdana"/>
                              <a:ea typeface="Times New Roman"/>
                              <a:cs typeface="Times New Roman"/>
                            </a:rPr>
                            <a:t>. They mark it up </a:t>
                          </a:r>
                          <a14:m>
                            <m:oMath xmlns:m="http://schemas.openxmlformats.org/officeDocument/2006/math">
                              <m:r>
                                <a:rPr lang="en-US" sz="2000" i="1">
                                  <a:effectLst/>
                                  <a:latin typeface="Cambria Math"/>
                                  <a:ea typeface="Times New Roman"/>
                                  <a:cs typeface="Times New Roman"/>
                                </a:rPr>
                                <m:t>65%</m:t>
                              </m:r>
                            </m:oMath>
                          </a14:m>
                          <a:r>
                            <a:rPr lang="en-US" sz="2000" dirty="0">
                              <a:effectLst/>
                              <a:latin typeface="Verdana"/>
                              <a:ea typeface="Times New Roman"/>
                              <a:cs typeface="Times New Roman"/>
                            </a:rPr>
                            <a:t> before selling it to a customer. What was the sale price of the car?</a:t>
                          </a:r>
                          <a:endParaRPr lang="en-US" sz="14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851207">
                    <a:tc>
                      <a:txBody>
                        <a:bodyPr/>
                        <a:lstStyle/>
                        <a:p>
                          <a:pPr marL="571500" indent="-571500">
                            <a:spcBef>
                              <a:spcPts val="900"/>
                            </a:spcBef>
                            <a:spcAft>
                              <a:spcPts val="0"/>
                            </a:spcAft>
                            <a:tabLst/>
                          </a:pPr>
                          <a:r>
                            <a:rPr lang="en-US" sz="2000" dirty="0">
                              <a:effectLst/>
                              <a:latin typeface="Verdana"/>
                              <a:ea typeface="Times New Roman"/>
                              <a:cs typeface="Times New Roman"/>
                            </a:rPr>
                            <a:t>M2. Elliott sells grab-and-go lunches. He spends </a:t>
                          </a:r>
                          <a14:m>
                            <m:oMath xmlns:m="http://schemas.openxmlformats.org/officeDocument/2006/math">
                              <m:r>
                                <a:rPr lang="en-US" sz="2000" i="1">
                                  <a:effectLst/>
                                  <a:latin typeface="Cambria Math"/>
                                  <a:ea typeface="Times New Roman"/>
                                  <a:cs typeface="Times New Roman"/>
                                </a:rPr>
                                <m:t>$2.70</m:t>
                              </m:r>
                            </m:oMath>
                          </a14:m>
                          <a:r>
                            <a:rPr lang="en-US" sz="2000" dirty="0">
                              <a:effectLst/>
                              <a:latin typeface="Verdana"/>
                              <a:ea typeface="Times New Roman"/>
                              <a:cs typeface="Times New Roman"/>
                            </a:rPr>
                            <a:t> per lunch on ingredients and then adds a </a:t>
                          </a:r>
                          <a14:m>
                            <m:oMath xmlns:m="http://schemas.openxmlformats.org/officeDocument/2006/math">
                              <m:r>
                                <a:rPr lang="en-US" sz="2000" i="1">
                                  <a:effectLst/>
                                  <a:latin typeface="Cambria Math"/>
                                  <a:ea typeface="Times New Roman"/>
                                  <a:cs typeface="Times New Roman"/>
                                </a:rPr>
                                <m:t>110%</m:t>
                              </m:r>
                            </m:oMath>
                          </a14:m>
                          <a:r>
                            <a:rPr lang="en-US" sz="2000" dirty="0">
                              <a:effectLst/>
                              <a:latin typeface="Verdana"/>
                              <a:ea typeface="Times New Roman"/>
                              <a:cs typeface="Times New Roman"/>
                            </a:rPr>
                            <a:t> markup to sell. What is the selling price of one sandwich?</a:t>
                          </a:r>
                          <a:endParaRPr lang="en-US" sz="14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914400">
                    <a:tc>
                      <a:txBody>
                        <a:bodyPr/>
                        <a:lstStyle/>
                        <a:p>
                          <a:pPr marL="571500" indent="-571500">
                            <a:spcBef>
                              <a:spcPts val="900"/>
                            </a:spcBef>
                            <a:spcAft>
                              <a:spcPts val="0"/>
                            </a:spcAft>
                            <a:tabLst>
                              <a:tab pos="441960" algn="l"/>
                            </a:tabLst>
                          </a:pPr>
                          <a:r>
                            <a:rPr lang="en-US" sz="2000" dirty="0">
                              <a:effectLst/>
                              <a:latin typeface="Verdana"/>
                              <a:ea typeface="Times New Roman"/>
                              <a:cs typeface="Times New Roman"/>
                            </a:rPr>
                            <a:t>M3. It costs JS Surfboards </a:t>
                          </a:r>
                          <a14:m>
                            <m:oMath xmlns:m="http://schemas.openxmlformats.org/officeDocument/2006/math">
                              <m:r>
                                <a:rPr lang="en-US" sz="2000" i="1">
                                  <a:effectLst/>
                                  <a:latin typeface="Cambria Math"/>
                                  <a:ea typeface="Times New Roman"/>
                                  <a:cs typeface="Times New Roman"/>
                                </a:rPr>
                                <m:t>$225.00</m:t>
                              </m:r>
                            </m:oMath>
                          </a14:m>
                          <a:r>
                            <a:rPr lang="en-US" sz="2000" dirty="0">
                              <a:effectLst/>
                              <a:latin typeface="Verdana"/>
                              <a:ea typeface="Times New Roman"/>
                              <a:cs typeface="Times New Roman"/>
                            </a:rPr>
                            <a:t> in labor to make one Model S surfboard. The company marks up the surfboard </a:t>
                          </a:r>
                          <a14:m>
                            <m:oMath xmlns:m="http://schemas.openxmlformats.org/officeDocument/2006/math">
                              <m:r>
                                <a:rPr lang="en-US" sz="2000" i="1">
                                  <a:effectLst/>
                                  <a:latin typeface="Cambria Math"/>
                                  <a:ea typeface="Times New Roman"/>
                                  <a:cs typeface="Times New Roman"/>
                                </a:rPr>
                                <m:t>51%</m:t>
                              </m:r>
                            </m:oMath>
                          </a14:m>
                          <a:r>
                            <a:rPr lang="en-US" sz="2000" dirty="0">
                              <a:effectLst/>
                              <a:latin typeface="Verdana"/>
                              <a:ea typeface="Times New Roman"/>
                              <a:cs typeface="Times New Roman"/>
                            </a:rPr>
                            <a:t> to sell. What amount, in dollars, are Model S surfboards sold for?</a:t>
                          </a:r>
                          <a:endParaRPr lang="en-US" sz="14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2553781461"/>
                  </p:ext>
                </p:extLst>
              </p:nvPr>
            </p:nvGraphicFramePr>
            <p:xfrm>
              <a:off x="2237232" y="765720"/>
              <a:ext cx="7717536" cy="3779520"/>
            </p:xfrm>
            <a:graphic>
              <a:graphicData uri="http://schemas.openxmlformats.org/drawingml/2006/table">
                <a:tbl>
                  <a:tblPr firstRow="1" firstCol="1" bandRow="1"/>
                  <a:tblGrid>
                    <a:gridCol w="7717536">
                      <a:extLst>
                        <a:ext uri="{9D8B030D-6E8A-4147-A177-3AD203B41FA5}">
                          <a16:colId xmlns:a16="http://schemas.microsoft.com/office/drawing/2014/main"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Main Courses</a:t>
                          </a:r>
                          <a:endParaRPr lang="en-US" sz="14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4" t="-46835" r="-329" b="-243038"/>
                          </a:stretch>
                        </a:blipFill>
                      </a:tcPr>
                    </a:tc>
                    <a:extLst>
                      <a:ext uri="{0D108BD9-81ED-4DB2-BD59-A6C34878D82A}">
                        <a16:rowId xmlns:a16="http://schemas.microsoft.com/office/drawing/2014/main" val="10001"/>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4" t="-145000" r="-329" b="-140000"/>
                          </a:stretch>
                        </a:blipFill>
                      </a:tcPr>
                    </a:tc>
                    <a:extLst>
                      <a:ext uri="{0D108BD9-81ED-4DB2-BD59-A6C34878D82A}">
                        <a16:rowId xmlns:a16="http://schemas.microsoft.com/office/drawing/2014/main" val="10002"/>
                      </a:ext>
                    </a:extLst>
                  </a:tr>
                  <a:tr h="13106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4" t="-190291" r="-329" b="-8738"/>
                          </a:stretch>
                        </a:blipFill>
                      </a:tcPr>
                    </a:tc>
                    <a:extLst>
                      <a:ext uri="{0D108BD9-81ED-4DB2-BD59-A6C34878D82A}">
                        <a16:rowId xmlns:a16="http://schemas.microsoft.com/office/drawing/2014/main" val="10003"/>
                      </a:ext>
                    </a:extLst>
                  </a:tr>
                </a:tbl>
              </a:graphicData>
            </a:graphic>
          </p:graphicFrame>
        </mc:Fallback>
      </mc:AlternateContent>
      <p:pic>
        <p:nvPicPr>
          <p:cNvPr id="7"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316</a:t>
            </a:r>
            <a:endParaRPr i="1" dirty="0">
              <a:latin typeface="Calibri"/>
              <a:ea typeface="Calibri"/>
              <a:cs typeface="Calibri"/>
              <a:sym typeface="Calibri"/>
            </a:endParaRPr>
          </a:p>
        </p:txBody>
      </p:sp>
    </p:spTree>
    <p:extLst>
      <p:ext uri="{BB962C8B-B14F-4D97-AF65-F5344CB8AC3E}">
        <p14:creationId xmlns:p14="http://schemas.microsoft.com/office/powerpoint/2010/main" val="303764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2111789412"/>
                  </p:ext>
                </p:extLst>
              </p:nvPr>
            </p:nvGraphicFramePr>
            <p:xfrm>
              <a:off x="2231214" y="520700"/>
              <a:ext cx="7717536" cy="4175760"/>
            </p:xfrm>
            <a:graphic>
              <a:graphicData uri="http://schemas.openxmlformats.org/drawingml/2006/table">
                <a:tbl>
                  <a:tblPr firstRow="1" firstCol="1" bandRow="1"/>
                  <a:tblGrid>
                    <a:gridCol w="7717536">
                      <a:extLst>
                        <a:ext uri="{9D8B030D-6E8A-4147-A177-3AD203B41FA5}">
                          <a16:colId xmlns:a16="http://schemas.microsoft.com/office/drawing/2014/main" xmlns=""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Side Dishes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457200">
                    <a:tc>
                      <a:txBody>
                        <a:bodyPr/>
                        <a:lstStyle/>
                        <a:p>
                          <a:pPr marL="514350" indent="-514350">
                            <a:spcBef>
                              <a:spcPts val="900"/>
                            </a:spcBef>
                            <a:spcAft>
                              <a:spcPts val="0"/>
                            </a:spcAft>
                            <a:tabLst>
                              <a:tab pos="441960" algn="l"/>
                            </a:tabLst>
                          </a:pPr>
                          <a:r>
                            <a:rPr lang="en-US" sz="2000" dirty="0">
                              <a:effectLst/>
                              <a:latin typeface="Verdana"/>
                              <a:ea typeface="Times New Roman"/>
                              <a:cs typeface="Times New Roman"/>
                            </a:rPr>
                            <a:t>S1. A concert ticket is on sale for </a:t>
                          </a:r>
                          <a14:m>
                            <m:oMath xmlns:m="http://schemas.openxmlformats.org/officeDocument/2006/math">
                              <m:r>
                                <a:rPr lang="en-US" sz="2000" i="1">
                                  <a:effectLst/>
                                  <a:latin typeface="Cambria Math"/>
                                  <a:ea typeface="Times New Roman"/>
                                  <a:cs typeface="Times New Roman"/>
                                </a:rPr>
                                <m:t>$129</m:t>
                              </m:r>
                            </m:oMath>
                          </a14:m>
                          <a:r>
                            <a:rPr lang="en-US" sz="2000" dirty="0">
                              <a:effectLst/>
                              <a:latin typeface="Verdana"/>
                              <a:ea typeface="Times New Roman"/>
                              <a:cs typeface="Times New Roman"/>
                            </a:rPr>
                            <a:t>. The sign says </a:t>
                          </a:r>
                          <a14:m>
                            <m:oMath xmlns:m="http://schemas.openxmlformats.org/officeDocument/2006/math">
                              <m:r>
                                <a:rPr lang="en-US" sz="2000" i="1">
                                  <a:effectLst/>
                                  <a:latin typeface="Cambria Math"/>
                                  <a:ea typeface="Times New Roman"/>
                                  <a:cs typeface="Times New Roman"/>
                                </a:rPr>
                                <m:t>14%</m:t>
                              </m:r>
                            </m:oMath>
                          </a14:m>
                          <a:r>
                            <a:rPr lang="en-US" sz="2000" dirty="0">
                              <a:effectLst/>
                              <a:latin typeface="Verdana"/>
                              <a:ea typeface="Times New Roman"/>
                              <a:cs typeface="Times New Roman"/>
                            </a:rPr>
                            <a:t> off the original price. What was the original price of the ticket?</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pPr marL="514350" indent="-514350">
                            <a:spcBef>
                              <a:spcPts val="900"/>
                            </a:spcBef>
                            <a:spcAft>
                              <a:spcPts val="0"/>
                            </a:spcAft>
                          </a:pPr>
                          <a:r>
                            <a:rPr lang="en-US" sz="2000" dirty="0">
                              <a:effectLst/>
                              <a:latin typeface="Verdana"/>
                              <a:ea typeface="Times New Roman"/>
                              <a:cs typeface="Times New Roman"/>
                            </a:rPr>
                            <a:t>S2. A scientific calculator is </a:t>
                          </a:r>
                          <a14:m>
                            <m:oMath xmlns:m="http://schemas.openxmlformats.org/officeDocument/2006/math">
                              <m:r>
                                <a:rPr lang="en-US" sz="2000" i="1">
                                  <a:effectLst/>
                                  <a:latin typeface="Cambria Math"/>
                                  <a:ea typeface="Times New Roman"/>
                                  <a:cs typeface="Times New Roman"/>
                                </a:rPr>
                                <m:t>15%</m:t>
                              </m:r>
                            </m:oMath>
                          </a14:m>
                          <a:r>
                            <a:rPr lang="en-US" sz="2000" dirty="0">
                              <a:effectLst/>
                              <a:latin typeface="Verdana"/>
                              <a:ea typeface="Times New Roman"/>
                              <a:cs typeface="Times New Roman"/>
                            </a:rPr>
                            <a:t> off. The sale price of the calculator is </a:t>
                          </a:r>
                          <a14:m>
                            <m:oMath xmlns:m="http://schemas.openxmlformats.org/officeDocument/2006/math">
                              <m:r>
                                <a:rPr lang="en-US" sz="2000" i="1">
                                  <a:effectLst/>
                                  <a:latin typeface="Cambria Math"/>
                                  <a:ea typeface="Times New Roman"/>
                                  <a:cs typeface="Times New Roman"/>
                                </a:rPr>
                                <m:t>$13.99</m:t>
                              </m:r>
                            </m:oMath>
                          </a14:m>
                          <a:r>
                            <a:rPr lang="en-US" sz="2000" dirty="0">
                              <a:effectLst/>
                              <a:latin typeface="Verdana"/>
                              <a:ea typeface="Times New Roman"/>
                              <a:cs typeface="Times New Roman"/>
                            </a:rPr>
                            <a:t>. What is the original cost of the calculator?</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57200">
                    <a:tc>
                      <a:txBody>
                        <a:bodyPr/>
                        <a:lstStyle/>
                        <a:p>
                          <a:pPr marL="514350" indent="-514350">
                            <a:spcBef>
                              <a:spcPts val="900"/>
                            </a:spcBef>
                            <a:spcAft>
                              <a:spcPts val="0"/>
                            </a:spcAft>
                          </a:pPr>
                          <a:r>
                            <a:rPr lang="en-US" sz="2000" dirty="0">
                              <a:effectLst/>
                              <a:latin typeface="Verdana"/>
                              <a:ea typeface="Times New Roman"/>
                              <a:cs typeface="Times New Roman"/>
                            </a:rPr>
                            <a:t>S3. The price of an apple is </a:t>
                          </a:r>
                          <a14:m>
                            <m:oMath xmlns:m="http://schemas.openxmlformats.org/officeDocument/2006/math">
                              <m:r>
                                <a:rPr lang="en-US" sz="2000" i="1">
                                  <a:effectLst/>
                                  <a:latin typeface="Cambria Math"/>
                                  <a:ea typeface="Times New Roman"/>
                                  <a:cs typeface="Times New Roman"/>
                                </a:rPr>
                                <m:t>$1.25</m:t>
                              </m:r>
                            </m:oMath>
                          </a14:m>
                          <a:r>
                            <a:rPr lang="en-US" sz="2000" dirty="0">
                              <a:effectLst/>
                              <a:latin typeface="Verdana"/>
                              <a:ea typeface="Times New Roman"/>
                              <a:cs typeface="Times New Roman"/>
                            </a:rPr>
                            <a:t>. If you get a </a:t>
                          </a:r>
                          <a14:m>
                            <m:oMath xmlns:m="http://schemas.openxmlformats.org/officeDocument/2006/math">
                              <m:r>
                                <a:rPr lang="en-US" sz="2000" i="1">
                                  <a:effectLst/>
                                  <a:latin typeface="Cambria Math"/>
                                  <a:ea typeface="Times New Roman"/>
                                  <a:cs typeface="Times New Roman"/>
                                </a:rPr>
                                <m:t>10%</m:t>
                              </m:r>
                            </m:oMath>
                          </a14:m>
                          <a:r>
                            <a:rPr lang="en-US" sz="2000" dirty="0">
                              <a:effectLst/>
                              <a:latin typeface="Verdana"/>
                              <a:ea typeface="Times New Roman"/>
                              <a:cs typeface="Times New Roman"/>
                            </a:rPr>
                            <a:t> discount, how much do you have to pay?</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457200">
                    <a:tc>
                      <a:txBody>
                        <a:bodyPr/>
                        <a:lstStyle/>
                        <a:p>
                          <a:pPr marL="498475" indent="-498475">
                            <a:spcBef>
                              <a:spcPts val="900"/>
                            </a:spcBef>
                            <a:spcAft>
                              <a:spcPts val="0"/>
                            </a:spcAft>
                          </a:pPr>
                          <a:r>
                            <a:rPr lang="en-US" sz="2000" dirty="0">
                              <a:effectLst/>
                              <a:latin typeface="Verdana"/>
                              <a:ea typeface="Times New Roman"/>
                              <a:cs typeface="Times New Roman"/>
                            </a:rPr>
                            <a:t>S4. </a:t>
                          </a:r>
                          <a:r>
                            <a:rPr lang="en-US" sz="2000" dirty="0" err="1">
                              <a:effectLst/>
                              <a:latin typeface="Verdana"/>
                              <a:ea typeface="Times New Roman"/>
                              <a:cs typeface="Times New Roman"/>
                            </a:rPr>
                            <a:t>Teena</a:t>
                          </a:r>
                          <a:r>
                            <a:rPr lang="en-US" sz="2000" dirty="0">
                              <a:effectLst/>
                              <a:latin typeface="Verdana"/>
                              <a:ea typeface="Times New Roman"/>
                              <a:cs typeface="Times New Roman"/>
                            </a:rPr>
                            <a:t> bought a bicycle for </a:t>
                          </a:r>
                          <a14:m>
                            <m:oMath xmlns:m="http://schemas.openxmlformats.org/officeDocument/2006/math">
                              <m:r>
                                <a:rPr lang="en-US" sz="2000" i="1">
                                  <a:effectLst/>
                                  <a:latin typeface="Cambria Math"/>
                                  <a:ea typeface="Times New Roman"/>
                                  <a:cs typeface="Times New Roman"/>
                                </a:rPr>
                                <m:t>$528</m:t>
                              </m:r>
                            </m:oMath>
                          </a14:m>
                          <a:r>
                            <a:rPr lang="en-US" sz="2000" dirty="0">
                              <a:effectLst/>
                              <a:latin typeface="Verdana"/>
                              <a:ea typeface="Times New Roman"/>
                              <a:cs typeface="Times New Roman"/>
                            </a:rPr>
                            <a:t> after getting a discount of </a:t>
                          </a:r>
                          <a14:m>
                            <m:oMath xmlns:m="http://schemas.openxmlformats.org/officeDocument/2006/math">
                              <m:r>
                                <a:rPr lang="en-US" sz="2000" i="1">
                                  <a:effectLst/>
                                  <a:latin typeface="Cambria Math"/>
                                  <a:ea typeface="Times New Roman"/>
                                  <a:cs typeface="Times New Roman"/>
                                </a:rPr>
                                <m:t>12%</m:t>
                              </m:r>
                            </m:oMath>
                          </a14:m>
                          <a:r>
                            <a:rPr lang="en-US" sz="2000" dirty="0">
                              <a:effectLst/>
                              <a:latin typeface="Verdana"/>
                              <a:ea typeface="Times New Roman"/>
                              <a:cs typeface="Times New Roman"/>
                            </a:rPr>
                            <a:t> taken off its normal price. Find the normal price of the bicycle. </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2111789412"/>
                  </p:ext>
                </p:extLst>
              </p:nvPr>
            </p:nvGraphicFramePr>
            <p:xfrm>
              <a:off x="2231214" y="520700"/>
              <a:ext cx="7717536" cy="4175760"/>
            </p:xfrm>
            <a:graphic>
              <a:graphicData uri="http://schemas.openxmlformats.org/drawingml/2006/table">
                <a:tbl>
                  <a:tblPr firstRow="1" firstCol="1" bandRow="1"/>
                  <a:tblGrid>
                    <a:gridCol w="7717536">
                      <a:extLst>
                        <a:ext uri="{9D8B030D-6E8A-4147-A177-3AD203B41FA5}">
                          <a16:colId xmlns:a16="http://schemas.microsoft.com/office/drawing/2014/main"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Side Dishes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64" t="-48101" r="-328" b="-282278"/>
                          </a:stretch>
                        </a:blipFill>
                      </a:tcPr>
                    </a:tc>
                    <a:extLst>
                      <a:ext uri="{0D108BD9-81ED-4DB2-BD59-A6C34878D82A}">
                        <a16:rowId xmlns:a16="http://schemas.microsoft.com/office/drawing/2014/main" val="10001"/>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64" t="-146250" r="-328" b="-178750"/>
                          </a:stretch>
                        </a:blipFill>
                      </a:tcPr>
                    </a:tc>
                    <a:extLst>
                      <a:ext uri="{0D108BD9-81ED-4DB2-BD59-A6C34878D82A}">
                        <a16:rowId xmlns:a16="http://schemas.microsoft.com/office/drawing/2014/main" val="10002"/>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64" t="-358182" r="-328" b="-160000"/>
                          </a:stretch>
                        </a:blipFill>
                      </a:tcPr>
                    </a:tc>
                    <a:extLst>
                      <a:ext uri="{0D108BD9-81ED-4DB2-BD59-A6C34878D82A}">
                        <a16:rowId xmlns:a16="http://schemas.microsoft.com/office/drawing/2014/main" val="10003"/>
                      </a:ext>
                    </a:extLst>
                  </a:tr>
                  <a:tr h="10058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3"/>
                          <a:stretch>
                            <a:fillRect l="-164" t="-318987" r="-328" b="-11392"/>
                          </a:stretch>
                        </a:blipFill>
                      </a:tcPr>
                    </a:tc>
                    <a:extLst>
                      <a:ext uri="{0D108BD9-81ED-4DB2-BD59-A6C34878D82A}">
                        <a16:rowId xmlns:a16="http://schemas.microsoft.com/office/drawing/2014/main" val="10004"/>
                      </a:ext>
                    </a:extLst>
                  </a:tr>
                </a:tbl>
              </a:graphicData>
            </a:graphic>
          </p:graphicFrame>
        </mc:Fallback>
      </mc:AlternateContent>
      <p:sp>
        <p:nvSpPr>
          <p:cNvPr id="6" name="Google Shape;278;g104476d1465_1_17">
            <a:extLst>
              <a:ext uri="{FF2B5EF4-FFF2-40B4-BE49-F238E27FC236}">
                <a16:creationId xmlns:a16="http://schemas.microsoft.com/office/drawing/2014/main" xmlns="" id="{307FF70B-9DD6-5740-B43B-698B43CC299B}"/>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7"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317</a:t>
            </a:r>
            <a:endParaRPr i="1" dirty="0">
              <a:latin typeface="Calibri"/>
              <a:ea typeface="Calibri"/>
              <a:cs typeface="Calibri"/>
              <a:sym typeface="Calibri"/>
            </a:endParaRPr>
          </a:p>
        </p:txBody>
      </p:sp>
    </p:spTree>
    <p:extLst>
      <p:ext uri="{BB962C8B-B14F-4D97-AF65-F5344CB8AC3E}">
        <p14:creationId xmlns:p14="http://schemas.microsoft.com/office/powerpoint/2010/main" val="2259311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307FF70B-9DD6-5740-B43B-698B43CC299B}"/>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144887027"/>
                  </p:ext>
                </p:extLst>
              </p:nvPr>
            </p:nvGraphicFramePr>
            <p:xfrm>
              <a:off x="2231214" y="520393"/>
              <a:ext cx="7717536" cy="2773680"/>
            </p:xfrm>
            <a:graphic>
              <a:graphicData uri="http://schemas.openxmlformats.org/drawingml/2006/table">
                <a:tbl>
                  <a:tblPr firstRow="1" firstCol="1" bandRow="1"/>
                  <a:tblGrid>
                    <a:gridCol w="7717536">
                      <a:extLst>
                        <a:ext uri="{9D8B030D-6E8A-4147-A177-3AD203B41FA5}">
                          <a16:colId xmlns:a16="http://schemas.microsoft.com/office/drawing/2014/main" xmlns=""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Desserts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457200">
                    <a:tc>
                      <a:txBody>
                        <a:bodyPr/>
                        <a:lstStyle/>
                        <a:p>
                          <a:pPr marL="514350" indent="-514350">
                            <a:spcBef>
                              <a:spcPts val="900"/>
                            </a:spcBef>
                            <a:spcAft>
                              <a:spcPts val="0"/>
                            </a:spcAft>
                          </a:pPr>
                          <a:r>
                            <a:rPr lang="en-US" sz="2000" dirty="0">
                              <a:effectLst/>
                              <a:latin typeface="Verdana"/>
                              <a:ea typeface="Times New Roman"/>
                              <a:cs typeface="Times New Roman"/>
                            </a:rPr>
                            <a:t>D1. A store sells notebooks for </a:t>
                          </a:r>
                          <a14:m>
                            <m:oMath xmlns:m="http://schemas.openxmlformats.org/officeDocument/2006/math">
                              <m:r>
                                <a:rPr lang="en-US" sz="2000" i="1">
                                  <a:effectLst/>
                                  <a:latin typeface="Cambria Math"/>
                                  <a:ea typeface="Times New Roman"/>
                                  <a:cs typeface="Times New Roman"/>
                                </a:rPr>
                                <m:t>$1.60 </m:t>
                              </m:r>
                            </m:oMath>
                          </a14:m>
                          <a:r>
                            <a:rPr lang="en-US" sz="2000" dirty="0">
                              <a:effectLst/>
                              <a:latin typeface="Verdana"/>
                              <a:ea typeface="Times New Roman"/>
                              <a:cs typeface="Times New Roman"/>
                            </a:rPr>
                            <a:t>after a </a:t>
                          </a:r>
                          <a14:m>
                            <m:oMath xmlns:m="http://schemas.openxmlformats.org/officeDocument/2006/math">
                              <m:f>
                                <m:fPr>
                                  <m:type m:val="skw"/>
                                  <m:ctrlPr>
                                    <a:rPr lang="en-US" sz="2000" i="1">
                                      <a:effectLst/>
                                      <a:latin typeface="Cambria Math"/>
                                      <a:ea typeface="Times New Roman"/>
                                      <a:cs typeface="Times New Roman"/>
                                    </a:rPr>
                                  </m:ctrlPr>
                                </m:fPr>
                                <m:num>
                                  <m:r>
                                    <a:rPr lang="en-US" sz="2000" i="1">
                                      <a:effectLst/>
                                      <a:latin typeface="Cambria Math"/>
                                      <a:ea typeface="Times New Roman"/>
                                      <a:cs typeface="Times New Roman"/>
                                    </a:rPr>
                                    <m:t>3</m:t>
                                  </m:r>
                                </m:num>
                                <m:den>
                                  <m:r>
                                    <a:rPr lang="en-US" sz="2000" i="1">
                                      <a:effectLst/>
                                      <a:latin typeface="Cambria Math"/>
                                      <a:ea typeface="Times New Roman"/>
                                      <a:cs typeface="Times New Roman"/>
                                    </a:rPr>
                                    <m:t>10</m:t>
                                  </m:r>
                                </m:den>
                              </m:f>
                            </m:oMath>
                          </a14:m>
                          <a:r>
                            <a:rPr lang="en-US" sz="2000" dirty="0">
                              <a:effectLst/>
                              <a:latin typeface="Verdana"/>
                              <a:ea typeface="Times New Roman"/>
                              <a:cs typeface="Times New Roman"/>
                            </a:rPr>
                            <a:t> markup. How much is the markup?</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851207">
                    <a:tc>
                      <a:txBody>
                        <a:bodyPr/>
                        <a:lstStyle/>
                        <a:p>
                          <a:pPr marL="571500" indent="-571500">
                            <a:spcBef>
                              <a:spcPts val="900"/>
                            </a:spcBef>
                            <a:spcAft>
                              <a:spcPts val="0"/>
                            </a:spcAft>
                          </a:pPr>
                          <a:r>
                            <a:rPr lang="en-US" sz="2000" dirty="0">
                              <a:effectLst/>
                              <a:latin typeface="Verdana"/>
                              <a:ea typeface="Times New Roman"/>
                              <a:cs typeface="Times New Roman"/>
                            </a:rPr>
                            <a:t>D2. </a:t>
                          </a:r>
                          <a:r>
                            <a:rPr lang="en-US" sz="2000" dirty="0" err="1">
                              <a:effectLst/>
                              <a:latin typeface="Verdana"/>
                              <a:ea typeface="Times New Roman"/>
                              <a:cs typeface="Times New Roman"/>
                            </a:rPr>
                            <a:t>Burgermonster</a:t>
                          </a:r>
                          <a:r>
                            <a:rPr lang="en-US" sz="2000" dirty="0">
                              <a:effectLst/>
                              <a:latin typeface="Verdana"/>
                              <a:ea typeface="Times New Roman"/>
                              <a:cs typeface="Times New Roman"/>
                            </a:rPr>
                            <a:t> sells its burgers for </a:t>
                          </a:r>
                          <a14:m>
                            <m:oMath xmlns:m="http://schemas.openxmlformats.org/officeDocument/2006/math">
                              <m:r>
                                <a:rPr lang="en-US" sz="2000" i="1">
                                  <a:effectLst/>
                                  <a:latin typeface="Cambria Math"/>
                                  <a:ea typeface="Times New Roman"/>
                                  <a:cs typeface="Times New Roman"/>
                                </a:rPr>
                                <m:t>$1.84</m:t>
                              </m:r>
                            </m:oMath>
                          </a14:m>
                          <a:r>
                            <a:rPr lang="en-US" sz="2000" dirty="0">
                              <a:effectLst/>
                              <a:latin typeface="Verdana"/>
                              <a:ea typeface="Times New Roman"/>
                              <a:cs typeface="Times New Roman"/>
                            </a:rPr>
                            <a:t>. To determine the selling price, the restaurant added a markup of </a:t>
                          </a:r>
                          <a14:m>
                            <m:oMath xmlns:m="http://schemas.openxmlformats.org/officeDocument/2006/math">
                              <m:f>
                                <m:fPr>
                                  <m:type m:val="skw"/>
                                  <m:ctrlPr>
                                    <a:rPr lang="en-US" sz="2000" i="1">
                                      <a:effectLst/>
                                      <a:latin typeface="Cambria Math"/>
                                      <a:ea typeface="Times New Roman"/>
                                      <a:cs typeface="Times New Roman"/>
                                    </a:rPr>
                                  </m:ctrlPr>
                                </m:fPr>
                                <m:num>
                                  <m:r>
                                    <a:rPr lang="en-US" sz="2000" i="1">
                                      <a:effectLst/>
                                      <a:latin typeface="Cambria Math"/>
                                      <a:ea typeface="Times New Roman"/>
                                      <a:cs typeface="Times New Roman"/>
                                    </a:rPr>
                                    <m:t>23</m:t>
                                  </m:r>
                                </m:num>
                                <m:den>
                                  <m:r>
                                    <a:rPr lang="en-US" sz="2000" i="1">
                                      <a:effectLst/>
                                      <a:latin typeface="Cambria Math"/>
                                      <a:ea typeface="Times New Roman"/>
                                      <a:cs typeface="Times New Roman"/>
                                    </a:rPr>
                                    <m:t>10</m:t>
                                  </m:r>
                                </m:den>
                              </m:f>
                            </m:oMath>
                          </a14:m>
                          <a:r>
                            <a:rPr lang="en-US" sz="2000" dirty="0">
                              <a:effectLst/>
                              <a:latin typeface="Verdana"/>
                              <a:ea typeface="Times New Roman"/>
                              <a:cs typeface="Times New Roman"/>
                            </a:rPr>
                            <a:t> to the cost of the ingredients used to make a single burger. What is the cost </a:t>
                          </a:r>
                          <a:r>
                            <a:rPr lang="en-US" sz="2000" dirty="0" err="1">
                              <a:effectLst/>
                              <a:latin typeface="Verdana"/>
                              <a:ea typeface="Times New Roman"/>
                              <a:cs typeface="Times New Roman"/>
                            </a:rPr>
                            <a:t>Burgermonster</a:t>
                          </a:r>
                          <a:r>
                            <a:rPr lang="en-US" sz="2000" dirty="0">
                              <a:effectLst/>
                              <a:latin typeface="Verdana"/>
                              <a:ea typeface="Times New Roman"/>
                              <a:cs typeface="Times New Roman"/>
                            </a:rPr>
                            <a:t> pays for ingredients?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144887027"/>
                  </p:ext>
                </p:extLst>
              </p:nvPr>
            </p:nvGraphicFramePr>
            <p:xfrm>
              <a:off x="2231214" y="520393"/>
              <a:ext cx="7717536" cy="2773680"/>
            </p:xfrm>
            <a:graphic>
              <a:graphicData uri="http://schemas.openxmlformats.org/drawingml/2006/table">
                <a:tbl>
                  <a:tblPr firstRow="1" firstCol="1" bandRow="1"/>
                  <a:tblGrid>
                    <a:gridCol w="7717536">
                      <a:extLst>
                        <a:ext uri="{9D8B030D-6E8A-4147-A177-3AD203B41FA5}">
                          <a16:colId xmlns:a16="http://schemas.microsoft.com/office/drawing/2014/main"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Desserts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0000"/>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4" t="-66071" r="-328" b="-248214"/>
                          </a:stretch>
                        </a:blipFill>
                      </a:tcPr>
                    </a:tc>
                    <a:extLst>
                      <a:ext uri="{0D108BD9-81ED-4DB2-BD59-A6C34878D82A}">
                        <a16:rowId xmlns:a16="http://schemas.microsoft.com/office/drawing/2014/main" val="10001"/>
                      </a:ext>
                    </a:extLst>
                  </a:tr>
                  <a:tr h="16154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64" t="-72656" r="-328" b="-8594"/>
                          </a:stretch>
                        </a:blipFill>
                      </a:tcPr>
                    </a:tc>
                    <a:extLst>
                      <a:ext uri="{0D108BD9-81ED-4DB2-BD59-A6C34878D82A}">
                        <a16:rowId xmlns:a16="http://schemas.microsoft.com/office/drawing/2014/main" val="10002"/>
                      </a:ext>
                    </a:extLst>
                  </a:tr>
                </a:tbl>
              </a:graphicData>
            </a:graphic>
          </p:graphicFrame>
        </mc:Fallback>
      </mc:AlternateContent>
      <p:pic>
        <p:nvPicPr>
          <p:cNvPr id="8" name="Google Shape;156;g104476d1465_1_39"/>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317</a:t>
            </a:r>
            <a:endParaRPr i="1" dirty="0">
              <a:latin typeface="Calibri"/>
              <a:ea typeface="Calibri"/>
              <a:cs typeface="Calibri"/>
              <a:sym typeface="Calibri"/>
            </a:endParaRPr>
          </a:p>
        </p:txBody>
      </p:sp>
    </p:spTree>
    <p:extLst>
      <p:ext uri="{BB962C8B-B14F-4D97-AF65-F5344CB8AC3E}">
        <p14:creationId xmlns:p14="http://schemas.microsoft.com/office/powerpoint/2010/main" val="1795868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307FF70B-9DD6-5740-B43B-698B43CC299B}"/>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3" name="Table 2"/>
          <p:cNvGraphicFramePr>
            <a:graphicFrameLocks noGrp="1"/>
          </p:cNvGraphicFramePr>
          <p:nvPr>
            <p:extLst>
              <p:ext uri="{D42A27DB-BD31-4B8C-83A1-F6EECF244321}">
                <p14:modId xmlns:p14="http://schemas.microsoft.com/office/powerpoint/2010/main" val="3652233443"/>
              </p:ext>
            </p:extLst>
          </p:nvPr>
        </p:nvGraphicFramePr>
        <p:xfrm>
          <a:off x="2231214" y="552450"/>
          <a:ext cx="7717536" cy="5486400"/>
        </p:xfrm>
        <a:graphic>
          <a:graphicData uri="http://schemas.openxmlformats.org/drawingml/2006/table">
            <a:tbl>
              <a:tblPr firstRow="1" firstCol="1" bandRow="1"/>
              <a:tblGrid>
                <a:gridCol w="7717536">
                  <a:extLst>
                    <a:ext uri="{9D8B030D-6E8A-4147-A177-3AD203B41FA5}">
                      <a16:colId xmlns:a16="http://schemas.microsoft.com/office/drawing/2014/main" xmlns=""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Appetizer Selection Work and Answer</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2286000">
                <a:tc>
                  <a:txBody>
                    <a:bodyPr/>
                    <a:lstStyle/>
                    <a:p>
                      <a:pPr>
                        <a:spcBef>
                          <a:spcPts val="900"/>
                        </a:spcBef>
                        <a:spcAft>
                          <a:spcPts val="0"/>
                        </a:spcAft>
                      </a:pPr>
                      <a:r>
                        <a:rPr lang="en-US" sz="2000" dirty="0">
                          <a:effectLst/>
                          <a:latin typeface="Verdana"/>
                          <a:ea typeface="Times New Roman"/>
                          <a:cs typeface="Times New Roman"/>
                        </a:rPr>
                        <a:t> </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pPr algn="ctr">
                        <a:spcBef>
                          <a:spcPts val="900"/>
                        </a:spcBef>
                        <a:spcAft>
                          <a:spcPts val="0"/>
                        </a:spcAft>
                      </a:pPr>
                      <a:r>
                        <a:rPr lang="en-US" sz="2000" b="1" dirty="0">
                          <a:effectLst/>
                          <a:latin typeface="Verdana"/>
                          <a:ea typeface="Times New Roman"/>
                          <a:cs typeface="Times New Roman"/>
                        </a:rPr>
                        <a:t>Main Course Selection Work and Answer</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2"/>
                  </a:ext>
                </a:extLst>
              </a:tr>
              <a:tr h="2286000">
                <a:tc>
                  <a:txBody>
                    <a:bodyPr/>
                    <a:lstStyle/>
                    <a:p>
                      <a:pPr algn="ctr">
                        <a:spcBef>
                          <a:spcPts val="900"/>
                        </a:spcBef>
                        <a:spcAft>
                          <a:spcPts val="0"/>
                        </a:spcAft>
                      </a:pP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pic>
        <p:nvPicPr>
          <p:cNvPr id="8"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317</a:t>
            </a:r>
            <a:endParaRPr i="1" dirty="0">
              <a:latin typeface="Calibri"/>
              <a:ea typeface="Calibri"/>
              <a:cs typeface="Calibri"/>
              <a:sym typeface="Calibri"/>
            </a:endParaRPr>
          </a:p>
        </p:txBody>
      </p:sp>
    </p:spTree>
    <p:extLst>
      <p:ext uri="{BB962C8B-B14F-4D97-AF65-F5344CB8AC3E}">
        <p14:creationId xmlns:p14="http://schemas.microsoft.com/office/powerpoint/2010/main" val="27035208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278;g104476d1465_1_17">
            <a:extLst>
              <a:ext uri="{FF2B5EF4-FFF2-40B4-BE49-F238E27FC236}">
                <a16:creationId xmlns:a16="http://schemas.microsoft.com/office/drawing/2014/main" xmlns="" id="{307FF70B-9DD6-5740-B43B-698B43CC299B}"/>
              </a:ext>
            </a:extLst>
          </p:cNvPr>
          <p:cNvSpPr/>
          <p:nvPr/>
        </p:nvSpPr>
        <p:spPr>
          <a:xfrm>
            <a:off x="0" y="-8225"/>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graphicFrame>
        <p:nvGraphicFramePr>
          <p:cNvPr id="3" name="Table 2"/>
          <p:cNvGraphicFramePr>
            <a:graphicFrameLocks noGrp="1"/>
          </p:cNvGraphicFramePr>
          <p:nvPr>
            <p:extLst>
              <p:ext uri="{D42A27DB-BD31-4B8C-83A1-F6EECF244321}">
                <p14:modId xmlns:p14="http://schemas.microsoft.com/office/powerpoint/2010/main" val="1563724240"/>
              </p:ext>
            </p:extLst>
          </p:nvPr>
        </p:nvGraphicFramePr>
        <p:xfrm>
          <a:off x="2231214" y="552450"/>
          <a:ext cx="7717536" cy="5486400"/>
        </p:xfrm>
        <a:graphic>
          <a:graphicData uri="http://schemas.openxmlformats.org/drawingml/2006/table">
            <a:tbl>
              <a:tblPr firstRow="1" firstCol="1" bandRow="1"/>
              <a:tblGrid>
                <a:gridCol w="7717536">
                  <a:extLst>
                    <a:ext uri="{9D8B030D-6E8A-4147-A177-3AD203B41FA5}">
                      <a16:colId xmlns:a16="http://schemas.microsoft.com/office/drawing/2014/main" xmlns="" val="20000"/>
                    </a:ext>
                  </a:extLst>
                </a:gridCol>
              </a:tblGrid>
              <a:tr h="457200">
                <a:tc>
                  <a:txBody>
                    <a:bodyPr/>
                    <a:lstStyle/>
                    <a:p>
                      <a:pPr algn="ctr">
                        <a:spcBef>
                          <a:spcPts val="900"/>
                        </a:spcBef>
                        <a:spcAft>
                          <a:spcPts val="0"/>
                        </a:spcAft>
                      </a:pPr>
                      <a:r>
                        <a:rPr lang="en-US" sz="2000" b="1" dirty="0">
                          <a:effectLst/>
                          <a:latin typeface="Verdana"/>
                          <a:ea typeface="Times New Roman"/>
                          <a:cs typeface="Times New Roman"/>
                        </a:rPr>
                        <a:t>Side Dish Selection Work and Answers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0"/>
                  </a:ext>
                </a:extLst>
              </a:tr>
              <a:tr h="2286000">
                <a:tc>
                  <a:txBody>
                    <a:bodyPr/>
                    <a:lstStyle/>
                    <a:p>
                      <a:pPr>
                        <a:spcAft>
                          <a:spcPts val="0"/>
                        </a:spcAft>
                      </a:pPr>
                      <a:r>
                        <a:rPr lang="en-US" sz="2000" dirty="0">
                          <a:effectLst/>
                          <a:latin typeface="Verdana"/>
                        </a:rPr>
                        <a:t> </a:t>
                      </a:r>
                      <a:endParaRPr lang="en-US" sz="2000" dirty="0">
                        <a:effectLst/>
                        <a:latin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57200">
                <a:tc>
                  <a:txBody>
                    <a:bodyPr/>
                    <a:lstStyle/>
                    <a:p>
                      <a:pPr algn="ctr">
                        <a:spcBef>
                          <a:spcPts val="900"/>
                        </a:spcBef>
                        <a:spcAft>
                          <a:spcPts val="0"/>
                        </a:spcAft>
                      </a:pPr>
                      <a:r>
                        <a:rPr lang="en-US" sz="2000" b="1" dirty="0">
                          <a:effectLst/>
                          <a:latin typeface="Verdana"/>
                          <a:ea typeface="Times New Roman"/>
                          <a:cs typeface="Times New Roman"/>
                        </a:rPr>
                        <a:t>Dessert Selection Work and Answers</a:t>
                      </a:r>
                      <a:endParaRPr lang="en-US" sz="2000" dirty="0">
                        <a:effectLst/>
                        <a:latin typeface="Cambria"/>
                        <a:ea typeface="Times New Roman"/>
                        <a:cs typeface="Times New Roman"/>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xmlns="" val="10002"/>
                  </a:ext>
                </a:extLst>
              </a:tr>
              <a:tr h="2286000">
                <a:tc>
                  <a:txBody>
                    <a:bodyPr/>
                    <a:lstStyle/>
                    <a:p>
                      <a:pPr>
                        <a:spcAft>
                          <a:spcPts val="0"/>
                        </a:spcAft>
                      </a:pPr>
                      <a:r>
                        <a:rPr lang="en-US" sz="2000" dirty="0">
                          <a:effectLst/>
                          <a:latin typeface="Verdana"/>
                        </a:rPr>
                        <a:t> </a:t>
                      </a:r>
                      <a:endParaRPr lang="en-US" sz="2000" dirty="0">
                        <a:effectLst/>
                        <a:latin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pic>
        <p:nvPicPr>
          <p:cNvPr id="8" name="Google Shape;156;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318</a:t>
            </a:r>
            <a:endParaRPr i="1" dirty="0">
              <a:latin typeface="Calibri"/>
              <a:ea typeface="Calibri"/>
              <a:cs typeface="Calibri"/>
              <a:sym typeface="Calibri"/>
            </a:endParaRPr>
          </a:p>
        </p:txBody>
      </p:sp>
    </p:spTree>
    <p:extLst>
      <p:ext uri="{BB962C8B-B14F-4D97-AF65-F5344CB8AC3E}">
        <p14:creationId xmlns:p14="http://schemas.microsoft.com/office/powerpoint/2010/main" val="17762271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pic>
        <p:nvPicPr>
          <p:cNvPr id="9" name="Google Shape;156;g104476d1465_1_39"/>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318</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 name="Picture 9" descr="Splatter pack 2 - Download Free Vector Art, Stock Graphics ..."/>
          <p:cNvPicPr/>
          <p:nvPr/>
        </p:nvPicPr>
        <p:blipFill>
          <a:blip r:embed="rId3">
            <a:alphaModFix amt="35000"/>
            <a:extLst>
              <a:ext uri="{28A0092B-C50C-407E-A947-70E740481C1C}">
                <a14:useLocalDpi xmlns:a14="http://schemas.microsoft.com/office/drawing/2010/main"/>
              </a:ext>
              <a:ext uri="{837473B0-CC2E-450A-ABE3-18F120FF3D39}">
                <a1611:picAttrSrcUrl xmlns:a1611="http://schemas.microsoft.com/office/drawing/2016/11/main" xmlns="" r:id="rId4"/>
              </a:ext>
            </a:extLst>
          </a:blip>
          <a:stretch>
            <a:fillRect/>
          </a:stretch>
        </p:blipFill>
        <p:spPr>
          <a:xfrm>
            <a:off x="3606798" y="2586355"/>
            <a:ext cx="4473575" cy="3128374"/>
          </a:xfrm>
          <a:prstGeom prst="rect">
            <a:avLst/>
          </a:prstGeom>
        </p:spPr>
      </p:pic>
      <p:sp>
        <p:nvSpPr>
          <p:cNvPr id="8" name="Google Shape;278;g104476d1465_1_17">
            <a:extLst>
              <a:ext uri="{FF2B5EF4-FFF2-40B4-BE49-F238E27FC236}">
                <a16:creationId xmlns:a16="http://schemas.microsoft.com/office/drawing/2014/main" xmlns="" id="{C9825640-5649-F74D-866E-EC8F188D5640}"/>
              </a:ext>
            </a:extLst>
          </p:cNvPr>
          <p:cNvSpPr/>
          <p:nvPr/>
        </p:nvSpPr>
        <p:spPr>
          <a:xfrm>
            <a:off x="0" y="0"/>
            <a:ext cx="223200" cy="6866100"/>
          </a:xfrm>
          <a:prstGeom prst="rect">
            <a:avLst/>
          </a:prstGeom>
          <a:solidFill>
            <a:srgbClr val="41BFAC"/>
          </a:solidFill>
          <a:ln w="9525" cap="flat" cmpd="sng">
            <a:solidFill>
              <a:srgbClr val="41BFA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3" name="Google Shape;468;p34"/>
          <p:cNvSpPr txBox="1"/>
          <p:nvPr/>
        </p:nvSpPr>
        <p:spPr>
          <a:xfrm>
            <a:off x="1142999" y="284833"/>
            <a:ext cx="9401175"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7.5.4 Wrap-Up: Reflection </a:t>
            </a:r>
            <a:endParaRPr lang="en-US" sz="3600" b="1" dirty="0">
              <a:solidFill>
                <a:srgbClr val="3F2A67"/>
              </a:solidFill>
              <a:latin typeface="Verdana"/>
              <a:ea typeface="Verdana"/>
              <a:cs typeface="Verdana"/>
              <a:sym typeface="Verdana"/>
            </a:endParaRPr>
          </a:p>
        </p:txBody>
      </p:sp>
      <p:pic>
        <p:nvPicPr>
          <p:cNvPr id="14" name="Google Shape;469;p34"/>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5" name="Google Shape;470;p34"/>
          <p:cNvSpPr txBox="1"/>
          <p:nvPr/>
        </p:nvSpPr>
        <p:spPr>
          <a:xfrm>
            <a:off x="914400" y="1386025"/>
            <a:ext cx="10134600"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a:ea typeface="Verdana"/>
                <a:cs typeface="Verdana"/>
              </a:rPr>
              <a:t>What was the </a:t>
            </a:r>
            <a:r>
              <a:rPr lang="en-US" sz="2400" b="1" i="1" dirty="0">
                <a:latin typeface="Verdana"/>
                <a:ea typeface="Verdana"/>
                <a:cs typeface="Verdana"/>
              </a:rPr>
              <a:t>muddiest</a:t>
            </a:r>
            <a:r>
              <a:rPr lang="en-US" sz="2400" dirty="0">
                <a:latin typeface="Verdana"/>
                <a:ea typeface="Verdana"/>
                <a:cs typeface="Verdana"/>
              </a:rPr>
              <a:t> (most difficult or confusing) point in today’s lesson on discounts and markup?</a:t>
            </a:r>
            <a:endParaRPr lang="en-US" sz="1600" dirty="0">
              <a:latin typeface="Cambria"/>
              <a:ea typeface="Times New Roman"/>
              <a:cs typeface="Times New Roman"/>
            </a:endParaRPr>
          </a:p>
        </p:txBody>
      </p:sp>
      <p:pic>
        <p:nvPicPr>
          <p:cNvPr id="16" name="Google Shape;156;g104476d1465_1_39"/>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7" name="Google Shape;159;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318</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1459</TotalTime>
  <Words>1153</Words>
  <Application>Microsoft Office PowerPoint</Application>
  <PresentationFormat>Custom</PresentationFormat>
  <Paragraphs>157</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Century Gothic</vt:lpstr>
      <vt:lpstr>Cambria Math</vt:lpstr>
      <vt:lpstr>Cambria</vt:lpstr>
      <vt:lpstr>Arial Black</vt:lpstr>
      <vt:lpstr>Verdana</vt:lpstr>
      <vt:lpstr>Calibri</vt:lpstr>
      <vt:lpstr>Courier New</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45</cp:revision>
  <dcterms:created xsi:type="dcterms:W3CDTF">2015-03-17T18:51:18Z</dcterms:created>
  <dcterms:modified xsi:type="dcterms:W3CDTF">2022-06-10T12:24:25Z</dcterms:modified>
</cp:coreProperties>
</file>