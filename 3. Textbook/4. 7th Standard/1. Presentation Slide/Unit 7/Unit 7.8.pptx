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85" r:id="rId4"/>
    <p:sldId id="286" r:id="rId5"/>
    <p:sldId id="261" r:id="rId6"/>
    <p:sldId id="287" r:id="rId7"/>
    <p:sldId id="289" r:id="rId8"/>
    <p:sldId id="290" r:id="rId9"/>
    <p:sldId id="336" r:id="rId10"/>
    <p:sldId id="342" r:id="rId11"/>
    <p:sldId id="343" r:id="rId12"/>
    <p:sldId id="344" r:id="rId13"/>
    <p:sldId id="320" r:id="rId14"/>
    <p:sldId id="321" r:id="rId15"/>
    <p:sldId id="314" r:id="rId16"/>
    <p:sldId id="315" r:id="rId17"/>
    <p:sldId id="332" r:id="rId18"/>
    <p:sldId id="349" r:id="rId19"/>
    <p:sldId id="348" r:id="rId20"/>
    <p:sldId id="306" r:id="rId21"/>
    <p:sldId id="307" r:id="rId22"/>
  </p:sldIdLst>
  <p:sldSz cx="12192000" cy="6858000"/>
  <p:notesSz cx="6858000" cy="9144000"/>
  <p:embeddedFontLst>
    <p:embeddedFont>
      <p:font typeface="Verdana" pitchFamily="34" charset="0"/>
      <p:regular r:id="rId24"/>
      <p:bold r:id="rId25"/>
      <p:italic r:id="rId26"/>
      <p:boldItalic r:id="rId27"/>
    </p:embeddedFont>
    <p:embeddedFont>
      <p:font typeface="Calibri" pitchFamily="34" charset="0"/>
      <p:regular r:id="rId28"/>
      <p:bold r:id="rId29"/>
      <p:italic r:id="rId30"/>
      <p:boldItalic r:id="rId31"/>
    </p:embeddedFont>
    <p:embeddedFont>
      <p:font typeface="Century Gothic" pitchFamily="34" charset="0"/>
      <p:regular r:id="rId32"/>
      <p:bold r:id="rId33"/>
      <p:italic r:id="rId34"/>
      <p:boldItalic r:id="rId35"/>
    </p:embeddedFont>
    <p:embeddedFont>
      <p:font typeface="Cambria Math" pitchFamily="18" charset="0"/>
      <p:regular r:id="rId36"/>
    </p:embeddedFont>
    <p:embeddedFont>
      <p:font typeface="Cambria" pitchFamily="18" charset="0"/>
      <p:regular r:id="rId37"/>
      <p:bold r:id="rId38"/>
      <p:italic r:id="rId39"/>
      <p:boldItalic r:id="rId40"/>
    </p:embeddedFont>
    <p:embeddedFont>
      <p:font typeface="Arial Black" pitchFamily="34" charset="0"/>
      <p:bold r:id="rId4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=""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55" roundtripDataSignature="AMtx7miXGu+iP6Z2M0kNO/4dLqrShsAMT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1BFAC"/>
    <a:srgbClr val="B399C8"/>
    <a:srgbClr val="276C46"/>
    <a:srgbClr val="C9DF6F"/>
    <a:srgbClr val="417DBF"/>
    <a:srgbClr val="3F2A67"/>
    <a:srgbClr val="E24E5F"/>
    <a:srgbClr val="26B7D4"/>
    <a:srgbClr val="54B5D1"/>
    <a:srgbClr val="33BEA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=""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A91F0D33-8C57-4600-99A7-42BC86742BE1}">
  <a:tblStyle styleId="{A91F0D33-8C57-4600-99A7-42BC86742BE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 horzBarState="maximized">
    <p:restoredLeft sz="16353" autoAdjust="0"/>
    <p:restoredTop sz="94694"/>
  </p:normalViewPr>
  <p:slideViewPr>
    <p:cSldViewPr snapToGrid="0">
      <p:cViewPr varScale="1">
        <p:scale>
          <a:sx n="68" d="100"/>
          <a:sy n="68" d="100"/>
        </p:scale>
        <p:origin x="-126" y="-105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3.fntdata"/><Relationship Id="rId39" Type="http://schemas.openxmlformats.org/officeDocument/2006/relationships/font" Target="fonts/font16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font" Target="fonts/font11.fntdata"/><Relationship Id="rId55" Type="http://customschemas.google.com/relationships/presentationmetadata" Target="meta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2.fntdata"/><Relationship Id="rId33" Type="http://schemas.openxmlformats.org/officeDocument/2006/relationships/font" Target="fonts/font10.fntdata"/><Relationship Id="rId38" Type="http://schemas.openxmlformats.org/officeDocument/2006/relationships/font" Target="fonts/font15.fntdata"/><Relationship Id="rId59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6.fntdata"/><Relationship Id="rId41" Type="http://schemas.openxmlformats.org/officeDocument/2006/relationships/font" Target="fonts/font1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.fntdata"/><Relationship Id="rId32" Type="http://schemas.openxmlformats.org/officeDocument/2006/relationships/font" Target="fonts/font9.fntdata"/><Relationship Id="rId37" Type="http://schemas.openxmlformats.org/officeDocument/2006/relationships/font" Target="fonts/font14.fntdata"/><Relationship Id="rId40" Type="http://schemas.openxmlformats.org/officeDocument/2006/relationships/font" Target="fonts/font17.fntdata"/><Relationship Id="rId58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font" Target="fonts/font5.fntdata"/><Relationship Id="rId36" Type="http://schemas.openxmlformats.org/officeDocument/2006/relationships/font" Target="fonts/font13.fntdata"/><Relationship Id="rId57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8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4.fntdata"/><Relationship Id="rId30" Type="http://schemas.openxmlformats.org/officeDocument/2006/relationships/font" Target="fonts/font7.fntdata"/><Relationship Id="rId35" Type="http://schemas.openxmlformats.org/officeDocument/2006/relationships/font" Target="fonts/font12.fntdata"/><Relationship Id="rId56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796246095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104476d146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104476d146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2868339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4684046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8337895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188651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627792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49372004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49372004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49372004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49372004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1658498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3073590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803800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3999061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14602280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14602280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14602280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1668810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373281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>
  <p:cSld name="1_Title Slide">
    <p:bg>
      <p:bgPr>
        <a:blipFill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56"/>
          <p:cNvSpPr txBox="1">
            <a:spLocks noGrp="1"/>
          </p:cNvSpPr>
          <p:nvPr>
            <p:ph type="ctrTitle"/>
          </p:nvPr>
        </p:nvSpPr>
        <p:spPr>
          <a:xfrm>
            <a:off x="5299677" y="1070919"/>
            <a:ext cx="6526000" cy="36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 Black"/>
              <a:buNone/>
              <a:defRPr sz="30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77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77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20" name="Google Shape;20;p7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7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7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78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7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" name="Google Shape;26;p78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78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78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9"/>
          <p:cNvSpPr txBox="1">
            <a:spLocks noGrp="1"/>
          </p:cNvSpPr>
          <p:nvPr>
            <p:ph type="title"/>
          </p:nvPr>
        </p:nvSpPr>
        <p:spPr>
          <a:xfrm>
            <a:off x="831851" y="1709739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79"/>
          <p:cNvSpPr txBox="1"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2" name="Google Shape;32;p79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79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79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0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8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" name="Google Shape;38;p80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9" name="Google Shape;39;p80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80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80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1"/>
          <p:cNvSpPr txBox="1">
            <a:spLocks noGrp="1"/>
          </p:cNvSpPr>
          <p:nvPr>
            <p:ph type="title"/>
          </p:nvPr>
        </p:nvSpPr>
        <p:spPr>
          <a:xfrm>
            <a:off x="839788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81"/>
          <p:cNvSpPr txBox="1">
            <a:spLocks noGrp="1"/>
          </p:cNvSpPr>
          <p:nvPr>
            <p:ph type="body" idx="1"/>
          </p:nvPr>
        </p:nvSpPr>
        <p:spPr>
          <a:xfrm>
            <a:off x="839789" y="1681163"/>
            <a:ext cx="51576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5" name="Google Shape;45;p81"/>
          <p:cNvSpPr txBox="1">
            <a:spLocks noGrp="1"/>
          </p:cNvSpPr>
          <p:nvPr>
            <p:ph type="body" idx="2"/>
          </p:nvPr>
        </p:nvSpPr>
        <p:spPr>
          <a:xfrm>
            <a:off x="839789" y="2505075"/>
            <a:ext cx="51576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81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2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7" name="Google Shape;47;p81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2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81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81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81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82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2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82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82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83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83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83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8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84"/>
          <p:cNvSpPr txBox="1">
            <a:spLocks noGrp="1"/>
          </p:cNvSpPr>
          <p:nvPr>
            <p:ph type="body" idx="1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63" name="Google Shape;63;p8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64" name="Google Shape;64;p84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84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84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8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85"/>
          <p:cNvSpPr>
            <a:spLocks noGrp="1"/>
          </p:cNvSpPr>
          <p:nvPr>
            <p:ph type="pic" idx="2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</p:sp>
      <p:sp>
        <p:nvSpPr>
          <p:cNvPr id="70" name="Google Shape;70;p8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71" name="Google Shape;71;p8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8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8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86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86"/>
          <p:cNvSpPr txBox="1">
            <a:spLocks noGrp="1"/>
          </p:cNvSpPr>
          <p:nvPr>
            <p:ph type="body" idx="1"/>
          </p:nvPr>
        </p:nvSpPr>
        <p:spPr>
          <a:xfrm rot="5400000">
            <a:off x="3920400" y="-1256575"/>
            <a:ext cx="4351200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86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86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86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87"/>
          <p:cNvSpPr txBox="1">
            <a:spLocks noGrp="1"/>
          </p:cNvSpPr>
          <p:nvPr>
            <p:ph type="title"/>
          </p:nvPr>
        </p:nvSpPr>
        <p:spPr>
          <a:xfrm rot="5400000">
            <a:off x="7133450" y="1956675"/>
            <a:ext cx="5811900" cy="26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87"/>
          <p:cNvSpPr txBox="1">
            <a:spLocks noGrp="1"/>
          </p:cNvSpPr>
          <p:nvPr>
            <p:ph type="body" idx="1"/>
          </p:nvPr>
        </p:nvSpPr>
        <p:spPr>
          <a:xfrm rot="5400000">
            <a:off x="1799350" y="-596125"/>
            <a:ext cx="5811900" cy="773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3" name="Google Shape;83;p8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8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8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 Slide">
  <p:cSld name="Text Slide">
    <p:bg>
      <p:bgPr>
        <a:solidFill>
          <a:schemeClr val="lt1"/>
        </a:solidFill>
        <a:effectLst/>
      </p:bgPr>
    </p:bg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88" descr="A picture containing text, sign, seat&#10;&#10;Description automatically generated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76869" y="5603082"/>
            <a:ext cx="3413760" cy="182880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88"/>
          <p:cNvSpPr/>
          <p:nvPr/>
        </p:nvSpPr>
        <p:spPr>
          <a:xfrm>
            <a:off x="0" y="0"/>
            <a:ext cx="198000" cy="6858000"/>
          </a:xfrm>
          <a:prstGeom prst="rect">
            <a:avLst/>
          </a:prstGeom>
          <a:solidFill>
            <a:srgbClr val="2776B6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2">
  <p:cSld name="Divider 2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89" descr="ANation-PPT22_5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89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89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3" name="Google Shape;93;p89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3">
  <p:cSld name="Divider 3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90" descr="ANation-PPT22_6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90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90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8" name="Google Shape;98;p90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1">
  <p:cSld name="Divider 1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91" descr="ANation-PPT22_2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91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91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3" name="Google Shape;103;p91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4">
  <p:cSld name="Divider 4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p92" descr="ANation-PPT2_7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92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92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8" name="Google Shape;108;p92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5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5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5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5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5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2.png"/><Relationship Id="rId5" Type="http://schemas.openxmlformats.org/officeDocument/2006/relationships/image" Target="../media/image10.png"/><Relationship Id="rId4" Type="http://schemas.microsoft.com/office/2007/relationships/hdphoto" Target="../media/hdphoto1.wdp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5.png"/><Relationship Id="rId5" Type="http://schemas.openxmlformats.org/officeDocument/2006/relationships/image" Target="../media/image10.png"/><Relationship Id="rId4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9.png"/><Relationship Id="rId5" Type="http://schemas.openxmlformats.org/officeDocument/2006/relationships/image" Target="../media/image2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0.png"/><Relationship Id="rId4" Type="http://schemas.openxmlformats.org/officeDocument/2006/relationships/image" Target="../media/image23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0.png"/><Relationship Id="rId4" Type="http://schemas.openxmlformats.org/officeDocument/2006/relationships/image" Target="../media/image27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10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8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10.png"/><Relationship Id="rId4" Type="http://schemas.openxmlformats.org/officeDocument/2006/relationships/image" Target="../media/image3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309;g104476d1465_1_39">
            <a:extLst>
              <a:ext uri="{FF2B5EF4-FFF2-40B4-BE49-F238E27FC236}">
                <a16:creationId xmlns="" xmlns:a16="http://schemas.microsoft.com/office/drawing/2014/main" id="{566F1422-A32C-7745-9E85-5AF7B9DBC697}"/>
              </a:ext>
            </a:extLst>
          </p:cNvPr>
          <p:cNvSpPr/>
          <p:nvPr/>
        </p:nvSpPr>
        <p:spPr>
          <a:xfrm>
            <a:off x="0" y="0"/>
            <a:ext cx="4094106" cy="6866100"/>
          </a:xfrm>
          <a:prstGeom prst="rect">
            <a:avLst/>
          </a:prstGeom>
          <a:solidFill>
            <a:srgbClr val="41BFAC"/>
          </a:solidFill>
          <a:ln w="9525" cap="flat" cmpd="sng">
            <a:solidFill>
              <a:srgbClr val="41BFAC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261" name="Google Shape;261;g104476d1465_0_0"/>
          <p:cNvSpPr txBox="1">
            <a:spLocks noGrp="1"/>
          </p:cNvSpPr>
          <p:nvPr>
            <p:ph type="ctrTitle" idx="4294967295"/>
          </p:nvPr>
        </p:nvSpPr>
        <p:spPr>
          <a:xfrm>
            <a:off x="5742834" y="2054277"/>
            <a:ext cx="4925167" cy="3194455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7</a:t>
            </a:r>
            <a:r>
              <a:rPr lang="en-US" sz="3800" b="1" baseline="30000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th</a:t>
            </a: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 Grade Math</a:t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endParaRPr lang="en-US" sz="38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lvl="0" algn="ctr">
              <a:lnSpc>
                <a:spcPct val="100000"/>
              </a:lnSpc>
              <a:buClr>
                <a:srgbClr val="000000"/>
              </a:buClr>
            </a:pP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Unit 7, Lesson 8</a:t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/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Simple </a:t>
            </a:r>
            <a:r>
              <a:rPr lang="en-US" sz="3800" b="1" dirty="0" smtClean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Interest</a:t>
            </a: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/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/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2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Volume 1, pg. 331</a:t>
            </a:r>
          </a:p>
          <a:p>
            <a:pPr algn="ctr">
              <a:lnSpc>
                <a:spcPct val="100000"/>
              </a:lnSpc>
              <a:buClr>
                <a:srgbClr val="000000"/>
              </a:buClr>
            </a:pPr>
            <a:endParaRPr lang="en-US" sz="34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algn="ctr">
              <a:lnSpc>
                <a:spcPct val="75000"/>
              </a:lnSpc>
            </a:pPr>
            <a:endParaRPr sz="3100" dirty="0">
              <a:solidFill>
                <a:srgbClr val="417DBF"/>
              </a:solidFill>
            </a:endParaRPr>
          </a:p>
        </p:txBody>
      </p:sp>
      <p:pic>
        <p:nvPicPr>
          <p:cNvPr id="6" name="Picture 5" descr="A blue sign with white text&#10;&#10;Description automatically generated with medium confidence">
            <a:extLst>
              <a:ext uri="{FF2B5EF4-FFF2-40B4-BE49-F238E27FC236}">
                <a16:creationId xmlns="" xmlns:a16="http://schemas.microsoft.com/office/drawing/2014/main" id="{5DE477E5-56CA-9D49-B76A-D5EDA7B79A42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11640" y="1745080"/>
            <a:ext cx="3270825" cy="3812847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279;g104476d1465_1_17"/>
          <p:cNvSpPr txBox="1">
            <a:spLocks/>
          </p:cNvSpPr>
          <p:nvPr/>
        </p:nvSpPr>
        <p:spPr>
          <a:xfrm>
            <a:off x="1151917" y="136525"/>
            <a:ext cx="75099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5400"/>
              <a:buFont typeface="Century Gothic"/>
              <a:buNone/>
            </a:pPr>
            <a:r>
              <a:rPr lang="en-US" sz="4700" b="1" dirty="0" smtClean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Benchmark</a:t>
            </a:r>
            <a:endParaRPr lang="en-US" sz="37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10" name="Google Shape;281;g104476d1465_1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8417" y="372300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1" name="Google Shape;280;g104476d1465_1_17">
            <a:extLst>
              <a:ext uri="{FF2B5EF4-FFF2-40B4-BE49-F238E27FC236}">
                <a16:creationId xmlns="" xmlns:a16="http://schemas.microsoft.com/office/drawing/2014/main" id="{527A9F9F-07B8-ED47-B967-E5507C67DBC5}"/>
              </a:ext>
            </a:extLst>
          </p:cNvPr>
          <p:cNvSpPr txBox="1">
            <a:spLocks/>
          </p:cNvSpPr>
          <p:nvPr/>
        </p:nvSpPr>
        <p:spPr>
          <a:xfrm>
            <a:off x="444683" y="1600200"/>
            <a:ext cx="10326757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indent="0">
              <a:buSzPts val="1100"/>
              <a:buNone/>
            </a:pPr>
            <a:r>
              <a:rPr lang="en-US" sz="3600" dirty="0">
                <a:latin typeface="Verdana"/>
                <a:ea typeface="Verdana"/>
                <a:cs typeface="Verdana"/>
              </a:rPr>
              <a:t>MA.7.AR.3.1</a:t>
            </a:r>
            <a:endParaRPr lang="en-US" sz="3600" dirty="0">
              <a:solidFill>
                <a:schemeClr val="tx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>
              <a:buNone/>
            </a:pPr>
            <a:r>
              <a:rPr lang="en-US" sz="3600" dirty="0">
                <a:latin typeface="Verdana"/>
                <a:ea typeface="Verdana"/>
                <a:cs typeface="Verdana"/>
              </a:rPr>
              <a:t>Apply previous understanding of percentages and ratios to solve </a:t>
            </a:r>
            <a:r>
              <a:rPr lang="en-US" sz="3600" dirty="0" smtClean="0">
                <a:latin typeface="Verdana"/>
                <a:ea typeface="Verdana"/>
                <a:cs typeface="Verdana"/>
              </a:rPr>
              <a:t/>
            </a:r>
            <a:br>
              <a:rPr lang="en-US" sz="3600" dirty="0" smtClean="0">
                <a:latin typeface="Verdana"/>
                <a:ea typeface="Verdana"/>
                <a:cs typeface="Verdana"/>
              </a:rPr>
            </a:br>
            <a:r>
              <a:rPr lang="en-US" sz="3600" dirty="0" smtClean="0">
                <a:latin typeface="Verdana"/>
                <a:ea typeface="Verdana"/>
                <a:cs typeface="Verdana"/>
              </a:rPr>
              <a:t>multi-step </a:t>
            </a:r>
            <a:r>
              <a:rPr lang="en-US" sz="3600" dirty="0">
                <a:latin typeface="Verdana"/>
                <a:ea typeface="Verdana"/>
                <a:cs typeface="Verdana"/>
              </a:rPr>
              <a:t>real-world percent problems.</a:t>
            </a:r>
            <a:endParaRPr lang="en-US" sz="3600" dirty="0">
              <a:solidFill>
                <a:schemeClr val="tx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2" name="Google Shape;125;g104476d1465_1_17"/>
          <p:cNvSpPr txBox="1"/>
          <p:nvPr/>
        </p:nvSpPr>
        <p:spPr>
          <a:xfrm>
            <a:off x="8897112" y="6457675"/>
            <a:ext cx="2634000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331</a:t>
            </a:r>
          </a:p>
        </p:txBody>
      </p:sp>
      <p:pic>
        <p:nvPicPr>
          <p:cNvPr id="13" name="Google Shape;126;g104476d1465_1_17"/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  <p:sp>
        <p:nvSpPr>
          <p:cNvPr id="14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41BFAC"/>
          </a:solidFill>
          <a:ln w="9525" cap="flat" cmpd="sng">
            <a:solidFill>
              <a:srgbClr val="41BFAC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41BFAC"/>
          </a:solidFill>
          <a:ln w="9525" cap="flat" cmpd="sng">
            <a:solidFill>
              <a:srgbClr val="41BFAC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10" name="Google Shape;281;g104476d1465_1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9567" y="372300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2" name="Google Shape;295;g103996e1364_0_10">
            <a:extLst>
              <a:ext uri="{FF2B5EF4-FFF2-40B4-BE49-F238E27FC236}">
                <a16:creationId xmlns="" xmlns:a16="http://schemas.microsoft.com/office/drawing/2014/main" id="{08B3C7FF-E6D0-2145-9A84-003D15672764}"/>
              </a:ext>
            </a:extLst>
          </p:cNvPr>
          <p:cNvSpPr txBox="1">
            <a:spLocks/>
          </p:cNvSpPr>
          <p:nvPr/>
        </p:nvSpPr>
        <p:spPr>
          <a:xfrm>
            <a:off x="1154217" y="129667"/>
            <a:ext cx="8024426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0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Integrated Mathematical Thinking and Reasoning Standards</a:t>
            </a:r>
          </a:p>
        </p:txBody>
      </p:sp>
      <p:sp>
        <p:nvSpPr>
          <p:cNvPr id="13" name="Google Shape;296;g103996e1364_0_10">
            <a:extLst>
              <a:ext uri="{FF2B5EF4-FFF2-40B4-BE49-F238E27FC236}">
                <a16:creationId xmlns="" xmlns:a16="http://schemas.microsoft.com/office/drawing/2014/main" id="{A6E18E39-B007-D647-9935-55A748533A45}"/>
              </a:ext>
            </a:extLst>
          </p:cNvPr>
          <p:cNvSpPr txBox="1">
            <a:spLocks/>
          </p:cNvSpPr>
          <p:nvPr/>
        </p:nvSpPr>
        <p:spPr>
          <a:xfrm>
            <a:off x="1154216" y="1596390"/>
            <a:ext cx="9208984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523"/>
            </a:pPr>
            <a:r>
              <a:rPr lang="en-US" sz="2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MA.K12.MTR.1.1 Actively participate in effortful learning both individually and collectively.</a:t>
            </a:r>
          </a:p>
          <a:p>
            <a:pPr marL="457200">
              <a:buSzPts val="523"/>
            </a:pPr>
            <a:endParaRPr lang="en-US" sz="28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MA.K12.MTR.2.1 Demonstrate understanding by representing problems in multiple ways.</a:t>
            </a:r>
          </a:p>
          <a:p>
            <a:pPr marL="457200">
              <a:buSzPts val="523"/>
            </a:pPr>
            <a:endParaRPr lang="en-US" sz="28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MA.K12.MTR.7.1 </a:t>
            </a:r>
            <a:r>
              <a:rPr lang="en-US" sz="28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Apply mathematics to real-world contexts.</a:t>
            </a:r>
            <a:endParaRPr lang="en-US" sz="28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</p:txBody>
      </p:sp>
      <p:sp>
        <p:nvSpPr>
          <p:cNvPr id="14" name="Google Shape;125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331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" name="Google Shape;126;g104476d1465_1_17"/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0808422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41BFAC"/>
          </a:solidFill>
          <a:ln w="9525" cap="flat" cmpd="sng">
            <a:solidFill>
              <a:srgbClr val="41BFAC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dirty="0">
              <a:highlight>
                <a:srgbClr val="FFFF00"/>
              </a:highlight>
            </a:endParaRPr>
          </a:p>
        </p:txBody>
      </p:sp>
      <p:sp>
        <p:nvSpPr>
          <p:cNvPr id="11" name="Google Shape;301;g103996e1364_0_16">
            <a:extLst>
              <a:ext uri="{FF2B5EF4-FFF2-40B4-BE49-F238E27FC236}">
                <a16:creationId xmlns:a16="http://schemas.microsoft.com/office/drawing/2014/main" xmlns="" id="{5771FBFA-7311-BB45-8AFF-04B380531EE6}"/>
              </a:ext>
            </a:extLst>
          </p:cNvPr>
          <p:cNvSpPr txBox="1">
            <a:spLocks/>
          </p:cNvSpPr>
          <p:nvPr/>
        </p:nvSpPr>
        <p:spPr>
          <a:xfrm>
            <a:off x="1108371" y="30660"/>
            <a:ext cx="79584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4700" b="1" dirty="0">
                <a:solidFill>
                  <a:srgbClr val="52BDA6"/>
                </a:solidFill>
                <a:latin typeface="Verdana"/>
                <a:ea typeface="Verdana"/>
                <a:cs typeface="Verdana"/>
                <a:sym typeface="Verdana"/>
              </a:rPr>
              <a:t>Learning </a:t>
            </a:r>
            <a:r>
              <a:rPr lang="en-US" sz="4700" b="1" dirty="0" smtClean="0">
                <a:solidFill>
                  <a:srgbClr val="52BDA6"/>
                </a:solidFill>
                <a:latin typeface="Verdana"/>
                <a:ea typeface="Verdana"/>
                <a:cs typeface="Verdana"/>
                <a:sym typeface="Verdana"/>
              </a:rPr>
              <a:t>Targets</a:t>
            </a:r>
            <a:endParaRPr lang="en-US" sz="4700" b="1" dirty="0">
              <a:solidFill>
                <a:srgbClr val="52BDA6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13" name="Google Shape;303;g103996e1364_0_16">
            <a:extLst>
              <a:ext uri="{FF2B5EF4-FFF2-40B4-BE49-F238E27FC236}">
                <a16:creationId xmlns:a16="http://schemas.microsoft.com/office/drawing/2014/main" xmlns="" id="{81DC7EB0-4FED-FC45-BAEC-D699ED5C2169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6209" y="319860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5" name="Google Shape;302;g103996e1364_0_16">
            <a:extLst>
              <a:ext uri="{FF2B5EF4-FFF2-40B4-BE49-F238E27FC236}">
                <a16:creationId xmlns="" xmlns:a16="http://schemas.microsoft.com/office/drawing/2014/main" id="{9B7C98EC-F13C-9146-B728-D7044DB4247D}"/>
              </a:ext>
            </a:extLst>
          </p:cNvPr>
          <p:cNvSpPr txBox="1">
            <a:spLocks/>
          </p:cNvSpPr>
          <p:nvPr/>
        </p:nvSpPr>
        <p:spPr>
          <a:xfrm>
            <a:off x="444682" y="1600199"/>
            <a:ext cx="10800000" cy="3034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633413" indent="-627063">
              <a:buClr>
                <a:srgbClr val="434343"/>
              </a:buClr>
              <a:buSzPts val="3500"/>
              <a:buFont typeface="Wingdings" pitchFamily="2" charset="2"/>
              <a:buChar char="q"/>
            </a:pPr>
            <a:r>
              <a:rPr lang="en-US" sz="3600" dirty="0">
                <a:solidFill>
                  <a:schemeClr val="tx1"/>
                </a:solidFill>
                <a:latin typeface="Verdana"/>
                <a:ea typeface="Verdana"/>
                <a:cs typeface="Verdana"/>
                <a:sym typeface="Verdana"/>
              </a:rPr>
              <a:t>I can solve problems that involve simple interest.</a:t>
            </a:r>
          </a:p>
          <a:p>
            <a:pPr marL="623888" indent="-617538">
              <a:buClr>
                <a:srgbClr val="434343"/>
              </a:buClr>
              <a:buSzPts val="3500"/>
              <a:buFont typeface="Verdana"/>
              <a:buChar char="❏"/>
            </a:pPr>
            <a:endParaRPr lang="en-US" sz="3600" dirty="0">
              <a:solidFill>
                <a:schemeClr val="tx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633413" indent="-627063">
              <a:buClr>
                <a:srgbClr val="434343"/>
              </a:buClr>
              <a:buSzPts val="3500"/>
              <a:buFont typeface="Wingdings" pitchFamily="2" charset="2"/>
              <a:buChar char="q"/>
            </a:pPr>
            <a:r>
              <a:rPr lang="en-US" sz="3600" dirty="0">
                <a:solidFill>
                  <a:schemeClr val="tx1"/>
                </a:solidFill>
                <a:latin typeface="Verdana"/>
                <a:ea typeface="Verdana"/>
                <a:cs typeface="Verdana"/>
                <a:sym typeface="Verdana"/>
              </a:rPr>
              <a:t>I can compare simple interest and compound interest. </a:t>
            </a:r>
          </a:p>
        </p:txBody>
      </p:sp>
      <p:sp>
        <p:nvSpPr>
          <p:cNvPr id="16" name="Google Shape;125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331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" name="Google Shape;126;g104476d1465_1_17"/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0714203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41BFAC"/>
          </a:solidFill>
          <a:ln w="9525" cap="flat" cmpd="sng">
            <a:solidFill>
              <a:srgbClr val="41BFAC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2" name="Google Shape;312;g104476d1465_1_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35550" y="2879325"/>
            <a:ext cx="1031750" cy="103175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844350" y="2766145"/>
            <a:ext cx="40482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Warm-Up</a:t>
            </a:r>
            <a:endParaRPr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7" name="Google Shape;125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332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126;g104476d1465_1_17"/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278;g104476d1465_1_17">
            <a:extLst>
              <a:ext uri="{FF2B5EF4-FFF2-40B4-BE49-F238E27FC236}">
                <a16:creationId xmlns="" xmlns:a16="http://schemas.microsoft.com/office/drawing/2014/main" id="{F1992A8F-F621-054D-B71E-96605FF7377D}"/>
              </a:ext>
            </a:extLst>
          </p:cNvPr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41BFAC"/>
          </a:solidFill>
          <a:ln w="9525" cap="flat" cmpd="sng">
            <a:solidFill>
              <a:srgbClr val="41BFAC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dirty="0">
              <a:highlight>
                <a:srgbClr val="FFFF00"/>
              </a:highlight>
            </a:endParaRPr>
          </a:p>
        </p:txBody>
      </p:sp>
      <p:pic>
        <p:nvPicPr>
          <p:cNvPr id="10" name="image9.png" descr="Text, letter&#10;&#10;Description automatically generated"/>
          <p:cNvPicPr/>
          <p:nvPr/>
        </p:nvPicPr>
        <p:blipFill rotWithShape="1"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0"/>
                    </a14:imgEffect>
                    <a14:imgEffect>
                      <a14:brightnessContrast brigh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 l="10699" t="10151" r="17792" b="10423"/>
          <a:stretch/>
        </p:blipFill>
        <p:spPr bwMode="auto">
          <a:xfrm>
            <a:off x="7437094" y="1481255"/>
            <a:ext cx="3957047" cy="4075381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12" name="Google Shape;125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332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" name="Google Shape;126;g104476d1465_1_17"/>
          <p:cNvPicPr preferRelativeResize="0"/>
          <p:nvPr/>
        </p:nvPicPr>
        <p:blipFill rotWithShape="1"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  <p:sp>
        <p:nvSpPr>
          <p:cNvPr id="15" name="Google Shape;167;p4"/>
          <p:cNvSpPr txBox="1"/>
          <p:nvPr/>
        </p:nvSpPr>
        <p:spPr>
          <a:xfrm>
            <a:off x="1143000" y="431412"/>
            <a:ext cx="10515600" cy="5908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7.8.1 Warm-Up: Math Fail </a:t>
            </a:r>
          </a:p>
        </p:txBody>
      </p:sp>
      <p:pic>
        <p:nvPicPr>
          <p:cNvPr id="16" name="Google Shape;168;p4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356616" y="353207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7" name="Google Shape;170;p4"/>
              <p:cNvSpPr txBox="1"/>
              <p:nvPr/>
            </p:nvSpPr>
            <p:spPr>
              <a:xfrm>
                <a:off x="914401" y="1481255"/>
                <a:ext cx="6191250" cy="332394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>
                  <a:spcAft>
                    <a:spcPts val="1200"/>
                  </a:spcAft>
                </a:pPr>
                <a:r>
                  <a:rPr lang="en-US" sz="2000" dirty="0">
                    <a:latin typeface="Verdana"/>
                    <a:ea typeface="Times New Roman"/>
                    <a:cs typeface="Times New Roman"/>
                  </a:rPr>
                  <a:t>The cost for dinner at a restaurant was </a:t>
                </a:r>
                <a:r>
                  <a:rPr lang="en-US" sz="2000" dirty="0">
                    <a:latin typeface="Cambria Math"/>
                    <a:ea typeface="Times New Roman"/>
                    <a:cs typeface="Times New Roman"/>
                  </a:rPr>
                  <a:t>$23.60</a:t>
                </a:r>
                <a:r>
                  <a:rPr lang="en-US" sz="2000" dirty="0">
                    <a:latin typeface="Verdana"/>
                    <a:ea typeface="Times New Roman"/>
                    <a:cs typeface="Times New Roman"/>
                  </a:rPr>
                  <a:t>. As a courtesy, the restaurant listed suggested tips for customers on the receipt. The receipt stated a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/>
                        <a:ea typeface="Times New Roman"/>
                        <a:cs typeface="Times New Roman"/>
                      </a:rPr>
                      <m:t>15%</m:t>
                    </m:r>
                  </m:oMath>
                </a14:m>
                <a:r>
                  <a:rPr lang="en-US" sz="2000" dirty="0">
                    <a:latin typeface="Verdana"/>
                    <a:ea typeface="Times New Roman"/>
                    <a:cs typeface="Times New Roman"/>
                  </a:rPr>
                  <a:t> tip was </a:t>
                </a:r>
                <a:r>
                  <a:rPr lang="en-US" sz="2000" dirty="0">
                    <a:latin typeface="Cambria Math"/>
                    <a:ea typeface="Times New Roman"/>
                    <a:cs typeface="Times New Roman"/>
                  </a:rPr>
                  <a:t>$6.53</a:t>
                </a:r>
                <a:r>
                  <a:rPr lang="en-US" sz="2000" dirty="0">
                    <a:latin typeface="Verdana"/>
                    <a:ea typeface="Times New Roman"/>
                    <a:cs typeface="Times New Roman"/>
                  </a:rPr>
                  <a:t>, an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/>
                        <a:ea typeface="Times New Roman"/>
                        <a:cs typeface="Times New Roman"/>
                      </a:rPr>
                      <m:t>18%</m:t>
                    </m:r>
                  </m:oMath>
                </a14:m>
                <a:r>
                  <a:rPr lang="en-US" sz="2000" dirty="0">
                    <a:latin typeface="Verdana"/>
                    <a:ea typeface="Times New Roman"/>
                    <a:cs typeface="Times New Roman"/>
                  </a:rPr>
                  <a:t> tip was </a:t>
                </a:r>
                <a:r>
                  <a:rPr lang="en-US" sz="2000" dirty="0">
                    <a:latin typeface="Cambria Math"/>
                    <a:ea typeface="Times New Roman"/>
                    <a:cs typeface="Times New Roman"/>
                  </a:rPr>
                  <a:t>$7.83</a:t>
                </a:r>
                <a:r>
                  <a:rPr lang="en-US" sz="2000" dirty="0">
                    <a:latin typeface="Verdana"/>
                    <a:ea typeface="Times New Roman"/>
                    <a:cs typeface="Times New Roman"/>
                  </a:rPr>
                  <a:t>, and a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/>
                        <a:ea typeface="Times New Roman"/>
                        <a:cs typeface="Times New Roman"/>
                      </a:rPr>
                      <m:t>20%</m:t>
                    </m:r>
                  </m:oMath>
                </a14:m>
                <a:r>
                  <a:rPr lang="en-US" sz="2000" dirty="0">
                    <a:latin typeface="Verdana"/>
                    <a:ea typeface="Times New Roman"/>
                    <a:cs typeface="Times New Roman"/>
                  </a:rPr>
                  <a:t> tip was </a:t>
                </a:r>
                <a:r>
                  <a:rPr lang="en-US" sz="2000" dirty="0">
                    <a:latin typeface="Cambria Math"/>
                    <a:ea typeface="Times New Roman"/>
                    <a:cs typeface="Times New Roman"/>
                  </a:rPr>
                  <a:t>$8.70</a:t>
                </a:r>
                <a:r>
                  <a:rPr lang="en-US" sz="2000" dirty="0">
                    <a:latin typeface="Verdana"/>
                    <a:ea typeface="Times New Roman"/>
                    <a:cs typeface="Times New Roman"/>
                  </a:rPr>
                  <a:t>. The customer underlined the recommended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/>
                        <a:ea typeface="Times New Roman"/>
                        <a:cs typeface="Times New Roman"/>
                      </a:rPr>
                      <m:t>15%</m:t>
                    </m:r>
                  </m:oMath>
                </a14:m>
                <a:r>
                  <a:rPr lang="en-US" sz="2000" dirty="0">
                    <a:latin typeface="Verdana"/>
                    <a:ea typeface="Times New Roman"/>
                    <a:cs typeface="Times New Roman"/>
                  </a:rPr>
                  <a:t> tip amount and wrote, </a:t>
                </a:r>
                <a:r>
                  <a:rPr lang="en-US" sz="2000" dirty="0" smtClean="0">
                    <a:latin typeface="Verdana"/>
                    <a:ea typeface="Times New Roman"/>
                    <a:cs typeface="Times New Roman"/>
                  </a:rPr>
                  <a:t>“</a:t>
                </a:r>
                <a:r>
                  <a:rPr lang="en-US" sz="2000" dirty="0">
                    <a:latin typeface="Verdana"/>
                    <a:ea typeface="Times New Roman"/>
                    <a:cs typeface="Times New Roman"/>
                  </a:rPr>
                  <a:t>No it’s not.”</a:t>
                </a:r>
                <a:r>
                  <a:rPr lang="en-US" sz="2000" dirty="0">
                    <a:latin typeface="Calibri"/>
                    <a:ea typeface="Calibri"/>
                    <a:cs typeface="Times New Roman"/>
                  </a:rPr>
                  <a:t> </a:t>
                </a: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sz="2000" dirty="0">
                    <a:latin typeface="Verdana"/>
                    <a:ea typeface="Times New Roman"/>
                    <a:cs typeface="Times New Roman"/>
                  </a:rPr>
                  <a:t>Explain whether the restaurant or customer is correct. Justify your answer with calculations. </a:t>
                </a:r>
                <a:endParaRPr lang="en-PH" sz="2000" dirty="0">
                  <a:latin typeface="Cambria"/>
                  <a:ea typeface="Times New Roman"/>
                  <a:cs typeface="Times New Roman"/>
                </a:endParaRPr>
              </a:p>
            </p:txBody>
          </p:sp>
        </mc:Choice>
        <mc:Fallback xmlns="">
          <p:sp>
            <p:nvSpPr>
              <p:cNvPr id="17" name="Google Shape;170;p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4401" y="1481255"/>
                <a:ext cx="6191250" cy="3323946"/>
              </a:xfrm>
              <a:prstGeom prst="rect">
                <a:avLst/>
              </a:prstGeom>
              <a:blipFill rotWithShape="1">
                <a:blip r:embed="rId7"/>
                <a:stretch>
                  <a:fillRect l="-1083" t="-917" r="-886" b="-238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490299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8225"/>
            <a:ext cx="2731200" cy="6866100"/>
          </a:xfrm>
          <a:prstGeom prst="rect">
            <a:avLst/>
          </a:prstGeom>
          <a:solidFill>
            <a:srgbClr val="41BFAC"/>
          </a:solidFill>
          <a:ln w="9525" cap="flat" cmpd="sng">
            <a:solidFill>
              <a:srgbClr val="41BFAC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664867" y="2766145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Guided Instruction</a:t>
            </a:r>
            <a:endParaRPr sz="51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7" name="Google Shape;338;g103996e1364_0_315">
            <a:extLst>
              <a:ext uri="{FF2B5EF4-FFF2-40B4-BE49-F238E27FC236}">
                <a16:creationId xmlns="" xmlns:a16="http://schemas.microsoft.com/office/drawing/2014/main" id="{2AC58C8F-2DD8-F347-9ECA-58EE9E1B7E9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519075" y="2849920"/>
            <a:ext cx="1145792" cy="115815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8" name="Google Shape;125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332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Google Shape;126;g104476d1465_1_17"/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7026124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4" name="Google Shape;320;p19"/>
              <p:cNvSpPr txBox="1"/>
              <p:nvPr/>
            </p:nvSpPr>
            <p:spPr>
              <a:xfrm>
                <a:off x="914400" y="1330237"/>
                <a:ext cx="9858375" cy="378561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457200" indent="-457200">
                  <a:buFont typeface="+mj-lt"/>
                  <a:buAutoNum type="arabicPeriod"/>
                </a:pPr>
                <a:r>
                  <a:rPr lang="en-US" sz="2400" dirty="0">
                    <a:latin typeface="Verdana" pitchFamily="34" charset="0"/>
                    <a:ea typeface="Verdana" pitchFamily="34" charset="0"/>
                    <a:cs typeface="Times New Roman"/>
                  </a:rPr>
                  <a:t>Kristina received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/>
                        <a:ea typeface="Times New Roman"/>
                        <a:cs typeface="Times New Roman"/>
                      </a:rPr>
                      <m:t>$100</m:t>
                    </m:r>
                  </m:oMath>
                </a14:m>
                <a:r>
                  <a:rPr lang="en-US" sz="2400" dirty="0">
                    <a:latin typeface="Verdana" pitchFamily="34" charset="0"/>
                    <a:ea typeface="Verdana" pitchFamily="34" charset="0"/>
                    <a:cs typeface="Times New Roman"/>
                  </a:rPr>
                  <a:t> in a birthday card and wants to put the money into her savings account, where she will earn an additional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/>
                        <a:ea typeface="Times New Roman"/>
                        <a:cs typeface="Times New Roman"/>
                      </a:rPr>
                      <m:t>2%</m:t>
                    </m:r>
                  </m:oMath>
                </a14:m>
                <a:r>
                  <a:rPr lang="en-US" sz="2400" dirty="0">
                    <a:latin typeface="Verdana" pitchFamily="34" charset="0"/>
                    <a:ea typeface="Verdana" pitchFamily="34" charset="0"/>
                    <a:cs typeface="Times New Roman"/>
                  </a:rPr>
                  <a:t> each year </a:t>
                </a:r>
                <a:r>
                  <a:rPr lang="en-US" sz="2400" dirty="0" smtClean="0">
                    <a:latin typeface="Verdana" pitchFamily="34" charset="0"/>
                    <a:ea typeface="Verdana" pitchFamily="34" charset="0"/>
                    <a:cs typeface="Times New Roman"/>
                  </a:rPr>
                  <a:t>it </a:t>
                </a:r>
                <a:r>
                  <a:rPr lang="en-US" sz="2400" dirty="0">
                    <a:latin typeface="Verdana" pitchFamily="34" charset="0"/>
                    <a:ea typeface="Verdana" pitchFamily="34" charset="0"/>
                    <a:cs typeface="Times New Roman"/>
                  </a:rPr>
                  <a:t>remains in her account. This is known as </a:t>
                </a:r>
                <a:r>
                  <a:rPr lang="en-US" sz="2400" b="1" i="1" dirty="0">
                    <a:latin typeface="Verdana" pitchFamily="34" charset="0"/>
                    <a:ea typeface="Verdana" pitchFamily="34" charset="0"/>
                    <a:cs typeface="Times New Roman"/>
                  </a:rPr>
                  <a:t>simple interest</a:t>
                </a:r>
                <a:r>
                  <a:rPr lang="en-US" sz="2400" dirty="0">
                    <a:latin typeface="Verdana" pitchFamily="34" charset="0"/>
                    <a:ea typeface="Verdana" pitchFamily="34" charset="0"/>
                    <a:cs typeface="Times New Roman"/>
                  </a:rPr>
                  <a:t>.</a:t>
                </a:r>
                <a:endParaRPr lang="en-PH" sz="2400" dirty="0">
                  <a:latin typeface="Verdana" pitchFamily="34" charset="0"/>
                  <a:ea typeface="Verdana" pitchFamily="34" charset="0"/>
                  <a:cs typeface="Times New Roman"/>
                </a:endParaRPr>
              </a:p>
              <a:p>
                <a:pPr marL="457200" indent="-457200">
                  <a:buFont typeface="+mj-lt"/>
                  <a:buAutoNum type="arabicPeriod"/>
                </a:pPr>
                <a:endParaRPr lang="en-PH" sz="2400" dirty="0">
                  <a:latin typeface="Verdana" pitchFamily="34" charset="0"/>
                  <a:ea typeface="Verdana" pitchFamily="34" charset="0"/>
                  <a:cs typeface="Times New Roman"/>
                </a:endParaRPr>
              </a:p>
              <a:p>
                <a:pPr marL="457200" indent="-457200">
                  <a:buFont typeface="+mj-lt"/>
                  <a:buAutoNum type="arabicPeriod"/>
                </a:pPr>
                <a:endParaRPr lang="en-PH" sz="2400" dirty="0">
                  <a:latin typeface="Verdana" pitchFamily="34" charset="0"/>
                  <a:ea typeface="Verdana" pitchFamily="34" charset="0"/>
                  <a:cs typeface="Times New Roman"/>
                </a:endParaRPr>
              </a:p>
              <a:p>
                <a:pPr marL="457200" indent="-457200">
                  <a:buFont typeface="+mj-lt"/>
                  <a:buAutoNum type="arabicPeriod"/>
                </a:pPr>
                <a:endParaRPr lang="en-PH" sz="2400" dirty="0">
                  <a:latin typeface="Verdana" pitchFamily="34" charset="0"/>
                  <a:ea typeface="Verdana" pitchFamily="34" charset="0"/>
                  <a:cs typeface="Times New Roman"/>
                </a:endParaRPr>
              </a:p>
              <a:p>
                <a:pPr marL="457200" indent="-457200">
                  <a:buFont typeface="+mj-lt"/>
                  <a:buAutoNum type="arabicPeriod"/>
                </a:pPr>
                <a:endParaRPr lang="en-PH" sz="2400" dirty="0">
                  <a:latin typeface="Verdana" pitchFamily="34" charset="0"/>
                  <a:ea typeface="Verdana" pitchFamily="34" charset="0"/>
                  <a:cs typeface="Times New Roman"/>
                </a:endParaRPr>
              </a:p>
              <a:p>
                <a:pPr marL="457200" indent="-457200">
                  <a:buFont typeface="+mj-lt"/>
                  <a:buAutoNum type="arabicPeriod"/>
                </a:pPr>
                <a:endParaRPr lang="en-PH" sz="2400" dirty="0">
                  <a:latin typeface="Verdana" pitchFamily="34" charset="0"/>
                  <a:ea typeface="Verdana" pitchFamily="34" charset="0"/>
                  <a:cs typeface="Times New Roman"/>
                </a:endParaRPr>
              </a:p>
              <a:p>
                <a:pPr marL="892175" indent="-457200">
                  <a:buFont typeface="+mj-lt"/>
                  <a:buAutoNum type="alphaLcPeriod"/>
                </a:pPr>
                <a:r>
                  <a:rPr lang="en-US" sz="2400" dirty="0">
                    <a:latin typeface="Verdana" pitchFamily="34" charset="0"/>
                    <a:ea typeface="Verdana" pitchFamily="34" charset="0"/>
                    <a:cs typeface="Cambria Math"/>
                  </a:rPr>
                  <a:t>How much is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/>
                        <a:ea typeface="CambriaMath"/>
                        <a:cs typeface="Cambria Math"/>
                      </a:rPr>
                      <m:t>2%</m:t>
                    </m:r>
                  </m:oMath>
                </a14:m>
                <a:r>
                  <a:rPr lang="en-US" sz="2400" dirty="0">
                    <a:latin typeface="Verdana" pitchFamily="34" charset="0"/>
                    <a:ea typeface="Verdana" pitchFamily="34" charset="0"/>
                    <a:cs typeface="Cambria Math"/>
                  </a:rPr>
                  <a:t> of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/>
                        <a:ea typeface="CambriaMath"/>
                        <a:cs typeface="Cambria Math"/>
                      </a:rPr>
                      <m:t>$100</m:t>
                    </m:r>
                  </m:oMath>
                </a14:m>
                <a:r>
                  <a:rPr lang="en-US" sz="2400" dirty="0">
                    <a:latin typeface="Verdana" pitchFamily="34" charset="0"/>
                    <a:ea typeface="Verdana" pitchFamily="34" charset="0"/>
                    <a:cs typeface="Cambria Math"/>
                  </a:rPr>
                  <a:t>? </a:t>
                </a:r>
                <a:endParaRPr lang="en-PH" sz="2400" dirty="0">
                  <a:latin typeface="Verdana" pitchFamily="34" charset="0"/>
                  <a:ea typeface="Verdana" pitchFamily="34" charset="0"/>
                  <a:cs typeface="Times New Roman"/>
                </a:endParaRPr>
              </a:p>
            </p:txBody>
          </p:sp>
        </mc:Choice>
        <mc:Fallback xmlns="">
          <p:sp>
            <p:nvSpPr>
              <p:cNvPr id="24" name="Google Shape;320;p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4400" y="1330237"/>
                <a:ext cx="9858375" cy="3785611"/>
              </a:xfrm>
              <a:prstGeom prst="rect">
                <a:avLst/>
              </a:prstGeom>
              <a:blipFill rotWithShape="1">
                <a:blip r:embed="rId3"/>
                <a:stretch>
                  <a:fillRect l="-989" t="-1449" r="-1732" b="-2576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Google Shape;278;g104476d1465_1_17">
            <a:extLst>
              <a:ext uri="{FF2B5EF4-FFF2-40B4-BE49-F238E27FC236}">
                <a16:creationId xmlns="" xmlns:a16="http://schemas.microsoft.com/office/drawing/2014/main" id="{2B75021C-9817-6449-B54A-E1D9EB71417A}"/>
              </a:ext>
            </a:extLst>
          </p:cNvPr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41BFAC"/>
          </a:solidFill>
          <a:ln w="9525" cap="flat" cmpd="sng">
            <a:solidFill>
              <a:srgbClr val="41BFAC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dirty="0">
              <a:highlight>
                <a:srgbClr val="FFFF00"/>
              </a:highlight>
            </a:endParaRPr>
          </a:p>
        </p:txBody>
      </p:sp>
      <p:grpSp>
        <p:nvGrpSpPr>
          <p:cNvPr id="18" name="Group 17"/>
          <p:cNvGrpSpPr/>
          <p:nvPr/>
        </p:nvGrpSpPr>
        <p:grpSpPr>
          <a:xfrm>
            <a:off x="1460373" y="2964692"/>
            <a:ext cx="8327136" cy="1395355"/>
            <a:chOff x="2031300" y="3373600"/>
            <a:chExt cx="8327317" cy="1396077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grpSp>
          <p:nvGrpSpPr>
            <p:cNvPr id="19" name="Group 18"/>
            <p:cNvGrpSpPr/>
            <p:nvPr/>
          </p:nvGrpSpPr>
          <p:grpSpPr>
            <a:xfrm>
              <a:off x="2031300" y="3373600"/>
              <a:ext cx="8327317" cy="1396077"/>
              <a:chOff x="0" y="0"/>
              <a:chExt cx="8327317" cy="1396077"/>
            </a:xfrm>
          </p:grpSpPr>
          <p:sp>
            <p:nvSpPr>
              <p:cNvPr id="20" name="Rectangle 19"/>
              <p:cNvSpPr/>
              <p:nvPr/>
            </p:nvSpPr>
            <p:spPr>
              <a:xfrm>
                <a:off x="0" y="0"/>
                <a:ext cx="6629400" cy="812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>
                  <a:spcAft>
                    <a:spcPts val="1000"/>
                  </a:spcAft>
                </a:pPr>
                <a:r>
                  <a:rPr lang="en-US" sz="1200">
                    <a:latin typeface="Cambria"/>
                    <a:ea typeface="Times New Roman"/>
                    <a:cs typeface="Times New Roman"/>
                  </a:rPr>
                  <a:t> </a:t>
                </a:r>
                <a:endParaRPr lang="en-PH" sz="1200">
                  <a:latin typeface="Cambria"/>
                  <a:ea typeface="Times New Roman"/>
                  <a:cs typeface="Times New Roman"/>
                </a:endParaRPr>
              </a:p>
            </p:txBody>
          </p:sp>
          <p:sp>
            <p:nvSpPr>
              <p:cNvPr id="21" name="Rounded Rectangle 20"/>
              <p:cNvSpPr/>
              <p:nvPr/>
            </p:nvSpPr>
            <p:spPr>
              <a:xfrm>
                <a:off x="0" y="151556"/>
                <a:ext cx="8327317" cy="1244521"/>
              </a:xfrm>
              <a:prstGeom prst="roundRect">
                <a:avLst>
                  <a:gd name="adj" fmla="val 16667"/>
                </a:avLst>
              </a:prstGeom>
              <a:solidFill>
                <a:srgbClr val="E2EED5"/>
              </a:solidFill>
              <a:ln>
                <a:noFill/>
              </a:ln>
            </p:spPr>
            <p:txBody>
              <a:bodyPr spcFirstLastPara="1" wrap="square" lIns="91425" tIns="72000" rIns="91425" bIns="0" anchor="ctr" anchorCtr="0">
                <a:spAutoFit/>
              </a:bodyPr>
              <a:lstStyle/>
              <a:p>
                <a:pPr marL="717550">
                  <a:spcAft>
                    <a:spcPts val="1000"/>
                  </a:spcAft>
                </a:pPr>
                <a:r>
                  <a:rPr lang="en-US" sz="2000" b="1" i="1" dirty="0">
                    <a:solidFill>
                      <a:srgbClr val="6C993D"/>
                    </a:solidFill>
                    <a:latin typeface="Verdana"/>
                    <a:ea typeface="Verdana"/>
                    <a:cs typeface="Verdana"/>
                  </a:rPr>
                  <a:t>Simple interest</a:t>
                </a:r>
                <a:r>
                  <a:rPr lang="en-US" sz="2000" dirty="0">
                    <a:solidFill>
                      <a:srgbClr val="6C993D"/>
                    </a:solidFill>
                    <a:latin typeface="Verdana"/>
                    <a:ea typeface="Verdana"/>
                    <a:cs typeface="Verdana"/>
                  </a:rPr>
                  <a:t> is a method of computing interest. Interest is computed from the (original) principal alone, no matter how much money has accrued so far. </a:t>
                </a:r>
                <a:endParaRPr lang="en-PH" sz="2000" dirty="0">
                  <a:latin typeface="Cambria"/>
                  <a:ea typeface="Times New Roman"/>
                  <a:cs typeface="Times New Roman"/>
                </a:endParaRPr>
              </a:p>
            </p:txBody>
          </p:sp>
          <p:pic>
            <p:nvPicPr>
              <p:cNvPr id="22" name="Shape 7" descr="Icon&#10;&#10;Description automatically generated"/>
              <p:cNvPicPr preferRelativeResize="0"/>
              <p:nvPr/>
            </p:nvPicPr>
            <p:blipFill rotWithShape="1">
              <a:blip r:embed="rId4" cstate="screen">
                <a:alphaModFix/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/>
            </p:blipFill>
            <p:spPr>
              <a:xfrm>
                <a:off x="137385" y="503941"/>
                <a:ext cx="539750" cy="539750"/>
              </a:xfrm>
              <a:prstGeom prst="rect">
                <a:avLst/>
              </a:prstGeom>
              <a:noFill/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</p:pic>
        </p:grpSp>
      </p:grpSp>
      <p:sp>
        <p:nvSpPr>
          <p:cNvPr id="14" name="Google Shape;125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332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" name="Google Shape;126;g104476d1465_1_17"/>
          <p:cNvPicPr preferRelativeResize="0"/>
          <p:nvPr/>
        </p:nvPicPr>
        <p:blipFill rotWithShape="1"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  <p:sp>
        <p:nvSpPr>
          <p:cNvPr id="16" name="Google Shape;317;p19"/>
          <p:cNvSpPr txBox="1"/>
          <p:nvPr/>
        </p:nvSpPr>
        <p:spPr>
          <a:xfrm>
            <a:off x="1143000" y="30073"/>
            <a:ext cx="10515600" cy="10894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7.8.2 Guided Instruction: </a:t>
            </a:r>
            <a:r>
              <a:rPr lang="en-US" sz="3600" b="1" dirty="0" smtClean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/>
            </a:r>
            <a:br>
              <a:rPr lang="en-US" sz="3600" b="1" dirty="0" smtClean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600" b="1" dirty="0" smtClean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Simple </a:t>
            </a:r>
            <a:r>
              <a:rPr lang="en-US" sz="36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Interest</a:t>
            </a:r>
          </a:p>
        </p:txBody>
      </p:sp>
      <p:pic>
        <p:nvPicPr>
          <p:cNvPr id="17" name="Google Shape;318;p19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356616" y="201168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9024578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278;g104476d1465_1_17">
            <a:extLst>
              <a:ext uri="{FF2B5EF4-FFF2-40B4-BE49-F238E27FC236}">
                <a16:creationId xmlns="" xmlns:a16="http://schemas.microsoft.com/office/drawing/2014/main" id="{D2AEBEA3-B321-FF43-939E-DBF04267F34A}"/>
              </a:ext>
            </a:extLst>
          </p:cNvPr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41BFAC"/>
          </a:solidFill>
          <a:ln w="9525" cap="flat" cmpd="sng">
            <a:solidFill>
              <a:srgbClr val="41BFAC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dirty="0">
              <a:highlight>
                <a:srgbClr val="FFFF00"/>
              </a:highlight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Google Shape;179;p5"/>
              <p:cNvSpPr txBox="1"/>
              <p:nvPr/>
            </p:nvSpPr>
            <p:spPr>
              <a:xfrm>
                <a:off x="914400" y="487736"/>
                <a:ext cx="10515600" cy="48936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892175" indent="-457200">
                  <a:buFont typeface="+mj-lt"/>
                  <a:buAutoNum type="alphaLcPeriod" startAt="2"/>
                </a:pPr>
                <a:r>
                  <a:rPr lang="en-US" sz="2400" dirty="0">
                    <a:latin typeface="Verdana" pitchFamily="34" charset="0"/>
                    <a:ea typeface="Verdana" pitchFamily="34" charset="0"/>
                    <a:cs typeface="Cambria Math"/>
                  </a:rPr>
                  <a:t>How much money will be in Kristina’s savings account after one year if she makes no additional deposits or withdrawals after putting in her birthday money?</a:t>
                </a:r>
                <a:endParaRPr lang="en-PH" sz="2400" dirty="0">
                  <a:latin typeface="Verdana" pitchFamily="34" charset="0"/>
                  <a:ea typeface="Verdana" pitchFamily="34" charset="0"/>
                  <a:cs typeface="Times New Roman"/>
                </a:endParaRPr>
              </a:p>
              <a:p>
                <a:pPr marL="892175" indent="-457200">
                  <a:buFont typeface="+mj-lt"/>
                  <a:buAutoNum type="alphaLcPeriod" startAt="2"/>
                </a:pPr>
                <a:endParaRPr lang="en-US" sz="2400" dirty="0">
                  <a:latin typeface="Verdana" pitchFamily="34" charset="0"/>
                  <a:ea typeface="Verdana" pitchFamily="34" charset="0"/>
                  <a:cs typeface="Cambria Math"/>
                </a:endParaRPr>
              </a:p>
              <a:p>
                <a:pPr marL="892175" indent="-457200">
                  <a:buFont typeface="+mj-lt"/>
                  <a:buAutoNum type="alphaLcPeriod" startAt="2"/>
                </a:pPr>
                <a:endParaRPr lang="en-US" sz="2400" dirty="0">
                  <a:latin typeface="Verdana" pitchFamily="34" charset="0"/>
                  <a:ea typeface="Verdana" pitchFamily="34" charset="0"/>
                  <a:cs typeface="Cambria Math"/>
                </a:endParaRPr>
              </a:p>
              <a:p>
                <a:pPr marL="892175" indent="-457200">
                  <a:buFont typeface="+mj-lt"/>
                  <a:buAutoNum type="alphaLcPeriod" startAt="2"/>
                </a:pPr>
                <a:r>
                  <a:rPr lang="en-US" sz="2400" dirty="0">
                    <a:latin typeface="Verdana" pitchFamily="34" charset="0"/>
                    <a:ea typeface="Verdana" pitchFamily="34" charset="0"/>
                    <a:cs typeface="Cambria Math"/>
                  </a:rPr>
                  <a:t>Compare your answer with your partner and discuss how you determined the answer for Part B.</a:t>
                </a:r>
              </a:p>
              <a:p>
                <a:pPr marL="892175" indent="-457200">
                  <a:buFont typeface="+mj-lt"/>
                  <a:buAutoNum type="alphaLcPeriod" startAt="2"/>
                </a:pPr>
                <a:endParaRPr lang="en-US" sz="2400" dirty="0">
                  <a:latin typeface="Verdana" pitchFamily="34" charset="0"/>
                  <a:ea typeface="Verdana" pitchFamily="34" charset="0"/>
                  <a:cs typeface="Cambria Math"/>
                </a:endParaRPr>
              </a:p>
              <a:p>
                <a:pPr marL="892175" indent="-457200">
                  <a:buFont typeface="+mj-lt"/>
                  <a:buAutoNum type="alphaLcPeriod" startAt="2"/>
                </a:pPr>
                <a:endParaRPr lang="en-US" sz="2400" dirty="0">
                  <a:latin typeface="Verdana" pitchFamily="34" charset="0"/>
                  <a:ea typeface="Verdana" pitchFamily="34" charset="0"/>
                  <a:cs typeface="Cambria Math"/>
                </a:endParaRPr>
              </a:p>
              <a:p>
                <a:pPr marL="457200" indent="-457200">
                  <a:buFont typeface="+mj-lt"/>
                  <a:buAutoNum type="arabicPeriod" startAt="2"/>
                </a:pPr>
                <a:r>
                  <a:rPr lang="en-US" sz="2400" dirty="0">
                    <a:latin typeface="Verdana"/>
                    <a:ea typeface="Times New Roman"/>
                  </a:rPr>
                  <a:t>Suppose an investment of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/>
                        <a:ea typeface="Times New Roman"/>
                      </a:rPr>
                      <m:t>$100</m:t>
                    </m:r>
                  </m:oMath>
                </a14:m>
                <a:r>
                  <a:rPr lang="en-US" sz="2400" dirty="0">
                    <a:latin typeface="Verdana"/>
                    <a:ea typeface="Times New Roman"/>
                  </a:rPr>
                  <a:t> earns 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/>
                        <a:ea typeface="Times New Roman"/>
                      </a:rPr>
                      <m:t>$3.50</m:t>
                    </m:r>
                  </m:oMath>
                </a14:m>
                <a:r>
                  <a:rPr lang="en-US" sz="2400" dirty="0">
                    <a:latin typeface="Verdana"/>
                    <a:ea typeface="Times New Roman"/>
                  </a:rPr>
                  <a:t> interest in one year.</a:t>
                </a:r>
              </a:p>
              <a:p>
                <a:pPr marL="892175" indent="-457200">
                  <a:buSzPct val="100000"/>
                  <a:buFont typeface="+mj-lt"/>
                  <a:buAutoNum type="alphaLcPeriod"/>
                </a:pPr>
                <a:endParaRPr lang="en-US" sz="2400" dirty="0">
                  <a:latin typeface="Verdana"/>
                  <a:ea typeface="Times New Roman"/>
                </a:endParaRPr>
              </a:p>
              <a:p>
                <a:pPr marL="892175" indent="-457200">
                  <a:buSzPct val="100000"/>
                  <a:buFont typeface="+mj-lt"/>
                  <a:buAutoNum type="alphaLcPeriod"/>
                </a:pPr>
                <a:r>
                  <a:rPr lang="en-US" sz="2400" dirty="0">
                    <a:latin typeface="Verdana"/>
                    <a:ea typeface="Times New Roman"/>
                  </a:rPr>
                  <a:t>What investment amount will earn 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/>
                        <a:ea typeface="Times New Roman"/>
                      </a:rPr>
                      <m:t>$61.60</m:t>
                    </m:r>
                  </m:oMath>
                </a14:m>
                <a:r>
                  <a:rPr lang="en-US" sz="2400" dirty="0">
                    <a:latin typeface="Verdana"/>
                    <a:ea typeface="Times New Roman"/>
                  </a:rPr>
                  <a:t> in two years at the same rate?</a:t>
                </a:r>
                <a:endParaRPr lang="en-PH" sz="2400" dirty="0">
                  <a:latin typeface="Verdana" pitchFamily="34" charset="0"/>
                  <a:ea typeface="Verdana" pitchFamily="34" charset="0"/>
                  <a:cs typeface="Times New Roman"/>
                </a:endParaRPr>
              </a:p>
            </p:txBody>
          </p:sp>
        </mc:Choice>
        <mc:Fallback xmlns="">
          <p:sp>
            <p:nvSpPr>
              <p:cNvPr id="8" name="Google Shape;179;p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4400" y="487736"/>
                <a:ext cx="10515600" cy="4893607"/>
              </a:xfrm>
              <a:prstGeom prst="rect">
                <a:avLst/>
              </a:prstGeom>
              <a:blipFill rotWithShape="1">
                <a:blip r:embed="rId3"/>
                <a:stretch>
                  <a:fillRect l="-928" t="-996" r="-580" b="-1868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Google Shape;125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332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Google Shape;126;g104476d1465_1_17"/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61775000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Google Shape;179;p5"/>
          <p:cNvSpPr txBox="1"/>
          <p:nvPr/>
        </p:nvSpPr>
        <p:spPr>
          <a:xfrm>
            <a:off x="914400" y="487736"/>
            <a:ext cx="10515600" cy="50167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892175" indent="-457200">
              <a:buSzPct val="100000"/>
              <a:buFont typeface="+mj-lt"/>
              <a:buAutoNum type="alphaLcPeriod" startAt="2"/>
            </a:pPr>
            <a:r>
              <a:rPr lang="en-US" sz="2000" dirty="0">
                <a:latin typeface="Verdana"/>
                <a:ea typeface="Verdana"/>
                <a:cs typeface="Verdana"/>
              </a:rPr>
              <a:t>Ask two other partner pairs to describe how they found the initial investment. Record their initial investment and write your summary of their process. </a:t>
            </a:r>
            <a:r>
              <a:rPr lang="en-US" sz="2000" i="1" dirty="0">
                <a:latin typeface="Verdana"/>
                <a:ea typeface="Verdana"/>
                <a:cs typeface="Verdana"/>
              </a:rPr>
              <a:t>You are the only person who should write in the first two columns of the table.</a:t>
            </a:r>
            <a:r>
              <a:rPr lang="en-US" sz="2000" dirty="0">
                <a:latin typeface="Verdana"/>
                <a:ea typeface="Verdana"/>
                <a:cs typeface="Verdana"/>
              </a:rPr>
              <a:t> Have the person initial next to your summary stating that your summary was correct.</a:t>
            </a:r>
          </a:p>
          <a:p>
            <a:pPr marL="892175" indent="-457200">
              <a:buSzPct val="100000"/>
              <a:buFont typeface="+mj-lt"/>
              <a:buAutoNum type="alphaLcPeriod" startAt="2"/>
            </a:pPr>
            <a:endParaRPr lang="en-US" sz="2000" dirty="0">
              <a:latin typeface="Verdana"/>
              <a:ea typeface="Verdana"/>
              <a:cs typeface="Cambria Math"/>
            </a:endParaRPr>
          </a:p>
          <a:p>
            <a:pPr marL="892175" indent="-457200">
              <a:buSzPct val="100000"/>
              <a:buFont typeface="+mj-lt"/>
              <a:buAutoNum type="alphaLcPeriod" startAt="2"/>
            </a:pPr>
            <a:endParaRPr lang="en-US" sz="2000" dirty="0">
              <a:latin typeface="Verdana"/>
              <a:ea typeface="Verdana"/>
              <a:cs typeface="Cambria Math"/>
            </a:endParaRPr>
          </a:p>
          <a:p>
            <a:pPr marL="892175" indent="-457200">
              <a:buSzPct val="100000"/>
              <a:buFont typeface="+mj-lt"/>
              <a:buAutoNum type="alphaLcPeriod" startAt="2"/>
            </a:pPr>
            <a:endParaRPr lang="en-US" sz="2000" dirty="0">
              <a:latin typeface="Verdana"/>
              <a:ea typeface="Verdana"/>
              <a:cs typeface="Cambria Math"/>
            </a:endParaRPr>
          </a:p>
          <a:p>
            <a:pPr marL="892175" indent="-457200">
              <a:buSzPct val="100000"/>
              <a:buFont typeface="+mj-lt"/>
              <a:buAutoNum type="alphaLcPeriod" startAt="2"/>
            </a:pPr>
            <a:endParaRPr lang="en-US" sz="2000" dirty="0">
              <a:latin typeface="Verdana"/>
              <a:ea typeface="Verdana"/>
              <a:cs typeface="Cambria Math"/>
            </a:endParaRPr>
          </a:p>
          <a:p>
            <a:pPr marL="892175" indent="-457200">
              <a:buSzPct val="100000"/>
              <a:buFont typeface="+mj-lt"/>
              <a:buAutoNum type="alphaLcPeriod" startAt="2"/>
            </a:pPr>
            <a:endParaRPr lang="en-US" sz="2000" dirty="0">
              <a:latin typeface="Verdana"/>
              <a:ea typeface="Verdana"/>
              <a:cs typeface="Cambria Math"/>
            </a:endParaRPr>
          </a:p>
          <a:p>
            <a:pPr marL="892175" indent="-457200">
              <a:buSzPct val="100000"/>
              <a:buFont typeface="+mj-lt"/>
              <a:buAutoNum type="alphaLcPeriod" startAt="2"/>
            </a:pPr>
            <a:endParaRPr lang="en-US" sz="2000" dirty="0">
              <a:latin typeface="Verdana"/>
              <a:ea typeface="Verdana"/>
              <a:cs typeface="Cambria Math"/>
            </a:endParaRPr>
          </a:p>
          <a:p>
            <a:pPr marL="892175" indent="-457200">
              <a:buSzPct val="100000"/>
              <a:buFont typeface="+mj-lt"/>
              <a:buAutoNum type="alphaLcPeriod" startAt="2"/>
            </a:pPr>
            <a:endParaRPr lang="en-US" sz="2000" dirty="0">
              <a:latin typeface="Verdana"/>
              <a:ea typeface="Verdana"/>
              <a:cs typeface="Cambria Math"/>
            </a:endParaRPr>
          </a:p>
          <a:p>
            <a:pPr marL="892175" indent="-457200">
              <a:buSzPct val="100000"/>
              <a:buFont typeface="+mj-lt"/>
              <a:buAutoNum type="alphaLcPeriod" startAt="2"/>
            </a:pPr>
            <a:endParaRPr lang="en-US" sz="2000" dirty="0">
              <a:latin typeface="Verdana"/>
              <a:ea typeface="Verdana"/>
              <a:cs typeface="Cambria Math"/>
            </a:endParaRPr>
          </a:p>
          <a:p>
            <a:pPr marL="892175" indent="-457200">
              <a:buSzPct val="100000"/>
              <a:buFont typeface="+mj-lt"/>
              <a:buAutoNum type="alphaLcPeriod" startAt="2"/>
            </a:pPr>
            <a:endParaRPr lang="en-US" sz="2000" dirty="0">
              <a:latin typeface="Verdana"/>
              <a:ea typeface="Verdana"/>
              <a:cs typeface="Cambria Math"/>
            </a:endParaRPr>
          </a:p>
          <a:p>
            <a:pPr marL="892175" indent="-457200">
              <a:buSzPct val="100000"/>
              <a:buFont typeface="+mj-lt"/>
              <a:buAutoNum type="alphaLcPeriod" startAt="2"/>
            </a:pPr>
            <a:r>
              <a:rPr lang="en-US" sz="2000" dirty="0">
                <a:latin typeface="Verdana"/>
                <a:ea typeface="CambriaMath"/>
                <a:cs typeface="Cambria Math"/>
              </a:rPr>
              <a:t>Review the initial investments and reasons provided by other partner pairs. If necessary, fix any mistakes you and your partner made.</a:t>
            </a:r>
            <a:endParaRPr lang="en-PH" sz="2000" dirty="0">
              <a:latin typeface="Cambria"/>
              <a:ea typeface="Times New Roman"/>
            </a:endParaRPr>
          </a:p>
        </p:txBody>
      </p:sp>
      <p:sp>
        <p:nvSpPr>
          <p:cNvPr id="6" name="Google Shape;278;g104476d1465_1_17">
            <a:extLst>
              <a:ext uri="{FF2B5EF4-FFF2-40B4-BE49-F238E27FC236}">
                <a16:creationId xmlns="" xmlns:a16="http://schemas.microsoft.com/office/drawing/2014/main" id="{D2AEBEA3-B321-FF43-939E-DBF04267F34A}"/>
              </a:ext>
            </a:extLst>
          </p:cNvPr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41BFAC"/>
          </a:solidFill>
          <a:ln w="9525" cap="flat" cmpd="sng">
            <a:solidFill>
              <a:srgbClr val="41BFAC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dirty="0">
              <a:highlight>
                <a:srgbClr val="FFFF00"/>
              </a:highlight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08915961"/>
              </p:ext>
            </p:extLst>
          </p:nvPr>
        </p:nvGraphicFramePr>
        <p:xfrm>
          <a:off x="1943168" y="2362530"/>
          <a:ext cx="7380000" cy="2141040"/>
        </p:xfrm>
        <a:graphic>
          <a:graphicData uri="http://schemas.openxmlformats.org/drawingml/2006/table">
            <a:tbl>
              <a:tblPr bandRow="1"/>
              <a:tblGrid>
                <a:gridCol w="2520000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2880000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1980000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Verdana" pitchFamily="34" charset="0"/>
                          <a:ea typeface="Verdana" pitchFamily="34" charset="0"/>
                          <a:cs typeface="Verdana"/>
                        </a:rPr>
                        <a:t>Initial Investment</a:t>
                      </a:r>
                      <a:endParaRPr lang="en-PH" sz="2000" dirty="0">
                        <a:effectLst/>
                        <a:latin typeface="Verdana" pitchFamily="34" charset="0"/>
                        <a:ea typeface="Verdana" pitchFamily="34" charset="0"/>
                        <a:cs typeface="Times New Roman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Verdana" pitchFamily="34" charset="0"/>
                          <a:ea typeface="Verdana" pitchFamily="34" charset="0"/>
                          <a:cs typeface="Verdana"/>
                        </a:rPr>
                        <a:t>My Summary of Their Reason</a:t>
                      </a:r>
                      <a:endParaRPr lang="en-PH" sz="2000" dirty="0">
                        <a:effectLst/>
                        <a:latin typeface="Verdana" pitchFamily="34" charset="0"/>
                        <a:ea typeface="Verdana" pitchFamily="34" charset="0"/>
                        <a:cs typeface="Times New Roman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  <a:latin typeface="Verdana" pitchFamily="34" charset="0"/>
                          <a:ea typeface="Verdana" pitchFamily="34" charset="0"/>
                          <a:cs typeface="Verdana"/>
                        </a:rPr>
                        <a:t>Initials</a:t>
                      </a:r>
                      <a:endParaRPr lang="en-PH" sz="2000" dirty="0">
                        <a:effectLst/>
                        <a:latin typeface="Verdana" pitchFamily="34" charset="0"/>
                        <a:ea typeface="Verdana" pitchFamily="34" charset="0"/>
                        <a:cs typeface="Times New Roman"/>
                      </a:endParaRPr>
                    </a:p>
                  </a:txBody>
                  <a:tcPr anchor="ctr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pitchFamily="34" charset="0"/>
                          <a:ea typeface="Verdana" pitchFamily="34" charset="0"/>
                          <a:cs typeface="Verdana"/>
                        </a:rPr>
                        <a:t> </a:t>
                      </a:r>
                      <a:endParaRPr lang="en-PH" sz="2000" dirty="0">
                        <a:effectLst/>
                        <a:latin typeface="Verdana" pitchFamily="34" charset="0"/>
                        <a:ea typeface="Verdana" pitchFamily="34" charset="0"/>
                        <a:cs typeface="Times New Roman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pitchFamily="34" charset="0"/>
                          <a:ea typeface="Verdana" pitchFamily="34" charset="0"/>
                          <a:cs typeface="Verdana"/>
                        </a:rPr>
                        <a:t> </a:t>
                      </a:r>
                      <a:endParaRPr lang="en-PH" sz="2000" dirty="0">
                        <a:effectLst/>
                        <a:latin typeface="Verdana" pitchFamily="34" charset="0"/>
                        <a:ea typeface="Verdana" pitchFamily="34" charset="0"/>
                        <a:cs typeface="Times New Roman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Verdana" pitchFamily="34" charset="0"/>
                          <a:ea typeface="Verdana" pitchFamily="34" charset="0"/>
                          <a:cs typeface="Verdana"/>
                        </a:rPr>
                        <a:t> </a:t>
                      </a:r>
                      <a:endParaRPr lang="en-PH" sz="2000">
                        <a:effectLst/>
                        <a:latin typeface="Verdana" pitchFamily="34" charset="0"/>
                        <a:ea typeface="Verdana" pitchFamily="34" charset="0"/>
                        <a:cs typeface="Times New Roman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1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pitchFamily="34" charset="0"/>
                          <a:ea typeface="Verdana" pitchFamily="34" charset="0"/>
                          <a:cs typeface="Verdana"/>
                        </a:rPr>
                        <a:t> </a:t>
                      </a:r>
                      <a:endParaRPr lang="en-PH" sz="2000" dirty="0">
                        <a:effectLst/>
                        <a:latin typeface="Verdana" pitchFamily="34" charset="0"/>
                        <a:ea typeface="Verdana" pitchFamily="34" charset="0"/>
                        <a:cs typeface="Times New Roman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pitchFamily="34" charset="0"/>
                          <a:ea typeface="Verdana" pitchFamily="34" charset="0"/>
                          <a:cs typeface="Verdana"/>
                        </a:rPr>
                        <a:t> </a:t>
                      </a:r>
                      <a:endParaRPr lang="en-PH" sz="2000" dirty="0">
                        <a:effectLst/>
                        <a:latin typeface="Verdana" pitchFamily="34" charset="0"/>
                        <a:ea typeface="Verdana" pitchFamily="34" charset="0"/>
                        <a:cs typeface="Times New Roman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Verdana" pitchFamily="34" charset="0"/>
                          <a:ea typeface="Verdana" pitchFamily="34" charset="0"/>
                          <a:cs typeface="Verdana"/>
                        </a:rPr>
                        <a:t> </a:t>
                      </a:r>
                      <a:endParaRPr lang="en-PH" sz="2000" dirty="0">
                        <a:effectLst/>
                        <a:latin typeface="Verdana" pitchFamily="34" charset="0"/>
                        <a:ea typeface="Verdana" pitchFamily="34" charset="0"/>
                        <a:cs typeface="Times New Roman"/>
                      </a:endParaRPr>
                    </a:p>
                  </a:txBody>
                  <a:tcPr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=""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9" name="Google Shape;125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333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Google Shape;126;g104476d1465_1_17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6065116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278;g104476d1465_1_17">
            <a:extLst>
              <a:ext uri="{FF2B5EF4-FFF2-40B4-BE49-F238E27FC236}">
                <a16:creationId xmlns="" xmlns:a16="http://schemas.microsoft.com/office/drawing/2014/main" id="{D2AEBEA3-B321-FF43-939E-DBF04267F34A}"/>
              </a:ext>
            </a:extLst>
          </p:cNvPr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41BFAC"/>
          </a:solidFill>
          <a:ln w="9525" cap="flat" cmpd="sng">
            <a:solidFill>
              <a:srgbClr val="41BFAC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dirty="0">
              <a:highlight>
                <a:srgbClr val="FFFF00"/>
              </a:highlight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Rounded Rectangle 6"/>
              <p:cNvSpPr/>
              <p:nvPr/>
            </p:nvSpPr>
            <p:spPr>
              <a:xfrm>
                <a:off x="2007765" y="522415"/>
                <a:ext cx="8280000" cy="2190519"/>
              </a:xfrm>
              <a:prstGeom prst="roundRect">
                <a:avLst>
                  <a:gd name="adj" fmla="val 16667"/>
                </a:avLst>
              </a:prstGeom>
              <a:solidFill>
                <a:srgbClr val="AEDBF1"/>
              </a:solid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 spcFirstLastPara="1" wrap="square" lIns="91425" tIns="72000" rIns="91425" bIns="0" anchor="ctr" anchorCtr="0">
                <a:spAutoFit/>
              </a:bodyPr>
              <a:lstStyle/>
              <a:p>
                <a:pPr marL="628650">
                  <a:lnSpc>
                    <a:spcPct val="114000"/>
                  </a:lnSpc>
                  <a:spcAft>
                    <a:spcPts val="600"/>
                  </a:spcAft>
                </a:pPr>
                <a:r>
                  <a:rPr lang="en-US" sz="2000" b="1" dirty="0">
                    <a:solidFill>
                      <a:srgbClr val="00619E"/>
                    </a:solidFill>
                    <a:latin typeface="Verdana" pitchFamily="34" charset="0"/>
                    <a:ea typeface="Verdana" pitchFamily="34" charset="0"/>
                    <a:cs typeface="Verdana"/>
                  </a:rPr>
                  <a:t>Simple Interest Formula</a:t>
                </a:r>
                <a:endParaRPr lang="en-PH" sz="2000" dirty="0">
                  <a:latin typeface="Verdana" pitchFamily="34" charset="0"/>
                  <a:ea typeface="Verdana" pitchFamily="34" charset="0"/>
                  <a:cs typeface="Times New Roman"/>
                </a:endParaRPr>
              </a:p>
              <a:p>
                <a:pPr marL="628650">
                  <a:lnSpc>
                    <a:spcPct val="114000"/>
                  </a:lnSpc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en-US" sz="2000" b="1" i="1">
                          <a:solidFill>
                            <a:srgbClr val="00619E"/>
                          </a:solidFill>
                          <a:latin typeface="Cambria Math"/>
                          <a:ea typeface="Verdana"/>
                          <a:cs typeface="Verdana"/>
                        </a:rPr>
                        <m:t>𝑰</m:t>
                      </m:r>
                      <m:r>
                        <a:rPr lang="en-US" sz="2000" b="1" i="1">
                          <a:solidFill>
                            <a:srgbClr val="00619E"/>
                          </a:solidFill>
                          <a:latin typeface="Cambria Math"/>
                          <a:ea typeface="Verdana"/>
                          <a:cs typeface="Verdana"/>
                        </a:rPr>
                        <m:t>=</m:t>
                      </m:r>
                      <m:r>
                        <a:rPr lang="en-US" sz="2000" b="1" i="1">
                          <a:solidFill>
                            <a:srgbClr val="00619E"/>
                          </a:solidFill>
                          <a:latin typeface="Cambria Math"/>
                          <a:ea typeface="Verdana"/>
                          <a:cs typeface="Verdana"/>
                        </a:rPr>
                        <m:t>𝒑</m:t>
                      </m:r>
                      <m:r>
                        <a:rPr lang="en-US" sz="2000" b="1" i="1">
                          <a:solidFill>
                            <a:srgbClr val="00619E"/>
                          </a:solidFill>
                          <a:latin typeface="Cambria Math"/>
                          <a:ea typeface="Verdana"/>
                          <a:cs typeface="Verdana"/>
                        </a:rPr>
                        <m:t>×</m:t>
                      </m:r>
                      <m:r>
                        <a:rPr lang="en-US" sz="2000" b="1" i="1">
                          <a:solidFill>
                            <a:srgbClr val="00619E"/>
                          </a:solidFill>
                          <a:latin typeface="Cambria Math"/>
                          <a:ea typeface="Verdana"/>
                          <a:cs typeface="Verdana"/>
                        </a:rPr>
                        <m:t>𝒓</m:t>
                      </m:r>
                      <m:r>
                        <a:rPr lang="en-US" sz="2000" b="1" i="1">
                          <a:solidFill>
                            <a:srgbClr val="00619E"/>
                          </a:solidFill>
                          <a:latin typeface="Cambria Math"/>
                          <a:ea typeface="Verdana"/>
                          <a:cs typeface="Verdana"/>
                        </a:rPr>
                        <m:t>×</m:t>
                      </m:r>
                      <m:r>
                        <a:rPr lang="en-US" sz="2000" b="1" i="1">
                          <a:solidFill>
                            <a:srgbClr val="00619E"/>
                          </a:solidFill>
                          <a:latin typeface="Cambria Math"/>
                          <a:ea typeface="Verdana"/>
                          <a:cs typeface="Verdana"/>
                        </a:rPr>
                        <m:t>𝒕</m:t>
                      </m:r>
                    </m:oMath>
                  </m:oMathPara>
                </a14:m>
                <a:endParaRPr lang="en-PH" sz="2000" dirty="0">
                  <a:latin typeface="Verdana" pitchFamily="34" charset="0"/>
                  <a:ea typeface="Verdana" pitchFamily="34" charset="0"/>
                  <a:cs typeface="Times New Roman"/>
                </a:endParaRPr>
              </a:p>
              <a:p>
                <a:pPr marL="628650">
                  <a:spcAft>
                    <a:spcPts val="1000"/>
                  </a:spcAft>
                </a:pPr>
                <a:r>
                  <a:rPr lang="en-US" sz="2000" dirty="0">
                    <a:solidFill>
                      <a:srgbClr val="00619E"/>
                    </a:solidFill>
                    <a:latin typeface="Verdana" pitchFamily="34" charset="0"/>
                    <a:ea typeface="Verdana" pitchFamily="34" charset="0"/>
                    <a:cs typeface="Verdana"/>
                  </a:rPr>
                  <a:t>where 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rgbClr val="00619E"/>
                        </a:solidFill>
                        <a:latin typeface="Cambria Math"/>
                        <a:ea typeface="Verdana"/>
                        <a:cs typeface="Verdana"/>
                      </a:rPr>
                      <m:t>𝐼</m:t>
                    </m:r>
                  </m:oMath>
                </a14:m>
                <a:r>
                  <a:rPr lang="en-US" sz="2000" dirty="0">
                    <a:solidFill>
                      <a:srgbClr val="00619E"/>
                    </a:solidFill>
                    <a:latin typeface="Verdana" pitchFamily="34" charset="0"/>
                    <a:ea typeface="Verdana" pitchFamily="34" charset="0"/>
                    <a:cs typeface="Verdana"/>
                  </a:rPr>
                  <a:t> is the interest earned, 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rgbClr val="00619E"/>
                        </a:solidFill>
                        <a:latin typeface="Cambria Math"/>
                        <a:ea typeface="Verdana"/>
                        <a:cs typeface="Verdana"/>
                      </a:rPr>
                      <m:t>𝑝</m:t>
                    </m:r>
                  </m:oMath>
                </a14:m>
                <a:r>
                  <a:rPr lang="en-US" sz="2000" dirty="0">
                    <a:solidFill>
                      <a:srgbClr val="00619E"/>
                    </a:solidFill>
                    <a:latin typeface="Verdana" pitchFamily="34" charset="0"/>
                    <a:ea typeface="Verdana" pitchFamily="34" charset="0"/>
                    <a:cs typeface="Verdana"/>
                  </a:rPr>
                  <a:t> is the principal starting amount of money, 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rgbClr val="00619E"/>
                        </a:solidFill>
                        <a:latin typeface="Cambria Math"/>
                        <a:ea typeface="Verdana"/>
                        <a:cs typeface="Verdana"/>
                      </a:rPr>
                      <m:t>𝑟</m:t>
                    </m:r>
                  </m:oMath>
                </a14:m>
                <a:r>
                  <a:rPr lang="en-US" sz="2000" dirty="0">
                    <a:solidFill>
                      <a:srgbClr val="00619E"/>
                    </a:solidFill>
                    <a:latin typeface="Verdana" pitchFamily="34" charset="0"/>
                    <a:ea typeface="Verdana" pitchFamily="34" charset="0"/>
                    <a:cs typeface="Verdana"/>
                  </a:rPr>
                  <a:t> is the interest rate per year, and </a:t>
                </a:r>
                <a:br>
                  <a:rPr lang="en-US" sz="2000" dirty="0">
                    <a:solidFill>
                      <a:srgbClr val="00619E"/>
                    </a:solidFill>
                    <a:latin typeface="Verdana" pitchFamily="34" charset="0"/>
                    <a:ea typeface="Verdana" pitchFamily="34" charset="0"/>
                    <a:cs typeface="Verdana"/>
                  </a:rPr>
                </a:br>
                <a14:m>
                  <m:oMath xmlns:m="http://schemas.openxmlformats.org/officeDocument/2006/math">
                    <m:r>
                      <a:rPr lang="en-US" sz="2000" i="1">
                        <a:solidFill>
                          <a:srgbClr val="00619E"/>
                        </a:solidFill>
                        <a:latin typeface="Cambria Math"/>
                        <a:ea typeface="Verdana"/>
                        <a:cs typeface="Verdana"/>
                      </a:rPr>
                      <m:t>𝑡</m:t>
                    </m:r>
                  </m:oMath>
                </a14:m>
                <a:r>
                  <a:rPr lang="en-US" sz="2000" dirty="0">
                    <a:solidFill>
                      <a:srgbClr val="00619E"/>
                    </a:solidFill>
                    <a:latin typeface="Verdana" pitchFamily="34" charset="0"/>
                    <a:ea typeface="Verdana" pitchFamily="34" charset="0"/>
                    <a:cs typeface="Verdana"/>
                  </a:rPr>
                  <a:t> is the length of the investment.</a:t>
                </a:r>
                <a:endParaRPr lang="en-PH" sz="2000" dirty="0">
                  <a:latin typeface="Verdana" pitchFamily="34" charset="0"/>
                  <a:ea typeface="Verdana" pitchFamily="34" charset="0"/>
                  <a:cs typeface="Times New Roman"/>
                </a:endParaRPr>
              </a:p>
            </p:txBody>
          </p:sp>
        </mc:Choice>
        <mc:Fallback xmlns="">
          <p:sp>
            <p:nvSpPr>
              <p:cNvPr id="7" name="Rounded 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07765" y="522415"/>
                <a:ext cx="8280000" cy="2190519"/>
              </a:xfrm>
              <a:prstGeom prst="roundRect">
                <a:avLst>
                  <a:gd name="adj" fmla="val 16667"/>
                </a:avLst>
              </a:prstGeom>
              <a:blipFill>
                <a:blip r:embed="rId5"/>
                <a:stretch>
                  <a:fillRect/>
                </a:stretch>
              </a:blipFill>
              <a:ln>
                <a:noFill/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Shape 6" descr="Icon&#10;&#10;Description automatically generated"/>
          <p:cNvPicPr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152836" y="663129"/>
            <a:ext cx="548640" cy="54864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0" name="Google Shape;179;p5"/>
              <p:cNvSpPr txBox="1"/>
              <p:nvPr/>
            </p:nvSpPr>
            <p:spPr>
              <a:xfrm>
                <a:off x="914400" y="487736"/>
                <a:ext cx="10515600" cy="455505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457200" indent="-457200">
                  <a:spcAft>
                    <a:spcPts val="1200"/>
                  </a:spcAft>
                  <a:buFont typeface="+mj-lt"/>
                  <a:buAutoNum type="arabicPeriod" startAt="3"/>
                </a:pPr>
                <a:endParaRPr lang="en-US" sz="2000" dirty="0" smtClean="0">
                  <a:latin typeface="Verdana" pitchFamily="34" charset="0"/>
                  <a:ea typeface="Verdana" pitchFamily="34" charset="0"/>
                  <a:cs typeface="Cambria Math"/>
                </a:endParaRPr>
              </a:p>
              <a:p>
                <a:pPr marL="457200" indent="-457200">
                  <a:spcAft>
                    <a:spcPts val="1200"/>
                  </a:spcAft>
                  <a:buFont typeface="+mj-lt"/>
                  <a:buAutoNum type="arabicPeriod" startAt="3"/>
                </a:pPr>
                <a:endParaRPr lang="en-US" sz="2000" dirty="0">
                  <a:latin typeface="Verdana" pitchFamily="34" charset="0"/>
                  <a:ea typeface="Verdana" pitchFamily="34" charset="0"/>
                  <a:cs typeface="Cambria Math"/>
                </a:endParaRPr>
              </a:p>
              <a:p>
                <a:pPr marL="457200" indent="-457200">
                  <a:spcAft>
                    <a:spcPts val="1200"/>
                  </a:spcAft>
                  <a:buFont typeface="+mj-lt"/>
                  <a:buAutoNum type="arabicPeriod" startAt="3"/>
                </a:pPr>
                <a:endParaRPr lang="en-US" sz="2000" dirty="0" smtClean="0">
                  <a:latin typeface="Verdana" pitchFamily="34" charset="0"/>
                  <a:ea typeface="Verdana" pitchFamily="34" charset="0"/>
                  <a:cs typeface="Cambria Math"/>
                </a:endParaRPr>
              </a:p>
              <a:p>
                <a:pPr marL="457200" indent="-457200">
                  <a:spcAft>
                    <a:spcPts val="1200"/>
                  </a:spcAft>
                  <a:buFont typeface="+mj-lt"/>
                  <a:buAutoNum type="arabicPeriod" startAt="3"/>
                </a:pPr>
                <a:endParaRPr lang="en-US" sz="2000" dirty="0">
                  <a:latin typeface="Verdana" pitchFamily="34" charset="0"/>
                  <a:ea typeface="Verdana" pitchFamily="34" charset="0"/>
                  <a:cs typeface="Cambria Math"/>
                </a:endParaRPr>
              </a:p>
              <a:p>
                <a:pPr marL="457200" indent="-457200">
                  <a:spcAft>
                    <a:spcPts val="1200"/>
                  </a:spcAft>
                  <a:buFont typeface="+mj-lt"/>
                  <a:buAutoNum type="arabicPeriod" startAt="3"/>
                </a:pPr>
                <a:endParaRPr lang="en-US" sz="2000" dirty="0" smtClean="0">
                  <a:latin typeface="Verdana" pitchFamily="34" charset="0"/>
                  <a:ea typeface="Verdana" pitchFamily="34" charset="0"/>
                  <a:cs typeface="Cambria Math"/>
                </a:endParaRPr>
              </a:p>
              <a:p>
                <a:pPr marL="457200" indent="-457200">
                  <a:spcAft>
                    <a:spcPts val="1200"/>
                  </a:spcAft>
                  <a:buFont typeface="+mj-lt"/>
                  <a:buAutoNum type="arabicPeriod" startAt="3"/>
                </a:pPr>
                <a:endParaRPr lang="en-US" sz="2000" dirty="0" smtClean="0">
                  <a:latin typeface="Verdana" pitchFamily="34" charset="0"/>
                  <a:ea typeface="Verdana" pitchFamily="34" charset="0"/>
                  <a:cs typeface="Cambria Math"/>
                </a:endParaRPr>
              </a:p>
              <a:p>
                <a:pPr marL="457200" indent="-457200">
                  <a:spcAft>
                    <a:spcPts val="1200"/>
                  </a:spcAft>
                  <a:buFont typeface="+mj-lt"/>
                  <a:buAutoNum type="arabicPeriod" startAt="3"/>
                </a:pPr>
                <a:r>
                  <a:rPr lang="en-US" sz="2000" dirty="0" err="1" smtClean="0">
                    <a:latin typeface="Verdana" pitchFamily="34" charset="0"/>
                    <a:ea typeface="Verdana" pitchFamily="34" charset="0"/>
                    <a:cs typeface="Cambria Math"/>
                  </a:rPr>
                  <a:t>Tonio</a:t>
                </a:r>
                <a:r>
                  <a:rPr lang="en-US" sz="2000" dirty="0" smtClean="0">
                    <a:latin typeface="Verdana" pitchFamily="34" charset="0"/>
                    <a:ea typeface="Verdana" pitchFamily="34" charset="0"/>
                    <a:cs typeface="Cambria Math"/>
                  </a:rPr>
                  <a:t> </a:t>
                </a:r>
                <a:r>
                  <a:rPr lang="en-US" sz="2000" dirty="0">
                    <a:latin typeface="Verdana" pitchFamily="34" charset="0"/>
                    <a:ea typeface="Verdana" pitchFamily="34" charset="0"/>
                    <a:cs typeface="Cambria Math"/>
                  </a:rPr>
                  <a:t>took out a six-year car loan for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/>
                        <a:ea typeface="CambriaMath"/>
                        <a:cs typeface="Cambria Math"/>
                      </a:rPr>
                      <m:t>$15,600</m:t>
                    </m:r>
                  </m:oMath>
                </a14:m>
                <a:r>
                  <a:rPr lang="en-US" sz="2000" dirty="0">
                    <a:latin typeface="Verdana" pitchFamily="34" charset="0"/>
                    <a:ea typeface="Verdana" pitchFamily="34" charset="0"/>
                    <a:cs typeface="Cambria Math"/>
                  </a:rPr>
                  <a:t>, with a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/>
                        <a:ea typeface="CambriaMath"/>
                        <a:cs typeface="Cambria Math"/>
                      </a:rPr>
                      <m:t>3%</m:t>
                    </m:r>
                  </m:oMath>
                </a14:m>
                <a:r>
                  <a:rPr lang="en-US" sz="2000" dirty="0">
                    <a:latin typeface="Verdana" pitchFamily="34" charset="0"/>
                    <a:ea typeface="Verdana" pitchFamily="34" charset="0"/>
                    <a:cs typeface="Cambria Math"/>
                  </a:rPr>
                  <a:t> simple interest rate over the life of </a:t>
                </a:r>
                <a:r>
                  <a:rPr lang="en-US" sz="2000" dirty="0" smtClean="0">
                    <a:latin typeface="Verdana" pitchFamily="34" charset="0"/>
                    <a:ea typeface="Verdana" pitchFamily="34" charset="0"/>
                    <a:cs typeface="Cambria Math"/>
                  </a:rPr>
                  <a:t>the </a:t>
                </a:r>
                <a:r>
                  <a:rPr lang="en-US" sz="2000" dirty="0">
                    <a:latin typeface="Verdana" pitchFamily="34" charset="0"/>
                    <a:ea typeface="Verdana" pitchFamily="34" charset="0"/>
                    <a:cs typeface="Cambria Math"/>
                  </a:rPr>
                  <a:t>loan. </a:t>
                </a:r>
                <a:endParaRPr lang="en-PH" sz="2000" dirty="0">
                  <a:latin typeface="Verdana" pitchFamily="34" charset="0"/>
                  <a:ea typeface="Verdana" pitchFamily="34" charset="0"/>
                  <a:cs typeface="Times New Roman"/>
                </a:endParaRPr>
              </a:p>
              <a:p>
                <a:pPr marL="892175" indent="-457200">
                  <a:buFont typeface="+mj-lt"/>
                  <a:buAutoNum type="alphaLcPeriod"/>
                </a:pPr>
                <a:r>
                  <a:rPr lang="en-US" sz="2000" dirty="0">
                    <a:latin typeface="Verdana" pitchFamily="34" charset="0"/>
                    <a:ea typeface="Verdana" pitchFamily="34" charset="0"/>
                    <a:cs typeface="Cambria Math"/>
                  </a:rPr>
                  <a:t>How much interest, in dollars, will </a:t>
                </a:r>
                <a:r>
                  <a:rPr lang="en-US" sz="2000" dirty="0" err="1">
                    <a:latin typeface="Verdana" pitchFamily="34" charset="0"/>
                    <a:ea typeface="Verdana" pitchFamily="34" charset="0"/>
                    <a:cs typeface="Cambria Math"/>
                  </a:rPr>
                  <a:t>Tonio</a:t>
                </a:r>
                <a:r>
                  <a:rPr lang="en-US" sz="2000" dirty="0">
                    <a:latin typeface="Verdana" pitchFamily="34" charset="0"/>
                    <a:ea typeface="Verdana" pitchFamily="34" charset="0"/>
                    <a:cs typeface="Cambria Math"/>
                  </a:rPr>
                  <a:t> pay annually?</a:t>
                </a:r>
              </a:p>
              <a:p>
                <a:pPr marL="892175" indent="-457200">
                  <a:buFont typeface="+mj-lt"/>
                  <a:buAutoNum type="alphaLcPeriod"/>
                </a:pPr>
                <a:endParaRPr lang="en-PH" sz="2000" dirty="0">
                  <a:latin typeface="Verdana" pitchFamily="34" charset="0"/>
                  <a:ea typeface="Verdana" pitchFamily="34" charset="0"/>
                  <a:cs typeface="Times New Roman"/>
                </a:endParaRPr>
              </a:p>
              <a:p>
                <a:pPr marL="892175" indent="-457200">
                  <a:buFont typeface="+mj-lt"/>
                  <a:buAutoNum type="alphaLcPeriod"/>
                </a:pPr>
                <a:r>
                  <a:rPr lang="en-US" sz="2000" dirty="0">
                    <a:latin typeface="Verdana" pitchFamily="34" charset="0"/>
                    <a:ea typeface="Verdana" pitchFamily="34" charset="0"/>
                    <a:cs typeface="Cambria Math"/>
                  </a:rPr>
                  <a:t>How much will </a:t>
                </a:r>
                <a:r>
                  <a:rPr lang="en-US" sz="2000" dirty="0" err="1">
                    <a:latin typeface="Verdana" pitchFamily="34" charset="0"/>
                    <a:ea typeface="Verdana" pitchFamily="34" charset="0"/>
                    <a:cs typeface="Cambria Math"/>
                  </a:rPr>
                  <a:t>Tonio</a:t>
                </a:r>
                <a:r>
                  <a:rPr lang="en-US" sz="2000" dirty="0">
                    <a:latin typeface="Verdana" pitchFamily="34" charset="0"/>
                    <a:ea typeface="Verdana" pitchFamily="34" charset="0"/>
                    <a:cs typeface="Cambria Math"/>
                  </a:rPr>
                  <a:t> pay in interest over the course of </a:t>
                </a:r>
                <a:r>
                  <a:rPr lang="en-US" sz="2000" b="1" dirty="0">
                    <a:latin typeface="Verdana" pitchFamily="34" charset="0"/>
                    <a:ea typeface="Verdana" pitchFamily="34" charset="0"/>
                    <a:cs typeface="Cambria Math"/>
                  </a:rPr>
                  <a:t>six</a:t>
                </a:r>
                <a:r>
                  <a:rPr lang="en-US" sz="2000" dirty="0">
                    <a:latin typeface="Verdana" pitchFamily="34" charset="0"/>
                    <a:ea typeface="Verdana" pitchFamily="34" charset="0"/>
                    <a:cs typeface="Cambria Math"/>
                  </a:rPr>
                  <a:t> years? </a:t>
                </a:r>
                <a:endParaRPr lang="en-PH" sz="2000" dirty="0">
                  <a:latin typeface="Verdana" pitchFamily="34" charset="0"/>
                  <a:ea typeface="Verdana" pitchFamily="34" charset="0"/>
                  <a:cs typeface="Times New Roman"/>
                </a:endParaRPr>
              </a:p>
            </p:txBody>
          </p:sp>
        </mc:Choice>
        <mc:Fallback>
          <p:sp>
            <p:nvSpPr>
              <p:cNvPr id="10" name="Google Shape;179;p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4400" y="487736"/>
                <a:ext cx="10515600" cy="4555053"/>
              </a:xfrm>
              <a:prstGeom prst="rect">
                <a:avLst/>
              </a:prstGeom>
              <a:blipFill rotWithShape="1">
                <a:blip r:embed="rId7"/>
                <a:stretch>
                  <a:fillRect l="-638" b="-1473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Google Shape;125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333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" name="Google Shape;126;g104476d1465_1_17"/>
          <p:cNvPicPr preferRelativeResize="0"/>
          <p:nvPr/>
        </p:nvPicPr>
        <p:blipFill rotWithShape="1">
          <a:blip r:embed="rId8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18293117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278;g104476d1465_1_17">
            <a:extLst>
              <a:ext uri="{FF2B5EF4-FFF2-40B4-BE49-F238E27FC236}">
                <a16:creationId xmlns="" xmlns:a16="http://schemas.microsoft.com/office/drawing/2014/main" id="{D2AEBEA3-B321-FF43-939E-DBF04267F34A}"/>
              </a:ext>
            </a:extLst>
          </p:cNvPr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41BFAC"/>
          </a:solidFill>
          <a:ln w="9525" cap="flat" cmpd="sng">
            <a:solidFill>
              <a:srgbClr val="41BFAC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dirty="0">
              <a:highlight>
                <a:srgbClr val="FFFF00"/>
              </a:highlight>
            </a:endParaRPr>
          </a:p>
        </p:txBody>
      </p:sp>
      <p:sp>
        <p:nvSpPr>
          <p:cNvPr id="8" name="Google Shape;179;p5"/>
          <p:cNvSpPr txBox="1"/>
          <p:nvPr/>
        </p:nvSpPr>
        <p:spPr>
          <a:xfrm>
            <a:off x="914400" y="487736"/>
            <a:ext cx="10515600" cy="41549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892175" indent="-457200">
              <a:buFont typeface="+mj-lt"/>
              <a:buAutoNum type="alphaLcPeriod" startAt="3"/>
            </a:pPr>
            <a:r>
              <a:rPr lang="en-US" sz="2400" dirty="0">
                <a:latin typeface="Verdana"/>
                <a:ea typeface="CambriaMath"/>
                <a:cs typeface="Cambria Math"/>
              </a:rPr>
              <a:t>What is the total amount </a:t>
            </a:r>
            <a:r>
              <a:rPr lang="en-US" sz="2400" dirty="0" err="1">
                <a:latin typeface="Verdana"/>
                <a:ea typeface="CambriaMath"/>
                <a:cs typeface="Cambria Math"/>
              </a:rPr>
              <a:t>Tonio</a:t>
            </a:r>
            <a:r>
              <a:rPr lang="en-US" sz="2400" dirty="0">
                <a:latin typeface="Verdana"/>
                <a:ea typeface="CambriaMath"/>
                <a:cs typeface="Cambria Math"/>
              </a:rPr>
              <a:t> will pay back at the end of his six-year loan?</a:t>
            </a:r>
            <a:endParaRPr lang="en-PH" sz="2400" dirty="0">
              <a:latin typeface="Cambria"/>
              <a:ea typeface="CambriaMath"/>
              <a:cs typeface="Times New Roman"/>
            </a:endParaRPr>
          </a:p>
          <a:p>
            <a:pPr marL="892175" indent="-457200">
              <a:buFont typeface="+mj-lt"/>
              <a:buAutoNum type="alphaLcPeriod" startAt="3"/>
            </a:pPr>
            <a:endParaRPr lang="en-US" sz="2400" dirty="0">
              <a:latin typeface="Verdana"/>
              <a:ea typeface="CambriaMath"/>
              <a:cs typeface="Cambria Math"/>
            </a:endParaRPr>
          </a:p>
          <a:p>
            <a:pPr marL="892175" indent="-457200">
              <a:buFont typeface="+mj-lt"/>
              <a:buAutoNum type="alphaLcPeriod" startAt="3"/>
            </a:pPr>
            <a:endParaRPr lang="en-US" sz="2400" dirty="0">
              <a:latin typeface="Verdana"/>
              <a:ea typeface="CambriaMath"/>
              <a:cs typeface="Cambria Math"/>
            </a:endParaRPr>
          </a:p>
          <a:p>
            <a:pPr marL="892175" indent="-457200">
              <a:buFont typeface="+mj-lt"/>
              <a:buAutoNum type="alphaLcPeriod" startAt="3"/>
            </a:pPr>
            <a:endParaRPr lang="en-US" sz="2400" dirty="0">
              <a:latin typeface="Verdana"/>
              <a:ea typeface="CambriaMath"/>
              <a:cs typeface="Cambria Math"/>
            </a:endParaRPr>
          </a:p>
          <a:p>
            <a:pPr marL="892175" indent="-457200">
              <a:buFont typeface="+mj-lt"/>
              <a:buAutoNum type="alphaLcPeriod" startAt="3"/>
            </a:pPr>
            <a:endParaRPr lang="en-US" sz="2400" dirty="0">
              <a:latin typeface="Verdana"/>
              <a:ea typeface="CambriaMath"/>
              <a:cs typeface="Cambria Math"/>
            </a:endParaRPr>
          </a:p>
          <a:p>
            <a:pPr marL="892175" indent="-457200">
              <a:buFont typeface="+mj-lt"/>
              <a:buAutoNum type="alphaLcPeriod" startAt="3"/>
            </a:pPr>
            <a:endParaRPr lang="en-US" sz="2400" dirty="0">
              <a:latin typeface="Verdana"/>
              <a:ea typeface="CambriaMath"/>
              <a:cs typeface="Cambria Math"/>
            </a:endParaRPr>
          </a:p>
          <a:p>
            <a:pPr marL="892175" indent="-457200">
              <a:buFont typeface="+mj-lt"/>
              <a:buAutoNum type="alphaLcPeriod" startAt="3"/>
            </a:pPr>
            <a:endParaRPr lang="en-US" sz="2400" dirty="0">
              <a:latin typeface="Verdana"/>
              <a:ea typeface="CambriaMath"/>
              <a:cs typeface="Cambria Math"/>
            </a:endParaRPr>
          </a:p>
          <a:p>
            <a:pPr marL="892175" indent="-457200">
              <a:buFont typeface="+mj-lt"/>
              <a:buAutoNum type="alphaLcPeriod" startAt="3"/>
            </a:pPr>
            <a:r>
              <a:rPr lang="en-US" sz="2400" dirty="0">
                <a:latin typeface="Verdana"/>
                <a:ea typeface="CambriaMath"/>
                <a:cs typeface="Cambria Math"/>
              </a:rPr>
              <a:t>Explain why the total amount </a:t>
            </a:r>
            <a:r>
              <a:rPr lang="en-US" sz="2400" dirty="0" err="1">
                <a:latin typeface="Verdana"/>
                <a:ea typeface="CambriaMath"/>
                <a:cs typeface="Cambria Math"/>
              </a:rPr>
              <a:t>Tonio</a:t>
            </a:r>
            <a:r>
              <a:rPr lang="en-US" sz="2400" dirty="0">
                <a:latin typeface="Verdana"/>
                <a:ea typeface="CambriaMath"/>
                <a:cs typeface="Cambria Math"/>
              </a:rPr>
              <a:t> will have paid back by the end of his loan is more than the loan amount he borrowed.</a:t>
            </a:r>
            <a:endParaRPr lang="en-PH" sz="2400" dirty="0">
              <a:latin typeface="Cambria"/>
              <a:ea typeface="Times New Roman"/>
              <a:cs typeface="Times New Roman"/>
            </a:endParaRPr>
          </a:p>
        </p:txBody>
      </p:sp>
      <p:sp>
        <p:nvSpPr>
          <p:cNvPr id="9" name="Google Shape;125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334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Google Shape;126;g104476d1465_1_17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00389865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41BFAC"/>
          </a:solidFill>
          <a:ln w="9525" cap="flat" cmpd="sng">
            <a:solidFill>
              <a:srgbClr val="41BFAC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116285" y="2766150"/>
            <a:ext cx="439693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Try It</a:t>
            </a:r>
            <a:endParaRPr sz="5100" b="1" dirty="0">
              <a:solidFill>
                <a:srgbClr val="33BEA6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7170" name="Picture 2">
            <a:extLst>
              <a:ext uri="{FF2B5EF4-FFF2-40B4-BE49-F238E27FC236}">
                <a16:creationId xmlns="" xmlns:a16="http://schemas.microsoft.com/office/drawing/2014/main" id="{B098E9CE-9B4F-0D4F-9369-4E0B8D4E3D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813171" y="2852928"/>
            <a:ext cx="1152144" cy="115214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Google Shape;125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334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126;g104476d1465_1_17"/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00685807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278;g104476d1465_1_17">
            <a:extLst>
              <a:ext uri="{FF2B5EF4-FFF2-40B4-BE49-F238E27FC236}">
                <a16:creationId xmlns="" xmlns:a16="http://schemas.microsoft.com/office/drawing/2014/main" id="{440AE1AA-6F88-2440-A824-BEA9B94BEF8D}"/>
              </a:ext>
            </a:extLst>
          </p:cNvPr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41BFAC"/>
          </a:solidFill>
          <a:ln w="9525" cap="flat" cmpd="sng">
            <a:solidFill>
              <a:srgbClr val="41BFAC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dirty="0">
              <a:highlight>
                <a:srgbClr val="FFFF00"/>
              </a:highlight>
            </a:endParaRPr>
          </a:p>
        </p:txBody>
      </p:sp>
      <p:sp>
        <p:nvSpPr>
          <p:cNvPr id="13" name="Google Shape;324;g103996e1364_0_25">
            <a:extLst>
              <a:ext uri="{FF2B5EF4-FFF2-40B4-BE49-F238E27FC236}">
                <a16:creationId xmlns="" xmlns:a16="http://schemas.microsoft.com/office/drawing/2014/main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128437" y="308327"/>
            <a:ext cx="10793931" cy="5354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2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7.8.3 Try It: Simple Interest</a:t>
            </a:r>
          </a:p>
        </p:txBody>
      </p:sp>
      <p:pic>
        <p:nvPicPr>
          <p:cNvPr id="14" name="Picture 2">
            <a:extLst>
              <a:ext uri="{FF2B5EF4-FFF2-40B4-BE49-F238E27FC236}">
                <a16:creationId xmlns="" xmlns:a16="http://schemas.microsoft.com/office/drawing/2014/main" id="{E0B7508E-1910-D441-91B6-6EA6022F20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56616" y="201168"/>
            <a:ext cx="749808" cy="74980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5" name="Google Shape;320;p19"/>
              <p:cNvSpPr txBox="1"/>
              <p:nvPr/>
            </p:nvSpPr>
            <p:spPr>
              <a:xfrm>
                <a:off x="914400" y="1330237"/>
                <a:ext cx="9858375" cy="410877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457200" indent="-457200">
                  <a:spcAft>
                    <a:spcPts val="1800"/>
                  </a:spcAft>
                  <a:buFont typeface="+mj-lt"/>
                  <a:buAutoNum type="arabicPeriod"/>
                </a:pPr>
                <a:r>
                  <a:rPr lang="en-US" sz="2400" dirty="0">
                    <a:latin typeface="Verdana"/>
                    <a:ea typeface="Times New Roman"/>
                    <a:cs typeface="Times New Roman"/>
                  </a:rPr>
                  <a:t>Quana is researching rates for investing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/>
                        <a:ea typeface="Times New Roman"/>
                        <a:cs typeface="Times New Roman"/>
                      </a:rPr>
                      <m:t>$3,500</m:t>
                    </m:r>
                  </m:oMath>
                </a14:m>
                <a:r>
                  <a:rPr lang="en-US" sz="2400" dirty="0">
                    <a:latin typeface="Verdana"/>
                    <a:ea typeface="Times New Roman"/>
                    <a:cs typeface="Times New Roman"/>
                  </a:rPr>
                  <a:t> over a </a:t>
                </a:r>
                <a:r>
                  <a:rPr lang="en-US" sz="2400" dirty="0" smtClean="0">
                    <a:latin typeface="Verdana"/>
                    <a:ea typeface="Times New Roman"/>
                    <a:cs typeface="Times New Roman"/>
                  </a:rPr>
                  <a:t/>
                </a:r>
                <a:br>
                  <a:rPr lang="en-US" sz="2400" dirty="0" smtClean="0">
                    <a:latin typeface="Verdana"/>
                    <a:ea typeface="Times New Roman"/>
                    <a:cs typeface="Times New Roman"/>
                  </a:rPr>
                </a:br>
                <a:r>
                  <a:rPr lang="en-US" sz="2400" dirty="0" smtClean="0">
                    <a:latin typeface="Cambria Math"/>
                    <a:ea typeface="Times New Roman"/>
                    <a:cs typeface="Times New Roman"/>
                  </a:rPr>
                  <a:t>3</a:t>
                </a:r>
                <a:r>
                  <a:rPr lang="en-US" sz="2400" dirty="0" smtClean="0">
                    <a:latin typeface="Verdana"/>
                    <a:ea typeface="Times New Roman"/>
                    <a:cs typeface="Times New Roman"/>
                  </a:rPr>
                  <a:t>-year </a:t>
                </a:r>
                <a:r>
                  <a:rPr lang="en-US" sz="2400" dirty="0">
                    <a:latin typeface="Verdana"/>
                    <a:ea typeface="Times New Roman"/>
                    <a:cs typeface="Times New Roman"/>
                  </a:rPr>
                  <a:t>period.</a:t>
                </a:r>
              </a:p>
              <a:p>
                <a:pPr marL="446088"/>
                <a:r>
                  <a:rPr lang="en-US" sz="2400" dirty="0">
                    <a:latin typeface="Verdana"/>
                    <a:ea typeface="Times New Roman"/>
                    <a:cs typeface="Times New Roman"/>
                  </a:rPr>
                  <a:t>How much money would </a:t>
                </a:r>
                <a:r>
                  <a:rPr lang="en-US" sz="2400" dirty="0" err="1">
                    <a:latin typeface="Verdana"/>
                    <a:ea typeface="Times New Roman"/>
                    <a:cs typeface="Times New Roman"/>
                  </a:rPr>
                  <a:t>Quana</a:t>
                </a:r>
                <a:r>
                  <a:rPr lang="en-US" sz="2400" dirty="0">
                    <a:latin typeface="Verdana"/>
                    <a:ea typeface="Times New Roman"/>
                    <a:cs typeface="Times New Roman"/>
                  </a:rPr>
                  <a:t> earn on an investment that offers a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/>
                        <a:ea typeface="Times New Roman"/>
                        <a:cs typeface="Times New Roman"/>
                      </a:rPr>
                      <m:t>4%</m:t>
                    </m:r>
                  </m:oMath>
                </a14:m>
                <a:r>
                  <a:rPr lang="en-US" sz="2400" dirty="0">
                    <a:latin typeface="Verdana"/>
                    <a:ea typeface="Times New Roman"/>
                    <a:cs typeface="Times New Roman"/>
                  </a:rPr>
                  <a:t> simple interest rate?</a:t>
                </a:r>
                <a:endParaRPr lang="en-PH" sz="2400" dirty="0">
                  <a:latin typeface="Cambria"/>
                  <a:ea typeface="Times New Roman"/>
                  <a:cs typeface="Times New Roman"/>
                </a:endParaRPr>
              </a:p>
              <a:p>
                <a:pPr marL="457200" indent="-457200">
                  <a:buFont typeface="+mj-lt"/>
                  <a:buAutoNum type="arabicPeriod" startAt="2"/>
                </a:pPr>
                <a:endParaRPr lang="en-US" sz="2400" dirty="0">
                  <a:latin typeface="Verdana"/>
                  <a:ea typeface="Times New Roman"/>
                  <a:cs typeface="Times New Roman"/>
                </a:endParaRPr>
              </a:p>
              <a:p>
                <a:pPr marL="457200" indent="-457200">
                  <a:spcAft>
                    <a:spcPts val="1800"/>
                  </a:spcAft>
                  <a:buFont typeface="+mj-lt"/>
                  <a:buAutoNum type="arabicPeriod" startAt="2"/>
                </a:pPr>
                <a:endParaRPr lang="en-US" sz="2400" dirty="0">
                  <a:latin typeface="Verdana"/>
                  <a:ea typeface="Times New Roman"/>
                  <a:cs typeface="Times New Roman"/>
                </a:endParaRPr>
              </a:p>
              <a:p>
                <a:pPr marL="457200" indent="-457200">
                  <a:spcAft>
                    <a:spcPts val="1800"/>
                  </a:spcAft>
                  <a:buFont typeface="+mj-lt"/>
                  <a:buAutoNum type="arabicPeriod" startAt="2"/>
                </a:pPr>
                <a:r>
                  <a:rPr lang="en-US" sz="2400" dirty="0">
                    <a:latin typeface="Verdana"/>
                    <a:ea typeface="Times New Roman"/>
                    <a:cs typeface="Times New Roman"/>
                  </a:rPr>
                  <a:t>Sanjay has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/>
                        <a:ea typeface="Times New Roman"/>
                        <a:cs typeface="Times New Roman"/>
                      </a:rPr>
                      <m:t>$750</m:t>
                    </m:r>
                  </m:oMath>
                </a14:m>
                <a:r>
                  <a:rPr lang="en-US" sz="2400" dirty="0">
                    <a:latin typeface="Verdana"/>
                    <a:ea typeface="Times New Roman"/>
                    <a:cs typeface="Times New Roman"/>
                  </a:rPr>
                  <a:t> he wants to put into a savings account.</a:t>
                </a:r>
              </a:p>
              <a:p>
                <a:pPr marL="446088"/>
                <a:r>
                  <a:rPr lang="en-US" sz="2400" dirty="0">
                    <a:latin typeface="Verdana"/>
                    <a:ea typeface="Times New Roman"/>
                    <a:cs typeface="Times New Roman"/>
                  </a:rPr>
                  <a:t>How much would he have at the end of </a:t>
                </a:r>
                <a:r>
                  <a:rPr lang="en-US" sz="2400" dirty="0">
                    <a:latin typeface="Cambria Math"/>
                    <a:ea typeface="Times New Roman"/>
                    <a:cs typeface="Times New Roman"/>
                  </a:rPr>
                  <a:t>5</a:t>
                </a:r>
                <a:r>
                  <a:rPr lang="en-US" sz="2400" dirty="0">
                    <a:latin typeface="Verdana"/>
                    <a:ea typeface="Times New Roman"/>
                    <a:cs typeface="Times New Roman"/>
                  </a:rPr>
                  <a:t> years in an account that offers a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/>
                        <a:ea typeface="Times New Roman"/>
                        <a:cs typeface="Times New Roman"/>
                      </a:rPr>
                      <m:t>2%</m:t>
                    </m:r>
                  </m:oMath>
                </a14:m>
                <a:r>
                  <a:rPr lang="en-US" sz="2400" dirty="0">
                    <a:latin typeface="Verdana"/>
                    <a:ea typeface="Times New Roman"/>
                    <a:cs typeface="Times New Roman"/>
                  </a:rPr>
                  <a:t> simple interest rate?</a:t>
                </a:r>
                <a:endParaRPr lang="en-PH" sz="2400" dirty="0">
                  <a:latin typeface="Cambria"/>
                  <a:ea typeface="Times New Roman"/>
                  <a:cs typeface="Times New Roman"/>
                </a:endParaRPr>
              </a:p>
            </p:txBody>
          </p:sp>
        </mc:Choice>
        <mc:Fallback xmlns="">
          <p:sp>
            <p:nvSpPr>
              <p:cNvPr id="15" name="Google Shape;320;p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4400" y="1330237"/>
                <a:ext cx="9858375" cy="4108777"/>
              </a:xfrm>
              <a:prstGeom prst="rect">
                <a:avLst/>
              </a:prstGeom>
              <a:blipFill rotWithShape="1">
                <a:blip r:embed="rId4"/>
                <a:stretch>
                  <a:fillRect l="-989" t="-1335" r="-1546" b="-2226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Google Shape;125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334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" name="Google Shape;126;g104476d1465_1_17"/>
          <p:cNvPicPr preferRelativeResize="0"/>
          <p:nvPr/>
        </p:nvPicPr>
        <p:blipFill rotWithShape="1"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84035946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41BFAC"/>
          </a:solidFill>
          <a:ln w="9525" cap="flat" cmpd="sng">
            <a:solidFill>
              <a:srgbClr val="41BFAC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665258" y="2766145"/>
            <a:ext cx="5002742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Collaboration</a:t>
            </a:r>
            <a:endParaRPr sz="5100" b="1" dirty="0">
              <a:solidFill>
                <a:srgbClr val="33BEA6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3074" name="Picture 2">
            <a:extLst>
              <a:ext uri="{FF2B5EF4-FFF2-40B4-BE49-F238E27FC236}">
                <a16:creationId xmlns="" xmlns:a16="http://schemas.microsoft.com/office/drawing/2014/main" id="{D0821C8B-4657-A74D-94B5-D6CF373A17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513114" y="2852923"/>
            <a:ext cx="1152144" cy="115214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Google Shape;125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335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Google Shape;126;g104476d1465_1_17"/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56078870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278;g104476d1465_1_17">
            <a:extLst>
              <a:ext uri="{FF2B5EF4-FFF2-40B4-BE49-F238E27FC236}">
                <a16:creationId xmlns="" xmlns:a16="http://schemas.microsoft.com/office/drawing/2014/main" id="{50C37AA2-8B34-A044-9CF0-D6F9EE428461}"/>
              </a:ext>
            </a:extLst>
          </p:cNvPr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41BFAC"/>
          </a:solidFill>
          <a:ln w="9525" cap="flat" cmpd="sng">
            <a:solidFill>
              <a:srgbClr val="41BFAC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dirty="0">
              <a:highlight>
                <a:srgbClr val="FFFF00"/>
              </a:highlight>
            </a:endParaRPr>
          </a:p>
        </p:txBody>
      </p:sp>
      <p:sp>
        <p:nvSpPr>
          <p:cNvPr id="13" name="Google Shape;125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335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" name="Google Shape;126;g104476d1465_1_17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  <p:sp>
        <p:nvSpPr>
          <p:cNvPr id="15" name="Google Shape;197;p7"/>
          <p:cNvSpPr txBox="1"/>
          <p:nvPr/>
        </p:nvSpPr>
        <p:spPr>
          <a:xfrm>
            <a:off x="1143000" y="308327"/>
            <a:ext cx="10515600" cy="5354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2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7.8.4 Collaboration: </a:t>
            </a:r>
            <a:r>
              <a:rPr lang="en-US" sz="3200" b="1" dirty="0" smtClean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Comparing </a:t>
            </a:r>
            <a:r>
              <a:rPr lang="en-US" sz="32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Interest</a:t>
            </a:r>
          </a:p>
        </p:txBody>
      </p:sp>
      <p:pic>
        <p:nvPicPr>
          <p:cNvPr id="16" name="Google Shape;199;p7"/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56616" y="201168"/>
            <a:ext cx="749808" cy="749808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7" name="Google Shape;200;p7"/>
              <p:cNvSpPr txBox="1"/>
              <p:nvPr/>
            </p:nvSpPr>
            <p:spPr>
              <a:xfrm>
                <a:off x="914400" y="1368628"/>
                <a:ext cx="10182225" cy="363172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>
                  <a:spcAft>
                    <a:spcPts val="1800"/>
                  </a:spcAft>
                </a:pPr>
                <a:r>
                  <a:rPr lang="en-US" sz="2000" dirty="0">
                    <a:latin typeface="Verdana"/>
                    <a:ea typeface="CambriaMath"/>
                    <a:cs typeface="Cambria Math"/>
                  </a:rPr>
                  <a:t>Not all interest is simple interest; there is also </a:t>
                </a:r>
                <a:r>
                  <a:rPr lang="en-US" sz="2000" b="1" dirty="0">
                    <a:latin typeface="Verdana"/>
                    <a:ea typeface="CambriaMath"/>
                    <a:cs typeface="Cambria Math"/>
                  </a:rPr>
                  <a:t>compound interest</a:t>
                </a:r>
                <a:r>
                  <a:rPr lang="en-US" sz="2000" dirty="0">
                    <a:latin typeface="Verdana"/>
                    <a:ea typeface="CambriaMath"/>
                    <a:cs typeface="Cambria Math"/>
                  </a:rPr>
                  <a:t>. Compound interest is interest earned on interest over time.</a:t>
                </a:r>
                <a:endParaRPr lang="en-PH" sz="2000" dirty="0">
                  <a:latin typeface="Cambria"/>
                  <a:ea typeface="Times New Roman"/>
                  <a:cs typeface="Times New Roman"/>
                </a:endParaRPr>
              </a:p>
              <a:p>
                <a:pPr>
                  <a:spcAft>
                    <a:spcPts val="1800"/>
                  </a:spcAft>
                </a:pPr>
                <a:r>
                  <a:rPr lang="en-US" sz="2000" dirty="0">
                    <a:latin typeface="Verdana"/>
                    <a:ea typeface="Times New Roman"/>
                    <a:cs typeface="Times New Roman"/>
                  </a:rPr>
                  <a:t>With your partner, complete the following.</a:t>
                </a:r>
                <a:endParaRPr lang="en-PH" sz="2000" dirty="0">
                  <a:latin typeface="Cambria"/>
                  <a:ea typeface="Times New Roman"/>
                  <a:cs typeface="Times New Roman"/>
                </a:endParaRP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sz="2000" dirty="0">
                    <a:latin typeface="Verdana"/>
                    <a:ea typeface="CambriaMath"/>
                    <a:cs typeface="Cambria Math"/>
                  </a:rPr>
                  <a:t>Charlie wants to take out a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/>
                        <a:ea typeface="CambriaMath"/>
                        <a:cs typeface="Cambria Math"/>
                      </a:rPr>
                      <m:t>$5,750 </m:t>
                    </m:r>
                  </m:oMath>
                </a14:m>
                <a:r>
                  <a:rPr lang="en-US" sz="2000" dirty="0">
                    <a:latin typeface="Verdana"/>
                    <a:ea typeface="CambriaMath"/>
                    <a:cs typeface="Cambria Math"/>
                  </a:rPr>
                  <a:t>loan for new furniture. The bank offers him two different options for his loan. </a:t>
                </a:r>
                <a:r>
                  <a:rPr lang="en-US" sz="2000" dirty="0" smtClean="0">
                    <a:latin typeface="Verdana"/>
                    <a:ea typeface="CambriaMath"/>
                    <a:cs typeface="Cambria Math"/>
                  </a:rPr>
                  <a:t>He </a:t>
                </a:r>
                <a:r>
                  <a:rPr lang="en-US" sz="2000" dirty="0">
                    <a:latin typeface="Verdana"/>
                    <a:ea typeface="CambriaMath"/>
                    <a:cs typeface="Cambria Math"/>
                  </a:rPr>
                  <a:t>can take out a loan for three years at a rate of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/>
                        <a:ea typeface="CambriaMath"/>
                        <a:cs typeface="Cambria Math"/>
                      </a:rPr>
                      <m:t>4%</m:t>
                    </m:r>
                  </m:oMath>
                </a14:m>
                <a:r>
                  <a:rPr lang="en-US" sz="2000" dirty="0">
                    <a:latin typeface="Verdana"/>
                    <a:ea typeface="CambriaMath"/>
                    <a:cs typeface="Cambria Math"/>
                  </a:rPr>
                  <a:t> compounded annually, or he can take out a loan for four years at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/>
                        <a:ea typeface="CambriaMath"/>
                        <a:cs typeface="Cambria Math"/>
                      </a:rPr>
                      <m:t>5% </m:t>
                    </m:r>
                  </m:oMath>
                </a14:m>
                <a:r>
                  <a:rPr lang="en-US" sz="2000" dirty="0">
                    <a:latin typeface="Verdana"/>
                    <a:ea typeface="CambriaMath"/>
                    <a:cs typeface="Cambria Math"/>
                  </a:rPr>
                  <a:t>simple interest. </a:t>
                </a:r>
                <a:endParaRPr lang="en-PH" sz="2000" dirty="0"/>
              </a:p>
              <a:p>
                <a:pPr marL="457200"/>
                <a:r>
                  <a:rPr lang="en-US" sz="2000" dirty="0">
                    <a:latin typeface="Verdana"/>
                    <a:ea typeface="CambriaMath"/>
                    <a:cs typeface="Cambria Math"/>
                  </a:rPr>
                  <a:t> </a:t>
                </a:r>
                <a:endParaRPr lang="en-PH" sz="2000" dirty="0"/>
              </a:p>
              <a:p>
                <a:pPr marL="457200"/>
                <a:r>
                  <a:rPr lang="en-US" sz="2000" dirty="0">
                    <a:latin typeface="Verdana"/>
                    <a:ea typeface="CambriaMath"/>
                    <a:cs typeface="Cambria Math"/>
                  </a:rPr>
                  <a:t>When a loan is compounded, that means interest owed each year is based on the principal </a:t>
                </a:r>
                <a:r>
                  <a:rPr lang="en-US" sz="2000" i="1" dirty="0">
                    <a:latin typeface="Verdana"/>
                    <a:ea typeface="CambriaMath"/>
                    <a:cs typeface="Cambria Math"/>
                  </a:rPr>
                  <a:t>and</a:t>
                </a:r>
                <a:r>
                  <a:rPr lang="en-US" sz="2000" dirty="0">
                    <a:latin typeface="Verdana"/>
                    <a:ea typeface="CambriaMath"/>
                    <a:cs typeface="Cambria Math"/>
                  </a:rPr>
                  <a:t> any accrued interest, not the principal value alone.</a:t>
                </a:r>
                <a:endParaRPr lang="en-PH" sz="2000" dirty="0"/>
              </a:p>
            </p:txBody>
          </p:sp>
        </mc:Choice>
        <mc:Fallback>
          <p:sp>
            <p:nvSpPr>
              <p:cNvPr id="17" name="Google Shape;200;p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4400" y="1368628"/>
                <a:ext cx="10182225" cy="3631723"/>
              </a:xfrm>
              <a:prstGeom prst="rect">
                <a:avLst/>
              </a:prstGeom>
              <a:blipFill rotWithShape="1">
                <a:blip r:embed="rId5"/>
                <a:stretch>
                  <a:fillRect l="-659" t="-840" r="-1257" b="-218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PH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7443704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179;p5"/>
          <p:cNvSpPr txBox="1"/>
          <p:nvPr/>
        </p:nvSpPr>
        <p:spPr>
          <a:xfrm>
            <a:off x="914400" y="487736"/>
            <a:ext cx="10515600" cy="5901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892175" indent="-457200">
              <a:spcAft>
                <a:spcPts val="1800"/>
              </a:spcAft>
              <a:buFont typeface="+mj-lt"/>
              <a:buAutoNum type="alphaLcPeriod"/>
            </a:pPr>
            <a:r>
              <a:rPr lang="en-US" sz="2000" dirty="0">
                <a:latin typeface="Verdana"/>
                <a:ea typeface="CambriaMath"/>
                <a:cs typeface="Cambria Math"/>
              </a:rPr>
              <a:t>The compound interest table has been filled out. Complete the simple interest table to help Charlie choose the loan he will pay the least.</a:t>
            </a:r>
          </a:p>
          <a:p>
            <a:pPr marL="892175" indent="-457200">
              <a:spcBef>
                <a:spcPts val="900"/>
              </a:spcBef>
              <a:buFont typeface="+mj-lt"/>
              <a:buAutoNum type="alphaLcPeriod"/>
            </a:pPr>
            <a:endParaRPr lang="en-US" sz="2000" dirty="0">
              <a:latin typeface="Verdana"/>
              <a:ea typeface="CambriaMath"/>
              <a:cs typeface="Cambria Math"/>
            </a:endParaRPr>
          </a:p>
          <a:p>
            <a:pPr marL="892175" indent="-457200">
              <a:spcBef>
                <a:spcPts val="900"/>
              </a:spcBef>
              <a:buFont typeface="+mj-lt"/>
              <a:buAutoNum type="alphaLcPeriod"/>
            </a:pPr>
            <a:endParaRPr lang="en-US" sz="2000" dirty="0">
              <a:latin typeface="Verdana"/>
              <a:ea typeface="CambriaMath"/>
              <a:cs typeface="Cambria Math"/>
            </a:endParaRPr>
          </a:p>
          <a:p>
            <a:pPr marL="892175" indent="-457200">
              <a:spcBef>
                <a:spcPts val="900"/>
              </a:spcBef>
              <a:buFont typeface="+mj-lt"/>
              <a:buAutoNum type="alphaLcPeriod"/>
            </a:pPr>
            <a:endParaRPr lang="en-US" sz="2000" dirty="0">
              <a:latin typeface="Verdana"/>
              <a:ea typeface="CambriaMath"/>
              <a:cs typeface="Cambria Math"/>
            </a:endParaRPr>
          </a:p>
          <a:p>
            <a:pPr marL="892175" indent="-457200">
              <a:spcBef>
                <a:spcPts val="900"/>
              </a:spcBef>
              <a:buFont typeface="+mj-lt"/>
              <a:buAutoNum type="alphaLcPeriod"/>
            </a:pPr>
            <a:endParaRPr lang="en-US" sz="2000" dirty="0">
              <a:latin typeface="Verdana"/>
              <a:ea typeface="CambriaMath"/>
              <a:cs typeface="Cambria Math"/>
            </a:endParaRPr>
          </a:p>
          <a:p>
            <a:pPr marL="892175" indent="-457200">
              <a:spcBef>
                <a:spcPts val="900"/>
              </a:spcBef>
              <a:buFont typeface="+mj-lt"/>
              <a:buAutoNum type="alphaLcPeriod"/>
            </a:pPr>
            <a:endParaRPr lang="en-US" sz="2000" dirty="0">
              <a:latin typeface="Verdana"/>
              <a:ea typeface="CambriaMath"/>
              <a:cs typeface="Cambria Math"/>
            </a:endParaRPr>
          </a:p>
          <a:p>
            <a:pPr marL="892175" indent="-457200">
              <a:spcBef>
                <a:spcPts val="900"/>
              </a:spcBef>
              <a:buFont typeface="+mj-lt"/>
              <a:buAutoNum type="alphaLcPeriod"/>
            </a:pPr>
            <a:endParaRPr lang="en-US" sz="2000" dirty="0">
              <a:latin typeface="Verdana"/>
              <a:ea typeface="CambriaMath"/>
              <a:cs typeface="Cambria Math"/>
            </a:endParaRPr>
          </a:p>
          <a:p>
            <a:pPr marL="892175" indent="-457200">
              <a:spcBef>
                <a:spcPts val="900"/>
              </a:spcBef>
              <a:buFont typeface="+mj-lt"/>
              <a:buAutoNum type="alphaLcPeriod"/>
            </a:pPr>
            <a:endParaRPr lang="en-US" sz="2000" dirty="0">
              <a:latin typeface="Verdana"/>
              <a:ea typeface="CambriaMath"/>
              <a:cs typeface="Cambria Math"/>
            </a:endParaRPr>
          </a:p>
          <a:p>
            <a:pPr marL="892175" indent="-457200">
              <a:spcBef>
                <a:spcPts val="900"/>
              </a:spcBef>
              <a:buFont typeface="+mj-lt"/>
              <a:buAutoNum type="alphaLcPeriod"/>
            </a:pPr>
            <a:endParaRPr lang="en-US" sz="2000" dirty="0">
              <a:latin typeface="Verdana"/>
              <a:ea typeface="CambriaMath"/>
              <a:cs typeface="Cambria Math"/>
            </a:endParaRPr>
          </a:p>
          <a:p>
            <a:pPr marL="892175" indent="-457200">
              <a:spcBef>
                <a:spcPts val="900"/>
              </a:spcBef>
              <a:buFont typeface="+mj-lt"/>
              <a:buAutoNum type="alphaLcPeriod"/>
            </a:pPr>
            <a:endParaRPr lang="en-US" sz="2000" dirty="0">
              <a:latin typeface="Verdana"/>
              <a:ea typeface="CambriaMath"/>
              <a:cs typeface="Cambria Math"/>
            </a:endParaRPr>
          </a:p>
          <a:p>
            <a:pPr marL="892175" indent="-457200">
              <a:spcBef>
                <a:spcPts val="900"/>
              </a:spcBef>
              <a:buFont typeface="+mj-lt"/>
              <a:buAutoNum type="alphaLcPeriod"/>
            </a:pPr>
            <a:endParaRPr lang="en-US" sz="2000" dirty="0">
              <a:latin typeface="Verdana"/>
              <a:ea typeface="CambriaMath"/>
              <a:cs typeface="Cambria Math"/>
            </a:endParaRPr>
          </a:p>
          <a:p>
            <a:pPr marL="892175" indent="-457200">
              <a:spcBef>
                <a:spcPts val="900"/>
              </a:spcBef>
              <a:buFont typeface="+mj-lt"/>
              <a:buAutoNum type="alphaLcPeriod"/>
            </a:pPr>
            <a:endParaRPr lang="en-PH" sz="2000" dirty="0">
              <a:latin typeface="Cambria"/>
              <a:ea typeface="CambriaMath"/>
              <a:cs typeface="Times New Roman"/>
            </a:endParaRPr>
          </a:p>
          <a:p>
            <a:pPr marL="892175" indent="-457200">
              <a:buFont typeface="+mj-lt"/>
              <a:buAutoNum type="alphaLcPeriod"/>
              <a:tabLst>
                <a:tab pos="981075" algn="l"/>
              </a:tabLst>
            </a:pPr>
            <a:r>
              <a:rPr lang="en-US" sz="2000" dirty="0">
                <a:latin typeface="Verdana"/>
                <a:ea typeface="Times New Roman"/>
                <a:cs typeface="Times New Roman"/>
              </a:rPr>
              <a:t>Explain which loan Charlie should choose.</a:t>
            </a:r>
            <a:endParaRPr lang="en-PH" sz="2000" dirty="0">
              <a:latin typeface="Cambria"/>
              <a:ea typeface="Times New Roman"/>
              <a:cs typeface="Times New Roman"/>
            </a:endParaRPr>
          </a:p>
        </p:txBody>
      </p:sp>
      <p:sp>
        <p:nvSpPr>
          <p:cNvPr id="6" name="Google Shape;278;g104476d1465_1_17">
            <a:extLst>
              <a:ext uri="{FF2B5EF4-FFF2-40B4-BE49-F238E27FC236}">
                <a16:creationId xmlns="" xmlns:a16="http://schemas.microsoft.com/office/drawing/2014/main" id="{5B857E21-14F1-9C47-B2E8-32DB537DBF85}"/>
              </a:ext>
            </a:extLst>
          </p:cNvPr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41BFAC"/>
          </a:solidFill>
          <a:ln w="9525" cap="flat" cmpd="sng">
            <a:solidFill>
              <a:srgbClr val="41BFAC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dirty="0">
              <a:highlight>
                <a:srgbClr val="FFFF00"/>
              </a:highlight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le 2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706384157"/>
                  </p:ext>
                </p:extLst>
              </p:nvPr>
            </p:nvGraphicFramePr>
            <p:xfrm>
              <a:off x="1932374" y="1366586"/>
              <a:ext cx="5897700" cy="1728000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1440000">
                      <a:extLst>
                        <a:ext uri="{9D8B030D-6E8A-4147-A177-3AD203B41FA5}">
                          <a16:colId xmlns="" xmlns:a16="http://schemas.microsoft.com/office/drawing/2014/main" val="20000"/>
                        </a:ext>
                      </a:extLst>
                    </a:gridCol>
                    <a:gridCol w="4457700">
                      <a:extLst>
                        <a:ext uri="{9D8B030D-6E8A-4147-A177-3AD203B41FA5}">
                          <a16:colId xmlns="" xmlns:a16="http://schemas.microsoft.com/office/drawing/2014/main" val="20001"/>
                        </a:ext>
                      </a:extLst>
                    </a:gridCol>
                  </a:tblGrid>
                  <a:tr h="432000">
                    <a:tc gridSpan="2"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r>
                                <a:rPr lang="en-US" sz="2000" b="1" i="1">
                                  <a:effectLst/>
                                  <a:latin typeface="Cambria Math"/>
                                  <a:ea typeface="CambriaMath"/>
                                  <a:cs typeface="Cambria Math"/>
                                </a:rPr>
                                <m:t>𝟒</m:t>
                              </m:r>
                              <m:r>
                                <a:rPr lang="en-US" sz="2000" b="1" i="1">
                                  <a:effectLst/>
                                  <a:latin typeface="Cambria Math"/>
                                  <a:ea typeface="CambriaMath"/>
                                  <a:cs typeface="Cambria Math"/>
                                </a:rPr>
                                <m:t>%</m:t>
                              </m:r>
                            </m:oMath>
                          </a14:m>
                          <a:r>
                            <a:rPr lang="en-US" sz="2000" b="1" dirty="0">
                              <a:effectLst/>
                              <a:latin typeface="Verdana" pitchFamily="34" charset="0"/>
                              <a:ea typeface="Verdana" pitchFamily="34" charset="0"/>
                              <a:cs typeface="Cambria Math"/>
                            </a:rPr>
                            <a:t> Compound Interest</a:t>
                          </a:r>
                          <a:endParaRPr lang="en-PH" sz="2000" dirty="0">
                            <a:effectLst/>
                            <a:latin typeface="Verdana" pitchFamily="34" charset="0"/>
                            <a:ea typeface="Verdana" pitchFamily="34" charset="0"/>
                            <a:cs typeface="Times New Roman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PH"/>
                        </a:p>
                      </a:txBody>
                      <a:tcPr/>
                    </a:tc>
                    <a:extLst>
                      <a:ext uri="{0D108BD9-81ED-4DB2-BD59-A6C34878D82A}">
                        <a16:rowId xmlns="" xmlns:a16="http://schemas.microsoft.com/office/drawing/2014/main" val="10000"/>
                      </a:ext>
                    </a:extLst>
                  </a:tr>
                  <a:tr h="432000"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itchFamily="34" charset="0"/>
                              <a:ea typeface="Verdana" pitchFamily="34" charset="0"/>
                              <a:cs typeface="Cambria Math"/>
                            </a:rPr>
                            <a:t>Year 1</a:t>
                          </a:r>
                          <a:endParaRPr lang="en-PH" sz="2000" dirty="0">
                            <a:effectLst/>
                            <a:latin typeface="Verdana" pitchFamily="34" charset="0"/>
                            <a:ea typeface="Verdana" pitchFamily="34" charset="0"/>
                            <a:cs typeface="Times New Roman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>
                                    <a:effectLst/>
                                    <a:latin typeface="Cambria Math"/>
                                    <a:ea typeface="CambriaMath"/>
                                    <a:cs typeface="Cambria Math"/>
                                  </a:rPr>
                                  <m:t>5750∙1.04=5,980</m:t>
                                </m:r>
                              </m:oMath>
                            </m:oMathPara>
                          </a14:m>
                          <a:endParaRPr lang="en-PH" sz="2000" dirty="0">
                            <a:effectLst/>
                            <a:latin typeface="Verdana" pitchFamily="34" charset="0"/>
                            <a:ea typeface="Verdana" pitchFamily="34" charset="0"/>
                            <a:cs typeface="Times New Roman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="" xmlns:a16="http://schemas.microsoft.com/office/drawing/2014/main" val="10001"/>
                      </a:ext>
                    </a:extLst>
                  </a:tr>
                  <a:tr h="432000"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itchFamily="34" charset="0"/>
                              <a:ea typeface="Verdana" pitchFamily="34" charset="0"/>
                              <a:cs typeface="Cambria Math"/>
                            </a:rPr>
                            <a:t>Year 2</a:t>
                          </a:r>
                          <a:endParaRPr lang="en-PH" sz="2000" dirty="0">
                            <a:effectLst/>
                            <a:latin typeface="Verdana" pitchFamily="34" charset="0"/>
                            <a:ea typeface="Verdana" pitchFamily="34" charset="0"/>
                            <a:cs typeface="Times New Roman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>
                                    <a:effectLst/>
                                    <a:latin typeface="Cambria Math"/>
                                    <a:ea typeface="CambriaMath"/>
                                    <a:cs typeface="Cambria Math"/>
                                  </a:rPr>
                                  <m:t>5750∙1.04∙1.04=6219.20</m:t>
                                </m:r>
                              </m:oMath>
                            </m:oMathPara>
                          </a14:m>
                          <a:endParaRPr lang="en-PH" sz="2000" dirty="0">
                            <a:effectLst/>
                            <a:latin typeface="Verdana" pitchFamily="34" charset="0"/>
                            <a:ea typeface="Verdana" pitchFamily="34" charset="0"/>
                            <a:cs typeface="Times New Roman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="" xmlns:a16="http://schemas.microsoft.com/office/drawing/2014/main" val="10002"/>
                      </a:ext>
                    </a:extLst>
                  </a:tr>
                  <a:tr h="432000"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itchFamily="34" charset="0"/>
                              <a:ea typeface="Verdana" pitchFamily="34" charset="0"/>
                              <a:cs typeface="Cambria Math"/>
                            </a:rPr>
                            <a:t>Year 3</a:t>
                          </a:r>
                          <a:endParaRPr lang="en-PH" sz="2000" dirty="0">
                            <a:effectLst/>
                            <a:latin typeface="Verdana" pitchFamily="34" charset="0"/>
                            <a:ea typeface="Verdana" pitchFamily="34" charset="0"/>
                            <a:cs typeface="Times New Roman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>
                                    <a:effectLst/>
                                    <a:latin typeface="Cambria Math"/>
                                    <a:ea typeface="CambriaMath"/>
                                    <a:cs typeface="Cambria Math"/>
                                  </a:rPr>
                                  <m:t>5750∙1.04∙1.04∙1.04=6,467.97</m:t>
                                </m:r>
                              </m:oMath>
                            </m:oMathPara>
                          </a14:m>
                          <a:endParaRPr lang="en-PH" sz="2000" dirty="0">
                            <a:effectLst/>
                            <a:latin typeface="Verdana" pitchFamily="34" charset="0"/>
                            <a:ea typeface="Verdana" pitchFamily="34" charset="0"/>
                            <a:cs typeface="Times New Roman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="" xmlns:a16="http://schemas.microsoft.com/office/drawing/2014/main" val="1000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le 2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706384157"/>
                  </p:ext>
                </p:extLst>
              </p:nvPr>
            </p:nvGraphicFramePr>
            <p:xfrm>
              <a:off x="1932374" y="1366586"/>
              <a:ext cx="5897700" cy="1728000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1440000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20000"/>
                        </a:ext>
                      </a:extLst>
                    </a:gridCol>
                    <a:gridCol w="4457700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20001"/>
                        </a:ext>
                      </a:extLst>
                    </a:gridCol>
                  </a:tblGrid>
                  <a:tr h="432000">
                    <a:tc gridSpan="2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l="-103" t="-2817" r="-103" b="-321127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PH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0000"/>
                      </a:ext>
                    </a:extLst>
                  </a:tr>
                  <a:tr h="432000"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itchFamily="34" charset="0"/>
                              <a:ea typeface="Verdana" pitchFamily="34" charset="0"/>
                              <a:cs typeface="Cambria Math"/>
                            </a:rPr>
                            <a:t>Year 1</a:t>
                          </a:r>
                          <a:endParaRPr lang="en-PH" sz="2000" dirty="0">
                            <a:effectLst/>
                            <a:latin typeface="Verdana" pitchFamily="34" charset="0"/>
                            <a:ea typeface="Verdana" pitchFamily="34" charset="0"/>
                            <a:cs typeface="Times New Roman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l="-32421" t="-102817" r="-137" b="-22112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0001"/>
                      </a:ext>
                    </a:extLst>
                  </a:tr>
                  <a:tr h="432000"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itchFamily="34" charset="0"/>
                              <a:ea typeface="Verdana" pitchFamily="34" charset="0"/>
                              <a:cs typeface="Cambria Math"/>
                            </a:rPr>
                            <a:t>Year 2</a:t>
                          </a:r>
                          <a:endParaRPr lang="en-PH" sz="2000" dirty="0">
                            <a:effectLst/>
                            <a:latin typeface="Verdana" pitchFamily="34" charset="0"/>
                            <a:ea typeface="Verdana" pitchFamily="34" charset="0"/>
                            <a:cs typeface="Times New Roman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l="-32421" t="-202817" r="-137" b="-12112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0002"/>
                      </a:ext>
                    </a:extLst>
                  </a:tr>
                  <a:tr h="432000"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itchFamily="34" charset="0"/>
                              <a:ea typeface="Verdana" pitchFamily="34" charset="0"/>
                              <a:cs typeface="Cambria Math"/>
                            </a:rPr>
                            <a:t>Year 3</a:t>
                          </a:r>
                          <a:endParaRPr lang="en-PH" sz="2000" dirty="0">
                            <a:effectLst/>
                            <a:latin typeface="Verdana" pitchFamily="34" charset="0"/>
                            <a:ea typeface="Verdana" pitchFamily="34" charset="0"/>
                            <a:cs typeface="Times New Roman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l="-32421" t="-302817" r="-137" b="-21127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0003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le 4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934904715"/>
                  </p:ext>
                </p:extLst>
              </p:nvPr>
            </p:nvGraphicFramePr>
            <p:xfrm>
              <a:off x="1932375" y="3267379"/>
              <a:ext cx="5897700" cy="2429040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1440000">
                      <a:extLst>
                        <a:ext uri="{9D8B030D-6E8A-4147-A177-3AD203B41FA5}">
                          <a16:colId xmlns="" xmlns:a16="http://schemas.microsoft.com/office/drawing/2014/main" val="20000"/>
                        </a:ext>
                      </a:extLst>
                    </a:gridCol>
                    <a:gridCol w="4457700">
                      <a:extLst>
                        <a:ext uri="{9D8B030D-6E8A-4147-A177-3AD203B41FA5}">
                          <a16:colId xmlns="" xmlns:a16="http://schemas.microsoft.com/office/drawing/2014/main" val="20001"/>
                        </a:ext>
                      </a:extLst>
                    </a:gridCol>
                  </a:tblGrid>
                  <a:tr h="432000">
                    <a:tc gridSpan="2"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r>
                                <a:rPr lang="en-US" sz="2000" b="1" i="1">
                                  <a:effectLst/>
                                  <a:latin typeface="Cambria Math"/>
                                  <a:ea typeface="CambriaMath"/>
                                  <a:cs typeface="Cambria Math"/>
                                </a:rPr>
                                <m:t>𝟓</m:t>
                              </m:r>
                              <m:r>
                                <a:rPr lang="en-US" sz="2000" b="1" i="1">
                                  <a:effectLst/>
                                  <a:latin typeface="Cambria Math"/>
                                  <a:ea typeface="CambriaMath"/>
                                  <a:cs typeface="Cambria Math"/>
                                </a:rPr>
                                <m:t>%</m:t>
                              </m:r>
                            </m:oMath>
                          </a14:m>
                          <a:r>
                            <a:rPr lang="en-US" sz="2000" b="1" dirty="0">
                              <a:effectLst/>
                              <a:latin typeface="Verdana" pitchFamily="34" charset="0"/>
                              <a:ea typeface="Verdana" pitchFamily="34" charset="0"/>
                              <a:cs typeface="Cambria Math"/>
                            </a:rPr>
                            <a:t> Simple Interest</a:t>
                          </a:r>
                          <a:endParaRPr lang="en-PH" sz="2000" dirty="0">
                            <a:effectLst/>
                            <a:latin typeface="Verdana" pitchFamily="34" charset="0"/>
                            <a:ea typeface="Verdana" pitchFamily="34" charset="0"/>
                            <a:cs typeface="Times New Roman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PH"/>
                        </a:p>
                      </a:txBody>
                      <a:tcPr/>
                    </a:tc>
                    <a:extLst>
                      <a:ext uri="{0D108BD9-81ED-4DB2-BD59-A6C34878D82A}">
                        <a16:rowId xmlns="" xmlns:a16="http://schemas.microsoft.com/office/drawing/2014/main" val="10000"/>
                      </a:ext>
                    </a:extLst>
                  </a:tr>
                  <a:tr h="432000"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itchFamily="34" charset="0"/>
                              <a:ea typeface="Verdana" pitchFamily="34" charset="0"/>
                              <a:cs typeface="Cambria Math"/>
                            </a:rPr>
                            <a:t>Year 1</a:t>
                          </a:r>
                          <a:endParaRPr lang="en-PH" sz="2000" dirty="0">
                            <a:effectLst/>
                            <a:latin typeface="Verdana" pitchFamily="34" charset="0"/>
                            <a:ea typeface="Verdana" pitchFamily="34" charset="0"/>
                            <a:cs typeface="Times New Roman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sz="2000" i="1">
                                    <a:effectLst/>
                                    <a:latin typeface="Cambria Math"/>
                                    <a:ea typeface="CambriaMath"/>
                                    <a:cs typeface="Cambria Math"/>
                                  </a:rPr>
                                  <m:t>5750∙0.05∙1=287.50</m:t>
                                </m:r>
                              </m:oMath>
                            </m:oMathPara>
                          </a14:m>
                          <a:endParaRPr lang="en-PH" sz="2000" dirty="0">
                            <a:effectLst/>
                            <a:latin typeface="Verdana" pitchFamily="34" charset="0"/>
                            <a:ea typeface="Verdana" pitchFamily="34" charset="0"/>
                            <a:cs typeface="Times New Roman"/>
                          </a:endParaRPr>
                        </a:p>
                        <a:p>
                          <a:pPr algn="l"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sz="2000" i="1">
                                    <a:effectLst/>
                                    <a:latin typeface="Cambria Math"/>
                                    <a:ea typeface="CambriaMath"/>
                                    <a:cs typeface="Cambria Math"/>
                                  </a:rPr>
                                  <m:t>287.50+5750=6,037.50</m:t>
                                </m:r>
                              </m:oMath>
                            </m:oMathPara>
                          </a14:m>
                          <a:endParaRPr lang="en-PH" sz="2000" dirty="0">
                            <a:effectLst/>
                            <a:latin typeface="Verdana" pitchFamily="34" charset="0"/>
                            <a:ea typeface="Verdana" pitchFamily="34" charset="0"/>
                            <a:cs typeface="Times New Roman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="" xmlns:a16="http://schemas.microsoft.com/office/drawing/2014/main" val="10001"/>
                      </a:ext>
                    </a:extLst>
                  </a:tr>
                  <a:tr h="432000"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itchFamily="34" charset="0"/>
                              <a:ea typeface="Verdana" pitchFamily="34" charset="0"/>
                              <a:cs typeface="Cambria Math"/>
                            </a:rPr>
                            <a:t>Year 2</a:t>
                          </a:r>
                          <a:endParaRPr lang="en-PH" sz="2000" dirty="0">
                            <a:effectLst/>
                            <a:latin typeface="Verdana" pitchFamily="34" charset="0"/>
                            <a:ea typeface="Verdana" pitchFamily="34" charset="0"/>
                            <a:cs typeface="Times New Roman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sz="2000" i="1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/>
                                    <a:ea typeface="CambriaMath"/>
                                    <a:cs typeface="Cambria Math"/>
                                  </a:rPr>
                                  <m:t>5750∙0.05∙2=</m:t>
                                </m:r>
                              </m:oMath>
                            </m:oMathPara>
                          </a14:m>
                          <a:endParaRPr lang="en-PH" sz="2000" dirty="0">
                            <a:effectLst/>
                            <a:latin typeface="Verdana" pitchFamily="34" charset="0"/>
                            <a:ea typeface="Verdana" pitchFamily="34" charset="0"/>
                            <a:cs typeface="Times New Roman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="" xmlns:a16="http://schemas.microsoft.com/office/drawing/2014/main" val="10002"/>
                      </a:ext>
                    </a:extLst>
                  </a:tr>
                  <a:tr h="432000"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itchFamily="34" charset="0"/>
                              <a:ea typeface="Verdana" pitchFamily="34" charset="0"/>
                              <a:cs typeface="Cambria Math"/>
                            </a:rPr>
                            <a:t>Year 3</a:t>
                          </a:r>
                          <a:endParaRPr lang="en-PH" sz="2000" dirty="0">
                            <a:effectLst/>
                            <a:latin typeface="Verdana" pitchFamily="34" charset="0"/>
                            <a:ea typeface="Verdana" pitchFamily="34" charset="0"/>
                            <a:cs typeface="Times New Roman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itchFamily="34" charset="0"/>
                              <a:ea typeface="Verdana" pitchFamily="34" charset="0"/>
                              <a:cs typeface="Cambria Math"/>
                            </a:rPr>
                            <a:t> </a:t>
                          </a:r>
                          <a:endParaRPr lang="en-PH" sz="2000" dirty="0">
                            <a:effectLst/>
                            <a:latin typeface="Verdana" pitchFamily="34" charset="0"/>
                            <a:ea typeface="Verdana" pitchFamily="34" charset="0"/>
                            <a:cs typeface="Times New Roman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="" xmlns:a16="http://schemas.microsoft.com/office/drawing/2014/main" val="10003"/>
                      </a:ext>
                    </a:extLst>
                  </a:tr>
                  <a:tr h="432000"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itchFamily="34" charset="0"/>
                              <a:ea typeface="Verdana" pitchFamily="34" charset="0"/>
                              <a:cs typeface="Cambria Math"/>
                            </a:rPr>
                            <a:t>Year 4</a:t>
                          </a:r>
                          <a:endParaRPr lang="en-PH" sz="2000" dirty="0">
                            <a:effectLst/>
                            <a:latin typeface="Verdana" pitchFamily="34" charset="0"/>
                            <a:ea typeface="Verdana" pitchFamily="34" charset="0"/>
                            <a:cs typeface="Times New Roman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itchFamily="34" charset="0"/>
                              <a:ea typeface="Verdana" pitchFamily="34" charset="0"/>
                              <a:cs typeface="Cambria Math"/>
                            </a:rPr>
                            <a:t> </a:t>
                          </a:r>
                          <a:endParaRPr lang="en-PH" sz="2000" dirty="0">
                            <a:effectLst/>
                            <a:latin typeface="Verdana" pitchFamily="34" charset="0"/>
                            <a:ea typeface="Verdana" pitchFamily="34" charset="0"/>
                            <a:cs typeface="Times New Roman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="" xmlns:a16="http://schemas.microsoft.com/office/drawing/2014/main" val="1000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le 4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934904715"/>
                  </p:ext>
                </p:extLst>
              </p:nvPr>
            </p:nvGraphicFramePr>
            <p:xfrm>
              <a:off x="1932375" y="3267379"/>
              <a:ext cx="5897700" cy="2429040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1440000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20000"/>
                        </a:ext>
                      </a:extLst>
                    </a:gridCol>
                    <a:gridCol w="4457700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20001"/>
                        </a:ext>
                      </a:extLst>
                    </a:gridCol>
                  </a:tblGrid>
                  <a:tr h="432000">
                    <a:tc gridSpan="2"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l="-103" t="-2817" r="-103" b="-483099"/>
                          </a:stretch>
                        </a:blip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PH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0000"/>
                      </a:ext>
                    </a:extLst>
                  </a:tr>
                  <a:tr h="701040"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itchFamily="34" charset="0"/>
                              <a:ea typeface="Verdana" pitchFamily="34" charset="0"/>
                              <a:cs typeface="Cambria Math"/>
                            </a:rPr>
                            <a:t>Year 1</a:t>
                          </a:r>
                          <a:endParaRPr lang="en-PH" sz="2000" dirty="0">
                            <a:effectLst/>
                            <a:latin typeface="Verdana" pitchFamily="34" charset="0"/>
                            <a:ea typeface="Verdana" pitchFamily="34" charset="0"/>
                            <a:cs typeface="Times New Roman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l="-32421" t="-63478" r="-137" b="-198261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0001"/>
                      </a:ext>
                    </a:extLst>
                  </a:tr>
                  <a:tr h="432000"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itchFamily="34" charset="0"/>
                              <a:ea typeface="Verdana" pitchFamily="34" charset="0"/>
                              <a:cs typeface="Cambria Math"/>
                            </a:rPr>
                            <a:t>Year 2</a:t>
                          </a:r>
                          <a:endParaRPr lang="en-PH" sz="2000" dirty="0">
                            <a:effectLst/>
                            <a:latin typeface="Verdana" pitchFamily="34" charset="0"/>
                            <a:ea typeface="Verdana" pitchFamily="34" charset="0"/>
                            <a:cs typeface="Times New Roman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4"/>
                          <a:stretch>
                            <a:fillRect l="-32421" t="-268571" r="-137" b="-225714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0002"/>
                      </a:ext>
                    </a:extLst>
                  </a:tr>
                  <a:tr h="432000"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itchFamily="34" charset="0"/>
                              <a:ea typeface="Verdana" pitchFamily="34" charset="0"/>
                              <a:cs typeface="Cambria Math"/>
                            </a:rPr>
                            <a:t>Year 3</a:t>
                          </a:r>
                          <a:endParaRPr lang="en-PH" sz="2000" dirty="0">
                            <a:effectLst/>
                            <a:latin typeface="Verdana" pitchFamily="34" charset="0"/>
                            <a:ea typeface="Verdana" pitchFamily="34" charset="0"/>
                            <a:cs typeface="Times New Roman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itchFamily="34" charset="0"/>
                              <a:ea typeface="Verdana" pitchFamily="34" charset="0"/>
                              <a:cs typeface="Cambria Math"/>
                            </a:rPr>
                            <a:t> </a:t>
                          </a:r>
                          <a:endParaRPr lang="en-PH" sz="2000" dirty="0">
                            <a:effectLst/>
                            <a:latin typeface="Verdana" pitchFamily="34" charset="0"/>
                            <a:ea typeface="Verdana" pitchFamily="34" charset="0"/>
                            <a:cs typeface="Times New Roman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0003"/>
                      </a:ext>
                    </a:extLst>
                  </a:tr>
                  <a:tr h="432000"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itchFamily="34" charset="0"/>
                              <a:ea typeface="Verdana" pitchFamily="34" charset="0"/>
                              <a:cs typeface="Cambria Math"/>
                            </a:rPr>
                            <a:t>Year 4</a:t>
                          </a:r>
                          <a:endParaRPr lang="en-PH" sz="2000" dirty="0">
                            <a:effectLst/>
                            <a:latin typeface="Verdana" pitchFamily="34" charset="0"/>
                            <a:ea typeface="Verdana" pitchFamily="34" charset="0"/>
                            <a:cs typeface="Times New Roman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bg1">
                            <a:lumMod val="75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spcAft>
                              <a:spcPts val="0"/>
                            </a:spcAft>
                          </a:pPr>
                          <a:r>
                            <a:rPr lang="en-US" sz="2000" dirty="0">
                              <a:effectLst/>
                              <a:latin typeface="Verdana" pitchFamily="34" charset="0"/>
                              <a:ea typeface="Verdana" pitchFamily="34" charset="0"/>
                              <a:cs typeface="Cambria Math"/>
                            </a:rPr>
                            <a:t> </a:t>
                          </a:r>
                          <a:endParaRPr lang="en-PH" sz="2000" dirty="0">
                            <a:effectLst/>
                            <a:latin typeface="Verdana" pitchFamily="34" charset="0"/>
                            <a:ea typeface="Verdana" pitchFamily="34" charset="0"/>
                            <a:cs typeface="Times New Roman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0004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9" name="Google Shape;125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335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" name="Google Shape;126;g104476d1465_1_17"/>
          <p:cNvPicPr preferRelativeResize="0"/>
          <p:nvPr/>
        </p:nvPicPr>
        <p:blipFill rotWithShape="1"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13484167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278;g104476d1465_1_17">
            <a:extLst>
              <a:ext uri="{FF2B5EF4-FFF2-40B4-BE49-F238E27FC236}">
                <a16:creationId xmlns="" xmlns:a16="http://schemas.microsoft.com/office/drawing/2014/main" id="{5B857E21-14F1-9C47-B2E8-32DB537DBF85}"/>
              </a:ext>
            </a:extLst>
          </p:cNvPr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41BFAC"/>
          </a:solidFill>
          <a:ln w="9525" cap="flat" cmpd="sng">
            <a:solidFill>
              <a:srgbClr val="41BFAC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dirty="0">
              <a:highlight>
                <a:srgbClr val="FFFF00"/>
              </a:highlight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Table 6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432894073"/>
                  </p:ext>
                </p:extLst>
              </p:nvPr>
            </p:nvGraphicFramePr>
            <p:xfrm>
              <a:off x="1503039" y="3901265"/>
              <a:ext cx="7914863" cy="2346960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720000">
                      <a:extLst>
                        <a:ext uri="{9D8B030D-6E8A-4147-A177-3AD203B41FA5}">
                          <a16:colId xmlns="" xmlns:a16="http://schemas.microsoft.com/office/drawing/2014/main" val="20000"/>
                        </a:ext>
                      </a:extLst>
                    </a:gridCol>
                    <a:gridCol w="3708000">
                      <a:extLst>
                        <a:ext uri="{9D8B030D-6E8A-4147-A177-3AD203B41FA5}">
                          <a16:colId xmlns="" xmlns:a16="http://schemas.microsoft.com/office/drawing/2014/main" val="20001"/>
                        </a:ext>
                      </a:extLst>
                    </a:gridCol>
                    <a:gridCol w="3486863">
                      <a:extLst>
                        <a:ext uri="{9D8B030D-6E8A-4147-A177-3AD203B41FA5}">
                          <a16:colId xmlns="" xmlns:a16="http://schemas.microsoft.com/office/drawing/2014/main" val="20002"/>
                        </a:ext>
                      </a:extLst>
                    </a:gridCol>
                  </a:tblGrid>
                  <a:tr h="209133">
                    <a:tc gridSpan="3"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1400" b="1" dirty="0">
                              <a:effectLst/>
                              <a:latin typeface="Verdana"/>
                              <a:ea typeface="Times New Roman"/>
                              <a:cs typeface="Times New Roman"/>
                            </a:rPr>
                            <a:t>Compound Interest</a:t>
                          </a:r>
                          <a:endParaRPr lang="en-PH" sz="1400" dirty="0">
                            <a:effectLst/>
                            <a:latin typeface="Cambria"/>
                            <a:ea typeface="Times New Roman"/>
                            <a:cs typeface="Times New Roman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PH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PH"/>
                        </a:p>
                      </a:txBody>
                      <a:tcPr/>
                    </a:tc>
                    <a:extLst>
                      <a:ext uri="{0D108BD9-81ED-4DB2-BD59-A6C34878D82A}">
                        <a16:rowId xmlns="" xmlns:a16="http://schemas.microsoft.com/office/drawing/2014/main" val="10000"/>
                      </a:ext>
                    </a:extLst>
                  </a:tr>
                  <a:tr h="365602"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1400" b="1" dirty="0">
                              <a:effectLst/>
                              <a:latin typeface="Verdana"/>
                              <a:ea typeface="Times New Roman"/>
                              <a:cs typeface="Times New Roman"/>
                            </a:rPr>
                            <a:t>Year</a:t>
                          </a:r>
                          <a:endParaRPr lang="en-PH" sz="1400" dirty="0">
                            <a:effectLst/>
                            <a:latin typeface="Cambria"/>
                            <a:ea typeface="Times New Roman"/>
                            <a:cs typeface="Times New Roman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1400" b="1" dirty="0">
                              <a:effectLst/>
                              <a:latin typeface="Verdana"/>
                              <a:ea typeface="Times New Roman"/>
                              <a:cs typeface="Times New Roman"/>
                            </a:rPr>
                            <a:t>Calculation</a:t>
                          </a:r>
                          <a:endParaRPr lang="en-PH" sz="1400" dirty="0">
                            <a:effectLst/>
                            <a:latin typeface="Cambria"/>
                            <a:ea typeface="Times New Roman"/>
                            <a:cs typeface="Times New Roman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1400" b="1" dirty="0">
                              <a:effectLst/>
                              <a:latin typeface="Verdana"/>
                              <a:ea typeface="Times New Roman"/>
                              <a:cs typeface="Times New Roman"/>
                            </a:rPr>
                            <a:t>Yearly Total </a:t>
                          </a:r>
                          <a:br>
                            <a:rPr lang="en-US" sz="1400" b="1" dirty="0">
                              <a:effectLst/>
                              <a:latin typeface="Verdana"/>
                              <a:ea typeface="Times New Roman"/>
                              <a:cs typeface="Times New Roman"/>
                            </a:rPr>
                          </a:br>
                          <a:r>
                            <a:rPr lang="en-US" sz="1400" b="1" dirty="0">
                              <a:effectLst/>
                              <a:latin typeface="Verdana"/>
                              <a:ea typeface="Times New Roman"/>
                              <a:cs typeface="Times New Roman"/>
                            </a:rPr>
                            <a:t>(rounded to the nearest whole)</a:t>
                          </a:r>
                          <a:endParaRPr lang="en-PH" sz="1400" dirty="0">
                            <a:effectLst/>
                            <a:latin typeface="Cambria"/>
                            <a:ea typeface="Times New Roman"/>
                            <a:cs typeface="Times New Roman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extLst>
                      <a:ext uri="{0D108BD9-81ED-4DB2-BD59-A6C34878D82A}">
                        <a16:rowId xmlns="" xmlns:a16="http://schemas.microsoft.com/office/drawing/2014/main" val="10001"/>
                      </a:ext>
                    </a:extLst>
                  </a:tr>
                  <a:tr h="180000"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1400" b="1" dirty="0">
                              <a:effectLst/>
                              <a:latin typeface="Cambria Math"/>
                              <a:ea typeface="Times New Roman"/>
                              <a:cs typeface="Times New Roman"/>
                            </a:rPr>
                            <a:t>1</a:t>
                          </a:r>
                          <a:endParaRPr lang="en-PH" sz="1400" dirty="0">
                            <a:effectLst/>
                            <a:latin typeface="Cambria"/>
                            <a:ea typeface="Times New Roman"/>
                            <a:cs typeface="Times New Roman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sz="1400" i="1">
                                    <a:effectLst/>
                                    <a:latin typeface="Cambria Math"/>
                                    <a:ea typeface="CambriaMath"/>
                                    <a:cs typeface="Cambria Math"/>
                                  </a:rPr>
                                  <m:t>$1,000 </m:t>
                                </m:r>
                                <m:d>
                                  <m:dPr>
                                    <m:ctrlPr>
                                      <a:rPr lang="en-PH" sz="1400" i="1">
                                        <a:effectLst/>
                                        <a:latin typeface="Cambria Math"/>
                                        <a:ea typeface="CambriaMath"/>
                                        <a:cs typeface="Cambria Math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400" i="1">
                                        <a:effectLst/>
                                        <a:latin typeface="Cambria Math"/>
                                        <a:ea typeface="CambriaMath"/>
                                        <a:cs typeface="Cambria Math"/>
                                      </a:rPr>
                                      <m:t>1.07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PH" sz="1400" dirty="0">
                            <a:effectLst/>
                            <a:latin typeface="Cambria"/>
                            <a:ea typeface="Times New Roman"/>
                            <a:cs typeface="Times New Roman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1400">
                              <a:effectLst/>
                              <a:latin typeface="Cambria Math"/>
                              <a:ea typeface="CambriaMath"/>
                              <a:cs typeface="Cambria Math"/>
                            </a:rPr>
                            <a:t>$1,070</a:t>
                          </a:r>
                          <a:endParaRPr lang="en-PH" sz="1400">
                            <a:effectLst/>
                            <a:latin typeface="Cambria"/>
                            <a:ea typeface="Times New Roman"/>
                            <a:cs typeface="Times New Roman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="" xmlns:a16="http://schemas.microsoft.com/office/drawing/2014/main" val="10002"/>
                      </a:ext>
                    </a:extLst>
                  </a:tr>
                  <a:tr h="180000"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1400" b="1">
                              <a:effectLst/>
                              <a:latin typeface="Cambria Math"/>
                              <a:ea typeface="Times New Roman"/>
                              <a:cs typeface="Times New Roman"/>
                            </a:rPr>
                            <a:t>2</a:t>
                          </a:r>
                          <a:endParaRPr lang="en-PH" sz="1400">
                            <a:effectLst/>
                            <a:latin typeface="Cambria"/>
                            <a:ea typeface="Times New Roman"/>
                            <a:cs typeface="Times New Roman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sz="1400" i="1">
                                    <a:effectLst/>
                                    <a:latin typeface="Cambria Math"/>
                                    <a:ea typeface="CambriaMath"/>
                                    <a:cs typeface="Cambria Math"/>
                                  </a:rPr>
                                  <m:t>$1,000 </m:t>
                                </m:r>
                                <m:d>
                                  <m:dPr>
                                    <m:ctrlPr>
                                      <a:rPr lang="en-PH" sz="1400" i="1">
                                        <a:effectLst/>
                                        <a:latin typeface="Cambria Math"/>
                                        <a:ea typeface="CambriaMath"/>
                                        <a:cs typeface="Cambria Math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400" i="1">
                                        <a:effectLst/>
                                        <a:latin typeface="Cambria Math"/>
                                        <a:ea typeface="CambriaMath"/>
                                        <a:cs typeface="Cambria Math"/>
                                      </a:rPr>
                                      <m:t>1.07</m:t>
                                    </m:r>
                                  </m:e>
                                </m:d>
                                <m:r>
                                  <a:rPr lang="en-US" sz="1400" i="1">
                                    <a:effectLst/>
                                    <a:latin typeface="Cambria Math"/>
                                    <a:ea typeface="CambriaMath"/>
                                    <a:cs typeface="Cambria Math"/>
                                  </a:rPr>
                                  <m:t> </m:t>
                                </m:r>
                                <m:d>
                                  <m:dPr>
                                    <m:ctrlPr>
                                      <a:rPr lang="en-PH" sz="1400" i="1">
                                        <a:effectLst/>
                                        <a:latin typeface="Cambria Math"/>
                                        <a:ea typeface="CambriaMath"/>
                                        <a:cs typeface="Cambria Math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400" i="1">
                                        <a:effectLst/>
                                        <a:latin typeface="Cambria Math"/>
                                        <a:ea typeface="CambriaMath"/>
                                        <a:cs typeface="Cambria Math"/>
                                      </a:rPr>
                                      <m:t>1.07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PH" sz="1400" dirty="0">
                            <a:effectLst/>
                            <a:latin typeface="Cambria"/>
                            <a:ea typeface="Times New Roman"/>
                            <a:cs typeface="Times New Roman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400" i="1">
                                    <a:effectLst/>
                                    <a:latin typeface="Cambria Math"/>
                                    <a:ea typeface="CambriaMath"/>
                                    <a:cs typeface="Cambria Math"/>
                                  </a:rPr>
                                  <m:t>$1,145</m:t>
                                </m:r>
                              </m:oMath>
                            </m:oMathPara>
                          </a14:m>
                          <a:endParaRPr lang="en-PH" sz="1400">
                            <a:effectLst/>
                            <a:latin typeface="Cambria"/>
                            <a:ea typeface="Times New Roman"/>
                            <a:cs typeface="Times New Roman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="" xmlns:a16="http://schemas.microsoft.com/office/drawing/2014/main" val="10003"/>
                      </a:ext>
                    </a:extLst>
                  </a:tr>
                  <a:tr h="180000"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1400" b="1">
                              <a:effectLst/>
                              <a:latin typeface="Cambria Math"/>
                              <a:ea typeface="Times New Roman"/>
                              <a:cs typeface="Times New Roman"/>
                            </a:rPr>
                            <a:t>3</a:t>
                          </a:r>
                          <a:endParaRPr lang="en-PH" sz="1400">
                            <a:effectLst/>
                            <a:latin typeface="Cambria"/>
                            <a:ea typeface="Times New Roman"/>
                            <a:cs typeface="Times New Roman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spcAft>
                              <a:spcPts val="0"/>
                            </a:spcAft>
                          </a:pPr>
                          <a14:m>
                            <m:oMath xmlns:m="http://schemas.openxmlformats.org/officeDocument/2006/math">
                              <m:r>
                                <a:rPr lang="en-US" sz="1400" i="1">
                                  <a:effectLst/>
                                  <a:latin typeface="Cambria Math"/>
                                  <a:ea typeface="CambriaMath"/>
                                  <a:cs typeface="Cambria Math"/>
                                </a:rPr>
                                <m:t>$1,000 </m:t>
                              </m:r>
                              <m:d>
                                <m:dPr>
                                  <m:ctrlPr>
                                    <a:rPr lang="en-PH" sz="1400" i="1">
                                      <a:effectLst/>
                                      <a:latin typeface="Cambria Math"/>
                                      <a:ea typeface="CambriaMath"/>
                                      <a:cs typeface="Cambria Math"/>
                                    </a:rPr>
                                  </m:ctrlPr>
                                </m:dPr>
                                <m:e>
                                  <m:r>
                                    <a:rPr lang="en-US" sz="1400" i="1">
                                      <a:effectLst/>
                                      <a:latin typeface="Cambria Math"/>
                                      <a:ea typeface="CambriaMath"/>
                                      <a:cs typeface="Cambria Math"/>
                                    </a:rPr>
                                    <m:t>1.07</m:t>
                                  </m:r>
                                </m:e>
                              </m:d>
                              <m:r>
                                <a:rPr lang="en-US" sz="1400" i="1">
                                  <a:effectLst/>
                                  <a:latin typeface="Cambria Math"/>
                                  <a:ea typeface="CambriaMath"/>
                                  <a:cs typeface="Cambria Math"/>
                                </a:rPr>
                                <m:t> </m:t>
                              </m:r>
                              <m:d>
                                <m:dPr>
                                  <m:ctrlPr>
                                    <a:rPr lang="en-PH" sz="1400" i="1">
                                      <a:effectLst/>
                                      <a:latin typeface="Cambria Math"/>
                                      <a:ea typeface="CambriaMath"/>
                                      <a:cs typeface="Cambria Math"/>
                                    </a:rPr>
                                  </m:ctrlPr>
                                </m:dPr>
                                <m:e>
                                  <m:r>
                                    <a:rPr lang="en-US" sz="1400" i="1">
                                      <a:effectLst/>
                                      <a:latin typeface="Cambria Math"/>
                                      <a:ea typeface="CambriaMath"/>
                                      <a:cs typeface="Cambria Math"/>
                                    </a:rPr>
                                    <m:t>1.07</m:t>
                                  </m:r>
                                </m:e>
                              </m:d>
                            </m:oMath>
                          </a14:m>
                          <a:r>
                            <a:rPr lang="en-US" sz="1400" dirty="0">
                              <a:effectLst/>
                              <a:latin typeface="Cambria Math"/>
                              <a:ea typeface="CambriaMath"/>
                              <a:cs typeface="Cambria Math"/>
                            </a:rPr>
                            <a:t> </a:t>
                          </a:r>
                          <a14:m>
                            <m:oMath xmlns:m="http://schemas.openxmlformats.org/officeDocument/2006/math">
                              <m:d>
                                <m:dPr>
                                  <m:ctrlPr>
                                    <a:rPr lang="en-PH" sz="1400" i="1">
                                      <a:effectLst/>
                                      <a:latin typeface="Cambria Math"/>
                                      <a:ea typeface="CambriaMath"/>
                                      <a:cs typeface="Cambria Math"/>
                                    </a:rPr>
                                  </m:ctrlPr>
                                </m:dPr>
                                <m:e>
                                  <m:r>
                                    <a:rPr lang="en-US" sz="1400" i="1">
                                      <a:effectLst/>
                                      <a:latin typeface="Cambria Math"/>
                                      <a:ea typeface="CambriaMath"/>
                                      <a:cs typeface="Cambria Math"/>
                                    </a:rPr>
                                    <m:t>1.07</m:t>
                                  </m:r>
                                </m:e>
                              </m:d>
                            </m:oMath>
                          </a14:m>
                          <a:endParaRPr lang="en-PH" sz="1400" dirty="0">
                            <a:effectLst/>
                            <a:latin typeface="Cambria"/>
                            <a:ea typeface="Times New Roman"/>
                            <a:cs typeface="Times New Roman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400" i="1">
                                    <a:effectLst/>
                                    <a:latin typeface="Cambria Math"/>
                                    <a:ea typeface="CambriaMath"/>
                                    <a:cs typeface="Cambria Math"/>
                                  </a:rPr>
                                  <m:t>$1,225</m:t>
                                </m:r>
                              </m:oMath>
                            </m:oMathPara>
                          </a14:m>
                          <a:endParaRPr lang="en-PH" sz="1400" dirty="0">
                            <a:effectLst/>
                            <a:latin typeface="Cambria"/>
                            <a:ea typeface="Times New Roman"/>
                            <a:cs typeface="Times New Roman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="" xmlns:a16="http://schemas.microsoft.com/office/drawing/2014/main" val="10004"/>
                      </a:ext>
                    </a:extLst>
                  </a:tr>
                  <a:tr h="180000"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1400" b="1">
                              <a:effectLst/>
                              <a:latin typeface="Cambria Math"/>
                              <a:ea typeface="Times New Roman"/>
                              <a:cs typeface="Times New Roman"/>
                            </a:rPr>
                            <a:t>4</a:t>
                          </a:r>
                          <a:endParaRPr lang="en-PH" sz="1400">
                            <a:effectLst/>
                            <a:latin typeface="Cambria"/>
                            <a:ea typeface="Times New Roman"/>
                            <a:cs typeface="Times New Roman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sz="1400" i="1">
                                    <a:effectLst/>
                                    <a:latin typeface="Cambria Math"/>
                                    <a:ea typeface="CambriaMath"/>
                                    <a:cs typeface="Cambria Math"/>
                                  </a:rPr>
                                  <m:t>$1,000 </m:t>
                                </m:r>
                                <m:d>
                                  <m:dPr>
                                    <m:ctrlPr>
                                      <a:rPr lang="en-PH" sz="1400" i="1">
                                        <a:effectLst/>
                                        <a:latin typeface="Cambria Math"/>
                                        <a:ea typeface="CambriaMath"/>
                                        <a:cs typeface="Cambria Math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400" i="1">
                                        <a:effectLst/>
                                        <a:latin typeface="Cambria Math"/>
                                        <a:ea typeface="CambriaMath"/>
                                        <a:cs typeface="Cambria Math"/>
                                      </a:rPr>
                                      <m:t>1.07</m:t>
                                    </m:r>
                                  </m:e>
                                </m:d>
                                <m:r>
                                  <a:rPr lang="en-US" sz="1400" i="1">
                                    <a:effectLst/>
                                    <a:latin typeface="Cambria Math"/>
                                    <a:ea typeface="CambriaMath"/>
                                    <a:cs typeface="Cambria Math"/>
                                  </a:rPr>
                                  <m:t> </m:t>
                                </m:r>
                                <m:d>
                                  <m:dPr>
                                    <m:ctrlPr>
                                      <a:rPr lang="en-PH" sz="1400" i="1">
                                        <a:effectLst/>
                                        <a:latin typeface="Cambria Math"/>
                                        <a:ea typeface="CambriaMath"/>
                                        <a:cs typeface="Cambria Math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400" i="1">
                                        <a:effectLst/>
                                        <a:latin typeface="Cambria Math"/>
                                        <a:ea typeface="CambriaMath"/>
                                        <a:cs typeface="Cambria Math"/>
                                      </a:rPr>
                                      <m:t>1.07</m:t>
                                    </m:r>
                                  </m:e>
                                </m:d>
                                <m:r>
                                  <a:rPr lang="en-US" sz="1400" i="1">
                                    <a:effectLst/>
                                    <a:latin typeface="Cambria Math"/>
                                    <a:ea typeface="CambriaMath"/>
                                    <a:cs typeface="Cambria Math"/>
                                  </a:rPr>
                                  <m:t> </m:t>
                                </m:r>
                                <m:d>
                                  <m:dPr>
                                    <m:ctrlPr>
                                      <a:rPr lang="en-PH" sz="1400" i="1">
                                        <a:effectLst/>
                                        <a:latin typeface="Cambria Math"/>
                                        <a:ea typeface="CambriaMath"/>
                                        <a:cs typeface="Cambria Math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400" i="1">
                                        <a:effectLst/>
                                        <a:latin typeface="Cambria Math"/>
                                        <a:ea typeface="CambriaMath"/>
                                        <a:cs typeface="Cambria Math"/>
                                      </a:rPr>
                                      <m:t>1.07</m:t>
                                    </m:r>
                                  </m:e>
                                </m:d>
                                <m:r>
                                  <a:rPr lang="en-US" sz="1400" i="1">
                                    <a:effectLst/>
                                    <a:latin typeface="Cambria Math"/>
                                    <a:ea typeface="CambriaMath"/>
                                    <a:cs typeface="Cambria Math"/>
                                  </a:rPr>
                                  <m:t> </m:t>
                                </m:r>
                                <m:d>
                                  <m:dPr>
                                    <m:ctrlPr>
                                      <a:rPr lang="en-PH" sz="1400" i="1">
                                        <a:effectLst/>
                                        <a:latin typeface="Cambria Math"/>
                                        <a:ea typeface="CambriaMath"/>
                                        <a:cs typeface="Cambria Math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400" i="1">
                                        <a:effectLst/>
                                        <a:latin typeface="Cambria Math"/>
                                        <a:ea typeface="CambriaMath"/>
                                        <a:cs typeface="Cambria Math"/>
                                      </a:rPr>
                                      <m:t>1.07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PH" sz="1400" dirty="0">
                            <a:effectLst/>
                            <a:latin typeface="Cambria"/>
                            <a:ea typeface="Times New Roman"/>
                            <a:cs typeface="Times New Roman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400" i="1">
                                    <a:effectLst/>
                                    <a:latin typeface="Cambria Math"/>
                                    <a:ea typeface="CambriaMath"/>
                                    <a:cs typeface="Cambria Math"/>
                                  </a:rPr>
                                  <m:t>$1,311</m:t>
                                </m:r>
                              </m:oMath>
                            </m:oMathPara>
                          </a14:m>
                          <a:endParaRPr lang="en-PH" sz="1400" dirty="0">
                            <a:effectLst/>
                            <a:latin typeface="Cambria"/>
                            <a:ea typeface="Times New Roman"/>
                            <a:cs typeface="Times New Roman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="" xmlns:a16="http://schemas.microsoft.com/office/drawing/2014/main" val="10005"/>
                      </a:ext>
                    </a:extLst>
                  </a:tr>
                  <a:tr h="180000"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1400" b="1" dirty="0">
                              <a:effectLst/>
                              <a:latin typeface="Cambria Math"/>
                              <a:ea typeface="Times New Roman"/>
                              <a:cs typeface="Times New Roman"/>
                            </a:rPr>
                            <a:t>5</a:t>
                          </a:r>
                          <a:endParaRPr lang="en-PH" sz="1400" dirty="0">
                            <a:effectLst/>
                            <a:latin typeface="Cambria"/>
                            <a:ea typeface="Times New Roman"/>
                            <a:cs typeface="Times New Roman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sz="1400" i="1">
                                    <a:effectLst/>
                                    <a:latin typeface="Cambria Math"/>
                                    <a:ea typeface="CambriaMath"/>
                                    <a:cs typeface="Cambria Math"/>
                                  </a:rPr>
                                  <m:t>$1,000 </m:t>
                                </m:r>
                                <m:d>
                                  <m:dPr>
                                    <m:ctrlPr>
                                      <a:rPr lang="en-PH" sz="1400" i="1">
                                        <a:effectLst/>
                                        <a:latin typeface="Cambria Math"/>
                                        <a:ea typeface="CambriaMath"/>
                                        <a:cs typeface="Cambria Math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400" i="1">
                                        <a:effectLst/>
                                        <a:latin typeface="Cambria Math"/>
                                        <a:ea typeface="CambriaMath"/>
                                        <a:cs typeface="Cambria Math"/>
                                      </a:rPr>
                                      <m:t>1.07</m:t>
                                    </m:r>
                                  </m:e>
                                </m:d>
                                <m:r>
                                  <a:rPr lang="en-US" sz="1400" i="1">
                                    <a:effectLst/>
                                    <a:latin typeface="Cambria Math"/>
                                    <a:ea typeface="CambriaMath"/>
                                    <a:cs typeface="Cambria Math"/>
                                  </a:rPr>
                                  <m:t> </m:t>
                                </m:r>
                                <m:d>
                                  <m:dPr>
                                    <m:ctrlPr>
                                      <a:rPr lang="en-PH" sz="1400" i="1">
                                        <a:effectLst/>
                                        <a:latin typeface="Cambria Math"/>
                                        <a:ea typeface="CambriaMath"/>
                                        <a:cs typeface="Cambria Math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400" i="1">
                                        <a:effectLst/>
                                        <a:latin typeface="Cambria Math"/>
                                        <a:ea typeface="CambriaMath"/>
                                        <a:cs typeface="Cambria Math"/>
                                      </a:rPr>
                                      <m:t>1.07</m:t>
                                    </m:r>
                                  </m:e>
                                </m:d>
                                <m:r>
                                  <a:rPr lang="en-US" sz="1400" i="1">
                                    <a:effectLst/>
                                    <a:latin typeface="Cambria Math"/>
                                    <a:ea typeface="CambriaMath"/>
                                    <a:cs typeface="Cambria Math"/>
                                  </a:rPr>
                                  <m:t> </m:t>
                                </m:r>
                                <m:d>
                                  <m:dPr>
                                    <m:ctrlPr>
                                      <a:rPr lang="en-PH" sz="1400" i="1">
                                        <a:effectLst/>
                                        <a:latin typeface="Cambria Math"/>
                                        <a:ea typeface="CambriaMath"/>
                                        <a:cs typeface="Cambria Math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400" i="1">
                                        <a:effectLst/>
                                        <a:latin typeface="Cambria Math"/>
                                        <a:ea typeface="CambriaMath"/>
                                        <a:cs typeface="Cambria Math"/>
                                      </a:rPr>
                                      <m:t>1.07</m:t>
                                    </m:r>
                                  </m:e>
                                </m:d>
                                <m:r>
                                  <a:rPr lang="en-US" sz="1400" i="1">
                                    <a:effectLst/>
                                    <a:latin typeface="Cambria Math"/>
                                    <a:ea typeface="CambriaMath"/>
                                    <a:cs typeface="Cambria Math"/>
                                  </a:rPr>
                                  <m:t> </m:t>
                                </m:r>
                                <m:d>
                                  <m:dPr>
                                    <m:ctrlPr>
                                      <a:rPr lang="en-PH" sz="1400" i="1">
                                        <a:effectLst/>
                                        <a:latin typeface="Cambria Math"/>
                                        <a:ea typeface="CambriaMath"/>
                                        <a:cs typeface="Cambria Math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400" i="1">
                                        <a:effectLst/>
                                        <a:latin typeface="Cambria Math"/>
                                        <a:ea typeface="CambriaMath"/>
                                        <a:cs typeface="Cambria Math"/>
                                      </a:rPr>
                                      <m:t>1.07</m:t>
                                    </m:r>
                                  </m:e>
                                </m:d>
                                <m:r>
                                  <a:rPr lang="en-US" sz="1400" i="1">
                                    <a:effectLst/>
                                    <a:latin typeface="Cambria Math"/>
                                    <a:ea typeface="CambriaMath"/>
                                    <a:cs typeface="Cambria Math"/>
                                  </a:rPr>
                                  <m:t> </m:t>
                                </m:r>
                                <m:d>
                                  <m:dPr>
                                    <m:ctrlPr>
                                      <a:rPr lang="en-PH" sz="1400" i="1">
                                        <a:effectLst/>
                                        <a:latin typeface="Cambria Math"/>
                                        <a:ea typeface="CambriaMath"/>
                                        <a:cs typeface="Cambria Math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400" i="1">
                                        <a:effectLst/>
                                        <a:latin typeface="Cambria Math"/>
                                        <a:ea typeface="CambriaMath"/>
                                        <a:cs typeface="Cambria Math"/>
                                      </a:rPr>
                                      <m:t>1.07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PH" sz="1400" dirty="0">
                            <a:effectLst/>
                            <a:latin typeface="Cambria"/>
                            <a:ea typeface="Times New Roman"/>
                            <a:cs typeface="Times New Roman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1400" dirty="0">
                              <a:effectLst/>
                              <a:latin typeface="Cambria Math"/>
                              <a:ea typeface="CambriaMath"/>
                              <a:cs typeface="Cambria Math"/>
                            </a:rPr>
                            <a:t>$1,403</a:t>
                          </a:r>
                          <a:endParaRPr lang="en-PH" sz="1400" dirty="0">
                            <a:effectLst/>
                            <a:latin typeface="Cambria"/>
                            <a:ea typeface="Times New Roman"/>
                            <a:cs typeface="Times New Roman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="" xmlns:a16="http://schemas.microsoft.com/office/drawing/2014/main" val="1000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Table 6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432894073"/>
                  </p:ext>
                </p:extLst>
              </p:nvPr>
            </p:nvGraphicFramePr>
            <p:xfrm>
              <a:off x="1503039" y="3901265"/>
              <a:ext cx="7914863" cy="2346960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720000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20000"/>
                        </a:ext>
                      </a:extLst>
                    </a:gridCol>
                    <a:gridCol w="3708000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20001"/>
                        </a:ext>
                      </a:extLst>
                    </a:gridCol>
                    <a:gridCol w="3486863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20002"/>
                        </a:ext>
                      </a:extLst>
                    </a:gridCol>
                  </a:tblGrid>
                  <a:tr h="304800">
                    <a:tc gridSpan="3"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1400" b="1" dirty="0">
                              <a:effectLst/>
                              <a:latin typeface="Verdana"/>
                              <a:ea typeface="Times New Roman"/>
                              <a:cs typeface="Times New Roman"/>
                            </a:rPr>
                            <a:t>Compound Interest</a:t>
                          </a:r>
                          <a:endParaRPr lang="en-PH" sz="1400" dirty="0">
                            <a:effectLst/>
                            <a:latin typeface="Cambria"/>
                            <a:ea typeface="Times New Roman"/>
                            <a:cs typeface="Times New Roman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PH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PH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0000"/>
                      </a:ext>
                    </a:extLst>
                  </a:tr>
                  <a:tr h="518160"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1400" b="1" dirty="0">
                              <a:effectLst/>
                              <a:latin typeface="Verdana"/>
                              <a:ea typeface="Times New Roman"/>
                              <a:cs typeface="Times New Roman"/>
                            </a:rPr>
                            <a:t>Year</a:t>
                          </a:r>
                          <a:endParaRPr lang="en-PH" sz="1400" dirty="0">
                            <a:effectLst/>
                            <a:latin typeface="Cambria"/>
                            <a:ea typeface="Times New Roman"/>
                            <a:cs typeface="Times New Roman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1400" b="1" dirty="0">
                              <a:effectLst/>
                              <a:latin typeface="Verdana"/>
                              <a:ea typeface="Times New Roman"/>
                              <a:cs typeface="Times New Roman"/>
                            </a:rPr>
                            <a:t>Calculation</a:t>
                          </a:r>
                          <a:endParaRPr lang="en-PH" sz="1400" dirty="0">
                            <a:effectLst/>
                            <a:latin typeface="Cambria"/>
                            <a:ea typeface="Times New Roman"/>
                            <a:cs typeface="Times New Roman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1400" b="1" dirty="0">
                              <a:effectLst/>
                              <a:latin typeface="Verdana"/>
                              <a:ea typeface="Times New Roman"/>
                              <a:cs typeface="Times New Roman"/>
                            </a:rPr>
                            <a:t>Yearly Total </a:t>
                          </a:r>
                          <a:br>
                            <a:rPr lang="en-US" sz="1400" b="1" dirty="0">
                              <a:effectLst/>
                              <a:latin typeface="Verdana"/>
                              <a:ea typeface="Times New Roman"/>
                              <a:cs typeface="Times New Roman"/>
                            </a:rPr>
                          </a:br>
                          <a:r>
                            <a:rPr lang="en-US" sz="1400" b="1" dirty="0">
                              <a:effectLst/>
                              <a:latin typeface="Verdana"/>
                              <a:ea typeface="Times New Roman"/>
                              <a:cs typeface="Times New Roman"/>
                            </a:rPr>
                            <a:t>(rounded to the nearest whole)</a:t>
                          </a:r>
                          <a:endParaRPr lang="en-PH" sz="1400" dirty="0">
                            <a:effectLst/>
                            <a:latin typeface="Cambria"/>
                            <a:ea typeface="Times New Roman"/>
                            <a:cs typeface="Times New Roman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0001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1400" b="1" dirty="0">
                              <a:effectLst/>
                              <a:latin typeface="Cambria Math"/>
                              <a:ea typeface="Times New Roman"/>
                              <a:cs typeface="Times New Roman"/>
                            </a:rPr>
                            <a:t>1</a:t>
                          </a:r>
                          <a:endParaRPr lang="en-PH" sz="1400" dirty="0">
                            <a:effectLst/>
                            <a:latin typeface="Cambria"/>
                            <a:ea typeface="Times New Roman"/>
                            <a:cs typeface="Times New Roman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l="-19572" t="-274000" r="-94079" b="-418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1400">
                              <a:effectLst/>
                              <a:latin typeface="Cambria Math"/>
                              <a:ea typeface="CambriaMath"/>
                              <a:cs typeface="Cambria Math"/>
                            </a:rPr>
                            <a:t>$1,070</a:t>
                          </a:r>
                          <a:endParaRPr lang="en-PH" sz="1400">
                            <a:effectLst/>
                            <a:latin typeface="Cambria"/>
                            <a:ea typeface="Times New Roman"/>
                            <a:cs typeface="Times New Roman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0002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1400" b="1">
                              <a:effectLst/>
                              <a:latin typeface="Cambria Math"/>
                              <a:ea typeface="Times New Roman"/>
                              <a:cs typeface="Times New Roman"/>
                            </a:rPr>
                            <a:t>2</a:t>
                          </a:r>
                          <a:endParaRPr lang="en-PH" sz="1400">
                            <a:effectLst/>
                            <a:latin typeface="Cambria"/>
                            <a:ea typeface="Times New Roman"/>
                            <a:cs typeface="Times New Roman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l="-19572" t="-374000" r="-94079" b="-318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l="-127098" t="-374000" b="-318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0003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1400" b="1">
                              <a:effectLst/>
                              <a:latin typeface="Cambria Math"/>
                              <a:ea typeface="Times New Roman"/>
                              <a:cs typeface="Times New Roman"/>
                            </a:rPr>
                            <a:t>3</a:t>
                          </a:r>
                          <a:endParaRPr lang="en-PH" sz="1400">
                            <a:effectLst/>
                            <a:latin typeface="Cambria"/>
                            <a:ea typeface="Times New Roman"/>
                            <a:cs typeface="Times New Roman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l="-19572" t="-474000" r="-94079" b="-218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l="-127098" t="-474000" b="-218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0004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1400" b="1">
                              <a:effectLst/>
                              <a:latin typeface="Cambria Math"/>
                              <a:ea typeface="Times New Roman"/>
                              <a:cs typeface="Times New Roman"/>
                            </a:rPr>
                            <a:t>4</a:t>
                          </a:r>
                          <a:endParaRPr lang="en-PH" sz="1400">
                            <a:effectLst/>
                            <a:latin typeface="Cambria"/>
                            <a:ea typeface="Times New Roman"/>
                            <a:cs typeface="Times New Roman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l="-19572" t="-574000" r="-94079" b="-118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l="-127098" t="-574000" b="-118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0005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1400" b="1" dirty="0">
                              <a:effectLst/>
                              <a:latin typeface="Cambria Math"/>
                              <a:ea typeface="Times New Roman"/>
                              <a:cs typeface="Times New Roman"/>
                            </a:rPr>
                            <a:t>5</a:t>
                          </a:r>
                          <a:endParaRPr lang="en-PH" sz="1400" dirty="0">
                            <a:effectLst/>
                            <a:latin typeface="Cambria"/>
                            <a:ea typeface="Times New Roman"/>
                            <a:cs typeface="Times New Roman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l="-19572" t="-674000" r="-94079" b="-18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1400" dirty="0">
                              <a:effectLst/>
                              <a:latin typeface="Cambria Math"/>
                              <a:ea typeface="CambriaMath"/>
                              <a:cs typeface="Cambria Math"/>
                            </a:rPr>
                            <a:t>$1,403</a:t>
                          </a:r>
                          <a:endParaRPr lang="en-PH" sz="1400" dirty="0">
                            <a:effectLst/>
                            <a:latin typeface="Cambria"/>
                            <a:ea typeface="Times New Roman"/>
                            <a:cs typeface="Times New Roman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0006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8" name="Google Shape;125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335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Google Shape;126;g104476d1465_1_17"/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1" name="Google Shape;179;p5"/>
              <p:cNvSpPr txBox="1"/>
              <p:nvPr/>
            </p:nvSpPr>
            <p:spPr>
              <a:xfrm>
                <a:off x="914400" y="487736"/>
                <a:ext cx="10515600" cy="70784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457200" indent="-457200">
                  <a:buFont typeface="+mj-lt"/>
                  <a:buAutoNum type="arabicPeriod" startAt="2"/>
                </a:pPr>
                <a:r>
                  <a:rPr lang="en-US" sz="2000" dirty="0">
                    <a:latin typeface="Verdana"/>
                    <a:ea typeface="Times New Roman"/>
                    <a:cs typeface="Times New Roman"/>
                  </a:rPr>
                  <a:t>The two tables summarize different options </a:t>
                </a:r>
                <a:r>
                  <a:rPr lang="en-US" sz="2000" dirty="0" err="1">
                    <a:latin typeface="Verdana"/>
                    <a:ea typeface="Times New Roman"/>
                    <a:cs typeface="Times New Roman"/>
                  </a:rPr>
                  <a:t>Valentina</a:t>
                </a:r>
                <a:r>
                  <a:rPr lang="en-US" sz="2000" dirty="0">
                    <a:latin typeface="Verdana"/>
                    <a:ea typeface="Times New Roman"/>
                    <a:cs typeface="Times New Roman"/>
                  </a:rPr>
                  <a:t> has to invest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/>
                        <a:ea typeface="Times New Roman"/>
                        <a:cs typeface="Times New Roman"/>
                      </a:rPr>
                      <m:t>$1,000</m:t>
                    </m:r>
                  </m:oMath>
                </a14:m>
                <a:r>
                  <a:rPr lang="en-US" sz="2000" dirty="0">
                    <a:latin typeface="Verdana"/>
                    <a:ea typeface="Times New Roman"/>
                    <a:cs typeface="Times New Roman"/>
                  </a:rPr>
                  <a:t>. Use the tables to answer the questions.</a:t>
                </a:r>
                <a:endParaRPr lang="en-PH" sz="2000" dirty="0">
                  <a:latin typeface="Cambria"/>
                  <a:ea typeface="Times New Roman"/>
                  <a:cs typeface="Times New Roman"/>
                </a:endParaRPr>
              </a:p>
            </p:txBody>
          </p:sp>
        </mc:Choice>
        <mc:Fallback xmlns="">
          <p:sp>
            <p:nvSpPr>
              <p:cNvPr id="11" name="Google Shape;179;p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4400" y="487736"/>
                <a:ext cx="10515600" cy="707846"/>
              </a:xfrm>
              <a:prstGeom prst="rect">
                <a:avLst/>
              </a:prstGeom>
              <a:blipFill rotWithShape="1">
                <a:blip r:embed="rId5"/>
                <a:stretch>
                  <a:fillRect l="-638" t="-5172" b="-14655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2" name="Table 1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740750236"/>
                  </p:ext>
                </p:extLst>
              </p:nvPr>
            </p:nvGraphicFramePr>
            <p:xfrm>
              <a:off x="1483989" y="1378820"/>
              <a:ext cx="7920000" cy="2346960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1440000">
                      <a:extLst>
                        <a:ext uri="{9D8B030D-6E8A-4147-A177-3AD203B41FA5}">
                          <a16:colId xmlns="" xmlns:a16="http://schemas.microsoft.com/office/drawing/2014/main" val="20000"/>
                        </a:ext>
                      </a:extLst>
                    </a:gridCol>
                    <a:gridCol w="2880000">
                      <a:extLst>
                        <a:ext uri="{9D8B030D-6E8A-4147-A177-3AD203B41FA5}">
                          <a16:colId xmlns="" xmlns:a16="http://schemas.microsoft.com/office/drawing/2014/main" val="20001"/>
                        </a:ext>
                      </a:extLst>
                    </a:gridCol>
                    <a:gridCol w="3600000">
                      <a:extLst>
                        <a:ext uri="{9D8B030D-6E8A-4147-A177-3AD203B41FA5}">
                          <a16:colId xmlns="" xmlns:a16="http://schemas.microsoft.com/office/drawing/2014/main" val="20002"/>
                        </a:ext>
                      </a:extLst>
                    </a:gridCol>
                  </a:tblGrid>
                  <a:tr h="0">
                    <a:tc gridSpan="3"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1400" b="1" dirty="0">
                              <a:effectLst/>
                              <a:latin typeface="Verdana"/>
                              <a:ea typeface="Times New Roman"/>
                              <a:cs typeface="Times New Roman"/>
                            </a:rPr>
                            <a:t>Simple Interest</a:t>
                          </a:r>
                          <a:endParaRPr lang="en-PH" sz="1400" dirty="0">
                            <a:effectLst/>
                            <a:latin typeface="Cambria"/>
                            <a:ea typeface="Times New Roman"/>
                            <a:cs typeface="Times New Roman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PH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PH"/>
                        </a:p>
                      </a:txBody>
                      <a:tcPr/>
                    </a:tc>
                    <a:extLst>
                      <a:ext uri="{0D108BD9-81ED-4DB2-BD59-A6C34878D82A}">
                        <a16:rowId xmlns="" xmlns:a16="http://schemas.microsoft.com/office/drawing/2014/main" val="10000"/>
                      </a:ext>
                    </a:extLst>
                  </a:tr>
                  <a:tr h="362629"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1400" b="1" dirty="0">
                              <a:effectLst/>
                              <a:latin typeface="Verdana"/>
                              <a:ea typeface="CambriaMath"/>
                              <a:cs typeface="Cambria Math"/>
                            </a:rPr>
                            <a:t>Years Invested</a:t>
                          </a:r>
                          <a:endParaRPr lang="en-PH" sz="1400" dirty="0">
                            <a:effectLst/>
                            <a:latin typeface="Cambria"/>
                            <a:ea typeface="Times New Roman"/>
                            <a:cs typeface="Times New Roman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1400" b="1" dirty="0">
                              <a:effectLst/>
                              <a:latin typeface="Verdana"/>
                              <a:ea typeface="CambriaMath"/>
                              <a:cs typeface="Cambria Math"/>
                            </a:rPr>
                            <a:t>Calculation</a:t>
                          </a:r>
                          <a:endParaRPr lang="en-PH" sz="1400" dirty="0">
                            <a:effectLst/>
                            <a:latin typeface="Cambria"/>
                            <a:ea typeface="Times New Roman"/>
                            <a:cs typeface="Times New Roman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1400" b="1" dirty="0">
                              <a:effectLst/>
                              <a:latin typeface="Verdana"/>
                              <a:ea typeface="CambriaMath"/>
                              <a:cs typeface="Cambria Math"/>
                            </a:rPr>
                            <a:t>Yearly Total </a:t>
                          </a:r>
                          <a:br>
                            <a:rPr lang="en-US" sz="1400" b="1" dirty="0">
                              <a:effectLst/>
                              <a:latin typeface="Verdana"/>
                              <a:ea typeface="CambriaMath"/>
                              <a:cs typeface="Cambria Math"/>
                            </a:rPr>
                          </a:br>
                          <a:r>
                            <a:rPr lang="en-US" sz="1400" b="1" dirty="0">
                              <a:effectLst/>
                              <a:latin typeface="Verdana"/>
                              <a:ea typeface="CambriaMath"/>
                              <a:cs typeface="Cambria Math"/>
                            </a:rPr>
                            <a:t>(rounded to nearest whole)</a:t>
                          </a:r>
                          <a:endParaRPr lang="en-PH" sz="1400" dirty="0">
                            <a:effectLst/>
                            <a:latin typeface="Cambria"/>
                            <a:ea typeface="Times New Roman"/>
                            <a:cs typeface="Times New Roman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extLst>
                      <a:ext uri="{0D108BD9-81ED-4DB2-BD59-A6C34878D82A}">
                        <a16:rowId xmlns="" xmlns:a16="http://schemas.microsoft.com/office/drawing/2014/main" val="10001"/>
                      </a:ext>
                    </a:extLst>
                  </a:tr>
                  <a:tr h="180000"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1400" b="1" dirty="0">
                              <a:effectLst/>
                              <a:latin typeface="Cambria Math"/>
                              <a:ea typeface="CambriaMath"/>
                              <a:cs typeface="Cambria Math"/>
                            </a:rPr>
                            <a:t>1</a:t>
                          </a:r>
                          <a:endParaRPr lang="en-PH" sz="1400" dirty="0">
                            <a:effectLst/>
                            <a:latin typeface="Cambria"/>
                            <a:ea typeface="Times New Roman"/>
                            <a:cs typeface="Times New Roman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sz="1400" i="1" smtClean="0">
                                    <a:effectLst/>
                                    <a:latin typeface="Cambria Math"/>
                                    <a:ea typeface="CambriaMath"/>
                                    <a:cs typeface="Cambria Math"/>
                                  </a:rPr>
                                  <m:t>$1000+</m:t>
                                </m:r>
                                <m:r>
                                  <a:rPr lang="en-US" sz="1400" i="1">
                                    <a:effectLst/>
                                    <a:latin typeface="Cambria Math"/>
                                    <a:ea typeface="CambriaMath"/>
                                    <a:cs typeface="Cambria Math"/>
                                  </a:rPr>
                                  <m:t>($1,000∙0.07∙1)</m:t>
                                </m:r>
                              </m:oMath>
                            </m:oMathPara>
                          </a14:m>
                          <a:endParaRPr lang="en-PH" sz="1400" dirty="0">
                            <a:effectLst/>
                            <a:latin typeface="Cambria"/>
                            <a:ea typeface="Times New Roman"/>
                            <a:cs typeface="Times New Roman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400" i="1">
                                    <a:effectLst/>
                                    <a:latin typeface="Cambria Math"/>
                                    <a:ea typeface="CambriaMath"/>
                                    <a:cs typeface="Cambria Math"/>
                                  </a:rPr>
                                  <m:t>$1,070</m:t>
                                </m:r>
                              </m:oMath>
                            </m:oMathPara>
                          </a14:m>
                          <a:endParaRPr lang="en-PH" sz="1400" dirty="0">
                            <a:effectLst/>
                            <a:latin typeface="Cambria"/>
                            <a:ea typeface="Times New Roman"/>
                            <a:cs typeface="Times New Roman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="" xmlns:a16="http://schemas.microsoft.com/office/drawing/2014/main" val="10002"/>
                      </a:ext>
                    </a:extLst>
                  </a:tr>
                  <a:tr h="180000"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1400" b="1">
                              <a:effectLst/>
                              <a:latin typeface="Cambria Math"/>
                              <a:ea typeface="CambriaMath"/>
                              <a:cs typeface="Cambria Math"/>
                            </a:rPr>
                            <a:t>2</a:t>
                          </a:r>
                          <a:endParaRPr lang="en-PH" sz="1400">
                            <a:effectLst/>
                            <a:latin typeface="Cambria"/>
                            <a:ea typeface="Times New Roman"/>
                            <a:cs typeface="Times New Roman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sz="1400" i="1">
                                    <a:effectLst/>
                                    <a:latin typeface="Cambria Math"/>
                                    <a:ea typeface="CambriaMath"/>
                                    <a:cs typeface="Cambria Math"/>
                                  </a:rPr>
                                  <m:t>$1000+($1,000∙0.07∙2)</m:t>
                                </m:r>
                              </m:oMath>
                            </m:oMathPara>
                          </a14:m>
                          <a:endParaRPr lang="en-PH" sz="1400" dirty="0">
                            <a:effectLst/>
                            <a:latin typeface="Cambria"/>
                            <a:ea typeface="Times New Roman"/>
                            <a:cs typeface="Times New Roman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400" i="1">
                                    <a:effectLst/>
                                    <a:latin typeface="Cambria Math"/>
                                    <a:ea typeface="CambriaMath"/>
                                    <a:cs typeface="Cambria Math"/>
                                  </a:rPr>
                                  <m:t>$1,140</m:t>
                                </m:r>
                              </m:oMath>
                            </m:oMathPara>
                          </a14:m>
                          <a:endParaRPr lang="en-PH" sz="1400" dirty="0">
                            <a:effectLst/>
                            <a:latin typeface="Cambria"/>
                            <a:ea typeface="Times New Roman"/>
                            <a:cs typeface="Times New Roman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="" xmlns:a16="http://schemas.microsoft.com/office/drawing/2014/main" val="10003"/>
                      </a:ext>
                    </a:extLst>
                  </a:tr>
                  <a:tr h="180000"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1400" b="1">
                              <a:effectLst/>
                              <a:latin typeface="Cambria Math"/>
                              <a:ea typeface="CambriaMath"/>
                              <a:cs typeface="Cambria Math"/>
                            </a:rPr>
                            <a:t>3</a:t>
                          </a:r>
                          <a:endParaRPr lang="en-PH" sz="1400">
                            <a:effectLst/>
                            <a:latin typeface="Cambria"/>
                            <a:ea typeface="Times New Roman"/>
                            <a:cs typeface="Times New Roman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l"/>
                          <a14:m>
                            <m:oMath xmlns:m="http://schemas.openxmlformats.org/officeDocument/2006/math">
                              <m:r>
                                <a:rPr lang="en-US" sz="1400" i="1" smtClean="0">
                                  <a:effectLst/>
                                  <a:latin typeface="Cambria Math"/>
                                  <a:ea typeface="CambriaMath"/>
                                  <a:cs typeface="Cambria Math"/>
                                </a:rPr>
                                <m:t>$1000+(</m:t>
                              </m:r>
                            </m:oMath>
                          </a14:m>
                          <a:r>
                            <a:rPr lang="en-US" sz="1400" dirty="0">
                              <a:effectLst/>
                              <a:latin typeface="Cambria Math"/>
                              <a:ea typeface="CambriaMath"/>
                              <a:cs typeface="Cambria Math"/>
                            </a:rPr>
                            <a:t>$1,000 </a:t>
                          </a:r>
                          <a14:m>
                            <m:oMath xmlns:m="http://schemas.openxmlformats.org/officeDocument/2006/math">
                              <m:r>
                                <a:rPr kumimoji="0" lang="en-US" sz="1400" b="0" i="1" u="none" strike="noStrike" kern="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Math"/>
                                  <a:cs typeface="Cambria Math"/>
                                  <a:sym typeface="Arial"/>
                                </a:rPr>
                                <m:t>∙0.07∙</m:t>
                              </m:r>
                              <m:r>
                                <a:rPr kumimoji="0" lang="en-PH" sz="1400" b="0" i="1" u="none" strike="noStrike" kern="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Math"/>
                                  <a:cs typeface="Cambria Math"/>
                                  <a:sym typeface="Arial"/>
                                </a:rPr>
                                <m:t>3</m:t>
                              </m:r>
                              <m:r>
                                <a:rPr kumimoji="0" lang="en-US" sz="1400" b="0" i="1" u="none" strike="noStrike" kern="0" cap="none" spc="0" normalizeH="0" baseline="0" noProof="0" smtClean="0">
                                  <a:ln>
                                    <a:noFill/>
                                  </a:ln>
                                  <a:solidFill>
                                    <a:srgbClr val="000000"/>
                                  </a:solidFill>
                                  <a:effectLst/>
                                  <a:uLnTx/>
                                  <a:uFillTx/>
                                  <a:latin typeface="Cambria Math"/>
                                  <a:ea typeface="CambriaMath"/>
                                  <a:cs typeface="Cambria Math"/>
                                  <a:sym typeface="Arial"/>
                                </a:rPr>
                                <m:t>)</m:t>
                              </m:r>
                            </m:oMath>
                          </a14:m>
                          <a:endParaRPr lang="en-PH" sz="1400" dirty="0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400" i="1">
                                    <a:effectLst/>
                                    <a:latin typeface="Cambria Math"/>
                                    <a:ea typeface="CambriaMath"/>
                                    <a:cs typeface="Cambria Math"/>
                                  </a:rPr>
                                  <m:t>$1,210</m:t>
                                </m:r>
                              </m:oMath>
                            </m:oMathPara>
                          </a14:m>
                          <a:endParaRPr lang="en-PH" sz="1400" dirty="0">
                            <a:effectLst/>
                            <a:latin typeface="Cambria"/>
                            <a:ea typeface="Times New Roman"/>
                            <a:cs typeface="Times New Roman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="" xmlns:a16="http://schemas.microsoft.com/office/drawing/2014/main" val="10004"/>
                      </a:ext>
                    </a:extLst>
                  </a:tr>
                  <a:tr h="180000"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1400" b="1">
                              <a:effectLst/>
                              <a:latin typeface="Cambria Math"/>
                              <a:ea typeface="CambriaMath"/>
                              <a:cs typeface="Cambria Math"/>
                            </a:rPr>
                            <a:t>4</a:t>
                          </a:r>
                          <a:endParaRPr lang="en-PH" sz="1400">
                            <a:effectLst/>
                            <a:latin typeface="Cambria"/>
                            <a:ea typeface="Times New Roman"/>
                            <a:cs typeface="Times New Roman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sz="1400" i="1">
                                    <a:effectLst/>
                                    <a:latin typeface="Cambria Math"/>
                                    <a:ea typeface="CambriaMath"/>
                                    <a:cs typeface="Cambria Math"/>
                                  </a:rPr>
                                  <m:t>$1000+($1,000∙0.07∙4)</m:t>
                                </m:r>
                              </m:oMath>
                            </m:oMathPara>
                          </a14:m>
                          <a:endParaRPr lang="en-PH" sz="1400" dirty="0">
                            <a:effectLst/>
                            <a:latin typeface="Cambria"/>
                            <a:ea typeface="Times New Roman"/>
                            <a:cs typeface="Times New Roman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400" i="1">
                                    <a:effectLst/>
                                    <a:latin typeface="Cambria Math"/>
                                    <a:ea typeface="CambriaMath"/>
                                    <a:cs typeface="Cambria Math"/>
                                  </a:rPr>
                                  <m:t>$1,280</m:t>
                                </m:r>
                              </m:oMath>
                            </m:oMathPara>
                          </a14:m>
                          <a:endParaRPr lang="en-PH" sz="1400" dirty="0">
                            <a:effectLst/>
                            <a:latin typeface="Cambria"/>
                            <a:ea typeface="Times New Roman"/>
                            <a:cs typeface="Times New Roman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="" xmlns:a16="http://schemas.microsoft.com/office/drawing/2014/main" val="10005"/>
                      </a:ext>
                    </a:extLst>
                  </a:tr>
                  <a:tr h="180000"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1400" b="1">
                              <a:effectLst/>
                              <a:latin typeface="Cambria Math"/>
                              <a:ea typeface="CambriaMath"/>
                              <a:cs typeface="Cambria Math"/>
                            </a:rPr>
                            <a:t>5</a:t>
                          </a:r>
                          <a:endParaRPr lang="en-PH" sz="1400">
                            <a:effectLst/>
                            <a:latin typeface="Cambria"/>
                            <a:ea typeface="Times New Roman"/>
                            <a:cs typeface="Times New Roman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left"/>
                              </m:oMathParaPr>
                              <m:oMath xmlns:m="http://schemas.openxmlformats.org/officeDocument/2006/math">
                                <m:r>
                                  <a:rPr lang="en-US" sz="1400" i="1">
                                    <a:effectLst/>
                                    <a:latin typeface="Cambria Math"/>
                                    <a:ea typeface="CambriaMath"/>
                                    <a:cs typeface="Cambria Math"/>
                                  </a:rPr>
                                  <m:t>$1000+(</m:t>
                                </m:r>
                                <m:r>
                                  <a:rPr lang="en-US" sz="1400" i="1">
                                    <a:effectLst/>
                                    <a:latin typeface="Cambria Math"/>
                                    <a:ea typeface="Times New Roman"/>
                                    <a:cs typeface="Times New Roman"/>
                                  </a:rPr>
                                  <m:t>$1,000</m:t>
                                </m:r>
                                <m:r>
                                  <a:rPr lang="en-US" sz="1400" i="1">
                                    <a:effectLst/>
                                    <a:latin typeface="Cambria Math"/>
                                    <a:ea typeface="CambriaMath"/>
                                    <a:cs typeface="Cambria Math"/>
                                  </a:rPr>
                                  <m:t>∙0.07∙5</m:t>
                                </m:r>
                                <m:r>
                                  <a:rPr lang="en-US" sz="1400" i="1">
                                    <a:effectLst/>
                                    <a:latin typeface="Cambria Math"/>
                                    <a:ea typeface="Times New Roman"/>
                                    <a:cs typeface="Times New Roman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en-PH" sz="1400" dirty="0">
                            <a:effectLst/>
                            <a:latin typeface="Cambria"/>
                            <a:ea typeface="Times New Roman"/>
                            <a:cs typeface="Times New Roman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400" i="1">
                                    <a:effectLst/>
                                    <a:latin typeface="Cambria Math"/>
                                    <a:ea typeface="CambriaMath"/>
                                    <a:cs typeface="Cambria Math"/>
                                  </a:rPr>
                                  <m:t>$1,350</m:t>
                                </m:r>
                              </m:oMath>
                            </m:oMathPara>
                          </a14:m>
                          <a:endParaRPr lang="en-PH" sz="1400" dirty="0">
                            <a:effectLst/>
                            <a:latin typeface="Cambria"/>
                            <a:ea typeface="Times New Roman"/>
                            <a:cs typeface="Times New Roman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="" xmlns:a16="http://schemas.microsoft.com/office/drawing/2014/main" val="10006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2" name="Table 1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740750236"/>
                  </p:ext>
                </p:extLst>
              </p:nvPr>
            </p:nvGraphicFramePr>
            <p:xfrm>
              <a:off x="1483989" y="1378820"/>
              <a:ext cx="7920000" cy="2346960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1440000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20000"/>
                        </a:ext>
                      </a:extLst>
                    </a:gridCol>
                    <a:gridCol w="2880000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20001"/>
                        </a:ext>
                      </a:extLst>
                    </a:gridCol>
                    <a:gridCol w="3600000">
                      <a:extLst>
                        <a:ext uri="{9D8B030D-6E8A-4147-A177-3AD203B41FA5}">
                          <a16:colId xmlns:a16="http://schemas.microsoft.com/office/drawing/2014/main" xmlns:a14="http://schemas.microsoft.com/office/drawing/2010/main" xmlns="" val="20002"/>
                        </a:ext>
                      </a:extLst>
                    </a:gridCol>
                  </a:tblGrid>
                  <a:tr h="304800">
                    <a:tc gridSpan="3"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1400" b="1" dirty="0">
                              <a:effectLst/>
                              <a:latin typeface="Verdana"/>
                              <a:ea typeface="Times New Roman"/>
                              <a:cs typeface="Times New Roman"/>
                            </a:rPr>
                            <a:t>Simple Interest</a:t>
                          </a:r>
                          <a:endParaRPr lang="en-PH" sz="1400" dirty="0">
                            <a:effectLst/>
                            <a:latin typeface="Cambria"/>
                            <a:ea typeface="Times New Roman"/>
                            <a:cs typeface="Times New Roman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 hMerge="1">
                      <a:txBody>
                        <a:bodyPr/>
                        <a:lstStyle/>
                        <a:p>
                          <a:endParaRPr lang="en-PH"/>
                        </a:p>
                      </a:txBody>
                      <a:tcPr/>
                    </a:tc>
                    <a:tc hMerge="1">
                      <a:txBody>
                        <a:bodyPr/>
                        <a:lstStyle/>
                        <a:p>
                          <a:endParaRPr lang="en-PH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0000"/>
                      </a:ext>
                    </a:extLst>
                  </a:tr>
                  <a:tr h="518160"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1400" b="1" dirty="0">
                              <a:effectLst/>
                              <a:latin typeface="Verdana"/>
                              <a:ea typeface="CambriaMath"/>
                              <a:cs typeface="Cambria Math"/>
                            </a:rPr>
                            <a:t>Years Invested</a:t>
                          </a:r>
                          <a:endParaRPr lang="en-PH" sz="1400" dirty="0">
                            <a:effectLst/>
                            <a:latin typeface="Cambria"/>
                            <a:ea typeface="Times New Roman"/>
                            <a:cs typeface="Times New Roman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1400" b="1" dirty="0">
                              <a:effectLst/>
                              <a:latin typeface="Verdana"/>
                              <a:ea typeface="CambriaMath"/>
                              <a:cs typeface="Cambria Math"/>
                            </a:rPr>
                            <a:t>Calculation</a:t>
                          </a:r>
                          <a:endParaRPr lang="en-PH" sz="1400" dirty="0">
                            <a:effectLst/>
                            <a:latin typeface="Cambria"/>
                            <a:ea typeface="Times New Roman"/>
                            <a:cs typeface="Times New Roman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1400" b="1" dirty="0">
                              <a:effectLst/>
                              <a:latin typeface="Verdana"/>
                              <a:ea typeface="CambriaMath"/>
                              <a:cs typeface="Cambria Math"/>
                            </a:rPr>
                            <a:t>Yearly Total </a:t>
                          </a:r>
                          <a:br>
                            <a:rPr lang="en-US" sz="1400" b="1" dirty="0">
                              <a:effectLst/>
                              <a:latin typeface="Verdana"/>
                              <a:ea typeface="CambriaMath"/>
                              <a:cs typeface="Cambria Math"/>
                            </a:rPr>
                          </a:br>
                          <a:r>
                            <a:rPr lang="en-US" sz="1400" b="1" dirty="0">
                              <a:effectLst/>
                              <a:latin typeface="Verdana"/>
                              <a:ea typeface="CambriaMath"/>
                              <a:cs typeface="Cambria Math"/>
                            </a:rPr>
                            <a:t>(rounded to nearest whole)</a:t>
                          </a:r>
                          <a:endParaRPr lang="en-PH" sz="1400" dirty="0">
                            <a:effectLst/>
                            <a:latin typeface="Cambria"/>
                            <a:ea typeface="Times New Roman"/>
                            <a:cs typeface="Times New Roman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0001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1400" b="1" dirty="0">
                              <a:effectLst/>
                              <a:latin typeface="Cambria Math"/>
                              <a:ea typeface="CambriaMath"/>
                              <a:cs typeface="Cambria Math"/>
                            </a:rPr>
                            <a:t>1</a:t>
                          </a:r>
                          <a:endParaRPr lang="en-PH" sz="1400" dirty="0">
                            <a:effectLst/>
                            <a:latin typeface="Cambria"/>
                            <a:ea typeface="Times New Roman"/>
                            <a:cs typeface="Times New Roman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6"/>
                          <a:stretch>
                            <a:fillRect l="-49894" t="-274000" r="-124947" b="-418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6"/>
                          <a:stretch>
                            <a:fillRect l="-119966" t="-274000" b="-418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0002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1400" b="1">
                              <a:effectLst/>
                              <a:latin typeface="Cambria Math"/>
                              <a:ea typeface="CambriaMath"/>
                              <a:cs typeface="Cambria Math"/>
                            </a:rPr>
                            <a:t>2</a:t>
                          </a:r>
                          <a:endParaRPr lang="en-PH" sz="1400">
                            <a:effectLst/>
                            <a:latin typeface="Cambria"/>
                            <a:ea typeface="Times New Roman"/>
                            <a:cs typeface="Times New Roman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6"/>
                          <a:stretch>
                            <a:fillRect l="-49894" t="-374000" r="-124947" b="-318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6"/>
                          <a:stretch>
                            <a:fillRect l="-119966" t="-374000" b="-318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0003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1400" b="1">
                              <a:effectLst/>
                              <a:latin typeface="Cambria Math"/>
                              <a:ea typeface="CambriaMath"/>
                              <a:cs typeface="Cambria Math"/>
                            </a:rPr>
                            <a:t>3</a:t>
                          </a:r>
                          <a:endParaRPr lang="en-PH" sz="1400">
                            <a:effectLst/>
                            <a:latin typeface="Cambria"/>
                            <a:ea typeface="Times New Roman"/>
                            <a:cs typeface="Times New Roman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6"/>
                          <a:stretch>
                            <a:fillRect l="-49894" t="-474000" r="-124947" b="-218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6"/>
                          <a:stretch>
                            <a:fillRect l="-119966" t="-474000" b="-218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0004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1400" b="1">
                              <a:effectLst/>
                              <a:latin typeface="Cambria Math"/>
                              <a:ea typeface="CambriaMath"/>
                              <a:cs typeface="Cambria Math"/>
                            </a:rPr>
                            <a:t>4</a:t>
                          </a:r>
                          <a:endParaRPr lang="en-PH" sz="1400">
                            <a:effectLst/>
                            <a:latin typeface="Cambria"/>
                            <a:ea typeface="Times New Roman"/>
                            <a:cs typeface="Times New Roman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6"/>
                          <a:stretch>
                            <a:fillRect l="-49894" t="-574000" r="-124947" b="-118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6"/>
                          <a:stretch>
                            <a:fillRect l="-119966" t="-574000" b="-118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0005"/>
                      </a:ext>
                    </a:extLst>
                  </a:tr>
                  <a:tr h="304800"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1400" b="1">
                              <a:effectLst/>
                              <a:latin typeface="Cambria Math"/>
                              <a:ea typeface="CambriaMath"/>
                              <a:cs typeface="Cambria Math"/>
                            </a:rPr>
                            <a:t>5</a:t>
                          </a:r>
                          <a:endParaRPr lang="en-PH" sz="1400">
                            <a:effectLst/>
                            <a:latin typeface="Cambria"/>
                            <a:ea typeface="Times New Roman"/>
                            <a:cs typeface="Times New Roman"/>
                          </a:endParaRPr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6"/>
                          <a:stretch>
                            <a:fillRect l="-49894" t="-674000" r="-124947" b="-18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6"/>
                          <a:stretch>
                            <a:fillRect l="-119966" t="-674000" b="-1800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xmlns:a14="http://schemas.microsoft.com/office/drawing/2010/main" xmlns="" val="10006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64888825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278;g104476d1465_1_17">
            <a:extLst>
              <a:ext uri="{FF2B5EF4-FFF2-40B4-BE49-F238E27FC236}">
                <a16:creationId xmlns="" xmlns:a16="http://schemas.microsoft.com/office/drawing/2014/main" id="{5B857E21-14F1-9C47-B2E8-32DB537DBF85}"/>
              </a:ext>
            </a:extLst>
          </p:cNvPr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41BFAC"/>
          </a:solidFill>
          <a:ln w="9525" cap="flat" cmpd="sng">
            <a:solidFill>
              <a:srgbClr val="41BFAC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dirty="0">
              <a:highlight>
                <a:srgbClr val="FFFF00"/>
              </a:highlight>
            </a:endParaRPr>
          </a:p>
        </p:txBody>
      </p:sp>
      <p:sp>
        <p:nvSpPr>
          <p:cNvPr id="8" name="Google Shape;179;p5"/>
          <p:cNvSpPr txBox="1"/>
          <p:nvPr/>
        </p:nvSpPr>
        <p:spPr>
          <a:xfrm>
            <a:off x="914400" y="487736"/>
            <a:ext cx="10515600" cy="4170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892175" indent="-457200">
              <a:spcAft>
                <a:spcPts val="1200"/>
              </a:spcAft>
              <a:buFont typeface="+mj-lt"/>
              <a:buAutoNum type="alphaLcPeriod"/>
            </a:pPr>
            <a:r>
              <a:rPr lang="en-US" sz="2000" dirty="0">
                <a:latin typeface="Verdana" pitchFamily="34" charset="0"/>
                <a:ea typeface="Verdana" pitchFamily="34" charset="0"/>
                <a:cs typeface="Times New Roman"/>
              </a:rPr>
              <a:t>How are the two tables similar?</a:t>
            </a:r>
          </a:p>
          <a:p>
            <a:pPr marL="892175" indent="-457200">
              <a:spcAft>
                <a:spcPts val="1200"/>
              </a:spcAft>
              <a:buFont typeface="+mj-lt"/>
              <a:buAutoNum type="alphaLcPeriod"/>
            </a:pPr>
            <a:endParaRPr lang="en-US" sz="2000" dirty="0">
              <a:latin typeface="Verdana" pitchFamily="34" charset="0"/>
              <a:ea typeface="Verdana" pitchFamily="34" charset="0"/>
              <a:cs typeface="Times New Roman"/>
            </a:endParaRPr>
          </a:p>
          <a:p>
            <a:pPr marL="892175" indent="-457200">
              <a:spcAft>
                <a:spcPts val="1200"/>
              </a:spcAft>
              <a:buFont typeface="+mj-lt"/>
              <a:buAutoNum type="alphaLcPeriod"/>
            </a:pPr>
            <a:r>
              <a:rPr lang="en-US" sz="2000" dirty="0">
                <a:latin typeface="Verdana" pitchFamily="34" charset="0"/>
                <a:ea typeface="Verdana" pitchFamily="34" charset="0"/>
                <a:cs typeface="Times New Roman"/>
              </a:rPr>
              <a:t>How are they different?</a:t>
            </a:r>
          </a:p>
          <a:p>
            <a:pPr marL="434975"/>
            <a:endParaRPr lang="en-US" sz="2000" dirty="0">
              <a:latin typeface="Verdana" pitchFamily="34" charset="0"/>
              <a:ea typeface="Verdana" pitchFamily="34" charset="0"/>
              <a:cs typeface="Times New Roman"/>
            </a:endParaRPr>
          </a:p>
          <a:p>
            <a:pPr marL="892175" indent="-457200">
              <a:buFont typeface="+mj-lt"/>
              <a:buAutoNum type="alphaLcPeriod" startAt="3"/>
            </a:pPr>
            <a:r>
              <a:rPr lang="en-US" sz="2000" dirty="0">
                <a:latin typeface="Verdana" pitchFamily="34" charset="0"/>
                <a:ea typeface="Verdana" pitchFamily="34" charset="0"/>
                <a:cs typeface="Times New Roman"/>
              </a:rPr>
              <a:t>How are these similarities and differences represented in the calculation column for each scenario?</a:t>
            </a:r>
          </a:p>
          <a:p>
            <a:pPr marL="892175" indent="-457200">
              <a:buFont typeface="+mj-lt"/>
              <a:buAutoNum type="alphaLcPeriod" startAt="3"/>
            </a:pPr>
            <a:endParaRPr lang="en-US" sz="2000" dirty="0">
              <a:latin typeface="Verdana" pitchFamily="34" charset="0"/>
              <a:ea typeface="Verdana" pitchFamily="34" charset="0"/>
              <a:cs typeface="Times New Roman"/>
            </a:endParaRPr>
          </a:p>
          <a:p>
            <a:pPr marL="892175" indent="-457200">
              <a:buFont typeface="+mj-lt"/>
              <a:buAutoNum type="alphaLcPeriod" startAt="3"/>
            </a:pPr>
            <a:endParaRPr lang="en-PH" sz="2000" dirty="0">
              <a:latin typeface="Verdana" pitchFamily="34" charset="0"/>
              <a:ea typeface="Verdana" pitchFamily="34" charset="0"/>
              <a:cs typeface="Times New Roman"/>
            </a:endParaRPr>
          </a:p>
          <a:p>
            <a:pPr>
              <a:spcAft>
                <a:spcPts val="1800"/>
              </a:spcAft>
            </a:pPr>
            <a:r>
              <a:rPr lang="en-US" sz="2000" dirty="0">
                <a:latin typeface="Verdana" pitchFamily="34" charset="0"/>
                <a:ea typeface="Verdana" pitchFamily="34" charset="0"/>
                <a:cs typeface="Times New Roman"/>
              </a:rPr>
              <a:t>Find another partner pair and discuss the following.</a:t>
            </a:r>
            <a:endParaRPr lang="en-PH" sz="2000" dirty="0">
              <a:latin typeface="Verdana" pitchFamily="34" charset="0"/>
              <a:ea typeface="Verdana" pitchFamily="34" charset="0"/>
              <a:cs typeface="Times New Roman"/>
            </a:endParaRPr>
          </a:p>
          <a:p>
            <a:pPr marL="892175" indent="-457200">
              <a:buFont typeface="+mj-lt"/>
              <a:buAutoNum type="alphaLcPeriod" startAt="4"/>
            </a:pPr>
            <a:r>
              <a:rPr lang="en-US" sz="2000" dirty="0">
                <a:latin typeface="Verdana" pitchFamily="34" charset="0"/>
                <a:ea typeface="Verdana" pitchFamily="34" charset="0"/>
                <a:cs typeface="Times New Roman"/>
              </a:rPr>
              <a:t>How does the growth in an account that calculates compound interest compare to the growth in an account that calculates simple interest?</a:t>
            </a:r>
            <a:endParaRPr lang="en-PH" sz="2000" dirty="0">
              <a:latin typeface="Verdana" pitchFamily="34" charset="0"/>
              <a:ea typeface="Verdana" pitchFamily="34" charset="0"/>
              <a:cs typeface="Times New Roman"/>
            </a:endParaRPr>
          </a:p>
        </p:txBody>
      </p:sp>
      <p:sp>
        <p:nvSpPr>
          <p:cNvPr id="9" name="Google Shape;125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336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Google Shape;126;g104476d1465_1_17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50371333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8900"/>
            <a:ext cx="2731200" cy="6866100"/>
          </a:xfrm>
          <a:prstGeom prst="rect">
            <a:avLst/>
          </a:prstGeom>
          <a:solidFill>
            <a:srgbClr val="41BFAC"/>
          </a:solidFill>
          <a:ln w="9525" cap="flat" cmpd="sng">
            <a:solidFill>
              <a:srgbClr val="41BFAC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250339" y="2779100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Wrap-Up</a:t>
            </a:r>
            <a:endParaRPr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7" name="Google Shape;450;g103996e1364_0_457">
            <a:extLst>
              <a:ext uri="{FF2B5EF4-FFF2-40B4-BE49-F238E27FC236}">
                <a16:creationId xmlns="" xmlns:a16="http://schemas.microsoft.com/office/drawing/2014/main" id="{DE95225C-59B5-E847-AFA2-B83DCFFA10D8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429333" y="2933695"/>
            <a:ext cx="1008299" cy="1016513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9" name="Google Shape;125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337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" name="Google Shape;126;g104476d1465_1_17"/>
          <p:cNvPicPr preferRelativeResize="0"/>
          <p:nvPr/>
        </p:nvPicPr>
        <p:blipFill rotWithShape="1"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67690871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278;g104476d1465_1_17">
            <a:extLst>
              <a:ext uri="{FF2B5EF4-FFF2-40B4-BE49-F238E27FC236}">
                <a16:creationId xmlns="" xmlns:a16="http://schemas.microsoft.com/office/drawing/2014/main" id="{C9825640-5649-F74D-866E-EC8F188D5640}"/>
              </a:ext>
            </a:extLst>
          </p:cNvPr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41BFAC"/>
          </a:solidFill>
          <a:ln w="9525" cap="flat" cmpd="sng">
            <a:solidFill>
              <a:srgbClr val="41BFAC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dirty="0">
              <a:highlight>
                <a:srgbClr val="FFFF00"/>
              </a:highlight>
            </a:endParaRP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602000" y="3067285"/>
            <a:ext cx="7346750" cy="330118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0" name="Google Shape;468;p34"/>
          <p:cNvSpPr txBox="1"/>
          <p:nvPr/>
        </p:nvSpPr>
        <p:spPr>
          <a:xfrm>
            <a:off x="1142999" y="284833"/>
            <a:ext cx="10669510" cy="5908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/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7.8.5 Wrap-Up: Cool Down</a:t>
            </a:r>
          </a:p>
        </p:txBody>
      </p:sp>
      <p:pic>
        <p:nvPicPr>
          <p:cNvPr id="11" name="Google Shape;469;p34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56616" y="201168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14" name="Google Shape;470;p34"/>
          <p:cNvSpPr txBox="1"/>
          <p:nvPr/>
        </p:nvSpPr>
        <p:spPr>
          <a:xfrm>
            <a:off x="914400" y="1386025"/>
            <a:ext cx="10616184" cy="15696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400" dirty="0">
                <a:latin typeface="Verdana"/>
                <a:ea typeface="Verdana"/>
                <a:cs typeface="Verdana"/>
              </a:rPr>
              <a:t>Your friend is absent and will need to make up the lesson from today. Write a quick note to help them understand what simple interest is, how to calculate it, and how to use it to solve problems</a:t>
            </a:r>
            <a:r>
              <a:rPr lang="en-US" sz="2400" dirty="0" smtClean="0">
                <a:latin typeface="Verdana"/>
                <a:ea typeface="Verdana"/>
                <a:cs typeface="Verdana"/>
              </a:rPr>
              <a:t>.</a:t>
            </a:r>
            <a:endParaRPr lang="en-PH" sz="1600" dirty="0">
              <a:latin typeface="Cambria"/>
              <a:ea typeface="Times New Roman"/>
              <a:cs typeface="Times New Roman"/>
            </a:endParaRPr>
          </a:p>
        </p:txBody>
      </p:sp>
      <p:sp>
        <p:nvSpPr>
          <p:cNvPr id="15" name="Google Shape;125;g104476d1465_1_17"/>
          <p:cNvSpPr txBox="1"/>
          <p:nvPr/>
        </p:nvSpPr>
        <p:spPr>
          <a:xfrm>
            <a:off x="8897112" y="6457675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>
              <a:buSzPts val="1400"/>
            </a:pPr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1, pg. </a:t>
            </a:r>
            <a:r>
              <a:rPr lang="en-US" i="1" dirty="0" smtClean="0">
                <a:latin typeface="Calibri"/>
                <a:ea typeface="Calibri"/>
                <a:cs typeface="Calibri"/>
                <a:sym typeface="Calibri"/>
              </a:rPr>
              <a:t>337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" name="Google Shape;126;g104476d1465_1_17"/>
          <p:cNvPicPr preferRelativeResize="0"/>
          <p:nvPr/>
        </p:nvPicPr>
        <p:blipFill rotWithShape="1">
          <a:blip r:embed="rId5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530584" y="6200600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49803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553995615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1641</TotalTime>
  <Words>1096</Words>
  <Application>Microsoft Office PowerPoint</Application>
  <PresentationFormat>Custom</PresentationFormat>
  <Paragraphs>216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32" baseType="lpstr">
      <vt:lpstr>Arial</vt:lpstr>
      <vt:lpstr>Verdana</vt:lpstr>
      <vt:lpstr>Calibri</vt:lpstr>
      <vt:lpstr>Times New Roman</vt:lpstr>
      <vt:lpstr>Century Gothic</vt:lpstr>
      <vt:lpstr>Wingdings</vt:lpstr>
      <vt:lpstr>Cambria Math</vt:lpstr>
      <vt:lpstr>Cambria</vt:lpstr>
      <vt:lpstr>Arial Black</vt:lpstr>
      <vt:lpstr>CambriaMath</vt:lpstr>
      <vt:lpstr>1_Office Theme</vt:lpstr>
      <vt:lpstr>7th Grade Math  Unit 7, Lesson 8  Simple Interest  Volume 1, pg. 331  </vt:lpstr>
      <vt:lpstr>PowerPoint Presentation</vt:lpstr>
      <vt:lpstr>PowerPoint Presentation</vt:lpstr>
      <vt:lpstr>PowerPoint Presentation</vt:lpstr>
      <vt:lpstr>Warm-Up</vt:lpstr>
      <vt:lpstr>PowerPoint Presentation</vt:lpstr>
      <vt:lpstr>Guided Instruction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Try It</vt:lpstr>
      <vt:lpstr>PowerPoint Presentation</vt:lpstr>
      <vt:lpstr>Collaboration</vt:lpstr>
      <vt:lpstr>PowerPoint Presentation</vt:lpstr>
      <vt:lpstr>PowerPoint Presentation</vt:lpstr>
      <vt:lpstr>PowerPoint Presentation</vt:lpstr>
      <vt:lpstr>PowerPoint Presentation</vt:lpstr>
      <vt:lpstr>Wrap-Up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Algebra 2 Unit 4 Lesson 4</dc:title>
  <dc:creator>Karen McKenzie</dc:creator>
  <cp:lastModifiedBy>Sensei</cp:lastModifiedBy>
  <cp:revision>40</cp:revision>
  <dcterms:created xsi:type="dcterms:W3CDTF">2015-03-17T18:51:18Z</dcterms:created>
  <dcterms:modified xsi:type="dcterms:W3CDTF">2022-07-12T06:00:22Z</dcterms:modified>
</cp:coreProperties>
</file>