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36" r:id="rId10"/>
    <p:sldId id="342" r:id="rId11"/>
    <p:sldId id="343" r:id="rId12"/>
    <p:sldId id="344" r:id="rId13"/>
    <p:sldId id="314" r:id="rId14"/>
    <p:sldId id="315" r:id="rId15"/>
    <p:sldId id="332" r:id="rId16"/>
    <p:sldId id="345" r:id="rId17"/>
    <p:sldId id="346" r:id="rId18"/>
    <p:sldId id="302" r:id="rId19"/>
    <p:sldId id="303" r:id="rId20"/>
    <p:sldId id="340" r:id="rId21"/>
    <p:sldId id="306" r:id="rId22"/>
    <p:sldId id="307" r:id="rId23"/>
    <p:sldId id="341" r:id="rId24"/>
    <p:sldId id="347" r:id="rId25"/>
  </p:sldIdLst>
  <p:sldSz cx="12192000" cy="6858000"/>
  <p:notesSz cx="6858000" cy="9144000"/>
  <p:embeddedFontLst>
    <p:embeddedFont>
      <p:font typeface="Calibri" pitchFamily="34" charset="0"/>
      <p:regular r:id="rId27"/>
      <p:bold r:id="rId28"/>
      <p:italic r:id="rId29"/>
      <p:boldItalic r:id="rId30"/>
    </p:embeddedFont>
    <p:embeddedFont>
      <p:font typeface="Century Gothic" pitchFamily="34" charset="0"/>
      <p:regular r:id="rId31"/>
      <p:bold r:id="rId32"/>
      <p:italic r:id="rId33"/>
      <p:boldItalic r:id="rId34"/>
    </p:embeddedFont>
    <p:embeddedFont>
      <p:font typeface="Cambria Math" pitchFamily="18" charset="0"/>
      <p:regular r:id="rId35"/>
    </p:embeddedFont>
    <p:embeddedFont>
      <p:font typeface="Cambria" pitchFamily="18" charset="0"/>
      <p:regular r:id="rId36"/>
      <p:bold r:id="rId37"/>
      <p:italic r:id="rId38"/>
      <p:boldItalic r:id="rId39"/>
    </p:embeddedFont>
    <p:embeddedFont>
      <p:font typeface="Arial Black" pitchFamily="34" charset="0"/>
      <p:bold r:id="rId40"/>
    </p:embeddedFont>
    <p:embeddedFont>
      <p:font typeface="Verdana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2476" autoAdjust="0"/>
    <p:restoredTop sz="94694"/>
  </p:normalViewPr>
  <p:slideViewPr>
    <p:cSldViewPr snapToGrid="0">
      <p:cViewPr>
        <p:scale>
          <a:sx n="75" d="100"/>
          <a:sy n="75" d="100"/>
        </p:scale>
        <p:origin x="-1589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2805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3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Constructing Circle Graphs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317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51347" y="9213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78" y="38133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36229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latin typeface="Verdana"/>
                <a:ea typeface="Times New Roman"/>
                <a:cs typeface="Times New Roman"/>
              </a:rPr>
              <a:t>MA.7.DP.1.4 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proportional reasoning to construct, display, and interpret data in circle graphs.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6378" y="129667"/>
            <a:ext cx="80790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6378" y="1578634"/>
            <a:ext cx="1044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pic>
        <p:nvPicPr>
          <p:cNvPr id="13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78" y="38133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2902" y="10491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78" y="3941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33439" y="1584993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34988">
              <a:buClr>
                <a:schemeClr val="tx1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construct a circle graph given categorical data.</a:t>
            </a: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2042" y="276659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7.3.1 Warm-Up: Data Display 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78" y="19845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02028" y="1233626"/>
            <a:ext cx="1053449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circle graph.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What do you notice </a:t>
            </a:r>
            <a:r>
              <a:rPr lang="en-US" sz="2400" dirty="0" smtClean="0">
                <a:latin typeface="Verdana"/>
                <a:ea typeface="Times New Roman"/>
                <a:cs typeface="Times New Roman"/>
              </a:rPr>
              <a:t>about </a:t>
            </a:r>
            <a:r>
              <a:rPr lang="en-US" sz="2400" dirty="0">
                <a:latin typeface="Verdana"/>
                <a:ea typeface="Times New Roman"/>
                <a:cs typeface="Times New Roman"/>
              </a:rPr>
              <a:t>the graph?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Explain whether or </a:t>
            </a:r>
            <a:r>
              <a:rPr lang="en-US" sz="2400" dirty="0" smtClean="0">
                <a:latin typeface="Verdana"/>
                <a:ea typeface="Times New Roman"/>
                <a:cs typeface="Times New Roman"/>
              </a:rPr>
              <a:t>not </a:t>
            </a:r>
            <a:r>
              <a:rPr lang="en-US" sz="2400" dirty="0">
                <a:latin typeface="Verdana"/>
                <a:ea typeface="Times New Roman"/>
                <a:cs typeface="Times New Roman"/>
              </a:rPr>
              <a:t>this is a valid 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display of data. 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</p:txBody>
      </p:sp>
      <p:pic>
        <p:nvPicPr>
          <p:cNvPr id="10" name="Picture 9" descr="Chart, pie chart&#10;&#10;Description automatically generated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7016" y="1233626"/>
            <a:ext cx="4163568" cy="4046733"/>
          </a:xfrm>
          <a:prstGeom prst="rect">
            <a:avLst/>
          </a:prstGeom>
        </p:spPr>
      </p:pic>
      <p:sp>
        <p:nvSpPr>
          <p:cNvPr id="16" name="Google Shape;278;g104476d1465_1_17">
            <a:extLst>
              <a:ext uri="{FF2B5EF4-FFF2-40B4-BE49-F238E27FC236}">
                <a16:creationId xmlns=""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2688" y="0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7.3.2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Circle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Graphs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378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36264" y="3324464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The survey data in the table shows data collected in 2019 on the use of different technologies in the United States.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60448" y="1471362"/>
            <a:ext cx="8316000" cy="164631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72000" rIns="91425" bIns="0" anchor="ctr" anchorCtr="0">
            <a:spAutoFit/>
          </a:bodyPr>
          <a:lstStyle/>
          <a:p>
            <a:pPr marL="742950">
              <a:spcAft>
                <a:spcPts val="10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Times New Roman"/>
                <a:cs typeface="Times New Roman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Times New Roman"/>
                <a:cs typeface="Times New Roman"/>
              </a:rPr>
              <a:t>circle graph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Times New Roman"/>
                <a:cs typeface="Times New Roman"/>
              </a:rPr>
              <a:t>, also called a pie chart,</a:t>
            </a:r>
            <a:r>
              <a:rPr lang="en-US" sz="2000" i="1" dirty="0">
                <a:solidFill>
                  <a:srgbClr val="6C993D"/>
                </a:solidFill>
                <a:latin typeface="Verdana"/>
                <a:ea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Times New Roman"/>
                <a:cs typeface="Times New Roman"/>
              </a:rPr>
              <a:t>is a visual display of categorical data. The whole set of data is represented by the circle and its interior. The categories are represented by fractional parts of the circle.</a:t>
            </a:r>
            <a:endParaRPr lang="en-PH" sz="2000" dirty="0">
              <a:latin typeface="Cambria"/>
              <a:ea typeface="Times New Roman"/>
              <a:cs typeface="Times New Roman"/>
            </a:endParaRPr>
          </a:p>
        </p:txBody>
      </p:sp>
      <p:pic>
        <p:nvPicPr>
          <p:cNvPr id="14" name="Shape 5" descr="Icon&#10;&#10;Description automatically generated with medium confidence"/>
          <p:cNvPicPr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5530" y="1675777"/>
            <a:ext cx="548640" cy="548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455373"/>
                  </p:ext>
                </p:extLst>
              </p:nvPr>
            </p:nvGraphicFramePr>
            <p:xfrm>
              <a:off x="2624672" y="4298675"/>
              <a:ext cx="6120000" cy="2159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5016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Technology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 of People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Who Use It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5016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Internet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86%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Cell Phone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96%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Tablet/Computer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88%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455373"/>
                  </p:ext>
                </p:extLst>
              </p:nvPr>
            </p:nvGraphicFramePr>
            <p:xfrm>
              <a:off x="2624672" y="4298675"/>
              <a:ext cx="6120000" cy="2159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Technology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9077" t="-4348" r="-188" b="-21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5016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Internet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9077" t="-146341" r="-188" b="-206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Cell Phone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9077" t="-255696" r="-188" b="-1139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Tablet/Computer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9077" t="-360256" r="-188" b="-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5374" y="2908155"/>
            <a:ext cx="10800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buFont typeface="+mj-lt"/>
              <a:buAutoNum type="alphaL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How could someone using more than one of the technologies in the survey affect the percentages?</a:t>
            </a:r>
          </a:p>
          <a:p>
            <a:pPr marL="892175" indent="-457200">
              <a:buFont typeface="+mj-lt"/>
              <a:buAutoNum type="alphaLcPeriod"/>
            </a:pPr>
            <a:endParaRPr lang="en-US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endParaRPr lang="en-PH" sz="24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Discuss with your partner whether the data in the table can be displayed in a circle graph. Summarize your discussion.</a:t>
            </a:r>
            <a:endParaRPr lang="en-PH" sz="24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929012"/>
                  </p:ext>
                </p:extLst>
              </p:nvPr>
            </p:nvGraphicFramePr>
            <p:xfrm>
              <a:off x="2989073" y="377055"/>
              <a:ext cx="6120000" cy="2159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5016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Technology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 of People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Who Use It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5016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Internet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86%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Cell Phone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96%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Tablet/Computer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88%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929012"/>
                  </p:ext>
                </p:extLst>
              </p:nvPr>
            </p:nvGraphicFramePr>
            <p:xfrm>
              <a:off x="2989073" y="377055"/>
              <a:ext cx="6120000" cy="2159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Technology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722" t="-4348" r="-188" b="-2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50165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Internet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722" t="-146341" r="-188" b="-2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Cell Phone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722" t="-255696" r="-188" b="-112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4781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Tablet/Computer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722" t="-360256" r="-188" b="-141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2842" y="386062"/>
            <a:ext cx="108000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SzPct val="100000"/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A store collected data on the percentage of sales that each department generated for the store’s total revenue over three months.</a:t>
            </a: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 smtClean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With your partner, compare the department store data to the technologies data. Describe any similarities or differences you notice.</a:t>
            </a:r>
            <a:endParaRPr lang="en-PH" dirty="0">
              <a:latin typeface="Cambria"/>
              <a:ea typeface="Times New Roman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Discuss with your partner why a circle graph is a good display for the department store data. </a:t>
            </a:r>
            <a:endParaRPr lang="en-PH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5639795"/>
                  </p:ext>
                </p:extLst>
              </p:nvPr>
            </p:nvGraphicFramePr>
            <p:xfrm>
              <a:off x="2882842" y="1367304"/>
              <a:ext cx="6120000" cy="2754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Department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of Sales Generated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Women’s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53%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28%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Shoes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12%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Fragrance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5%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Jewelry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5639795"/>
                  </p:ext>
                </p:extLst>
              </p:nvPr>
            </p:nvGraphicFramePr>
            <p:xfrm>
              <a:off x="2882842" y="1367304"/>
              <a:ext cx="6120000" cy="2754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Department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910" b="-5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Women’s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910" t="-102667" b="-4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910" t="-202667" b="-3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Shoes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910" t="-302667" b="-2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Fragrance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910" t="-402667" b="-1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Jewelry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910" t="-502667" b="-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7065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3963" y="381595"/>
            <a:ext cx="1132953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100000"/>
              <a:buFont typeface="+mj-lt"/>
              <a:buAutoNum type="arabicPeriod" startAt="3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The circle graph displays a store’s sales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>by </a:t>
            </a:r>
            <a:br>
              <a:rPr lang="en-US" sz="2000" dirty="0" smtClean="0">
                <a:latin typeface="Verdana"/>
                <a:ea typeface="Times New Roman"/>
                <a:cs typeface="Times New Roman"/>
              </a:rPr>
            </a:br>
            <a:r>
              <a:rPr lang="en-US" sz="2000" dirty="0" smtClean="0">
                <a:latin typeface="Verdana"/>
                <a:ea typeface="Times New Roman"/>
                <a:cs typeface="Times New Roman"/>
              </a:rPr>
              <a:t>department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over a three-month period.</a:t>
            </a:r>
            <a:endParaRPr lang="en-PH" sz="2000" dirty="0">
              <a:latin typeface="Cambria"/>
              <a:ea typeface="Times New Roman"/>
              <a:cs typeface="Times New Roman"/>
            </a:endParaRPr>
          </a:p>
          <a:p>
            <a:pPr marL="892175" indent="-457200">
              <a:buSzPts val="1800"/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Desc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ribe the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>information 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that </a:t>
            </a:r>
            <a:b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was included for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>each 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sector. </a:t>
            </a:r>
          </a:p>
          <a:p>
            <a:pPr marL="892175" indent="-457200">
              <a:buSzPct val="100000"/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Which department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>had 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the largest </a:t>
            </a:r>
            <a:b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percentage of sales?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Discuss with your partner how to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>find 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the angle measure for each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>sector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. 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-1075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928" r="7162" b="7662"/>
          <a:stretch/>
        </p:blipFill>
        <p:spPr bwMode="auto">
          <a:xfrm>
            <a:off x="6369892" y="1246282"/>
            <a:ext cx="4964072" cy="3621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991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3964" y="379711"/>
            <a:ext cx="1080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buSzPct val="100000"/>
              <a:buFont typeface="+mj-lt"/>
              <a:buAutoNum type="alphaLcPeriod" startAt="4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Find the corresponding angle measure for each department. 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/>
            </a:r>
            <a:b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</a:br>
            <a:r>
              <a:rPr lang="en-US" sz="2000" dirty="0" smtClean="0">
                <a:latin typeface="Verdana" pitchFamily="34" charset="0"/>
                <a:ea typeface="Verdana" pitchFamily="34" charset="0"/>
                <a:cs typeface="Times New Roman"/>
              </a:rPr>
              <a:t>Round 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to the nearest whole number.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What is the sum of all five calculated angle measures?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SzPct val="100000"/>
              <a:buFont typeface="+mj-lt"/>
              <a:buAutoNum type="alphaLcPeriod" startAt="4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Use your protractor to compare your calculated values with the degrees of each sector in the actual circle graph. Then, discuss with your partner how they compare.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942051"/>
                  </p:ext>
                </p:extLst>
              </p:nvPr>
            </p:nvGraphicFramePr>
            <p:xfrm>
              <a:off x="1521114" y="1215393"/>
              <a:ext cx="6120000" cy="28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Department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Angle Measure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(°)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Women’s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Shoes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Fragrance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Jewelry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942051"/>
                  </p:ext>
                </p:extLst>
              </p:nvPr>
            </p:nvGraphicFramePr>
            <p:xfrm>
              <a:off x="1521114" y="1215393"/>
              <a:ext cx="6120000" cy="28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Department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9077" r="-188" b="-5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Women’s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Men’s Clothing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Shoes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Fragrance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Jewelry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-1075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5105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0466" y="0"/>
            <a:ext cx="103535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7.3.3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Constructing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 Circle Graph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5870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3964" y="1397152"/>
                <a:ext cx="10800000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Complete the following with your partner.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A travel agency sent out a survey to find out which local airports people preferred. The travel agency received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380 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responses and compiled the data into the table shown</a:t>
                </a:r>
                <a:r>
                  <a:rPr lang="en-US" sz="2400" dirty="0" smtClean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64" y="1397152"/>
                <a:ext cx="10800000" cy="1723549"/>
              </a:xfrm>
              <a:prstGeom prst="rect">
                <a:avLst/>
              </a:prstGeom>
              <a:blipFill rotWithShape="1">
                <a:blip r:embed="rId4"/>
                <a:stretch>
                  <a:fillRect l="-903" t="-2827" r="-169" b="-7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3543335"/>
                  </p:ext>
                </p:extLst>
              </p:nvPr>
            </p:nvGraphicFramePr>
            <p:xfrm>
              <a:off x="2777295" y="3523896"/>
              <a:ext cx="6120000" cy="234823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76327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Airport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Number of People Who Selected the Airport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8163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Northshore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206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638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Southport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122</m:t>
                                </m:r>
                              </m:oMath>
                            </m:oMathPara>
                          </a14:m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38163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East Town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36385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West Lane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3543335"/>
                  </p:ext>
                </p:extLst>
              </p:nvPr>
            </p:nvGraphicFramePr>
            <p:xfrm>
              <a:off x="2777295" y="3523896"/>
              <a:ext cx="6120000" cy="234823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6327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Airport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Number of People Who Selected the Airport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Northshore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4615" t="-192308" b="-3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Southport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4615" t="-292308" b="-2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East Town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4615" t="-392308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West Lane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4615" t="-492308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2842" y="385086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Use the data to complete the table. Round all values to the nearest whole number.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3954"/>
                  </p:ext>
                </p:extLst>
              </p:nvPr>
            </p:nvGraphicFramePr>
            <p:xfrm>
              <a:off x="1571009" y="1407954"/>
              <a:ext cx="8640000" cy="403374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62293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Airport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77800" marR="17018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 dirty="0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1" i="0" dirty="0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  <a:cs typeface="Times New Roman"/>
                                      </a:rPr>
                                      <m:t>𝐚𝐢𝐫𝐩𝐨𝐫𝐭</m:t>
                                    </m:r>
                                    <m:r>
                                      <a:rPr lang="en-PH" sz="2000" b="1" i="0" dirty="0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PH" sz="2000" b="1" i="0" dirty="0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  <a:cs typeface="Times New Roman"/>
                                      </a:rPr>
                                      <m:t>𝐜𝐡𝐨𝐢𝐜𝐞</m:t>
                                    </m:r>
                                  </m:num>
                                  <m:den>
                                    <m:r>
                                      <a:rPr lang="en-PH" sz="2000" b="1" i="0" dirty="0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  <a:cs typeface="Times New Roman"/>
                                      </a:rPr>
                                      <m:t>𝐭𝐨𝐭𝐚𝐥</m:t>
                                    </m:r>
                                    <m:r>
                                      <a:rPr lang="en-PH" sz="2000" b="1" i="0" dirty="0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PH" sz="2000" b="1" i="0" dirty="0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  <a:cs typeface="Times New Roman"/>
                                      </a:rPr>
                                      <m:t>𝐫𝐞𝐬𝐩𝐨𝐧𝐬𝐞𝐬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Percentage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Angle Measure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)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Northshore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206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380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Southport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East Town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West Lane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3954"/>
                  </p:ext>
                </p:extLst>
              </p:nvPr>
            </p:nvGraphicFramePr>
            <p:xfrm>
              <a:off x="1571009" y="1407954"/>
              <a:ext cx="8640000" cy="403374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21741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Airport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542" r="-199718" b="-4610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Percentage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00565" t="-2542" r="-282" b="-4610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Northshore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88971" r="-19971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Southport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East Town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West Lane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2842" y="37835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Use the data in the table and a protractor to construct a circle graph. 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624966" y="1298125"/>
            <a:ext cx="4827063" cy="47920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5081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4072" y="385943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A restaurant is developing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>a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new menu,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/>
            </a:r>
            <a:br>
              <a:rPr lang="en-US" sz="2000" dirty="0" smtClean="0">
                <a:latin typeface="Verdana"/>
                <a:ea typeface="Times New Roman"/>
                <a:cs typeface="Times New Roman"/>
              </a:rPr>
            </a:br>
            <a:r>
              <a:rPr lang="en-US" sz="2000" dirty="0" smtClean="0">
                <a:latin typeface="Verdana"/>
                <a:ea typeface="Times New Roman"/>
                <a:cs typeface="Times New Roman"/>
              </a:rPr>
              <a:t>so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they decide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>to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survey people’s favorite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local seafood. The results of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>the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survey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/>
            </a:r>
            <a:br>
              <a:rPr lang="en-US" sz="2000" dirty="0" smtClean="0">
                <a:latin typeface="Verdana"/>
                <a:ea typeface="Times New Roman"/>
                <a:cs typeface="Times New Roman"/>
              </a:rPr>
            </a:br>
            <a:r>
              <a:rPr lang="en-US" sz="2000" dirty="0" smtClean="0">
                <a:latin typeface="Verdana"/>
                <a:ea typeface="Times New Roman"/>
                <a:cs typeface="Times New Roman"/>
              </a:rPr>
              <a:t>are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shown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>in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the table.</a:t>
            </a:r>
            <a:endParaRPr lang="en-PH" dirty="0">
              <a:latin typeface="Cambria"/>
              <a:ea typeface="Times New Roman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Use the data and a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>protractor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to construct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a circle graph.</a:t>
            </a:r>
            <a:endParaRPr lang="en-PH" sz="2000" dirty="0">
              <a:latin typeface="Cambria"/>
              <a:ea typeface="Times New Roman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892175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Summarize the process you and your </a:t>
            </a:r>
            <a:r>
              <a:rPr lang="en-US" sz="2000" dirty="0" smtClean="0">
                <a:latin typeface="Verdana"/>
                <a:ea typeface="Times New Roman"/>
                <a:cs typeface="Times New Roman"/>
              </a:rPr>
              <a:t/>
            </a:r>
            <a:br>
              <a:rPr lang="en-US" sz="2000" dirty="0" smtClean="0">
                <a:latin typeface="Verdana"/>
                <a:ea typeface="Times New Roman"/>
                <a:cs typeface="Times New Roman"/>
              </a:rPr>
            </a:br>
            <a:r>
              <a:rPr lang="en-US" sz="2000" dirty="0" smtClean="0">
                <a:latin typeface="Verdana"/>
                <a:ea typeface="Times New Roman"/>
                <a:cs typeface="Times New Roman"/>
              </a:rPr>
              <a:t>partner 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used to construct the circle graph.</a:t>
            </a:r>
            <a:endParaRPr lang="en-PH" sz="20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1065087"/>
                  </p:ext>
                </p:extLst>
              </p:nvPr>
            </p:nvGraphicFramePr>
            <p:xfrm>
              <a:off x="7374072" y="385943"/>
              <a:ext cx="3960000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Favorite Seafood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Percentage Preferred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Grouper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Red Snapper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39%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Stone Crab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30%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Pink Shrimp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16%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1065087"/>
                  </p:ext>
                </p:extLst>
              </p:nvPr>
            </p:nvGraphicFramePr>
            <p:xfrm>
              <a:off x="7374072" y="385943"/>
              <a:ext cx="3960000" cy="228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Favorite Seafood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Percentage Preferred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Grouper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0339" t="-184615" r="-339" b="-3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Red Snapper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0339" t="-284615" r="-339" b="-2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Stone Crab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0339" t="-384615" r="-339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Pink Shrimp</a:t>
                          </a:r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0339" t="-484615" r="-339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388371" y="2827514"/>
            <a:ext cx="3593307" cy="35672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7340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58301" y="38384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378" y="3838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530412" y="1363042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80"/>
              </a:spcBef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The Pasco Middle School Pirates are conducting </a:t>
            </a:r>
            <a:r>
              <a:rPr lang="en-US" sz="2400" dirty="0" smtClean="0">
                <a:latin typeface="Verdana"/>
                <a:ea typeface="Times New Roman"/>
                <a:cs typeface="Times New Roman"/>
              </a:rPr>
              <a:t>a </a:t>
            </a:r>
            <a:r>
              <a:rPr lang="en-US" sz="2400" dirty="0">
                <a:latin typeface="Verdana"/>
                <a:ea typeface="Times New Roman"/>
                <a:cs typeface="Times New Roman"/>
              </a:rPr>
              <a:t>survey to determine their students’ favorite Florida sports team name. </a:t>
            </a:r>
            <a:r>
              <a:rPr lang="en-US" sz="2400" dirty="0" smtClean="0">
                <a:latin typeface="Verdana"/>
                <a:ea typeface="Times New Roman"/>
                <a:cs typeface="Times New Roman"/>
              </a:rPr>
              <a:t/>
            </a:r>
            <a:br>
              <a:rPr lang="en-US" sz="2400" dirty="0" smtClean="0">
                <a:latin typeface="Verdana"/>
                <a:ea typeface="Times New Roman"/>
                <a:cs typeface="Times New Roman"/>
              </a:rPr>
            </a:br>
            <a:r>
              <a:rPr lang="en-US" sz="2400" dirty="0" smtClean="0">
                <a:latin typeface="Verdana"/>
                <a:ea typeface="Times New Roman"/>
                <a:cs typeface="Times New Roman"/>
              </a:rPr>
              <a:t>The </a:t>
            </a:r>
            <a:r>
              <a:rPr lang="en-US" sz="2400" dirty="0">
                <a:latin typeface="Verdana"/>
                <a:ea typeface="Times New Roman"/>
                <a:cs typeface="Times New Roman"/>
              </a:rPr>
              <a:t>results of the survey are shown in the table.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9700118"/>
                  </p:ext>
                </p:extLst>
              </p:nvPr>
            </p:nvGraphicFramePr>
            <p:xfrm>
              <a:off x="2562876" y="2828106"/>
              <a:ext cx="7200000" cy="282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Florida Team Name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Percentage Preferred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USF Bulls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19%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Miami Hurricanes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7%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Florida Gators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32%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UCF Knights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22%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Florida State Seminoles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9700118"/>
                  </p:ext>
                </p:extLst>
              </p:nvPr>
            </p:nvGraphicFramePr>
            <p:xfrm>
              <a:off x="2562876" y="2828106"/>
              <a:ext cx="7200000" cy="2826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Florida Team Name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Percentage Preferred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USF Bulls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20000" b="-4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Miami Hurricanes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20000" b="-3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Florida Gators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320000" b="-2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UCF Knights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420000" b="-1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Florida State Seminoles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520000" b="-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2842" y="378352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9738"/>
            <a:r>
              <a:rPr lang="en-US" sz="2400" dirty="0">
                <a:latin typeface="Verdana"/>
                <a:ea typeface="Times New Roman"/>
                <a:cs typeface="Times New Roman"/>
              </a:rPr>
              <a:t>Use the data and a protractor to construct a circle graph.</a:t>
            </a:r>
            <a:endParaRPr lang="en-PH" sz="24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8" name="Picture 7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26299" y="1037048"/>
            <a:ext cx="5233085" cy="51950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50465" y="0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7.3.5 Wrap-Up: Ticket Out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378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42842" y="145307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80"/>
              </a:spcBef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The Rudolph Family’s top five monthly expenses are as follows: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5262879"/>
                  </p:ext>
                </p:extLst>
              </p:nvPr>
            </p:nvGraphicFramePr>
            <p:xfrm>
              <a:off x="1075678" y="2091930"/>
              <a:ext cx="7920000" cy="13411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68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342900" lvl="0" indent="-342900">
                            <a:spcAft>
                              <a:spcPts val="600"/>
                            </a:spcAft>
                            <a:buFont typeface="Symbol"/>
                            <a:buChar char=""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Rent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$950.00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lvl="0" indent="-342900">
                            <a:spcAft>
                              <a:spcPts val="600"/>
                            </a:spcAft>
                            <a:buFont typeface="Symbol"/>
                            <a:buChar char=""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Utilities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$236.00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lvl="0" indent="-342900">
                            <a:spcAft>
                              <a:spcPts val="0"/>
                            </a:spcAft>
                            <a:buFont typeface="Symbol"/>
                            <a:buChar char=""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Groceries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$800.00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lvl="0" indent="-342900">
                            <a:spcAft>
                              <a:spcPts val="600"/>
                            </a:spcAft>
                            <a:buFont typeface="Symbol"/>
                            <a:buChar char=""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Gas/Car Insurance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$356.50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42900" lvl="0" indent="-342900">
                            <a:spcAft>
                              <a:spcPts val="0"/>
                            </a:spcAft>
                            <a:buFont typeface="Symbol"/>
                            <a:buChar char=""/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Miscellaneous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effectLst/>
                                  <a:latin typeface="Cambria Math"/>
                                  <a:ea typeface="Verdana" pitchFamily="34" charset="0"/>
                                </a:rPr>
                                <m:t>$500.00</m:t>
                              </m:r>
                            </m:oMath>
                          </a14:m>
                          <a:endParaRPr lang="en-PH" sz="24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5262879"/>
                  </p:ext>
                </p:extLst>
              </p:nvPr>
            </p:nvGraphicFramePr>
            <p:xfrm>
              <a:off x="1075678" y="2091930"/>
              <a:ext cx="7920000" cy="13411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6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1341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4091" r="-144361" b="-10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69271" t="-4091" b="-10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5376" y="378350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spcBef>
                <a:spcPts val="180"/>
              </a:spcBef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Complete the table. Round each percentage and angle measure to the nearest whole number. 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B513ABD8-4288-F244-A3F2-80C31058217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2945065"/>
                  </p:ext>
                </p:extLst>
              </p:nvPr>
            </p:nvGraphicFramePr>
            <p:xfrm>
              <a:off x="1589368" y="1364936"/>
              <a:ext cx="9360000" cy="48759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73596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</a:rPr>
                            <a:t>Expense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b="1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  <m:t>𝐞𝐱𝐩𝐞𝐧𝐬𝐞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  <m:t>𝐜𝐚𝐭𝐞𝐠𝐨𝐫𝐲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  <m:t>𝐭𝐨𝐭𝐚𝐥</m:t>
                                    </m:r>
                                    <m:r>
                                      <a:rPr lang="en-US" sz="2000" b="1">
                                        <a:effectLst/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/>
                                      </a:rPr>
                                      <m:t>𝐞𝐱𝐩𝐞𝐧𝐬𝐞𝐬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Percentage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Angle </a:t>
                          </a:r>
                          <a:r>
                            <a:rPr lang="en-US" sz="2000" b="1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Measure 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)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Rent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950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2842.50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Utilities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236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2842.50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Groceries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800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2842.50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Gas/Car Insurance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356.50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2842.50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Miscellaneous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500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  <m:t>2842.50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2945065"/>
                  </p:ext>
                </p:extLst>
              </p:nvPr>
            </p:nvGraphicFramePr>
            <p:xfrm>
              <a:off x="1589368" y="1364936"/>
              <a:ext cx="9360000" cy="48759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35965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</a:rPr>
                            <a:t>Expense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749" t="-1653" r="-185507" b="-5611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Percentage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71913" t="-1653" r="-242" b="-5611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Rent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749" t="-90441" r="-185507" b="-399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Utilities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749" t="-191852" r="-185507" b="-3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Groceries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749" t="-289706" r="-18550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Gas/Car Insurance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749" t="-389706" r="-1855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82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Miscellaneous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5749" t="-489706" r="-185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</a:endParaRPr>
                        </a:p>
                      </a:txBody>
                      <a:tcPr marL="0" marR="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2842" y="387229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spcBef>
                <a:spcPts val="180"/>
              </a:spcBef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Construct the corresponding circle graph.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B513ABD8-4288-F244-A3F2-80C31058217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8" name="Picture 7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600857" y="1072220"/>
            <a:ext cx="5245013" cy="52069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3870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797</Words>
  <Application>Microsoft Office PowerPoint</Application>
  <PresentationFormat>Custom</PresentationFormat>
  <Paragraphs>258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Times New Roman</vt:lpstr>
      <vt:lpstr>Century Gothic</vt:lpstr>
      <vt:lpstr>Cambria Math</vt:lpstr>
      <vt:lpstr>Cambria</vt:lpstr>
      <vt:lpstr>Arial Black</vt:lpstr>
      <vt:lpstr>Verdana</vt:lpstr>
      <vt:lpstr>Symbol</vt:lpstr>
      <vt:lpstr>1_Office Theme</vt:lpstr>
      <vt:lpstr>7th Grade Math  Unit 7, Lesson 3  Constructing Circle Graphs  Volume 1, pg. 303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37</cp:revision>
  <dcterms:created xsi:type="dcterms:W3CDTF">2015-03-17T18:51:18Z</dcterms:created>
  <dcterms:modified xsi:type="dcterms:W3CDTF">2022-07-11T10:47:18Z</dcterms:modified>
</cp:coreProperties>
</file>