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85" r:id="rId4"/>
    <p:sldId id="286" r:id="rId5"/>
    <p:sldId id="261" r:id="rId6"/>
    <p:sldId id="287" r:id="rId7"/>
    <p:sldId id="311" r:id="rId8"/>
    <p:sldId id="312" r:id="rId9"/>
    <p:sldId id="333" r:id="rId10"/>
    <p:sldId id="342" r:id="rId11"/>
    <p:sldId id="343" r:id="rId12"/>
    <p:sldId id="314" r:id="rId13"/>
    <p:sldId id="315" r:id="rId14"/>
    <p:sldId id="332" r:id="rId15"/>
    <p:sldId id="344" r:id="rId16"/>
    <p:sldId id="302" r:id="rId17"/>
    <p:sldId id="303" r:id="rId18"/>
    <p:sldId id="340" r:id="rId19"/>
    <p:sldId id="345" r:id="rId20"/>
    <p:sldId id="306" r:id="rId21"/>
    <p:sldId id="307" r:id="rId22"/>
  </p:sldIdLst>
  <p:sldSz cx="12192000" cy="6858000"/>
  <p:notesSz cx="6858000" cy="9144000"/>
  <p:embeddedFontLst>
    <p:embeddedFont>
      <p:font typeface="Arial Black" panose="020B0604020202020204" pitchFamily="34" charset="0"/>
      <p:bold r:id="rId24"/>
    </p:embeddedFont>
    <p:embeddedFont>
      <p:font typeface="Calibri" panose="020F0502020204030204" pitchFamily="34" charset="0"/>
      <p:regular r:id="rId25"/>
      <p:bold r:id="rId26"/>
      <p:italic r:id="rId27"/>
      <p:boldItalic r:id="rId28"/>
    </p:embeddedFont>
    <p:embeddedFont>
      <p:font typeface="Cambria" panose="02040503050406030204" pitchFamily="18" charset="0"/>
      <p:regular r:id="rId29"/>
      <p:bold r:id="rId30"/>
      <p:italic r:id="rId31"/>
      <p:boldItalic r:id="rId32"/>
    </p:embeddedFont>
    <p:embeddedFont>
      <p:font typeface="Cambria Math" panose="02040503050406030204" pitchFamily="18" charset="0"/>
      <p:regular r:id="rId33"/>
    </p:embeddedFont>
    <p:embeddedFont>
      <p:font typeface="Century Gothic" panose="020B0502020202020204" pitchFamily="34" charset="0"/>
      <p:regular r:id="rId34"/>
      <p:bold r:id="rId35"/>
      <p:italic r:id="rId36"/>
      <p:boldItalic r:id="rId37"/>
    </p:embeddedFont>
    <p:embeddedFont>
      <p:font typeface="Verdana" panose="020B0604030504040204" pitchFamily="34"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BFAC"/>
    <a:srgbClr val="B399C8"/>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6196" autoAdjust="0"/>
    <p:restoredTop sz="94694"/>
  </p:normalViewPr>
  <p:slideViewPr>
    <p:cSldViewPr snapToGrid="0">
      <p:cViewPr varScale="1">
        <p:scale>
          <a:sx n="128" d="100"/>
          <a:sy n="128" d="100"/>
        </p:scale>
        <p:origin x="1472"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3907475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511967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511967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5119672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2.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00.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6.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7</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lvl="0" algn="ctr">
              <a:lnSpc>
                <a:spcPct val="100000"/>
              </a:lnSpc>
              <a:buClr>
                <a:srgbClr val="000000"/>
              </a:buClr>
            </a:pPr>
            <a:r>
              <a:rPr lang="en-US" sz="3600" b="1" dirty="0">
                <a:solidFill>
                  <a:srgbClr val="417DBF"/>
                </a:solidFill>
                <a:latin typeface="Verdana"/>
                <a:ea typeface="Verdana"/>
                <a:cs typeface="Verdana"/>
                <a:sym typeface="Verdana"/>
              </a:rPr>
              <a:t>Unit 7, Lesson 7</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Solving Multi Step Problems Involving Discounts, Taxes, Tips, or Fees </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325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pic>
        <p:nvPicPr>
          <p:cNvPr id="5" name="Picture 4"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79;g104476d1465_1_17"/>
          <p:cNvSpPr txBox="1">
            <a:spLocks/>
          </p:cNvSpPr>
          <p:nvPr/>
        </p:nvSpPr>
        <p:spPr>
          <a:xfrm>
            <a:off x="1151917"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buFont typeface="Century Gothic"/>
              <a:buNone/>
            </a:pPr>
            <a:r>
              <a:rPr lang="en-US" sz="4700" b="1" dirty="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3">
            <a:alphaModFix/>
          </a:blip>
          <a:stretch>
            <a:fillRect/>
          </a:stretch>
        </p:blipFill>
        <p:spPr>
          <a:xfrm>
            <a:off x="328417"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a16="http://schemas.microsoft.com/office/drawing/2014/main" id="{527A9F9F-07B8-ED47-B967-E5507C67DBC5}"/>
              </a:ext>
            </a:extLst>
          </p:cNvPr>
          <p:cNvSpPr txBox="1">
            <a:spLocks/>
          </p:cNvSpPr>
          <p:nvPr/>
        </p:nvSpPr>
        <p:spPr>
          <a:xfrm>
            <a:off x="444683" y="1600200"/>
            <a:ext cx="1032675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latin typeface="Verdana"/>
                <a:ea typeface="Verdana"/>
                <a:cs typeface="Verdana"/>
              </a:rPr>
              <a:t>MA.7.AR.3.1</a:t>
            </a:r>
            <a:endParaRPr lang="en-US" sz="3600" dirty="0">
              <a:solidFill>
                <a:schemeClr val="tx1"/>
              </a:solidFill>
              <a:latin typeface="Verdana"/>
              <a:ea typeface="Verdana"/>
              <a:cs typeface="Verdana"/>
              <a:sym typeface="Verdana"/>
            </a:endParaRPr>
          </a:p>
          <a:p>
            <a:pPr indent="0">
              <a:buNone/>
            </a:pPr>
            <a:r>
              <a:rPr lang="en-US" sz="3600" dirty="0">
                <a:latin typeface="Verdana"/>
                <a:ea typeface="Verdana"/>
                <a:cs typeface="Verdana"/>
              </a:rPr>
              <a:t>Apply previous understanding of percentages and ratios to solve </a:t>
            </a:r>
            <a:br>
              <a:rPr lang="en-US" sz="3600" dirty="0">
                <a:latin typeface="Verdana"/>
                <a:ea typeface="Verdana"/>
                <a:cs typeface="Verdana"/>
              </a:rPr>
            </a:br>
            <a:r>
              <a:rPr lang="en-US" sz="3600" dirty="0">
                <a:latin typeface="Verdana"/>
                <a:ea typeface="Verdana"/>
                <a:cs typeface="Verdana"/>
              </a:rPr>
              <a:t>multi-step, real-world percent problems.</a:t>
            </a:r>
            <a:endParaRPr lang="en-US" sz="3600" dirty="0">
              <a:solidFill>
                <a:schemeClr val="tx1"/>
              </a:solidFill>
              <a:latin typeface="Century Gothic"/>
              <a:ea typeface="Century Gothic"/>
              <a:cs typeface="Century Gothic"/>
              <a:sym typeface="Century Gothic"/>
            </a:endParaRPr>
          </a:p>
        </p:txBody>
      </p:sp>
      <p:sp>
        <p:nvSpPr>
          <p:cNvPr id="12"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325</a:t>
            </a:r>
            <a:endParaRPr i="1" dirty="0">
              <a:latin typeface="Calibri"/>
              <a:ea typeface="Calibri"/>
              <a:cs typeface="Calibri"/>
              <a:sym typeface="Calibri"/>
            </a:endParaRPr>
          </a:p>
        </p:txBody>
      </p:sp>
      <p:pic>
        <p:nvPicPr>
          <p:cNvPr id="13"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3" name="Google Shape;281;g104476d1465_1_17"/>
          <p:cNvPicPr preferRelativeResize="0"/>
          <p:nvPr/>
        </p:nvPicPr>
        <p:blipFill>
          <a:blip r:embed="rId3">
            <a:alphaModFix/>
          </a:blip>
          <a:stretch>
            <a:fillRect/>
          </a:stretch>
        </p:blipFill>
        <p:spPr>
          <a:xfrm>
            <a:off x="329567" y="372300"/>
            <a:ext cx="747300" cy="747300"/>
          </a:xfrm>
          <a:prstGeom prst="rect">
            <a:avLst/>
          </a:prstGeom>
          <a:noFill/>
          <a:ln>
            <a:noFill/>
          </a:ln>
          <a:effectLst>
            <a:outerShdw blurRad="57150" dist="19050" dir="5400000" algn="bl" rotWithShape="0">
              <a:srgbClr val="000000">
                <a:alpha val="50000"/>
              </a:srgbClr>
            </a:outerShdw>
          </a:effectLst>
        </p:spPr>
      </p:pic>
      <p:sp>
        <p:nvSpPr>
          <p:cNvPr id="14" name="Google Shape;295;g103996e1364_0_10">
            <a:extLst>
              <a:ext uri="{FF2B5EF4-FFF2-40B4-BE49-F238E27FC236}">
                <a16:creationId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5" name="Google Shape;296;g103996e1364_0_10">
            <a:extLst>
              <a:ext uri="{FF2B5EF4-FFF2-40B4-BE49-F238E27FC236}">
                <a16:creationId xmlns:a16="http://schemas.microsoft.com/office/drawing/2014/main" id="{A6E18E39-B007-D647-9935-55A748533A45}"/>
              </a:ext>
            </a:extLst>
          </p:cNvPr>
          <p:cNvSpPr txBox="1">
            <a:spLocks/>
          </p:cNvSpPr>
          <p:nvPr/>
        </p:nvSpPr>
        <p:spPr>
          <a:xfrm>
            <a:off x="1154216" y="1596390"/>
            <a:ext cx="920898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3200" dirty="0">
                <a:solidFill>
                  <a:schemeClr val="dk1"/>
                </a:solidFill>
                <a:latin typeface="Verdana"/>
                <a:ea typeface="Verdana"/>
                <a:cs typeface="Verdana"/>
                <a:sym typeface="Verdana"/>
              </a:rPr>
              <a:t>MA.K12.MTR.3.1 Complete tasks with mathematical fluency.</a:t>
            </a:r>
            <a:endParaRPr lang="en-US" sz="3200" dirty="0"/>
          </a:p>
          <a:p>
            <a:pPr marL="457200" lvl="0"/>
            <a:endParaRPr lang="en-US" sz="3200" dirty="0">
              <a:solidFill>
                <a:schemeClr val="dk1"/>
              </a:solidFill>
              <a:latin typeface="Verdana"/>
              <a:ea typeface="Verdana"/>
              <a:cs typeface="Verdana"/>
              <a:sym typeface="Verdana"/>
            </a:endParaRPr>
          </a:p>
          <a:p>
            <a:pPr lvl="0"/>
            <a:r>
              <a:rPr lang="en-US" sz="3200" dirty="0">
                <a:solidFill>
                  <a:schemeClr val="dk1"/>
                </a:solidFill>
                <a:latin typeface="Verdana"/>
                <a:ea typeface="Verdana"/>
                <a:cs typeface="Verdana"/>
                <a:sym typeface="Verdana"/>
              </a:rPr>
              <a:t>MA.K12.MTR.6.1 Assess the reasonableness of solutions.</a:t>
            </a:r>
            <a:endParaRPr lang="en-US" sz="3200" dirty="0"/>
          </a:p>
          <a:p>
            <a:pPr lvl="0"/>
            <a:endParaRPr lang="en-US" sz="3200" dirty="0">
              <a:solidFill>
                <a:schemeClr val="dk1"/>
              </a:solidFill>
              <a:latin typeface="Verdana"/>
              <a:ea typeface="Verdana"/>
              <a:cs typeface="Verdana"/>
              <a:sym typeface="Verdana"/>
            </a:endParaRPr>
          </a:p>
          <a:p>
            <a:pPr lvl="0"/>
            <a:r>
              <a:rPr lang="en-US" sz="3200" dirty="0">
                <a:solidFill>
                  <a:schemeClr val="dk1"/>
                </a:solidFill>
                <a:latin typeface="Verdana"/>
                <a:ea typeface="Verdana"/>
                <a:cs typeface="Verdana"/>
                <a:sym typeface="Verdana"/>
              </a:rPr>
              <a:t>MA.K12.MTR.7.1 Apply mathematics to real-world contexts.</a:t>
            </a:r>
          </a:p>
        </p:txBody>
      </p:sp>
      <p:sp>
        <p:nvSpPr>
          <p:cNvPr id="16"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325</a:t>
            </a:r>
            <a:endParaRPr i="1" dirty="0">
              <a:latin typeface="Calibri"/>
              <a:ea typeface="Calibri"/>
              <a:cs typeface="Calibri"/>
              <a:sym typeface="Calibri"/>
            </a:endParaRPr>
          </a:p>
        </p:txBody>
      </p:sp>
      <p:pic>
        <p:nvPicPr>
          <p:cNvPr id="1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8" name="Google Shape;301;g103996e1364_0_16">
            <a:extLst>
              <a:ext uri="{FF2B5EF4-FFF2-40B4-BE49-F238E27FC236}">
                <a16:creationId xmlns:a16="http://schemas.microsoft.com/office/drawing/2014/main" id="{5771FBFA-7311-BB45-8AFF-04B380531EE6}"/>
              </a:ext>
            </a:extLst>
          </p:cNvPr>
          <p:cNvSpPr txBox="1">
            <a:spLocks/>
          </p:cNvSpPr>
          <p:nvPr/>
        </p:nvSpPr>
        <p:spPr>
          <a:xfrm>
            <a:off x="1108371"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1"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326209"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302;g103996e1364_0_16">
            <a:extLst>
              <a:ext uri="{FF2B5EF4-FFF2-40B4-BE49-F238E27FC236}">
                <a16:creationId xmlns:a16="http://schemas.microsoft.com/office/drawing/2014/main" id="{9B7C98EC-F13C-9146-B728-D7044DB4247D}"/>
              </a:ext>
            </a:extLst>
          </p:cNvPr>
          <p:cNvSpPr txBox="1">
            <a:spLocks/>
          </p:cNvSpPr>
          <p:nvPr/>
        </p:nvSpPr>
        <p:spPr>
          <a:xfrm>
            <a:off x="444682" y="1600199"/>
            <a:ext cx="10800000" cy="303455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23888" indent="-617538">
              <a:buClr>
                <a:srgbClr val="434343"/>
              </a:buClr>
              <a:buSzPts val="3500"/>
              <a:buFont typeface="Verdana"/>
              <a:buChar char="❏"/>
            </a:pPr>
            <a:r>
              <a:rPr lang="en-US" sz="3600" dirty="0">
                <a:solidFill>
                  <a:schemeClr val="tx1"/>
                </a:solidFill>
                <a:latin typeface="Verdana"/>
                <a:ea typeface="Verdana"/>
                <a:cs typeface="Verdana"/>
                <a:sym typeface="Verdana"/>
              </a:rPr>
              <a:t>I can solve multi-step problems that involve discounts, markups, taxes, tips, or fees.</a:t>
            </a:r>
            <a:endParaRPr lang="en-PH" sz="4000" dirty="0"/>
          </a:p>
        </p:txBody>
      </p:sp>
      <p:sp>
        <p:nvSpPr>
          <p:cNvPr id="15"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325</a:t>
            </a:r>
            <a:endParaRPr i="1" dirty="0">
              <a:latin typeface="Calibri"/>
              <a:ea typeface="Calibri"/>
              <a:cs typeface="Calibri"/>
              <a:sym typeface="Calibri"/>
            </a:endParaRPr>
          </a:p>
        </p:txBody>
      </p:sp>
      <p:pic>
        <p:nvPicPr>
          <p:cNvPr id="1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326</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Google Shape;170;p4"/>
              <p:cNvSpPr txBox="1"/>
              <p:nvPr/>
            </p:nvSpPr>
            <p:spPr>
              <a:xfrm>
                <a:off x="914400" y="1595576"/>
                <a:ext cx="10479741" cy="4555053"/>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itchFamily="34" charset="0"/>
                    <a:ea typeface="Verdana" pitchFamily="34" charset="0"/>
                    <a:cs typeface="Cambria"/>
                  </a:rPr>
                  <a:t>Fill in the blue boxes using the digits </a:t>
                </a:r>
                <a14:m>
                  <m:oMath xmlns:m="http://schemas.openxmlformats.org/officeDocument/2006/math">
                    <m:r>
                      <a:rPr lang="en-US" sz="2000" i="1">
                        <a:latin typeface="Cambria Math"/>
                        <a:ea typeface="Calibri"/>
                        <a:cs typeface="Cambria"/>
                      </a:rPr>
                      <m:t>1−9</m:t>
                    </m:r>
                  </m:oMath>
                </a14:m>
                <a:r>
                  <a:rPr lang="en-US" sz="2000" dirty="0">
                    <a:latin typeface="Verdana" pitchFamily="34" charset="0"/>
                    <a:ea typeface="Verdana" pitchFamily="34" charset="0"/>
                    <a:cs typeface="Cambria"/>
                  </a:rPr>
                  <a:t>, one time each at most, to create an accurate number line.</a:t>
                </a:r>
              </a:p>
              <a:p>
                <a:pPr marL="342900" indent="-342900">
                  <a:buFont typeface="+mj-lt"/>
                  <a:buAutoNum type="arabicPeriod"/>
                </a:pPr>
                <a:endParaRPr lang="en-US" sz="2000" dirty="0">
                  <a:latin typeface="Verdana" pitchFamily="34" charset="0"/>
                  <a:ea typeface="Verdana" pitchFamily="34" charset="0"/>
                  <a:cs typeface="Cambria"/>
                </a:endParaRPr>
              </a:p>
              <a:p>
                <a:pPr marL="342900" indent="-342900">
                  <a:buFont typeface="+mj-lt"/>
                  <a:buAutoNum type="arabicPeriod"/>
                </a:pPr>
                <a:endParaRPr lang="en-US" sz="2000" dirty="0">
                  <a:latin typeface="Verdana" pitchFamily="34" charset="0"/>
                  <a:ea typeface="Verdana" pitchFamily="34" charset="0"/>
                  <a:cs typeface="Cambria"/>
                </a:endParaRPr>
              </a:p>
              <a:p>
                <a:pPr marL="342900" indent="-342900">
                  <a:buFont typeface="+mj-lt"/>
                  <a:buAutoNum type="arabicPeriod"/>
                </a:pPr>
                <a:endParaRPr lang="en-US" sz="2000" dirty="0">
                  <a:latin typeface="Verdana" pitchFamily="34" charset="0"/>
                  <a:ea typeface="Verdana" pitchFamily="34" charset="0"/>
                  <a:cs typeface="Cambria"/>
                </a:endParaRPr>
              </a:p>
              <a:p>
                <a:pPr marL="342900" indent="-342900">
                  <a:buFont typeface="+mj-lt"/>
                  <a:buAutoNum type="arabicPeriod"/>
                </a:pPr>
                <a:endParaRPr lang="en-US" sz="2000" dirty="0">
                  <a:latin typeface="Verdana" pitchFamily="34" charset="0"/>
                  <a:ea typeface="Verdana" pitchFamily="34" charset="0"/>
                  <a:cs typeface="Cambria"/>
                </a:endParaRPr>
              </a:p>
              <a:p>
                <a:pPr marL="342900" indent="-342900">
                  <a:buFont typeface="+mj-lt"/>
                  <a:buAutoNum type="arabicPeriod"/>
                </a:pPr>
                <a:endParaRPr lang="en-US" sz="2000" dirty="0">
                  <a:latin typeface="Verdana" pitchFamily="34" charset="0"/>
                  <a:ea typeface="Verdana" pitchFamily="34" charset="0"/>
                  <a:cs typeface="Cambria"/>
                </a:endParaRPr>
              </a:p>
              <a:p>
                <a:pPr marL="342900" indent="-342900">
                  <a:buFont typeface="+mj-lt"/>
                  <a:buAutoNum type="arabicPeriod"/>
                </a:pPr>
                <a:endParaRPr lang="en-US" sz="2000" dirty="0">
                  <a:latin typeface="Verdana" pitchFamily="34" charset="0"/>
                  <a:ea typeface="Verdana" pitchFamily="34" charset="0"/>
                  <a:cs typeface="Cambria"/>
                </a:endParaRPr>
              </a:p>
              <a:p>
                <a:pPr marL="457200" indent="-457200">
                  <a:buFont typeface="+mj-lt"/>
                  <a:buAutoNum type="arabicPeriod"/>
                </a:pPr>
                <a:endParaRPr lang="en-US" sz="2000" dirty="0">
                  <a:latin typeface="Verdana" pitchFamily="34" charset="0"/>
                  <a:ea typeface="Verdana" pitchFamily="34" charset="0"/>
                  <a:cs typeface="Cambria"/>
                </a:endParaRPr>
              </a:p>
              <a:p>
                <a:pPr marL="457200" indent="-457200">
                  <a:spcAft>
                    <a:spcPts val="1200"/>
                  </a:spcAft>
                  <a:buFont typeface="+mj-lt"/>
                  <a:buAutoNum type="arabicPeriod"/>
                </a:pPr>
                <a:r>
                  <a:rPr lang="en-US" sz="2000" dirty="0">
                    <a:latin typeface="Verdana" pitchFamily="34" charset="0"/>
                    <a:ea typeface="Verdana" pitchFamily="34" charset="0"/>
                    <a:cs typeface="Cambria"/>
                  </a:rPr>
                  <a:t>There are multiple possible solutions.</a:t>
                </a:r>
                <a:endParaRPr lang="en-PH" sz="2000" dirty="0">
                  <a:latin typeface="Verdana" pitchFamily="34" charset="0"/>
                  <a:ea typeface="Verdana" pitchFamily="34" charset="0"/>
                  <a:cs typeface="Cambria"/>
                </a:endParaRPr>
              </a:p>
              <a:p>
                <a:pPr marL="914400" lvl="1" indent="-457200">
                  <a:buFont typeface="+mj-lt"/>
                  <a:buAutoNum type="alphaLcPeriod"/>
                </a:pPr>
                <a:r>
                  <a:rPr lang="en-US" sz="2000" dirty="0">
                    <a:latin typeface="Verdana" pitchFamily="34" charset="0"/>
                    <a:ea typeface="Verdana" pitchFamily="34" charset="0"/>
                    <a:cs typeface="Cambria"/>
                  </a:rPr>
                  <a:t>Find at least one other solution.</a:t>
                </a:r>
                <a:endParaRPr lang="en-PH" sz="2000" dirty="0">
                  <a:latin typeface="Verdana" pitchFamily="34" charset="0"/>
                  <a:ea typeface="Verdana" pitchFamily="34" charset="0"/>
                  <a:cs typeface="Cambria"/>
                </a:endParaRPr>
              </a:p>
              <a:p>
                <a:pPr marL="914400" lvl="1" indent="-457200">
                  <a:buFont typeface="+mj-lt"/>
                  <a:buAutoNum type="alphaLcPeriod"/>
                </a:pPr>
                <a:endParaRPr lang="en-US" sz="2000" dirty="0">
                  <a:latin typeface="Verdana" pitchFamily="34" charset="0"/>
                  <a:ea typeface="Verdana" pitchFamily="34" charset="0"/>
                  <a:cs typeface="Cambria"/>
                </a:endParaRPr>
              </a:p>
              <a:p>
                <a:pPr marL="914400" lvl="1" indent="-457200">
                  <a:buFont typeface="+mj-lt"/>
                  <a:buAutoNum type="alphaLcPeriod"/>
                </a:pPr>
                <a:endParaRPr lang="en-US" sz="2000" dirty="0">
                  <a:latin typeface="Verdana" pitchFamily="34" charset="0"/>
                  <a:ea typeface="Verdana" pitchFamily="34" charset="0"/>
                  <a:cs typeface="Cambria"/>
                </a:endParaRPr>
              </a:p>
              <a:p>
                <a:pPr marL="914400" lvl="1" indent="-457200">
                  <a:buFont typeface="+mj-lt"/>
                  <a:buAutoNum type="alphaLcPeriod"/>
                </a:pPr>
                <a:r>
                  <a:rPr lang="en-US" sz="2000" dirty="0">
                    <a:latin typeface="Verdana" pitchFamily="34" charset="0"/>
                    <a:ea typeface="Verdana" pitchFamily="34" charset="0"/>
                    <a:cs typeface="Cambria"/>
                  </a:rPr>
                  <a:t>Explain whether using </a:t>
                </a:r>
                <a14:m>
                  <m:oMath xmlns:m="http://schemas.openxmlformats.org/officeDocument/2006/math">
                    <m:r>
                      <a:rPr lang="en-US" sz="2000" i="1">
                        <a:latin typeface="Cambria Math"/>
                        <a:ea typeface="Calibri"/>
                        <a:cs typeface="Cambria"/>
                      </a:rPr>
                      <m:t>47%</m:t>
                    </m:r>
                  </m:oMath>
                </a14:m>
                <a:r>
                  <a:rPr lang="en-US" sz="2000" dirty="0">
                    <a:latin typeface="Verdana" pitchFamily="34" charset="0"/>
                    <a:ea typeface="Verdana" pitchFamily="34" charset="0"/>
                    <a:cs typeface="Cambria"/>
                  </a:rPr>
                  <a:t> for the percentage makes sense.</a:t>
                </a:r>
                <a:endParaRPr lang="en-PH" sz="2000" dirty="0">
                  <a:latin typeface="Verdana" pitchFamily="34" charset="0"/>
                  <a:ea typeface="Verdana" pitchFamily="34" charset="0"/>
                  <a:cs typeface="Cambria"/>
                </a:endParaRPr>
              </a:p>
            </p:txBody>
          </p:sp>
        </mc:Choice>
        <mc:Fallback xmlns="">
          <p:sp>
            <p:nvSpPr>
              <p:cNvPr id="12" name="Google Shape;170;p4"/>
              <p:cNvSpPr txBox="1">
                <a:spLocks noRot="1" noChangeAspect="1" noMove="1" noResize="1" noEditPoints="1" noAdjustHandles="1" noChangeArrowheads="1" noChangeShapeType="1" noTextEdit="1"/>
              </p:cNvSpPr>
              <p:nvPr/>
            </p:nvSpPr>
            <p:spPr>
              <a:xfrm>
                <a:off x="914400" y="1595576"/>
                <a:ext cx="10479741" cy="4555053"/>
              </a:xfrm>
              <a:prstGeom prst="rect">
                <a:avLst/>
              </a:prstGeom>
              <a:blipFill rotWithShape="1">
                <a:blip r:embed="rId3"/>
                <a:stretch>
                  <a:fillRect l="-640" t="-803" r="-407" b="-1473"/>
                </a:stretch>
              </a:blipFill>
              <a:ln>
                <a:noFill/>
              </a:ln>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F1992A8F-F621-054D-B71E-96605FF7377D}"/>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049" name="Picture 1"/>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519850" y="2535709"/>
            <a:ext cx="6111900" cy="159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Google Shape;167;p4"/>
          <p:cNvSpPr txBox="1"/>
          <p:nvPr/>
        </p:nvSpPr>
        <p:spPr>
          <a:xfrm>
            <a:off x="1143000" y="182113"/>
            <a:ext cx="10515600" cy="1089489"/>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7.7.1 Warm-Up: Percentages on a Linear Model </a:t>
            </a:r>
          </a:p>
        </p:txBody>
      </p:sp>
      <p:pic>
        <p:nvPicPr>
          <p:cNvPr id="11" name="Google Shape;168;p4"/>
          <p:cNvPicPr preferRelativeResize="0"/>
          <p:nvPr/>
        </p:nvPicPr>
        <p:blipFill rotWithShape="1">
          <a:blip r:embed="rId5">
            <a:alphaModFix/>
          </a:blip>
          <a:srcRect/>
          <a:stretch/>
        </p:blipFill>
        <p:spPr>
          <a:xfrm>
            <a:off x="356616" y="353207"/>
            <a:ext cx="747300" cy="747300"/>
          </a:xfrm>
          <a:prstGeom prst="rect">
            <a:avLst/>
          </a:prstGeom>
          <a:noFill/>
          <a:ln>
            <a:noFill/>
          </a:ln>
          <a:effectLst>
            <a:outerShdw blurRad="50800" dist="38100" dir="2700000" algn="tl" rotWithShape="0">
              <a:srgbClr val="000000">
                <a:alpha val="40000"/>
              </a:srgbClr>
            </a:outerShdw>
          </a:effectLst>
        </p:spPr>
      </p:pic>
      <p:sp>
        <p:nvSpPr>
          <p:cNvPr id="14"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326</a:t>
            </a:r>
            <a:endParaRPr i="1" dirty="0">
              <a:latin typeface="Calibri"/>
              <a:ea typeface="Calibri"/>
              <a:cs typeface="Calibri"/>
              <a:sym typeface="Calibri"/>
            </a:endParaRPr>
          </a:p>
        </p:txBody>
      </p:sp>
      <p:pic>
        <p:nvPicPr>
          <p:cNvPr id="15"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326</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9" name="Google Shape;278;g104476d1465_1_17">
            <a:extLst>
              <a:ext uri="{FF2B5EF4-FFF2-40B4-BE49-F238E27FC236}">
                <a16:creationId xmlns:a16="http://schemas.microsoft.com/office/drawing/2014/main" id="{D672544D-2ABA-1343-B9BB-B0296BB0511F}"/>
              </a:ext>
            </a:extLst>
          </p:cNvPr>
          <p:cNvSpPr/>
          <p:nvPr/>
        </p:nvSpPr>
        <p:spPr>
          <a:xfrm>
            <a:off x="9435"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2" name="Google Shape;324;g103996e1364_0_25">
            <a:extLst>
              <a:ext uri="{FF2B5EF4-FFF2-40B4-BE49-F238E27FC236}">
                <a16:creationId xmlns:a16="http://schemas.microsoft.com/office/drawing/2014/main" id="{DB5796CA-12EB-BB4C-8338-B127D750A026}"/>
              </a:ext>
            </a:extLst>
          </p:cNvPr>
          <p:cNvSpPr txBox="1">
            <a:spLocks/>
          </p:cNvSpPr>
          <p:nvPr/>
        </p:nvSpPr>
        <p:spPr>
          <a:xfrm>
            <a:off x="1242286" y="32550"/>
            <a:ext cx="10949714" cy="108948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7.7.2 Exploration: Finding Sales Tax Rates and Total Amounts </a:t>
            </a:r>
          </a:p>
        </p:txBody>
      </p:sp>
      <p:pic>
        <p:nvPicPr>
          <p:cNvPr id="13"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56616" y="201168"/>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152D1D4D-DCB8-A246-B186-D40316579D77}"/>
              </a:ext>
            </a:extLst>
          </p:cNvPr>
          <p:cNvSpPr txBox="1"/>
          <p:nvPr/>
        </p:nvSpPr>
        <p:spPr>
          <a:xfrm>
            <a:off x="732743" y="1490008"/>
            <a:ext cx="10798369" cy="2577629"/>
          </a:xfrm>
          <a:prstGeom prst="rect">
            <a:avLst/>
          </a:prstGeom>
          <a:noFill/>
        </p:spPr>
        <p:txBody>
          <a:bodyPr wrap="square" rtlCol="0">
            <a:spAutoFit/>
          </a:bodyPr>
          <a:lstStyle/>
          <a:p>
            <a:pPr marL="457200" indent="-457200">
              <a:spcAft>
                <a:spcPts val="1200"/>
              </a:spcAft>
              <a:buFont typeface="+mj-lt"/>
              <a:buAutoNum type="arabicPeriod"/>
            </a:pPr>
            <a:r>
              <a:rPr lang="en-US" sz="2400" dirty="0">
                <a:latin typeface="Verdana"/>
                <a:ea typeface="Times New Roman"/>
                <a:cs typeface="Times New Roman"/>
              </a:rPr>
              <a:t>Cities often have different sales tax rates based on local government decisions.</a:t>
            </a:r>
            <a:endParaRPr lang="en-PH" sz="2400" dirty="0">
              <a:latin typeface="Cambria"/>
              <a:ea typeface="Times New Roman"/>
              <a:cs typeface="Times New Roman"/>
            </a:endParaRPr>
          </a:p>
          <a:p>
            <a:pPr marL="892175" indent="-457200">
              <a:spcBef>
                <a:spcPts val="900"/>
              </a:spcBef>
              <a:buFont typeface="+mj-lt"/>
              <a:buAutoNum type="alphaLcPeriod"/>
            </a:pPr>
            <a:r>
              <a:rPr lang="en-US" sz="2400" dirty="0">
                <a:latin typeface="Verdana"/>
                <a:ea typeface="Times New Roman"/>
                <a:cs typeface="Times New Roman"/>
              </a:rPr>
              <a:t>Discuss with your partner how you might find the percentage of sales tax if you are given the price of an item and the amount of sales tax paid for the item. Summarize your discussion.</a:t>
            </a:r>
            <a:endParaRPr lang="en-PH" sz="2400" dirty="0">
              <a:latin typeface="Cambria"/>
              <a:ea typeface="Times New Roman"/>
              <a:cs typeface="Times New Roman"/>
            </a:endParaRPr>
          </a:p>
        </p:txBody>
      </p:sp>
      <p:sp>
        <p:nvSpPr>
          <p:cNvPr id="15"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326</a:t>
            </a:r>
            <a:endParaRPr i="1" dirty="0">
              <a:latin typeface="Calibri"/>
              <a:ea typeface="Calibri"/>
              <a:cs typeface="Calibri"/>
              <a:sym typeface="Calibri"/>
            </a:endParaRPr>
          </a:p>
        </p:txBody>
      </p:sp>
      <p:pic>
        <p:nvPicPr>
          <p:cNvPr id="1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6760BDC3-AF44-C94E-BD05-E61FF805DD32}"/>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405765346"/>
                  </p:ext>
                </p:extLst>
              </p:nvPr>
            </p:nvGraphicFramePr>
            <p:xfrm>
              <a:off x="1947596" y="1373292"/>
              <a:ext cx="7164000" cy="2232000"/>
            </p:xfrm>
            <a:graphic>
              <a:graphicData uri="http://schemas.openxmlformats.org/drawingml/2006/table">
                <a:tbl>
                  <a:tblPr firstRow="1" firstCol="1" lastRow="1" lastCol="1"/>
                  <a:tblGrid>
                    <a:gridCol w="2016000">
                      <a:extLst>
                        <a:ext uri="{9D8B030D-6E8A-4147-A177-3AD203B41FA5}">
                          <a16:colId xmlns:a16="http://schemas.microsoft.com/office/drawing/2014/main" val="20000"/>
                        </a:ext>
                      </a:extLst>
                    </a:gridCol>
                    <a:gridCol w="1152000">
                      <a:extLst>
                        <a:ext uri="{9D8B030D-6E8A-4147-A177-3AD203B41FA5}">
                          <a16:colId xmlns:a16="http://schemas.microsoft.com/office/drawing/2014/main" val="20001"/>
                        </a:ext>
                      </a:extLst>
                    </a:gridCol>
                    <a:gridCol w="1620000">
                      <a:extLst>
                        <a:ext uri="{9D8B030D-6E8A-4147-A177-3AD203B41FA5}">
                          <a16:colId xmlns:a16="http://schemas.microsoft.com/office/drawing/2014/main" val="20002"/>
                        </a:ext>
                      </a:extLst>
                    </a:gridCol>
                    <a:gridCol w="2376000">
                      <a:extLst>
                        <a:ext uri="{9D8B030D-6E8A-4147-A177-3AD203B41FA5}">
                          <a16:colId xmlns:a16="http://schemas.microsoft.com/office/drawing/2014/main" val="20003"/>
                        </a:ext>
                      </a:extLst>
                    </a:gridCol>
                  </a:tblGrid>
                  <a:tr h="432000">
                    <a:tc gridSpan="4">
                      <a:txBody>
                        <a:bodyPr/>
                        <a:lstStyle/>
                        <a:p>
                          <a:pPr algn="ctr">
                            <a:spcBef>
                              <a:spcPts val="180"/>
                            </a:spcBef>
                            <a:spcAft>
                              <a:spcPts val="0"/>
                            </a:spcAft>
                          </a:pPr>
                          <a:r>
                            <a:rPr lang="en-US" sz="2000" b="1" dirty="0">
                              <a:effectLst/>
                              <a:latin typeface="Verdana"/>
                              <a:ea typeface="Times New Roman"/>
                              <a:cs typeface="Times New Roman"/>
                            </a:rPr>
                            <a:t>City A</a:t>
                          </a:r>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PH"/>
                        </a:p>
                      </a:txBody>
                      <a:tcPr/>
                    </a:tc>
                    <a:tc hMerge="1">
                      <a:txBody>
                        <a:bodyPr/>
                        <a:lstStyle/>
                        <a:p>
                          <a:endParaRPr lang="en-PH"/>
                        </a:p>
                      </a:txBody>
                      <a:tcPr/>
                    </a:tc>
                    <a:tc hMerge="1">
                      <a:txBody>
                        <a:bodyPr/>
                        <a:lstStyle/>
                        <a:p>
                          <a:endParaRPr lang="en-PH"/>
                        </a:p>
                      </a:txBody>
                      <a:tcPr/>
                    </a:tc>
                    <a:extLst>
                      <a:ext uri="{0D108BD9-81ED-4DB2-BD59-A6C34878D82A}">
                        <a16:rowId xmlns:a16="http://schemas.microsoft.com/office/drawing/2014/main" val="10000"/>
                      </a:ext>
                    </a:extLst>
                  </a:tr>
                  <a:tr h="720000">
                    <a:tc>
                      <a:txBody>
                        <a:bodyPr/>
                        <a:lstStyle/>
                        <a:p>
                          <a:pPr algn="ctr">
                            <a:spcBef>
                              <a:spcPts val="180"/>
                            </a:spcBef>
                            <a:spcAft>
                              <a:spcPts val="0"/>
                            </a:spcAft>
                          </a:pPr>
                          <a:r>
                            <a:rPr lang="en-US" sz="2000" b="1" dirty="0">
                              <a:effectLst/>
                              <a:latin typeface="Verdana"/>
                              <a:ea typeface="Times New Roman"/>
                              <a:cs typeface="Times New Roman"/>
                            </a:rPr>
                            <a:t>Item</a:t>
                          </a:r>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spcBef>
                              <a:spcPts val="180"/>
                            </a:spcBef>
                            <a:spcAft>
                              <a:spcPts val="0"/>
                            </a:spcAft>
                          </a:pPr>
                          <a:r>
                            <a:rPr lang="en-US" sz="2000" b="1" dirty="0">
                              <a:effectLst/>
                              <a:latin typeface="Verdana"/>
                              <a:ea typeface="Times New Roman"/>
                              <a:cs typeface="Times New Roman"/>
                            </a:rPr>
                            <a:t>Price</a:t>
                          </a:r>
                          <a:br>
                            <a:rPr lang="en-US" sz="2000" b="1" dirty="0">
                              <a:effectLst/>
                              <a:latin typeface="Verdana"/>
                              <a:ea typeface="Times New Roman"/>
                              <a:cs typeface="Times New Roman"/>
                            </a:rPr>
                          </a:br>
                          <a:r>
                            <a:rPr lang="en-US" sz="2000" b="1" dirty="0">
                              <a:effectLst/>
                              <a:latin typeface="Verdana"/>
                              <a:ea typeface="Times New Roman"/>
                              <a:cs typeface="Times New Roman"/>
                            </a:rPr>
                            <a:t>($)</a:t>
                          </a:r>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spcBef>
                              <a:spcPts val="180"/>
                            </a:spcBef>
                            <a:spcAft>
                              <a:spcPts val="0"/>
                            </a:spcAft>
                          </a:pPr>
                          <a:r>
                            <a:rPr lang="en-US" sz="2000" b="1" dirty="0">
                              <a:effectLst/>
                              <a:latin typeface="Verdana"/>
                              <a:ea typeface="Times New Roman"/>
                              <a:cs typeface="Times New Roman"/>
                            </a:rPr>
                            <a:t>Sales Tax</a:t>
                          </a:r>
                          <a:br>
                            <a:rPr lang="en-US" sz="2000" b="1" dirty="0">
                              <a:effectLst/>
                              <a:latin typeface="Verdana"/>
                              <a:ea typeface="Times New Roman"/>
                              <a:cs typeface="Times New Roman"/>
                            </a:rPr>
                          </a:br>
                          <a:r>
                            <a:rPr lang="en-US" sz="2000" b="1" dirty="0">
                              <a:effectLst/>
                              <a:latin typeface="Verdana"/>
                              <a:ea typeface="Times New Roman"/>
                              <a:cs typeface="Times New Roman"/>
                            </a:rPr>
                            <a:t>($)</a:t>
                          </a:r>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spcBef>
                              <a:spcPts val="180"/>
                            </a:spcBef>
                            <a:spcAft>
                              <a:spcPts val="0"/>
                            </a:spcAft>
                          </a:pPr>
                          <a:r>
                            <a:rPr lang="en-US" sz="2000" b="1" dirty="0">
                              <a:effectLst/>
                              <a:latin typeface="Verdana"/>
                              <a:ea typeface="Times New Roman"/>
                              <a:cs typeface="Times New Roman"/>
                            </a:rPr>
                            <a:t>Sales Tax Rate (</a:t>
                          </a:r>
                          <a14:m>
                            <m:oMath xmlns:m="http://schemas.openxmlformats.org/officeDocument/2006/math">
                              <m:r>
                                <a:rPr lang="en-US" sz="2000" b="1" i="1">
                                  <a:effectLst/>
                                  <a:latin typeface="Cambria Math"/>
                                  <a:ea typeface="Times New Roman"/>
                                  <a:cs typeface="Times New Roman"/>
                                </a:rPr>
                                <m:t>%</m:t>
                              </m:r>
                            </m:oMath>
                          </a14:m>
                          <a:r>
                            <a:rPr lang="en-US" sz="2000" b="1" dirty="0">
                              <a:effectLst/>
                              <a:latin typeface="Verdana"/>
                              <a:ea typeface="Times New Roman"/>
                              <a:cs typeface="Times New Roman"/>
                            </a:rPr>
                            <a:t>)</a:t>
                          </a:r>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001"/>
                      </a:ext>
                    </a:extLst>
                  </a:tr>
                  <a:tr h="540000">
                    <a:tc>
                      <a:txBody>
                        <a:bodyPr/>
                        <a:lstStyle/>
                        <a:p>
                          <a:pPr algn="ctr">
                            <a:spcBef>
                              <a:spcPts val="180"/>
                            </a:spcBef>
                            <a:spcAft>
                              <a:spcPts val="0"/>
                            </a:spcAft>
                          </a:pPr>
                          <a:r>
                            <a:rPr lang="en-US" sz="2000" dirty="0">
                              <a:effectLst/>
                              <a:latin typeface="Verdana"/>
                              <a:ea typeface="Times New Roman"/>
                              <a:cs typeface="Times New Roman"/>
                            </a:rPr>
                            <a:t>Paper Towels</a:t>
                          </a:r>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18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Times New Roman"/>
                                    <a:cs typeface="Times New Roman"/>
                                  </a:rPr>
                                  <m:t>8.99</m:t>
                                </m:r>
                              </m:oMath>
                            </m:oMathPara>
                          </a14:m>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18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Times New Roman"/>
                                    <a:cs typeface="Times New Roman"/>
                                  </a:rPr>
                                  <m:t>0.63</m:t>
                                </m:r>
                              </m:oMath>
                            </m:oMathPara>
                          </a14:m>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180"/>
                            </a:spcBef>
                            <a:spcAft>
                              <a:spcPts val="0"/>
                            </a:spcAft>
                          </a:pPr>
                          <a:r>
                            <a:rPr lang="en-US" sz="2000" dirty="0">
                              <a:effectLst/>
                              <a:latin typeface="Verdana"/>
                              <a:ea typeface="Times New Roman"/>
                              <a:cs typeface="Times New Roman"/>
                            </a:rPr>
                            <a:t> </a:t>
                          </a:r>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540000">
                    <a:tc>
                      <a:txBody>
                        <a:bodyPr/>
                        <a:lstStyle/>
                        <a:p>
                          <a:pPr algn="ctr">
                            <a:spcBef>
                              <a:spcPts val="180"/>
                            </a:spcBef>
                            <a:spcAft>
                              <a:spcPts val="0"/>
                            </a:spcAft>
                          </a:pPr>
                          <a:r>
                            <a:rPr lang="en-US" sz="2000">
                              <a:effectLst/>
                              <a:latin typeface="Verdana"/>
                              <a:ea typeface="Times New Roman"/>
                              <a:cs typeface="Times New Roman"/>
                            </a:rPr>
                            <a:t>Laundry Soap</a:t>
                          </a:r>
                          <a:endParaRPr lang="en-PH" sz="200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18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Times New Roman"/>
                                    <a:cs typeface="Times New Roman"/>
                                  </a:rPr>
                                  <m:t>11.83</m:t>
                                </m:r>
                              </m:oMath>
                            </m:oMathPara>
                          </a14:m>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18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Times New Roman"/>
                                    <a:cs typeface="Times New Roman"/>
                                  </a:rPr>
                                  <m:t>0.83</m:t>
                                </m:r>
                              </m:oMath>
                            </m:oMathPara>
                          </a14:m>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180"/>
                            </a:spcBef>
                            <a:spcAft>
                              <a:spcPts val="0"/>
                            </a:spcAft>
                          </a:pPr>
                          <a:r>
                            <a:rPr lang="en-US" sz="2000" dirty="0">
                              <a:effectLst/>
                              <a:latin typeface="Verdana"/>
                              <a:ea typeface="Times New Roman"/>
                              <a:cs typeface="Times New Roman"/>
                            </a:rPr>
                            <a:t> </a:t>
                          </a:r>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405765346"/>
                  </p:ext>
                </p:extLst>
              </p:nvPr>
            </p:nvGraphicFramePr>
            <p:xfrm>
              <a:off x="1947596" y="1373292"/>
              <a:ext cx="7164000" cy="2232000"/>
            </p:xfrm>
            <a:graphic>
              <a:graphicData uri="http://schemas.openxmlformats.org/drawingml/2006/table">
                <a:tbl>
                  <a:tblPr firstRow="1" firstCol="1" lastRow="1" lastCol="1"/>
                  <a:tblGrid>
                    <a:gridCol w="2016000">
                      <a:extLst>
                        <a:ext uri="{9D8B030D-6E8A-4147-A177-3AD203B41FA5}">
                          <a16:colId xmlns="" xmlns:a16="http://schemas.microsoft.com/office/drawing/2014/main" xmlns:a14="http://schemas.microsoft.com/office/drawing/2010/main" val="20000"/>
                        </a:ext>
                      </a:extLst>
                    </a:gridCol>
                    <a:gridCol w="1152000">
                      <a:extLst>
                        <a:ext uri="{9D8B030D-6E8A-4147-A177-3AD203B41FA5}">
                          <a16:colId xmlns="" xmlns:a16="http://schemas.microsoft.com/office/drawing/2014/main" xmlns:a14="http://schemas.microsoft.com/office/drawing/2010/main" val="20001"/>
                        </a:ext>
                      </a:extLst>
                    </a:gridCol>
                    <a:gridCol w="1620000">
                      <a:extLst>
                        <a:ext uri="{9D8B030D-6E8A-4147-A177-3AD203B41FA5}">
                          <a16:colId xmlns="" xmlns:a16="http://schemas.microsoft.com/office/drawing/2014/main" xmlns:a14="http://schemas.microsoft.com/office/drawing/2010/main" val="20002"/>
                        </a:ext>
                      </a:extLst>
                    </a:gridCol>
                    <a:gridCol w="2376000">
                      <a:extLst>
                        <a:ext uri="{9D8B030D-6E8A-4147-A177-3AD203B41FA5}">
                          <a16:colId xmlns="" xmlns:a16="http://schemas.microsoft.com/office/drawing/2014/main" xmlns:a14="http://schemas.microsoft.com/office/drawing/2010/main" val="20003"/>
                        </a:ext>
                      </a:extLst>
                    </a:gridCol>
                  </a:tblGrid>
                  <a:tr h="432000">
                    <a:tc gridSpan="4">
                      <a:txBody>
                        <a:bodyPr/>
                        <a:lstStyle/>
                        <a:p>
                          <a:pPr algn="ctr">
                            <a:spcBef>
                              <a:spcPts val="180"/>
                            </a:spcBef>
                            <a:spcAft>
                              <a:spcPts val="0"/>
                            </a:spcAft>
                          </a:pPr>
                          <a:r>
                            <a:rPr lang="en-US" sz="2000" b="1" dirty="0">
                              <a:effectLst/>
                              <a:latin typeface="Verdana"/>
                              <a:ea typeface="Times New Roman"/>
                              <a:cs typeface="Times New Roman"/>
                            </a:rPr>
                            <a:t>City A</a:t>
                          </a:r>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PH"/>
                        </a:p>
                      </a:txBody>
                      <a:tcPr/>
                    </a:tc>
                    <a:tc hMerge="1">
                      <a:txBody>
                        <a:bodyPr/>
                        <a:lstStyle/>
                        <a:p>
                          <a:endParaRPr lang="en-PH"/>
                        </a:p>
                      </a:txBody>
                      <a:tcPr/>
                    </a:tc>
                    <a:tc hMerge="1">
                      <a:txBody>
                        <a:bodyPr/>
                        <a:lstStyle/>
                        <a:p>
                          <a:endParaRPr lang="en-PH"/>
                        </a:p>
                      </a:txBody>
                      <a:tcPr/>
                    </a:tc>
                    <a:extLst>
                      <a:ext uri="{0D108BD9-81ED-4DB2-BD59-A6C34878D82A}">
                        <a16:rowId xmlns="" xmlns:a16="http://schemas.microsoft.com/office/drawing/2014/main" xmlns:a14="http://schemas.microsoft.com/office/drawing/2010/main" val="10000"/>
                      </a:ext>
                    </a:extLst>
                  </a:tr>
                  <a:tr h="720000">
                    <a:tc>
                      <a:txBody>
                        <a:bodyPr/>
                        <a:lstStyle/>
                        <a:p>
                          <a:pPr algn="ctr">
                            <a:spcBef>
                              <a:spcPts val="180"/>
                            </a:spcBef>
                            <a:spcAft>
                              <a:spcPts val="0"/>
                            </a:spcAft>
                          </a:pPr>
                          <a:r>
                            <a:rPr lang="en-US" sz="2000" b="1" dirty="0">
                              <a:effectLst/>
                              <a:latin typeface="Verdana"/>
                              <a:ea typeface="Times New Roman"/>
                              <a:cs typeface="Times New Roman"/>
                            </a:rPr>
                            <a:t>Item</a:t>
                          </a:r>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spcBef>
                              <a:spcPts val="180"/>
                            </a:spcBef>
                            <a:spcAft>
                              <a:spcPts val="0"/>
                            </a:spcAft>
                          </a:pPr>
                          <a:r>
                            <a:rPr lang="en-US" sz="2000" b="1" dirty="0">
                              <a:effectLst/>
                              <a:latin typeface="Verdana"/>
                              <a:ea typeface="Times New Roman"/>
                              <a:cs typeface="Times New Roman"/>
                            </a:rPr>
                            <a:t>Price</a:t>
                          </a:r>
                          <a:br>
                            <a:rPr lang="en-US" sz="2000" b="1" dirty="0">
                              <a:effectLst/>
                              <a:latin typeface="Verdana"/>
                              <a:ea typeface="Times New Roman"/>
                              <a:cs typeface="Times New Roman"/>
                            </a:rPr>
                          </a:br>
                          <a:r>
                            <a:rPr lang="en-US" sz="2000" b="1" dirty="0">
                              <a:effectLst/>
                              <a:latin typeface="Verdana"/>
                              <a:ea typeface="Times New Roman"/>
                              <a:cs typeface="Times New Roman"/>
                            </a:rPr>
                            <a:t>($)</a:t>
                          </a:r>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spcBef>
                              <a:spcPts val="180"/>
                            </a:spcBef>
                            <a:spcAft>
                              <a:spcPts val="0"/>
                            </a:spcAft>
                          </a:pPr>
                          <a:r>
                            <a:rPr lang="en-US" sz="2000" b="1" dirty="0">
                              <a:effectLst/>
                              <a:latin typeface="Verdana"/>
                              <a:ea typeface="Times New Roman"/>
                              <a:cs typeface="Times New Roman"/>
                            </a:rPr>
                            <a:t>Sales Tax</a:t>
                          </a:r>
                          <a:br>
                            <a:rPr lang="en-US" sz="2000" b="1" dirty="0">
                              <a:effectLst/>
                              <a:latin typeface="Verdana"/>
                              <a:ea typeface="Times New Roman"/>
                              <a:cs typeface="Times New Roman"/>
                            </a:rPr>
                          </a:br>
                          <a:r>
                            <a:rPr lang="en-US" sz="2000" b="1" dirty="0">
                              <a:effectLst/>
                              <a:latin typeface="Verdana"/>
                              <a:ea typeface="Times New Roman"/>
                              <a:cs typeface="Times New Roman"/>
                            </a:rPr>
                            <a:t>($)</a:t>
                          </a:r>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201538" t="-61864" b="-155932"/>
                          </a:stretch>
                        </a:blipFill>
                      </a:tcPr>
                    </a:tc>
                    <a:extLst>
                      <a:ext uri="{0D108BD9-81ED-4DB2-BD59-A6C34878D82A}">
                        <a16:rowId xmlns="" xmlns:a16="http://schemas.microsoft.com/office/drawing/2014/main" xmlns:a14="http://schemas.microsoft.com/office/drawing/2010/main" val="10001"/>
                      </a:ext>
                    </a:extLst>
                  </a:tr>
                  <a:tr h="540000">
                    <a:tc>
                      <a:txBody>
                        <a:bodyPr/>
                        <a:lstStyle/>
                        <a:p>
                          <a:pPr algn="ctr">
                            <a:spcBef>
                              <a:spcPts val="180"/>
                            </a:spcBef>
                            <a:spcAft>
                              <a:spcPts val="0"/>
                            </a:spcAft>
                          </a:pPr>
                          <a:r>
                            <a:rPr lang="en-US" sz="2000" dirty="0">
                              <a:effectLst/>
                              <a:latin typeface="Verdana"/>
                              <a:ea typeface="Times New Roman"/>
                              <a:cs typeface="Times New Roman"/>
                            </a:rPr>
                            <a:t>Paper Towels</a:t>
                          </a:r>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75132" t="-217045" r="-347090" b="-109091"/>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95489" t="-217045" r="-146617" b="-109091"/>
                          </a:stretch>
                        </a:blipFill>
                      </a:tcPr>
                    </a:tc>
                    <a:tc>
                      <a:txBody>
                        <a:bodyPr/>
                        <a:lstStyle/>
                        <a:p>
                          <a:pPr algn="ctr">
                            <a:spcBef>
                              <a:spcPts val="180"/>
                            </a:spcBef>
                            <a:spcAft>
                              <a:spcPts val="0"/>
                            </a:spcAft>
                          </a:pPr>
                          <a:r>
                            <a:rPr lang="en-US" sz="2000" dirty="0">
                              <a:effectLst/>
                              <a:latin typeface="Verdana"/>
                              <a:ea typeface="Times New Roman"/>
                              <a:cs typeface="Times New Roman"/>
                            </a:rPr>
                            <a:t> </a:t>
                          </a:r>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xmlns:a14="http://schemas.microsoft.com/office/drawing/2010/main" val="10002"/>
                      </a:ext>
                    </a:extLst>
                  </a:tr>
                  <a:tr h="540000">
                    <a:tc>
                      <a:txBody>
                        <a:bodyPr/>
                        <a:lstStyle/>
                        <a:p>
                          <a:pPr algn="ctr">
                            <a:spcBef>
                              <a:spcPts val="180"/>
                            </a:spcBef>
                            <a:spcAft>
                              <a:spcPts val="0"/>
                            </a:spcAft>
                          </a:pPr>
                          <a:r>
                            <a:rPr lang="en-US" sz="2000">
                              <a:effectLst/>
                              <a:latin typeface="Verdana"/>
                              <a:ea typeface="Times New Roman"/>
                              <a:cs typeface="Times New Roman"/>
                            </a:rPr>
                            <a:t>Laundry Soap</a:t>
                          </a:r>
                          <a:endParaRPr lang="en-PH" sz="200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75132" t="-313483" r="-347090" b="-7865"/>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3"/>
                          <a:stretch>
                            <a:fillRect l="-195489" t="-313483" r="-146617" b="-7865"/>
                          </a:stretch>
                        </a:blipFill>
                      </a:tcPr>
                    </a:tc>
                    <a:tc>
                      <a:txBody>
                        <a:bodyPr/>
                        <a:lstStyle/>
                        <a:p>
                          <a:pPr algn="ctr">
                            <a:spcBef>
                              <a:spcPts val="180"/>
                            </a:spcBef>
                            <a:spcAft>
                              <a:spcPts val="0"/>
                            </a:spcAft>
                          </a:pPr>
                          <a:r>
                            <a:rPr lang="en-US" sz="2000" dirty="0">
                              <a:effectLst/>
                              <a:latin typeface="Verdana"/>
                              <a:ea typeface="Times New Roman"/>
                              <a:cs typeface="Times New Roman"/>
                            </a:rPr>
                            <a:t> </a:t>
                          </a:r>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xmlns:a14="http://schemas.microsoft.com/office/drawing/2010/main" val="1000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3675423742"/>
                  </p:ext>
                </p:extLst>
              </p:nvPr>
            </p:nvGraphicFramePr>
            <p:xfrm>
              <a:off x="1958747" y="3853836"/>
              <a:ext cx="7164000" cy="2232000"/>
            </p:xfrm>
            <a:graphic>
              <a:graphicData uri="http://schemas.openxmlformats.org/drawingml/2006/table">
                <a:tbl>
                  <a:tblPr firstRow="1" firstCol="1" lastRow="1" lastCol="1"/>
                  <a:tblGrid>
                    <a:gridCol w="2016000">
                      <a:extLst>
                        <a:ext uri="{9D8B030D-6E8A-4147-A177-3AD203B41FA5}">
                          <a16:colId xmlns:a16="http://schemas.microsoft.com/office/drawing/2014/main" val="20000"/>
                        </a:ext>
                      </a:extLst>
                    </a:gridCol>
                    <a:gridCol w="1152000">
                      <a:extLst>
                        <a:ext uri="{9D8B030D-6E8A-4147-A177-3AD203B41FA5}">
                          <a16:colId xmlns:a16="http://schemas.microsoft.com/office/drawing/2014/main" val="20001"/>
                        </a:ext>
                      </a:extLst>
                    </a:gridCol>
                    <a:gridCol w="1620000">
                      <a:extLst>
                        <a:ext uri="{9D8B030D-6E8A-4147-A177-3AD203B41FA5}">
                          <a16:colId xmlns:a16="http://schemas.microsoft.com/office/drawing/2014/main" val="20002"/>
                        </a:ext>
                      </a:extLst>
                    </a:gridCol>
                    <a:gridCol w="2376000">
                      <a:extLst>
                        <a:ext uri="{9D8B030D-6E8A-4147-A177-3AD203B41FA5}">
                          <a16:colId xmlns:a16="http://schemas.microsoft.com/office/drawing/2014/main" val="20003"/>
                        </a:ext>
                      </a:extLst>
                    </a:gridCol>
                  </a:tblGrid>
                  <a:tr h="432000">
                    <a:tc gridSpan="4">
                      <a:txBody>
                        <a:bodyPr/>
                        <a:lstStyle/>
                        <a:p>
                          <a:pPr algn="ctr">
                            <a:spcBef>
                              <a:spcPts val="180"/>
                            </a:spcBef>
                            <a:spcAft>
                              <a:spcPts val="0"/>
                            </a:spcAft>
                          </a:pPr>
                          <a:r>
                            <a:rPr lang="en-US" sz="2000" b="1" dirty="0">
                              <a:effectLst/>
                              <a:latin typeface="Verdana"/>
                              <a:ea typeface="Times New Roman"/>
                              <a:cs typeface="Times New Roman"/>
                            </a:rPr>
                            <a:t>City B</a:t>
                          </a:r>
                          <a:endParaRPr lang="en-PH" sz="2000" dirty="0">
                            <a:effectLst/>
                            <a:latin typeface="Cambria"/>
                            <a:ea typeface="Times New Roman"/>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PH"/>
                        </a:p>
                      </a:txBody>
                      <a:tcPr/>
                    </a:tc>
                    <a:tc hMerge="1">
                      <a:txBody>
                        <a:bodyPr/>
                        <a:lstStyle/>
                        <a:p>
                          <a:endParaRPr lang="en-PH"/>
                        </a:p>
                      </a:txBody>
                      <a:tcPr/>
                    </a:tc>
                    <a:tc hMerge="1">
                      <a:txBody>
                        <a:bodyPr/>
                        <a:lstStyle/>
                        <a:p>
                          <a:endParaRPr lang="en-PH"/>
                        </a:p>
                      </a:txBody>
                      <a:tcPr/>
                    </a:tc>
                    <a:extLst>
                      <a:ext uri="{0D108BD9-81ED-4DB2-BD59-A6C34878D82A}">
                        <a16:rowId xmlns:a16="http://schemas.microsoft.com/office/drawing/2014/main" val="10000"/>
                      </a:ext>
                    </a:extLst>
                  </a:tr>
                  <a:tr h="720000">
                    <a:tc>
                      <a:txBody>
                        <a:bodyPr/>
                        <a:lstStyle/>
                        <a:p>
                          <a:pPr algn="ctr">
                            <a:spcBef>
                              <a:spcPts val="180"/>
                            </a:spcBef>
                            <a:spcAft>
                              <a:spcPts val="0"/>
                            </a:spcAft>
                          </a:pPr>
                          <a:r>
                            <a:rPr lang="en-US" sz="2000" b="1" dirty="0">
                              <a:effectLst/>
                              <a:latin typeface="Verdana"/>
                              <a:ea typeface="Times New Roman"/>
                              <a:cs typeface="Times New Roman"/>
                            </a:rPr>
                            <a:t>Item</a:t>
                          </a:r>
                          <a:endParaRPr lang="en-PH" sz="2000" dirty="0">
                            <a:effectLst/>
                            <a:latin typeface="Cambria"/>
                            <a:ea typeface="Times New Roman"/>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spcBef>
                              <a:spcPts val="180"/>
                            </a:spcBef>
                            <a:spcAft>
                              <a:spcPts val="0"/>
                            </a:spcAft>
                          </a:pPr>
                          <a:r>
                            <a:rPr lang="en-US" sz="2000" b="1">
                              <a:effectLst/>
                              <a:latin typeface="Verdana"/>
                              <a:ea typeface="Times New Roman"/>
                              <a:cs typeface="Times New Roman"/>
                            </a:rPr>
                            <a:t>Price</a:t>
                          </a:r>
                          <a:br>
                            <a:rPr lang="en-US" sz="2000" b="1">
                              <a:effectLst/>
                              <a:latin typeface="Verdana"/>
                              <a:ea typeface="Times New Roman"/>
                              <a:cs typeface="Times New Roman"/>
                            </a:rPr>
                          </a:br>
                          <a:r>
                            <a:rPr lang="en-US" sz="2000" b="1">
                              <a:effectLst/>
                              <a:latin typeface="Verdana"/>
                              <a:ea typeface="Times New Roman"/>
                              <a:cs typeface="Times New Roman"/>
                            </a:rPr>
                            <a:t>($)</a:t>
                          </a:r>
                          <a:endParaRPr lang="en-PH" sz="2000">
                            <a:effectLst/>
                            <a:latin typeface="Cambria"/>
                            <a:ea typeface="Times New Roman"/>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spcBef>
                              <a:spcPts val="180"/>
                            </a:spcBef>
                            <a:spcAft>
                              <a:spcPts val="0"/>
                            </a:spcAft>
                          </a:pPr>
                          <a:r>
                            <a:rPr lang="en-US" sz="2000" b="1">
                              <a:effectLst/>
                              <a:latin typeface="Verdana"/>
                              <a:ea typeface="Times New Roman"/>
                              <a:cs typeface="Times New Roman"/>
                            </a:rPr>
                            <a:t>Sales Tax</a:t>
                          </a:r>
                          <a:br>
                            <a:rPr lang="en-US" sz="2000" b="1">
                              <a:effectLst/>
                              <a:latin typeface="Verdana"/>
                              <a:ea typeface="Times New Roman"/>
                              <a:cs typeface="Times New Roman"/>
                            </a:rPr>
                          </a:br>
                          <a:r>
                            <a:rPr lang="en-US" sz="2000" b="1">
                              <a:effectLst/>
                              <a:latin typeface="Verdana"/>
                              <a:ea typeface="Times New Roman"/>
                              <a:cs typeface="Times New Roman"/>
                            </a:rPr>
                            <a:t>($)</a:t>
                          </a:r>
                          <a:endParaRPr lang="en-PH" sz="2000">
                            <a:effectLst/>
                            <a:latin typeface="Cambria"/>
                            <a:ea typeface="Times New Roman"/>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spcBef>
                              <a:spcPts val="180"/>
                            </a:spcBef>
                            <a:spcAft>
                              <a:spcPts val="0"/>
                            </a:spcAft>
                          </a:pPr>
                          <a:r>
                            <a:rPr lang="en-US" sz="2000" b="1" dirty="0">
                              <a:effectLst/>
                              <a:latin typeface="Verdana"/>
                              <a:ea typeface="Times New Roman"/>
                              <a:cs typeface="Times New Roman"/>
                            </a:rPr>
                            <a:t>Sales Tax Rate (</a:t>
                          </a:r>
                          <a14:m>
                            <m:oMath xmlns:m="http://schemas.openxmlformats.org/officeDocument/2006/math">
                              <m:r>
                                <a:rPr lang="en-US" sz="2000" b="1" i="1">
                                  <a:effectLst/>
                                  <a:latin typeface="Cambria Math"/>
                                  <a:ea typeface="Times New Roman"/>
                                  <a:cs typeface="Times New Roman"/>
                                </a:rPr>
                                <m:t>%</m:t>
                              </m:r>
                            </m:oMath>
                          </a14:m>
                          <a:r>
                            <a:rPr lang="en-US" sz="2000" b="1" dirty="0">
                              <a:effectLst/>
                              <a:latin typeface="Verdana"/>
                              <a:ea typeface="Times New Roman"/>
                              <a:cs typeface="Times New Roman"/>
                            </a:rPr>
                            <a:t>)</a:t>
                          </a:r>
                          <a:endParaRPr lang="en-PH" sz="2000" dirty="0">
                            <a:effectLst/>
                            <a:latin typeface="Cambria"/>
                            <a:ea typeface="Times New Roman"/>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001"/>
                      </a:ext>
                    </a:extLst>
                  </a:tr>
                  <a:tr h="540000">
                    <a:tc>
                      <a:txBody>
                        <a:bodyPr/>
                        <a:lstStyle/>
                        <a:p>
                          <a:pPr algn="ctr">
                            <a:spcBef>
                              <a:spcPts val="180"/>
                            </a:spcBef>
                            <a:spcAft>
                              <a:spcPts val="0"/>
                            </a:spcAft>
                          </a:pPr>
                          <a:r>
                            <a:rPr lang="en-US" sz="2000" dirty="0">
                              <a:effectLst/>
                              <a:latin typeface="Verdana"/>
                              <a:ea typeface="Times New Roman"/>
                              <a:cs typeface="Times New Roman"/>
                            </a:rPr>
                            <a:t>Paper Towels</a:t>
                          </a:r>
                          <a:endParaRPr lang="en-PH" sz="2000" dirty="0">
                            <a:effectLst/>
                            <a:latin typeface="Cambria"/>
                            <a:ea typeface="Times New Roman"/>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18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Times New Roman"/>
                                    <a:cs typeface="Times New Roman"/>
                                  </a:rPr>
                                  <m:t>8.99</m:t>
                                </m:r>
                              </m:oMath>
                            </m:oMathPara>
                          </a14:m>
                          <a:endParaRPr lang="en-PH" sz="2000" dirty="0">
                            <a:effectLst/>
                            <a:latin typeface="Cambria"/>
                            <a:ea typeface="Times New Roman"/>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18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Times New Roman"/>
                                    <a:cs typeface="Times New Roman"/>
                                  </a:rPr>
                                  <m:t>0.54</m:t>
                                </m:r>
                              </m:oMath>
                            </m:oMathPara>
                          </a14:m>
                          <a:endParaRPr lang="en-PH" sz="2000" dirty="0">
                            <a:effectLst/>
                            <a:latin typeface="Cambria"/>
                            <a:ea typeface="Times New Roman"/>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180"/>
                            </a:spcBef>
                            <a:spcAft>
                              <a:spcPts val="0"/>
                            </a:spcAft>
                          </a:pPr>
                          <a:r>
                            <a:rPr lang="en-US" sz="2000" dirty="0">
                              <a:effectLst/>
                              <a:latin typeface="Verdana"/>
                              <a:ea typeface="Times New Roman"/>
                              <a:cs typeface="Times New Roman"/>
                            </a:rPr>
                            <a:t> </a:t>
                          </a:r>
                          <a:endParaRPr lang="en-PH" sz="2000" dirty="0">
                            <a:effectLst/>
                            <a:latin typeface="Cambria"/>
                            <a:ea typeface="Times New Roman"/>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540000">
                    <a:tc>
                      <a:txBody>
                        <a:bodyPr/>
                        <a:lstStyle/>
                        <a:p>
                          <a:pPr algn="ctr">
                            <a:spcBef>
                              <a:spcPts val="180"/>
                            </a:spcBef>
                            <a:spcAft>
                              <a:spcPts val="0"/>
                            </a:spcAft>
                          </a:pPr>
                          <a:r>
                            <a:rPr lang="en-US" sz="2000">
                              <a:effectLst/>
                              <a:latin typeface="Verdana"/>
                              <a:ea typeface="Times New Roman"/>
                              <a:cs typeface="Times New Roman"/>
                            </a:rPr>
                            <a:t>Laundry Soap</a:t>
                          </a:r>
                          <a:endParaRPr lang="en-PH" sz="2000">
                            <a:effectLst/>
                            <a:latin typeface="Cambria"/>
                            <a:ea typeface="Times New Roman"/>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18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Times New Roman"/>
                                    <a:cs typeface="Times New Roman"/>
                                  </a:rPr>
                                  <m:t>11.83</m:t>
                                </m:r>
                              </m:oMath>
                            </m:oMathPara>
                          </a14:m>
                          <a:endParaRPr lang="en-PH" sz="2000" dirty="0">
                            <a:effectLst/>
                            <a:latin typeface="Cambria"/>
                            <a:ea typeface="Times New Roman"/>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18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Times New Roman"/>
                                    <a:cs typeface="Times New Roman"/>
                                  </a:rPr>
                                  <m:t>0.71</m:t>
                                </m:r>
                              </m:oMath>
                            </m:oMathPara>
                          </a14:m>
                          <a:endParaRPr lang="en-PH" sz="2000" dirty="0">
                            <a:effectLst/>
                            <a:latin typeface="Cambria"/>
                            <a:ea typeface="Times New Roman"/>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180"/>
                            </a:spcBef>
                            <a:spcAft>
                              <a:spcPts val="0"/>
                            </a:spcAft>
                          </a:pPr>
                          <a:r>
                            <a:rPr lang="en-US" sz="2000" dirty="0">
                              <a:effectLst/>
                              <a:latin typeface="Verdana"/>
                              <a:ea typeface="Times New Roman"/>
                              <a:cs typeface="Times New Roman"/>
                            </a:rPr>
                            <a:t> </a:t>
                          </a:r>
                          <a:endParaRPr lang="en-PH" sz="2000" dirty="0">
                            <a:effectLst/>
                            <a:latin typeface="Cambria"/>
                            <a:ea typeface="Times New Roman"/>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3675423742"/>
                  </p:ext>
                </p:extLst>
              </p:nvPr>
            </p:nvGraphicFramePr>
            <p:xfrm>
              <a:off x="1958747" y="3853836"/>
              <a:ext cx="7164000" cy="2232000"/>
            </p:xfrm>
            <a:graphic>
              <a:graphicData uri="http://schemas.openxmlformats.org/drawingml/2006/table">
                <a:tbl>
                  <a:tblPr firstRow="1" firstCol="1" lastRow="1" lastCol="1"/>
                  <a:tblGrid>
                    <a:gridCol w="2016000">
                      <a:extLst>
                        <a:ext uri="{9D8B030D-6E8A-4147-A177-3AD203B41FA5}">
                          <a16:colId xmlns="" xmlns:a16="http://schemas.microsoft.com/office/drawing/2014/main" xmlns:a14="http://schemas.microsoft.com/office/drawing/2010/main" val="20000"/>
                        </a:ext>
                      </a:extLst>
                    </a:gridCol>
                    <a:gridCol w="1152000">
                      <a:extLst>
                        <a:ext uri="{9D8B030D-6E8A-4147-A177-3AD203B41FA5}">
                          <a16:colId xmlns="" xmlns:a16="http://schemas.microsoft.com/office/drawing/2014/main" xmlns:a14="http://schemas.microsoft.com/office/drawing/2010/main" val="20001"/>
                        </a:ext>
                      </a:extLst>
                    </a:gridCol>
                    <a:gridCol w="1620000">
                      <a:extLst>
                        <a:ext uri="{9D8B030D-6E8A-4147-A177-3AD203B41FA5}">
                          <a16:colId xmlns="" xmlns:a16="http://schemas.microsoft.com/office/drawing/2014/main" xmlns:a14="http://schemas.microsoft.com/office/drawing/2010/main" val="20002"/>
                        </a:ext>
                      </a:extLst>
                    </a:gridCol>
                    <a:gridCol w="2376000">
                      <a:extLst>
                        <a:ext uri="{9D8B030D-6E8A-4147-A177-3AD203B41FA5}">
                          <a16:colId xmlns="" xmlns:a16="http://schemas.microsoft.com/office/drawing/2014/main" xmlns:a14="http://schemas.microsoft.com/office/drawing/2010/main" val="20003"/>
                        </a:ext>
                      </a:extLst>
                    </a:gridCol>
                  </a:tblGrid>
                  <a:tr h="432000">
                    <a:tc gridSpan="4">
                      <a:txBody>
                        <a:bodyPr/>
                        <a:lstStyle/>
                        <a:p>
                          <a:pPr algn="ctr">
                            <a:spcBef>
                              <a:spcPts val="180"/>
                            </a:spcBef>
                            <a:spcAft>
                              <a:spcPts val="0"/>
                            </a:spcAft>
                          </a:pPr>
                          <a:r>
                            <a:rPr lang="en-US" sz="2000" b="1" dirty="0">
                              <a:effectLst/>
                              <a:latin typeface="Verdana"/>
                              <a:ea typeface="Times New Roman"/>
                              <a:cs typeface="Times New Roman"/>
                            </a:rPr>
                            <a:t>City B</a:t>
                          </a:r>
                          <a:endParaRPr lang="en-PH" sz="2000" dirty="0">
                            <a:effectLst/>
                            <a:latin typeface="Cambria"/>
                            <a:ea typeface="Times New Roman"/>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PH"/>
                        </a:p>
                      </a:txBody>
                      <a:tcPr/>
                    </a:tc>
                    <a:tc hMerge="1">
                      <a:txBody>
                        <a:bodyPr/>
                        <a:lstStyle/>
                        <a:p>
                          <a:endParaRPr lang="en-PH"/>
                        </a:p>
                      </a:txBody>
                      <a:tcPr/>
                    </a:tc>
                    <a:tc hMerge="1">
                      <a:txBody>
                        <a:bodyPr/>
                        <a:lstStyle/>
                        <a:p>
                          <a:endParaRPr lang="en-PH"/>
                        </a:p>
                      </a:txBody>
                      <a:tcPr/>
                    </a:tc>
                    <a:extLst>
                      <a:ext uri="{0D108BD9-81ED-4DB2-BD59-A6C34878D82A}">
                        <a16:rowId xmlns="" xmlns:a16="http://schemas.microsoft.com/office/drawing/2014/main" xmlns:a14="http://schemas.microsoft.com/office/drawing/2010/main" val="10000"/>
                      </a:ext>
                    </a:extLst>
                  </a:tr>
                  <a:tr h="720000">
                    <a:tc>
                      <a:txBody>
                        <a:bodyPr/>
                        <a:lstStyle/>
                        <a:p>
                          <a:pPr algn="ctr">
                            <a:spcBef>
                              <a:spcPts val="180"/>
                            </a:spcBef>
                            <a:spcAft>
                              <a:spcPts val="0"/>
                            </a:spcAft>
                          </a:pPr>
                          <a:r>
                            <a:rPr lang="en-US" sz="2000" b="1" dirty="0">
                              <a:effectLst/>
                              <a:latin typeface="Verdana"/>
                              <a:ea typeface="Times New Roman"/>
                              <a:cs typeface="Times New Roman"/>
                            </a:rPr>
                            <a:t>Item</a:t>
                          </a:r>
                          <a:endParaRPr lang="en-PH" sz="2000" dirty="0">
                            <a:effectLst/>
                            <a:latin typeface="Cambria"/>
                            <a:ea typeface="Times New Roman"/>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spcBef>
                              <a:spcPts val="180"/>
                            </a:spcBef>
                            <a:spcAft>
                              <a:spcPts val="0"/>
                            </a:spcAft>
                          </a:pPr>
                          <a:r>
                            <a:rPr lang="en-US" sz="2000" b="1">
                              <a:effectLst/>
                              <a:latin typeface="Verdana"/>
                              <a:ea typeface="Times New Roman"/>
                              <a:cs typeface="Times New Roman"/>
                            </a:rPr>
                            <a:t>Price</a:t>
                          </a:r>
                          <a:br>
                            <a:rPr lang="en-US" sz="2000" b="1">
                              <a:effectLst/>
                              <a:latin typeface="Verdana"/>
                              <a:ea typeface="Times New Roman"/>
                              <a:cs typeface="Times New Roman"/>
                            </a:rPr>
                          </a:br>
                          <a:r>
                            <a:rPr lang="en-US" sz="2000" b="1">
                              <a:effectLst/>
                              <a:latin typeface="Verdana"/>
                              <a:ea typeface="Times New Roman"/>
                              <a:cs typeface="Times New Roman"/>
                            </a:rPr>
                            <a:t>($)</a:t>
                          </a:r>
                          <a:endParaRPr lang="en-PH" sz="2000">
                            <a:effectLst/>
                            <a:latin typeface="Cambria"/>
                            <a:ea typeface="Times New Roman"/>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spcBef>
                              <a:spcPts val="180"/>
                            </a:spcBef>
                            <a:spcAft>
                              <a:spcPts val="0"/>
                            </a:spcAft>
                          </a:pPr>
                          <a:r>
                            <a:rPr lang="en-US" sz="2000" b="1">
                              <a:effectLst/>
                              <a:latin typeface="Verdana"/>
                              <a:ea typeface="Times New Roman"/>
                              <a:cs typeface="Times New Roman"/>
                            </a:rPr>
                            <a:t>Sales Tax</a:t>
                          </a:r>
                          <a:br>
                            <a:rPr lang="en-US" sz="2000" b="1">
                              <a:effectLst/>
                              <a:latin typeface="Verdana"/>
                              <a:ea typeface="Times New Roman"/>
                              <a:cs typeface="Times New Roman"/>
                            </a:rPr>
                          </a:br>
                          <a:r>
                            <a:rPr lang="en-US" sz="2000" b="1">
                              <a:effectLst/>
                              <a:latin typeface="Verdana"/>
                              <a:ea typeface="Times New Roman"/>
                              <a:cs typeface="Times New Roman"/>
                            </a:rPr>
                            <a:t>($)</a:t>
                          </a:r>
                          <a:endParaRPr lang="en-PH" sz="2000">
                            <a:effectLst/>
                            <a:latin typeface="Cambria"/>
                            <a:ea typeface="Times New Roman"/>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4"/>
                          <a:stretch>
                            <a:fillRect l="-201538" t="-61864" b="-155932"/>
                          </a:stretch>
                        </a:blipFill>
                      </a:tcPr>
                    </a:tc>
                    <a:extLst>
                      <a:ext uri="{0D108BD9-81ED-4DB2-BD59-A6C34878D82A}">
                        <a16:rowId xmlns="" xmlns:a16="http://schemas.microsoft.com/office/drawing/2014/main" xmlns:a14="http://schemas.microsoft.com/office/drawing/2010/main" val="10001"/>
                      </a:ext>
                    </a:extLst>
                  </a:tr>
                  <a:tr h="540000">
                    <a:tc>
                      <a:txBody>
                        <a:bodyPr/>
                        <a:lstStyle/>
                        <a:p>
                          <a:pPr algn="ctr">
                            <a:spcBef>
                              <a:spcPts val="180"/>
                            </a:spcBef>
                            <a:spcAft>
                              <a:spcPts val="0"/>
                            </a:spcAft>
                          </a:pPr>
                          <a:r>
                            <a:rPr lang="en-US" sz="2000" dirty="0">
                              <a:effectLst/>
                              <a:latin typeface="Verdana"/>
                              <a:ea typeface="Times New Roman"/>
                              <a:cs typeface="Times New Roman"/>
                            </a:rPr>
                            <a:t>Paper Towels</a:t>
                          </a:r>
                          <a:endParaRPr lang="en-PH" sz="2000" dirty="0">
                            <a:effectLst/>
                            <a:latin typeface="Cambria"/>
                            <a:ea typeface="Times New Roman"/>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4"/>
                          <a:stretch>
                            <a:fillRect l="-175132" t="-217045" r="-347090" b="-109091"/>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4"/>
                          <a:stretch>
                            <a:fillRect l="-195489" t="-217045" r="-146617" b="-109091"/>
                          </a:stretch>
                        </a:blipFill>
                      </a:tcPr>
                    </a:tc>
                    <a:tc>
                      <a:txBody>
                        <a:bodyPr/>
                        <a:lstStyle/>
                        <a:p>
                          <a:pPr algn="ctr">
                            <a:spcBef>
                              <a:spcPts val="180"/>
                            </a:spcBef>
                            <a:spcAft>
                              <a:spcPts val="0"/>
                            </a:spcAft>
                          </a:pPr>
                          <a:r>
                            <a:rPr lang="en-US" sz="2000" dirty="0">
                              <a:effectLst/>
                              <a:latin typeface="Verdana"/>
                              <a:ea typeface="Times New Roman"/>
                              <a:cs typeface="Times New Roman"/>
                            </a:rPr>
                            <a:t> </a:t>
                          </a:r>
                          <a:endParaRPr lang="en-PH" sz="2000" dirty="0">
                            <a:effectLst/>
                            <a:latin typeface="Cambria"/>
                            <a:ea typeface="Times New Roman"/>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xmlns:a14="http://schemas.microsoft.com/office/drawing/2010/main" val="10002"/>
                      </a:ext>
                    </a:extLst>
                  </a:tr>
                  <a:tr h="540000">
                    <a:tc>
                      <a:txBody>
                        <a:bodyPr/>
                        <a:lstStyle/>
                        <a:p>
                          <a:pPr algn="ctr">
                            <a:spcBef>
                              <a:spcPts val="180"/>
                            </a:spcBef>
                            <a:spcAft>
                              <a:spcPts val="0"/>
                            </a:spcAft>
                          </a:pPr>
                          <a:r>
                            <a:rPr lang="en-US" sz="2000">
                              <a:effectLst/>
                              <a:latin typeface="Verdana"/>
                              <a:ea typeface="Times New Roman"/>
                              <a:cs typeface="Times New Roman"/>
                            </a:rPr>
                            <a:t>Laundry Soap</a:t>
                          </a:r>
                          <a:endParaRPr lang="en-PH" sz="2000">
                            <a:effectLst/>
                            <a:latin typeface="Cambria"/>
                            <a:ea typeface="Times New Roman"/>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4"/>
                          <a:stretch>
                            <a:fillRect l="-175132" t="-313483" r="-347090" b="-7865"/>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4"/>
                          <a:stretch>
                            <a:fillRect l="-195489" t="-313483" r="-146617" b="-7865"/>
                          </a:stretch>
                        </a:blipFill>
                      </a:tcPr>
                    </a:tc>
                    <a:tc>
                      <a:txBody>
                        <a:bodyPr/>
                        <a:lstStyle/>
                        <a:p>
                          <a:pPr algn="ctr">
                            <a:spcBef>
                              <a:spcPts val="180"/>
                            </a:spcBef>
                            <a:spcAft>
                              <a:spcPts val="0"/>
                            </a:spcAft>
                          </a:pPr>
                          <a:r>
                            <a:rPr lang="en-US" sz="2000" dirty="0">
                              <a:effectLst/>
                              <a:latin typeface="Verdana"/>
                              <a:ea typeface="Times New Roman"/>
                              <a:cs typeface="Times New Roman"/>
                            </a:rPr>
                            <a:t> </a:t>
                          </a:r>
                          <a:endParaRPr lang="en-PH" sz="2000" dirty="0">
                            <a:effectLst/>
                            <a:latin typeface="Cambria"/>
                            <a:ea typeface="Times New Roman"/>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xmlns:a14="http://schemas.microsoft.com/office/drawing/2010/main" val="10003"/>
                      </a:ext>
                    </a:extLst>
                  </a:tr>
                </a:tbl>
              </a:graphicData>
            </a:graphic>
          </p:graphicFrame>
        </mc:Fallback>
      </mc:AlternateContent>
      <p:sp>
        <p:nvSpPr>
          <p:cNvPr id="11" name="Google Shape;179;p5"/>
          <p:cNvSpPr txBox="1"/>
          <p:nvPr/>
        </p:nvSpPr>
        <p:spPr>
          <a:xfrm>
            <a:off x="914400" y="487736"/>
            <a:ext cx="10515600" cy="707846"/>
          </a:xfrm>
          <a:prstGeom prst="rect">
            <a:avLst/>
          </a:prstGeom>
          <a:noFill/>
          <a:ln>
            <a:noFill/>
          </a:ln>
        </p:spPr>
        <p:txBody>
          <a:bodyPr spcFirstLastPara="1" wrap="square" lIns="91425" tIns="45700" rIns="91425" bIns="45700" anchor="t" anchorCtr="0">
            <a:spAutoFit/>
          </a:bodyPr>
          <a:lstStyle/>
          <a:p>
            <a:pPr marL="892175" indent="-457200">
              <a:buFont typeface="+mj-lt"/>
              <a:buAutoNum type="alphaLcPeriod" startAt="2"/>
            </a:pPr>
            <a:r>
              <a:rPr lang="en-US" sz="2000" dirty="0">
                <a:latin typeface="Verdana"/>
                <a:ea typeface="Times New Roman"/>
                <a:cs typeface="Times New Roman"/>
              </a:rPr>
              <a:t>With your partner, complete the two tables to determine the sales tax rates for City A and City B.</a:t>
            </a:r>
            <a:endParaRPr lang="en-PH" sz="2000" dirty="0">
              <a:latin typeface="Cambria"/>
              <a:ea typeface="Times New Roman"/>
              <a:cs typeface="Times New Roman"/>
            </a:endParaRPr>
          </a:p>
        </p:txBody>
      </p:sp>
      <p:sp>
        <p:nvSpPr>
          <p:cNvPr id="12"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326</a:t>
            </a:r>
            <a:endParaRPr i="1" dirty="0">
              <a:latin typeface="Calibri"/>
              <a:ea typeface="Calibri"/>
              <a:cs typeface="Calibri"/>
              <a:sym typeface="Calibri"/>
            </a:endParaRPr>
          </a:p>
        </p:txBody>
      </p:sp>
      <p:pic>
        <p:nvPicPr>
          <p:cNvPr id="13"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55251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6760BDC3-AF44-C94E-BD05-E61FF805DD32}"/>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8"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327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mc:AlternateContent xmlns:mc="http://schemas.openxmlformats.org/markup-compatibility/2006" xmlns:a14="http://schemas.microsoft.com/office/drawing/2010/main">
        <mc:Choice Requires="a14">
          <p:sp>
            <p:nvSpPr>
              <p:cNvPr id="10" name="Google Shape;179;p5"/>
              <p:cNvSpPr txBox="1"/>
              <p:nvPr/>
            </p:nvSpPr>
            <p:spPr>
              <a:xfrm>
                <a:off x="914400" y="487736"/>
                <a:ext cx="10515600" cy="4247276"/>
              </a:xfrm>
              <a:prstGeom prst="rect">
                <a:avLst/>
              </a:prstGeom>
              <a:noFill/>
              <a:ln>
                <a:noFill/>
              </a:ln>
            </p:spPr>
            <p:txBody>
              <a:bodyPr spcFirstLastPara="1" wrap="square" lIns="91425" tIns="45700" rIns="91425" bIns="45700" anchor="t" anchorCtr="0">
                <a:spAutoFit/>
              </a:bodyPr>
              <a:lstStyle/>
              <a:p>
                <a:pPr marL="892175" indent="-457200">
                  <a:spcAft>
                    <a:spcPts val="1200"/>
                  </a:spcAft>
                  <a:buFont typeface="+mj-lt"/>
                  <a:buAutoNum type="alphaLcPeriod" startAt="3"/>
                </a:pPr>
                <a:r>
                  <a:rPr lang="en-US" sz="2000" dirty="0">
                    <a:latin typeface="Verdana"/>
                    <a:ea typeface="Cambria"/>
                    <a:cs typeface="Cambria"/>
                  </a:rPr>
                  <a:t>Determine the total cost, with tax, of paper towels and laundry soap in City A.</a:t>
                </a:r>
                <a:endParaRPr lang="en-PH" sz="2000" dirty="0">
                  <a:latin typeface="Cambria"/>
                  <a:ea typeface="Cambria"/>
                  <a:cs typeface="Cambria"/>
                </a:endParaRPr>
              </a:p>
              <a:p>
                <a:pPr marL="892175" indent="-457200">
                  <a:spcAft>
                    <a:spcPts val="1200"/>
                  </a:spcAft>
                  <a:buFont typeface="+mj-lt"/>
                  <a:buAutoNum type="alphaLcPeriod" startAt="3"/>
                </a:pPr>
                <a:endParaRPr lang="en-US" sz="2000" dirty="0">
                  <a:latin typeface="Verdana"/>
                  <a:ea typeface="Cambria"/>
                  <a:cs typeface="Cambria"/>
                </a:endParaRPr>
              </a:p>
              <a:p>
                <a:pPr marL="892175" indent="-457200">
                  <a:spcAft>
                    <a:spcPts val="1200"/>
                  </a:spcAft>
                  <a:buFont typeface="+mj-lt"/>
                  <a:buAutoNum type="alphaLcPeriod" startAt="3"/>
                </a:pPr>
                <a:r>
                  <a:rPr lang="en-US" sz="2000" dirty="0">
                    <a:latin typeface="Verdana"/>
                    <a:ea typeface="Cambria"/>
                    <a:cs typeface="Cambria"/>
                  </a:rPr>
                  <a:t>The pre-tax cost of </a:t>
                </a:r>
                <a14:m>
                  <m:oMath xmlns:m="http://schemas.openxmlformats.org/officeDocument/2006/math">
                    <m:r>
                      <a:rPr lang="en-US" sz="2000" i="1">
                        <a:latin typeface="Cambria Math"/>
                        <a:ea typeface="Cambria"/>
                        <a:cs typeface="Cambria"/>
                      </a:rPr>
                      <m:t>5</m:t>
                    </m:r>
                  </m:oMath>
                </a14:m>
                <a:r>
                  <a:rPr lang="en-US" sz="2000" dirty="0">
                    <a:latin typeface="Verdana"/>
                    <a:ea typeface="Cambria"/>
                    <a:cs typeface="Cambria"/>
                  </a:rPr>
                  <a:t> beach towels in City A is </a:t>
                </a:r>
                <a14:m>
                  <m:oMath xmlns:m="http://schemas.openxmlformats.org/officeDocument/2006/math">
                    <m:r>
                      <a:rPr lang="en-US" sz="2000" i="1">
                        <a:latin typeface="Cambria Math"/>
                        <a:ea typeface="Cambria"/>
                        <a:cs typeface="Cambria"/>
                      </a:rPr>
                      <m:t>$54.95</m:t>
                    </m:r>
                  </m:oMath>
                </a14:m>
                <a:r>
                  <a:rPr lang="en-US" sz="2000" dirty="0">
                    <a:latin typeface="Verdana"/>
                    <a:ea typeface="Cambria"/>
                    <a:cs typeface="Cambria"/>
                  </a:rPr>
                  <a:t>. Determine the total cost, with tax, of </a:t>
                </a:r>
                <a14:m>
                  <m:oMath xmlns:m="http://schemas.openxmlformats.org/officeDocument/2006/math">
                    <m:r>
                      <a:rPr lang="en-US" sz="2000" i="1">
                        <a:latin typeface="Cambria Math"/>
                        <a:ea typeface="Cambria"/>
                        <a:cs typeface="Cambria"/>
                      </a:rPr>
                      <m:t>5</m:t>
                    </m:r>
                  </m:oMath>
                </a14:m>
                <a:r>
                  <a:rPr lang="en-US" sz="2000" dirty="0">
                    <a:latin typeface="Verdana"/>
                    <a:ea typeface="Cambria"/>
                    <a:cs typeface="Cambria"/>
                  </a:rPr>
                  <a:t> beach towels in City A.</a:t>
                </a:r>
                <a:endParaRPr lang="en-PH" sz="2000" dirty="0">
                  <a:latin typeface="Cambria"/>
                  <a:ea typeface="Cambria"/>
                  <a:cs typeface="Cambria"/>
                </a:endParaRPr>
              </a:p>
              <a:p>
                <a:pPr marL="892175" indent="-457200">
                  <a:spcAft>
                    <a:spcPts val="1200"/>
                  </a:spcAft>
                  <a:buFont typeface="+mj-lt"/>
                  <a:buAutoNum type="alphaLcPeriod" startAt="3"/>
                </a:pPr>
                <a:endParaRPr lang="en-US" sz="2000" dirty="0">
                  <a:latin typeface="Verdana"/>
                  <a:ea typeface="Cambria"/>
                  <a:cs typeface="Cambria"/>
                </a:endParaRPr>
              </a:p>
              <a:p>
                <a:pPr marL="892175" indent="-457200">
                  <a:spcAft>
                    <a:spcPts val="1200"/>
                  </a:spcAft>
                  <a:buFont typeface="+mj-lt"/>
                  <a:buAutoNum type="alphaLcPeriod" startAt="3"/>
                </a:pPr>
                <a:r>
                  <a:rPr lang="en-US" sz="2000" dirty="0">
                    <a:latin typeface="Verdana"/>
                    <a:ea typeface="Cambria"/>
                    <a:cs typeface="Cambria"/>
                  </a:rPr>
                  <a:t>If the subtotal for the purchase of a new bathing suit in City B is </a:t>
                </a:r>
                <a14:m>
                  <m:oMath xmlns:m="http://schemas.openxmlformats.org/officeDocument/2006/math">
                    <m:r>
                      <a:rPr lang="en-US" sz="2000" i="1">
                        <a:latin typeface="Cambria Math"/>
                        <a:ea typeface="Cambria"/>
                        <a:cs typeface="Cambria"/>
                      </a:rPr>
                      <m:t>$47.97</m:t>
                    </m:r>
                  </m:oMath>
                </a14:m>
                <a:r>
                  <a:rPr lang="en-US" sz="2000" dirty="0">
                    <a:latin typeface="Verdana"/>
                    <a:ea typeface="Cambria"/>
                    <a:cs typeface="Cambria"/>
                  </a:rPr>
                  <a:t>, what is the total cost of the bathing suit with tax? </a:t>
                </a:r>
                <a:endParaRPr lang="en-PH" sz="2000" dirty="0">
                  <a:latin typeface="Cambria"/>
                  <a:ea typeface="Cambria"/>
                  <a:cs typeface="Cambria"/>
                </a:endParaRPr>
              </a:p>
              <a:p>
                <a:pPr marL="892175" indent="-457200">
                  <a:buFont typeface="+mj-lt"/>
                  <a:buAutoNum type="alphaLcPeriod" startAt="3"/>
                </a:pPr>
                <a:endParaRPr lang="en-US" sz="2000" dirty="0">
                  <a:latin typeface="Verdana"/>
                  <a:ea typeface="Cambria"/>
                  <a:cs typeface="Cambria"/>
                </a:endParaRPr>
              </a:p>
              <a:p>
                <a:pPr marL="892175" indent="-457200">
                  <a:buFont typeface="+mj-lt"/>
                  <a:buAutoNum type="alphaLcPeriod" startAt="3"/>
                </a:pPr>
                <a:r>
                  <a:rPr lang="en-US" sz="2000" dirty="0">
                    <a:latin typeface="Verdana"/>
                    <a:ea typeface="Cambria"/>
                    <a:cs typeface="Cambria"/>
                  </a:rPr>
                  <a:t>Find the total cost, with tax, on paper towels, laundry soap, and a new bathing suit in City B.</a:t>
                </a:r>
                <a:endParaRPr lang="en-PH" sz="2000" dirty="0">
                  <a:latin typeface="Cambria"/>
                  <a:ea typeface="Cambria"/>
                  <a:cs typeface="Cambria"/>
                </a:endParaRPr>
              </a:p>
            </p:txBody>
          </p:sp>
        </mc:Choice>
        <mc:Fallback xmlns="">
          <p:sp>
            <p:nvSpPr>
              <p:cNvPr id="10" name="Google Shape;179;p5"/>
              <p:cNvSpPr txBox="1">
                <a:spLocks noRot="1" noChangeAspect="1" noMove="1" noResize="1" noEditPoints="1" noAdjustHandles="1" noChangeArrowheads="1" noChangeShapeType="1" noTextEdit="1"/>
              </p:cNvSpPr>
              <p:nvPr/>
            </p:nvSpPr>
            <p:spPr>
              <a:xfrm>
                <a:off x="914400" y="487736"/>
                <a:ext cx="10515600" cy="4247276"/>
              </a:xfrm>
              <a:prstGeom prst="rect">
                <a:avLst/>
              </a:prstGeom>
              <a:blipFill rotWithShape="1">
                <a:blip r:embed="rId4"/>
                <a:stretch>
                  <a:fillRect t="-861" r="-812" b="-1578"/>
                </a:stretch>
              </a:blipFill>
              <a:ln>
                <a:noFill/>
              </a:ln>
            </p:spPr>
            <p:txBody>
              <a:bodyPr/>
              <a:lstStyle/>
              <a:p>
                <a:r>
                  <a:rPr lang="en-PH">
                    <a:noFill/>
                  </a:rPr>
                  <a:t> </a:t>
                </a:r>
              </a:p>
            </p:txBody>
          </p:sp>
        </mc:Fallback>
      </mc:AlternateContent>
    </p:spTree>
    <p:extLst>
      <p:ext uri="{BB962C8B-B14F-4D97-AF65-F5344CB8AC3E}">
        <p14:creationId xmlns:p14="http://schemas.microsoft.com/office/powerpoint/2010/main" val="3538484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6760BDC3-AF44-C94E-BD05-E61FF805DD32}"/>
              </a:ext>
            </a:extLst>
          </p:cNvPr>
          <p:cNvSpPr/>
          <p:nvPr/>
        </p:nvSpPr>
        <p:spPr>
          <a:xfrm>
            <a:off x="12289"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8" name="Picture 7" descr="A picture containing shape&#10;&#10;Description automatically generated"/>
          <p:cNvPicPr/>
          <p:nvPr/>
        </p:nvPicPr>
        <p:blipFill>
          <a:blip r:embed="rId3">
            <a:extLst>
              <a:ext uri="{28A0092B-C50C-407E-A947-70E740481C1C}">
                <a14:useLocalDpi xmlns:a14="http://schemas.microsoft.com/office/drawing/2010/main"/>
              </a:ext>
            </a:extLst>
          </a:blip>
          <a:stretch>
            <a:fillRect/>
          </a:stretch>
        </p:blipFill>
        <p:spPr>
          <a:xfrm>
            <a:off x="7982836" y="487736"/>
            <a:ext cx="3447164" cy="5511915"/>
          </a:xfrm>
          <a:prstGeom prst="rect">
            <a:avLst/>
          </a:prstGeom>
        </p:spPr>
      </p:pic>
      <p:sp>
        <p:nvSpPr>
          <p:cNvPr id="7"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327</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mc:AlternateContent xmlns:mc="http://schemas.openxmlformats.org/markup-compatibility/2006" xmlns:a14="http://schemas.microsoft.com/office/drawing/2010/main">
        <mc:Choice Requires="a14">
          <p:sp>
            <p:nvSpPr>
              <p:cNvPr id="11" name="Google Shape;179;p5"/>
              <p:cNvSpPr txBox="1"/>
              <p:nvPr/>
            </p:nvSpPr>
            <p:spPr>
              <a:xfrm>
                <a:off x="914401" y="487736"/>
                <a:ext cx="6343650" cy="4674814"/>
              </a:xfrm>
              <a:prstGeom prst="rect">
                <a:avLst/>
              </a:prstGeom>
              <a:noFill/>
              <a:ln>
                <a:noFill/>
              </a:ln>
            </p:spPr>
            <p:txBody>
              <a:bodyPr spcFirstLastPara="1" wrap="square" lIns="91425" tIns="45700" rIns="91425" bIns="45700" anchor="t" anchorCtr="0">
                <a:spAutoFit/>
              </a:bodyPr>
              <a:lstStyle/>
              <a:p>
                <a:pPr marL="457200" indent="-457200">
                  <a:spcBef>
                    <a:spcPts val="180"/>
                  </a:spcBef>
                  <a:spcAft>
                    <a:spcPts val="1200"/>
                  </a:spcAft>
                  <a:buFont typeface="+mj-lt"/>
                  <a:buAutoNum type="arabicPeriod" startAt="2"/>
                </a:pPr>
                <a:r>
                  <a:rPr lang="en-US" sz="2000" dirty="0">
                    <a:latin typeface="Verdana" pitchFamily="34" charset="0"/>
                    <a:ea typeface="Verdana" pitchFamily="34" charset="0"/>
                    <a:cs typeface="Times New Roman"/>
                  </a:rPr>
                  <a:t>Jada and </a:t>
                </a:r>
                <a:r>
                  <a:rPr lang="en-US" sz="2000" dirty="0" err="1">
                    <a:latin typeface="Verdana" pitchFamily="34" charset="0"/>
                    <a:ea typeface="Verdana" pitchFamily="34" charset="0"/>
                    <a:cs typeface="Times New Roman"/>
                  </a:rPr>
                  <a:t>Corrin</a:t>
                </a:r>
                <a:r>
                  <a:rPr lang="en-US" sz="2000" dirty="0">
                    <a:latin typeface="Verdana" pitchFamily="34" charset="0"/>
                    <a:ea typeface="Verdana" pitchFamily="34" charset="0"/>
                    <a:cs typeface="Times New Roman"/>
                  </a:rPr>
                  <a:t> had lunch at a local restaurant. The final bill for their meal is shown.</a:t>
                </a:r>
                <a:endParaRPr lang="en-PH" sz="2000" dirty="0">
                  <a:latin typeface="Verdana" pitchFamily="34" charset="0"/>
                  <a:ea typeface="Verdana" pitchFamily="34" charset="0"/>
                  <a:cs typeface="Times New Roman"/>
                </a:endParaRPr>
              </a:p>
              <a:p>
                <a:pPr marL="457200">
                  <a:spcBef>
                    <a:spcPts val="180"/>
                  </a:spcBef>
                </a:pPr>
                <a:r>
                  <a:rPr lang="en-US" sz="2000" dirty="0">
                    <a:latin typeface="Verdana" pitchFamily="34" charset="0"/>
                    <a:ea typeface="Verdana" pitchFamily="34" charset="0"/>
                    <a:cs typeface="Times New Roman"/>
                  </a:rPr>
                  <a:t>They decide to tip their server </a:t>
                </a:r>
                <a14:m>
                  <m:oMath xmlns:m="http://schemas.openxmlformats.org/officeDocument/2006/math">
                    <m:r>
                      <a:rPr lang="en-US" sz="2000" i="1">
                        <a:latin typeface="Cambria Math"/>
                        <a:ea typeface="Times New Roman"/>
                        <a:cs typeface="Times New Roman"/>
                      </a:rPr>
                      <m:t>18%</m:t>
                    </m:r>
                  </m:oMath>
                </a14:m>
                <a:r>
                  <a:rPr lang="en-US" sz="2000" dirty="0">
                    <a:latin typeface="Verdana" pitchFamily="34" charset="0"/>
                    <a:ea typeface="Verdana" pitchFamily="34" charset="0"/>
                    <a:cs typeface="Times New Roman"/>
                  </a:rPr>
                  <a:t> of the subtotal. Jada says the tip should be </a:t>
                </a:r>
                <a14:m>
                  <m:oMath xmlns:m="http://schemas.openxmlformats.org/officeDocument/2006/math">
                    <m:r>
                      <a:rPr lang="en-US" sz="2000" i="1">
                        <a:latin typeface="Cambria Math"/>
                        <a:ea typeface="Times New Roman"/>
                        <a:cs typeface="Times New Roman"/>
                      </a:rPr>
                      <m:t>$7.56</m:t>
                    </m:r>
                  </m:oMath>
                </a14:m>
                <a:r>
                  <a:rPr lang="en-US" sz="2000" dirty="0">
                    <a:latin typeface="Verdana" pitchFamily="34" charset="0"/>
                    <a:ea typeface="Verdana" pitchFamily="34" charset="0"/>
                    <a:cs typeface="Times New Roman"/>
                  </a:rPr>
                  <a:t>, but </a:t>
                </a:r>
                <a:r>
                  <a:rPr lang="en-US" sz="2000" dirty="0" err="1">
                    <a:latin typeface="Verdana" pitchFamily="34" charset="0"/>
                    <a:ea typeface="Verdana" pitchFamily="34" charset="0"/>
                    <a:cs typeface="Times New Roman"/>
                  </a:rPr>
                  <a:t>Corrin</a:t>
                </a:r>
                <a:r>
                  <a:rPr lang="en-US" sz="2000" dirty="0">
                    <a:latin typeface="Verdana" pitchFamily="34" charset="0"/>
                    <a:ea typeface="Verdana" pitchFamily="34" charset="0"/>
                    <a:cs typeface="Times New Roman"/>
                  </a:rPr>
                  <a:t> disagrees. </a:t>
                </a:r>
                <a:r>
                  <a:rPr lang="en-US" sz="2000" dirty="0" err="1">
                    <a:latin typeface="Verdana" pitchFamily="34" charset="0"/>
                    <a:ea typeface="Verdana" pitchFamily="34" charset="0"/>
                    <a:cs typeface="Times New Roman"/>
                  </a:rPr>
                  <a:t>Corrin</a:t>
                </a:r>
                <a:r>
                  <a:rPr lang="en-US" sz="2000" dirty="0">
                    <a:latin typeface="Verdana" pitchFamily="34" charset="0"/>
                    <a:ea typeface="Verdana" pitchFamily="34" charset="0"/>
                    <a:cs typeface="Times New Roman"/>
                  </a:rPr>
                  <a:t> calculated the tip to be </a:t>
                </a:r>
                <a14:m>
                  <m:oMath xmlns:m="http://schemas.openxmlformats.org/officeDocument/2006/math">
                    <m:r>
                      <a:rPr lang="en-US" sz="2000" i="1">
                        <a:latin typeface="Cambria Math"/>
                        <a:ea typeface="Times New Roman"/>
                        <a:cs typeface="Times New Roman"/>
                      </a:rPr>
                      <m:t>$8.28</m:t>
                    </m:r>
                  </m:oMath>
                </a14:m>
                <a:r>
                  <a:rPr lang="en-US" sz="2000" dirty="0">
                    <a:latin typeface="Verdana" pitchFamily="34" charset="0"/>
                    <a:ea typeface="Verdana" pitchFamily="34" charset="0"/>
                    <a:cs typeface="Times New Roman"/>
                  </a:rPr>
                  <a:t>.</a:t>
                </a:r>
              </a:p>
              <a:p>
                <a:pPr marL="457200">
                  <a:spcBef>
                    <a:spcPts val="180"/>
                  </a:spcBef>
                </a:pPr>
                <a:endParaRPr lang="en-PH" sz="2000" dirty="0">
                  <a:latin typeface="Verdana" pitchFamily="34" charset="0"/>
                  <a:ea typeface="Verdana" pitchFamily="34" charset="0"/>
                  <a:cs typeface="Times New Roman"/>
                </a:endParaRPr>
              </a:p>
              <a:p>
                <a:pPr marL="892175" indent="-457200">
                  <a:buSzPct val="100000"/>
                  <a:buFont typeface="+mj-lt"/>
                  <a:buAutoNum type="alphaLcPeriod"/>
                </a:pPr>
                <a:r>
                  <a:rPr lang="en-US" sz="2000" dirty="0">
                    <a:latin typeface="Verdana" pitchFamily="34" charset="0"/>
                    <a:ea typeface="Verdana" pitchFamily="34" charset="0"/>
                    <a:cs typeface="Cambria"/>
                  </a:rPr>
                  <a:t>Explain who calculated the correct tip.</a:t>
                </a:r>
              </a:p>
              <a:p>
                <a:pPr marL="892175" indent="-457200">
                  <a:buSzPct val="100000"/>
                  <a:buFont typeface="+mj-lt"/>
                  <a:buAutoNum type="alphaLcPeriod"/>
                </a:pPr>
                <a:endParaRPr lang="en-US" sz="2000" dirty="0">
                  <a:latin typeface="Verdana" pitchFamily="34" charset="0"/>
                  <a:ea typeface="Verdana" pitchFamily="34" charset="0"/>
                  <a:cs typeface="Cambria"/>
                </a:endParaRPr>
              </a:p>
              <a:p>
                <a:pPr marL="892175" indent="-457200">
                  <a:buSzPct val="100000"/>
                  <a:buFont typeface="+mj-lt"/>
                  <a:buAutoNum type="alphaLcPeriod"/>
                </a:pPr>
                <a:endParaRPr lang="en-PH" sz="2000" dirty="0">
                  <a:latin typeface="Verdana" pitchFamily="34" charset="0"/>
                  <a:ea typeface="Verdana" pitchFamily="34" charset="0"/>
                  <a:cs typeface="Cambria"/>
                </a:endParaRPr>
              </a:p>
              <a:p>
                <a:pPr marL="892175" indent="-457200">
                  <a:buSzPct val="100000"/>
                  <a:buFont typeface="+mj-lt"/>
                  <a:buAutoNum type="alphaLcPeriod"/>
                </a:pPr>
                <a:r>
                  <a:rPr lang="en-US" sz="2000" dirty="0">
                    <a:latin typeface="Verdana" pitchFamily="34" charset="0"/>
                    <a:ea typeface="Verdana" pitchFamily="34" charset="0"/>
                    <a:cs typeface="Cambria"/>
                  </a:rPr>
                  <a:t>What is the total amount, including the tip, that the friends paid at the restaurant? </a:t>
                </a:r>
                <a:endParaRPr lang="en-PH" sz="2000" dirty="0">
                  <a:latin typeface="Verdana" pitchFamily="34" charset="0"/>
                  <a:ea typeface="Verdana" pitchFamily="34" charset="0"/>
                  <a:cs typeface="Cambria"/>
                </a:endParaRPr>
              </a:p>
            </p:txBody>
          </p:sp>
        </mc:Choice>
        <mc:Fallback xmlns="">
          <p:sp>
            <p:nvSpPr>
              <p:cNvPr id="11" name="Google Shape;179;p5"/>
              <p:cNvSpPr txBox="1">
                <a:spLocks noRot="1" noChangeAspect="1" noMove="1" noResize="1" noEditPoints="1" noAdjustHandles="1" noChangeArrowheads="1" noChangeShapeType="1" noTextEdit="1"/>
              </p:cNvSpPr>
              <p:nvPr/>
            </p:nvSpPr>
            <p:spPr>
              <a:xfrm>
                <a:off x="914401" y="487736"/>
                <a:ext cx="6343650" cy="4674814"/>
              </a:xfrm>
              <a:prstGeom prst="rect">
                <a:avLst/>
              </a:prstGeom>
              <a:blipFill rotWithShape="1">
                <a:blip r:embed="rId5"/>
                <a:stretch>
                  <a:fillRect l="-1057" t="-130" b="-522"/>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54495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328</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560788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Google Shape;200;p7"/>
              <p:cNvSpPr txBox="1"/>
              <p:nvPr/>
            </p:nvSpPr>
            <p:spPr>
              <a:xfrm>
                <a:off x="914400" y="1368628"/>
                <a:ext cx="7200900" cy="4247276"/>
              </a:xfrm>
              <a:prstGeom prst="rect">
                <a:avLst/>
              </a:prstGeom>
              <a:noFill/>
              <a:ln>
                <a:noFill/>
              </a:ln>
            </p:spPr>
            <p:txBody>
              <a:bodyPr spcFirstLastPara="1" wrap="square" lIns="91425" tIns="45700" rIns="91425" bIns="45700" anchor="t" anchorCtr="0">
                <a:spAutoFit/>
              </a:bodyPr>
              <a:lstStyle/>
              <a:p>
                <a:pPr>
                  <a:spcAft>
                    <a:spcPts val="1200"/>
                  </a:spcAft>
                </a:pPr>
                <a:r>
                  <a:rPr lang="en-US" sz="2000" dirty="0">
                    <a:latin typeface="Verdana" pitchFamily="34" charset="0"/>
                    <a:ea typeface="Verdana" pitchFamily="34" charset="0"/>
                    <a:cs typeface="Times New Roman"/>
                  </a:rPr>
                  <a:t>Work through each situation with your partner. </a:t>
                </a:r>
                <a:br>
                  <a:rPr lang="en-US" sz="2000" dirty="0">
                    <a:latin typeface="Verdana" pitchFamily="34" charset="0"/>
                    <a:ea typeface="Verdana" pitchFamily="34" charset="0"/>
                    <a:cs typeface="Times New Roman"/>
                  </a:rPr>
                </a:br>
                <a:r>
                  <a:rPr lang="en-US" sz="2000" dirty="0">
                    <a:latin typeface="Verdana" pitchFamily="34" charset="0"/>
                    <a:ea typeface="Verdana" pitchFamily="34" charset="0"/>
                    <a:cs typeface="Times New Roman"/>
                  </a:rPr>
                  <a:t>Be sure to show your work.</a:t>
                </a:r>
                <a:endParaRPr lang="en-PH" sz="2000" dirty="0">
                  <a:latin typeface="Verdana" pitchFamily="34" charset="0"/>
                  <a:ea typeface="Verdana" pitchFamily="34" charset="0"/>
                  <a:cs typeface="Times New Roman"/>
                </a:endParaRPr>
              </a:p>
              <a:p>
                <a:pPr marL="457200" indent="-457200">
                  <a:spcBef>
                    <a:spcPts val="180"/>
                  </a:spcBef>
                  <a:spcAft>
                    <a:spcPts val="1200"/>
                  </a:spcAft>
                  <a:buFont typeface="+mj-lt"/>
                  <a:buAutoNum type="arabicPeriod"/>
                </a:pPr>
                <a:r>
                  <a:rPr lang="en-US" sz="2000" dirty="0">
                    <a:latin typeface="Verdana" pitchFamily="34" charset="0"/>
                    <a:ea typeface="Verdana" pitchFamily="34" charset="0"/>
                    <a:cs typeface="Times New Roman"/>
                  </a:rPr>
                  <a:t>Xavier visits an Italian restaurant for dinner.</a:t>
                </a:r>
                <a:endParaRPr lang="en-PH" sz="2000" dirty="0">
                  <a:latin typeface="Verdana" pitchFamily="34" charset="0"/>
                  <a:ea typeface="Verdana" pitchFamily="34" charset="0"/>
                  <a:cs typeface="Times New Roman"/>
                </a:endParaRPr>
              </a:p>
              <a:p>
                <a:pPr marL="892175" indent="-457200">
                  <a:spcBef>
                    <a:spcPts val="180"/>
                  </a:spcBef>
                  <a:buFont typeface="+mj-lt"/>
                  <a:buAutoNum type="alphaLcPeriod"/>
                </a:pPr>
                <a:r>
                  <a:rPr lang="en-US" sz="2000" dirty="0">
                    <a:latin typeface="Verdana" pitchFamily="34" charset="0"/>
                    <a:ea typeface="Verdana" pitchFamily="34" charset="0"/>
                    <a:cs typeface="Times New Roman"/>
                  </a:rPr>
                  <a:t>If Xavier tips </a:t>
                </a:r>
                <a14:m>
                  <m:oMath xmlns:m="http://schemas.openxmlformats.org/officeDocument/2006/math">
                    <m:r>
                      <a:rPr lang="en-US" sz="2000" i="1">
                        <a:latin typeface="Cambria Math"/>
                        <a:ea typeface="Times New Roman"/>
                        <a:cs typeface="Times New Roman"/>
                      </a:rPr>
                      <m:t>20%</m:t>
                    </m:r>
                  </m:oMath>
                </a14:m>
                <a:r>
                  <a:rPr lang="en-US" sz="2000" dirty="0">
                    <a:latin typeface="Verdana" pitchFamily="34" charset="0"/>
                    <a:ea typeface="Verdana" pitchFamily="34" charset="0"/>
                    <a:cs typeface="Times New Roman"/>
                  </a:rPr>
                  <a:t> on the subtotal </a:t>
                </a:r>
                <a14:m>
                  <m:oMath xmlns:m="http://schemas.openxmlformats.org/officeDocument/2006/math">
                    <m:r>
                      <a:rPr lang="en-US" sz="2000" i="1">
                        <a:latin typeface="Cambria Math"/>
                        <a:ea typeface="Times New Roman"/>
                        <a:cs typeface="Times New Roman"/>
                      </a:rPr>
                      <m:t>$24.95</m:t>
                    </m:r>
                  </m:oMath>
                </a14:m>
                <a:r>
                  <a:rPr lang="en-US" sz="2000" dirty="0">
                    <a:latin typeface="Verdana" pitchFamily="34" charset="0"/>
                    <a:ea typeface="Verdana" pitchFamily="34" charset="0"/>
                    <a:cs typeface="Times New Roman"/>
                  </a:rPr>
                  <a:t>, </a:t>
                </a:r>
                <a:br>
                  <a:rPr lang="en-US" sz="2000" dirty="0">
                    <a:latin typeface="Verdana" pitchFamily="34" charset="0"/>
                    <a:ea typeface="Verdana" pitchFamily="34" charset="0"/>
                    <a:cs typeface="Times New Roman"/>
                  </a:rPr>
                </a:br>
                <a:r>
                  <a:rPr lang="en-US" sz="2000" dirty="0">
                    <a:latin typeface="Verdana" pitchFamily="34" charset="0"/>
                    <a:ea typeface="Verdana" pitchFamily="34" charset="0"/>
                    <a:cs typeface="Times New Roman"/>
                  </a:rPr>
                  <a:t>how much tip will he pay?</a:t>
                </a:r>
                <a:endParaRPr lang="en-PH" sz="2000" dirty="0">
                  <a:latin typeface="Verdana" pitchFamily="34" charset="0"/>
                  <a:ea typeface="Verdana" pitchFamily="34" charset="0"/>
                  <a:cs typeface="Times New Roman"/>
                </a:endParaRPr>
              </a:p>
              <a:p>
                <a:pPr marL="892175" indent="-457200">
                  <a:spcBef>
                    <a:spcPts val="180"/>
                  </a:spcBef>
                  <a:buFont typeface="+mj-lt"/>
                  <a:buAutoNum type="alphaLcPeriod"/>
                </a:pPr>
                <a:endParaRPr lang="en-US" sz="2000" dirty="0">
                  <a:latin typeface="Verdana" pitchFamily="34" charset="0"/>
                  <a:ea typeface="Verdana" pitchFamily="34" charset="0"/>
                  <a:cs typeface="Times New Roman"/>
                </a:endParaRPr>
              </a:p>
              <a:p>
                <a:pPr marL="892175" indent="-457200">
                  <a:spcBef>
                    <a:spcPts val="180"/>
                  </a:spcBef>
                  <a:buFont typeface="+mj-lt"/>
                  <a:buAutoNum type="alphaLcPeriod"/>
                </a:pPr>
                <a:r>
                  <a:rPr lang="en-US" sz="2000" dirty="0">
                    <a:latin typeface="Verdana" pitchFamily="34" charset="0"/>
                    <a:ea typeface="Verdana" pitchFamily="34" charset="0"/>
                    <a:cs typeface="Times New Roman"/>
                  </a:rPr>
                  <a:t>The city has a sales tax rate of </a:t>
                </a:r>
                <a14:m>
                  <m:oMath xmlns:m="http://schemas.openxmlformats.org/officeDocument/2006/math">
                    <m:r>
                      <a:rPr lang="en-US" sz="2000" i="1">
                        <a:latin typeface="Cambria Math"/>
                        <a:ea typeface="Times New Roman"/>
                        <a:cs typeface="Times New Roman"/>
                      </a:rPr>
                      <m:t>9.5%.</m:t>
                    </m:r>
                  </m:oMath>
                </a14:m>
                <a:r>
                  <a:rPr lang="en-US" sz="2000" dirty="0">
                    <a:latin typeface="Verdana" pitchFamily="34" charset="0"/>
                    <a:ea typeface="Verdana" pitchFamily="34" charset="0"/>
                    <a:cs typeface="Times New Roman"/>
                  </a:rPr>
                  <a:t> How much in tax will the customer pay on the subtotal of </a:t>
                </a:r>
                <a14:m>
                  <m:oMath xmlns:m="http://schemas.openxmlformats.org/officeDocument/2006/math">
                    <m:r>
                      <a:rPr lang="en-US" sz="2000" i="1">
                        <a:latin typeface="Cambria Math"/>
                        <a:ea typeface="Times New Roman"/>
                        <a:cs typeface="Times New Roman"/>
                      </a:rPr>
                      <m:t>$24.95</m:t>
                    </m:r>
                  </m:oMath>
                </a14:m>
                <a:r>
                  <a:rPr lang="en-US" sz="2000" dirty="0">
                    <a:latin typeface="Verdana" pitchFamily="34" charset="0"/>
                    <a:ea typeface="Verdana" pitchFamily="34" charset="0"/>
                    <a:cs typeface="Times New Roman"/>
                  </a:rPr>
                  <a:t>?</a:t>
                </a:r>
                <a:endParaRPr lang="en-PH" sz="2000" dirty="0">
                  <a:latin typeface="Verdana" pitchFamily="34" charset="0"/>
                  <a:ea typeface="Verdana" pitchFamily="34" charset="0"/>
                  <a:cs typeface="Times New Roman"/>
                </a:endParaRPr>
              </a:p>
              <a:p>
                <a:pPr marL="892175" indent="-457200">
                  <a:spcBef>
                    <a:spcPts val="180"/>
                  </a:spcBef>
                  <a:buFont typeface="+mj-lt"/>
                  <a:buAutoNum type="alphaLcPeriod"/>
                </a:pPr>
                <a:endParaRPr lang="en-US" sz="2000" dirty="0">
                  <a:latin typeface="Verdana" pitchFamily="34" charset="0"/>
                  <a:ea typeface="Verdana" pitchFamily="34" charset="0"/>
                  <a:cs typeface="Times New Roman"/>
                </a:endParaRPr>
              </a:p>
              <a:p>
                <a:pPr marL="892175" indent="-457200">
                  <a:spcBef>
                    <a:spcPts val="180"/>
                  </a:spcBef>
                  <a:buFont typeface="+mj-lt"/>
                  <a:buAutoNum type="alphaLcPeriod"/>
                </a:pPr>
                <a:r>
                  <a:rPr lang="en-US" sz="2000" dirty="0">
                    <a:latin typeface="Verdana" pitchFamily="34" charset="0"/>
                    <a:ea typeface="Verdana" pitchFamily="34" charset="0"/>
                    <a:cs typeface="Times New Roman"/>
                  </a:rPr>
                  <a:t>What is the total Xavier spent on his meal, including tip and tax?</a:t>
                </a:r>
                <a:endParaRPr lang="en-PH" sz="2000" dirty="0">
                  <a:latin typeface="Verdana" pitchFamily="34" charset="0"/>
                  <a:ea typeface="Verdana" pitchFamily="34" charset="0"/>
                  <a:cs typeface="Times New Roman"/>
                </a:endParaRPr>
              </a:p>
            </p:txBody>
          </p:sp>
        </mc:Choice>
        <mc:Fallback xmlns="">
          <p:sp>
            <p:nvSpPr>
              <p:cNvPr id="14" name="Google Shape;200;p7"/>
              <p:cNvSpPr txBox="1">
                <a:spLocks noRot="1" noChangeAspect="1" noMove="1" noResize="1" noEditPoints="1" noAdjustHandles="1" noChangeArrowheads="1" noChangeShapeType="1" noTextEdit="1"/>
              </p:cNvSpPr>
              <p:nvPr/>
            </p:nvSpPr>
            <p:spPr>
              <a:xfrm>
                <a:off x="914400" y="1368628"/>
                <a:ext cx="7200900" cy="4247276"/>
              </a:xfrm>
              <a:prstGeom prst="rect">
                <a:avLst/>
              </a:prstGeom>
              <a:blipFill rotWithShape="1">
                <a:blip r:embed="rId3"/>
                <a:stretch>
                  <a:fillRect l="-931" t="-718" r="-1270" b="-1724"/>
                </a:stretch>
              </a:blipFill>
              <a:ln>
                <a:noFill/>
              </a:ln>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50C37AA2-8B34-A044-9CF0-D6F9EE428461}"/>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4099" name="Picture 3"/>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8387380" y="1368628"/>
            <a:ext cx="3022244" cy="4658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Google Shape;197;p7"/>
          <p:cNvSpPr txBox="1"/>
          <p:nvPr/>
        </p:nvSpPr>
        <p:spPr>
          <a:xfrm>
            <a:off x="1143000" y="86728"/>
            <a:ext cx="10515600" cy="978689"/>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7.7.3 Collaboration: </a:t>
            </a:r>
            <a:br>
              <a:rPr lang="en-US" sz="3200" b="1" dirty="0">
                <a:solidFill>
                  <a:srgbClr val="33BEA6"/>
                </a:solidFill>
                <a:latin typeface="Verdana"/>
                <a:ea typeface="Verdana"/>
                <a:cs typeface="Verdana"/>
                <a:sym typeface="Verdana"/>
              </a:rPr>
            </a:br>
            <a:r>
              <a:rPr lang="en-US" sz="3200" b="1" dirty="0">
                <a:solidFill>
                  <a:srgbClr val="33BEA6"/>
                </a:solidFill>
                <a:latin typeface="Verdana"/>
                <a:ea typeface="Verdana"/>
                <a:cs typeface="Verdana"/>
                <a:sym typeface="Verdana"/>
              </a:rPr>
              <a:t>Taxes, Tips, and Totals</a:t>
            </a:r>
          </a:p>
        </p:txBody>
      </p:sp>
      <p:pic>
        <p:nvPicPr>
          <p:cNvPr id="13" name="Google Shape;199;p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356616" y="201168"/>
            <a:ext cx="749808" cy="749808"/>
          </a:xfrm>
          <a:prstGeom prst="rect">
            <a:avLst/>
          </a:prstGeom>
          <a:noFill/>
          <a:ln>
            <a:noFill/>
          </a:ln>
          <a:effectLst>
            <a:outerShdw blurRad="50800" dist="38100" dir="2700000" algn="tl" rotWithShape="0">
              <a:srgbClr val="000000">
                <a:alpha val="40000"/>
              </a:srgbClr>
            </a:outerShdw>
          </a:effectLst>
        </p:spPr>
      </p:pic>
      <p:sp>
        <p:nvSpPr>
          <p:cNvPr id="15"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328</a:t>
            </a:r>
            <a:endParaRPr i="1" dirty="0">
              <a:latin typeface="Calibri"/>
              <a:ea typeface="Calibri"/>
              <a:cs typeface="Calibri"/>
              <a:sym typeface="Calibri"/>
            </a:endParaRPr>
          </a:p>
        </p:txBody>
      </p:sp>
      <p:pic>
        <p:nvPicPr>
          <p:cNvPr id="16"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674437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5B857E21-14F1-9C47-B2E8-32DB537DBF85}"/>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mc:Choice xmlns:a14="http://schemas.microsoft.com/office/drawing/2010/main" Requires="a14">
          <p:sp>
            <p:nvSpPr>
              <p:cNvPr id="8" name="Google Shape;179;p5"/>
              <p:cNvSpPr txBox="1"/>
              <p:nvPr/>
            </p:nvSpPr>
            <p:spPr>
              <a:xfrm>
                <a:off x="914400" y="487736"/>
                <a:ext cx="10515600" cy="4755108"/>
              </a:xfrm>
              <a:prstGeom prst="rect">
                <a:avLst/>
              </a:prstGeom>
              <a:noFill/>
              <a:ln>
                <a:noFill/>
              </a:ln>
            </p:spPr>
            <p:txBody>
              <a:bodyPr spcFirstLastPara="1" wrap="square" lIns="91425" tIns="45700" rIns="91425" bIns="45700" anchor="t" anchorCtr="0">
                <a:spAutoFit/>
              </a:bodyPr>
              <a:lstStyle/>
              <a:p>
                <a:pPr marL="457200" indent="-457200">
                  <a:spcAft>
                    <a:spcPts val="1800"/>
                  </a:spcAft>
                  <a:buFont typeface="+mj-lt"/>
                  <a:buAutoNum type="arabicPeriod" startAt="2"/>
                </a:pPr>
                <a:r>
                  <a:rPr lang="en-US" sz="2400" dirty="0">
                    <a:solidFill>
                      <a:schemeClr val="tx1"/>
                    </a:solidFill>
                    <a:latin typeface="Verdana" pitchFamily="34" charset="0"/>
                    <a:ea typeface="Verdana" pitchFamily="34" charset="0"/>
                    <a:cs typeface="Verdana"/>
                  </a:rPr>
                  <a:t>A sporting goods store purchased baseball hats from a supplier for </a:t>
                </a:r>
                <a14:m>
                  <m:oMath xmlns:m="http://schemas.openxmlformats.org/officeDocument/2006/math">
                    <m:r>
                      <a:rPr lang="en-US" sz="2400" b="0">
                        <a:solidFill>
                          <a:schemeClr val="tx1"/>
                        </a:solidFill>
                        <a:latin typeface="Cambria Math"/>
                        <a:ea typeface="Verdana"/>
                        <a:cs typeface="Verdana"/>
                      </a:rPr>
                      <m:t>$</m:t>
                    </m:r>
                    <m:r>
                      <a:rPr lang="en-US" sz="2400" b="0" i="1">
                        <a:solidFill>
                          <a:schemeClr val="tx1"/>
                        </a:solidFill>
                        <a:latin typeface="Cambria Math"/>
                        <a:ea typeface="Verdana"/>
                        <a:cs typeface="Verdana"/>
                      </a:rPr>
                      <m:t>24</m:t>
                    </m:r>
                  </m:oMath>
                </a14:m>
                <a:r>
                  <a:rPr lang="en-US" sz="2400" dirty="0">
                    <a:solidFill>
                      <a:schemeClr val="tx1"/>
                    </a:solidFill>
                    <a:latin typeface="Verdana" pitchFamily="34" charset="0"/>
                    <a:ea typeface="Verdana" pitchFamily="34" charset="0"/>
                    <a:cs typeface="Verdana"/>
                  </a:rPr>
                  <a:t> each and marked them up to </a:t>
                </a:r>
                <a14:m>
                  <m:oMath xmlns:m="http://schemas.openxmlformats.org/officeDocument/2006/math">
                    <m:r>
                      <a:rPr lang="en-US" sz="2400" b="0">
                        <a:solidFill>
                          <a:schemeClr val="tx1"/>
                        </a:solidFill>
                        <a:latin typeface="Cambria Math"/>
                        <a:ea typeface="Verdana"/>
                        <a:cs typeface="Verdana"/>
                      </a:rPr>
                      <m:t>$</m:t>
                    </m:r>
                    <m:r>
                      <a:rPr lang="en-US" sz="2400" b="0" i="1">
                        <a:solidFill>
                          <a:schemeClr val="tx1"/>
                        </a:solidFill>
                        <a:latin typeface="Cambria Math"/>
                        <a:ea typeface="Verdana"/>
                        <a:cs typeface="Verdana"/>
                      </a:rPr>
                      <m:t>35</m:t>
                    </m:r>
                  </m:oMath>
                </a14:m>
                <a:r>
                  <a:rPr lang="en-US" sz="2400" dirty="0">
                    <a:solidFill>
                      <a:schemeClr val="tx1"/>
                    </a:solidFill>
                    <a:latin typeface="Verdana" pitchFamily="34" charset="0"/>
                    <a:ea typeface="Verdana" pitchFamily="34" charset="0"/>
                    <a:cs typeface="Verdana"/>
                  </a:rPr>
                  <a:t>.</a:t>
                </a:r>
                <a:endParaRPr lang="en-PH" sz="2400" dirty="0">
                  <a:solidFill>
                    <a:schemeClr val="tx1"/>
                  </a:solidFill>
                  <a:latin typeface="Verdana" pitchFamily="34" charset="0"/>
                  <a:ea typeface="Verdana" pitchFamily="34" charset="0"/>
                </a:endParaRPr>
              </a:p>
              <a:p>
                <a:pPr marL="1003300" indent="-457200">
                  <a:buFont typeface="+mj-lt"/>
                  <a:buAutoNum type="alphaLcPeriod"/>
                </a:pPr>
                <a:r>
                  <a:rPr lang="en-US" sz="2400" dirty="0">
                    <a:latin typeface="Verdana" pitchFamily="34" charset="0"/>
                    <a:ea typeface="Verdana" pitchFamily="34" charset="0"/>
                    <a:cs typeface="Cambria"/>
                  </a:rPr>
                  <a:t>Calculate the percentage of the markup.</a:t>
                </a:r>
                <a:endParaRPr lang="en-PH" sz="2400" dirty="0">
                  <a:latin typeface="Verdana" pitchFamily="34" charset="0"/>
                  <a:ea typeface="Verdana" pitchFamily="34" charset="0"/>
                  <a:cs typeface="Cambria"/>
                </a:endParaRPr>
              </a:p>
              <a:p>
                <a:pPr marL="1003300" indent="-457200">
                  <a:buFont typeface="+mj-lt"/>
                  <a:buAutoNum type="alphaLcPeriod"/>
                </a:pPr>
                <a:endParaRPr lang="en-US" sz="2400" dirty="0">
                  <a:latin typeface="Verdana" pitchFamily="34" charset="0"/>
                  <a:ea typeface="Verdana" pitchFamily="34" charset="0"/>
                  <a:cs typeface="Cambria"/>
                </a:endParaRPr>
              </a:p>
              <a:p>
                <a:pPr marL="1003300" indent="-457200">
                  <a:buFont typeface="+mj-lt"/>
                  <a:buAutoNum type="alphaLcPeriod"/>
                </a:pPr>
                <a:endParaRPr lang="en-US" sz="2400" dirty="0">
                  <a:latin typeface="Verdana" pitchFamily="34" charset="0"/>
                  <a:ea typeface="Verdana" pitchFamily="34" charset="0"/>
                  <a:cs typeface="Cambria"/>
                </a:endParaRPr>
              </a:p>
              <a:p>
                <a:pPr marL="1003300" indent="-457200">
                  <a:buFont typeface="+mj-lt"/>
                  <a:buAutoNum type="alphaLcPeriod"/>
                </a:pPr>
                <a:r>
                  <a:rPr lang="en-US" sz="2400" dirty="0">
                    <a:latin typeface="Verdana" pitchFamily="34" charset="0"/>
                    <a:ea typeface="Verdana" pitchFamily="34" charset="0"/>
                    <a:cs typeface="Cambria"/>
                  </a:rPr>
                  <a:t>A customer orders </a:t>
                </a:r>
                <a14:m>
                  <m:oMath xmlns:m="http://schemas.openxmlformats.org/officeDocument/2006/math">
                    <m:r>
                      <a:rPr lang="en-US" sz="2400" i="1">
                        <a:latin typeface="Cambria Math"/>
                        <a:ea typeface="Cambria"/>
                        <a:cs typeface="Cambria"/>
                      </a:rPr>
                      <m:t>4</m:t>
                    </m:r>
                  </m:oMath>
                </a14:m>
                <a:r>
                  <a:rPr lang="en-US" sz="2400" dirty="0">
                    <a:latin typeface="Verdana" pitchFamily="34" charset="0"/>
                    <a:ea typeface="Verdana" pitchFamily="34" charset="0"/>
                    <a:cs typeface="Cambria"/>
                  </a:rPr>
                  <a:t> baseball hats from the store online. What is the subtotal of the </a:t>
                </a:r>
                <a14:m>
                  <m:oMath xmlns:m="http://schemas.openxmlformats.org/officeDocument/2006/math">
                    <m:r>
                      <a:rPr lang="en-US" sz="2400" i="1">
                        <a:latin typeface="Cambria Math"/>
                        <a:ea typeface="Cambria"/>
                        <a:cs typeface="Cambria"/>
                      </a:rPr>
                      <m:t>4</m:t>
                    </m:r>
                  </m:oMath>
                </a14:m>
                <a:r>
                  <a:rPr lang="en-US" sz="2400" dirty="0">
                    <a:latin typeface="Verdana" pitchFamily="34" charset="0"/>
                    <a:ea typeface="Verdana" pitchFamily="34" charset="0"/>
                    <a:cs typeface="Cambria"/>
                  </a:rPr>
                  <a:t> hats?</a:t>
                </a:r>
                <a:endParaRPr lang="en-PH" sz="2400" dirty="0">
                  <a:latin typeface="Verdana" pitchFamily="34" charset="0"/>
                  <a:ea typeface="Verdana" pitchFamily="34" charset="0"/>
                  <a:cs typeface="Cambria"/>
                </a:endParaRPr>
              </a:p>
              <a:p>
                <a:pPr marL="1003300" indent="-457200">
                  <a:buFont typeface="+mj-lt"/>
                  <a:buAutoNum type="alphaLcPeriod"/>
                </a:pPr>
                <a:endParaRPr lang="en-US" sz="2400" dirty="0">
                  <a:latin typeface="Verdana" pitchFamily="34" charset="0"/>
                  <a:ea typeface="Verdana" pitchFamily="34" charset="0"/>
                  <a:cs typeface="Cambria"/>
                </a:endParaRPr>
              </a:p>
              <a:p>
                <a:pPr marL="1003300" indent="-457200">
                  <a:buFont typeface="+mj-lt"/>
                  <a:buAutoNum type="alphaLcPeriod"/>
                </a:pPr>
                <a:endParaRPr lang="en-US" sz="2400" dirty="0">
                  <a:latin typeface="Verdana" pitchFamily="34" charset="0"/>
                  <a:ea typeface="Verdana" pitchFamily="34" charset="0"/>
                  <a:cs typeface="Cambria"/>
                </a:endParaRPr>
              </a:p>
              <a:p>
                <a:pPr marL="1003300" indent="-457200">
                  <a:buFont typeface="+mj-lt"/>
                  <a:buAutoNum type="alphaLcPeriod"/>
                </a:pPr>
                <a:r>
                  <a:rPr lang="en-US" sz="2400" dirty="0">
                    <a:latin typeface="Verdana" pitchFamily="34" charset="0"/>
                    <a:ea typeface="Verdana" pitchFamily="34" charset="0"/>
                    <a:cs typeface="Cambria"/>
                  </a:rPr>
                  <a:t>If the sales tax is </a:t>
                </a:r>
                <a14:m>
                  <m:oMath xmlns:m="http://schemas.openxmlformats.org/officeDocument/2006/math">
                    <m:r>
                      <a:rPr lang="en-US" sz="2400" i="1">
                        <a:latin typeface="Cambria Math"/>
                        <a:ea typeface="Cambria"/>
                        <a:cs typeface="Cambria"/>
                      </a:rPr>
                      <m:t>6.25%</m:t>
                    </m:r>
                  </m:oMath>
                </a14:m>
                <a:r>
                  <a:rPr lang="en-US" sz="2400" dirty="0">
                    <a:latin typeface="Verdana" pitchFamily="34" charset="0"/>
                    <a:ea typeface="Verdana" pitchFamily="34" charset="0"/>
                    <a:cs typeface="Cambria"/>
                  </a:rPr>
                  <a:t> of the subtotal and there is a </a:t>
                </a:r>
                <a14:m>
                  <m:oMath xmlns:m="http://schemas.openxmlformats.org/officeDocument/2006/math">
                    <m:r>
                      <a:rPr lang="en-US" sz="2400" i="1">
                        <a:latin typeface="Cambria Math"/>
                        <a:ea typeface="Cambria"/>
                        <a:cs typeface="Cambria"/>
                      </a:rPr>
                      <m:t>$7.00</m:t>
                    </m:r>
                  </m:oMath>
                </a14:m>
                <a:r>
                  <a:rPr lang="en-US" sz="2400" dirty="0">
                    <a:latin typeface="Verdana" pitchFamily="34" charset="0"/>
                    <a:ea typeface="Verdana" pitchFamily="34" charset="0"/>
                    <a:cs typeface="Cambria"/>
                  </a:rPr>
                  <a:t> shipping fee applied after tax, what is the total amount the customer paid?</a:t>
                </a:r>
                <a:endParaRPr lang="en-PH" sz="2400" dirty="0">
                  <a:latin typeface="Verdana" pitchFamily="34" charset="0"/>
                  <a:ea typeface="Verdana" pitchFamily="34" charset="0"/>
                  <a:cs typeface="Cambria"/>
                </a:endParaRPr>
              </a:p>
            </p:txBody>
          </p:sp>
        </mc:Choice>
        <mc:Fallback>
          <p:sp>
            <p:nvSpPr>
              <p:cNvPr id="8" name="Google Shape;179;p5"/>
              <p:cNvSpPr txBox="1">
                <a:spLocks noRot="1" noChangeAspect="1" noMove="1" noResize="1" noEditPoints="1" noAdjustHandles="1" noChangeArrowheads="1" noChangeShapeType="1" noTextEdit="1"/>
              </p:cNvSpPr>
              <p:nvPr/>
            </p:nvSpPr>
            <p:spPr>
              <a:xfrm>
                <a:off x="914400" y="487736"/>
                <a:ext cx="10515600" cy="4755108"/>
              </a:xfrm>
              <a:prstGeom prst="rect">
                <a:avLst/>
              </a:prstGeom>
              <a:blipFill>
                <a:blip r:embed="rId3"/>
                <a:stretch>
                  <a:fillRect l="-965" t="-1067" r="-483" b="-2133"/>
                </a:stretch>
              </a:blipFill>
              <a:ln>
                <a:noFill/>
              </a:ln>
            </p:spPr>
            <p:txBody>
              <a:bodyPr/>
              <a:lstStyle/>
              <a:p>
                <a:r>
                  <a:rPr lang="en-US">
                    <a:noFill/>
                  </a:rPr>
                  <a:t> </a:t>
                </a:r>
              </a:p>
            </p:txBody>
          </p:sp>
        </mc:Fallback>
      </mc:AlternateContent>
      <p:sp>
        <p:nvSpPr>
          <p:cNvPr id="9"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328</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1348416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Google Shape;179;p5"/>
              <p:cNvSpPr txBox="1"/>
              <p:nvPr/>
            </p:nvSpPr>
            <p:spPr>
              <a:xfrm>
                <a:off x="914400" y="487736"/>
                <a:ext cx="10515600" cy="1569620"/>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3"/>
                </a:pPr>
                <a:r>
                  <a:rPr lang="en-US" sz="2400" dirty="0">
                    <a:latin typeface="Verdana"/>
                    <a:ea typeface="Cambria"/>
                    <a:cs typeface="Cambria"/>
                  </a:rPr>
                  <a:t>Leilani found a </a:t>
                </a:r>
                <a14:m>
                  <m:oMath xmlns:m="http://schemas.openxmlformats.org/officeDocument/2006/math">
                    <m:r>
                      <a:rPr lang="en-US" sz="2400" i="1">
                        <a:latin typeface="Cambria Math"/>
                        <a:ea typeface="Cambria"/>
                        <a:cs typeface="Cambria"/>
                      </a:rPr>
                      <m:t>30%</m:t>
                    </m:r>
                  </m:oMath>
                </a14:m>
                <a:r>
                  <a:rPr lang="en-US" sz="2400" dirty="0">
                    <a:latin typeface="Verdana"/>
                    <a:ea typeface="Cambria"/>
                    <a:cs typeface="Cambria"/>
                  </a:rPr>
                  <a:t> off discount code for an NXT True Hybrid Surfboard. The original cost of the surfboard is </a:t>
                </a:r>
                <a14:m>
                  <m:oMath xmlns:m="http://schemas.openxmlformats.org/officeDocument/2006/math">
                    <m:r>
                      <a:rPr lang="en-US" sz="2400" i="1">
                        <a:latin typeface="Cambria Math"/>
                        <a:ea typeface="Cambria"/>
                        <a:cs typeface="Cambria"/>
                      </a:rPr>
                      <m:t>$700</m:t>
                    </m:r>
                  </m:oMath>
                </a14:m>
                <a:r>
                  <a:rPr lang="en-US" sz="2400" dirty="0">
                    <a:latin typeface="Verdana"/>
                    <a:ea typeface="Cambria"/>
                    <a:cs typeface="Cambria"/>
                  </a:rPr>
                  <a:t>. If the company does not charge tax but instead charges a </a:t>
                </a:r>
                <a14:m>
                  <m:oMath xmlns:m="http://schemas.openxmlformats.org/officeDocument/2006/math">
                    <m:r>
                      <a:rPr lang="en-US" sz="2400" i="1">
                        <a:latin typeface="Cambria Math"/>
                        <a:ea typeface="Cambria"/>
                        <a:cs typeface="Cambria"/>
                      </a:rPr>
                      <m:t>$150</m:t>
                    </m:r>
                  </m:oMath>
                </a14:m>
                <a:r>
                  <a:rPr lang="en-US" sz="2400" dirty="0">
                    <a:latin typeface="Verdana"/>
                    <a:ea typeface="Cambria"/>
                    <a:cs typeface="Cambria"/>
                  </a:rPr>
                  <a:t> shipping fee, how much does the surfboard cost in total?</a:t>
                </a:r>
                <a:endParaRPr lang="en-PH" sz="1600" dirty="0">
                  <a:latin typeface="Cambria"/>
                  <a:ea typeface="Cambria"/>
                  <a:cs typeface="Cambria"/>
                </a:endParaRPr>
              </a:p>
            </p:txBody>
          </p:sp>
        </mc:Choice>
        <mc:Fallback xmlns="">
          <p:sp>
            <p:nvSpPr>
              <p:cNvPr id="7" name="Google Shape;179;p5"/>
              <p:cNvSpPr txBox="1">
                <a:spLocks noRot="1" noChangeAspect="1" noMove="1" noResize="1" noEditPoints="1" noAdjustHandles="1" noChangeArrowheads="1" noChangeShapeType="1" noTextEdit="1"/>
              </p:cNvSpPr>
              <p:nvPr/>
            </p:nvSpPr>
            <p:spPr>
              <a:xfrm>
                <a:off x="914400" y="487736"/>
                <a:ext cx="10515600" cy="1569620"/>
              </a:xfrm>
              <a:prstGeom prst="rect">
                <a:avLst/>
              </a:prstGeom>
              <a:blipFill rotWithShape="1">
                <a:blip r:embed="rId3"/>
                <a:stretch>
                  <a:fillRect l="-928" t="-3502" b="-7782"/>
                </a:stretch>
              </a:blipFill>
              <a:ln>
                <a:noFill/>
              </a:ln>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5B857E21-14F1-9C47-B2E8-32DB537DBF85}"/>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9"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329</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6138433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329</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790839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 name="Google Shape;320;p19"/>
              <p:cNvSpPr txBox="1"/>
              <p:nvPr/>
            </p:nvSpPr>
            <p:spPr>
              <a:xfrm>
                <a:off x="914399" y="1244512"/>
                <a:ext cx="10616185" cy="4426813"/>
              </a:xfrm>
              <a:prstGeom prst="rect">
                <a:avLst/>
              </a:prstGeom>
              <a:noFill/>
              <a:ln>
                <a:noFill/>
              </a:ln>
            </p:spPr>
            <p:txBody>
              <a:bodyPr spcFirstLastPara="1" wrap="square" lIns="91425" tIns="45700" rIns="91425" bIns="45700" anchor="t" anchorCtr="0">
                <a:spAutoFit/>
              </a:bodyPr>
              <a:lstStyle/>
              <a:p>
                <a:pPr marL="457200" indent="-457200">
                  <a:spcAft>
                    <a:spcPts val="1200"/>
                  </a:spcAft>
                  <a:buSzPct val="100000"/>
                  <a:buFont typeface="+mj-lt"/>
                  <a:buAutoNum type="arabicPeriod"/>
                </a:pPr>
                <a:r>
                  <a:rPr lang="en-US" sz="2000" dirty="0">
                    <a:latin typeface="Verdana" pitchFamily="34" charset="0"/>
                    <a:ea typeface="Verdana" pitchFamily="34" charset="0"/>
                    <a:cs typeface="Cambria"/>
                  </a:rPr>
                  <a:t>A car dealership pays a wholesale price of </a:t>
                </a:r>
                <a:br>
                  <a:rPr lang="en-US" sz="2000" dirty="0">
                    <a:latin typeface="Verdana" pitchFamily="34" charset="0"/>
                    <a:ea typeface="Verdana" pitchFamily="34" charset="0"/>
                    <a:cs typeface="Cambria"/>
                  </a:rPr>
                </a:br>
                <a14:m>
                  <m:oMath xmlns:m="http://schemas.openxmlformats.org/officeDocument/2006/math">
                    <m:r>
                      <a:rPr lang="en-US" sz="2000" i="1">
                        <a:latin typeface="Cambria Math"/>
                        <a:ea typeface="Verdana"/>
                        <a:cs typeface="Verdana"/>
                      </a:rPr>
                      <m:t>$12,000 </m:t>
                    </m:r>
                  </m:oMath>
                </a14:m>
                <a:r>
                  <a:rPr lang="en-US" sz="2000" dirty="0">
                    <a:latin typeface="Verdana" pitchFamily="34" charset="0"/>
                    <a:ea typeface="Verdana" pitchFamily="34" charset="0"/>
                    <a:cs typeface="Cambria"/>
                  </a:rPr>
                  <a:t>to purchase a vehicle. The car </a:t>
                </a:r>
                <a:br>
                  <a:rPr lang="en-US" sz="2000" dirty="0">
                    <a:latin typeface="Verdana" pitchFamily="34" charset="0"/>
                    <a:ea typeface="Verdana" pitchFamily="34" charset="0"/>
                    <a:cs typeface="Cambria"/>
                  </a:rPr>
                </a:br>
                <a:r>
                  <a:rPr lang="en-US" sz="2000" dirty="0">
                    <a:latin typeface="Verdana" pitchFamily="34" charset="0"/>
                    <a:ea typeface="Verdana" pitchFamily="34" charset="0"/>
                    <a:cs typeface="Cambria"/>
                  </a:rPr>
                  <a:t>dealership wants to make a </a:t>
                </a:r>
                <a14:m>
                  <m:oMath xmlns:m="http://schemas.openxmlformats.org/officeDocument/2006/math">
                    <m:r>
                      <a:rPr lang="en-US" sz="2000" i="1">
                        <a:latin typeface="Cambria Math"/>
                        <a:ea typeface="Verdana"/>
                        <a:cs typeface="Verdana"/>
                      </a:rPr>
                      <m:t>32% </m:t>
                    </m:r>
                  </m:oMath>
                </a14:m>
                <a:r>
                  <a:rPr lang="en-US" sz="2000" dirty="0">
                    <a:latin typeface="Verdana" pitchFamily="34" charset="0"/>
                    <a:ea typeface="Verdana" pitchFamily="34" charset="0"/>
                    <a:cs typeface="Cambria"/>
                  </a:rPr>
                  <a:t>profit. </a:t>
                </a:r>
                <a:br>
                  <a:rPr lang="en-US" sz="2000" dirty="0">
                    <a:latin typeface="Verdana" pitchFamily="34" charset="0"/>
                    <a:ea typeface="Verdana" pitchFamily="34" charset="0"/>
                    <a:cs typeface="Cambria"/>
                  </a:rPr>
                </a:br>
                <a:endParaRPr lang="en-US" sz="2000" dirty="0">
                  <a:latin typeface="Verdana" pitchFamily="34" charset="0"/>
                  <a:ea typeface="Verdana" pitchFamily="34" charset="0"/>
                  <a:cs typeface="Cambria"/>
                </a:endParaRPr>
              </a:p>
              <a:p>
                <a:pPr marL="893763" indent="-457200">
                  <a:spcAft>
                    <a:spcPts val="1200"/>
                  </a:spcAft>
                  <a:buSzPct val="100000"/>
                  <a:buFont typeface="+mj-lt"/>
                  <a:buAutoNum type="alphaLcPeriod"/>
                </a:pPr>
                <a:r>
                  <a:rPr lang="en-US" sz="2000" dirty="0">
                    <a:latin typeface="Verdana" pitchFamily="34" charset="0"/>
                    <a:ea typeface="Verdana" pitchFamily="34" charset="0"/>
                    <a:cs typeface="Times New Roman"/>
                  </a:rPr>
                  <a:t>How much money is added to the </a:t>
                </a:r>
                <a:br>
                  <a:rPr lang="en-US" sz="2000" dirty="0">
                    <a:latin typeface="Verdana" pitchFamily="34" charset="0"/>
                    <a:ea typeface="Verdana" pitchFamily="34" charset="0"/>
                    <a:cs typeface="Times New Roman"/>
                  </a:rPr>
                </a:br>
                <a:r>
                  <a:rPr lang="en-US" sz="2000" dirty="0">
                    <a:latin typeface="Verdana" pitchFamily="34" charset="0"/>
                    <a:ea typeface="Verdana" pitchFamily="34" charset="0"/>
                    <a:cs typeface="Times New Roman"/>
                  </a:rPr>
                  <a:t>wholesale price to make a </a:t>
                </a:r>
                <a14:m>
                  <m:oMath xmlns:m="http://schemas.openxmlformats.org/officeDocument/2006/math">
                    <m:r>
                      <a:rPr lang="en-US" sz="2000" i="1">
                        <a:latin typeface="Cambria Math"/>
                        <a:ea typeface="Times New Roman"/>
                        <a:cs typeface="Times New Roman"/>
                      </a:rPr>
                      <m:t>32%</m:t>
                    </m:r>
                  </m:oMath>
                </a14:m>
                <a:r>
                  <a:rPr lang="en-US" sz="2000" dirty="0">
                    <a:latin typeface="Verdana" pitchFamily="34" charset="0"/>
                    <a:ea typeface="Verdana" pitchFamily="34" charset="0"/>
                    <a:cs typeface="Times New Roman"/>
                  </a:rPr>
                  <a:t> profit? </a:t>
                </a:r>
              </a:p>
              <a:p>
                <a:pPr marL="914400" lvl="1" indent="-457200">
                  <a:buFont typeface="+mj-lt"/>
                  <a:buAutoNum type="alphaLcPeriod"/>
                </a:pPr>
                <a:endParaRPr lang="en-PH" sz="2000" dirty="0">
                  <a:latin typeface="Verdana" pitchFamily="34" charset="0"/>
                  <a:ea typeface="Verdana" pitchFamily="34" charset="0"/>
                  <a:cs typeface="Times New Roman"/>
                </a:endParaRPr>
              </a:p>
              <a:p>
                <a:pPr marL="914400" lvl="1" indent="-457200">
                  <a:buFont typeface="+mj-lt"/>
                  <a:buAutoNum type="alphaLcPeriod"/>
                </a:pPr>
                <a:endParaRPr lang="en-PH" sz="2000" dirty="0">
                  <a:latin typeface="Verdana" pitchFamily="34" charset="0"/>
                  <a:ea typeface="Verdana" pitchFamily="34" charset="0"/>
                  <a:cs typeface="Times New Roman"/>
                </a:endParaRPr>
              </a:p>
              <a:p>
                <a:pPr marL="914400" lvl="1" indent="-457200">
                  <a:buFont typeface="+mj-lt"/>
                  <a:buAutoNum type="alphaLcPeriod" startAt="2"/>
                </a:pPr>
                <a:r>
                  <a:rPr lang="en-US" sz="2000" dirty="0">
                    <a:latin typeface="Verdana" pitchFamily="34" charset="0"/>
                    <a:ea typeface="Verdana" pitchFamily="34" charset="0"/>
                    <a:cs typeface="Times New Roman"/>
                  </a:rPr>
                  <a:t>After the markup, what is the total retail price of the vehicle?</a:t>
                </a:r>
              </a:p>
              <a:p>
                <a:pPr marL="914400" lvl="1" indent="-457200">
                  <a:buFont typeface="+mj-lt"/>
                  <a:buAutoNum type="alphaLcPeriod" startAt="2"/>
                </a:pPr>
                <a:endParaRPr lang="en-PH" sz="2000" dirty="0">
                  <a:latin typeface="Verdana" pitchFamily="34" charset="0"/>
                  <a:ea typeface="Verdana" pitchFamily="34" charset="0"/>
                  <a:cs typeface="Times New Roman"/>
                </a:endParaRPr>
              </a:p>
              <a:p>
                <a:pPr marL="914400" lvl="1" indent="-457200">
                  <a:buFont typeface="+mj-lt"/>
                  <a:buAutoNum type="alphaLcPeriod" startAt="2"/>
                </a:pPr>
                <a:endParaRPr lang="en-PH" sz="2000" dirty="0">
                  <a:latin typeface="Verdana" pitchFamily="34" charset="0"/>
                  <a:ea typeface="Verdana" pitchFamily="34" charset="0"/>
                  <a:cs typeface="Times New Roman"/>
                </a:endParaRPr>
              </a:p>
              <a:p>
                <a:pPr marL="914400" lvl="1" indent="-457200">
                  <a:spcBef>
                    <a:spcPts val="180"/>
                  </a:spcBef>
                  <a:buFont typeface="+mj-lt"/>
                  <a:buAutoNum type="alphaLcPeriod" startAt="2"/>
                </a:pPr>
                <a:r>
                  <a:rPr lang="en-US" sz="2000" dirty="0">
                    <a:latin typeface="Verdana" pitchFamily="34" charset="0"/>
                    <a:ea typeface="Verdana" pitchFamily="34" charset="0"/>
                    <a:cs typeface="Times New Roman"/>
                  </a:rPr>
                  <a:t>The sales tax in the city it is sold is </a:t>
                </a:r>
                <a14:m>
                  <m:oMath xmlns:m="http://schemas.openxmlformats.org/officeDocument/2006/math">
                    <m:r>
                      <a:rPr lang="en-US" sz="2000" i="1">
                        <a:latin typeface="Cambria Math"/>
                        <a:ea typeface="Times New Roman"/>
                        <a:cs typeface="Times New Roman"/>
                      </a:rPr>
                      <m:t>7.5%.</m:t>
                    </m:r>
                  </m:oMath>
                </a14:m>
                <a:r>
                  <a:rPr lang="en-US" sz="2000" dirty="0">
                    <a:latin typeface="Verdana" pitchFamily="34" charset="0"/>
                    <a:ea typeface="Verdana" pitchFamily="34" charset="0"/>
                    <a:cs typeface="Times New Roman"/>
                  </a:rPr>
                  <a:t> After tax, what will the customer pay for the car?</a:t>
                </a:r>
                <a:endParaRPr lang="en-PH" sz="2000" dirty="0">
                  <a:latin typeface="Verdana" pitchFamily="34" charset="0"/>
                  <a:ea typeface="Verdana" pitchFamily="34" charset="0"/>
                  <a:cs typeface="Times New Roman"/>
                </a:endParaRPr>
              </a:p>
            </p:txBody>
          </p:sp>
        </mc:Choice>
        <mc:Fallback xmlns="">
          <p:sp>
            <p:nvSpPr>
              <p:cNvPr id="15" name="Google Shape;320;p19"/>
              <p:cNvSpPr txBox="1">
                <a:spLocks noRot="1" noChangeAspect="1" noMove="1" noResize="1" noEditPoints="1" noAdjustHandles="1" noChangeArrowheads="1" noChangeShapeType="1" noTextEdit="1"/>
              </p:cNvSpPr>
              <p:nvPr/>
            </p:nvSpPr>
            <p:spPr>
              <a:xfrm>
                <a:off x="914399" y="1244512"/>
                <a:ext cx="10616185" cy="4426813"/>
              </a:xfrm>
              <a:prstGeom prst="rect">
                <a:avLst/>
              </a:prstGeom>
              <a:blipFill rotWithShape="1">
                <a:blip r:embed="rId3"/>
                <a:stretch>
                  <a:fillRect l="-631" t="-826" r="-976" b="-1653"/>
                </a:stretch>
              </a:blipFill>
              <a:ln>
                <a:noFill/>
              </a:ln>
            </p:spPr>
            <p:txBody>
              <a:bodyPr/>
              <a:lstStyle/>
              <a:p>
                <a:r>
                  <a:rPr lang="en-PH">
                    <a:noFill/>
                  </a:rPr>
                  <a:t> </a:t>
                </a:r>
              </a:p>
            </p:txBody>
          </p:sp>
        </mc:Fallback>
      </mc:AlternateContent>
      <p:sp>
        <p:nvSpPr>
          <p:cNvPr id="8" name="Google Shape;278;g104476d1465_1_17">
            <a:extLst>
              <a:ext uri="{FF2B5EF4-FFF2-40B4-BE49-F238E27FC236}">
                <a16:creationId xmlns:a16="http://schemas.microsoft.com/office/drawing/2014/main" id="{EDD7E546-9334-CD4B-9098-7FA33B42DB04}"/>
              </a:ext>
            </a:extLst>
          </p:cNvPr>
          <p:cNvSpPr/>
          <p:nvPr/>
        </p:nvSpPr>
        <p:spPr>
          <a:xfrm>
            <a:off x="5"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10" name="Picture" descr="A picture containing car, outdoor, parked, orange&#10;&#10;Description automatically generated"/>
          <p:cNvPicPr/>
          <p:nvPr/>
        </p:nvPicPr>
        <p:blipFill>
          <a:blip r:embed="rId4" cstate="print">
            <a:extLst>
              <a:ext uri="{28A0092B-C50C-407E-A947-70E740481C1C}">
                <a14:useLocalDpi xmlns:a14="http://schemas.microsoft.com/office/drawing/2010/main"/>
              </a:ext>
            </a:extLst>
          </a:blip>
          <a:stretch>
            <a:fillRect/>
          </a:stretch>
        </p:blipFill>
        <p:spPr bwMode="auto">
          <a:xfrm>
            <a:off x="7573537" y="1244512"/>
            <a:ext cx="3957047" cy="2146980"/>
          </a:xfrm>
          <a:prstGeom prst="rect">
            <a:avLst/>
          </a:prstGeom>
          <a:noFill/>
          <a:ln w="9525">
            <a:noFill/>
            <a:headEnd/>
            <a:tailEnd/>
          </a:ln>
        </p:spPr>
      </p:pic>
      <p:sp>
        <p:nvSpPr>
          <p:cNvPr id="11" name="Google Shape;428;g103996e1364_0_428">
            <a:extLst>
              <a:ext uri="{FF2B5EF4-FFF2-40B4-BE49-F238E27FC236}">
                <a16:creationId xmlns:a16="http://schemas.microsoft.com/office/drawing/2014/main" id="{07112538-C7A8-8B4A-B739-C3032B04086A}"/>
              </a:ext>
            </a:extLst>
          </p:cNvPr>
          <p:cNvSpPr txBox="1">
            <a:spLocks/>
          </p:cNvSpPr>
          <p:nvPr/>
        </p:nvSpPr>
        <p:spPr>
          <a:xfrm>
            <a:off x="1237332"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7.7.4 Your Turn!</a:t>
            </a:r>
          </a:p>
        </p:txBody>
      </p:sp>
      <p:pic>
        <p:nvPicPr>
          <p:cNvPr id="14"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5">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6"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329</a:t>
            </a:r>
            <a:endParaRPr i="1" dirty="0">
              <a:latin typeface="Calibri"/>
              <a:ea typeface="Calibri"/>
              <a:cs typeface="Calibri"/>
              <a:sym typeface="Calibri"/>
            </a:endParaRPr>
          </a:p>
        </p:txBody>
      </p:sp>
      <p:pic>
        <p:nvPicPr>
          <p:cNvPr id="17"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101299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Google Shape;179;p5"/>
              <p:cNvSpPr txBox="1"/>
              <p:nvPr/>
            </p:nvSpPr>
            <p:spPr>
              <a:xfrm>
                <a:off x="914400" y="487736"/>
                <a:ext cx="5648325" cy="4683293"/>
              </a:xfrm>
              <a:prstGeom prst="rect">
                <a:avLst/>
              </a:prstGeom>
              <a:noFill/>
              <a:ln>
                <a:noFill/>
              </a:ln>
            </p:spPr>
            <p:txBody>
              <a:bodyPr spcFirstLastPara="1" wrap="square" lIns="91425" tIns="45700" rIns="91425" bIns="45700" anchor="t" anchorCtr="0">
                <a:spAutoFit/>
              </a:bodyPr>
              <a:lstStyle/>
              <a:p>
                <a:pPr marL="457200" indent="-457200">
                  <a:spcAft>
                    <a:spcPts val="1200"/>
                  </a:spcAft>
                  <a:buSzPct val="100000"/>
                  <a:buFont typeface="+mj-lt"/>
                  <a:buAutoNum type="arabicPeriod" startAt="2"/>
                </a:pPr>
                <a:r>
                  <a:rPr lang="en-US" sz="2000" dirty="0">
                    <a:latin typeface="Verdana" pitchFamily="34" charset="0"/>
                    <a:ea typeface="Verdana" pitchFamily="34" charset="0"/>
                    <a:cs typeface="Cambria"/>
                  </a:rPr>
                  <a:t>The table shows the pre-tax cost of items at a convenience store where the sales tax rate is </a:t>
                </a:r>
                <a14:m>
                  <m:oMath xmlns:m="http://schemas.openxmlformats.org/officeDocument/2006/math">
                    <m:r>
                      <a:rPr lang="en-US" sz="2000" i="1">
                        <a:latin typeface="Cambria Math"/>
                        <a:ea typeface="Cambria"/>
                        <a:cs typeface="Cambria"/>
                      </a:rPr>
                      <m:t>4.6%</m:t>
                    </m:r>
                  </m:oMath>
                </a14:m>
                <a:r>
                  <a:rPr lang="en-US" sz="2000" dirty="0">
                    <a:latin typeface="Verdana" pitchFamily="34" charset="0"/>
                    <a:ea typeface="Verdana" pitchFamily="34" charset="0"/>
                    <a:cs typeface="Cambria"/>
                  </a:rPr>
                  <a:t>.</a:t>
                </a:r>
                <a:endParaRPr lang="en-PH" sz="2000" dirty="0">
                  <a:latin typeface="Verdana" pitchFamily="34" charset="0"/>
                  <a:ea typeface="Verdana" pitchFamily="34" charset="0"/>
                  <a:cs typeface="Cambria"/>
                </a:endParaRPr>
              </a:p>
              <a:p>
                <a:pPr marL="914400" lvl="1" indent="-457200">
                  <a:spcBef>
                    <a:spcPts val="180"/>
                  </a:spcBef>
                  <a:buFont typeface="+mj-lt"/>
                  <a:buAutoNum type="alphaLcPeriod"/>
                </a:pPr>
                <a:r>
                  <a:rPr lang="en-US" sz="2000" dirty="0">
                    <a:latin typeface="Verdana" pitchFamily="34" charset="0"/>
                    <a:ea typeface="Verdana" pitchFamily="34" charset="0"/>
                    <a:cs typeface="Times New Roman"/>
                  </a:rPr>
                  <a:t>Cal stopped at the convenience store and picked up a bag of ice and batteries. What was his total cost, with tax?</a:t>
                </a:r>
              </a:p>
              <a:p>
                <a:pPr marL="914400" lvl="1" indent="-457200">
                  <a:spcBef>
                    <a:spcPts val="180"/>
                  </a:spcBef>
                  <a:buFont typeface="+mj-lt"/>
                  <a:buAutoNum type="alphaLcPeriod"/>
                </a:pPr>
                <a:endParaRPr lang="en-PH" sz="2000" dirty="0">
                  <a:latin typeface="Verdana" pitchFamily="34" charset="0"/>
                  <a:ea typeface="Verdana" pitchFamily="34" charset="0"/>
                  <a:cs typeface="Times New Roman"/>
                </a:endParaRPr>
              </a:p>
              <a:p>
                <a:pPr marL="914400" lvl="1" indent="-457200">
                  <a:spcBef>
                    <a:spcPts val="180"/>
                  </a:spcBef>
                  <a:buFont typeface="+mj-lt"/>
                  <a:buAutoNum type="alphaLcPeriod"/>
                </a:pPr>
                <a:endParaRPr lang="en-PH" sz="2000" dirty="0">
                  <a:latin typeface="Verdana" pitchFamily="34" charset="0"/>
                  <a:ea typeface="Verdana" pitchFamily="34" charset="0"/>
                  <a:cs typeface="Times New Roman"/>
                </a:endParaRPr>
              </a:p>
              <a:p>
                <a:pPr marL="914400" lvl="1" indent="-457200">
                  <a:spcBef>
                    <a:spcPts val="180"/>
                  </a:spcBef>
                  <a:buFont typeface="+mj-lt"/>
                  <a:buAutoNum type="alphaLcPeriod"/>
                </a:pPr>
                <a:endParaRPr lang="en-US" sz="2000" dirty="0">
                  <a:latin typeface="Verdana" pitchFamily="34" charset="0"/>
                  <a:ea typeface="Verdana" pitchFamily="34" charset="0"/>
                  <a:cs typeface="Times New Roman"/>
                </a:endParaRPr>
              </a:p>
              <a:p>
                <a:pPr marL="914400" lvl="1" indent="-457200">
                  <a:spcBef>
                    <a:spcPts val="180"/>
                  </a:spcBef>
                  <a:buFont typeface="+mj-lt"/>
                  <a:buAutoNum type="alphaLcPeriod"/>
                </a:pPr>
                <a:r>
                  <a:rPr lang="en-US" sz="2000" dirty="0">
                    <a:latin typeface="Verdana" pitchFamily="34" charset="0"/>
                    <a:ea typeface="Verdana" pitchFamily="34" charset="0"/>
                    <a:cs typeface="Times New Roman"/>
                  </a:rPr>
                  <a:t>Ms. </a:t>
                </a:r>
                <a:r>
                  <a:rPr lang="en-US" sz="2000" dirty="0" err="1">
                    <a:latin typeface="Verdana" pitchFamily="34" charset="0"/>
                    <a:ea typeface="Verdana" pitchFamily="34" charset="0"/>
                    <a:cs typeface="Times New Roman"/>
                  </a:rPr>
                  <a:t>Isales</a:t>
                </a:r>
                <a:r>
                  <a:rPr lang="en-US" sz="2000" dirty="0">
                    <a:latin typeface="Verdana" pitchFamily="34" charset="0"/>
                    <a:ea typeface="Verdana" pitchFamily="34" charset="0"/>
                    <a:cs typeface="Times New Roman"/>
                  </a:rPr>
                  <a:t> has </a:t>
                </a:r>
                <a14:m>
                  <m:oMath xmlns:m="http://schemas.openxmlformats.org/officeDocument/2006/math">
                    <m:r>
                      <a:rPr lang="en-US" sz="2000" i="1">
                        <a:latin typeface="Cambria Math"/>
                        <a:ea typeface="Times New Roman"/>
                        <a:cs typeface="Times New Roman"/>
                      </a:rPr>
                      <m:t>$10.00</m:t>
                    </m:r>
                  </m:oMath>
                </a14:m>
                <a:r>
                  <a:rPr lang="en-US" sz="2000" dirty="0">
                    <a:latin typeface="Verdana" pitchFamily="34" charset="0"/>
                    <a:ea typeface="Verdana" pitchFamily="34" charset="0"/>
                    <a:cs typeface="Times New Roman"/>
                  </a:rPr>
                  <a:t> in her wallet. Does she have enough to buy aspirin and a candy bar? Explain your reasoning using mathematics.</a:t>
                </a:r>
                <a:endParaRPr lang="en-PH" sz="2000" dirty="0">
                  <a:latin typeface="Verdana" pitchFamily="34" charset="0"/>
                  <a:ea typeface="Verdana" pitchFamily="34" charset="0"/>
                  <a:cs typeface="Times New Roman"/>
                </a:endParaRPr>
              </a:p>
            </p:txBody>
          </p:sp>
        </mc:Choice>
        <mc:Fallback xmlns="">
          <p:sp>
            <p:nvSpPr>
              <p:cNvPr id="7" name="Google Shape;179;p5"/>
              <p:cNvSpPr txBox="1">
                <a:spLocks noRot="1" noChangeAspect="1" noMove="1" noResize="1" noEditPoints="1" noAdjustHandles="1" noChangeArrowheads="1" noChangeShapeType="1" noTextEdit="1"/>
              </p:cNvSpPr>
              <p:nvPr/>
            </p:nvSpPr>
            <p:spPr>
              <a:xfrm>
                <a:off x="914400" y="487736"/>
                <a:ext cx="5648325" cy="4683293"/>
              </a:xfrm>
              <a:prstGeom prst="rect">
                <a:avLst/>
              </a:prstGeom>
              <a:blipFill rotWithShape="1">
                <a:blip r:embed="rId3"/>
                <a:stretch>
                  <a:fillRect l="-1187" t="-781" r="-539" b="-1432"/>
                </a:stretch>
              </a:blipFill>
              <a:ln>
                <a:noFill/>
              </a:ln>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C626DD4B-AF0E-B846-831C-21AC8FD45F48}"/>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993957259"/>
                  </p:ext>
                </p:extLst>
              </p:nvPr>
            </p:nvGraphicFramePr>
            <p:xfrm>
              <a:off x="6930000" y="487736"/>
              <a:ext cx="4500000" cy="3457070"/>
            </p:xfrm>
            <a:graphic>
              <a:graphicData uri="http://schemas.openxmlformats.org/drawingml/2006/table">
                <a:tbl>
                  <a:tblPr firstRow="1" firstCol="1" lastRow="1" lastCol="1"/>
                  <a:tblGrid>
                    <a:gridCol w="2880000">
                      <a:extLst>
                        <a:ext uri="{9D8B030D-6E8A-4147-A177-3AD203B41FA5}">
                          <a16:colId xmlns:a16="http://schemas.microsoft.com/office/drawing/2014/main" val="20000"/>
                        </a:ext>
                      </a:extLst>
                    </a:gridCol>
                    <a:gridCol w="1620000">
                      <a:extLst>
                        <a:ext uri="{9D8B030D-6E8A-4147-A177-3AD203B41FA5}">
                          <a16:colId xmlns:a16="http://schemas.microsoft.com/office/drawing/2014/main" val="20001"/>
                        </a:ext>
                      </a:extLst>
                    </a:gridCol>
                  </a:tblGrid>
                  <a:tr h="433070">
                    <a:tc>
                      <a:txBody>
                        <a:bodyPr/>
                        <a:lstStyle/>
                        <a:p>
                          <a:pPr algn="ctr">
                            <a:spcAft>
                              <a:spcPts val="0"/>
                            </a:spcAft>
                          </a:pPr>
                          <a:r>
                            <a:rPr lang="en-US" sz="2000" b="1" dirty="0">
                              <a:effectLst/>
                              <a:latin typeface="Verdana" pitchFamily="34" charset="0"/>
                              <a:ea typeface="Verdana" pitchFamily="34" charset="0"/>
                              <a:cs typeface="Times New Roman"/>
                            </a:rPr>
                            <a:t>Item</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2000" b="1" dirty="0">
                              <a:effectLst/>
                              <a:latin typeface="Verdana" pitchFamily="34" charset="0"/>
                              <a:ea typeface="Verdana" pitchFamily="34" charset="0"/>
                              <a:cs typeface="Times New Roman"/>
                            </a:rPr>
                            <a:t>Cost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504000">
                    <a:tc>
                      <a:txBody>
                        <a:bodyPr/>
                        <a:lstStyle/>
                        <a:p>
                          <a:pPr algn="ctr">
                            <a:spcAft>
                              <a:spcPts val="0"/>
                            </a:spcAft>
                          </a:pPr>
                          <a:r>
                            <a:rPr lang="en-US" sz="2000" dirty="0">
                              <a:effectLst/>
                              <a:latin typeface="Verdana" pitchFamily="34" charset="0"/>
                              <a:ea typeface="Verdana" pitchFamily="34" charset="0"/>
                              <a:cs typeface="Calibri"/>
                            </a:rPr>
                            <a:t>Milk</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Calibri"/>
                                  </a:rPr>
                                  <m:t>3.75</m:t>
                                </m:r>
                              </m:oMath>
                            </m:oMathPara>
                          </a14:m>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04000">
                    <a:tc>
                      <a:txBody>
                        <a:bodyPr/>
                        <a:lstStyle/>
                        <a:p>
                          <a:pPr algn="ctr">
                            <a:spcAft>
                              <a:spcPts val="0"/>
                            </a:spcAft>
                          </a:pPr>
                          <a:r>
                            <a:rPr lang="en-US" sz="2000" dirty="0">
                              <a:effectLst/>
                              <a:latin typeface="Verdana" pitchFamily="34" charset="0"/>
                              <a:ea typeface="Verdana" pitchFamily="34" charset="0"/>
                              <a:cs typeface="Calibri"/>
                            </a:rPr>
                            <a:t>Bag of Ice</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Calibri"/>
                                  </a:rPr>
                                  <m:t>2.50</m:t>
                                </m:r>
                              </m:oMath>
                            </m:oMathPara>
                          </a14:m>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04000">
                    <a:tc>
                      <a:txBody>
                        <a:bodyPr/>
                        <a:lstStyle/>
                        <a:p>
                          <a:pPr algn="ctr">
                            <a:spcAft>
                              <a:spcPts val="0"/>
                            </a:spcAft>
                          </a:pPr>
                          <a:r>
                            <a:rPr lang="en-US" sz="2000" dirty="0">
                              <a:effectLst/>
                              <a:latin typeface="Verdana" pitchFamily="34" charset="0"/>
                              <a:ea typeface="Verdana" pitchFamily="34" charset="0"/>
                              <a:cs typeface="Calibri"/>
                            </a:rPr>
                            <a:t>Aspirin – </a:t>
                          </a:r>
                          <a14:m>
                            <m:oMath xmlns:m="http://schemas.openxmlformats.org/officeDocument/2006/math">
                              <m:r>
                                <a:rPr lang="en-US" sz="2000" i="1">
                                  <a:effectLst/>
                                  <a:latin typeface="Cambria Math"/>
                                  <a:ea typeface="Calibri"/>
                                  <a:cs typeface="Calibri"/>
                                </a:rPr>
                                <m:t>24</m:t>
                              </m:r>
                            </m:oMath>
                          </a14:m>
                          <a:r>
                            <a:rPr lang="en-US" sz="2000" dirty="0">
                              <a:effectLst/>
                              <a:latin typeface="Verdana" pitchFamily="34" charset="0"/>
                              <a:ea typeface="Verdana" pitchFamily="34" charset="0"/>
                              <a:cs typeface="Calibri"/>
                            </a:rPr>
                            <a:t> tablets</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Calibri"/>
                                  </a:rPr>
                                  <m:t>8.25</m:t>
                                </m:r>
                              </m:oMath>
                            </m:oMathPara>
                          </a14:m>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04000">
                    <a:tc>
                      <a:txBody>
                        <a:bodyPr/>
                        <a:lstStyle/>
                        <a:p>
                          <a:pPr algn="ctr">
                            <a:spcAft>
                              <a:spcPts val="0"/>
                            </a:spcAft>
                          </a:pPr>
                          <a:r>
                            <a:rPr lang="en-US" sz="2000" dirty="0">
                              <a:effectLst/>
                              <a:latin typeface="Verdana" pitchFamily="34" charset="0"/>
                              <a:ea typeface="Verdana" pitchFamily="34" charset="0"/>
                              <a:cs typeface="Calibri"/>
                            </a:rPr>
                            <a:t>Snack Mix</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Calibri"/>
                                  </a:rPr>
                                  <m:t>3.75</m:t>
                                </m:r>
                              </m:oMath>
                            </m:oMathPara>
                          </a14:m>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04000">
                    <a:tc>
                      <a:txBody>
                        <a:bodyPr/>
                        <a:lstStyle/>
                        <a:p>
                          <a:pPr algn="ctr">
                            <a:spcAft>
                              <a:spcPts val="0"/>
                            </a:spcAft>
                          </a:pPr>
                          <a:r>
                            <a:rPr lang="en-US" sz="2000" dirty="0">
                              <a:effectLst/>
                              <a:latin typeface="Verdana" pitchFamily="34" charset="0"/>
                              <a:ea typeface="Verdana" pitchFamily="34" charset="0"/>
                              <a:cs typeface="Calibri"/>
                            </a:rPr>
                            <a:t>Candy Bar</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Calibri"/>
                                  </a:rPr>
                                  <m:t>1.25</m:t>
                                </m:r>
                              </m:oMath>
                            </m:oMathPara>
                          </a14:m>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504000">
                    <a:tc>
                      <a:txBody>
                        <a:bodyPr/>
                        <a:lstStyle/>
                        <a:p>
                          <a:pPr algn="ctr">
                            <a:spcAft>
                              <a:spcPts val="0"/>
                            </a:spcAft>
                          </a:pPr>
                          <a:r>
                            <a:rPr lang="en-US" sz="2000" dirty="0">
                              <a:effectLst/>
                              <a:latin typeface="Verdana" pitchFamily="34" charset="0"/>
                              <a:ea typeface="Verdana" pitchFamily="34" charset="0"/>
                              <a:cs typeface="Calibri"/>
                            </a:rPr>
                            <a:t>Batteries</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Calibri"/>
                                  </a:rPr>
                                  <m:t>6.75</m:t>
                                </m:r>
                              </m:oMath>
                            </m:oMathPara>
                          </a14:m>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993957259"/>
                  </p:ext>
                </p:extLst>
              </p:nvPr>
            </p:nvGraphicFramePr>
            <p:xfrm>
              <a:off x="6930000" y="487736"/>
              <a:ext cx="4500000" cy="3457070"/>
            </p:xfrm>
            <a:graphic>
              <a:graphicData uri="http://schemas.openxmlformats.org/drawingml/2006/table">
                <a:tbl>
                  <a:tblPr firstRow="1" firstCol="1" lastRow="1" lastCol="1"/>
                  <a:tblGrid>
                    <a:gridCol w="2880000">
                      <a:extLst>
                        <a:ext uri="{9D8B030D-6E8A-4147-A177-3AD203B41FA5}">
                          <a16:colId xmlns="" xmlns:a16="http://schemas.microsoft.com/office/drawing/2014/main" xmlns:a14="http://schemas.microsoft.com/office/drawing/2010/main" val="20000"/>
                        </a:ext>
                      </a:extLst>
                    </a:gridCol>
                    <a:gridCol w="1620000">
                      <a:extLst>
                        <a:ext uri="{9D8B030D-6E8A-4147-A177-3AD203B41FA5}">
                          <a16:colId xmlns="" xmlns:a16="http://schemas.microsoft.com/office/drawing/2014/main" xmlns:a14="http://schemas.microsoft.com/office/drawing/2010/main" val="20001"/>
                        </a:ext>
                      </a:extLst>
                    </a:gridCol>
                  </a:tblGrid>
                  <a:tr h="433070">
                    <a:tc>
                      <a:txBody>
                        <a:bodyPr/>
                        <a:lstStyle/>
                        <a:p>
                          <a:pPr algn="ctr">
                            <a:spcAft>
                              <a:spcPts val="0"/>
                            </a:spcAft>
                          </a:pPr>
                          <a:r>
                            <a:rPr lang="en-US" sz="2000" b="1" dirty="0">
                              <a:effectLst/>
                              <a:latin typeface="Verdana" pitchFamily="34" charset="0"/>
                              <a:ea typeface="Verdana" pitchFamily="34" charset="0"/>
                              <a:cs typeface="Times New Roman"/>
                            </a:rPr>
                            <a:t>Item</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2000" b="1" dirty="0">
                              <a:effectLst/>
                              <a:latin typeface="Verdana" pitchFamily="34" charset="0"/>
                              <a:ea typeface="Verdana" pitchFamily="34" charset="0"/>
                              <a:cs typeface="Times New Roman"/>
                            </a:rPr>
                            <a:t>Cost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xmlns:a14="http://schemas.microsoft.com/office/drawing/2010/main" val="10000"/>
                      </a:ext>
                    </a:extLst>
                  </a:tr>
                  <a:tr h="504000">
                    <a:tc>
                      <a:txBody>
                        <a:bodyPr/>
                        <a:lstStyle/>
                        <a:p>
                          <a:pPr algn="ctr">
                            <a:spcAft>
                              <a:spcPts val="0"/>
                            </a:spcAft>
                          </a:pPr>
                          <a:r>
                            <a:rPr lang="en-US" sz="2000" dirty="0">
                              <a:effectLst/>
                              <a:latin typeface="Verdana" pitchFamily="34" charset="0"/>
                              <a:ea typeface="Verdana" pitchFamily="34" charset="0"/>
                              <a:cs typeface="Calibri"/>
                            </a:rPr>
                            <a:t>Milk</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77820" t="-87952" b="-508434"/>
                          </a:stretch>
                        </a:blipFill>
                      </a:tcPr>
                    </a:tc>
                    <a:extLst>
                      <a:ext uri="{0D108BD9-81ED-4DB2-BD59-A6C34878D82A}">
                        <a16:rowId xmlns="" xmlns:a16="http://schemas.microsoft.com/office/drawing/2014/main" xmlns:a14="http://schemas.microsoft.com/office/drawing/2010/main" val="10001"/>
                      </a:ext>
                    </a:extLst>
                  </a:tr>
                  <a:tr h="504000">
                    <a:tc>
                      <a:txBody>
                        <a:bodyPr/>
                        <a:lstStyle/>
                        <a:p>
                          <a:pPr algn="ctr">
                            <a:spcAft>
                              <a:spcPts val="0"/>
                            </a:spcAft>
                          </a:pPr>
                          <a:r>
                            <a:rPr lang="en-US" sz="2000" dirty="0">
                              <a:effectLst/>
                              <a:latin typeface="Verdana" pitchFamily="34" charset="0"/>
                              <a:ea typeface="Verdana" pitchFamily="34" charset="0"/>
                              <a:cs typeface="Calibri"/>
                            </a:rPr>
                            <a:t>Bag of Ice</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77820" t="-190244" b="-414634"/>
                          </a:stretch>
                        </a:blipFill>
                      </a:tcPr>
                    </a:tc>
                    <a:extLst>
                      <a:ext uri="{0D108BD9-81ED-4DB2-BD59-A6C34878D82A}">
                        <a16:rowId xmlns="" xmlns:a16="http://schemas.microsoft.com/office/drawing/2014/main" xmlns:a14="http://schemas.microsoft.com/office/drawing/2010/main" val="10002"/>
                      </a:ext>
                    </a:extLst>
                  </a:tr>
                  <a:tr h="504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12" t="-286747" r="-56356" b="-309639"/>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77820" t="-286747" b="-309639"/>
                          </a:stretch>
                        </a:blipFill>
                      </a:tcPr>
                    </a:tc>
                    <a:extLst>
                      <a:ext uri="{0D108BD9-81ED-4DB2-BD59-A6C34878D82A}">
                        <a16:rowId xmlns="" xmlns:a16="http://schemas.microsoft.com/office/drawing/2014/main" xmlns:a14="http://schemas.microsoft.com/office/drawing/2010/main" val="10003"/>
                      </a:ext>
                    </a:extLst>
                  </a:tr>
                  <a:tr h="504000">
                    <a:tc>
                      <a:txBody>
                        <a:bodyPr/>
                        <a:lstStyle/>
                        <a:p>
                          <a:pPr algn="ctr">
                            <a:spcAft>
                              <a:spcPts val="0"/>
                            </a:spcAft>
                          </a:pPr>
                          <a:r>
                            <a:rPr lang="en-US" sz="2000" dirty="0">
                              <a:effectLst/>
                              <a:latin typeface="Verdana" pitchFamily="34" charset="0"/>
                              <a:ea typeface="Verdana" pitchFamily="34" charset="0"/>
                              <a:cs typeface="Calibri"/>
                            </a:rPr>
                            <a:t>Snack Mix</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77820" t="-386747" b="-209639"/>
                          </a:stretch>
                        </a:blipFill>
                      </a:tcPr>
                    </a:tc>
                    <a:extLst>
                      <a:ext uri="{0D108BD9-81ED-4DB2-BD59-A6C34878D82A}">
                        <a16:rowId xmlns="" xmlns:a16="http://schemas.microsoft.com/office/drawing/2014/main" xmlns:a14="http://schemas.microsoft.com/office/drawing/2010/main" val="10004"/>
                      </a:ext>
                    </a:extLst>
                  </a:tr>
                  <a:tr h="504000">
                    <a:tc>
                      <a:txBody>
                        <a:bodyPr/>
                        <a:lstStyle/>
                        <a:p>
                          <a:pPr algn="ctr">
                            <a:spcAft>
                              <a:spcPts val="0"/>
                            </a:spcAft>
                          </a:pPr>
                          <a:r>
                            <a:rPr lang="en-US" sz="2000" dirty="0">
                              <a:effectLst/>
                              <a:latin typeface="Verdana" pitchFamily="34" charset="0"/>
                              <a:ea typeface="Verdana" pitchFamily="34" charset="0"/>
                              <a:cs typeface="Calibri"/>
                            </a:rPr>
                            <a:t>Candy Bar</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77820" t="-492683" b="-112195"/>
                          </a:stretch>
                        </a:blipFill>
                      </a:tcPr>
                    </a:tc>
                    <a:extLst>
                      <a:ext uri="{0D108BD9-81ED-4DB2-BD59-A6C34878D82A}">
                        <a16:rowId xmlns="" xmlns:a16="http://schemas.microsoft.com/office/drawing/2014/main" xmlns:a14="http://schemas.microsoft.com/office/drawing/2010/main" val="10005"/>
                      </a:ext>
                    </a:extLst>
                  </a:tr>
                  <a:tr h="504000">
                    <a:tc>
                      <a:txBody>
                        <a:bodyPr/>
                        <a:lstStyle/>
                        <a:p>
                          <a:pPr algn="ctr">
                            <a:spcAft>
                              <a:spcPts val="0"/>
                            </a:spcAft>
                          </a:pPr>
                          <a:r>
                            <a:rPr lang="en-US" sz="2000" dirty="0">
                              <a:effectLst/>
                              <a:latin typeface="Verdana" pitchFamily="34" charset="0"/>
                              <a:ea typeface="Verdana" pitchFamily="34" charset="0"/>
                              <a:cs typeface="Calibri"/>
                            </a:rPr>
                            <a:t>Batteries</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77820" t="-585542" b="-10843"/>
                          </a:stretch>
                        </a:blipFill>
                      </a:tcPr>
                    </a:tc>
                    <a:extLst>
                      <a:ext uri="{0D108BD9-81ED-4DB2-BD59-A6C34878D82A}">
                        <a16:rowId xmlns="" xmlns:a16="http://schemas.microsoft.com/office/drawing/2014/main" xmlns:a14="http://schemas.microsoft.com/office/drawing/2010/main" val="10006"/>
                      </a:ext>
                    </a:extLst>
                  </a:tr>
                </a:tbl>
              </a:graphicData>
            </a:graphic>
          </p:graphicFrame>
        </mc:Fallback>
      </mc:AlternateContent>
      <p:sp>
        <p:nvSpPr>
          <p:cNvPr id="9"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330</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52435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C626DD4B-AF0E-B846-831C-21AC8FD45F48}"/>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430089787"/>
                  </p:ext>
                </p:extLst>
              </p:nvPr>
            </p:nvGraphicFramePr>
            <p:xfrm>
              <a:off x="2394924" y="1773249"/>
              <a:ext cx="7812000" cy="3528000"/>
            </p:xfrm>
            <a:graphic>
              <a:graphicData uri="http://schemas.openxmlformats.org/drawingml/2006/table">
                <a:tbl>
                  <a:tblPr firstRow="1" firstCol="1" lastRow="1" lastCol="1"/>
                  <a:tblGrid>
                    <a:gridCol w="1368000">
                      <a:extLst>
                        <a:ext uri="{9D8B030D-6E8A-4147-A177-3AD203B41FA5}">
                          <a16:colId xmlns:a16="http://schemas.microsoft.com/office/drawing/2014/main" val="20000"/>
                        </a:ext>
                      </a:extLst>
                    </a:gridCol>
                    <a:gridCol w="1476000">
                      <a:extLst>
                        <a:ext uri="{9D8B030D-6E8A-4147-A177-3AD203B41FA5}">
                          <a16:colId xmlns:a16="http://schemas.microsoft.com/office/drawing/2014/main" val="20001"/>
                        </a:ext>
                      </a:extLst>
                    </a:gridCol>
                    <a:gridCol w="1332000">
                      <a:extLst>
                        <a:ext uri="{9D8B030D-6E8A-4147-A177-3AD203B41FA5}">
                          <a16:colId xmlns:a16="http://schemas.microsoft.com/office/drawing/2014/main" val="20002"/>
                        </a:ext>
                      </a:extLst>
                    </a:gridCol>
                    <a:gridCol w="1440000">
                      <a:extLst>
                        <a:ext uri="{9D8B030D-6E8A-4147-A177-3AD203B41FA5}">
                          <a16:colId xmlns:a16="http://schemas.microsoft.com/office/drawing/2014/main" val="20003"/>
                        </a:ext>
                      </a:extLst>
                    </a:gridCol>
                    <a:gridCol w="2196000">
                      <a:extLst>
                        <a:ext uri="{9D8B030D-6E8A-4147-A177-3AD203B41FA5}">
                          <a16:colId xmlns:a16="http://schemas.microsoft.com/office/drawing/2014/main" val="20004"/>
                        </a:ext>
                      </a:extLst>
                    </a:gridCol>
                  </a:tblGrid>
                  <a:tr h="828000">
                    <a:tc>
                      <a:txBody>
                        <a:bodyPr/>
                        <a:lstStyle/>
                        <a:p>
                          <a:pPr algn="ctr">
                            <a:spcBef>
                              <a:spcPts val="180"/>
                            </a:spcBef>
                            <a:spcAft>
                              <a:spcPts val="0"/>
                            </a:spcAft>
                          </a:pPr>
                          <a:r>
                            <a:rPr lang="en-US" sz="2000" b="1" dirty="0">
                              <a:effectLst/>
                              <a:latin typeface="Verdana" pitchFamily="34" charset="0"/>
                              <a:ea typeface="Verdana" pitchFamily="34" charset="0"/>
                              <a:cs typeface="Times New Roman"/>
                            </a:rPr>
                            <a:t>Party</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2000" b="1" dirty="0">
                              <a:effectLst/>
                              <a:latin typeface="Verdana" pitchFamily="34" charset="0"/>
                              <a:ea typeface="Verdana" pitchFamily="34" charset="0"/>
                              <a:cs typeface="Times New Roman"/>
                            </a:rPr>
                            <a:t>Subtotal ($)</a:t>
                          </a:r>
                          <a:endParaRPr lang="en-PH" sz="2000" dirty="0">
                            <a:effectLst/>
                            <a:latin typeface="Verdana" pitchFamily="34" charset="0"/>
                            <a:ea typeface="Verdana" pitchFamily="34" charset="0"/>
                            <a:cs typeface="Cambri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180"/>
                            </a:spcBef>
                            <a:spcAft>
                              <a:spcPts val="0"/>
                            </a:spcAft>
                          </a:pPr>
                          <a:r>
                            <a:rPr lang="en-US" sz="2000" b="1" dirty="0">
                              <a:effectLst/>
                              <a:latin typeface="Verdana" pitchFamily="34" charset="0"/>
                              <a:ea typeface="Verdana" pitchFamily="34" charset="0"/>
                              <a:cs typeface="Times New Roman"/>
                            </a:rPr>
                            <a:t>Sales Tax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180"/>
                            </a:spcBef>
                            <a:spcAft>
                              <a:spcPts val="0"/>
                            </a:spcAft>
                          </a:pPr>
                          <a:r>
                            <a:rPr lang="en-US" sz="2000" b="1" dirty="0">
                              <a:effectLst/>
                              <a:latin typeface="Verdana" pitchFamily="34" charset="0"/>
                              <a:ea typeface="Verdana" pitchFamily="34" charset="0"/>
                              <a:cs typeface="Times New Roman"/>
                            </a:rPr>
                            <a:t>Gratuity</a:t>
                          </a:r>
                          <a:endParaRPr lang="en-PH" sz="2000" dirty="0">
                            <a:effectLst/>
                            <a:latin typeface="Verdana" pitchFamily="34" charset="0"/>
                            <a:ea typeface="Verdana" pitchFamily="34" charset="0"/>
                            <a:cs typeface="Times New Roman"/>
                          </a:endParaRPr>
                        </a:p>
                        <a:p>
                          <a:pPr algn="ctr">
                            <a:spcBef>
                              <a:spcPts val="180"/>
                            </a:spcBef>
                            <a:spcAft>
                              <a:spcPts val="0"/>
                            </a:spcAft>
                          </a:pPr>
                          <a:r>
                            <a:rPr lang="en-US" sz="2000" b="1" dirty="0">
                              <a:effectLst/>
                              <a:latin typeface="Verdana" pitchFamily="34" charset="0"/>
                              <a:ea typeface="Verdana" pitchFamily="34" charset="0"/>
                              <a:cs typeface="Times New Roman"/>
                            </a:rPr>
                            <a:t>($)</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180"/>
                            </a:spcBef>
                            <a:spcAft>
                              <a:spcPts val="0"/>
                            </a:spcAft>
                          </a:pPr>
                          <a:r>
                            <a:rPr lang="en-US" sz="2000" b="1" dirty="0">
                              <a:effectLst/>
                              <a:latin typeface="Verdana" pitchFamily="34" charset="0"/>
                              <a:ea typeface="Verdana" pitchFamily="34" charset="0"/>
                              <a:cs typeface="Times New Roman"/>
                            </a:rPr>
                            <a:t>Total Amount of Bill</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900000">
                    <a:tc>
                      <a:txBody>
                        <a:bodyPr/>
                        <a:lstStyle/>
                        <a:p>
                          <a:pPr algn="ctr">
                            <a:spcBef>
                              <a:spcPts val="180"/>
                            </a:spcBef>
                            <a:spcAft>
                              <a:spcPts val="0"/>
                            </a:spcAft>
                          </a:pPr>
                          <a:r>
                            <a:rPr lang="en-US" sz="2000" dirty="0">
                              <a:effectLst/>
                              <a:latin typeface="Verdana" pitchFamily="34" charset="0"/>
                              <a:ea typeface="Verdana" pitchFamily="34" charset="0"/>
                              <a:cs typeface="Times New Roman"/>
                            </a:rPr>
                            <a:t>Flores</a:t>
                          </a:r>
                          <a:endParaRPr lang="en-PH" sz="2000" dirty="0">
                            <a:effectLst/>
                            <a:latin typeface="Verdana" pitchFamily="34" charset="0"/>
                            <a:ea typeface="Verdana" pitchFamily="34" charset="0"/>
                            <a:cs typeface="Times New Roman"/>
                          </a:endParaRPr>
                        </a:p>
                        <a:p>
                          <a:pPr algn="ctr">
                            <a:spcBef>
                              <a:spcPts val="180"/>
                            </a:spcBef>
                            <a:spcAft>
                              <a:spcPts val="0"/>
                            </a:spcAft>
                          </a:pPr>
                          <a:r>
                            <a:rPr lang="en-US" sz="2000" dirty="0">
                              <a:effectLst/>
                              <a:latin typeface="Verdana" pitchFamily="34" charset="0"/>
                              <a:ea typeface="Verdana" pitchFamily="34" charset="0"/>
                              <a:cs typeface="Times New Roman"/>
                            </a:rPr>
                            <a:t>Party</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Bef>
                              <a:spcPts val="18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Times New Roman"/>
                                    <a:cs typeface="Times New Roman"/>
                                  </a:rPr>
                                  <m:t>93.75</m:t>
                                </m:r>
                              </m:oMath>
                            </m:oMathPara>
                          </a14:m>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Bef>
                              <a:spcPts val="18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Times New Roman"/>
                                    <a:cs typeface="Times New Roman"/>
                                  </a:rPr>
                                  <m:t>5.86</m:t>
                                </m:r>
                              </m:oMath>
                            </m:oMathPara>
                          </a14:m>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Bef>
                              <a:spcPts val="180"/>
                            </a:spcBef>
                            <a:spcAft>
                              <a:spcPts val="0"/>
                            </a:spcAft>
                          </a:pPr>
                          <a:r>
                            <a:rPr lang="en-US" sz="2000">
                              <a:effectLst/>
                              <a:latin typeface="Verdana" pitchFamily="34" charset="0"/>
                              <a:ea typeface="Verdana" pitchFamily="34" charset="0"/>
                              <a:cs typeface="Times New Roman"/>
                            </a:rPr>
                            <a:t> </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Bef>
                              <a:spcPts val="180"/>
                            </a:spcBef>
                            <a:spcAft>
                              <a:spcPts val="0"/>
                            </a:spcAft>
                          </a:pPr>
                          <a:r>
                            <a:rPr lang="en-US" sz="2000">
                              <a:effectLst/>
                              <a:latin typeface="Verdana" pitchFamily="34" charset="0"/>
                              <a:ea typeface="Verdana" pitchFamily="34" charset="0"/>
                              <a:cs typeface="Times New Roman"/>
                            </a:rPr>
                            <a:t> </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900000">
                    <a:tc>
                      <a:txBody>
                        <a:bodyPr/>
                        <a:lstStyle/>
                        <a:p>
                          <a:pPr algn="ctr">
                            <a:spcBef>
                              <a:spcPts val="180"/>
                            </a:spcBef>
                            <a:spcAft>
                              <a:spcPts val="0"/>
                            </a:spcAft>
                          </a:pPr>
                          <a:r>
                            <a:rPr lang="en-US" sz="2000">
                              <a:effectLst/>
                              <a:latin typeface="Verdana" pitchFamily="34" charset="0"/>
                              <a:ea typeface="Verdana" pitchFamily="34" charset="0"/>
                              <a:cs typeface="Times New Roman"/>
                            </a:rPr>
                            <a:t>Atkinson</a:t>
                          </a:r>
                          <a:endParaRPr lang="en-PH" sz="2000">
                            <a:effectLst/>
                            <a:latin typeface="Verdana" pitchFamily="34" charset="0"/>
                            <a:ea typeface="Verdana" pitchFamily="34" charset="0"/>
                            <a:cs typeface="Times New Roman"/>
                          </a:endParaRPr>
                        </a:p>
                        <a:p>
                          <a:pPr algn="ctr">
                            <a:spcBef>
                              <a:spcPts val="180"/>
                            </a:spcBef>
                            <a:spcAft>
                              <a:spcPts val="0"/>
                            </a:spcAft>
                          </a:pPr>
                          <a:r>
                            <a:rPr lang="en-US" sz="2000">
                              <a:effectLst/>
                              <a:latin typeface="Verdana" pitchFamily="34" charset="0"/>
                              <a:ea typeface="Verdana" pitchFamily="34" charset="0"/>
                              <a:cs typeface="Times New Roman"/>
                            </a:rPr>
                            <a:t>Party</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Bef>
                              <a:spcPts val="18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176.99</m:t>
                                </m:r>
                              </m:oMath>
                            </m:oMathPara>
                          </a14:m>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Bef>
                              <a:spcPts val="180"/>
                            </a:spcBef>
                            <a:spcAft>
                              <a:spcPts val="0"/>
                            </a:spcAft>
                          </a:pPr>
                          <a:r>
                            <a:rPr lang="en-US" sz="2000" dirty="0">
                              <a:effectLst/>
                              <a:latin typeface="Verdana" pitchFamily="34" charset="0"/>
                              <a:ea typeface="Verdana" pitchFamily="34" charset="0"/>
                              <a:cs typeface="Times New Roman"/>
                            </a:rPr>
                            <a:t>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Bef>
                              <a:spcPts val="18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Times New Roman"/>
                                    <a:cs typeface="Times New Roman"/>
                                  </a:rPr>
                                  <m:t>37.17</m:t>
                                </m:r>
                              </m:oMath>
                            </m:oMathPara>
                          </a14:m>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Bef>
                              <a:spcPts val="180"/>
                            </a:spcBef>
                            <a:spcAft>
                              <a:spcPts val="0"/>
                            </a:spcAft>
                          </a:pPr>
                          <a:r>
                            <a:rPr lang="en-US" sz="2000" dirty="0">
                              <a:effectLst/>
                              <a:latin typeface="Verdana" pitchFamily="34" charset="0"/>
                              <a:ea typeface="Verdana" pitchFamily="34" charset="0"/>
                              <a:cs typeface="Times New Roman"/>
                            </a:rPr>
                            <a:t>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900000">
                    <a:tc>
                      <a:txBody>
                        <a:bodyPr/>
                        <a:lstStyle/>
                        <a:p>
                          <a:pPr algn="ctr">
                            <a:spcBef>
                              <a:spcPts val="180"/>
                            </a:spcBef>
                            <a:spcAft>
                              <a:spcPts val="0"/>
                            </a:spcAft>
                          </a:pPr>
                          <a:r>
                            <a:rPr lang="en-US" sz="2000" dirty="0" err="1">
                              <a:effectLst/>
                              <a:latin typeface="Verdana" pitchFamily="34" charset="0"/>
                              <a:ea typeface="Verdana" pitchFamily="34" charset="0"/>
                              <a:cs typeface="Times New Roman"/>
                            </a:rPr>
                            <a:t>Mikelson</a:t>
                          </a:r>
                          <a:endParaRPr lang="en-PH" sz="2000" dirty="0">
                            <a:effectLst/>
                            <a:latin typeface="Verdana" pitchFamily="34" charset="0"/>
                            <a:ea typeface="Verdana" pitchFamily="34" charset="0"/>
                            <a:cs typeface="Times New Roman"/>
                          </a:endParaRPr>
                        </a:p>
                        <a:p>
                          <a:pPr algn="ctr">
                            <a:spcBef>
                              <a:spcPts val="180"/>
                            </a:spcBef>
                            <a:spcAft>
                              <a:spcPts val="0"/>
                            </a:spcAft>
                          </a:pPr>
                          <a:r>
                            <a:rPr lang="en-US" sz="2000" dirty="0">
                              <a:effectLst/>
                              <a:latin typeface="Verdana" pitchFamily="34" charset="0"/>
                              <a:ea typeface="Verdana" pitchFamily="34" charset="0"/>
                              <a:cs typeface="Times New Roman"/>
                            </a:rPr>
                            <a:t>Party</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Bef>
                              <a:spcPts val="18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135.50</m:t>
                                </m:r>
                              </m:oMath>
                            </m:oMathPara>
                          </a14:m>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Bef>
                              <a:spcPts val="180"/>
                            </a:spcBef>
                            <a:spcAft>
                              <a:spcPts val="0"/>
                            </a:spcAft>
                          </a:pPr>
                          <a:r>
                            <a:rPr lang="en-US" sz="2000">
                              <a:effectLst/>
                              <a:latin typeface="Verdana" pitchFamily="34" charset="0"/>
                              <a:ea typeface="Verdana" pitchFamily="34" charset="0"/>
                              <a:cs typeface="Times New Roman"/>
                            </a:rPr>
                            <a:t> </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Bef>
                              <a:spcPts val="180"/>
                            </a:spcBef>
                            <a:spcAft>
                              <a:spcPts val="0"/>
                            </a:spcAft>
                          </a:pPr>
                          <a:r>
                            <a:rPr lang="en-US" sz="2000" dirty="0">
                              <a:effectLst/>
                              <a:latin typeface="Verdana" pitchFamily="34" charset="0"/>
                              <a:ea typeface="Verdana" pitchFamily="34" charset="0"/>
                              <a:cs typeface="Times New Roman"/>
                            </a:rPr>
                            <a:t>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Bef>
                              <a:spcPts val="18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Times New Roman"/>
                                    <a:cs typeface="Times New Roman"/>
                                  </a:rPr>
                                  <m:t>172.43</m:t>
                                </m:r>
                              </m:oMath>
                            </m:oMathPara>
                          </a14:m>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430089787"/>
                  </p:ext>
                </p:extLst>
              </p:nvPr>
            </p:nvGraphicFramePr>
            <p:xfrm>
              <a:off x="2394924" y="1773249"/>
              <a:ext cx="7812000" cy="3528000"/>
            </p:xfrm>
            <a:graphic>
              <a:graphicData uri="http://schemas.openxmlformats.org/drawingml/2006/table">
                <a:tbl>
                  <a:tblPr firstRow="1" firstCol="1" lastRow="1" lastCol="1"/>
                  <a:tblGrid>
                    <a:gridCol w="1368000">
                      <a:extLst>
                        <a:ext uri="{9D8B030D-6E8A-4147-A177-3AD203B41FA5}">
                          <a16:colId xmlns="" xmlns:a16="http://schemas.microsoft.com/office/drawing/2014/main" xmlns:a14="http://schemas.microsoft.com/office/drawing/2010/main" val="20000"/>
                        </a:ext>
                      </a:extLst>
                    </a:gridCol>
                    <a:gridCol w="1476000">
                      <a:extLst>
                        <a:ext uri="{9D8B030D-6E8A-4147-A177-3AD203B41FA5}">
                          <a16:colId xmlns="" xmlns:a16="http://schemas.microsoft.com/office/drawing/2014/main" xmlns:a14="http://schemas.microsoft.com/office/drawing/2010/main" val="20001"/>
                        </a:ext>
                      </a:extLst>
                    </a:gridCol>
                    <a:gridCol w="1332000">
                      <a:extLst>
                        <a:ext uri="{9D8B030D-6E8A-4147-A177-3AD203B41FA5}">
                          <a16:colId xmlns="" xmlns:a16="http://schemas.microsoft.com/office/drawing/2014/main" xmlns:a14="http://schemas.microsoft.com/office/drawing/2010/main" val="20002"/>
                        </a:ext>
                      </a:extLst>
                    </a:gridCol>
                    <a:gridCol w="1440000">
                      <a:extLst>
                        <a:ext uri="{9D8B030D-6E8A-4147-A177-3AD203B41FA5}">
                          <a16:colId xmlns="" xmlns:a16="http://schemas.microsoft.com/office/drawing/2014/main" xmlns:a14="http://schemas.microsoft.com/office/drawing/2010/main" val="20003"/>
                        </a:ext>
                      </a:extLst>
                    </a:gridCol>
                    <a:gridCol w="2196000">
                      <a:extLst>
                        <a:ext uri="{9D8B030D-6E8A-4147-A177-3AD203B41FA5}">
                          <a16:colId xmlns="" xmlns:a16="http://schemas.microsoft.com/office/drawing/2014/main" xmlns:a14="http://schemas.microsoft.com/office/drawing/2010/main" val="20004"/>
                        </a:ext>
                      </a:extLst>
                    </a:gridCol>
                  </a:tblGrid>
                  <a:tr h="828000">
                    <a:tc>
                      <a:txBody>
                        <a:bodyPr/>
                        <a:lstStyle/>
                        <a:p>
                          <a:pPr algn="ctr">
                            <a:spcBef>
                              <a:spcPts val="180"/>
                            </a:spcBef>
                            <a:spcAft>
                              <a:spcPts val="0"/>
                            </a:spcAft>
                          </a:pPr>
                          <a:r>
                            <a:rPr lang="en-US" sz="2000" b="1" dirty="0">
                              <a:effectLst/>
                              <a:latin typeface="Verdana" pitchFamily="34" charset="0"/>
                              <a:ea typeface="Verdana" pitchFamily="34" charset="0"/>
                              <a:cs typeface="Times New Roman"/>
                            </a:rPr>
                            <a:t>Party</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2000" b="1" dirty="0">
                              <a:effectLst/>
                              <a:latin typeface="Verdana" pitchFamily="34" charset="0"/>
                              <a:ea typeface="Verdana" pitchFamily="34" charset="0"/>
                              <a:cs typeface="Times New Roman"/>
                            </a:rPr>
                            <a:t>Subtotal ($)</a:t>
                          </a:r>
                          <a:endParaRPr lang="en-PH" sz="2000" dirty="0">
                            <a:effectLst/>
                            <a:latin typeface="Verdana" pitchFamily="34" charset="0"/>
                            <a:ea typeface="Verdana" pitchFamily="34" charset="0"/>
                            <a:cs typeface="Cambri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180"/>
                            </a:spcBef>
                            <a:spcAft>
                              <a:spcPts val="0"/>
                            </a:spcAft>
                          </a:pPr>
                          <a:r>
                            <a:rPr lang="en-US" sz="2000" b="1" dirty="0">
                              <a:effectLst/>
                              <a:latin typeface="Verdana" pitchFamily="34" charset="0"/>
                              <a:ea typeface="Verdana" pitchFamily="34" charset="0"/>
                              <a:cs typeface="Times New Roman"/>
                            </a:rPr>
                            <a:t>Sales Tax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180"/>
                            </a:spcBef>
                            <a:spcAft>
                              <a:spcPts val="0"/>
                            </a:spcAft>
                          </a:pPr>
                          <a:r>
                            <a:rPr lang="en-US" sz="2000" b="1" dirty="0">
                              <a:effectLst/>
                              <a:latin typeface="Verdana" pitchFamily="34" charset="0"/>
                              <a:ea typeface="Verdana" pitchFamily="34" charset="0"/>
                              <a:cs typeface="Times New Roman"/>
                            </a:rPr>
                            <a:t>Gratuity</a:t>
                          </a:r>
                          <a:endParaRPr lang="en-PH" sz="2000" dirty="0">
                            <a:effectLst/>
                            <a:latin typeface="Verdana" pitchFamily="34" charset="0"/>
                            <a:ea typeface="Verdana" pitchFamily="34" charset="0"/>
                            <a:cs typeface="Times New Roman"/>
                          </a:endParaRPr>
                        </a:p>
                        <a:p>
                          <a:pPr algn="ctr">
                            <a:spcBef>
                              <a:spcPts val="180"/>
                            </a:spcBef>
                            <a:spcAft>
                              <a:spcPts val="0"/>
                            </a:spcAft>
                          </a:pPr>
                          <a:r>
                            <a:rPr lang="en-US" sz="2000" b="1" dirty="0">
                              <a:effectLst/>
                              <a:latin typeface="Verdana" pitchFamily="34" charset="0"/>
                              <a:ea typeface="Verdana" pitchFamily="34" charset="0"/>
                              <a:cs typeface="Times New Roman"/>
                            </a:rPr>
                            <a:t>($)</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Bef>
                              <a:spcPts val="180"/>
                            </a:spcBef>
                            <a:spcAft>
                              <a:spcPts val="0"/>
                            </a:spcAft>
                          </a:pPr>
                          <a:r>
                            <a:rPr lang="en-US" sz="2000" b="1" dirty="0">
                              <a:effectLst/>
                              <a:latin typeface="Verdana" pitchFamily="34" charset="0"/>
                              <a:ea typeface="Verdana" pitchFamily="34" charset="0"/>
                              <a:cs typeface="Times New Roman"/>
                            </a:rPr>
                            <a:t>Total Amount of Bill</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xmlns:a14="http://schemas.microsoft.com/office/drawing/2010/main" val="10000"/>
                      </a:ext>
                    </a:extLst>
                  </a:tr>
                  <a:tr h="900000">
                    <a:tc>
                      <a:txBody>
                        <a:bodyPr/>
                        <a:lstStyle/>
                        <a:p>
                          <a:pPr algn="ctr">
                            <a:spcBef>
                              <a:spcPts val="180"/>
                            </a:spcBef>
                            <a:spcAft>
                              <a:spcPts val="0"/>
                            </a:spcAft>
                          </a:pPr>
                          <a:r>
                            <a:rPr lang="en-US" sz="2000" dirty="0">
                              <a:effectLst/>
                              <a:latin typeface="Verdana" pitchFamily="34" charset="0"/>
                              <a:ea typeface="Verdana" pitchFamily="34" charset="0"/>
                              <a:cs typeface="Times New Roman"/>
                            </a:rPr>
                            <a:t>Flores</a:t>
                          </a:r>
                          <a:endParaRPr lang="en-PH" sz="2000" dirty="0">
                            <a:effectLst/>
                            <a:latin typeface="Verdana" pitchFamily="34" charset="0"/>
                            <a:ea typeface="Verdana" pitchFamily="34" charset="0"/>
                            <a:cs typeface="Times New Roman"/>
                          </a:endParaRPr>
                        </a:p>
                        <a:p>
                          <a:pPr algn="ctr">
                            <a:spcBef>
                              <a:spcPts val="180"/>
                            </a:spcBef>
                            <a:spcAft>
                              <a:spcPts val="0"/>
                            </a:spcAft>
                          </a:pPr>
                          <a:r>
                            <a:rPr lang="en-US" sz="2000" dirty="0">
                              <a:effectLst/>
                              <a:latin typeface="Verdana" pitchFamily="34" charset="0"/>
                              <a:ea typeface="Verdana" pitchFamily="34" charset="0"/>
                              <a:cs typeface="Times New Roman"/>
                            </a:rPr>
                            <a:t>Party</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92975" t="-92568" r="-337190" b="-202027"/>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13242" t="-92568" r="-272603" b="-202027"/>
                          </a:stretch>
                        </a:blipFill>
                      </a:tcPr>
                    </a:tc>
                    <a:tc>
                      <a:txBody>
                        <a:bodyPr/>
                        <a:lstStyle/>
                        <a:p>
                          <a:pPr algn="ctr">
                            <a:spcBef>
                              <a:spcPts val="180"/>
                            </a:spcBef>
                            <a:spcAft>
                              <a:spcPts val="0"/>
                            </a:spcAft>
                          </a:pPr>
                          <a:r>
                            <a:rPr lang="en-US" sz="2000">
                              <a:effectLst/>
                              <a:latin typeface="Verdana" pitchFamily="34" charset="0"/>
                              <a:ea typeface="Verdana" pitchFamily="34" charset="0"/>
                              <a:cs typeface="Times New Roman"/>
                            </a:rPr>
                            <a:t> </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Bef>
                              <a:spcPts val="180"/>
                            </a:spcBef>
                            <a:spcAft>
                              <a:spcPts val="0"/>
                            </a:spcAft>
                          </a:pPr>
                          <a:r>
                            <a:rPr lang="en-US" sz="2000">
                              <a:effectLst/>
                              <a:latin typeface="Verdana" pitchFamily="34" charset="0"/>
                              <a:ea typeface="Verdana" pitchFamily="34" charset="0"/>
                              <a:cs typeface="Times New Roman"/>
                            </a:rPr>
                            <a:t> </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1"/>
                      </a:ext>
                    </a:extLst>
                  </a:tr>
                  <a:tr h="900000">
                    <a:tc>
                      <a:txBody>
                        <a:bodyPr/>
                        <a:lstStyle/>
                        <a:p>
                          <a:pPr algn="ctr">
                            <a:spcBef>
                              <a:spcPts val="180"/>
                            </a:spcBef>
                            <a:spcAft>
                              <a:spcPts val="0"/>
                            </a:spcAft>
                          </a:pPr>
                          <a:r>
                            <a:rPr lang="en-US" sz="2000">
                              <a:effectLst/>
                              <a:latin typeface="Verdana" pitchFamily="34" charset="0"/>
                              <a:ea typeface="Verdana" pitchFamily="34" charset="0"/>
                              <a:cs typeface="Times New Roman"/>
                            </a:rPr>
                            <a:t>Atkinson</a:t>
                          </a:r>
                          <a:endParaRPr lang="en-PH" sz="2000">
                            <a:effectLst/>
                            <a:latin typeface="Verdana" pitchFamily="34" charset="0"/>
                            <a:ea typeface="Verdana" pitchFamily="34" charset="0"/>
                            <a:cs typeface="Times New Roman"/>
                          </a:endParaRPr>
                        </a:p>
                        <a:p>
                          <a:pPr algn="ctr">
                            <a:spcBef>
                              <a:spcPts val="180"/>
                            </a:spcBef>
                            <a:spcAft>
                              <a:spcPts val="0"/>
                            </a:spcAft>
                          </a:pPr>
                          <a:r>
                            <a:rPr lang="en-US" sz="2000">
                              <a:effectLst/>
                              <a:latin typeface="Verdana" pitchFamily="34" charset="0"/>
                              <a:ea typeface="Verdana" pitchFamily="34" charset="0"/>
                              <a:cs typeface="Times New Roman"/>
                            </a:rPr>
                            <a:t>Party</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92975" t="-193878" r="-337190" b="-103401"/>
                          </a:stretch>
                        </a:blipFill>
                      </a:tcPr>
                    </a:tc>
                    <a:tc>
                      <a:txBody>
                        <a:bodyPr/>
                        <a:lstStyle/>
                        <a:p>
                          <a:pPr algn="ctr">
                            <a:spcBef>
                              <a:spcPts val="180"/>
                            </a:spcBef>
                            <a:spcAft>
                              <a:spcPts val="0"/>
                            </a:spcAft>
                          </a:pPr>
                          <a:r>
                            <a:rPr lang="en-US" sz="2000" dirty="0">
                              <a:effectLst/>
                              <a:latin typeface="Verdana" pitchFamily="34" charset="0"/>
                              <a:ea typeface="Verdana" pitchFamily="34" charset="0"/>
                              <a:cs typeface="Times New Roman"/>
                            </a:rPr>
                            <a:t>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90678" t="-193878" r="-152966" b="-103401"/>
                          </a:stretch>
                        </a:blipFill>
                      </a:tcPr>
                    </a:tc>
                    <a:tc>
                      <a:txBody>
                        <a:bodyPr/>
                        <a:lstStyle/>
                        <a:p>
                          <a:pPr algn="ctr">
                            <a:spcBef>
                              <a:spcPts val="180"/>
                            </a:spcBef>
                            <a:spcAft>
                              <a:spcPts val="0"/>
                            </a:spcAft>
                          </a:pPr>
                          <a:r>
                            <a:rPr lang="en-US" sz="2000" dirty="0">
                              <a:effectLst/>
                              <a:latin typeface="Verdana" pitchFamily="34" charset="0"/>
                              <a:ea typeface="Verdana" pitchFamily="34" charset="0"/>
                              <a:cs typeface="Times New Roman"/>
                            </a:rPr>
                            <a:t>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2"/>
                      </a:ext>
                    </a:extLst>
                  </a:tr>
                  <a:tr h="900000">
                    <a:tc>
                      <a:txBody>
                        <a:bodyPr/>
                        <a:lstStyle/>
                        <a:p>
                          <a:pPr algn="ctr">
                            <a:spcBef>
                              <a:spcPts val="180"/>
                            </a:spcBef>
                            <a:spcAft>
                              <a:spcPts val="0"/>
                            </a:spcAft>
                          </a:pPr>
                          <a:r>
                            <a:rPr lang="en-US" sz="2000" dirty="0" err="1">
                              <a:effectLst/>
                              <a:latin typeface="Verdana" pitchFamily="34" charset="0"/>
                              <a:ea typeface="Verdana" pitchFamily="34" charset="0"/>
                              <a:cs typeface="Times New Roman"/>
                            </a:rPr>
                            <a:t>Mikelson</a:t>
                          </a:r>
                          <a:endParaRPr lang="en-PH" sz="2000" dirty="0">
                            <a:effectLst/>
                            <a:latin typeface="Verdana" pitchFamily="34" charset="0"/>
                            <a:ea typeface="Verdana" pitchFamily="34" charset="0"/>
                            <a:cs typeface="Times New Roman"/>
                          </a:endParaRPr>
                        </a:p>
                        <a:p>
                          <a:pPr algn="ctr">
                            <a:spcBef>
                              <a:spcPts val="180"/>
                            </a:spcBef>
                            <a:spcAft>
                              <a:spcPts val="0"/>
                            </a:spcAft>
                          </a:pPr>
                          <a:r>
                            <a:rPr lang="en-US" sz="2000" dirty="0">
                              <a:effectLst/>
                              <a:latin typeface="Verdana" pitchFamily="34" charset="0"/>
                              <a:ea typeface="Verdana" pitchFamily="34" charset="0"/>
                              <a:cs typeface="Times New Roman"/>
                            </a:rPr>
                            <a:t>Party</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92975" t="-291892" r="-337190" b="-2703"/>
                          </a:stretch>
                        </a:blipFill>
                      </a:tcPr>
                    </a:tc>
                    <a:tc>
                      <a:txBody>
                        <a:bodyPr/>
                        <a:lstStyle/>
                        <a:p>
                          <a:pPr algn="ctr">
                            <a:spcBef>
                              <a:spcPts val="180"/>
                            </a:spcBef>
                            <a:spcAft>
                              <a:spcPts val="0"/>
                            </a:spcAft>
                          </a:pPr>
                          <a:r>
                            <a:rPr lang="en-US" sz="2000">
                              <a:effectLst/>
                              <a:latin typeface="Verdana" pitchFamily="34" charset="0"/>
                              <a:ea typeface="Verdana" pitchFamily="34" charset="0"/>
                              <a:cs typeface="Times New Roman"/>
                            </a:rPr>
                            <a:t> </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Bef>
                              <a:spcPts val="180"/>
                            </a:spcBef>
                            <a:spcAft>
                              <a:spcPts val="0"/>
                            </a:spcAft>
                          </a:pPr>
                          <a:r>
                            <a:rPr lang="en-US" sz="2000" dirty="0">
                              <a:effectLst/>
                              <a:latin typeface="Verdana" pitchFamily="34" charset="0"/>
                              <a:ea typeface="Verdana" pitchFamily="34" charset="0"/>
                              <a:cs typeface="Times New Roman"/>
                            </a:rPr>
                            <a:t> </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56111" t="-291892" r="-278" b="-2703"/>
                          </a:stretch>
                        </a:blipFill>
                      </a:tcPr>
                    </a:tc>
                    <a:extLst>
                      <a:ext uri="{0D108BD9-81ED-4DB2-BD59-A6C34878D82A}">
                        <a16:rowId xmlns="" xmlns:a16="http://schemas.microsoft.com/office/drawing/2014/main" xmlns:a14="http://schemas.microsoft.com/office/drawing/2010/main" val="10003"/>
                      </a:ext>
                    </a:extLst>
                  </a:tr>
                </a:tbl>
              </a:graphicData>
            </a:graphic>
          </p:graphicFrame>
        </mc:Fallback>
      </mc:AlternateContent>
      <mc:AlternateContent xmlns:mc="http://schemas.openxmlformats.org/markup-compatibility/2006" xmlns:a14="http://schemas.microsoft.com/office/drawing/2010/main">
        <mc:Choice Requires="a14">
          <p:sp>
            <p:nvSpPr>
              <p:cNvPr id="7" name="Google Shape;179;p5"/>
              <p:cNvSpPr txBox="1"/>
              <p:nvPr/>
            </p:nvSpPr>
            <p:spPr>
              <a:xfrm>
                <a:off x="914400" y="487736"/>
                <a:ext cx="10609524" cy="1015622"/>
              </a:xfrm>
              <a:prstGeom prst="rect">
                <a:avLst/>
              </a:prstGeom>
              <a:noFill/>
              <a:ln>
                <a:noFill/>
              </a:ln>
            </p:spPr>
            <p:txBody>
              <a:bodyPr spcFirstLastPara="1" wrap="square" lIns="91425" tIns="45700" rIns="91425" bIns="45700" anchor="t" anchorCtr="0">
                <a:spAutoFit/>
              </a:bodyPr>
              <a:lstStyle/>
              <a:p>
                <a:pPr marL="457200" indent="-457200">
                  <a:buSzPct val="100000"/>
                  <a:buFont typeface="+mj-lt"/>
                  <a:buAutoNum type="arabicPeriod" startAt="3"/>
                </a:pPr>
                <a:r>
                  <a:rPr lang="en-US" sz="2000" dirty="0">
                    <a:latin typeface="Verdana"/>
                    <a:ea typeface="Cambria"/>
                    <a:cs typeface="Cambria"/>
                  </a:rPr>
                  <a:t>A local restaurant automatically adds a </a:t>
                </a:r>
                <a14:m>
                  <m:oMath xmlns:m="http://schemas.openxmlformats.org/officeDocument/2006/math">
                    <m:r>
                      <a:rPr lang="en-US" sz="2000" i="1">
                        <a:latin typeface="Cambria Math"/>
                        <a:ea typeface="Verdana"/>
                        <a:cs typeface="Verdana"/>
                      </a:rPr>
                      <m:t>21%</m:t>
                    </m:r>
                  </m:oMath>
                </a14:m>
                <a:r>
                  <a:rPr lang="en-US" sz="2000" dirty="0">
                    <a:latin typeface="Verdana"/>
                    <a:ea typeface="Cambria"/>
                    <a:cs typeface="Cambria"/>
                  </a:rPr>
                  <a:t> gratuity (tip), pre-tax, to each bill for parties over </a:t>
                </a:r>
                <a14:m>
                  <m:oMath xmlns:m="http://schemas.openxmlformats.org/officeDocument/2006/math">
                    <m:r>
                      <a:rPr lang="en-US" sz="2000" i="1">
                        <a:latin typeface="Cambria Math"/>
                        <a:ea typeface="Verdana"/>
                        <a:cs typeface="Verdana"/>
                      </a:rPr>
                      <m:t>10</m:t>
                    </m:r>
                  </m:oMath>
                </a14:m>
                <a:r>
                  <a:rPr lang="en-US" sz="2000" dirty="0">
                    <a:latin typeface="Verdana"/>
                    <a:ea typeface="Cambria"/>
                    <a:cs typeface="Cambria"/>
                  </a:rPr>
                  <a:t>. The table shows the bills due for several parties over </a:t>
                </a:r>
                <a14:m>
                  <m:oMath xmlns:m="http://schemas.openxmlformats.org/officeDocument/2006/math">
                    <m:r>
                      <a:rPr lang="en-US" sz="2000" i="1">
                        <a:latin typeface="Cambria Math"/>
                        <a:ea typeface="Cambria"/>
                        <a:cs typeface="Cambria"/>
                      </a:rPr>
                      <m:t>10</m:t>
                    </m:r>
                  </m:oMath>
                </a14:m>
                <a:r>
                  <a:rPr lang="en-US" sz="2000" dirty="0">
                    <a:latin typeface="Verdana"/>
                    <a:ea typeface="Cambria"/>
                    <a:cs typeface="Cambria"/>
                  </a:rPr>
                  <a:t>. Complete the table.</a:t>
                </a:r>
                <a:endParaRPr lang="en-PH" sz="2000" dirty="0">
                  <a:latin typeface="Cambria"/>
                  <a:ea typeface="Cambria"/>
                  <a:cs typeface="Cambria"/>
                </a:endParaRPr>
              </a:p>
            </p:txBody>
          </p:sp>
        </mc:Choice>
        <mc:Fallback xmlns="">
          <p:sp>
            <p:nvSpPr>
              <p:cNvPr id="7" name="Google Shape;179;p5"/>
              <p:cNvSpPr txBox="1">
                <a:spLocks noRot="1" noChangeAspect="1" noMove="1" noResize="1" noEditPoints="1" noAdjustHandles="1" noChangeArrowheads="1" noChangeShapeType="1" noTextEdit="1"/>
              </p:cNvSpPr>
              <p:nvPr/>
            </p:nvSpPr>
            <p:spPr>
              <a:xfrm>
                <a:off x="914400" y="487736"/>
                <a:ext cx="10609524" cy="1015622"/>
              </a:xfrm>
              <a:prstGeom prst="rect">
                <a:avLst/>
              </a:prstGeom>
              <a:blipFill rotWithShape="1">
                <a:blip r:embed="rId4"/>
                <a:stretch>
                  <a:fillRect l="-632" t="-3593" b="-9581"/>
                </a:stretch>
              </a:blipFill>
              <a:ln>
                <a:noFill/>
              </a:ln>
            </p:spPr>
            <p:txBody>
              <a:bodyPr/>
              <a:lstStyle/>
              <a:p>
                <a:r>
                  <a:rPr lang="en-US">
                    <a:noFill/>
                  </a:rPr>
                  <a:t> </a:t>
                </a:r>
              </a:p>
            </p:txBody>
          </p:sp>
        </mc:Fallback>
      </mc:AlternateContent>
      <p:sp>
        <p:nvSpPr>
          <p:cNvPr id="9"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330</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492215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331</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676908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278;g104476d1465_1_17">
            <a:extLst>
              <a:ext uri="{FF2B5EF4-FFF2-40B4-BE49-F238E27FC236}">
                <a16:creationId xmlns:a16="http://schemas.microsoft.com/office/drawing/2014/main" id="{C9825640-5649-F74D-866E-EC8F188D5640}"/>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1"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331</a:t>
            </a:r>
            <a:endParaRPr i="1" dirty="0">
              <a:latin typeface="Calibri"/>
              <a:ea typeface="Calibri"/>
              <a:cs typeface="Calibri"/>
              <a:sym typeface="Calibri"/>
            </a:endParaRPr>
          </a:p>
        </p:txBody>
      </p:sp>
      <p:pic>
        <p:nvPicPr>
          <p:cNvPr id="13"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4"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7.7.5 Wrap-Up: Ticket Out the Door</a:t>
            </a:r>
          </a:p>
        </p:txBody>
      </p:sp>
      <p:pic>
        <p:nvPicPr>
          <p:cNvPr id="15" name="Google Shape;469;p34"/>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16" name="Google Shape;470;p34"/>
              <p:cNvSpPr txBox="1"/>
              <p:nvPr/>
            </p:nvSpPr>
            <p:spPr>
              <a:xfrm>
                <a:off x="914400" y="1386025"/>
                <a:ext cx="10616184" cy="3277780"/>
              </a:xfrm>
              <a:prstGeom prst="rect">
                <a:avLst/>
              </a:prstGeom>
              <a:noFill/>
              <a:ln>
                <a:noFill/>
              </a:ln>
            </p:spPr>
            <p:txBody>
              <a:bodyPr spcFirstLastPara="1" wrap="square" lIns="91425" tIns="45700" rIns="91425" bIns="45700" anchor="t" anchorCtr="0">
                <a:spAutoFit/>
              </a:bodyPr>
              <a:lstStyle/>
              <a:p>
                <a:pPr marL="457200" lvl="4" indent="-457200">
                  <a:spcAft>
                    <a:spcPts val="1800"/>
                  </a:spcAft>
                  <a:buFont typeface="+mj-lt"/>
                  <a:buAutoNum type="arabicPeriod"/>
                </a:pPr>
                <a:r>
                  <a:rPr lang="en-US" sz="2400" dirty="0">
                    <a:latin typeface="Verdana" pitchFamily="34" charset="0"/>
                    <a:ea typeface="Verdana" pitchFamily="34" charset="0"/>
                  </a:rPr>
                  <a:t>Diesel has been waiting patiently for the Evolve Carbon All Terrain Skateboard to go on sale. For his birthday, he received a </a:t>
                </a:r>
                <a14:m>
                  <m:oMath xmlns:m="http://schemas.openxmlformats.org/officeDocument/2006/math">
                    <m:r>
                      <a:rPr lang="en-US" sz="2400" i="1">
                        <a:latin typeface="Cambria Math" panose="02040503050406030204" pitchFamily="18" charset="0"/>
                      </a:rPr>
                      <m:t>25%</m:t>
                    </m:r>
                  </m:oMath>
                </a14:m>
                <a:r>
                  <a:rPr lang="en-US" sz="2400" dirty="0">
                    <a:latin typeface="Verdana" pitchFamily="34" charset="0"/>
                    <a:ea typeface="Verdana" pitchFamily="34" charset="0"/>
                  </a:rPr>
                  <a:t> off discount. The original price of the skateboard is </a:t>
                </a:r>
                <a14:m>
                  <m:oMath xmlns:m="http://schemas.openxmlformats.org/officeDocument/2006/math">
                    <m:r>
                      <a:rPr lang="en-US" sz="2400" i="1">
                        <a:latin typeface="Cambria Math" panose="02040503050406030204" pitchFamily="18" charset="0"/>
                      </a:rPr>
                      <m:t>$1,999.99</m:t>
                    </m:r>
                  </m:oMath>
                </a14:m>
                <a:r>
                  <a:rPr lang="en-US" sz="2400" dirty="0">
                    <a:latin typeface="Verdana" pitchFamily="34" charset="0"/>
                    <a:ea typeface="Verdana" pitchFamily="34" charset="0"/>
                  </a:rPr>
                  <a:t> and the company has a </a:t>
                </a:r>
                <a14:m>
                  <m:oMath xmlns:m="http://schemas.openxmlformats.org/officeDocument/2006/math">
                    <m:r>
                      <a:rPr lang="en-US" sz="2400" i="1">
                        <a:latin typeface="Cambria Math" panose="02040503050406030204" pitchFamily="18" charset="0"/>
                      </a:rPr>
                      <m:t>5%</m:t>
                    </m:r>
                  </m:oMath>
                </a14:m>
                <a:r>
                  <a:rPr lang="en-US" sz="2400" dirty="0">
                    <a:latin typeface="Verdana" pitchFamily="34" charset="0"/>
                    <a:ea typeface="Verdana" pitchFamily="34" charset="0"/>
                  </a:rPr>
                  <a:t> sales tax, along with a flat fee of </a:t>
                </a:r>
                <a14:m>
                  <m:oMath xmlns:m="http://schemas.openxmlformats.org/officeDocument/2006/math">
                    <m:r>
                      <a:rPr lang="en-US" sz="2400" i="1">
                        <a:latin typeface="Cambria Math" panose="02040503050406030204" pitchFamily="18" charset="0"/>
                      </a:rPr>
                      <m:t>$35</m:t>
                    </m:r>
                  </m:oMath>
                </a14:m>
                <a:r>
                  <a:rPr lang="en-US" sz="2400" dirty="0">
                    <a:latin typeface="Verdana" pitchFamily="34" charset="0"/>
                    <a:ea typeface="Verdana" pitchFamily="34" charset="0"/>
                  </a:rPr>
                  <a:t> for shipping.</a:t>
                </a:r>
              </a:p>
              <a:p>
                <a:pPr marL="446088" lvl="4"/>
                <a:r>
                  <a:rPr lang="en-US" sz="2400" dirty="0">
                    <a:latin typeface="Verdana" pitchFamily="34" charset="0"/>
                    <a:ea typeface="Verdana" pitchFamily="34" charset="0"/>
                  </a:rPr>
                  <a:t>What is the total amount Diesel needs to purchase his dream skateboard?</a:t>
                </a:r>
                <a:endParaRPr lang="en-PH" sz="2400" dirty="0">
                  <a:latin typeface="Verdana" pitchFamily="34" charset="0"/>
                  <a:ea typeface="Verdana" pitchFamily="34" charset="0"/>
                </a:endParaRPr>
              </a:p>
              <a:p>
                <a:pPr marL="457200" lvl="4" indent="-457200">
                  <a:buFont typeface="+mj-lt"/>
                  <a:buAutoNum type="arabicPeriod"/>
                </a:pPr>
                <a:endParaRPr lang="en-PH" sz="2400" dirty="0">
                  <a:latin typeface="Verdana" pitchFamily="34" charset="0"/>
                  <a:ea typeface="Verdana" pitchFamily="34" charset="0"/>
                </a:endParaRPr>
              </a:p>
            </p:txBody>
          </p:sp>
        </mc:Choice>
        <mc:Fallback xmlns="">
          <p:sp>
            <p:nvSpPr>
              <p:cNvPr id="16" name="Google Shape;470;p34"/>
              <p:cNvSpPr txBox="1">
                <a:spLocks noRot="1" noChangeAspect="1" noMove="1" noResize="1" noEditPoints="1" noAdjustHandles="1" noChangeArrowheads="1" noChangeShapeType="1" noTextEdit="1"/>
              </p:cNvSpPr>
              <p:nvPr/>
            </p:nvSpPr>
            <p:spPr>
              <a:xfrm>
                <a:off x="914400" y="1386025"/>
                <a:ext cx="10616184" cy="3277780"/>
              </a:xfrm>
              <a:prstGeom prst="rect">
                <a:avLst/>
              </a:prstGeom>
              <a:blipFill rotWithShape="1">
                <a:blip r:embed="rId5"/>
                <a:stretch>
                  <a:fillRect l="-918" t="-1487" r="-1722"/>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1406</TotalTime>
  <Words>1186</Words>
  <Application>Microsoft Macintosh PowerPoint</Application>
  <PresentationFormat>Widescreen</PresentationFormat>
  <Paragraphs>190</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Calibri</vt:lpstr>
      <vt:lpstr>Arial Black</vt:lpstr>
      <vt:lpstr>Cambria Math</vt:lpstr>
      <vt:lpstr>Verdana</vt:lpstr>
      <vt:lpstr>Arial</vt:lpstr>
      <vt:lpstr>Cambria</vt:lpstr>
      <vt:lpstr>Century Gothic</vt:lpstr>
      <vt:lpstr>1_Office Theme</vt:lpstr>
      <vt:lpstr>7th Grade Math  Unit 7, Lesson 7  Solving Multi Step Problems Involving Discounts, Taxes, Tips, or Fees   Volume 1, pg. 325  </vt:lpstr>
      <vt:lpstr>PowerPoint Presentation</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45</cp:revision>
  <dcterms:created xsi:type="dcterms:W3CDTF">2015-03-17T18:51:18Z</dcterms:created>
  <dcterms:modified xsi:type="dcterms:W3CDTF">2023-01-30T14:57:35Z</dcterms:modified>
</cp:coreProperties>
</file>