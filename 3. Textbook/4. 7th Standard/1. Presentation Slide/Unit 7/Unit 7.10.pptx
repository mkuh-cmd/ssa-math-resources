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85" r:id="rId4"/>
    <p:sldId id="286" r:id="rId5"/>
    <p:sldId id="261" r:id="rId6"/>
    <p:sldId id="287" r:id="rId7"/>
    <p:sldId id="311" r:id="rId8"/>
    <p:sldId id="312" r:id="rId9"/>
    <p:sldId id="333" r:id="rId10"/>
    <p:sldId id="289" r:id="rId11"/>
    <p:sldId id="290" r:id="rId12"/>
    <p:sldId id="336" r:id="rId13"/>
    <p:sldId id="342" r:id="rId14"/>
    <p:sldId id="323" r:id="rId15"/>
    <p:sldId id="324" r:id="rId16"/>
    <p:sldId id="337" r:id="rId17"/>
    <p:sldId id="302" r:id="rId18"/>
    <p:sldId id="303" r:id="rId19"/>
    <p:sldId id="340" r:id="rId20"/>
    <p:sldId id="306" r:id="rId21"/>
    <p:sldId id="307" r:id="rId22"/>
    <p:sldId id="341" r:id="rId23"/>
  </p:sldIdLst>
  <p:sldSz cx="12192000" cy="6858000"/>
  <p:notesSz cx="6858000" cy="9144000"/>
  <p:embeddedFontLst>
    <p:embeddedFont>
      <p:font typeface="Cambria" pitchFamily="18" charset="0"/>
      <p:regular r:id="rId25"/>
      <p:bold r:id="rId26"/>
      <p:italic r:id="rId27"/>
      <p:boldItalic r:id="rId28"/>
    </p:embeddedFont>
    <p:embeddedFont>
      <p:font typeface="Arial Black" pitchFamily="34" charset="0"/>
      <p:bold r:id="rId29"/>
    </p:embeddedFont>
    <p:embeddedFont>
      <p:font typeface="Verdana" pitchFamily="34" charset="0"/>
      <p:regular r:id="rId30"/>
      <p:bold r:id="rId31"/>
      <p:italic r:id="rId32"/>
      <p:boldItalic r:id="rId33"/>
    </p:embeddedFont>
    <p:embeddedFont>
      <p:font typeface="Calibri" pitchFamily="34" charset="0"/>
      <p:regular r:id="rId34"/>
      <p:bold r:id="rId35"/>
      <p:italic r:id="rId36"/>
      <p:boldItalic r:id="rId37"/>
    </p:embeddedFont>
    <p:embeddedFont>
      <p:font typeface="Century Gothic" pitchFamily="34" charset="0"/>
      <p:regular r:id="rId38"/>
      <p:bold r:id="rId39"/>
      <p:italic r:id="rId40"/>
      <p:boldItalic r:id="rId41"/>
    </p:embeddedFont>
    <p:embeddedFont>
      <p:font typeface="Cambria Math" pitchFamily="18" charset="0"/>
      <p:regular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BFAC"/>
    <a:srgbClr val="B399C8"/>
    <a:srgbClr val="276C46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74" autoAdjust="0"/>
    <p:restoredTop sz="94691"/>
  </p:normalViewPr>
  <p:slideViewPr>
    <p:cSldViewPr snapToGrid="0">
      <p:cViewPr varScale="1">
        <p:scale>
          <a:sx n="105" d="100"/>
          <a:sy n="105" d="100"/>
        </p:scale>
        <p:origin x="-972" y="-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font" Target="fonts/font1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42" Type="http://schemas.openxmlformats.org/officeDocument/2006/relationships/font" Target="fonts/font18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41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font" Target="fonts/font16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4800732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19672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37200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37200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332417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02826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4968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0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7, Lesson 10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Calculating Percent Error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344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xmlns="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518526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54001" y="102004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181" y="39120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946561" y="649318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344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0561" y="616454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431766" y="1469105"/>
            <a:ext cx="11306432" cy="3892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MA.7.AR.3.1</a:t>
            </a:r>
          </a:p>
          <a:p>
            <a:pPr indent="0"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Apply previous understanding of percentages and ratios to solve multi-step, real-world percent problems.</a:t>
            </a:r>
            <a:endParaRPr lang="en-US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59437" y="102004"/>
            <a:ext cx="10652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59437" y="1592860"/>
            <a:ext cx="10080000" cy="4353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>
              <a:buSzPts val="523"/>
            </a:pP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  <a:p>
            <a:pPr>
              <a:buSzPts val="523"/>
            </a:pP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946561" y="649318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344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0561" y="616454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3" name="Google Shape;281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9181" y="39120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54001" y="11511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181" y="40431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32124" y="1459884"/>
            <a:ext cx="9716530" cy="4508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71500" indent="-5651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find percent error.</a:t>
            </a: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946561" y="649318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344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0561" y="616454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946561" y="649318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344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0561" y="616454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53350" y="102004"/>
            <a:ext cx="1009213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7.10.1 Warm-Up: Would You Rather?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181" y="39120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="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529262" y="1463216"/>
                <a:ext cx="10800000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It’s “Multiple Monday” and the more </a:t>
                </a:r>
                <a:r>
                  <a:rPr lang="en-US" sz="2000" dirty="0" smtClean="0">
                    <a:latin typeface="Verdana"/>
                    <a:ea typeface="Times New Roman"/>
                    <a:cs typeface="Times New Roman"/>
                  </a:rPr>
                  <a:t>pizzas </a:t>
                </a: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purchased, </a:t>
                </a:r>
                <a:r>
                  <a:rPr lang="en-US" sz="2000" dirty="0" smtClean="0">
                    <a:latin typeface="Verdana"/>
                    <a:ea typeface="Times New Roman"/>
                    <a:cs typeface="Times New Roman"/>
                  </a:rPr>
                  <a:t/>
                </a:r>
                <a:br>
                  <a:rPr lang="en-US" sz="2000" dirty="0" smtClean="0">
                    <a:latin typeface="Verdana"/>
                    <a:ea typeface="Times New Roman"/>
                    <a:cs typeface="Times New Roman"/>
                  </a:rPr>
                </a:br>
                <a:r>
                  <a:rPr lang="en-US" sz="2000" dirty="0" smtClean="0">
                    <a:latin typeface="Verdana"/>
                    <a:ea typeface="Times New Roman"/>
                    <a:cs typeface="Times New Roman"/>
                  </a:rPr>
                  <a:t>the </a:t>
                </a: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greater the </a:t>
                </a:r>
                <a:r>
                  <a:rPr lang="en-US" sz="2000" dirty="0" smtClean="0">
                    <a:latin typeface="Verdana"/>
                    <a:ea typeface="Times New Roman"/>
                    <a:cs typeface="Times New Roman"/>
                  </a:rPr>
                  <a:t>discount </a:t>
                </a: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applied. If one pizza is </a:t>
                </a:r>
                <a:r>
                  <a:rPr lang="en-US" sz="2000" dirty="0" smtClean="0">
                    <a:latin typeface="Verdana"/>
                    <a:ea typeface="Times New Roman"/>
                    <a:cs typeface="Times New Roman"/>
                  </a:rPr>
                  <a:t>ordered</a:t>
                </a: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, </a:t>
                </a:r>
                <a:r>
                  <a:rPr lang="en-US" sz="2000" dirty="0" smtClean="0">
                    <a:latin typeface="Verdana"/>
                    <a:ea typeface="Times New Roman"/>
                    <a:cs typeface="Times New Roman"/>
                  </a:rPr>
                  <a:t/>
                </a:r>
                <a:br>
                  <a:rPr lang="en-US" sz="2000" dirty="0" smtClean="0">
                    <a:latin typeface="Verdana"/>
                    <a:ea typeface="Times New Roman"/>
                    <a:cs typeface="Times New Roman"/>
                  </a:rPr>
                </a:br>
                <a:r>
                  <a:rPr lang="en-US" sz="2000" dirty="0" smtClean="0">
                    <a:latin typeface="Verdana"/>
                    <a:ea typeface="Times New Roman"/>
                    <a:cs typeface="Times New Roman"/>
                  </a:rPr>
                  <a:t>the </a:t>
                </a: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discount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10%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. If two </a:t>
                </a:r>
                <a:r>
                  <a:rPr lang="en-US" sz="2000" dirty="0" smtClean="0">
                    <a:latin typeface="Verdana"/>
                    <a:ea typeface="Times New Roman"/>
                    <a:cs typeface="Times New Roman"/>
                  </a:rPr>
                  <a:t>pizzas </a:t>
                </a: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are ordered, the </a:t>
                </a:r>
                <a:r>
                  <a:rPr lang="en-US" sz="2000" dirty="0" smtClean="0">
                    <a:latin typeface="Verdana"/>
                    <a:ea typeface="Times New Roman"/>
                    <a:cs typeface="Times New Roman"/>
                  </a:rPr>
                  <a:t/>
                </a:r>
                <a:br>
                  <a:rPr lang="en-US" sz="2000" dirty="0" smtClean="0">
                    <a:latin typeface="Verdana"/>
                    <a:ea typeface="Times New Roman"/>
                    <a:cs typeface="Times New Roman"/>
                  </a:rPr>
                </a:br>
                <a:r>
                  <a:rPr lang="en-US" sz="2000" dirty="0" smtClean="0">
                    <a:latin typeface="Verdana"/>
                    <a:ea typeface="Times New Roman"/>
                    <a:cs typeface="Times New Roman"/>
                  </a:rPr>
                  <a:t>discount </a:t>
                </a: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20%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, and for three pizzas, the </a:t>
                </a:r>
                <a:r>
                  <a:rPr lang="en-US" sz="2000" dirty="0" smtClean="0">
                    <a:latin typeface="Verdana"/>
                    <a:ea typeface="Times New Roman"/>
                    <a:cs typeface="Times New Roman"/>
                  </a:rPr>
                  <a:t>discount </a:t>
                </a: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goes </a:t>
                </a:r>
                <a:r>
                  <a:rPr lang="en-US" sz="2000" dirty="0" smtClean="0">
                    <a:latin typeface="Verdana"/>
                    <a:ea typeface="Times New Roman"/>
                    <a:cs typeface="Times New Roman"/>
                  </a:rPr>
                  <a:t/>
                </a:r>
                <a:br>
                  <a:rPr lang="en-US" sz="2000" dirty="0" smtClean="0">
                    <a:latin typeface="Verdana"/>
                    <a:ea typeface="Times New Roman"/>
                    <a:cs typeface="Times New Roman"/>
                  </a:rPr>
                </a:br>
                <a:r>
                  <a:rPr lang="en-US" sz="2000" dirty="0" smtClean="0">
                    <a:latin typeface="Verdana"/>
                    <a:ea typeface="Times New Roman"/>
                    <a:cs typeface="Times New Roman"/>
                  </a:rPr>
                  <a:t>up </a:t>
                </a: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30%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.</a:t>
                </a:r>
              </a:p>
              <a:p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Would you rather order </a:t>
                </a:r>
                <a:r>
                  <a:rPr lang="en-US" sz="2000" dirty="0">
                    <a:latin typeface="Cambria Math"/>
                    <a:ea typeface="Times New Roman"/>
                    <a:cs typeface="Times New Roman"/>
                  </a:rPr>
                  <a:t>3</a:t>
                </a: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 pizzas on separate checks, </a:t>
                </a:r>
                <a:r>
                  <a:rPr lang="en-US" sz="2000" dirty="0" smtClean="0">
                    <a:latin typeface="Verdana"/>
                    <a:ea typeface="Times New Roman"/>
                    <a:cs typeface="Times New Roman"/>
                  </a:rPr>
                  <a:t/>
                </a:r>
                <a:br>
                  <a:rPr lang="en-US" sz="2000" dirty="0" smtClean="0">
                    <a:latin typeface="Verdana"/>
                    <a:ea typeface="Times New Roman"/>
                    <a:cs typeface="Times New Roman"/>
                  </a:rPr>
                </a:br>
                <a:r>
                  <a:rPr lang="en-US" sz="2000" dirty="0" smtClean="0">
                    <a:latin typeface="Verdana"/>
                    <a:ea typeface="Times New Roman"/>
                    <a:cs typeface="Times New Roman"/>
                  </a:rPr>
                  <a:t>or </a:t>
                </a: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order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3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 pizzas on the same check and split the cost?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PH" sz="2000" dirty="0" smtClean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Justify your answer using mathematics.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262" y="1463216"/>
                <a:ext cx="10800000" cy="3785652"/>
              </a:xfrm>
              <a:prstGeom prst="rect">
                <a:avLst/>
              </a:prstGeom>
              <a:blipFill rotWithShape="1">
                <a:blip r:embed="rId4"/>
                <a:stretch>
                  <a:fillRect l="-621" t="-805" b="-193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xmlns="" id="{F1992A8F-F621-054D-B71E-96605FF7377D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10" name="Picture 9" descr="Pizza"/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433073" y="1427704"/>
            <a:ext cx="2812415" cy="210947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282;g104476d1465_1_17"/>
          <p:cNvSpPr txBox="1"/>
          <p:nvPr/>
        </p:nvSpPr>
        <p:spPr>
          <a:xfrm>
            <a:off x="8946561" y="649318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344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0561" y="616454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946561" y="649318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0561" y="616454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54575" y="466931"/>
            <a:ext cx="10738022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7.10.2 Exploration: Estimate vs. Actual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9181" y="386250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533620" y="1466014"/>
                <a:ext cx="10800000" cy="3199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Instructions to care for a plant say, “Water with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  <a:ea typeface="Times New Roman"/>
                            <a:cs typeface="Times New Roman"/>
                          </a:rPr>
                          <m:t>3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  <a:ea typeface="Times New Roman"/>
                            <a:cs typeface="Times New Roman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cup of water daily.” The plant has been getting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25%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too much water. How much water has the plant been getting? Include units.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PH" sz="2400" dirty="0">
                  <a:latin typeface="Verdana"/>
                  <a:ea typeface="Times New Roman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/>
                  <a:ea typeface="Times New Roman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The pressure on a bicycle tire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63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psi. This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5%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higher than what the manual states is the correct pressure. What is the correct pressure? Include units.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620" y="1466014"/>
                <a:ext cx="10800000" cy="3199979"/>
              </a:xfrm>
              <a:prstGeom prst="rect">
                <a:avLst/>
              </a:prstGeom>
              <a:blipFill rotWithShape="1">
                <a:blip r:embed="rId4"/>
                <a:stretch>
                  <a:fillRect l="-903" b="-323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xmlns="" id="{D672544D-2ABA-1343-B9BB-B0296BB0511F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2" name="Google Shape;282;g104476d1465_1_17"/>
          <p:cNvSpPr txBox="1"/>
          <p:nvPr/>
        </p:nvSpPr>
        <p:spPr>
          <a:xfrm>
            <a:off x="8946561" y="649318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smtClean="0">
                <a:latin typeface="Calibri"/>
                <a:ea typeface="Calibri"/>
                <a:cs typeface="Calibri"/>
                <a:sym typeface="Calibri"/>
              </a:rPr>
              <a:t>345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0561" y="616454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28462" y="380782"/>
                <a:ext cx="11046940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The crowd at a sporting event is estimated to be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2,500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attendees. The exact attendance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2,486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 people. By what percentage is the estimated attendance off?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4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4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4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4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Discuss with your partner what strategies you used to solve questions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1−3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.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62" y="380782"/>
                <a:ext cx="11046940" cy="3416320"/>
              </a:xfrm>
              <a:prstGeom prst="rect">
                <a:avLst/>
              </a:prstGeom>
              <a:blipFill rotWithShape="1">
                <a:blip r:embed="rId3"/>
                <a:stretch>
                  <a:fillRect l="-883" t="-1604" b="-285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6760BDC3-AF44-C94E-BD05-E61FF805DD32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946561" y="649318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smtClean="0">
                <a:latin typeface="Calibri"/>
                <a:ea typeface="Calibri"/>
                <a:cs typeface="Calibri"/>
                <a:sym typeface="Calibri"/>
              </a:rPr>
              <a:t>345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0561" y="616454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5251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xmlns="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946561" y="649318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smtClean="0">
                <a:latin typeface="Calibri"/>
                <a:ea typeface="Calibri"/>
                <a:cs typeface="Calibri"/>
                <a:sym typeface="Calibri"/>
              </a:rPr>
              <a:t>345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0561" y="616454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50324" y="198545"/>
            <a:ext cx="10793100" cy="1132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7.10.3 Guided Instruction: Percent Error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xmlns="" id="{CBDD45DF-949B-9F42-BFF6-A7167F0CF7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181" y="39120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C01B13E8-EC8D-E443-A329-C5E3593DD13A}"/>
              </a:ext>
            </a:extLst>
          </p:cNvPr>
          <p:cNvSpPr txBox="1"/>
          <p:nvPr/>
        </p:nvSpPr>
        <p:spPr>
          <a:xfrm>
            <a:off x="530464" y="3055810"/>
            <a:ext cx="10800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Verdana"/>
                <a:ea typeface="Times New Roman"/>
                <a:cs typeface="Times New Roman"/>
              </a:rPr>
              <a:t>Percent </a:t>
            </a:r>
            <a:r>
              <a:rPr lang="en-US" sz="2000" dirty="0">
                <a:latin typeface="Verdana"/>
                <a:ea typeface="Times New Roman"/>
                <a:cs typeface="Times New Roman"/>
              </a:rPr>
              <a:t>error can be used to describe any situation where there is a correct value and an incorrect value, and to describe the relative difference between them.</a:t>
            </a:r>
          </a:p>
          <a:p>
            <a:endParaRPr lang="en-PH" sz="2000" dirty="0">
              <a:latin typeface="Verdana"/>
              <a:ea typeface="Verdana" panose="020B0604030504040204" pitchFamily="34" charset="0"/>
              <a:cs typeface="Times New Roman"/>
            </a:endParaRP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xmlns="" id="{2B75021C-9817-6449-B54A-E1D9EB71417A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2146200" y="1456292"/>
            <a:ext cx="8327136" cy="1316650"/>
            <a:chOff x="1127517" y="1165339"/>
            <a:chExt cx="8327136" cy="1316650"/>
          </a:xfrm>
        </p:grpSpPr>
        <p:sp>
          <p:nvSpPr>
            <p:cNvPr id="15" name="Rounded Rectangle 14"/>
            <p:cNvSpPr/>
            <p:nvPr/>
          </p:nvSpPr>
          <p:spPr>
            <a:xfrm>
              <a:off x="1127517" y="1165339"/>
              <a:ext cx="8327136" cy="1316650"/>
            </a:xfrm>
            <a:prstGeom prst="roundRect">
              <a:avLst>
                <a:gd name="adj" fmla="val 16667"/>
              </a:avLst>
            </a:prstGeom>
            <a:solidFill>
              <a:srgbClr val="E2EED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91425" tIns="91440" rIns="91425" bIns="0" anchor="ctr" anchorCtr="0">
              <a:spAutoFit/>
            </a:bodyPr>
            <a:lstStyle/>
            <a:p>
              <a:pPr marL="742950">
                <a:spcAft>
                  <a:spcPts val="1000"/>
                </a:spcAft>
              </a:pPr>
              <a:r>
                <a:rPr lang="en-US" sz="2000" b="1" i="1" dirty="0">
                  <a:solidFill>
                    <a:srgbClr val="6C993D"/>
                  </a:solidFill>
                  <a:latin typeface="Verdana"/>
                  <a:ea typeface="Verdana"/>
                  <a:cs typeface="Verdana"/>
                </a:rPr>
                <a:t>Percent error</a:t>
              </a:r>
              <a:r>
                <a:rPr lang="en-US" sz="2000" dirty="0">
                  <a:solidFill>
                    <a:srgbClr val="6C993D"/>
                  </a:solidFill>
                  <a:latin typeface="Verdana"/>
                  <a:ea typeface="Verdana"/>
                  <a:cs typeface="Verdana"/>
                </a:rPr>
                <a:t> is the difference between the estimated number and the actual number as a percentage of the actual value.</a:t>
              </a:r>
              <a:endParaRPr lang="en-US" sz="2000" dirty="0">
                <a:latin typeface="Cambria"/>
                <a:ea typeface="Times New Roman"/>
                <a:cs typeface="Times New Roman"/>
              </a:endParaRPr>
            </a:p>
          </p:txBody>
        </p:sp>
        <p:pic>
          <p:nvPicPr>
            <p:cNvPr id="16" name="Shape 7" descr="Icon&#10;&#10;Description automatically generated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344685" y="1389185"/>
              <a:ext cx="548631" cy="548396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1" name="Google Shape;282;g104476d1465_1_17"/>
          <p:cNvSpPr txBox="1"/>
          <p:nvPr/>
        </p:nvSpPr>
        <p:spPr>
          <a:xfrm>
            <a:off x="8946561" y="649318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smtClean="0">
                <a:latin typeface="Calibri"/>
                <a:ea typeface="Calibri"/>
                <a:cs typeface="Calibri"/>
                <a:sym typeface="Calibri"/>
              </a:rPr>
              <a:t>345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0561" y="616454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36378" y="380059"/>
                <a:ext cx="10800000" cy="55667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Times New Roman"/>
                  </a:rPr>
                  <a:t>A teacher estimates there are approximately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</a:rPr>
                      <m:t>600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</a:rPr>
                  <a:t> students at his school, but in actuality there are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</a:rPr>
                      <m:t>625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</a:rPr>
                  <a:t> students enrolled.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/>
                  <a:ea typeface="Times New Roman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Times New Roman"/>
                  </a:rPr>
                  <a:t>What is the difference between the teacher’s estimate and the actual number of students enrolled at the school?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 smtClean="0">
                  <a:latin typeface="Verdana"/>
                  <a:ea typeface="Times New Roman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/>
                  <a:ea typeface="Times New Roman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Using the definition of percent error, finish filling out the ratio of the situation.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914400" algn="ctr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PH" sz="2400" i="1">
                            <a:latin typeface="Cambria Math"/>
                            <a:ea typeface="Verdana" panose="020B0604030504040204" pitchFamily="34" charset="0"/>
                            <a:cs typeface="Times New Roman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PH" sz="2400" i="1">
                                <a:latin typeface="Cambria Math"/>
                                <a:ea typeface="Verdana" panose="020B0604030504040204" pitchFamily="34" charset="0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/>
                                <a:ea typeface="Times New Roman"/>
                                <a:cs typeface="Times New Roman"/>
                              </a:rPr>
                              <m:t>Expected</m:t>
                            </m:r>
                            <m:r>
                              <a:rPr lang="en-US" sz="2400">
                                <a:latin typeface="Cambria Math"/>
                                <a:ea typeface="Times New Roman"/>
                                <a:cs typeface="Times New Roman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/>
                                <a:ea typeface="Times New Roman"/>
                                <a:cs typeface="Times New Roman"/>
                              </a:rPr>
                              <m:t>Value</m:t>
                            </m:r>
                            <m:r>
                              <a:rPr lang="en-PH" sz="2400">
                                <a:latin typeface="Cambria Math"/>
                                <a:ea typeface="Times New Roman"/>
                                <a:cs typeface="Times New Roman"/>
                              </a:rPr>
                              <m:t> </m:t>
                            </m:r>
                            <m:r>
                              <a:rPr lang="en-PH" sz="2400" i="1">
                                <a:latin typeface="Cambria Math"/>
                                <a:ea typeface="Times New Roman"/>
                                <a:cs typeface="Times New Roman"/>
                              </a:rPr>
                              <m:t>− </m:t>
                            </m:r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/>
                                <a:ea typeface="Times New Roman"/>
                                <a:cs typeface="Times New Roman"/>
                              </a:rPr>
                              <m:t>Actual</m:t>
                            </m:r>
                            <m:r>
                              <a:rPr lang="en-US" sz="2400">
                                <a:latin typeface="Cambria Math"/>
                                <a:ea typeface="Times New Roman"/>
                                <a:cs typeface="Times New Roman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/>
                                <a:ea typeface="Times New Roman"/>
                                <a:cs typeface="Times New Roman"/>
                              </a:rPr>
                              <m:t>Value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/>
                                <a:ea typeface="Times New Roman"/>
                                <a:cs typeface="Times New Roman"/>
                              </a:rPr>
                              <m:t>Actual</m:t>
                            </m:r>
                            <m:r>
                              <a:rPr lang="en-US" sz="2400">
                                <a:latin typeface="Cambria Math"/>
                                <a:ea typeface="Times New Roman"/>
                                <a:cs typeface="Times New Roman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/>
                                <a:ea typeface="Times New Roman"/>
                                <a:cs typeface="Times New Roman"/>
                              </a:rPr>
                              <m:t>Value</m:t>
                            </m:r>
                          </m:den>
                        </m:f>
                      </m:e>
                    </m:d>
                    <m:r>
                      <a:rPr lang="en-PH" sz="2400" i="1">
                        <a:latin typeface="Cambria Math"/>
                        <a:ea typeface="Verdana" panose="020B0604030504040204" pitchFamily="34" charset="0"/>
                        <a:cs typeface="Times New Roman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PH" sz="2400" i="1">
                            <a:latin typeface="Cambria Math"/>
                            <a:ea typeface="Verdana" panose="020B0604030504040204" pitchFamily="34" charset="0"/>
                            <a:cs typeface="Times New Roman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PH" sz="2400" i="1">
                                <a:latin typeface="Cambria Math"/>
                                <a:ea typeface="Verdana" panose="020B0604030504040204" pitchFamily="34" charset="0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PH" sz="2400" i="1">
                                <a:latin typeface="Cambria Math"/>
                                <a:ea typeface="Verdana" panose="020B0604030504040204" pitchFamily="34" charset="0"/>
                                <a:cs typeface="Times New Roman"/>
                              </a:rPr>
                              <m:t>            </m:t>
                            </m:r>
                          </m:num>
                          <m:den>
                            <m:r>
                              <a:rPr lang="en-PH" sz="2400" i="1">
                                <a:latin typeface="Cambria Math"/>
                                <a:ea typeface="Verdana" panose="020B0604030504040204" pitchFamily="34" charset="0"/>
                                <a:cs typeface="Times New Roman"/>
                              </a:rPr>
                              <m:t> </m:t>
                            </m:r>
                          </m:den>
                        </m:f>
                      </m:e>
                    </m:d>
                    <m:r>
                      <a:rPr lang="en-PH" sz="2400" i="1">
                        <a:latin typeface="Cambria Math"/>
                        <a:ea typeface="Verdana" panose="020B0604030504040204" pitchFamily="34" charset="0"/>
                        <a:cs typeface="Times New Roman"/>
                      </a:rPr>
                      <m:t>=0.</m:t>
                    </m:r>
                  </m:oMath>
                </a14:m>
                <a:r>
                  <a:rPr lang="en-PH" sz="2000" dirty="0">
                    <a:latin typeface="Verdana"/>
                    <a:ea typeface="Verdana" panose="020B0604030504040204" pitchFamily="34" charset="0"/>
                    <a:cs typeface="Times New Roman"/>
                  </a:rPr>
                  <a:t>_____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/>
                    <a:ea typeface="Times New Roman"/>
                  </a:rPr>
                  <a:t>The percent error in the teacher’s estimate is ____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</a:rPr>
                      <m:t>%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 startAt="3"/>
                </a:pPr>
                <a:endParaRPr lang="en-PH" sz="2000" dirty="0" smtClean="0">
                  <a:latin typeface="Verdana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PH" sz="2000" dirty="0">
                  <a:latin typeface="Verdana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/>
                    <a:ea typeface="Times New Roman"/>
                  </a:rPr>
                  <a:t>Discuss with your partner why the percent error is positive. Summarize your discussion.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378" y="380059"/>
                <a:ext cx="10800000" cy="5566780"/>
              </a:xfrm>
              <a:prstGeom prst="rect">
                <a:avLst/>
              </a:prstGeom>
              <a:blipFill rotWithShape="1">
                <a:blip r:embed="rId3"/>
                <a:stretch>
                  <a:fillRect l="-621" t="-656" b="-985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D2AEBEA3-B321-FF43-939E-DBF04267F34A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946561" y="649318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smtClean="0">
                <a:latin typeface="Calibri"/>
                <a:ea typeface="Calibri"/>
                <a:cs typeface="Calibri"/>
                <a:sym typeface="Calibri"/>
              </a:rPr>
              <a:t>345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0561" y="616454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17750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32899" y="393737"/>
                <a:ext cx="10800000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/>
                    <a:ea typeface="Times New Roman"/>
                  </a:rPr>
                  <a:t>The front of a cereal box lists the net weight of the product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</a:rPr>
                      <m:t>21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</a:rPr>
                  <a:t> ounces (</a:t>
                </a:r>
                <a:r>
                  <a:rPr lang="en-US" sz="2000" dirty="0" err="1">
                    <a:latin typeface="Verdana"/>
                    <a:ea typeface="Times New Roman"/>
                  </a:rPr>
                  <a:t>oz</a:t>
                </a:r>
                <a:r>
                  <a:rPr lang="en-US" sz="2000" dirty="0">
                    <a:latin typeface="Verdana"/>
                    <a:ea typeface="Times New Roman"/>
                  </a:rPr>
                  <a:t>). After further measurements, it is determined there are actually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</a:rPr>
                      <m:t>23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</a:rPr>
                  <a:t> </a:t>
                </a:r>
                <a:r>
                  <a:rPr lang="en-US" sz="2000" dirty="0" err="1">
                    <a:latin typeface="Verdana"/>
                    <a:ea typeface="Times New Roman"/>
                  </a:rPr>
                  <a:t>oz</a:t>
                </a:r>
                <a:r>
                  <a:rPr lang="en-US" sz="2000" dirty="0">
                    <a:latin typeface="Verdana"/>
                    <a:ea typeface="Times New Roman"/>
                  </a:rPr>
                  <a:t> of cereal in the box.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/>
                  <a:ea typeface="Times New Roman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Times New Roman"/>
                  </a:rPr>
                  <a:t>What is the difference, in ounces, between the weight listed on the box and the measured weight?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Times New Roman"/>
                  </a:rPr>
                  <a:t>Find the percent error. Show your work.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899" y="393737"/>
                <a:ext cx="10800000" cy="2862322"/>
              </a:xfrm>
              <a:prstGeom prst="rect">
                <a:avLst/>
              </a:prstGeom>
              <a:blipFill rotWithShape="1">
                <a:blip r:embed="rId3"/>
                <a:stretch>
                  <a:fillRect l="-564" t="-1279" r="-1185" b="-2985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D2AEBEA3-B321-FF43-939E-DBF04267F34A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946561" y="649318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346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0561" y="616454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406729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946561" y="649318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smtClean="0">
                <a:latin typeface="Calibri"/>
                <a:ea typeface="Calibri"/>
                <a:cs typeface="Calibri"/>
                <a:sym typeface="Calibri"/>
              </a:rPr>
              <a:t>346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0561" y="616454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58467" y="103258"/>
            <a:ext cx="999579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7.10.4 Guided Practice: Percent Error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6673" y="391204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529419" y="1467397"/>
                <a:ext cx="10800000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Times New Roman"/>
                  </a:rPr>
                  <a:t>A store owner estimated she would have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</a:rPr>
                      <m:t>125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</a:rPr>
                  <a:t> customers in her store on its opening day. She underestimated the number of customers by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</a:rPr>
                      <m:t>8%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</a:rPr>
                  <a:t>. How many customers visited the store on opening day?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PH" sz="2000" dirty="0">
                  <a:latin typeface="Verdana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PH" sz="2000" dirty="0">
                  <a:latin typeface="Verdana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PH" sz="2000" dirty="0">
                  <a:latin typeface="Verdana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PH" sz="2000" dirty="0">
                  <a:latin typeface="Verdana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To be labeled a jumbo egg, the egg is supposed to weigh</a:t>
                </a:r>
                <a:r>
                  <a:rPr lang="en-US" sz="2000" dirty="0">
                    <a:latin typeface="Times New Roman"/>
                    <a:ea typeface="Times New Roman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</a:rPr>
                      <m:t>2.5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</a:rPr>
                  <a:t> ounces (</a:t>
                </a:r>
                <a:r>
                  <a:rPr lang="en-US" sz="2000" dirty="0" err="1">
                    <a:latin typeface="Verdana"/>
                    <a:ea typeface="Times New Roman"/>
                  </a:rPr>
                  <a:t>oz</a:t>
                </a:r>
                <a:r>
                  <a:rPr lang="en-US" sz="2000" dirty="0">
                    <a:latin typeface="Verdana"/>
                    <a:ea typeface="Times New Roman"/>
                  </a:rPr>
                  <a:t>)</a:t>
                </a:r>
                <a:r>
                  <a:rPr lang="en-US" sz="2000" dirty="0">
                    <a:latin typeface="Times New Roman"/>
                    <a:ea typeface="Times New Roman"/>
                  </a:rPr>
                  <a:t>. </a:t>
                </a: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Alana buys a carton of jumbo eggs and measures one of the eggs as </a:t>
                </a:r>
                <a:r>
                  <a:rPr lang="en-US" sz="2000" dirty="0">
                    <a:latin typeface="Cambria Math"/>
                    <a:ea typeface="Times New Roman"/>
                    <a:cs typeface="Times New Roman"/>
                  </a:rPr>
                  <a:t>2.4 </a:t>
                </a:r>
                <a:r>
                  <a:rPr lang="en-US" sz="2000" dirty="0">
                    <a:latin typeface="Verdana"/>
                    <a:ea typeface="Times New Roman"/>
                  </a:rPr>
                  <a:t>oz</a:t>
                </a:r>
                <a:r>
                  <a:rPr lang="en-US" sz="2000" dirty="0">
                    <a:latin typeface="Times New Roman"/>
                    <a:ea typeface="Times New Roman"/>
                  </a:rPr>
                  <a:t>. </a:t>
                </a: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What is the percent error?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419" y="1467397"/>
                <a:ext cx="10800000" cy="3170099"/>
              </a:xfrm>
              <a:prstGeom prst="rect">
                <a:avLst/>
              </a:prstGeom>
              <a:blipFill rotWithShape="1">
                <a:blip r:embed="rId4"/>
                <a:stretch>
                  <a:fillRect l="-621" t="-1154" r="-1185" b="-2500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xmlns="" id="{DC83FE6C-2A92-0840-AA21-B0B38F631C93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2" name="Google Shape;282;g104476d1465_1_17"/>
          <p:cNvSpPr txBox="1"/>
          <p:nvPr/>
        </p:nvSpPr>
        <p:spPr>
          <a:xfrm>
            <a:off x="8946561" y="649318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smtClean="0">
                <a:latin typeface="Calibri"/>
                <a:ea typeface="Calibri"/>
                <a:cs typeface="Calibri"/>
                <a:sym typeface="Calibri"/>
              </a:rPr>
              <a:t>346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0561" y="616454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2950" y="369473"/>
                <a:ext cx="10800000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A student estimates there to be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</a:rPr>
                      <m:t>25.7 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milliliters (mL) of a solution in his beaker in science class. He underestimated the amount by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</a:rPr>
                      <m:t>12.5%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. What was the actual amount of solution in the beaker? Round to the nearest thousandth.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000" dirty="0">
                  <a:latin typeface="Verdana" pitchFamily="34" charset="0"/>
                  <a:ea typeface="Verdana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000" dirty="0">
                  <a:latin typeface="Verdana" pitchFamily="34" charset="0"/>
                  <a:ea typeface="Verdana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000" dirty="0">
                  <a:latin typeface="Verdana" pitchFamily="34" charset="0"/>
                  <a:ea typeface="Verdana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000" dirty="0">
                  <a:latin typeface="Verdana" pitchFamily="34" charset="0"/>
                  <a:ea typeface="Verdana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000" dirty="0">
                  <a:latin typeface="Verdana" pitchFamily="34" charset="0"/>
                  <a:ea typeface="Verdana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000" dirty="0">
                  <a:latin typeface="Verdana" pitchFamily="34" charset="0"/>
                  <a:ea typeface="Verdana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 err="1">
                    <a:latin typeface="Verdana" pitchFamily="34" charset="0"/>
                    <a:ea typeface="Verdana" pitchFamily="34" charset="0"/>
                  </a:rPr>
                  <a:t>Lia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 wanted to take advantage of the pizza special on </a:t>
                </a: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“Multiple 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Monday</a:t>
                </a:r>
                <a:r>
                  <a:rPr lang="en-US" sz="2000" dirty="0" smtClean="0">
                    <a:latin typeface="Verdana" pitchFamily="34" charset="0"/>
                    <a:ea typeface="Verdana" pitchFamily="34" charset="0"/>
                  </a:rPr>
                  <a:t>.” 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She estimates it will cost her 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  <a:ea typeface="Verdana" pitchFamily="34" charset="0"/>
                      </a:rPr>
                      <m:t>$28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 for two large cheese pizzas after the discount is applied. The actual cost is 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  <a:ea typeface="Verdana" pitchFamily="34" charset="0"/>
                      </a:rPr>
                      <m:t>$28.80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. What is the percent error? Round to the nearest whole percent.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950" y="369473"/>
                <a:ext cx="10800000" cy="4093428"/>
              </a:xfrm>
              <a:prstGeom prst="rect">
                <a:avLst/>
              </a:prstGeom>
              <a:blipFill rotWithShape="1">
                <a:blip r:embed="rId3"/>
                <a:stretch>
                  <a:fillRect l="-564" t="-894" r="-847" b="-178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DCFC9A26-671E-2C45-82EC-8B136C03E0A5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946561" y="649318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0561" y="616454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068378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xmlns="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946561" y="649318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0561" y="616454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xmlns="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53349" y="391204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7.10.5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xmlns="" id="{032D5487-B5A9-DE4B-AE87-33198BE161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181" y="391204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759C3E41-93EC-B84D-963F-86A3B15AC1C6}"/>
              </a:ext>
            </a:extLst>
          </p:cNvPr>
          <p:cNvSpPr txBox="1"/>
          <p:nvPr/>
        </p:nvSpPr>
        <p:spPr>
          <a:xfrm>
            <a:off x="534461" y="1468055"/>
            <a:ext cx="1124464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A booth at the local carnival had various jars of candy that carnival-goers could win. Carnival-goers had to estimate the number of pieces of candy that were in the jar, with the closest estimate winning the prize.</a:t>
            </a:r>
            <a:br>
              <a:rPr lang="en-US" sz="2000" dirty="0">
                <a:latin typeface="Verdana"/>
                <a:ea typeface="Times New Roman"/>
                <a:cs typeface="Times New Roman"/>
              </a:rPr>
            </a:br>
            <a:r>
              <a:rPr lang="en-US" sz="2000" dirty="0">
                <a:latin typeface="Verdana"/>
                <a:ea typeface="Times New Roman"/>
                <a:cs typeface="Times New Roman"/>
              </a:rPr>
              <a:t/>
            </a:r>
            <a:br>
              <a:rPr lang="en-US" sz="2000" dirty="0">
                <a:latin typeface="Verdana"/>
                <a:ea typeface="Times New Roman"/>
                <a:cs typeface="Times New Roman"/>
              </a:rPr>
            </a:br>
            <a:r>
              <a:rPr lang="en-US" sz="2000" dirty="0" err="1">
                <a:latin typeface="Verdana"/>
                <a:ea typeface="Times New Roman"/>
                <a:cs typeface="Times New Roman"/>
              </a:rPr>
              <a:t>Brynn’s</a:t>
            </a:r>
            <a:r>
              <a:rPr lang="en-US" sz="2000" dirty="0">
                <a:latin typeface="Verdana"/>
                <a:ea typeface="Times New Roman"/>
                <a:cs typeface="Times New Roman"/>
              </a:rPr>
              <a:t> guess for the jar of candy corn was </a:t>
            </a:r>
            <a:r>
              <a:rPr lang="en-US" sz="2000" dirty="0">
                <a:latin typeface="Cambria Math"/>
                <a:ea typeface="Times New Roman"/>
                <a:cs typeface="Times New Roman"/>
              </a:rPr>
              <a:t>303</a:t>
            </a:r>
            <a:r>
              <a:rPr lang="en-US" sz="2000" dirty="0">
                <a:latin typeface="Verdana"/>
                <a:ea typeface="Times New Roman"/>
                <a:cs typeface="Times New Roman"/>
              </a:rPr>
              <a:t> pieces, and </a:t>
            </a:r>
            <a:r>
              <a:rPr lang="en-US" sz="2000" dirty="0" err="1">
                <a:latin typeface="Verdana"/>
                <a:ea typeface="Times New Roman"/>
                <a:cs typeface="Times New Roman"/>
              </a:rPr>
              <a:t>Cale’s</a:t>
            </a:r>
            <a:r>
              <a:rPr lang="en-US" sz="2000" dirty="0">
                <a:latin typeface="Verdana"/>
                <a:ea typeface="Times New Roman"/>
                <a:cs typeface="Times New Roman"/>
              </a:rPr>
              <a:t> guess for the jar of jawbreakers was </a:t>
            </a:r>
            <a:r>
              <a:rPr lang="en-US" sz="2000" dirty="0">
                <a:latin typeface="Cambria Math"/>
                <a:ea typeface="Times New Roman"/>
                <a:cs typeface="Times New Roman"/>
              </a:rPr>
              <a:t>187</a:t>
            </a:r>
            <a:r>
              <a:rPr lang="en-US" sz="2000" dirty="0">
                <a:latin typeface="Verdana"/>
                <a:ea typeface="Times New Roman"/>
                <a:cs typeface="Times New Roman"/>
              </a:rPr>
              <a:t>.</a:t>
            </a:r>
            <a:br>
              <a:rPr lang="en-US" sz="2000" dirty="0">
                <a:latin typeface="Verdana"/>
                <a:ea typeface="Times New Roman"/>
                <a:cs typeface="Times New Roman"/>
              </a:rPr>
            </a:br>
            <a:r>
              <a:rPr lang="en-US" sz="2000" dirty="0">
                <a:latin typeface="Verdana"/>
                <a:ea typeface="Times New Roman"/>
                <a:cs typeface="Times New Roman"/>
              </a:rPr>
              <a:t/>
            </a:r>
            <a:br>
              <a:rPr lang="en-US" sz="2000" dirty="0">
                <a:latin typeface="Verdana"/>
                <a:ea typeface="Times New Roman"/>
                <a:cs typeface="Times New Roman"/>
              </a:rPr>
            </a:br>
            <a:r>
              <a:rPr lang="en-US" sz="2000" dirty="0">
                <a:latin typeface="Verdana"/>
                <a:ea typeface="Times New Roman"/>
                <a:cs typeface="Times New Roman"/>
              </a:rPr>
              <a:t>The actual number of candies in each jar are shown.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59064" y="4289276"/>
            <a:ext cx="3216275" cy="2239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Explosion 1 16"/>
              <p:cNvSpPr/>
              <p:nvPr/>
            </p:nvSpPr>
            <p:spPr>
              <a:xfrm>
                <a:off x="5833237" y="4299118"/>
                <a:ext cx="3415030" cy="2230120"/>
              </a:xfrm>
              <a:prstGeom prst="irregularSeal1">
                <a:avLst/>
              </a:prstGeom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1000"/>
                  </a:spcAft>
                </a:pPr>
                <a:r>
                  <a:rPr lang="en-US" sz="1800" b="1" dirty="0">
                    <a:latin typeface="Verdana"/>
                    <a:ea typeface="Times New Roman"/>
                    <a:cs typeface="Times New Roman"/>
                  </a:rPr>
                  <a:t>Jawbreakers</a:t>
                </a:r>
                <a:endParaRPr lang="en-US" sz="1200" dirty="0">
                  <a:ea typeface="Times New Roman"/>
                  <a:cs typeface="Times New Roman"/>
                </a:endParaRPr>
              </a:p>
              <a:p>
                <a:pPr algn="ctr">
                  <a:spcAft>
                    <a:spcPts val="1000"/>
                  </a:spcAft>
                </a:pPr>
                <a14:m>
                  <m:oMath xmlns:m="http://schemas.openxmlformats.org/officeDocument/2006/math">
                    <m:r>
                      <a:rPr lang="en-US" sz="1800" b="1" i="1">
                        <a:latin typeface="Cambria Math"/>
                        <a:ea typeface="Times New Roman"/>
                        <a:cs typeface="Times New Roman"/>
                      </a:rPr>
                      <m:t>𝟐𝟑𝟓</m:t>
                    </m:r>
                  </m:oMath>
                </a14:m>
                <a:r>
                  <a:rPr lang="en-US" sz="1800" b="1" dirty="0">
                    <a:latin typeface="Verdana"/>
                    <a:ea typeface="Times New Roman"/>
                    <a:cs typeface="Times New Roman"/>
                  </a:rPr>
                  <a:t> Pieces</a:t>
                </a:r>
                <a:endParaRPr lang="en-US" sz="1200" dirty="0"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17" name="Explosion 1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3237" y="4299118"/>
                <a:ext cx="3415030" cy="2230120"/>
              </a:xfrm>
              <a:prstGeom prst="irregularSeal1">
                <a:avLst/>
              </a:prstGeom>
              <a:blipFill>
                <a:blip r:embed="rId6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/>
          <p:cNvSpPr txBox="1"/>
          <p:nvPr/>
        </p:nvSpPr>
        <p:spPr>
          <a:xfrm>
            <a:off x="8946561" y="649318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0561" y="616454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Google Shape;278;g104476d1465_1_17">
            <a:extLst>
              <a:ext uri="{FF2B5EF4-FFF2-40B4-BE49-F238E27FC236}">
                <a16:creationId xmlns:a16="http://schemas.microsoft.com/office/drawing/2014/main" xmlns="" id="{B513ABD8-4288-F244-A3F2-80C31058217B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35299" y="384618"/>
            <a:ext cx="108000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/>
            <a:r>
              <a:rPr lang="en-US" sz="2000" dirty="0">
                <a:latin typeface="Verdana"/>
                <a:ea typeface="Times New Roman"/>
                <a:cs typeface="Times New Roman"/>
              </a:rPr>
              <a:t>Use percent error to explain whose guess was closest, relative to the number of candies in the jar.</a:t>
            </a:r>
          </a:p>
          <a:p>
            <a:endParaRPr lang="en-PH" sz="2000" dirty="0">
              <a:latin typeface="Verdana"/>
              <a:ea typeface="Verdana" panose="020B0604030504040204" pitchFamily="34" charset="0"/>
              <a:cs typeface="Times New Roman"/>
            </a:endParaRPr>
          </a:p>
          <a:p>
            <a:endParaRPr lang="en-PH" sz="2000" dirty="0">
              <a:latin typeface="Verdana"/>
              <a:ea typeface="Verdana" panose="020B0604030504040204" pitchFamily="34" charset="0"/>
              <a:cs typeface="Times New Roman"/>
            </a:endParaRPr>
          </a:p>
          <a:p>
            <a:endParaRPr lang="en-PH" sz="2000" dirty="0">
              <a:latin typeface="Verdana"/>
              <a:ea typeface="Verdana" panose="020B0604030504040204" pitchFamily="34" charset="0"/>
              <a:cs typeface="Times New Roman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A student estimated it would take </a:t>
            </a:r>
            <a:r>
              <a:rPr lang="en-US" sz="2000" dirty="0">
                <a:latin typeface="Cambria Math"/>
                <a:ea typeface="Times New Roman"/>
                <a:cs typeface="Times New Roman"/>
              </a:rPr>
              <a:t>3 </a:t>
            </a:r>
            <a:r>
              <a:rPr lang="en-US" sz="2000" dirty="0">
                <a:latin typeface="Verdana"/>
                <a:ea typeface="Times New Roman"/>
                <a:cs typeface="Times New Roman"/>
              </a:rPr>
              <a:t>hours to write a book report, but it took her </a:t>
            </a:r>
            <a:r>
              <a:rPr lang="en-US" sz="2000" dirty="0">
                <a:latin typeface="Cambria Math"/>
                <a:ea typeface="Times New Roman"/>
                <a:cs typeface="Times New Roman"/>
              </a:rPr>
              <a:t>5 </a:t>
            </a:r>
            <a:r>
              <a:rPr lang="en-US" sz="2000" dirty="0">
                <a:latin typeface="Verdana"/>
                <a:ea typeface="Times New Roman"/>
                <a:cs typeface="Times New Roman"/>
              </a:rPr>
              <a:t>hours. What is the percent error for her estimate? Round to the nearest tenth.</a:t>
            </a: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 panose="020B0604030504040204" pitchFamily="34" charset="0"/>
              <a:cs typeface="Times New Roman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 panose="020B0604030504040204" pitchFamily="34" charset="0"/>
              <a:cs typeface="Times New Roman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 panose="020B0604030504040204" pitchFamily="34" charset="0"/>
              <a:cs typeface="Times New Roman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 panose="020B0604030504040204" pitchFamily="34" charset="0"/>
              <a:cs typeface="Times New Roman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 panose="020B0604030504040204" pitchFamily="34" charset="0"/>
              <a:cs typeface="Times New Roman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It took </a:t>
            </a:r>
            <a:r>
              <a:rPr lang="en-US" sz="2000" dirty="0">
                <a:latin typeface="Cambria Math"/>
                <a:ea typeface="Times New Roman"/>
                <a:cs typeface="Times New Roman"/>
              </a:rPr>
              <a:t>48</a:t>
            </a:r>
            <a:r>
              <a:rPr lang="en-US" sz="2000" dirty="0">
                <a:latin typeface="Verdana"/>
                <a:ea typeface="Times New Roman"/>
                <a:cs typeface="Times New Roman"/>
              </a:rPr>
              <a:t> minutes to drive downtown. An app estimated it would be less than that. If the error was </a:t>
            </a:r>
            <a:r>
              <a:rPr lang="en-US" sz="2000" dirty="0">
                <a:latin typeface="Cambria Math"/>
                <a:ea typeface="Times New Roman"/>
                <a:cs typeface="Times New Roman"/>
              </a:rPr>
              <a:t>20%</a:t>
            </a:r>
            <a:r>
              <a:rPr lang="en-US" sz="2000" dirty="0">
                <a:latin typeface="Verdana"/>
                <a:ea typeface="Times New Roman"/>
                <a:cs typeface="Times New Roman"/>
              </a:rPr>
              <a:t>, what was the app’s estimate?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C626DD4B-AF0E-B846-831C-21AC8FD45F48}"/>
              </a:ext>
            </a:extLst>
          </p:cNvPr>
          <p:cNvSpPr/>
          <p:nvPr/>
        </p:nvSpPr>
        <p:spPr>
          <a:xfrm>
            <a:off x="3186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946561" y="649318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0561" y="616454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24357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946561" y="649318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0561" y="616454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xmlns="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58298" y="102004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7.10.6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xmlns="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181" y="39120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0370EDB7-6994-3D43-ABF9-E04CBAFB9CD9}"/>
              </a:ext>
            </a:extLst>
          </p:cNvPr>
          <p:cNvSpPr txBox="1"/>
          <p:nvPr/>
        </p:nvSpPr>
        <p:spPr>
          <a:xfrm>
            <a:off x="530978" y="1463132"/>
            <a:ext cx="11145794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/>
                <a:ea typeface="Times New Roman"/>
                <a:cs typeface="Times New Roman"/>
              </a:rPr>
              <a:t>In this unit, you have learned multiple concepts about percentages and proportional relationships, including those listed below.</a:t>
            </a:r>
          </a:p>
          <a:p>
            <a:endParaRPr lang="en-PH" sz="2000" dirty="0">
              <a:latin typeface="Verdana"/>
              <a:ea typeface="Verdana" panose="020B0604030504040204" pitchFamily="34" charset="0"/>
              <a:cs typeface="Times New Roman"/>
            </a:endParaRPr>
          </a:p>
          <a:p>
            <a:pPr marL="541338" indent="-26670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Showing the relationship between angle measure and the amount of a circle</a:t>
            </a:r>
          </a:p>
          <a:p>
            <a:pPr marL="541338" indent="-26670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Finding the area of a sector in a circle</a:t>
            </a:r>
          </a:p>
          <a:p>
            <a:pPr marL="541338" indent="-26670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Constructing and interpreting a circle graph</a:t>
            </a:r>
          </a:p>
          <a:p>
            <a:pPr marL="541338" indent="-26670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Solving discount, markup, tax, tip, and fees problems</a:t>
            </a:r>
          </a:p>
          <a:p>
            <a:pPr marL="541338" indent="-26670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Finding percentage of increase and decrease</a:t>
            </a:r>
          </a:p>
          <a:p>
            <a:pPr marL="541338" indent="-266700">
              <a:buFont typeface="Arial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Finding percent error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xmlns="" id="{C9825640-5649-F74D-866E-EC8F188D5640}"/>
              </a:ext>
            </a:extLst>
          </p:cNvPr>
          <p:cNvSpPr/>
          <p:nvPr/>
        </p:nvSpPr>
        <p:spPr>
          <a:xfrm>
            <a:off x="1392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946561" y="649318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0561" y="616454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31101" y="384572"/>
            <a:ext cx="106638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Use the stoplight reflection below to share how you are feeling about each of the concepts at this point.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B513ABD8-4288-F244-A3F2-80C31058217B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7" name="Picture 6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2482215" y="1511619"/>
            <a:ext cx="1802130" cy="346900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Rectangle 2"/>
          <p:cNvSpPr/>
          <p:nvPr/>
        </p:nvSpPr>
        <p:spPr>
          <a:xfrm>
            <a:off x="4475280" y="1505051"/>
            <a:ext cx="5577697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Verdana"/>
                <a:ea typeface="Times New Roman"/>
                <a:cs typeface="Times New Roman"/>
              </a:rPr>
              <a:t>I still feel stuck on how to …</a:t>
            </a:r>
          </a:p>
          <a:p>
            <a:endParaRPr lang="en-PH" sz="2000" dirty="0">
              <a:latin typeface="Verdana"/>
              <a:cs typeface="Times New Roman"/>
            </a:endParaRPr>
          </a:p>
          <a:p>
            <a:endParaRPr lang="en-PH" sz="2000" dirty="0">
              <a:latin typeface="Verdana"/>
              <a:cs typeface="Times New Roman"/>
            </a:endParaRPr>
          </a:p>
          <a:p>
            <a:endParaRPr lang="en-PH" sz="2000" dirty="0">
              <a:latin typeface="Verdana"/>
              <a:cs typeface="Times New Roman"/>
            </a:endParaRPr>
          </a:p>
          <a:p>
            <a:endParaRPr lang="en-PH" sz="2000" dirty="0">
              <a:latin typeface="Verdana"/>
              <a:cs typeface="Times New Roman"/>
            </a:endParaRPr>
          </a:p>
          <a:p>
            <a:r>
              <a:rPr lang="en-US" sz="2000" dirty="0">
                <a:latin typeface="Verdana"/>
                <a:ea typeface="Times New Roman"/>
                <a:cs typeface="Times New Roman"/>
              </a:rPr>
              <a:t>I’m starting to get the hang of …</a:t>
            </a:r>
          </a:p>
          <a:p>
            <a:endParaRPr lang="en-PH" sz="2000" dirty="0">
              <a:latin typeface="Verdana"/>
              <a:cs typeface="Times New Roman"/>
            </a:endParaRPr>
          </a:p>
          <a:p>
            <a:endParaRPr lang="en-PH" sz="2000" dirty="0">
              <a:latin typeface="Verdana"/>
              <a:cs typeface="Times New Roman"/>
            </a:endParaRPr>
          </a:p>
          <a:p>
            <a:endParaRPr lang="en-PH" sz="2000" dirty="0">
              <a:latin typeface="Verdana"/>
              <a:cs typeface="Times New Roman"/>
            </a:endParaRPr>
          </a:p>
          <a:p>
            <a:endParaRPr lang="en-PH" sz="2000" dirty="0">
              <a:latin typeface="Verdana"/>
              <a:cs typeface="Times New Roman"/>
            </a:endParaRPr>
          </a:p>
          <a:p>
            <a:r>
              <a:rPr lang="en-US" sz="2000" dirty="0">
                <a:latin typeface="Verdana"/>
                <a:ea typeface="Times New Roman"/>
                <a:cs typeface="Times New Roman"/>
              </a:rPr>
              <a:t>I feel confident and ready to go with …</a:t>
            </a:r>
            <a:endParaRPr lang="en-US" sz="2000" dirty="0"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946561" y="649318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0561" y="616454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4174109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1333</TotalTime>
  <Words>947</Words>
  <Application>Microsoft Office PowerPoint</Application>
  <PresentationFormat>Custom</PresentationFormat>
  <Paragraphs>153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Cambria</vt:lpstr>
      <vt:lpstr>Arial Black</vt:lpstr>
      <vt:lpstr>Verdana</vt:lpstr>
      <vt:lpstr>Calibri</vt:lpstr>
      <vt:lpstr>Times New Roman</vt:lpstr>
      <vt:lpstr>Century Gothic</vt:lpstr>
      <vt:lpstr>Cambria Math</vt:lpstr>
      <vt:lpstr>1_Office Theme</vt:lpstr>
      <vt:lpstr>7th Grade Math  Unit 7, Lesson 10  Calculating Percent Error  Volume 1, pg. 344  </vt:lpstr>
      <vt:lpstr>Benchmark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Sensei</cp:lastModifiedBy>
  <cp:revision>39</cp:revision>
  <dcterms:created xsi:type="dcterms:W3CDTF">2015-03-17T18:51:18Z</dcterms:created>
  <dcterms:modified xsi:type="dcterms:W3CDTF">2022-06-10T23:45:44Z</dcterms:modified>
</cp:coreProperties>
</file>